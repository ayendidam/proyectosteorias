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322" r:id="rId4"/>
    <p:sldId id="321" r:id="rId5"/>
    <p:sldId id="319" r:id="rId6"/>
    <p:sldId id="323" r:id="rId7"/>
    <p:sldId id="265" r:id="rId8"/>
    <p:sldId id="324" r:id="rId9"/>
    <p:sldId id="266" r:id="rId10"/>
    <p:sldId id="326" r:id="rId11"/>
    <p:sldId id="328" r:id="rId12"/>
    <p:sldId id="327" r:id="rId13"/>
    <p:sldId id="329" r:id="rId14"/>
    <p:sldId id="330" r:id="rId15"/>
    <p:sldId id="331" r:id="rId16"/>
    <p:sldId id="332" r:id="rId17"/>
    <p:sldId id="333" r:id="rId18"/>
    <p:sldId id="334" r:id="rId19"/>
    <p:sldId id="335" r:id="rId20"/>
    <p:sldId id="336" r:id="rId21"/>
    <p:sldId id="337" r:id="rId22"/>
    <p:sldId id="339" r:id="rId23"/>
    <p:sldId id="338" r:id="rId24"/>
    <p:sldId id="340" r:id="rId25"/>
    <p:sldId id="259" r:id="rId26"/>
    <p:sldId id="386" r:id="rId27"/>
    <p:sldId id="385" r:id="rId28"/>
    <p:sldId id="387" r:id="rId29"/>
    <p:sldId id="452" r:id="rId30"/>
    <p:sldId id="389" r:id="rId31"/>
    <p:sldId id="390" r:id="rId32"/>
    <p:sldId id="391" r:id="rId33"/>
    <p:sldId id="392" r:id="rId34"/>
    <p:sldId id="343" r:id="rId35"/>
    <p:sldId id="388" r:id="rId36"/>
    <p:sldId id="282" r:id="rId37"/>
    <p:sldId id="451" r:id="rId38"/>
    <p:sldId id="281" r:id="rId39"/>
    <p:sldId id="260" r:id="rId40"/>
    <p:sldId id="393" r:id="rId41"/>
    <p:sldId id="394" r:id="rId42"/>
    <p:sldId id="290" r:id="rId43"/>
    <p:sldId id="396" r:id="rId44"/>
    <p:sldId id="397" r:id="rId45"/>
    <p:sldId id="398" r:id="rId46"/>
    <p:sldId id="267" r:id="rId47"/>
    <p:sldId id="341" r:id="rId48"/>
    <p:sldId id="342" r:id="rId49"/>
    <p:sldId id="399" r:id="rId50"/>
    <p:sldId id="400" r:id="rId51"/>
    <p:sldId id="401" r:id="rId52"/>
    <p:sldId id="489" r:id="rId53"/>
    <p:sldId id="494" r:id="rId54"/>
    <p:sldId id="493" r:id="rId55"/>
    <p:sldId id="492" r:id="rId56"/>
    <p:sldId id="491" r:id="rId57"/>
    <p:sldId id="490" r:id="rId58"/>
    <p:sldId id="291" r:id="rId59"/>
    <p:sldId id="402" r:id="rId60"/>
    <p:sldId id="403" r:id="rId61"/>
    <p:sldId id="296" r:id="rId62"/>
    <p:sldId id="453" r:id="rId63"/>
    <p:sldId id="458" r:id="rId64"/>
    <p:sldId id="459" r:id="rId65"/>
    <p:sldId id="457" r:id="rId66"/>
    <p:sldId id="404" r:id="rId67"/>
    <p:sldId id="454" r:id="rId68"/>
    <p:sldId id="455" r:id="rId69"/>
    <p:sldId id="456" r:id="rId70"/>
    <p:sldId id="358" r:id="rId71"/>
    <p:sldId id="408" r:id="rId72"/>
    <p:sldId id="407" r:id="rId73"/>
    <p:sldId id="409" r:id="rId74"/>
    <p:sldId id="299" r:id="rId75"/>
    <p:sldId id="410" r:id="rId76"/>
    <p:sldId id="382" r:id="rId77"/>
    <p:sldId id="411" r:id="rId78"/>
    <p:sldId id="261" r:id="rId79"/>
    <p:sldId id="412" r:id="rId80"/>
    <p:sldId id="413" r:id="rId81"/>
    <p:sldId id="301" r:id="rId82"/>
    <p:sldId id="414" r:id="rId83"/>
    <p:sldId id="415" r:id="rId84"/>
    <p:sldId id="416" r:id="rId85"/>
    <p:sldId id="418" r:id="rId86"/>
    <p:sldId id="462" r:id="rId87"/>
    <p:sldId id="463" r:id="rId88"/>
    <p:sldId id="465" r:id="rId89"/>
    <p:sldId id="464" r:id="rId90"/>
    <p:sldId id="487" r:id="rId91"/>
    <p:sldId id="488" r:id="rId92"/>
    <p:sldId id="461" r:id="rId93"/>
    <p:sldId id="306" r:id="rId94"/>
    <p:sldId id="419" r:id="rId95"/>
    <p:sldId id="417" r:id="rId96"/>
    <p:sldId id="420" r:id="rId97"/>
    <p:sldId id="421" r:id="rId98"/>
    <p:sldId id="262" r:id="rId99"/>
    <p:sldId id="471" r:id="rId100"/>
    <p:sldId id="422" r:id="rId101"/>
    <p:sldId id="423" r:id="rId102"/>
    <p:sldId id="466" r:id="rId103"/>
    <p:sldId id="424" r:id="rId104"/>
    <p:sldId id="426" r:id="rId105"/>
    <p:sldId id="467" r:id="rId106"/>
    <p:sldId id="468" r:id="rId107"/>
    <p:sldId id="469" r:id="rId108"/>
    <p:sldId id="470" r:id="rId109"/>
    <p:sldId id="311" r:id="rId110"/>
    <p:sldId id="427" r:id="rId111"/>
    <p:sldId id="472" r:id="rId112"/>
    <p:sldId id="428" r:id="rId113"/>
    <p:sldId id="429" r:id="rId114"/>
    <p:sldId id="430" r:id="rId115"/>
    <p:sldId id="431" r:id="rId116"/>
    <p:sldId id="432" r:id="rId117"/>
    <p:sldId id="433" r:id="rId118"/>
    <p:sldId id="434" r:id="rId119"/>
    <p:sldId id="263" r:id="rId120"/>
    <p:sldId id="435" r:id="rId121"/>
    <p:sldId id="473" r:id="rId122"/>
    <p:sldId id="474" r:id="rId123"/>
    <p:sldId id="475" r:id="rId124"/>
    <p:sldId id="476" r:id="rId125"/>
    <p:sldId id="477" r:id="rId126"/>
    <p:sldId id="478" r:id="rId127"/>
    <p:sldId id="479" r:id="rId128"/>
    <p:sldId id="480" r:id="rId129"/>
    <p:sldId id="481" r:id="rId130"/>
    <p:sldId id="369" r:id="rId131"/>
    <p:sldId id="436" r:id="rId132"/>
    <p:sldId id="437" r:id="rId133"/>
    <p:sldId id="438" r:id="rId134"/>
    <p:sldId id="439" r:id="rId135"/>
    <p:sldId id="313" r:id="rId136"/>
    <p:sldId id="440" r:id="rId137"/>
    <p:sldId id="442" r:id="rId138"/>
    <p:sldId id="441" r:id="rId139"/>
    <p:sldId id="482" r:id="rId140"/>
    <p:sldId id="483" r:id="rId141"/>
    <p:sldId id="375" r:id="rId142"/>
    <p:sldId id="443" r:id="rId143"/>
    <p:sldId id="444" r:id="rId144"/>
    <p:sldId id="445" r:id="rId145"/>
    <p:sldId id="447" r:id="rId146"/>
    <p:sldId id="317" r:id="rId147"/>
    <p:sldId id="448" r:id="rId148"/>
    <p:sldId id="377" r:id="rId149"/>
    <p:sldId id="450" r:id="rId150"/>
    <p:sldId id="485" r:id="rId151"/>
    <p:sldId id="484" r:id="rId152"/>
    <p:sldId id="486" r:id="rId15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2BDEA3-8888-8990-7C3E-71937EDBB3C9}" v="7" dt="2025-09-10T14:00:07.9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6322" autoAdjust="0"/>
    <p:restoredTop sz="94660"/>
  </p:normalViewPr>
  <p:slideViewPr>
    <p:cSldViewPr snapToGrid="0">
      <p:cViewPr>
        <p:scale>
          <a:sx n="125" d="100"/>
          <a:sy n="125" d="100"/>
        </p:scale>
        <p:origin x="72" y="-1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endParaRPr lang="en-US"/>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‹Nº›</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87253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33500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‹Nº›</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21288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2279864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1885080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1988405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2604795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3683951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1037630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824297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C485584D-7D79-4248-9986-4CA35242F944}" type="datetimeFigureOut">
              <a:rPr lang="en-US" smtClean="0"/>
              <a:t>1/22/2026</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‹Nº›</a:t>
            </a:fld>
            <a:endParaRPr lang="en-US"/>
          </a:p>
        </p:txBody>
      </p:sp>
    </p:spTree>
    <p:extLst>
      <p:ext uri="{BB962C8B-B14F-4D97-AF65-F5344CB8AC3E}">
        <p14:creationId xmlns:p14="http://schemas.microsoft.com/office/powerpoint/2010/main" val="535511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‹Nº›</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C485584D-7D79-4248-9986-4CA35242F944}" type="datetimeFigureOut">
              <a:rPr lang="en-US" smtClean="0"/>
              <a:t>1/22/2026</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endParaRPr lang="en-US"/>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48577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mailto:email:%22diego.garcia@iesleonardodavinci.com"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hyperlink" Target="http://localhost:5000" TargetMode="Externa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9" name="Rectangle 150">
            <a:extLst>
              <a:ext uri="{FF2B5EF4-FFF2-40B4-BE49-F238E27FC236}">
                <a16:creationId xmlns:a16="http://schemas.microsoft.com/office/drawing/2014/main" id="{1AB7CFDD-E67B-4078-9BD0-D09D4200E4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2" name="Picture 3" descr="Una persona que busca un papel en una mesa llena de papel y notas adhesivas">
            <a:extLst>
              <a:ext uri="{FF2B5EF4-FFF2-40B4-BE49-F238E27FC236}">
                <a16:creationId xmlns:a16="http://schemas.microsoft.com/office/drawing/2014/main" id="{95528687-E228-DD6F-3192-C74FD1CA2619}"/>
              </a:ext>
            </a:extLst>
          </p:cNvPr>
          <p:cNvPicPr>
            <a:picLocks noChangeAspect="1"/>
          </p:cNvPicPr>
          <p:nvPr/>
        </p:nvPicPr>
        <p:blipFill>
          <a:blip r:embed="rId2">
            <a:alphaModFix/>
          </a:blip>
          <a:srcRect t="8146" b="7584"/>
          <a:stretch/>
        </p:blipFill>
        <p:spPr>
          <a:xfrm>
            <a:off x="-1" y="10"/>
            <a:ext cx="12192000" cy="6857989"/>
          </a:xfrm>
          <a:prstGeom prst="rect">
            <a:avLst/>
          </a:prstGeom>
        </p:spPr>
      </p:pic>
      <p:sp>
        <p:nvSpPr>
          <p:cNvPr id="180" name="Rectangle 152">
            <a:extLst>
              <a:ext uri="{FF2B5EF4-FFF2-40B4-BE49-F238E27FC236}">
                <a16:creationId xmlns:a16="http://schemas.microsoft.com/office/drawing/2014/main" id="{4DAEF25D-C97E-48E9-B20C-FEFC2EC6E5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899981"/>
            <a:ext cx="12191999" cy="4958018"/>
          </a:xfrm>
          <a:prstGeom prst="rect">
            <a:avLst/>
          </a:prstGeom>
          <a:gradFill flip="none" rotWithShape="1">
            <a:gsLst>
              <a:gs pos="0">
                <a:srgbClr val="000000">
                  <a:alpha val="0"/>
                </a:srgbClr>
              </a:gs>
              <a:gs pos="49000">
                <a:srgbClr val="000000">
                  <a:alpha val="50000"/>
                </a:srgbClr>
              </a:gs>
              <a:gs pos="87000">
                <a:srgbClr val="000000">
                  <a:alpha val="56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ctrTitle"/>
          </p:nvPr>
        </p:nvSpPr>
        <p:spPr>
          <a:xfrm>
            <a:off x="2455401" y="3191319"/>
            <a:ext cx="7272408" cy="1752537"/>
          </a:xfrm>
        </p:spPr>
        <p:txBody>
          <a:bodyPr anchor="b">
            <a:normAutofit/>
          </a:bodyPr>
          <a:lstStyle/>
          <a:p>
            <a:r>
              <a:rPr lang="es-ES">
                <a:solidFill>
                  <a:srgbClr val="FFFFFF"/>
                </a:solidFill>
                <a:ea typeface="+mj-lt"/>
                <a:cs typeface="+mj-lt"/>
              </a:rPr>
              <a:t>UT 2: Creación de aplicaciones utilizando Framework Web de cliente</a:t>
            </a:r>
            <a:endParaRPr lang="es-ES">
              <a:solidFill>
                <a:srgbClr val="FFFFFF"/>
              </a:solidFill>
            </a:endParaRPr>
          </a:p>
        </p:txBody>
      </p:sp>
      <p:sp>
        <p:nvSpPr>
          <p:cNvPr id="3" name="Subtítulo 2"/>
          <p:cNvSpPr>
            <a:spLocks noGrp="1"/>
          </p:cNvSpPr>
          <p:nvPr>
            <p:ph type="subTitle" idx="1"/>
          </p:nvPr>
        </p:nvSpPr>
        <p:spPr>
          <a:xfrm>
            <a:off x="2767423" y="5191699"/>
            <a:ext cx="6685413" cy="942402"/>
          </a:xfrm>
        </p:spPr>
        <p:txBody>
          <a:bodyPr vert="horz" lIns="91440" tIns="45720" rIns="91440" bIns="45720" rtlCol="0" anchor="t">
            <a:normAutofit/>
          </a:bodyPr>
          <a:lstStyle/>
          <a:p>
            <a:r>
              <a:rPr lang="es-ES">
                <a:solidFill>
                  <a:srgbClr val="FFFFFF"/>
                </a:solidFill>
              </a:rPr>
              <a:t>React</a:t>
            </a:r>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 name="Rectangle 89">
            <a:extLst>
              <a:ext uri="{FF2B5EF4-FFF2-40B4-BE49-F238E27FC236}">
                <a16:creationId xmlns:a16="http://schemas.microsoft.com/office/drawing/2014/main" id="{23076A4E-38BA-4BCB-BE40-AD144E24ED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4" name="Picture 4" descr="Un patrón en 3D de formas de anillos conectados por líneas">
            <a:extLst>
              <a:ext uri="{FF2B5EF4-FFF2-40B4-BE49-F238E27FC236}">
                <a16:creationId xmlns:a16="http://schemas.microsoft.com/office/drawing/2014/main" id="{910923EC-609B-F190-CCF6-5ACF2E19D171}"/>
              </a:ext>
            </a:extLst>
          </p:cNvPr>
          <p:cNvPicPr>
            <a:picLocks noChangeAspect="1"/>
          </p:cNvPicPr>
          <p:nvPr/>
        </p:nvPicPr>
        <p:blipFill>
          <a:blip r:embed="rId2">
            <a:alphaModFix/>
          </a:blip>
          <a:srcRect l="6808" r="43192"/>
          <a:stretch/>
        </p:blipFill>
        <p:spPr>
          <a:xfrm>
            <a:off x="-2578" y="10"/>
            <a:ext cx="6095999" cy="6857990"/>
          </a:xfrm>
          <a:prstGeom prst="rect">
            <a:avLst/>
          </a:prstGeom>
        </p:spPr>
      </p:pic>
      <p:sp>
        <p:nvSpPr>
          <p:cNvPr id="105" name="Rectangle 5">
            <a:extLst>
              <a:ext uri="{FF2B5EF4-FFF2-40B4-BE49-F238E27FC236}">
                <a16:creationId xmlns:a16="http://schemas.microsoft.com/office/drawing/2014/main" id="{B572D2B0-57F9-4D28-8840-98CD625393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4038600" cy="484107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AB4DBFC-CB95-6142-757C-9220E07F7088}"/>
              </a:ext>
            </a:extLst>
          </p:cNvPr>
          <p:cNvSpPr>
            <a:spLocks noGrp="1"/>
          </p:cNvSpPr>
          <p:nvPr>
            <p:ph type="title"/>
          </p:nvPr>
        </p:nvSpPr>
        <p:spPr>
          <a:xfrm>
            <a:off x="1555377" y="1737360"/>
            <a:ext cx="2985247" cy="2524187"/>
          </a:xfrm>
        </p:spPr>
        <p:txBody>
          <a:bodyPr anchor="ctr">
            <a:normAutofit/>
          </a:bodyPr>
          <a:lstStyle/>
          <a:p>
            <a:pPr algn="ctr"/>
            <a:r>
              <a:rPr lang="es-ES">
                <a:latin typeface="Calibri"/>
                <a:ea typeface="Calibri"/>
                <a:cs typeface="Calibri"/>
              </a:rPr>
              <a:t>Índice</a:t>
            </a:r>
          </a:p>
        </p:txBody>
      </p:sp>
      <p:sp>
        <p:nvSpPr>
          <p:cNvPr id="83" name="Marcador de contenido 2">
            <a:extLst>
              <a:ext uri="{FF2B5EF4-FFF2-40B4-BE49-F238E27FC236}">
                <a16:creationId xmlns:a16="http://schemas.microsoft.com/office/drawing/2014/main" id="{24FA33AF-A74D-FA3E-256A-945D182ED796}"/>
              </a:ext>
            </a:extLst>
          </p:cNvPr>
          <p:cNvSpPr>
            <a:spLocks noGrp="1"/>
          </p:cNvSpPr>
          <p:nvPr>
            <p:ph idx="1"/>
          </p:nvPr>
        </p:nvSpPr>
        <p:spPr>
          <a:xfrm>
            <a:off x="6676846" y="338613"/>
            <a:ext cx="5255221" cy="6046397"/>
          </a:xfrm>
        </p:spPr>
        <p:txBody>
          <a:bodyPr vert="horz" lIns="91440" tIns="45720" rIns="91440" bIns="45720" rtlCol="0" anchor="ctr">
            <a:normAutofit/>
          </a:bodyPr>
          <a:lstStyle/>
          <a:p>
            <a:pPr marL="342900" indent="-342900">
              <a:lnSpc>
                <a:spcPct val="100000"/>
              </a:lnSpc>
              <a:buFont typeface="Arial" panose="020B0604020202020204" pitchFamily="34" charset="0"/>
              <a:buChar char="•"/>
            </a:pPr>
            <a:r>
              <a:rPr lang="es-ES">
                <a:latin typeface="Calibri"/>
                <a:ea typeface="Calibri"/>
                <a:cs typeface="Calibri"/>
              </a:rPr>
              <a:t>Introducción </a:t>
            </a:r>
          </a:p>
          <a:p>
            <a:pPr marL="342900" indent="-342900">
              <a:lnSpc>
                <a:spcPct val="100000"/>
              </a:lnSpc>
              <a:buFont typeface="Arial" panose="020B0604020202020204" pitchFamily="34" charset="0"/>
              <a:buChar char="•"/>
            </a:pPr>
            <a:r>
              <a:rPr lang="es-ES">
                <a:latin typeface="Calibri"/>
                <a:ea typeface="Calibri"/>
                <a:cs typeface="Calibri"/>
              </a:rPr>
              <a:t>Características de la sintaxis del lenguaje cliente</a:t>
            </a:r>
          </a:p>
          <a:p>
            <a:pPr marL="342900" indent="-342900">
              <a:lnSpc>
                <a:spcPct val="100000"/>
              </a:lnSpc>
              <a:buFont typeface="Arial" panose="020B0604020202020204" pitchFamily="34" charset="0"/>
              <a:buChar char="•"/>
            </a:pPr>
            <a:r>
              <a:rPr lang="es-ES">
                <a:latin typeface="Calibri"/>
                <a:ea typeface="Calibri"/>
                <a:cs typeface="Calibri"/>
              </a:rPr>
              <a:t>Instalación y configuración básica</a:t>
            </a:r>
          </a:p>
          <a:p>
            <a:pPr marL="342900" indent="-342900">
              <a:lnSpc>
                <a:spcPct val="100000"/>
              </a:lnSpc>
              <a:buFont typeface="Arial" panose="020B0604020202020204" pitchFamily="34" charset="0"/>
              <a:buChar char="•"/>
            </a:pPr>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  </a:t>
            </a:r>
          </a:p>
          <a:p>
            <a:pPr marL="342900" indent="-342900">
              <a:lnSpc>
                <a:spcPct val="100000"/>
              </a:lnSpc>
              <a:buFont typeface="Arial" panose="020B0604020202020204" pitchFamily="34" charset="0"/>
              <a:buChar char="•"/>
            </a:pPr>
            <a:r>
              <a:rPr lang="es-ES">
                <a:latin typeface="Calibri"/>
                <a:ea typeface="Calibri"/>
                <a:cs typeface="Calibri"/>
              </a:rPr>
              <a:t>Estructura, diseño e implementación de componentes  </a:t>
            </a:r>
          </a:p>
          <a:p>
            <a:pPr marL="342900" indent="-342900">
              <a:lnSpc>
                <a:spcPct val="100000"/>
              </a:lnSpc>
              <a:buFont typeface="Arial" panose="020B0604020202020204" pitchFamily="34" charset="0"/>
              <a:buChar char="•"/>
            </a:pPr>
            <a:r>
              <a:rPr lang="es-ES">
                <a:latin typeface="Calibri"/>
                <a:ea typeface="Calibri"/>
                <a:cs typeface="Calibri"/>
              </a:rPr>
              <a:t>Gestión del estado de la aplicación  </a:t>
            </a:r>
          </a:p>
          <a:p>
            <a:pPr marL="342900" indent="-342900">
              <a:lnSpc>
                <a:spcPct val="100000"/>
              </a:lnSpc>
              <a:buFont typeface="Arial" panose="020B0604020202020204" pitchFamily="34" charset="0"/>
              <a:buChar char="•"/>
            </a:pPr>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a:t>
            </a:r>
          </a:p>
          <a:p>
            <a:pPr marL="342900" indent="-342900">
              <a:lnSpc>
                <a:spcPct val="100000"/>
              </a:lnSpc>
              <a:buFont typeface="Arial" panose="020B0604020202020204" pitchFamily="34" charset="0"/>
              <a:buChar char="•"/>
            </a:pPr>
            <a:r>
              <a:rPr lang="es-ES">
                <a:latin typeface="Calibri"/>
                <a:ea typeface="Calibri"/>
                <a:cs typeface="Calibri"/>
              </a:rPr>
              <a:t>Manejo y gestión de eventos  </a:t>
            </a:r>
          </a:p>
          <a:p>
            <a:pPr marL="342900" indent="-342900">
              <a:lnSpc>
                <a:spcPct val="100000"/>
              </a:lnSpc>
              <a:buFont typeface="Arial" panose="020B0604020202020204" pitchFamily="34" charset="0"/>
              <a:buChar char="•"/>
            </a:pPr>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a:t>
            </a:r>
          </a:p>
        </p:txBody>
      </p:sp>
      <p:grpSp>
        <p:nvGrpSpPr>
          <p:cNvPr id="106" name="Group 93">
            <a:extLst>
              <a:ext uri="{FF2B5EF4-FFF2-40B4-BE49-F238E27FC236}">
                <a16:creationId xmlns:a16="http://schemas.microsoft.com/office/drawing/2014/main" id="{7CD49DFA-3E95-4EE4-8505-DADB9ABC70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14258" y="4550150"/>
            <a:ext cx="867485" cy="115439"/>
            <a:chOff x="8910933" y="1861308"/>
            <a:chExt cx="867485" cy="115439"/>
          </a:xfrm>
        </p:grpSpPr>
        <p:sp>
          <p:nvSpPr>
            <p:cNvPr id="95" name="Rectangle 94">
              <a:extLst>
                <a:ext uri="{FF2B5EF4-FFF2-40B4-BE49-F238E27FC236}">
                  <a16:creationId xmlns:a16="http://schemas.microsoft.com/office/drawing/2014/main" id="{36D817C6-71C0-49E6-8B19-E9E9217A2B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Connector 95">
              <a:extLst>
                <a:ext uri="{FF2B5EF4-FFF2-40B4-BE49-F238E27FC236}">
                  <a16:creationId xmlns:a16="http://schemas.microsoft.com/office/drawing/2014/main" id="{A23AD9A9-354F-444B-9370-B698970FEF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27F4928-516E-4CF1-8E81-C485279708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75832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77DD6-B710-6C0B-AA0B-4A266E560C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A33EAE-95A7-089D-0594-537CB50CB8FC}"/>
              </a:ext>
            </a:extLst>
          </p:cNvPr>
          <p:cNvSpPr>
            <a:spLocks noGrp="1"/>
          </p:cNvSpPr>
          <p:nvPr>
            <p:ph type="title"/>
          </p:nvPr>
        </p:nvSpPr>
        <p:spPr/>
        <p:txBody>
          <a:bodyPr/>
          <a:lstStyle/>
          <a:p>
            <a:r>
              <a:rPr lang="es-ES">
                <a:latin typeface="Calibri"/>
                <a:ea typeface="Calibri"/>
                <a:cs typeface="Calibri"/>
              </a:rPr>
              <a:t>Introducción</a:t>
            </a:r>
          </a:p>
        </p:txBody>
      </p:sp>
      <p:sp>
        <p:nvSpPr>
          <p:cNvPr id="3" name="Marcador de contenido 2">
            <a:extLst>
              <a:ext uri="{FF2B5EF4-FFF2-40B4-BE49-F238E27FC236}">
                <a16:creationId xmlns:a16="http://schemas.microsoft.com/office/drawing/2014/main" id="{38EFC459-B943-F08E-A5E3-E4A776721359}"/>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err="1">
                <a:latin typeface="Calibri"/>
                <a:ea typeface="Calibri"/>
                <a:cs typeface="Calibri"/>
              </a:rPr>
              <a:t>React</a:t>
            </a:r>
            <a:r>
              <a:rPr lang="es-ES">
                <a:latin typeface="Calibri"/>
                <a:ea typeface="Calibri"/>
                <a:cs typeface="Calibri"/>
              </a:rPr>
              <a:t> es una biblioteca de JavaScript desarrollada por Facebook para construir interfaces de usuario (UI). Se utiliza principalmente para desarrollar aplicaciones web de una sola página (SPA) y aplicaciones móviles. </a:t>
            </a:r>
          </a:p>
          <a:p>
            <a:pPr marL="342900" indent="-342900">
              <a:buFont typeface="Arial"/>
              <a:buChar char="•"/>
            </a:pPr>
            <a:r>
              <a:rPr lang="es-ES" err="1">
                <a:latin typeface="Calibri"/>
                <a:ea typeface="Calibri"/>
                <a:cs typeface="Calibri"/>
              </a:rPr>
              <a:t>React</a:t>
            </a:r>
            <a:r>
              <a:rPr lang="es-ES">
                <a:latin typeface="Calibri"/>
                <a:ea typeface="Calibri"/>
                <a:cs typeface="Calibri"/>
              </a:rPr>
              <a:t> permite a los desarrolladores crear componentes reutilizables que gestionan su propio estado, lo que facilita la creación de interfaces de usuario complejas y dinámicas.</a:t>
            </a:r>
          </a:p>
          <a:p>
            <a:pPr marL="342900" indent="-342900">
              <a:buFont typeface="Arial"/>
              <a:buChar char="•"/>
            </a:pPr>
            <a:r>
              <a:rPr lang="es-ES">
                <a:latin typeface="Calibri"/>
                <a:ea typeface="Calibri"/>
                <a:cs typeface="Calibri"/>
              </a:rPr>
              <a:t>Se basa en componentes, que son bloques de construcción reutilizables. Cada componente puede tener su propio estado y lógica, y se puede combinar con otros componentes para crear interfaces de usuario complejas.</a:t>
            </a:r>
          </a:p>
          <a:p>
            <a:pPr marL="342900" indent="-342900">
              <a:buFont typeface="Arial"/>
              <a:buChar char="•"/>
            </a:pPr>
            <a:r>
              <a:rPr lang="es-ES">
                <a:latin typeface="Calibri"/>
                <a:ea typeface="Calibri"/>
                <a:cs typeface="Calibri"/>
              </a:rPr>
              <a:t>Funciona de forma declarativa, en lugar de decirle al ordenador cómo hacer algo, se le pide lo que se quiere mostrar, y </a:t>
            </a:r>
            <a:r>
              <a:rPr lang="es-ES" err="1">
                <a:latin typeface="Calibri"/>
                <a:ea typeface="Calibri"/>
                <a:cs typeface="Calibri"/>
              </a:rPr>
              <a:t>React</a:t>
            </a:r>
            <a:r>
              <a:rPr lang="es-ES">
                <a:latin typeface="Calibri"/>
                <a:ea typeface="Calibri"/>
                <a:cs typeface="Calibri"/>
              </a:rPr>
              <a:t> se encarga del resto.</a:t>
            </a:r>
          </a:p>
          <a:p>
            <a:pPr marL="342900" indent="-342900">
              <a:buFont typeface="Arial"/>
              <a:buChar char="•"/>
            </a:pPr>
            <a:r>
              <a:rPr lang="es-ES" err="1">
                <a:latin typeface="Calibri"/>
                <a:ea typeface="Calibri"/>
                <a:cs typeface="Calibri"/>
              </a:rPr>
              <a:t>React</a:t>
            </a:r>
            <a:r>
              <a:rPr lang="es-ES">
                <a:latin typeface="Calibri"/>
                <a:ea typeface="Calibri"/>
                <a:cs typeface="Calibri"/>
              </a:rPr>
              <a:t> utiliza estado que es un objeto que representa la información dinámica de un componente y las </a:t>
            </a:r>
            <a:r>
              <a:rPr lang="es-ES" err="1">
                <a:latin typeface="Calibri"/>
                <a:ea typeface="Calibri"/>
                <a:cs typeface="Calibri"/>
              </a:rPr>
              <a:t>props</a:t>
            </a:r>
            <a:r>
              <a:rPr lang="es-ES">
                <a:latin typeface="Calibri"/>
                <a:ea typeface="Calibri"/>
                <a:cs typeface="Calibri"/>
              </a:rPr>
              <a:t> (abreviatura de propiedades) que son datos que se pasan de un componente padre a un componente hijo.</a:t>
            </a:r>
          </a:p>
          <a:p>
            <a:pPr marL="342900" indent="-342900">
              <a:buFont typeface="Arial"/>
              <a:buChar char="•"/>
            </a:pPr>
            <a:r>
              <a:rPr lang="es-ES">
                <a:latin typeface="Calibri"/>
                <a:ea typeface="Calibri"/>
                <a:cs typeface="Calibri"/>
              </a:rPr>
              <a:t>En </a:t>
            </a:r>
            <a:r>
              <a:rPr lang="es-ES" err="1">
                <a:latin typeface="Calibri"/>
                <a:ea typeface="Calibri"/>
                <a:cs typeface="Calibri"/>
              </a:rPr>
              <a:t>React</a:t>
            </a:r>
            <a:r>
              <a:rPr lang="es-ES">
                <a:latin typeface="Calibri"/>
                <a:ea typeface="Calibri"/>
                <a:cs typeface="Calibri"/>
              </a:rPr>
              <a:t>, los datos fluyen en una sola dirección, desde los componentes padres a los componentes hijos. Esto hace que el código sea más predecible y fácil de depurar.</a:t>
            </a:r>
          </a:p>
        </p:txBody>
      </p:sp>
    </p:spTree>
    <p:extLst>
      <p:ext uri="{BB962C8B-B14F-4D97-AF65-F5344CB8AC3E}">
        <p14:creationId xmlns:p14="http://schemas.microsoft.com/office/powerpoint/2010/main" val="3566391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D6150-6AED-77CB-4406-25021BA9C76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963B8F-DAE5-9D7B-9C07-E3AC92F8E6DE}"/>
              </a:ext>
            </a:extLst>
          </p:cNvPr>
          <p:cNvSpPr>
            <a:spLocks noGrp="1"/>
          </p:cNvSpPr>
          <p:nvPr>
            <p:ph type="title"/>
          </p:nvPr>
        </p:nvSpPr>
        <p:spPr/>
        <p:txBody>
          <a:bodyPr/>
          <a:lstStyle/>
          <a:p>
            <a:r>
              <a:rPr lang="es-ES">
                <a:latin typeface="Calibri"/>
                <a:ea typeface="Calibri"/>
                <a:cs typeface="Calibri"/>
              </a:rPr>
              <a:t>Introducción</a:t>
            </a:r>
          </a:p>
        </p:txBody>
      </p:sp>
      <p:sp>
        <p:nvSpPr>
          <p:cNvPr id="3" name="Marcador de contenido 2">
            <a:extLst>
              <a:ext uri="{FF2B5EF4-FFF2-40B4-BE49-F238E27FC236}">
                <a16:creationId xmlns:a16="http://schemas.microsoft.com/office/drawing/2014/main" id="{3B4F9DA0-8385-8C21-9B6C-302C586E2494}"/>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Calibri"/>
                <a:cs typeface="Calibri"/>
              </a:rPr>
              <a:t>Una de sus mayores ventajas es la reutilización de componentes. Los componentes de </a:t>
            </a:r>
            <a:r>
              <a:rPr lang="es-ES" err="1">
                <a:latin typeface="Calibri"/>
                <a:ea typeface="Calibri"/>
                <a:cs typeface="Calibri"/>
              </a:rPr>
              <a:t>React</a:t>
            </a:r>
            <a:r>
              <a:rPr lang="es-ES">
                <a:latin typeface="Calibri"/>
                <a:ea typeface="Calibri"/>
                <a:cs typeface="Calibri"/>
              </a:rPr>
              <a:t> se pueden reutilizar en diferentes partes de la aplicación, ahorrando tiempo y esfuerzo en el desarrollo.</a:t>
            </a:r>
          </a:p>
          <a:p>
            <a:pPr marL="342900" indent="-342900">
              <a:buFont typeface="Arial"/>
              <a:buChar char="•"/>
            </a:pPr>
            <a:r>
              <a:rPr lang="es-ES">
                <a:latin typeface="Calibri"/>
                <a:ea typeface="Calibri"/>
                <a:cs typeface="Calibri"/>
              </a:rPr>
              <a:t>Por otro lado, </a:t>
            </a:r>
            <a:r>
              <a:rPr lang="es-ES" err="1">
                <a:latin typeface="Calibri"/>
                <a:ea typeface="Calibri"/>
                <a:cs typeface="Calibri"/>
              </a:rPr>
              <a:t>React</a:t>
            </a:r>
            <a:r>
              <a:rPr lang="es-ES">
                <a:latin typeface="Calibri"/>
                <a:ea typeface="Calibri"/>
                <a:cs typeface="Calibri"/>
              </a:rPr>
              <a:t> utiliza un "DOM virtual" para actualizar solo las partes de la interfaz de usuario que han cambiado, esto mejora en gran medida el rendimiento de la aplicación.</a:t>
            </a:r>
          </a:p>
          <a:p>
            <a:pPr marL="342900" indent="-342900">
              <a:buFont typeface="Arial"/>
              <a:buChar char="•"/>
            </a:pPr>
            <a:r>
              <a:rPr lang="es-ES" err="1">
                <a:latin typeface="Calibri"/>
                <a:ea typeface="Calibri"/>
                <a:cs typeface="Calibri"/>
              </a:rPr>
              <a:t>React</a:t>
            </a:r>
            <a:r>
              <a:rPr lang="es-ES">
                <a:latin typeface="Calibri"/>
                <a:ea typeface="Calibri"/>
                <a:cs typeface="Calibri"/>
              </a:rPr>
              <a:t> tiene una gran comunidad de desarrolladores y un ecosistema rico en herramientas y bibliotecas que facilitan el desarrollo.</a:t>
            </a:r>
          </a:p>
          <a:p>
            <a:pPr marL="342900" indent="-342900">
              <a:buFont typeface="Arial"/>
              <a:buChar char="•"/>
            </a:pPr>
            <a:r>
              <a:rPr lang="es-ES">
                <a:latin typeface="Calibri"/>
                <a:ea typeface="Calibri"/>
                <a:cs typeface="Calibri"/>
              </a:rPr>
              <a:t>Permite utilizar JSX que es una extensión de JavaScript que permite escribir código HTML dentro de JavaScript. Esto hace que el código del componente sea más legible y fácil de escribir.</a:t>
            </a:r>
          </a:p>
          <a:p>
            <a:pPr marL="342900" indent="-342900">
              <a:buFont typeface="Arial"/>
              <a:buChar char="•"/>
            </a:pPr>
            <a:r>
              <a:rPr lang="es-ES" err="1">
                <a:latin typeface="Calibri"/>
                <a:ea typeface="Calibri"/>
                <a:cs typeface="Calibri"/>
              </a:rPr>
              <a:t>React</a:t>
            </a:r>
            <a:r>
              <a:rPr lang="es-ES">
                <a:latin typeface="Calibri"/>
                <a:ea typeface="Calibri"/>
                <a:cs typeface="Calibri"/>
              </a:rPr>
              <a:t> permite crear componentes utilizando funciones o clases. Los componentes funcionales son más simples y se utilizan con mayor frecuencia en el desarrollo moderno.</a:t>
            </a:r>
          </a:p>
          <a:p>
            <a:pPr marL="342900" indent="-342900">
              <a:buFont typeface="Arial"/>
              <a:buChar char="•"/>
            </a:pPr>
            <a:r>
              <a:rPr lang="es-ES">
                <a:latin typeface="Calibri"/>
                <a:ea typeface="Calibri"/>
                <a:cs typeface="Calibri"/>
              </a:rPr>
              <a:t>Otra herramienta que usa son los </a:t>
            </a:r>
            <a:r>
              <a:rPr lang="es-ES" err="1">
                <a:latin typeface="Calibri"/>
                <a:ea typeface="Calibri"/>
                <a:cs typeface="Calibri"/>
              </a:rPr>
              <a:t>hooks</a:t>
            </a:r>
            <a:r>
              <a:rPr lang="es-ES">
                <a:latin typeface="Calibri"/>
                <a:ea typeface="Calibri"/>
                <a:cs typeface="Calibri"/>
              </a:rPr>
              <a:t> que son una característica que permite utilizar el estado y otras funcionalidades de </a:t>
            </a:r>
            <a:r>
              <a:rPr lang="es-ES" err="1">
                <a:latin typeface="Calibri"/>
                <a:ea typeface="Calibri"/>
                <a:cs typeface="Calibri"/>
              </a:rPr>
              <a:t>React</a:t>
            </a:r>
            <a:r>
              <a:rPr lang="es-ES">
                <a:latin typeface="Calibri"/>
                <a:ea typeface="Calibri"/>
                <a:cs typeface="Calibri"/>
              </a:rPr>
              <a:t> en componentes funcionales. Los </a:t>
            </a:r>
            <a:r>
              <a:rPr lang="es-ES" err="1">
                <a:latin typeface="Calibri"/>
                <a:ea typeface="Calibri"/>
                <a:cs typeface="Calibri"/>
              </a:rPr>
              <a:t>hooks</a:t>
            </a:r>
            <a:r>
              <a:rPr lang="es-ES">
                <a:latin typeface="Calibri"/>
                <a:ea typeface="Calibri"/>
                <a:cs typeface="Calibri"/>
              </a:rPr>
              <a:t> más comunes son </a:t>
            </a:r>
            <a:r>
              <a:rPr lang="es-ES" err="1">
                <a:latin typeface="Calibri"/>
                <a:ea typeface="Calibri"/>
                <a:cs typeface="Calibri"/>
              </a:rPr>
              <a:t>useState</a:t>
            </a:r>
            <a:r>
              <a:rPr lang="es-ES">
                <a:latin typeface="Calibri"/>
                <a:ea typeface="Calibri"/>
                <a:cs typeface="Calibri"/>
              </a:rPr>
              <a:t> y </a:t>
            </a:r>
            <a:r>
              <a:rPr lang="es-ES" err="1">
                <a:latin typeface="Calibri"/>
                <a:ea typeface="Calibri"/>
                <a:cs typeface="Calibri"/>
              </a:rPr>
              <a:t>useEffect</a:t>
            </a:r>
            <a:r>
              <a:rPr lang="es-ES">
                <a:latin typeface="Calibri"/>
                <a:ea typeface="Calibri"/>
                <a:cs typeface="Calibri"/>
              </a:rPr>
              <a:t>.</a:t>
            </a:r>
          </a:p>
        </p:txBody>
      </p:sp>
    </p:spTree>
    <p:extLst>
      <p:ext uri="{BB962C8B-B14F-4D97-AF65-F5344CB8AC3E}">
        <p14:creationId xmlns:p14="http://schemas.microsoft.com/office/powerpoint/2010/main" val="3508750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5CD48-ACD8-1BEA-EDC8-D62BBBD527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B31EBA-1D1A-A629-5357-F499B2B733A7}"/>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p>
        </p:txBody>
      </p:sp>
      <p:sp>
        <p:nvSpPr>
          <p:cNvPr id="3" name="Marcador de contenido 2">
            <a:extLst>
              <a:ext uri="{FF2B5EF4-FFF2-40B4-BE49-F238E27FC236}">
                <a16:creationId xmlns:a16="http://schemas.microsoft.com/office/drawing/2014/main" id="{BCAA9B9C-6304-053C-FFCB-A96ACC34CACC}"/>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err="1">
                <a:latin typeface="Calibri"/>
                <a:ea typeface="Calibri"/>
                <a:cs typeface="Calibri"/>
              </a:rPr>
              <a:t>React</a:t>
            </a:r>
            <a:r>
              <a:rPr lang="es-ES">
                <a:latin typeface="Calibri"/>
                <a:ea typeface="Calibri"/>
                <a:cs typeface="Calibri"/>
              </a:rPr>
              <a:t> es una biblioteca que se construye sobre JavaScript, lo que significa que utiliza las características y capacidades de JavaScript para crear interfaces de usuario. Todo el código que escribes en </a:t>
            </a:r>
            <a:r>
              <a:rPr lang="es-ES" err="1">
                <a:latin typeface="Calibri"/>
                <a:ea typeface="Calibri"/>
                <a:cs typeface="Calibri"/>
              </a:rPr>
              <a:t>React</a:t>
            </a:r>
            <a:r>
              <a:rPr lang="es-ES">
                <a:latin typeface="Calibri"/>
                <a:ea typeface="Calibri"/>
                <a:cs typeface="Calibri"/>
              </a:rPr>
              <a:t> es, en última instancia, código JavaScript.</a:t>
            </a:r>
          </a:p>
          <a:p>
            <a:pPr marL="342900" indent="-342900">
              <a:buFont typeface="Arial"/>
              <a:buChar char="•"/>
            </a:pPr>
            <a:r>
              <a:rPr lang="es-ES" err="1">
                <a:latin typeface="Calibri"/>
                <a:ea typeface="Calibri"/>
                <a:cs typeface="Calibri"/>
              </a:rPr>
              <a:t>React</a:t>
            </a:r>
            <a:r>
              <a:rPr lang="es-ES">
                <a:latin typeface="Calibri"/>
                <a:ea typeface="Calibri"/>
                <a:cs typeface="Calibri"/>
              </a:rPr>
              <a:t> aprovecha las características de JavaScript para ofrecer una forma eficiente y modular de construir interfaces de usuario, mientras que JavaScript proporciona la base sobre la cual se construye </a:t>
            </a:r>
            <a:r>
              <a:rPr lang="es-ES" err="1">
                <a:latin typeface="Calibri"/>
                <a:ea typeface="Calibri"/>
                <a:cs typeface="Calibri"/>
              </a:rPr>
              <a:t>React</a:t>
            </a:r>
            <a:r>
              <a:rPr lang="es-ES">
                <a:latin typeface="Calibri"/>
                <a:ea typeface="Calibri"/>
                <a:cs typeface="Calibri"/>
              </a:rPr>
              <a:t>.</a:t>
            </a:r>
          </a:p>
          <a:p>
            <a:pPr marL="342900" indent="-342900">
              <a:buFont typeface="Arial"/>
              <a:buChar char="•"/>
            </a:pPr>
            <a:r>
              <a:rPr lang="es-ES">
                <a:latin typeface="Calibri"/>
                <a:ea typeface="Calibri"/>
                <a:cs typeface="Calibri"/>
              </a:rPr>
              <a:t>JSX (JavaScript XML) es una extensión de JavaScript que permite escribir HTML dentro de JavaScript. Esto hace que el código sea más legible y fácil de escribir. Aunque JSX no es una característica nativa de JavaScript, se </a:t>
            </a:r>
            <a:r>
              <a:rPr lang="es-ES" err="1">
                <a:latin typeface="Calibri"/>
                <a:ea typeface="Calibri"/>
                <a:cs typeface="Calibri"/>
              </a:rPr>
              <a:t>transpila</a:t>
            </a:r>
            <a:r>
              <a:rPr lang="es-ES">
                <a:latin typeface="Calibri"/>
                <a:ea typeface="Calibri"/>
                <a:cs typeface="Calibri"/>
              </a:rPr>
              <a:t> a JavaScript puro utilizando herramientas como Babel.</a:t>
            </a:r>
          </a:p>
        </p:txBody>
      </p:sp>
    </p:spTree>
    <p:extLst>
      <p:ext uri="{BB962C8B-B14F-4D97-AF65-F5344CB8AC3E}">
        <p14:creationId xmlns:p14="http://schemas.microsoft.com/office/powerpoint/2010/main" val="1651343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56AC3-4E34-7C3E-1678-2C9C64AD79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56B53D-B51B-205E-8547-8333D51CF349}"/>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Declaración de variables con </a:t>
            </a:r>
            <a:r>
              <a:rPr lang="es-ES" err="1">
                <a:latin typeface="Calibri"/>
                <a:ea typeface="Calibri"/>
                <a:cs typeface="Calibri"/>
              </a:rPr>
              <a:t>var</a:t>
            </a:r>
            <a:r>
              <a:rPr lang="es-ES">
                <a:latin typeface="Calibri"/>
                <a:ea typeface="Calibri"/>
                <a:cs typeface="Calibri"/>
              </a:rPr>
              <a:t>, </a:t>
            </a:r>
            <a:r>
              <a:rPr lang="es-ES" err="1">
                <a:latin typeface="Calibri"/>
                <a:ea typeface="Calibri"/>
                <a:cs typeface="Calibri"/>
              </a:rPr>
              <a:t>let</a:t>
            </a:r>
            <a:r>
              <a:rPr lang="es-ES">
                <a:latin typeface="Calibri"/>
                <a:ea typeface="Calibri"/>
                <a:cs typeface="Calibri"/>
              </a:rPr>
              <a:t> y </a:t>
            </a:r>
            <a:r>
              <a:rPr lang="es-ES" err="1">
                <a:latin typeface="Calibri"/>
                <a:ea typeface="Calibri"/>
                <a:cs typeface="Calibri"/>
              </a:rPr>
              <a:t>const.</a:t>
            </a:r>
          </a:p>
        </p:txBody>
      </p:sp>
      <p:sp>
        <p:nvSpPr>
          <p:cNvPr id="3" name="Marcador de contenido 2">
            <a:extLst>
              <a:ext uri="{FF2B5EF4-FFF2-40B4-BE49-F238E27FC236}">
                <a16:creationId xmlns:a16="http://schemas.microsoft.com/office/drawing/2014/main" id="{8B848509-7F0C-2616-3180-3322FB7F0022}"/>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Las variables son contenedores para almacenar datos. En JavaScript, puedes declarar variables usando </a:t>
            </a:r>
            <a:r>
              <a:rPr lang="es-ES" err="1">
                <a:latin typeface="Calibri"/>
                <a:ea typeface="Calibri"/>
                <a:cs typeface="Calibri"/>
              </a:rPr>
              <a:t>var</a:t>
            </a:r>
            <a:r>
              <a:rPr lang="es-ES">
                <a:latin typeface="Calibri"/>
                <a:ea typeface="Calibri"/>
                <a:cs typeface="Calibri"/>
              </a:rPr>
              <a:t>, </a:t>
            </a:r>
            <a:r>
              <a:rPr lang="es-ES" err="1">
                <a:latin typeface="Calibri"/>
                <a:ea typeface="Calibri"/>
                <a:cs typeface="Calibri"/>
              </a:rPr>
              <a:t>let</a:t>
            </a:r>
            <a:r>
              <a:rPr lang="es-ES">
                <a:latin typeface="Calibri"/>
                <a:ea typeface="Calibri"/>
                <a:cs typeface="Calibri"/>
              </a:rPr>
              <a:t> y </a:t>
            </a:r>
            <a:r>
              <a:rPr lang="es-ES" err="1">
                <a:latin typeface="Calibri"/>
                <a:ea typeface="Calibri"/>
                <a:cs typeface="Calibri"/>
              </a:rPr>
              <a:t>const.</a:t>
            </a:r>
            <a:r>
              <a:rPr lang="es-ES">
                <a:latin typeface="Calibri"/>
                <a:ea typeface="Calibri"/>
                <a:cs typeface="Calibri"/>
              </a:rPr>
              <a:t> Cada una tiene sus propias características específicas y usos determinados.</a:t>
            </a:r>
          </a:p>
          <a:p>
            <a:pPr marL="342900" indent="-342900">
              <a:buFont typeface="Arial"/>
              <a:buChar char="•"/>
            </a:pPr>
            <a:r>
              <a:rPr lang="es-ES" err="1">
                <a:latin typeface="Calibri"/>
                <a:ea typeface="Calibri"/>
                <a:cs typeface="Calibri"/>
              </a:rPr>
              <a:t>var</a:t>
            </a:r>
            <a:r>
              <a:rPr lang="es-ES">
                <a:latin typeface="Calibri"/>
                <a:ea typeface="Calibri"/>
                <a:cs typeface="Calibri"/>
              </a:rPr>
              <a:t> tiene un alcance de función, si se declara una variable con </a:t>
            </a:r>
            <a:r>
              <a:rPr lang="es-ES" err="1">
                <a:latin typeface="Calibri"/>
                <a:ea typeface="Calibri"/>
                <a:cs typeface="Calibri"/>
              </a:rPr>
              <a:t>var</a:t>
            </a:r>
            <a:r>
              <a:rPr lang="es-ES">
                <a:latin typeface="Calibri"/>
                <a:ea typeface="Calibri"/>
                <a:cs typeface="Calibri"/>
              </a:rPr>
              <a:t> dentro de una función, esa variable será accesible en toda la función pero no fuera de ella. Permite reasignarle valores y también volver a declarar la variable.</a:t>
            </a:r>
          </a:p>
          <a:p>
            <a:r>
              <a:rPr lang="es-ES" err="1">
                <a:latin typeface="Consolas"/>
                <a:ea typeface="Calibri"/>
                <a:cs typeface="Calibri"/>
              </a:rPr>
              <a:t>var</a:t>
            </a:r>
            <a:r>
              <a:rPr lang="es-ES">
                <a:latin typeface="Consolas"/>
                <a:ea typeface="Calibri"/>
                <a:cs typeface="Calibri"/>
              </a:rPr>
              <a:t> nombre = "</a:t>
            </a:r>
            <a:r>
              <a:rPr lang="es-ES" err="1">
                <a:latin typeface="Consolas"/>
                <a:ea typeface="Calibri"/>
                <a:cs typeface="Calibri"/>
              </a:rPr>
              <a:t>Maria</a:t>
            </a:r>
            <a:r>
              <a:rPr lang="es-ES">
                <a:latin typeface="Consolas"/>
                <a:ea typeface="Calibri"/>
                <a:cs typeface="Calibri"/>
              </a:rPr>
              <a:t>";</a:t>
            </a:r>
            <a:br>
              <a:rPr lang="es-ES">
                <a:latin typeface="Consolas"/>
                <a:ea typeface="Calibri"/>
                <a:cs typeface="Calibri"/>
              </a:rPr>
            </a:br>
            <a:r>
              <a:rPr lang="es-ES">
                <a:latin typeface="Consolas"/>
                <a:ea typeface="Calibri"/>
                <a:cs typeface="Calibri"/>
              </a:rPr>
              <a:t>nombre = "Juan"; // Reasignación permitida</a:t>
            </a:r>
            <a:br>
              <a:rPr lang="es-ES">
                <a:latin typeface="Consolas"/>
                <a:ea typeface="Calibri"/>
                <a:cs typeface="Calibri"/>
              </a:rPr>
            </a:br>
            <a:r>
              <a:rPr lang="es-ES" err="1">
                <a:latin typeface="Consolas"/>
                <a:ea typeface="Calibri"/>
                <a:cs typeface="Calibri"/>
              </a:rPr>
              <a:t>var</a:t>
            </a:r>
            <a:r>
              <a:rPr lang="es-ES">
                <a:latin typeface="Consolas"/>
                <a:ea typeface="Calibri"/>
                <a:cs typeface="Calibri"/>
              </a:rPr>
              <a:t> nombre = "Pepe"; // </a:t>
            </a:r>
            <a:r>
              <a:rPr lang="es-ES" err="1">
                <a:latin typeface="Consolas"/>
                <a:ea typeface="Calibri"/>
                <a:cs typeface="Calibri"/>
              </a:rPr>
              <a:t>Redeclaración</a:t>
            </a:r>
            <a:r>
              <a:rPr lang="es-ES">
                <a:latin typeface="Consolas"/>
                <a:ea typeface="Calibri"/>
                <a:cs typeface="Calibri"/>
              </a:rPr>
              <a:t> permitida</a:t>
            </a:r>
          </a:p>
          <a:p>
            <a:pPr marL="342900" indent="-342900">
              <a:buFont typeface="Arial"/>
              <a:buChar char="•"/>
            </a:pPr>
            <a:endParaRPr lang="es-ES">
              <a:latin typeface="Calibri"/>
              <a:ea typeface="Calibri"/>
              <a:cs typeface="Calibri"/>
            </a:endParaRPr>
          </a:p>
          <a:p>
            <a:endParaRPr lang="es-ES">
              <a:latin typeface="Calibri"/>
              <a:ea typeface="Calibri"/>
              <a:cs typeface="Calibri"/>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877224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5F355-610C-6CB3-FD41-FE01441451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8CD558-EED2-C7F2-8BE8-496E132BA006}"/>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Declaración de variables con </a:t>
            </a:r>
            <a:r>
              <a:rPr lang="es-ES" err="1">
                <a:latin typeface="Calibri"/>
                <a:ea typeface="Calibri"/>
                <a:cs typeface="Calibri"/>
              </a:rPr>
              <a:t>var</a:t>
            </a:r>
            <a:r>
              <a:rPr lang="es-ES">
                <a:latin typeface="Calibri"/>
                <a:ea typeface="Calibri"/>
                <a:cs typeface="Calibri"/>
              </a:rPr>
              <a:t>, </a:t>
            </a:r>
            <a:r>
              <a:rPr lang="es-ES" err="1">
                <a:latin typeface="Calibri"/>
                <a:ea typeface="Calibri"/>
                <a:cs typeface="Calibri"/>
              </a:rPr>
              <a:t>let</a:t>
            </a:r>
            <a:r>
              <a:rPr lang="es-ES">
                <a:latin typeface="Calibri"/>
                <a:ea typeface="Calibri"/>
                <a:cs typeface="Calibri"/>
              </a:rPr>
              <a:t> y </a:t>
            </a:r>
            <a:r>
              <a:rPr lang="es-ES" err="1">
                <a:latin typeface="Calibri"/>
                <a:ea typeface="Calibri"/>
                <a:cs typeface="Calibri"/>
              </a:rPr>
              <a:t>const.</a:t>
            </a:r>
          </a:p>
        </p:txBody>
      </p:sp>
      <p:sp>
        <p:nvSpPr>
          <p:cNvPr id="3" name="Marcador de contenido 2">
            <a:extLst>
              <a:ext uri="{FF2B5EF4-FFF2-40B4-BE49-F238E27FC236}">
                <a16:creationId xmlns:a16="http://schemas.microsoft.com/office/drawing/2014/main" id="{A26CE0FF-FCCF-B4E6-F31C-1139CD5C4B74}"/>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err="1">
                <a:latin typeface="Calibri"/>
                <a:ea typeface="Calibri"/>
                <a:cs typeface="Calibri"/>
              </a:rPr>
              <a:t>let</a:t>
            </a:r>
            <a:r>
              <a:rPr lang="es-ES">
                <a:latin typeface="Calibri"/>
                <a:ea typeface="Calibri"/>
                <a:cs typeface="Calibri"/>
              </a:rPr>
              <a:t> tiene un alcance de bloque, lo que significa que solo es accesible dentro del bloque donde se declara (por ejemplo, dentro de un </a:t>
            </a:r>
            <a:r>
              <a:rPr lang="es-ES" err="1">
                <a:latin typeface="Calibri"/>
                <a:ea typeface="Calibri"/>
                <a:cs typeface="Calibri"/>
              </a:rPr>
              <a:t>if</a:t>
            </a:r>
            <a:r>
              <a:rPr lang="es-ES">
                <a:latin typeface="Calibri"/>
                <a:ea typeface="Calibri"/>
                <a:cs typeface="Calibri"/>
              </a:rPr>
              <a:t>, </a:t>
            </a:r>
            <a:r>
              <a:rPr lang="es-ES" err="1">
                <a:latin typeface="Calibri"/>
                <a:ea typeface="Calibri"/>
                <a:cs typeface="Calibri"/>
              </a:rPr>
              <a:t>for</a:t>
            </a:r>
            <a:r>
              <a:rPr lang="es-ES">
                <a:latin typeface="Calibri"/>
                <a:ea typeface="Calibri"/>
                <a:cs typeface="Calibri"/>
              </a:rPr>
              <a:t>, etc.). Permite reasignarle valores pero no se podría volver a declarar.</a:t>
            </a:r>
          </a:p>
          <a:p>
            <a:r>
              <a:rPr lang="es-ES" err="1">
                <a:latin typeface="Consolas"/>
                <a:ea typeface="Calibri"/>
                <a:cs typeface="Calibri"/>
              </a:rPr>
              <a:t>let</a:t>
            </a:r>
            <a:r>
              <a:rPr lang="es-ES">
                <a:latin typeface="Consolas"/>
                <a:ea typeface="Calibri"/>
                <a:cs typeface="Calibri"/>
              </a:rPr>
              <a:t> edad = 25;</a:t>
            </a:r>
            <a:br>
              <a:rPr lang="es-ES">
                <a:latin typeface="Consolas"/>
                <a:ea typeface="Calibri"/>
                <a:cs typeface="Calibri"/>
              </a:rPr>
            </a:br>
            <a:r>
              <a:rPr lang="es-ES">
                <a:latin typeface="Consolas"/>
                <a:ea typeface="Calibri"/>
                <a:cs typeface="Calibri"/>
              </a:rPr>
              <a:t>edad = 30; // Reasignación permitida</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let</a:t>
            </a:r>
            <a:r>
              <a:rPr lang="es-ES">
                <a:latin typeface="Consolas"/>
                <a:ea typeface="Calibri"/>
                <a:cs typeface="Calibri"/>
              </a:rPr>
              <a:t> edad = 35; // </a:t>
            </a:r>
            <a:r>
              <a:rPr lang="es-ES" err="1">
                <a:latin typeface="Consolas"/>
                <a:ea typeface="Calibri"/>
                <a:cs typeface="Calibri"/>
              </a:rPr>
              <a:t>Redeclaración</a:t>
            </a:r>
            <a:r>
              <a:rPr lang="es-ES">
                <a:latin typeface="Consolas"/>
                <a:ea typeface="Calibri"/>
                <a:cs typeface="Calibri"/>
              </a:rPr>
              <a:t> no permitida, esto provocaría un error</a:t>
            </a:r>
          </a:p>
          <a:p>
            <a:pPr marL="342900" indent="-342900">
              <a:buFont typeface="Arial"/>
              <a:buChar char="•"/>
            </a:pPr>
            <a:r>
              <a:rPr lang="es-ES" err="1">
                <a:latin typeface="Calibri"/>
                <a:ea typeface="Calibri"/>
                <a:cs typeface="Calibri"/>
              </a:rPr>
              <a:t>const</a:t>
            </a:r>
            <a:r>
              <a:rPr lang="es-ES">
                <a:latin typeface="Calibri"/>
                <a:ea typeface="Calibri"/>
                <a:cs typeface="Calibri"/>
              </a:rPr>
              <a:t> también tiene un alcance de bloque, similar a </a:t>
            </a:r>
            <a:r>
              <a:rPr lang="es-ES" err="1">
                <a:latin typeface="Calibri"/>
                <a:ea typeface="Calibri"/>
                <a:cs typeface="Calibri"/>
              </a:rPr>
              <a:t>let</a:t>
            </a:r>
            <a:r>
              <a:rPr lang="es-ES">
                <a:latin typeface="Calibri"/>
                <a:ea typeface="Calibri"/>
                <a:cs typeface="Calibri"/>
              </a:rPr>
              <a:t>, No se puede reasignar una variable declarada con </a:t>
            </a:r>
            <a:r>
              <a:rPr lang="es-ES" err="1">
                <a:latin typeface="Calibri"/>
                <a:ea typeface="Calibri"/>
                <a:cs typeface="Calibri"/>
              </a:rPr>
              <a:t>const.</a:t>
            </a:r>
            <a:r>
              <a:rPr lang="es-ES">
                <a:latin typeface="Calibri"/>
                <a:ea typeface="Calibri"/>
                <a:cs typeface="Calibri"/>
              </a:rPr>
              <a:t> Sin embargo, si la variable es un objeto o un array, se pueden modificar sus propiedades o elementos.</a:t>
            </a:r>
          </a:p>
          <a:p>
            <a:r>
              <a:rPr lang="es-ES" err="1">
                <a:latin typeface="Consolas"/>
                <a:ea typeface="Calibri"/>
                <a:cs typeface="Calibri"/>
              </a:rPr>
              <a:t>const</a:t>
            </a:r>
            <a:r>
              <a:rPr lang="es-ES">
                <a:latin typeface="Consolas"/>
                <a:ea typeface="Calibri"/>
                <a:cs typeface="Calibri"/>
              </a:rPr>
              <a:t> ciudad = "Albacete";</a:t>
            </a:r>
            <a:br>
              <a:rPr lang="es-ES">
                <a:latin typeface="Consolas"/>
                <a:ea typeface="Calibri"/>
                <a:cs typeface="Calibri"/>
              </a:rPr>
            </a:br>
            <a:r>
              <a:rPr lang="es-ES">
                <a:latin typeface="Consolas"/>
                <a:ea typeface="Calibri"/>
                <a:cs typeface="Calibri"/>
              </a:rPr>
              <a:t>// ciudad = "Cuenca"; // Reasignación no permitida, provocaría un error</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const</a:t>
            </a:r>
            <a:r>
              <a:rPr lang="es-ES">
                <a:latin typeface="Consolas"/>
                <a:ea typeface="Calibri"/>
                <a:cs typeface="Calibri"/>
              </a:rPr>
              <a:t> ciudad = "Toledo"; // </a:t>
            </a:r>
            <a:r>
              <a:rPr lang="es-ES" err="1">
                <a:latin typeface="Consolas"/>
                <a:ea typeface="Calibri"/>
                <a:cs typeface="Calibri"/>
              </a:rPr>
              <a:t>Redeclaración</a:t>
            </a:r>
            <a:r>
              <a:rPr lang="es-ES">
                <a:latin typeface="Consolas"/>
                <a:ea typeface="Calibri"/>
                <a:cs typeface="Calibri"/>
              </a:rPr>
              <a:t> no permitida, </a:t>
            </a:r>
            <a:r>
              <a:rPr lang="es-ES" sz="2100">
                <a:latin typeface="Consolas"/>
                <a:ea typeface="Calibri"/>
                <a:cs typeface="Calibri"/>
              </a:rPr>
              <a:t>provocaría</a:t>
            </a:r>
            <a:r>
              <a:rPr lang="es-ES">
                <a:latin typeface="Consolas"/>
                <a:ea typeface="Calibri"/>
                <a:cs typeface="Calibri"/>
              </a:rPr>
              <a:t> error</a:t>
            </a:r>
          </a:p>
          <a:p>
            <a:endParaRPr lang="es-ES">
              <a:latin typeface="Calibri"/>
              <a:ea typeface="Calibri"/>
              <a:cs typeface="Calibri"/>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929467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CE08-C003-49FD-C1E2-4C69F7D17A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89D0B2E-3A14-E437-F77E-23050AF4D1AB}"/>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Tipos de datos</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25C35949-C832-D97F-3CC7-876035663124}"/>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JavaScript es un lenguaje débilmente tipado, las variables pueden contener indistintamente cualquier tipo de datos dentro de ellas sin producir errores. </a:t>
            </a:r>
          </a:p>
          <a:p>
            <a:pPr marL="342900" indent="-342900">
              <a:buFont typeface="Arial"/>
              <a:buChar char="•"/>
            </a:pPr>
            <a:r>
              <a:rPr lang="es-ES">
                <a:latin typeface="Calibri"/>
                <a:ea typeface="Calibri"/>
                <a:cs typeface="Calibri"/>
              </a:rPr>
              <a:t>El tipo de datos de la variable dependerá del contenido de la misma, que puede variar: </a:t>
            </a:r>
          </a:p>
          <a:p>
            <a:pPr marL="45720" lvl="1" indent="0">
              <a:buNone/>
            </a:pPr>
            <a:r>
              <a:rPr lang="es-ES" err="1">
                <a:latin typeface="Consolas"/>
                <a:ea typeface="+mn-lt"/>
                <a:cs typeface="+mn-lt"/>
              </a:rPr>
              <a:t>let</a:t>
            </a:r>
            <a:r>
              <a:rPr lang="es-ES">
                <a:latin typeface="Consolas"/>
                <a:ea typeface="+mn-lt"/>
                <a:cs typeface="+mn-lt"/>
              </a:rPr>
              <a:t> saludo = "Hola, mundo!"; //La variable saludo será de tipo </a:t>
            </a:r>
            <a:r>
              <a:rPr lang="es-ES" err="1">
                <a:latin typeface="Consolas"/>
                <a:ea typeface="+mn-lt"/>
                <a:cs typeface="+mn-lt"/>
              </a:rPr>
              <a:t>String</a:t>
            </a:r>
            <a:br>
              <a:rPr lang="es-ES">
                <a:latin typeface="Consolas"/>
                <a:ea typeface="+mn-lt"/>
                <a:cs typeface="+mn-lt"/>
              </a:rPr>
            </a:br>
            <a:r>
              <a:rPr lang="es-ES" err="1">
                <a:latin typeface="Consolas"/>
                <a:ea typeface="+mn-lt"/>
                <a:cs typeface="+mn-lt"/>
              </a:rPr>
              <a:t>let</a:t>
            </a:r>
            <a:r>
              <a:rPr lang="es-ES">
                <a:latin typeface="Consolas"/>
                <a:ea typeface="+mn-lt"/>
                <a:cs typeface="+mn-lt"/>
              </a:rPr>
              <a:t> entero = 42; //La variable entero será de tipo entero</a:t>
            </a:r>
            <a:br>
              <a:rPr lang="es-ES">
                <a:latin typeface="Consolas"/>
                <a:ea typeface="+mn-lt"/>
                <a:cs typeface="+mn-lt"/>
              </a:rPr>
            </a:br>
            <a:r>
              <a:rPr lang="es-ES" err="1">
                <a:latin typeface="Consolas"/>
                <a:ea typeface="+mn-lt"/>
                <a:cs typeface="+mn-lt"/>
              </a:rPr>
              <a:t>let</a:t>
            </a:r>
            <a:r>
              <a:rPr lang="es-ES">
                <a:latin typeface="Consolas"/>
                <a:ea typeface="+mn-lt"/>
                <a:cs typeface="+mn-lt"/>
              </a:rPr>
              <a:t> decimal = 3.14; //La variable decimal será de tipo coma flotante</a:t>
            </a:r>
            <a:br>
              <a:rPr lang="es-ES">
                <a:latin typeface="Consolas"/>
                <a:ea typeface="+mn-lt"/>
                <a:cs typeface="+mn-lt"/>
              </a:rPr>
            </a:br>
            <a:r>
              <a:rPr lang="es-ES" err="1">
                <a:latin typeface="Consolas"/>
                <a:ea typeface="+mn-lt"/>
                <a:cs typeface="+mn-lt"/>
              </a:rPr>
              <a:t>let</a:t>
            </a:r>
            <a:r>
              <a:rPr lang="es-ES">
                <a:latin typeface="Consolas"/>
                <a:ea typeface="+mn-lt"/>
                <a:cs typeface="+mn-lt"/>
              </a:rPr>
              <a:t> </a:t>
            </a:r>
            <a:r>
              <a:rPr lang="es-ES" err="1">
                <a:latin typeface="Consolas"/>
                <a:ea typeface="+mn-lt"/>
                <a:cs typeface="+mn-lt"/>
              </a:rPr>
              <a:t>esVerdadero</a:t>
            </a:r>
            <a:r>
              <a:rPr lang="es-ES">
                <a:latin typeface="Consolas"/>
                <a:ea typeface="+mn-lt"/>
                <a:cs typeface="+mn-lt"/>
              </a:rPr>
              <a:t> = true; //La variable </a:t>
            </a:r>
            <a:r>
              <a:rPr lang="es-ES" err="1">
                <a:latin typeface="Consolas"/>
                <a:ea typeface="+mn-lt"/>
                <a:cs typeface="+mn-lt"/>
              </a:rPr>
              <a:t>esVerdadero</a:t>
            </a:r>
            <a:r>
              <a:rPr lang="es-ES">
                <a:latin typeface="Consolas"/>
                <a:ea typeface="+mn-lt"/>
                <a:cs typeface="+mn-lt"/>
              </a:rPr>
              <a:t> será de tipo booleano</a:t>
            </a:r>
            <a:br>
              <a:rPr lang="es-ES">
                <a:latin typeface="Consolas"/>
                <a:ea typeface="+mn-lt"/>
                <a:cs typeface="+mn-lt"/>
              </a:rPr>
            </a:br>
            <a:r>
              <a:rPr lang="es-ES" err="1">
                <a:latin typeface="Consolas"/>
                <a:ea typeface="+mn-lt"/>
                <a:cs typeface="+mn-lt"/>
              </a:rPr>
              <a:t>let</a:t>
            </a:r>
            <a:r>
              <a:rPr lang="es-ES">
                <a:latin typeface="Consolas"/>
                <a:ea typeface="+mn-lt"/>
                <a:cs typeface="+mn-lt"/>
              </a:rPr>
              <a:t> </a:t>
            </a:r>
            <a:r>
              <a:rPr lang="es-ES" err="1">
                <a:latin typeface="Consolas"/>
                <a:ea typeface="+mn-lt"/>
                <a:cs typeface="+mn-lt"/>
              </a:rPr>
              <a:t>esFalso</a:t>
            </a:r>
            <a:r>
              <a:rPr lang="es-ES">
                <a:latin typeface="Consolas"/>
                <a:ea typeface="+mn-lt"/>
                <a:cs typeface="+mn-lt"/>
              </a:rPr>
              <a:t> = false; //La variable </a:t>
            </a:r>
            <a:r>
              <a:rPr lang="es-ES" err="1">
                <a:latin typeface="Consolas"/>
                <a:ea typeface="+mn-lt"/>
                <a:cs typeface="+mn-lt"/>
              </a:rPr>
              <a:t>esFalso</a:t>
            </a:r>
            <a:r>
              <a:rPr lang="es-ES">
                <a:latin typeface="Consolas"/>
                <a:ea typeface="+mn-lt"/>
                <a:cs typeface="+mn-lt"/>
              </a:rPr>
              <a:t> será de tipo booleano</a:t>
            </a:r>
            <a:br>
              <a:rPr lang="es-ES">
                <a:latin typeface="Consolas"/>
                <a:ea typeface="+mn-lt"/>
                <a:cs typeface="+mn-lt"/>
              </a:rPr>
            </a:br>
            <a:r>
              <a:rPr lang="es-ES" err="1">
                <a:latin typeface="Consolas"/>
                <a:ea typeface="+mn-lt"/>
                <a:cs typeface="+mn-lt"/>
              </a:rPr>
              <a:t>let</a:t>
            </a:r>
            <a:r>
              <a:rPr lang="es-ES">
                <a:latin typeface="Consolas"/>
                <a:ea typeface="+mn-lt"/>
                <a:cs typeface="+mn-lt"/>
              </a:rPr>
              <a:t> </a:t>
            </a:r>
            <a:r>
              <a:rPr lang="es-ES" err="1">
                <a:latin typeface="Consolas"/>
                <a:ea typeface="+mn-lt"/>
                <a:cs typeface="+mn-lt"/>
              </a:rPr>
              <a:t>valorNulo</a:t>
            </a:r>
            <a:r>
              <a:rPr lang="es-ES">
                <a:latin typeface="Consolas"/>
                <a:ea typeface="+mn-lt"/>
                <a:cs typeface="+mn-lt"/>
              </a:rPr>
              <a:t> = </a:t>
            </a:r>
            <a:r>
              <a:rPr lang="es-ES" err="1">
                <a:latin typeface="Consolas"/>
                <a:ea typeface="+mn-lt"/>
                <a:cs typeface="+mn-lt"/>
              </a:rPr>
              <a:t>null</a:t>
            </a:r>
            <a:r>
              <a:rPr lang="es-ES">
                <a:latin typeface="Consolas"/>
                <a:ea typeface="+mn-lt"/>
                <a:cs typeface="+mn-lt"/>
              </a:rPr>
              <a:t>; //La variable no tendrá valor de forma intencionada</a:t>
            </a:r>
            <a:br>
              <a:rPr lang="es-ES">
                <a:latin typeface="Consolas"/>
                <a:ea typeface="+mn-lt"/>
                <a:cs typeface="+mn-lt"/>
              </a:rPr>
            </a:br>
            <a:r>
              <a:rPr lang="en-US">
                <a:latin typeface="Consolas"/>
                <a:ea typeface="+mn-lt"/>
                <a:cs typeface="+mn-lt"/>
              </a:rPr>
              <a:t>let </a:t>
            </a:r>
            <a:r>
              <a:rPr lang="en-US" err="1">
                <a:latin typeface="Consolas"/>
                <a:ea typeface="+mn-lt"/>
                <a:cs typeface="+mn-lt"/>
              </a:rPr>
              <a:t>valorIndefinido</a:t>
            </a:r>
            <a:r>
              <a:rPr lang="en-US">
                <a:latin typeface="Consolas"/>
                <a:ea typeface="+mn-lt"/>
                <a:cs typeface="+mn-lt"/>
              </a:rPr>
              <a:t>; //Variable que se ha </a:t>
            </a:r>
            <a:r>
              <a:rPr lang="en-US" err="1">
                <a:latin typeface="Consolas"/>
                <a:ea typeface="+mn-lt"/>
                <a:cs typeface="+mn-lt"/>
              </a:rPr>
              <a:t>declarado</a:t>
            </a:r>
            <a:r>
              <a:rPr lang="en-US">
                <a:latin typeface="Consolas"/>
                <a:ea typeface="+mn-lt"/>
                <a:cs typeface="+mn-lt"/>
              </a:rPr>
              <a:t> </a:t>
            </a:r>
            <a:r>
              <a:rPr lang="en-US" err="1">
                <a:latin typeface="Consolas"/>
                <a:ea typeface="+mn-lt"/>
                <a:cs typeface="+mn-lt"/>
              </a:rPr>
              <a:t>pero</a:t>
            </a:r>
            <a:r>
              <a:rPr lang="en-US">
                <a:latin typeface="Consolas"/>
                <a:ea typeface="+mn-lt"/>
                <a:cs typeface="+mn-lt"/>
              </a:rPr>
              <a:t> no se ha dado valor</a:t>
            </a:r>
            <a:endParaRPr lang="es-ES">
              <a:latin typeface="Consolas"/>
            </a:endParaRPr>
          </a:p>
          <a:p>
            <a:pPr lvl="1">
              <a:buNone/>
            </a:pPr>
            <a:endParaRPr lang="es-ES">
              <a:latin typeface="Bembo"/>
              <a:ea typeface="Calibri"/>
              <a:cs typeface="Calibri"/>
            </a:endParaRPr>
          </a:p>
          <a:p>
            <a:pPr lvl="1">
              <a:buNone/>
            </a:pPr>
            <a:endParaRPr lang="es-ES">
              <a:latin typeface="Bembo"/>
              <a:ea typeface="Calibri"/>
              <a:cs typeface="Calibri"/>
            </a:endParaRPr>
          </a:p>
          <a:p>
            <a:pPr lvl="1">
              <a:buNone/>
            </a:pPr>
            <a:endParaRPr lang="es-ES">
              <a:latin typeface="Bembo"/>
              <a:ea typeface="Calibri"/>
              <a:cs typeface="Calibri"/>
            </a:endParaRPr>
          </a:p>
          <a:p>
            <a:pPr marL="388620" lvl="1" indent="0">
              <a:buNone/>
            </a:pPr>
            <a:endParaRPr lang="es-ES">
              <a:latin typeface="Calibri"/>
              <a:ea typeface="Calibri"/>
              <a:cs typeface="Calibri"/>
            </a:endParaRPr>
          </a:p>
        </p:txBody>
      </p:sp>
    </p:spTree>
    <p:extLst>
      <p:ext uri="{BB962C8B-B14F-4D97-AF65-F5344CB8AC3E}">
        <p14:creationId xmlns:p14="http://schemas.microsoft.com/office/powerpoint/2010/main" val="2997379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CA101-11D0-E341-8D15-D809E933BA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338F71-2823-D8B7-935E-F2A6A96FC982}"/>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Uso de funciones y funciones flecha</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34C0F361-35FD-C069-D68D-6D4B094D3546}"/>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En JavaScript se pueden utilizar varios tipos de declaraciones de funciones. Las funciones tradicionales en JavaScript se definen utilizando la palabra clave </a:t>
            </a:r>
            <a:r>
              <a:rPr lang="es-ES" err="1">
                <a:latin typeface="Calibri"/>
                <a:ea typeface="Calibri"/>
                <a:cs typeface="Calibri"/>
              </a:rPr>
              <a:t>function</a:t>
            </a:r>
            <a:r>
              <a:rPr lang="es-ES">
                <a:latin typeface="Calibri"/>
                <a:ea typeface="Calibri"/>
                <a:cs typeface="Calibri"/>
              </a:rPr>
              <a:t>. Pueden ser definidas mediante declaraciones o mediante expresiones.</a:t>
            </a:r>
          </a:p>
          <a:p>
            <a:pPr marL="342900" indent="-342900">
              <a:buFont typeface="Arial"/>
              <a:buChar char="•"/>
            </a:pPr>
            <a:r>
              <a:rPr lang="es-ES">
                <a:latin typeface="Calibri"/>
                <a:ea typeface="+mn-lt"/>
                <a:cs typeface="+mn-lt"/>
              </a:rPr>
              <a:t>Una declaración de función define una función con un nombre específico. Estas funciones se pueden llamar antes de que se hayan declarado en el código.</a:t>
            </a:r>
          </a:p>
          <a:p>
            <a:r>
              <a:rPr lang="es-ES">
                <a:latin typeface="Consolas"/>
                <a:ea typeface="+mn-lt"/>
                <a:cs typeface="+mn-lt"/>
              </a:rPr>
              <a:t>console.log(saludar("Diego")); //Se puede llamar </a:t>
            </a:r>
            <a:br>
              <a:rPr lang="es-ES">
                <a:latin typeface="Consolas"/>
                <a:ea typeface="+mn-lt"/>
                <a:cs typeface="+mn-lt"/>
              </a:rPr>
            </a:br>
            <a:r>
              <a:rPr lang="es-ES">
                <a:latin typeface="Consolas"/>
                <a:ea typeface="+mn-lt"/>
                <a:cs typeface="+mn-lt"/>
              </a:rPr>
              <a:t>//a la función antes incluso de declararla</a:t>
            </a:r>
            <a:endParaRPr lang="es-ES"/>
          </a:p>
          <a:p>
            <a:r>
              <a:rPr lang="es-ES" err="1">
                <a:latin typeface="Consolas"/>
                <a:ea typeface="+mn-lt"/>
                <a:cs typeface="+mn-lt"/>
              </a:rPr>
              <a:t>function</a:t>
            </a:r>
            <a:r>
              <a:rPr lang="es-ES">
                <a:latin typeface="Consolas"/>
                <a:ea typeface="+mn-lt"/>
                <a:cs typeface="+mn-lt"/>
              </a:rPr>
              <a:t> saludar(nombre)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`Hola, soy ${nombre}!`;</a:t>
            </a:r>
            <a:br>
              <a:rPr lang="es-ES">
                <a:latin typeface="Consolas"/>
                <a:ea typeface="+mn-lt"/>
                <a:cs typeface="+mn-lt"/>
              </a:rPr>
            </a:br>
            <a:r>
              <a:rPr lang="es-ES">
                <a:latin typeface="Consolas"/>
                <a:ea typeface="+mn-lt"/>
                <a:cs typeface="+mn-lt"/>
              </a:rPr>
              <a:t>}</a:t>
            </a:r>
            <a:endParaRPr lang="es-ES">
              <a:latin typeface="Consolas"/>
            </a:endParaRPr>
          </a:p>
          <a:p>
            <a:pPr marL="342900" indent="-342900">
              <a:buFont typeface="Arial"/>
              <a:buChar char="•"/>
            </a:pPr>
            <a:endParaRPr lang="es-ES">
              <a:latin typeface="Calibri"/>
              <a:ea typeface="Calibri"/>
              <a:cs typeface="Calibri"/>
            </a:endParaRPr>
          </a:p>
          <a:p>
            <a:endParaRPr lang="es-ES">
              <a:latin typeface="Calibri"/>
              <a:ea typeface="Calibri"/>
              <a:cs typeface="Calibri"/>
            </a:endParaRPr>
          </a:p>
        </p:txBody>
      </p:sp>
    </p:spTree>
    <p:extLst>
      <p:ext uri="{BB962C8B-B14F-4D97-AF65-F5344CB8AC3E}">
        <p14:creationId xmlns:p14="http://schemas.microsoft.com/office/powerpoint/2010/main" val="3016938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25D19-7574-A070-2B63-6DBBE5AD78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70E2D2-2613-7168-9BC4-ED053713A4F8}"/>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Uso de funciones y funciones flecha</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41593EDE-B16A-392E-A832-88F524892FB5}"/>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mn-lt"/>
                <a:cs typeface="+mn-lt"/>
              </a:rPr>
              <a:t>Una expresión de función define una función como parte de una expresión, asignándola como un valor a una variable, normalmente constante. Estas funciones deben ser definidas antes de llamarlas.</a:t>
            </a:r>
          </a:p>
          <a:p>
            <a:r>
              <a:rPr lang="es-ES">
                <a:latin typeface="Consolas"/>
                <a:ea typeface="+mn-lt"/>
                <a:cs typeface="+mn-lt"/>
              </a:rPr>
              <a:t>console.log(despedir("Diego")); //No se puede llamar a la</a:t>
            </a:r>
            <a:br>
              <a:rPr lang="es-ES">
                <a:latin typeface="Consolas"/>
                <a:ea typeface="+mn-lt"/>
                <a:cs typeface="+mn-lt"/>
              </a:rPr>
            </a:br>
            <a:r>
              <a:rPr lang="es-ES">
                <a:latin typeface="Consolas"/>
                <a:ea typeface="+mn-lt"/>
                <a:cs typeface="+mn-lt"/>
              </a:rPr>
              <a:t>// función antes de declararla porque provocaría un error</a:t>
            </a:r>
            <a:endParaRPr lang="es-ES">
              <a:latin typeface="Consolas"/>
            </a:endParaRPr>
          </a:p>
          <a:p>
            <a:r>
              <a:rPr lang="es-ES" err="1">
                <a:latin typeface="Consolas"/>
                <a:ea typeface="+mn-lt"/>
                <a:cs typeface="+mn-lt"/>
              </a:rPr>
              <a:t>const</a:t>
            </a:r>
            <a:r>
              <a:rPr lang="es-ES">
                <a:latin typeface="Consolas"/>
                <a:ea typeface="+mn-lt"/>
                <a:cs typeface="+mn-lt"/>
              </a:rPr>
              <a:t> despedir = </a:t>
            </a:r>
            <a:r>
              <a:rPr lang="es-ES" err="1">
                <a:latin typeface="Consolas"/>
                <a:ea typeface="+mn-lt"/>
                <a:cs typeface="+mn-lt"/>
              </a:rPr>
              <a:t>function</a:t>
            </a:r>
            <a:r>
              <a:rPr lang="es-ES">
                <a:latin typeface="Consolas"/>
                <a:ea typeface="+mn-lt"/>
                <a:cs typeface="+mn-lt"/>
              </a:rPr>
              <a:t>(nombre)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`Hasta luego, ${nombre}!`;</a:t>
            </a:r>
            <a:br>
              <a:rPr lang="es-ES">
                <a:latin typeface="Consolas"/>
                <a:ea typeface="+mn-lt"/>
                <a:cs typeface="+mn-lt"/>
              </a:rPr>
            </a:br>
            <a:r>
              <a:rPr lang="es-ES">
                <a:latin typeface="Consolas"/>
                <a:ea typeface="+mn-lt"/>
                <a:cs typeface="+mn-lt"/>
              </a:rPr>
              <a:t>};</a:t>
            </a:r>
            <a:endParaRPr lang="es-ES">
              <a:latin typeface="Consolas"/>
            </a:endParaRPr>
          </a:p>
          <a:p>
            <a:r>
              <a:rPr lang="es-ES">
                <a:latin typeface="Consolas"/>
                <a:ea typeface="+mn-lt"/>
                <a:cs typeface="+mn-lt"/>
              </a:rPr>
              <a:t>console.log(despedir("Diego")); </a:t>
            </a:r>
            <a:endParaRPr lang="es-ES">
              <a:latin typeface="Consolas"/>
              <a:ea typeface="Calibri"/>
              <a:cs typeface="Calibri"/>
            </a:endParaRPr>
          </a:p>
          <a:p>
            <a:pPr marL="342900" indent="-342900">
              <a:buFont typeface="Arial"/>
              <a:buChar char="•"/>
            </a:pPr>
            <a:r>
              <a:rPr lang="es-ES">
                <a:latin typeface="Calibri"/>
                <a:ea typeface="Calibri"/>
                <a:cs typeface="Calibri"/>
              </a:rPr>
              <a:t>Puesto que este tipo de funciones "expresadas" toman el nombre de la variable a la que se le ha dado valor, se pueden crear las conocidas como funciones anónimas</a:t>
            </a:r>
          </a:p>
          <a:p>
            <a:endParaRPr lang="es-ES">
              <a:latin typeface="Calibri"/>
              <a:ea typeface="Calibri"/>
              <a:cs typeface="Calibri"/>
            </a:endParaRPr>
          </a:p>
        </p:txBody>
      </p:sp>
    </p:spTree>
    <p:extLst>
      <p:ext uri="{BB962C8B-B14F-4D97-AF65-F5344CB8AC3E}">
        <p14:creationId xmlns:p14="http://schemas.microsoft.com/office/powerpoint/2010/main" val="3694891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7E94D-15FB-F868-0D04-E179AEC854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76E943-69FE-F66B-241C-C016D53A65C2}"/>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Uso de funciones y funciones flecha</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D68649B6-AF2D-7663-8798-1F7A3A0BB0D3}"/>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Diferencias Clave de las funciones flecha con las Funciones Tradicionales:</a:t>
            </a:r>
          </a:p>
          <a:p>
            <a:pPr marL="617220" lvl="1" indent="-342900">
              <a:buFont typeface="Courier New"/>
              <a:buChar char="o"/>
            </a:pPr>
            <a:r>
              <a:rPr lang="es-ES">
                <a:latin typeface="Calibri"/>
                <a:ea typeface="Calibri"/>
                <a:cs typeface="Calibri"/>
              </a:rPr>
              <a:t>Las funciones tradicionales, internamente, representan a objetos, las funciones flecha no, por lo que las propiedades funcionales de las clases ya no se pueden utilizar.</a:t>
            </a:r>
          </a:p>
          <a:p>
            <a:pPr marL="617220" lvl="1" indent="-342900">
              <a:buFont typeface="Courier New"/>
              <a:buChar char="o"/>
            </a:pPr>
            <a:r>
              <a:rPr lang="es-ES">
                <a:latin typeface="Calibri"/>
                <a:ea typeface="Calibri"/>
                <a:cs typeface="Calibri"/>
              </a:rPr>
              <a:t>Las funciones flecha no tienen su propio valor de </a:t>
            </a:r>
            <a:r>
              <a:rPr lang="es-ES" err="1">
                <a:latin typeface="Calibri"/>
                <a:ea typeface="Calibri"/>
                <a:cs typeface="Calibri"/>
              </a:rPr>
              <a:t>this</a:t>
            </a:r>
            <a:r>
              <a:rPr lang="es-ES">
                <a:latin typeface="Calibri"/>
                <a:ea typeface="Calibri"/>
                <a:cs typeface="Calibri"/>
              </a:rPr>
              <a:t>. En su lugar, heredan el valor de </a:t>
            </a:r>
            <a:r>
              <a:rPr lang="es-ES" err="1">
                <a:latin typeface="Calibri"/>
                <a:ea typeface="Calibri"/>
                <a:cs typeface="Calibri"/>
              </a:rPr>
              <a:t>this</a:t>
            </a:r>
            <a:r>
              <a:rPr lang="es-ES">
                <a:latin typeface="Calibri"/>
                <a:ea typeface="Calibri"/>
                <a:cs typeface="Calibri"/>
              </a:rPr>
              <a:t> del contexto en el que se definen. Esto es útil en </a:t>
            </a:r>
            <a:r>
              <a:rPr lang="es-ES" err="1">
                <a:latin typeface="Calibri"/>
                <a:ea typeface="Calibri"/>
                <a:cs typeface="Calibri"/>
              </a:rPr>
              <a:t>React</a:t>
            </a:r>
            <a:r>
              <a:rPr lang="es-ES">
                <a:latin typeface="Calibri"/>
                <a:ea typeface="Calibri"/>
                <a:cs typeface="Calibri"/>
              </a:rPr>
              <a:t> para evitar problemas con el alcance de </a:t>
            </a:r>
            <a:r>
              <a:rPr lang="es-ES" err="1">
                <a:latin typeface="Calibri"/>
                <a:ea typeface="Calibri"/>
                <a:cs typeface="Calibri"/>
              </a:rPr>
              <a:t>this</a:t>
            </a:r>
            <a:r>
              <a:rPr lang="es-ES">
                <a:latin typeface="Calibri"/>
                <a:ea typeface="Calibri"/>
                <a:cs typeface="Calibri"/>
              </a:rPr>
              <a:t>.</a:t>
            </a:r>
          </a:p>
          <a:p>
            <a:pPr marL="617220" lvl="1" indent="-342900">
              <a:buFont typeface="Courier New"/>
              <a:buChar char="o"/>
            </a:pPr>
            <a:r>
              <a:rPr lang="es-ES">
                <a:latin typeface="Calibri"/>
                <a:ea typeface="Calibri"/>
                <a:cs typeface="Calibri"/>
              </a:rPr>
              <a:t>No se pueden usar como constructores: Las funciones flecha no se pueden usar con new para crear instancias de objetos.</a:t>
            </a:r>
          </a:p>
          <a:p>
            <a:pPr marL="617220" lvl="1" indent="-342900">
              <a:buFont typeface="Courier New"/>
              <a:buChar char="o"/>
            </a:pPr>
            <a:r>
              <a:rPr lang="es-ES">
                <a:latin typeface="Calibri"/>
                <a:ea typeface="Calibri"/>
                <a:cs typeface="Calibri"/>
              </a:rPr>
              <a:t>No tienen la posibilidad de uso del objeto </a:t>
            </a:r>
            <a:r>
              <a:rPr lang="es-ES" err="1">
                <a:latin typeface="Calibri"/>
                <a:ea typeface="Calibri"/>
                <a:cs typeface="Calibri"/>
              </a:rPr>
              <a:t>arguments</a:t>
            </a:r>
            <a:r>
              <a:rPr lang="es-ES">
                <a:latin typeface="Calibri"/>
                <a:ea typeface="Calibri"/>
                <a:cs typeface="Calibri"/>
              </a:rPr>
              <a:t>: Las funciones flecha no tienen el objeto </a:t>
            </a:r>
            <a:r>
              <a:rPr lang="es-ES" err="1">
                <a:latin typeface="Calibri"/>
                <a:ea typeface="Calibri"/>
                <a:cs typeface="Calibri"/>
              </a:rPr>
              <a:t>arguments</a:t>
            </a:r>
            <a:r>
              <a:rPr lang="es-ES">
                <a:latin typeface="Calibri"/>
                <a:ea typeface="Calibri"/>
                <a:cs typeface="Calibri"/>
              </a:rPr>
              <a:t> por lo que no se le puede pasar un número "indeterminado" de argumentos para luego utilizarlos. Si se necesita acceder a los argumentos, se puede utilizar el operador de desestructuración </a:t>
            </a:r>
            <a:r>
              <a:rPr lang="es-ES" err="1">
                <a:latin typeface="Calibri"/>
                <a:ea typeface="Calibri"/>
                <a:cs typeface="Calibri"/>
              </a:rPr>
              <a:t>rest</a:t>
            </a:r>
            <a:r>
              <a:rPr lang="es-ES">
                <a:latin typeface="Calibri"/>
                <a:ea typeface="Calibri"/>
                <a:cs typeface="Calibri"/>
              </a:rPr>
              <a:t> (...).</a:t>
            </a:r>
          </a:p>
          <a:p>
            <a:pPr marL="617220" lvl="1" indent="-342900">
              <a:buFont typeface="Courier New"/>
              <a:buChar char="o"/>
            </a:pPr>
            <a:endParaRPr lang="es-ES">
              <a:latin typeface="Calibri"/>
              <a:ea typeface="Calibri"/>
              <a:cs typeface="Calibri"/>
            </a:endParaRPr>
          </a:p>
        </p:txBody>
      </p:sp>
    </p:spTree>
    <p:extLst>
      <p:ext uri="{BB962C8B-B14F-4D97-AF65-F5344CB8AC3E}">
        <p14:creationId xmlns:p14="http://schemas.microsoft.com/office/powerpoint/2010/main" val="2746885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DE959-1C35-813A-3D79-C95ADA17F2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6D4FB1-946C-87DE-5984-4B0FAE6A8F86}"/>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Objetos</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B5B63337-0B87-9FBB-19A6-A3A675204946}"/>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Los objetos son colecciones de pares clave-valor. Cada clave (también llamada propiedad) está asociada a un valor. Los objetos se utilizan para almacenar datos estructurados y complejos. Se puede crear un objeto utilizando la sintaxis de llaves {}. </a:t>
            </a:r>
            <a:endParaRPr lang="es-ES">
              <a:latin typeface="Bembo"/>
              <a:ea typeface="Calibri"/>
              <a:cs typeface="Calibri"/>
            </a:endParaRPr>
          </a:p>
          <a:p>
            <a:r>
              <a:rPr lang="es-ES" err="1">
                <a:latin typeface="Consolas"/>
                <a:ea typeface="Calibri"/>
                <a:cs typeface="Calibri"/>
              </a:rPr>
              <a:t>const</a:t>
            </a:r>
            <a:r>
              <a:rPr lang="es-ES">
                <a:latin typeface="Consolas"/>
                <a:ea typeface="Calibri"/>
                <a:cs typeface="Calibri"/>
              </a:rPr>
              <a:t> persona = {</a:t>
            </a:r>
            <a:br>
              <a:rPr lang="es-ES">
                <a:latin typeface="Consolas"/>
                <a:ea typeface="Calibri"/>
                <a:cs typeface="Calibri"/>
              </a:rPr>
            </a:br>
            <a:r>
              <a:rPr lang="es-ES">
                <a:latin typeface="Consolas"/>
                <a:ea typeface="Calibri"/>
                <a:cs typeface="Calibri"/>
              </a:rPr>
              <a:t>  nombre: "Diego",</a:t>
            </a:r>
            <a:br>
              <a:rPr lang="es-ES">
                <a:latin typeface="Consolas"/>
                <a:ea typeface="Calibri"/>
                <a:cs typeface="Calibri"/>
              </a:rPr>
            </a:br>
            <a:r>
              <a:rPr lang="es-ES">
                <a:latin typeface="Consolas"/>
                <a:ea typeface="Calibri"/>
                <a:cs typeface="Calibri"/>
              </a:rPr>
              <a:t>  edad: 25,</a:t>
            </a:r>
            <a:br>
              <a:rPr lang="es-ES">
                <a:latin typeface="Consolas"/>
                <a:ea typeface="Calibri"/>
                <a:cs typeface="Calibri"/>
              </a:rPr>
            </a:br>
            <a:r>
              <a:rPr lang="es-ES">
                <a:latin typeface="Consolas"/>
                <a:ea typeface="Calibri"/>
                <a:cs typeface="Calibri"/>
              </a:rPr>
              <a:t>  ciudad: "Albacete"</a:t>
            </a:r>
            <a:br>
              <a:rPr lang="es-ES">
                <a:latin typeface="Consolas"/>
                <a:ea typeface="Calibri"/>
                <a:cs typeface="Calibri"/>
              </a:rPr>
            </a:br>
            <a:r>
              <a:rPr lang="es-ES">
                <a:latin typeface="Consolas"/>
                <a:ea typeface="Calibri"/>
                <a:cs typeface="Calibri"/>
              </a:rPr>
              <a:t>};</a:t>
            </a:r>
            <a:endParaRPr lang="es-ES"/>
          </a:p>
          <a:p>
            <a:pPr marL="342900" indent="-342900">
              <a:buFont typeface="Arial"/>
              <a:buChar char="•"/>
            </a:pPr>
            <a:r>
              <a:rPr lang="es-ES">
                <a:latin typeface="Calibri"/>
                <a:ea typeface="Calibri"/>
                <a:cs typeface="Calibri"/>
              </a:rPr>
              <a:t>Se puede acceder a las propiedades de un objeto utilizando la notación de punto (.) o la notación de corchetes ([]). </a:t>
            </a:r>
          </a:p>
          <a:p>
            <a:r>
              <a:rPr lang="es-ES">
                <a:latin typeface="Consolas"/>
                <a:ea typeface="Calibri"/>
                <a:cs typeface="Calibri"/>
              </a:rPr>
              <a:t>console.log(</a:t>
            </a:r>
            <a:r>
              <a:rPr lang="es-ES" err="1">
                <a:latin typeface="Consolas"/>
                <a:ea typeface="Calibri"/>
                <a:cs typeface="Calibri"/>
              </a:rPr>
              <a:t>persona.nombre</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console.log(persona["edad"]); </a:t>
            </a:r>
            <a:endParaRPr lang="es-ES"/>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475952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7B8BB-2692-2F40-A235-E9431581F5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8EB542-4742-1DC9-9130-32E07A159F56}"/>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Objetos</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ED24C400-8EA0-1783-CA35-610EDC4A059E}"/>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Se pueden añadir nuevas propiedades a un objeto o eliminar propiedades existentes.</a:t>
            </a:r>
          </a:p>
          <a:p>
            <a:r>
              <a:rPr lang="es-ES" err="1">
                <a:latin typeface="Consolas"/>
                <a:ea typeface="Calibri"/>
                <a:cs typeface="Calibri"/>
              </a:rPr>
              <a:t>persona.profesion</a:t>
            </a:r>
            <a:r>
              <a:rPr lang="es-ES">
                <a:latin typeface="Consolas"/>
                <a:ea typeface="Calibri"/>
                <a:cs typeface="Calibri"/>
              </a:rPr>
              <a:t> = "Desarrollador";</a:t>
            </a:r>
            <a:br>
              <a:rPr lang="es-ES">
                <a:latin typeface="Consolas"/>
                <a:ea typeface="Calibri"/>
                <a:cs typeface="Calibri"/>
              </a:rPr>
            </a:br>
            <a:r>
              <a:rPr lang="es-ES">
                <a:latin typeface="Consolas"/>
                <a:ea typeface="Calibri"/>
                <a:cs typeface="Calibri"/>
              </a:rPr>
              <a:t>console.log(persona); // Salida: { nombre: "Diego", edad: 25, ciudad: "Albacete", </a:t>
            </a:r>
            <a:r>
              <a:rPr lang="es-ES" err="1">
                <a:latin typeface="Consolas"/>
                <a:ea typeface="Calibri"/>
                <a:cs typeface="Calibri"/>
              </a:rPr>
              <a:t>profesion</a:t>
            </a:r>
            <a:r>
              <a:rPr lang="es-ES">
                <a:latin typeface="Consolas"/>
                <a:ea typeface="Calibri"/>
                <a:cs typeface="Calibri"/>
              </a:rPr>
              <a:t>: "Desarrollador" }</a:t>
            </a:r>
            <a:br>
              <a:rPr lang="es-ES">
                <a:latin typeface="Consolas"/>
                <a:ea typeface="Calibri"/>
                <a:cs typeface="Calibri"/>
              </a:rPr>
            </a:br>
            <a:r>
              <a:rPr lang="es-ES" err="1">
                <a:latin typeface="Consolas"/>
                <a:ea typeface="Calibri"/>
                <a:cs typeface="Calibri"/>
              </a:rPr>
              <a:t>delete</a:t>
            </a:r>
            <a:r>
              <a:rPr lang="es-ES">
                <a:latin typeface="Consolas"/>
                <a:ea typeface="Calibri"/>
                <a:cs typeface="Calibri"/>
              </a:rPr>
              <a:t> </a:t>
            </a:r>
            <a:r>
              <a:rPr lang="es-ES" err="1">
                <a:latin typeface="Consolas"/>
                <a:ea typeface="Calibri"/>
                <a:cs typeface="Calibri"/>
              </a:rPr>
              <a:t>persona.ciudad</a:t>
            </a: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console.log(persona); // Salida: { nombre: "</a:t>
            </a:r>
            <a:r>
              <a:rPr lang="es-ES" sz="2100">
                <a:latin typeface="Consolas"/>
                <a:ea typeface="Calibri"/>
                <a:cs typeface="Calibri"/>
              </a:rPr>
              <a:t>Diego</a:t>
            </a:r>
            <a:r>
              <a:rPr lang="es-ES">
                <a:latin typeface="Consolas"/>
                <a:ea typeface="Calibri"/>
                <a:cs typeface="Calibri"/>
              </a:rPr>
              <a:t>", edad: 25, </a:t>
            </a:r>
            <a:r>
              <a:rPr lang="es-ES" err="1">
                <a:latin typeface="Consolas"/>
                <a:ea typeface="Calibri"/>
                <a:cs typeface="Calibri"/>
              </a:rPr>
              <a:t>profesion</a:t>
            </a:r>
            <a:r>
              <a:rPr lang="es-ES">
                <a:latin typeface="Consolas"/>
                <a:ea typeface="Calibri"/>
                <a:cs typeface="Calibri"/>
              </a:rPr>
              <a:t>: "Desarrollador" }</a:t>
            </a:r>
          </a:p>
          <a:p>
            <a:pPr marL="342900" indent="-342900">
              <a:buFont typeface="Arial"/>
              <a:buChar char="•"/>
            </a:pPr>
            <a:r>
              <a:rPr lang="es-ES">
                <a:latin typeface="Calibri"/>
                <a:ea typeface="Calibri"/>
                <a:cs typeface="Calibri"/>
              </a:rPr>
              <a:t>Para crear un método se debe definir como una función anónima.</a:t>
            </a:r>
          </a:p>
          <a:p>
            <a:r>
              <a:rPr lang="es-ES" err="1">
                <a:latin typeface="Consolas"/>
                <a:ea typeface="Calibri"/>
                <a:cs typeface="Calibri"/>
              </a:rPr>
              <a:t>const</a:t>
            </a:r>
            <a:r>
              <a:rPr lang="es-ES">
                <a:latin typeface="Consolas"/>
                <a:ea typeface="Calibri"/>
                <a:cs typeface="Calibri"/>
              </a:rPr>
              <a:t> persona = {</a:t>
            </a:r>
            <a:br>
              <a:rPr lang="es-ES">
                <a:latin typeface="Consolas"/>
                <a:ea typeface="Calibri"/>
                <a:cs typeface="Calibri"/>
              </a:rPr>
            </a:br>
            <a:r>
              <a:rPr lang="es-ES">
                <a:latin typeface="Consolas"/>
                <a:ea typeface="Calibri"/>
                <a:cs typeface="Calibri"/>
              </a:rPr>
              <a:t>  nombre: "Diego",</a:t>
            </a:r>
            <a:br>
              <a:rPr lang="es-ES">
                <a:latin typeface="Consolas"/>
                <a:ea typeface="Calibri"/>
                <a:cs typeface="Calibri"/>
              </a:rPr>
            </a:br>
            <a:r>
              <a:rPr lang="es-ES">
                <a:latin typeface="Consolas"/>
                <a:ea typeface="Calibri"/>
                <a:cs typeface="Calibri"/>
              </a:rPr>
              <a:t>  saludar: </a:t>
            </a:r>
            <a:r>
              <a:rPr lang="es-ES" err="1">
                <a:latin typeface="Consolas"/>
                <a:ea typeface="Calibri"/>
                <a:cs typeface="Calibri"/>
              </a:rPr>
              <a:t>function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`Hola, soy ${</a:t>
            </a:r>
            <a:r>
              <a:rPr lang="es-ES" err="1">
                <a:latin typeface="Consolas"/>
                <a:ea typeface="Calibri"/>
                <a:cs typeface="Calibri"/>
              </a:rPr>
              <a:t>this.nombre</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persona.saludar</a:t>
            </a:r>
            <a:r>
              <a:rPr lang="es-ES">
                <a:latin typeface="Consolas"/>
                <a:ea typeface="Calibri"/>
                <a:cs typeface="Calibri"/>
              </a:rPr>
              <a:t>()); // "Hola, soy Diego"</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18370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5B72E-1E45-853A-B003-1380792AF2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987934-B8B8-CE3D-3D19-0A439754AEE9}"/>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Arrays</a:t>
            </a:r>
          </a:p>
        </p:txBody>
      </p:sp>
      <p:sp>
        <p:nvSpPr>
          <p:cNvPr id="3" name="Marcador de contenido 2">
            <a:extLst>
              <a:ext uri="{FF2B5EF4-FFF2-40B4-BE49-F238E27FC236}">
                <a16:creationId xmlns:a16="http://schemas.microsoft.com/office/drawing/2014/main" id="{AF905040-F021-D802-18F7-63DB2BEF2F9E}"/>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Los </a:t>
            </a:r>
            <a:r>
              <a:rPr lang="es-ES" err="1">
                <a:latin typeface="Calibri"/>
                <a:ea typeface="Calibri"/>
                <a:cs typeface="Calibri"/>
              </a:rPr>
              <a:t>arrays</a:t>
            </a:r>
            <a:r>
              <a:rPr lang="es-ES">
                <a:latin typeface="Calibri"/>
                <a:ea typeface="Calibri"/>
                <a:cs typeface="Calibri"/>
              </a:rPr>
              <a:t> son listas ordenadas de elementos. Cada elemento en un array tiene un índice, que comienza en 0. Los </a:t>
            </a:r>
            <a:r>
              <a:rPr lang="es-ES" err="1">
                <a:latin typeface="Calibri"/>
                <a:ea typeface="Calibri"/>
                <a:cs typeface="Calibri"/>
              </a:rPr>
              <a:t>arrays</a:t>
            </a:r>
            <a:r>
              <a:rPr lang="es-ES">
                <a:latin typeface="Calibri"/>
                <a:ea typeface="Calibri"/>
                <a:cs typeface="Calibri"/>
              </a:rPr>
              <a:t> se utilizan para almacenar colecciones de </a:t>
            </a:r>
            <a:r>
              <a:rPr lang="es-ES" err="1">
                <a:latin typeface="Calibri"/>
                <a:ea typeface="Calibri"/>
                <a:cs typeface="Calibri"/>
              </a:rPr>
              <a:t>datos.Se</a:t>
            </a:r>
            <a:r>
              <a:rPr lang="es-ES">
                <a:latin typeface="Calibri"/>
                <a:ea typeface="Calibri"/>
                <a:cs typeface="Calibri"/>
              </a:rPr>
              <a:t> puede crear un array utilizando la sintaxis de corchetes [].</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[17, 23, 31, 49, 54];</a:t>
            </a:r>
          </a:p>
          <a:p>
            <a:pPr marL="342900" indent="-342900">
              <a:buFont typeface="Arial"/>
              <a:buChar char="•"/>
            </a:pPr>
            <a:r>
              <a:rPr lang="es-ES">
                <a:latin typeface="Calibri"/>
                <a:ea typeface="Calibri"/>
                <a:cs typeface="Calibri"/>
              </a:rPr>
              <a:t>Se puede acceder a los elementos de un array utilizando su índice.</a:t>
            </a:r>
          </a:p>
          <a:p>
            <a:r>
              <a:rPr lang="es-ES">
                <a:latin typeface="Consolas"/>
                <a:ea typeface="Calibri"/>
                <a:cs typeface="Calibri"/>
              </a:rPr>
              <a:t>console.log(</a:t>
            </a:r>
            <a:r>
              <a:rPr lang="es-ES" err="1">
                <a:latin typeface="Consolas"/>
                <a:ea typeface="Calibri"/>
                <a:cs typeface="Calibri"/>
              </a:rPr>
              <a:t>numeros</a:t>
            </a:r>
            <a:r>
              <a:rPr lang="es-ES">
                <a:latin typeface="Consolas"/>
                <a:ea typeface="Calibri"/>
                <a:cs typeface="Calibri"/>
              </a:rPr>
              <a:t>[0]); // 17</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numeros</a:t>
            </a:r>
            <a:r>
              <a:rPr lang="es-ES">
                <a:latin typeface="Consolas"/>
                <a:ea typeface="Calibri"/>
                <a:cs typeface="Calibri"/>
              </a:rPr>
              <a:t>[3]); // 49</a:t>
            </a:r>
          </a:p>
          <a:p>
            <a:pPr marL="342900" indent="-342900">
              <a:buFont typeface="Arial"/>
              <a:buChar char="•"/>
            </a:pPr>
            <a:r>
              <a:rPr lang="es-ES">
                <a:latin typeface="Calibri"/>
                <a:ea typeface="Calibri"/>
                <a:cs typeface="Calibri"/>
              </a:rPr>
              <a:t>Se pueden modificar los elementos de un array asignando nuevos valores a los índices.</a:t>
            </a:r>
          </a:p>
          <a:p>
            <a:r>
              <a:rPr lang="es-ES" err="1">
                <a:latin typeface="Consolas"/>
                <a:ea typeface="Calibri"/>
                <a:cs typeface="Calibri"/>
              </a:rPr>
              <a:t>numeros</a:t>
            </a:r>
            <a:r>
              <a:rPr lang="es-ES">
                <a:latin typeface="Consolas"/>
                <a:ea typeface="Calibri"/>
                <a:cs typeface="Calibri"/>
              </a:rPr>
              <a:t>[2] = 10;</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numeros</a:t>
            </a:r>
            <a:r>
              <a:rPr lang="es-ES">
                <a:latin typeface="Consolas"/>
                <a:ea typeface="Calibri"/>
                <a:cs typeface="Calibri"/>
              </a:rPr>
              <a:t>); // [17, 23, 10, 49, 54]</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9116470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AB590-8ADF-251B-A8D5-928D9D1505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447B34-6D0C-3A5B-2311-9273E2AC362B}"/>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Arrays</a:t>
            </a:r>
          </a:p>
        </p:txBody>
      </p:sp>
      <p:sp>
        <p:nvSpPr>
          <p:cNvPr id="3" name="Marcador de contenido 2">
            <a:extLst>
              <a:ext uri="{FF2B5EF4-FFF2-40B4-BE49-F238E27FC236}">
                <a16:creationId xmlns:a16="http://schemas.microsoft.com/office/drawing/2014/main" id="{88EAA935-BC4D-DB02-B78B-08F9CD9E76F9}"/>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Los </a:t>
            </a:r>
            <a:r>
              <a:rPr lang="es-ES" err="1">
                <a:latin typeface="Calibri"/>
                <a:ea typeface="Calibri"/>
                <a:cs typeface="Calibri"/>
              </a:rPr>
              <a:t>arrays</a:t>
            </a:r>
            <a:r>
              <a:rPr lang="es-ES">
                <a:latin typeface="Calibri"/>
                <a:ea typeface="Calibri"/>
                <a:cs typeface="Calibri"/>
              </a:rPr>
              <a:t> tienen muchos métodos útiles para manipular y transformar sus elementos, entre otros, los más relevantes para usar en </a:t>
            </a:r>
            <a:r>
              <a:rPr lang="es-ES" err="1">
                <a:latin typeface="Calibri"/>
                <a:ea typeface="Calibri"/>
                <a:cs typeface="Calibri"/>
              </a:rPr>
              <a:t>React</a:t>
            </a:r>
            <a:r>
              <a:rPr lang="es-ES">
                <a:latin typeface="Calibri"/>
                <a:ea typeface="Calibri"/>
                <a:cs typeface="Calibri"/>
              </a:rPr>
              <a:t>:</a:t>
            </a:r>
          </a:p>
          <a:p>
            <a:pPr marL="617220" lvl="1" indent="-342900">
              <a:buFont typeface="Courier New"/>
              <a:buChar char="o"/>
            </a:pPr>
            <a:r>
              <a:rPr lang="es-ES" err="1">
                <a:latin typeface="Calibri"/>
                <a:ea typeface="Calibri"/>
                <a:cs typeface="Calibri"/>
              </a:rPr>
              <a:t>forEach</a:t>
            </a:r>
            <a:r>
              <a:rPr lang="es-ES">
                <a:latin typeface="Calibri"/>
                <a:ea typeface="Calibri"/>
                <a:cs typeface="Calibri"/>
              </a:rPr>
              <a:t>: Ejecuta una función para cada elemento del array.</a:t>
            </a:r>
          </a:p>
          <a:p>
            <a:r>
              <a:rPr lang="es-ES" err="1">
                <a:latin typeface="Consolas"/>
                <a:ea typeface="Calibri"/>
                <a:cs typeface="Calibri"/>
              </a:rPr>
              <a:t>numeros.forEach</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 =&gt; console.log(</a:t>
            </a:r>
            <a:r>
              <a:rPr lang="es-ES" err="1">
                <a:latin typeface="Consolas"/>
                <a:ea typeface="Calibri"/>
                <a:cs typeface="Calibri"/>
              </a:rPr>
              <a:t>num</a:t>
            </a:r>
            <a:r>
              <a:rPr lang="es-ES">
                <a:latin typeface="Consolas"/>
                <a:ea typeface="Calibri"/>
                <a:cs typeface="Calibri"/>
              </a:rPr>
              <a:t>));</a:t>
            </a:r>
          </a:p>
          <a:p>
            <a:pPr marL="617220" lvl="1" indent="-342900">
              <a:buFont typeface="Courier New"/>
              <a:buChar char="o"/>
            </a:pPr>
            <a:r>
              <a:rPr lang="es-ES" err="1">
                <a:latin typeface="Calibri"/>
                <a:ea typeface="Calibri"/>
                <a:cs typeface="Calibri"/>
              </a:rPr>
              <a:t>map</a:t>
            </a:r>
            <a:r>
              <a:rPr lang="es-ES">
                <a:latin typeface="Calibri"/>
                <a:ea typeface="Calibri"/>
                <a:cs typeface="Calibri"/>
              </a:rPr>
              <a:t>: Crea un nuevo array con los resultados de aplicar una función a cada elemento del array original.</a:t>
            </a:r>
          </a:p>
          <a:p>
            <a:r>
              <a:rPr lang="es-ES" err="1">
                <a:latin typeface="Consolas"/>
                <a:ea typeface="Calibri"/>
                <a:cs typeface="Calibri"/>
              </a:rPr>
              <a:t>const</a:t>
            </a:r>
            <a:r>
              <a:rPr lang="es-ES">
                <a:latin typeface="Consolas"/>
                <a:ea typeface="Calibri"/>
                <a:cs typeface="Calibri"/>
              </a:rPr>
              <a:t> cuadrados = </a:t>
            </a:r>
            <a:r>
              <a:rPr lang="es-ES" err="1">
                <a:latin typeface="Consolas"/>
                <a:ea typeface="Calibri"/>
                <a:cs typeface="Calibri"/>
              </a:rPr>
              <a:t>numeros.map</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 =&gt; </a:t>
            </a:r>
            <a:r>
              <a:rPr lang="es-ES" err="1">
                <a:latin typeface="Consolas"/>
                <a:ea typeface="Calibri"/>
                <a:cs typeface="Calibri"/>
              </a:rPr>
              <a:t>num</a:t>
            </a:r>
            <a:r>
              <a:rPr lang="es-ES">
                <a:latin typeface="Consolas"/>
                <a:ea typeface="Calibri"/>
                <a:cs typeface="Calibri"/>
              </a:rPr>
              <a:t> * </a:t>
            </a:r>
            <a:r>
              <a:rPr lang="es-ES" err="1">
                <a:latin typeface="Consolas"/>
                <a:ea typeface="Calibri"/>
                <a:cs typeface="Calibri"/>
              </a:rPr>
              <a:t>num</a:t>
            </a:r>
            <a:r>
              <a:rPr lang="es-ES">
                <a:latin typeface="Consolas"/>
                <a:ea typeface="Calibri"/>
                <a:cs typeface="Calibri"/>
              </a:rPr>
              <a:t>);</a:t>
            </a:r>
          </a:p>
          <a:p>
            <a:pPr marL="617220" lvl="1" indent="-342900">
              <a:buFont typeface="Courier New"/>
              <a:buChar char="o"/>
            </a:pPr>
            <a:r>
              <a:rPr lang="es-ES" err="1">
                <a:latin typeface="Calibri"/>
                <a:ea typeface="Calibri"/>
                <a:cs typeface="Calibri"/>
              </a:rPr>
              <a:t>filter</a:t>
            </a:r>
            <a:r>
              <a:rPr lang="es-ES">
                <a:latin typeface="Calibri"/>
                <a:ea typeface="Calibri"/>
                <a:cs typeface="Calibri"/>
              </a:rPr>
              <a:t>: Crea un nuevo array con todos los elementos que cumplan una condición.</a:t>
            </a:r>
          </a:p>
          <a:p>
            <a:r>
              <a:rPr lang="es-ES" err="1">
                <a:latin typeface="Consolas"/>
                <a:ea typeface="Calibri"/>
                <a:cs typeface="Calibri"/>
              </a:rPr>
              <a:t>const</a:t>
            </a:r>
            <a:r>
              <a:rPr lang="es-ES">
                <a:latin typeface="Consolas"/>
                <a:ea typeface="Calibri"/>
                <a:cs typeface="Calibri"/>
              </a:rPr>
              <a:t> pares = </a:t>
            </a:r>
            <a:r>
              <a:rPr lang="es-ES" err="1">
                <a:latin typeface="Consolas"/>
                <a:ea typeface="Calibri"/>
                <a:cs typeface="Calibri"/>
              </a:rPr>
              <a:t>numeros.filter</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 =&gt; </a:t>
            </a:r>
            <a:r>
              <a:rPr lang="es-ES" err="1">
                <a:latin typeface="Consolas"/>
                <a:ea typeface="Calibri"/>
                <a:cs typeface="Calibri"/>
              </a:rPr>
              <a:t>num</a:t>
            </a:r>
            <a:r>
              <a:rPr lang="es-ES">
                <a:latin typeface="Consolas"/>
                <a:ea typeface="Calibri"/>
                <a:cs typeface="Calibri"/>
              </a:rPr>
              <a:t> % 2 === 0);</a:t>
            </a:r>
          </a:p>
          <a:p>
            <a:pPr marL="617220" lvl="1" indent="-342900">
              <a:buFont typeface="Courier New"/>
              <a:buChar char="o"/>
            </a:pPr>
            <a:r>
              <a:rPr lang="es-ES">
                <a:latin typeface="Calibri"/>
                <a:ea typeface="Calibri"/>
                <a:cs typeface="Calibri"/>
              </a:rPr>
              <a:t>reduce: Aplica una función a un acumulador y a cada elemento del array (de izquierda a derecha) para reducirlo a un solo valor.</a:t>
            </a:r>
          </a:p>
          <a:p>
            <a:r>
              <a:rPr lang="es-ES" err="1">
                <a:latin typeface="Consolas"/>
                <a:ea typeface="Calibri"/>
                <a:cs typeface="Calibri"/>
              </a:rPr>
              <a:t>const</a:t>
            </a:r>
            <a:r>
              <a:rPr lang="es-ES">
                <a:latin typeface="Consolas"/>
                <a:ea typeface="Calibri"/>
                <a:cs typeface="Calibri"/>
              </a:rPr>
              <a:t> suma = </a:t>
            </a:r>
            <a:r>
              <a:rPr lang="es-ES" err="1">
                <a:latin typeface="Consolas"/>
                <a:ea typeface="Calibri"/>
                <a:cs typeface="Calibri"/>
              </a:rPr>
              <a:t>numeros.reduce</a:t>
            </a:r>
            <a:r>
              <a:rPr lang="es-ES">
                <a:latin typeface="Consolas"/>
                <a:ea typeface="Calibri"/>
                <a:cs typeface="Calibri"/>
              </a:rPr>
              <a:t>((total, </a:t>
            </a:r>
            <a:r>
              <a:rPr lang="es-ES" err="1">
                <a:latin typeface="Consolas"/>
                <a:ea typeface="Calibri"/>
                <a:cs typeface="Calibri"/>
              </a:rPr>
              <a:t>num</a:t>
            </a:r>
            <a:r>
              <a:rPr lang="es-ES">
                <a:latin typeface="Consolas"/>
                <a:ea typeface="Calibri"/>
                <a:cs typeface="Calibri"/>
              </a:rPr>
              <a:t>) =&gt; total + </a:t>
            </a:r>
            <a:r>
              <a:rPr lang="es-ES" err="1">
                <a:latin typeface="Consolas"/>
                <a:ea typeface="Calibri"/>
                <a:cs typeface="Calibri"/>
              </a:rPr>
              <a:t>num</a:t>
            </a:r>
            <a:r>
              <a:rPr lang="es-ES">
                <a:latin typeface="Consolas"/>
                <a:ea typeface="Calibri"/>
                <a:cs typeface="Calibri"/>
              </a:rPr>
              <a:t>, 0);</a:t>
            </a:r>
          </a:p>
        </p:txBody>
      </p:sp>
    </p:spTree>
    <p:extLst>
      <p:ext uri="{BB962C8B-B14F-4D97-AF65-F5344CB8AC3E}">
        <p14:creationId xmlns:p14="http://schemas.microsoft.com/office/powerpoint/2010/main" val="16609735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13C13-E571-73C8-DF88-9C847C5329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DB2B1E-8533-35E2-D7FB-22A1F798D810}"/>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objetos</a:t>
            </a:r>
          </a:p>
        </p:txBody>
      </p:sp>
      <p:sp>
        <p:nvSpPr>
          <p:cNvPr id="3" name="Marcador de contenido 2">
            <a:extLst>
              <a:ext uri="{FF2B5EF4-FFF2-40B4-BE49-F238E27FC236}">
                <a16:creationId xmlns:a16="http://schemas.microsoft.com/office/drawing/2014/main" id="{D9B494A7-0489-4704-1EF4-09053A6DB4B8}"/>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La desestructuración de objetos permite extraer propiedades de un objeto y asignarlas a variables utilizando una sintaxis especial. Así el código es más limpio y fácil de entender.</a:t>
            </a:r>
          </a:p>
          <a:p>
            <a:pPr marL="342900" indent="-342900">
              <a:buFont typeface="Arial"/>
              <a:buChar char="•"/>
            </a:pPr>
            <a:r>
              <a:rPr lang="es-ES">
                <a:latin typeface="Calibri"/>
                <a:ea typeface="Calibri"/>
                <a:cs typeface="Calibri"/>
              </a:rPr>
              <a:t>La sintaxis básica de la desestructuración de objetos utiliza llaves {} para especificar las propiedades que deseas extraer del objeto.</a:t>
            </a:r>
          </a:p>
          <a:p>
            <a:r>
              <a:rPr lang="es-ES" err="1">
                <a:latin typeface="Consolas"/>
                <a:ea typeface="Calibri"/>
                <a:cs typeface="Calibri"/>
              </a:rPr>
              <a:t>const</a:t>
            </a:r>
            <a:r>
              <a:rPr lang="es-ES">
                <a:latin typeface="Consolas"/>
                <a:ea typeface="Calibri"/>
                <a:cs typeface="Calibri"/>
              </a:rPr>
              <a:t> persona = {</a:t>
            </a:r>
            <a:br>
              <a:rPr lang="es-ES">
                <a:latin typeface="Consolas"/>
                <a:ea typeface="Calibri"/>
                <a:cs typeface="Calibri"/>
              </a:rPr>
            </a:br>
            <a:r>
              <a:rPr lang="es-ES">
                <a:latin typeface="Consolas"/>
                <a:ea typeface="Calibri"/>
                <a:cs typeface="Calibri"/>
              </a:rPr>
              <a:t>  nombre: "Diego",</a:t>
            </a:r>
            <a:br>
              <a:rPr lang="es-ES">
                <a:latin typeface="Consolas"/>
                <a:ea typeface="Calibri"/>
                <a:cs typeface="Calibri"/>
              </a:rPr>
            </a:br>
            <a:r>
              <a:rPr lang="es-ES">
                <a:latin typeface="Consolas"/>
                <a:ea typeface="Calibri"/>
                <a:cs typeface="Calibri"/>
              </a:rPr>
              <a:t>  edad: 25,</a:t>
            </a:r>
            <a:br>
              <a:rPr lang="es-ES">
                <a:latin typeface="Consolas"/>
                <a:ea typeface="Calibri"/>
                <a:cs typeface="Calibri"/>
              </a:rPr>
            </a:br>
            <a:r>
              <a:rPr lang="es-ES">
                <a:latin typeface="Consolas"/>
                <a:ea typeface="Calibri"/>
                <a:cs typeface="Calibri"/>
              </a:rPr>
              <a:t>  ciudad: "Albacete"</a:t>
            </a:r>
            <a:br>
              <a:rPr lang="es-ES">
                <a:latin typeface="Consolas"/>
                <a:ea typeface="Calibri"/>
                <a:cs typeface="Calibri"/>
              </a:rPr>
            </a:br>
            <a:r>
              <a:rPr lang="es-ES">
                <a:latin typeface="Consolas"/>
                <a:ea typeface="Calibri"/>
                <a:cs typeface="Calibri"/>
              </a:rPr>
              <a:t>};</a:t>
            </a:r>
          </a:p>
          <a:p>
            <a:pPr marL="342900" indent="-342900">
              <a:buFont typeface="Arial"/>
              <a:buChar char="•"/>
            </a:pPr>
            <a:r>
              <a:rPr lang="es-ES">
                <a:latin typeface="Calibri"/>
                <a:ea typeface="Calibri"/>
                <a:cs typeface="Calibri"/>
              </a:rPr>
              <a:t>En este ejemplo, las propiedades nombre, edad y ciudad del objeto persona se extraen y se asignan a variables con los mismos nombres</a:t>
            </a:r>
          </a:p>
          <a:p>
            <a:r>
              <a:rPr lang="es-ES" err="1">
                <a:latin typeface="Consolas"/>
                <a:ea typeface="Calibri"/>
                <a:cs typeface="Calibri"/>
              </a:rPr>
              <a:t>const</a:t>
            </a:r>
            <a:r>
              <a:rPr lang="es-ES">
                <a:latin typeface="Consolas"/>
                <a:ea typeface="Calibri"/>
                <a:cs typeface="Calibri"/>
              </a:rPr>
              <a:t> { nombre, edad, ciudad } = persona;</a:t>
            </a:r>
            <a:br>
              <a:rPr lang="es-ES">
                <a:latin typeface="Consolas"/>
                <a:ea typeface="Calibri"/>
                <a:cs typeface="Calibri"/>
              </a:rPr>
            </a:br>
            <a:r>
              <a:rPr lang="es-ES">
                <a:latin typeface="Consolas"/>
                <a:ea typeface="Calibri"/>
                <a:cs typeface="Calibri"/>
              </a:rPr>
              <a:t>console.log(nombre); // "Diego"</a:t>
            </a:r>
            <a:br>
              <a:rPr lang="es-ES">
                <a:latin typeface="Consolas"/>
                <a:ea typeface="Calibri"/>
                <a:cs typeface="Calibri"/>
              </a:rPr>
            </a:br>
            <a:r>
              <a:rPr lang="es-ES">
                <a:latin typeface="Consolas"/>
                <a:ea typeface="Calibri"/>
                <a:cs typeface="Calibri"/>
              </a:rPr>
              <a:t>console.log(edad); // 25</a:t>
            </a:r>
            <a:br>
              <a:rPr lang="es-ES">
                <a:latin typeface="Consolas"/>
                <a:ea typeface="Calibri"/>
                <a:cs typeface="Calibri"/>
              </a:rPr>
            </a:br>
            <a:r>
              <a:rPr lang="es-ES">
                <a:latin typeface="Consolas"/>
                <a:ea typeface="Calibri"/>
                <a:cs typeface="Calibri"/>
              </a:rPr>
              <a:t>console.log(ciudad); // "Albacete"</a:t>
            </a: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504777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601B1-E024-1073-E44B-9F40CD569D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AF9363-39B3-DB01-98D0-6C2D091702B3}"/>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objetos</a:t>
            </a:r>
          </a:p>
        </p:txBody>
      </p:sp>
      <p:sp>
        <p:nvSpPr>
          <p:cNvPr id="3" name="Marcador de contenido 2">
            <a:extLst>
              <a:ext uri="{FF2B5EF4-FFF2-40B4-BE49-F238E27FC236}">
                <a16:creationId xmlns:a16="http://schemas.microsoft.com/office/drawing/2014/main" id="{9952561C-D3D0-0C76-55A8-2056EFEC2788}"/>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Igualmente se pueden asignar las propiedades de un objeto a variables con nombres diferentes:</a:t>
            </a:r>
          </a:p>
          <a:p>
            <a:r>
              <a:rPr lang="es-ES" err="1">
                <a:latin typeface="Consolas"/>
                <a:ea typeface="Calibri"/>
                <a:cs typeface="Calibri"/>
              </a:rPr>
              <a:t>const</a:t>
            </a:r>
            <a:r>
              <a:rPr lang="es-ES">
                <a:latin typeface="Consolas"/>
                <a:ea typeface="Calibri"/>
                <a:cs typeface="Calibri"/>
              </a:rPr>
              <a:t> persona = {</a:t>
            </a:r>
            <a:br>
              <a:rPr lang="es-ES">
                <a:latin typeface="Consolas"/>
                <a:ea typeface="Calibri"/>
                <a:cs typeface="Calibri"/>
              </a:rPr>
            </a:br>
            <a:r>
              <a:rPr lang="es-ES">
                <a:latin typeface="Consolas"/>
                <a:ea typeface="Calibri"/>
                <a:cs typeface="Calibri"/>
              </a:rPr>
              <a:t>  nombre: "Diego",</a:t>
            </a:r>
            <a:br>
              <a:rPr lang="es-ES">
                <a:latin typeface="Consolas"/>
                <a:ea typeface="Calibri"/>
                <a:cs typeface="Calibri"/>
              </a:rPr>
            </a:br>
            <a:r>
              <a:rPr lang="es-ES">
                <a:latin typeface="Consolas"/>
                <a:ea typeface="Calibri"/>
                <a:cs typeface="Calibri"/>
              </a:rPr>
              <a:t>  edad: 25,</a:t>
            </a:r>
            <a:br>
              <a:rPr lang="es-ES">
                <a:latin typeface="Consolas"/>
                <a:ea typeface="Calibri"/>
                <a:cs typeface="Calibri"/>
              </a:rPr>
            </a:br>
            <a:r>
              <a:rPr lang="es-ES">
                <a:latin typeface="Consolas"/>
                <a:ea typeface="Calibri"/>
                <a:cs typeface="Calibri"/>
              </a:rPr>
              <a:t>  ciudad: "Albacete"</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 nombre: </a:t>
            </a:r>
            <a:r>
              <a:rPr lang="es-ES" err="1">
                <a:latin typeface="Consolas"/>
                <a:ea typeface="Calibri"/>
                <a:cs typeface="Calibri"/>
              </a:rPr>
              <a:t>nombrePersona</a:t>
            </a:r>
            <a:r>
              <a:rPr lang="es-ES">
                <a:latin typeface="Consolas"/>
                <a:ea typeface="Calibri"/>
                <a:cs typeface="Calibri"/>
              </a:rPr>
              <a:t>, edad: </a:t>
            </a:r>
            <a:r>
              <a:rPr lang="es-ES" err="1">
                <a:latin typeface="Consolas"/>
                <a:ea typeface="Calibri"/>
                <a:cs typeface="Calibri"/>
              </a:rPr>
              <a:t>edadPersona</a:t>
            </a:r>
            <a:r>
              <a:rPr lang="es-ES">
                <a:latin typeface="Consolas"/>
                <a:ea typeface="Calibri"/>
                <a:cs typeface="Calibri"/>
              </a:rPr>
              <a:t>, ciudad: </a:t>
            </a:r>
            <a:r>
              <a:rPr lang="es-ES" err="1">
                <a:latin typeface="Consolas"/>
                <a:ea typeface="Calibri"/>
                <a:cs typeface="Calibri"/>
              </a:rPr>
              <a:t>ciudadPersona</a:t>
            </a:r>
            <a:r>
              <a:rPr lang="es-ES">
                <a:latin typeface="Consolas"/>
                <a:ea typeface="Calibri"/>
                <a:cs typeface="Calibri"/>
              </a:rPr>
              <a:t> } = persona;</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nombrePersona</a:t>
            </a:r>
            <a:r>
              <a:rPr lang="es-ES">
                <a:latin typeface="Consolas"/>
                <a:ea typeface="Calibri"/>
                <a:cs typeface="Calibri"/>
              </a:rPr>
              <a:t>); // "Diego"</a:t>
            </a:r>
            <a:br>
              <a:rPr lang="en-US">
                <a:latin typeface="Consolas"/>
                <a:ea typeface="Calibri"/>
                <a:cs typeface="Calibri"/>
              </a:rPr>
            </a:br>
            <a:r>
              <a:rPr lang="es-ES">
                <a:latin typeface="Consolas"/>
                <a:ea typeface="Calibri"/>
                <a:cs typeface="Calibri"/>
              </a:rPr>
              <a:t>console.log(</a:t>
            </a:r>
            <a:r>
              <a:rPr lang="es-ES" err="1">
                <a:latin typeface="Consolas"/>
                <a:ea typeface="Calibri"/>
                <a:cs typeface="Calibri"/>
              </a:rPr>
              <a:t>edadPersona</a:t>
            </a:r>
            <a:r>
              <a:rPr lang="es-ES">
                <a:latin typeface="Consolas"/>
                <a:ea typeface="Calibri"/>
                <a:cs typeface="Calibri"/>
              </a:rPr>
              <a:t>); // 25</a:t>
            </a:r>
            <a:br>
              <a:rPr lang="en-US">
                <a:latin typeface="Consolas"/>
                <a:ea typeface="Calibri"/>
                <a:cs typeface="Calibri"/>
              </a:rPr>
            </a:br>
            <a:r>
              <a:rPr lang="es-ES">
                <a:latin typeface="Consolas"/>
                <a:ea typeface="Calibri"/>
                <a:cs typeface="Calibri"/>
              </a:rPr>
              <a:t>console.log(</a:t>
            </a:r>
            <a:r>
              <a:rPr lang="es-ES" err="1">
                <a:latin typeface="Consolas"/>
                <a:ea typeface="Calibri"/>
                <a:cs typeface="Calibri"/>
              </a:rPr>
              <a:t>ciudadPersona</a:t>
            </a:r>
            <a:r>
              <a:rPr lang="es-ES">
                <a:latin typeface="Consolas"/>
                <a:ea typeface="Calibri"/>
                <a:cs typeface="Calibri"/>
              </a:rPr>
              <a:t>); // "Albacete"</a:t>
            </a: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8893189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98C20-E3FB-F7AE-CA4D-4FCCAB387B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8B9FFF-E32D-7F1C-8E50-F3D442DFA6C6}"/>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objetos </a:t>
            </a:r>
          </a:p>
        </p:txBody>
      </p:sp>
      <p:sp>
        <p:nvSpPr>
          <p:cNvPr id="3" name="Marcador de contenido 2">
            <a:extLst>
              <a:ext uri="{FF2B5EF4-FFF2-40B4-BE49-F238E27FC236}">
                <a16:creationId xmlns:a16="http://schemas.microsoft.com/office/drawing/2014/main" id="{BC521768-0F26-B945-5641-DAED609DB7D1}"/>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Una acción muy común es la desestructuración en el paso de parámetros de funciones para extraer las propiedades directamente: </a:t>
            </a:r>
          </a:p>
          <a:p>
            <a:r>
              <a:rPr lang="es-ES" err="1">
                <a:latin typeface="Consolas"/>
                <a:ea typeface="+mn-lt"/>
                <a:cs typeface="+mn-lt"/>
              </a:rPr>
              <a:t>const</a:t>
            </a:r>
            <a:r>
              <a:rPr lang="es-ES">
                <a:latin typeface="Consolas"/>
                <a:ea typeface="+mn-lt"/>
                <a:cs typeface="+mn-lt"/>
              </a:rPr>
              <a:t> </a:t>
            </a:r>
            <a:r>
              <a:rPr lang="es-ES" err="1">
                <a:latin typeface="Consolas"/>
                <a:ea typeface="+mn-lt"/>
                <a:cs typeface="+mn-lt"/>
              </a:rPr>
              <a:t>mostrarInfo</a:t>
            </a:r>
            <a:r>
              <a:rPr lang="es-ES">
                <a:latin typeface="Consolas"/>
                <a:ea typeface="+mn-lt"/>
                <a:cs typeface="+mn-lt"/>
              </a:rPr>
              <a:t> = ({ nombre, edad }) =&gt; {</a:t>
            </a:r>
            <a:br>
              <a:rPr lang="es-ES">
                <a:latin typeface="Consolas"/>
                <a:ea typeface="+mn-lt"/>
                <a:cs typeface="+mn-lt"/>
              </a:rPr>
            </a:br>
            <a:r>
              <a:rPr lang="es-ES">
                <a:latin typeface="Consolas"/>
                <a:ea typeface="+mn-lt"/>
                <a:cs typeface="+mn-lt"/>
              </a:rPr>
              <a:t>  console.log(`Nombre: ${nombre}, Edad: ${edad}`);</a:t>
            </a:r>
            <a:br>
              <a:rPr lang="es-ES">
                <a:latin typeface="Consolas"/>
                <a:ea typeface="+mn-lt"/>
                <a:cs typeface="+mn-lt"/>
              </a:rPr>
            </a:br>
            <a:r>
              <a:rPr lang="es-ES">
                <a:latin typeface="Consolas"/>
                <a:ea typeface="+mn-lt"/>
                <a:cs typeface="+mn-lt"/>
              </a:rPr>
              <a:t>};</a:t>
            </a:r>
            <a:endParaRPr lang="es-ES">
              <a:latin typeface="Consolas"/>
            </a:endParaRPr>
          </a:p>
          <a:p>
            <a:r>
              <a:rPr lang="es-ES" err="1">
                <a:latin typeface="Consolas"/>
                <a:ea typeface="+mn-lt"/>
                <a:cs typeface="+mn-lt"/>
              </a:rPr>
              <a:t>const</a:t>
            </a:r>
            <a:r>
              <a:rPr lang="es-ES">
                <a:latin typeface="Consolas"/>
                <a:ea typeface="+mn-lt"/>
                <a:cs typeface="+mn-lt"/>
              </a:rPr>
              <a:t> persona = {</a:t>
            </a:r>
            <a:br>
              <a:rPr lang="es-ES">
                <a:latin typeface="Consolas"/>
                <a:ea typeface="+mn-lt"/>
                <a:cs typeface="+mn-lt"/>
              </a:rPr>
            </a:br>
            <a:r>
              <a:rPr lang="es-ES">
                <a:latin typeface="Consolas"/>
                <a:ea typeface="+mn-lt"/>
                <a:cs typeface="+mn-lt"/>
              </a:rPr>
              <a:t>  nombre: "Diego",</a:t>
            </a:r>
            <a:br>
              <a:rPr lang="es-ES">
                <a:latin typeface="Consolas"/>
                <a:ea typeface="+mn-lt"/>
                <a:cs typeface="+mn-lt"/>
              </a:rPr>
            </a:br>
            <a:r>
              <a:rPr lang="es-ES">
                <a:latin typeface="Consolas"/>
                <a:ea typeface="+mn-lt"/>
                <a:cs typeface="+mn-lt"/>
              </a:rPr>
              <a:t>  edad: 25</a:t>
            </a:r>
            <a:br>
              <a:rPr lang="es-ES">
                <a:latin typeface="Consolas"/>
                <a:ea typeface="+mn-lt"/>
                <a:cs typeface="+mn-lt"/>
              </a:rPr>
            </a:br>
            <a:r>
              <a:rPr lang="es-ES">
                <a:latin typeface="Consolas"/>
                <a:ea typeface="+mn-lt"/>
                <a:cs typeface="+mn-lt"/>
              </a:rPr>
              <a:t>};</a:t>
            </a:r>
            <a:endParaRPr lang="es-ES">
              <a:latin typeface="Consolas"/>
            </a:endParaRPr>
          </a:p>
          <a:p>
            <a:r>
              <a:rPr lang="es-ES" err="1">
                <a:latin typeface="Consolas"/>
                <a:ea typeface="+mn-lt"/>
                <a:cs typeface="+mn-lt"/>
              </a:rPr>
              <a:t>mostrarInfo</a:t>
            </a:r>
            <a:r>
              <a:rPr lang="es-ES">
                <a:latin typeface="Consolas"/>
                <a:ea typeface="+mn-lt"/>
                <a:cs typeface="+mn-lt"/>
              </a:rPr>
              <a:t>(persona); // "Nombre: Diego, Edad: 25"</a:t>
            </a:r>
            <a:endParaRPr lang="es-ES">
              <a:latin typeface="Consolas"/>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659642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3BF33-DD9A-7B5D-E829-CF00CDB6E9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4F20A6-34BA-2DE2-7AA8-0B3BA1D7015C}"/>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a:t>
            </a:r>
            <a:r>
              <a:rPr lang="es-ES" err="1">
                <a:latin typeface="Calibri"/>
                <a:ea typeface="Calibri"/>
                <a:cs typeface="Calibri"/>
              </a:rPr>
              <a:t>Arrays</a:t>
            </a:r>
          </a:p>
        </p:txBody>
      </p:sp>
      <p:sp>
        <p:nvSpPr>
          <p:cNvPr id="3" name="Marcador de contenido 2">
            <a:extLst>
              <a:ext uri="{FF2B5EF4-FFF2-40B4-BE49-F238E27FC236}">
                <a16:creationId xmlns:a16="http://schemas.microsoft.com/office/drawing/2014/main" id="{148FF42C-D606-04FF-2DE1-93B10BA802C1}"/>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La desestructuración de </a:t>
            </a:r>
            <a:r>
              <a:rPr lang="es-ES" err="1">
                <a:latin typeface="Calibri"/>
                <a:ea typeface="Calibri"/>
                <a:cs typeface="Calibri"/>
              </a:rPr>
              <a:t>arrays</a:t>
            </a:r>
            <a:r>
              <a:rPr lang="es-ES">
                <a:latin typeface="Calibri"/>
                <a:ea typeface="Calibri"/>
                <a:cs typeface="Calibri"/>
              </a:rPr>
              <a:t> permite extraer elementos de un array y asignarlos a variables haciendo el código más limpio y fácil de entender.</a:t>
            </a:r>
          </a:p>
          <a:p>
            <a:pPr marL="342900" indent="-342900">
              <a:buFont typeface="Arial"/>
              <a:buChar char="•"/>
            </a:pPr>
            <a:r>
              <a:rPr lang="es-ES">
                <a:latin typeface="Calibri"/>
                <a:ea typeface="Calibri"/>
                <a:cs typeface="Calibri"/>
              </a:rPr>
              <a:t>La sintaxis básica de la desestructuración de </a:t>
            </a:r>
            <a:r>
              <a:rPr lang="es-ES" err="1">
                <a:latin typeface="Calibri"/>
                <a:ea typeface="Calibri"/>
                <a:cs typeface="Calibri"/>
              </a:rPr>
              <a:t>arrays</a:t>
            </a:r>
            <a:r>
              <a:rPr lang="es-ES">
                <a:latin typeface="Calibri"/>
                <a:ea typeface="Calibri"/>
                <a:cs typeface="Calibri"/>
              </a:rPr>
              <a:t> utiliza corchetes [] para especificar los elementos que deseas extraer del array.</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 4, 5];</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[primero, , tercero] = </a:t>
            </a:r>
            <a:r>
              <a:rPr lang="es-ES" err="1">
                <a:latin typeface="Consolas"/>
                <a:ea typeface="Calibri"/>
                <a:cs typeface="Calibri"/>
              </a:rPr>
              <a:t>numeros</a:t>
            </a: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console.log(primero); // 1</a:t>
            </a:r>
            <a:br>
              <a:rPr lang="es-ES">
                <a:latin typeface="Consolas"/>
                <a:ea typeface="Calibri"/>
                <a:cs typeface="Calibri"/>
              </a:rPr>
            </a:br>
            <a:r>
              <a:rPr lang="es-ES">
                <a:latin typeface="Consolas"/>
                <a:ea typeface="Calibri"/>
                <a:cs typeface="Calibri"/>
              </a:rPr>
              <a:t>console.log(tercero); // 3</a:t>
            </a:r>
          </a:p>
          <a:p>
            <a:pPr marL="342900" indent="-342900">
              <a:buFont typeface="Arial"/>
              <a:buChar char="•"/>
            </a:pPr>
            <a:r>
              <a:rPr lang="es-ES">
                <a:latin typeface="Calibri"/>
                <a:ea typeface="Calibri"/>
                <a:cs typeface="Calibri"/>
              </a:rPr>
              <a:t>En el ejemplo, el primer y el tercer elementos del array se extraen y se asignan a las variables primero y tercero.</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837927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FD937-683A-0F18-C127-2F63BC3094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410E91-5CC7-146E-6537-C12E41E84054}"/>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Desestructuración de </a:t>
            </a:r>
            <a:r>
              <a:rPr lang="es-ES" err="1">
                <a:latin typeface="Calibri"/>
                <a:ea typeface="Calibri"/>
                <a:cs typeface="Calibri"/>
              </a:rPr>
              <a:t>Arrays</a:t>
            </a:r>
          </a:p>
        </p:txBody>
      </p:sp>
      <p:sp>
        <p:nvSpPr>
          <p:cNvPr id="3" name="Marcador de contenido 2">
            <a:extLst>
              <a:ext uri="{FF2B5EF4-FFF2-40B4-BE49-F238E27FC236}">
                <a16:creationId xmlns:a16="http://schemas.microsoft.com/office/drawing/2014/main" id="{77775CF0-1F55-E92F-8537-823689F26FF4}"/>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Si el array tiene elementos anidados, se pueden desestructurar de manera similar.</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 4];</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[primero, [segundo, tercero], cuarto] = </a:t>
            </a:r>
            <a:r>
              <a:rPr lang="es-ES" err="1">
                <a:latin typeface="Consolas"/>
                <a:ea typeface="Calibri"/>
                <a:cs typeface="Calibri"/>
              </a:rPr>
              <a:t>numeros</a:t>
            </a: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console.log(primero); // 1</a:t>
            </a:r>
            <a:br>
              <a:rPr lang="es-ES">
                <a:latin typeface="Consolas"/>
                <a:ea typeface="Calibri"/>
                <a:cs typeface="Calibri"/>
              </a:rPr>
            </a:br>
            <a:r>
              <a:rPr lang="es-ES">
                <a:latin typeface="Consolas"/>
                <a:ea typeface="Calibri"/>
                <a:cs typeface="Calibri"/>
              </a:rPr>
              <a:t>console.log(segundo); // 2</a:t>
            </a:r>
            <a:br>
              <a:rPr lang="es-ES">
                <a:latin typeface="Consolas"/>
                <a:ea typeface="Calibri"/>
                <a:cs typeface="Calibri"/>
              </a:rPr>
            </a:br>
            <a:r>
              <a:rPr lang="es-ES">
                <a:latin typeface="Consolas"/>
                <a:ea typeface="Calibri"/>
                <a:cs typeface="Calibri"/>
              </a:rPr>
              <a:t>console.log(tercero); // 3</a:t>
            </a:r>
            <a:br>
              <a:rPr lang="es-ES">
                <a:latin typeface="Consolas"/>
                <a:ea typeface="Calibri"/>
                <a:cs typeface="Calibri"/>
              </a:rPr>
            </a:br>
            <a:r>
              <a:rPr lang="es-ES">
                <a:latin typeface="Consolas"/>
                <a:ea typeface="Calibri"/>
                <a:cs typeface="Calibri"/>
              </a:rPr>
              <a:t>console.log(cuarto); // 4</a:t>
            </a:r>
          </a:p>
          <a:p>
            <a:pPr marL="342900" indent="-342900">
              <a:buFont typeface="Arial"/>
              <a:buChar char="•"/>
            </a:pPr>
            <a:r>
              <a:rPr lang="es-ES">
                <a:latin typeface="Calibri"/>
                <a:ea typeface="Calibri"/>
                <a:cs typeface="Calibri"/>
              </a:rPr>
              <a:t>Se puede utilizar el operador </a:t>
            </a:r>
            <a:r>
              <a:rPr lang="es-ES" err="1">
                <a:latin typeface="Calibri"/>
                <a:ea typeface="Calibri"/>
                <a:cs typeface="Calibri"/>
              </a:rPr>
              <a:t>rest</a:t>
            </a:r>
            <a:r>
              <a:rPr lang="es-ES">
                <a:latin typeface="Calibri"/>
                <a:ea typeface="Calibri"/>
                <a:cs typeface="Calibri"/>
              </a:rPr>
              <a:t> (...) para agrupar el resto de elementos en un solo array.</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 4, 5];</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[primero, segundo, ...resto] = </a:t>
            </a:r>
            <a:r>
              <a:rPr lang="es-ES" err="1">
                <a:latin typeface="Consolas"/>
                <a:ea typeface="Calibri"/>
                <a:cs typeface="Calibri"/>
              </a:rPr>
              <a:t>numeros</a:t>
            </a: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console.log(primero); // 1</a:t>
            </a:r>
            <a:br>
              <a:rPr lang="es-ES">
                <a:latin typeface="Consolas"/>
                <a:ea typeface="Calibri"/>
                <a:cs typeface="Calibri"/>
              </a:rPr>
            </a:br>
            <a:r>
              <a:rPr lang="es-ES">
                <a:latin typeface="Consolas"/>
                <a:ea typeface="Calibri"/>
                <a:cs typeface="Calibri"/>
              </a:rPr>
              <a:t>console.log(segundo); // 2</a:t>
            </a:r>
            <a:br>
              <a:rPr lang="es-ES">
                <a:latin typeface="Consolas"/>
                <a:ea typeface="Calibri"/>
                <a:cs typeface="Calibri"/>
              </a:rPr>
            </a:br>
            <a:r>
              <a:rPr lang="es-ES">
                <a:latin typeface="Consolas"/>
                <a:ea typeface="Calibri"/>
                <a:cs typeface="Calibri"/>
              </a:rPr>
              <a:t>console.log(resto); // [3, 4, 5]</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382783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1F27-53C9-250E-D99D-489C9AB84F7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2FC1A8-7BBB-0D15-ABB7-36315F6CD52F}"/>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Operadores de propagación. Spread</a:t>
            </a:r>
          </a:p>
        </p:txBody>
      </p:sp>
      <p:sp>
        <p:nvSpPr>
          <p:cNvPr id="3" name="Marcador de contenido 2">
            <a:extLst>
              <a:ext uri="{FF2B5EF4-FFF2-40B4-BE49-F238E27FC236}">
                <a16:creationId xmlns:a16="http://schemas.microsoft.com/office/drawing/2014/main" id="{BC80111B-C01A-F8A6-26A0-CCAA3E664F4F}"/>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El operador spread se utiliza para expandir elementos de un array u objeto en lugares donde se esperan múltiples elementos. Es útil para copiar </a:t>
            </a:r>
            <a:r>
              <a:rPr lang="es-ES" err="1">
                <a:latin typeface="Calibri"/>
                <a:ea typeface="Calibri"/>
                <a:cs typeface="Calibri"/>
              </a:rPr>
              <a:t>arrays</a:t>
            </a:r>
            <a:r>
              <a:rPr lang="es-ES">
                <a:latin typeface="Calibri"/>
                <a:ea typeface="Calibri"/>
                <a:cs typeface="Calibri"/>
              </a:rPr>
              <a:t>, combinar </a:t>
            </a:r>
            <a:r>
              <a:rPr lang="es-ES" err="1">
                <a:latin typeface="Calibri"/>
                <a:ea typeface="Calibri"/>
                <a:cs typeface="Calibri"/>
              </a:rPr>
              <a:t>arrays</a:t>
            </a:r>
            <a:r>
              <a:rPr lang="es-ES">
                <a:latin typeface="Calibri"/>
                <a:ea typeface="Calibri"/>
                <a:cs typeface="Calibri"/>
              </a:rPr>
              <a:t>, y pasar elementos de un array como argumentos a una función.</a:t>
            </a:r>
          </a:p>
          <a:p>
            <a:pPr marL="342900" indent="-342900">
              <a:buFont typeface="Arial"/>
              <a:buChar char="•"/>
            </a:pPr>
            <a:r>
              <a:rPr lang="es-ES">
                <a:latin typeface="Calibri"/>
                <a:ea typeface="Calibri"/>
                <a:cs typeface="Calibri"/>
              </a:rPr>
              <a:t>Copia del contenido de un array:</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copiaNumeros</a:t>
            </a:r>
            <a:r>
              <a:rPr lang="es-ES">
                <a:latin typeface="Consolas"/>
                <a:ea typeface="Calibri"/>
                <a:cs typeface="Calibri"/>
              </a:rPr>
              <a:t> = [...</a:t>
            </a:r>
            <a:r>
              <a:rPr lang="es-ES" err="1">
                <a:latin typeface="Consolas"/>
                <a:ea typeface="Calibri"/>
                <a:cs typeface="Calibri"/>
              </a:rPr>
              <a:t>numeros</a:t>
            </a:r>
            <a:r>
              <a:rPr lang="es-ES">
                <a:latin typeface="Consolas"/>
                <a:ea typeface="Calibri"/>
                <a:cs typeface="Calibri"/>
              </a:rPr>
              <a:t>]; // [1, 2, 3]</a:t>
            </a:r>
          </a:p>
          <a:p>
            <a:pPr marL="342900" indent="-342900">
              <a:buFont typeface="Arial"/>
              <a:buChar char="•"/>
            </a:pPr>
            <a:r>
              <a:rPr lang="es-ES">
                <a:latin typeface="Calibri"/>
                <a:ea typeface="Calibri"/>
                <a:cs typeface="Calibri"/>
              </a:rPr>
              <a:t>Combinación de varios </a:t>
            </a:r>
            <a:r>
              <a:rPr lang="es-ES" err="1">
                <a:latin typeface="Calibri"/>
                <a:ea typeface="Calibri"/>
                <a:cs typeface="Calibri"/>
              </a:rPr>
              <a:t>arrays</a:t>
            </a:r>
            <a:r>
              <a:rPr lang="es-ES">
                <a:latin typeface="Calibri"/>
                <a:ea typeface="Calibri"/>
                <a:cs typeface="Calibri"/>
              </a:rPr>
              <a:t> en uno solo:</a:t>
            </a:r>
          </a:p>
          <a:p>
            <a:r>
              <a:rPr lang="es-ES" err="1">
                <a:latin typeface="Consolas"/>
                <a:ea typeface="Calibri"/>
                <a:cs typeface="Calibri"/>
              </a:rPr>
              <a:t>const</a:t>
            </a:r>
            <a:r>
              <a:rPr lang="es-ES">
                <a:latin typeface="Consolas"/>
                <a:ea typeface="Calibri"/>
                <a:cs typeface="Calibri"/>
              </a:rPr>
              <a:t> numeros1 = [1, 2, 3];</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numeros2 = [4, 5, 6];</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combinados = [...numeros1, ...numeros2]; // [1, 2, 3, 4, 5, 6]</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997375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6A1BA-4FCA-DBA8-F25C-6A0A01A898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A27FE0-3978-9738-DD4E-0E0B18BBABB2}"/>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Operadores de propagación. Spread</a:t>
            </a:r>
          </a:p>
        </p:txBody>
      </p:sp>
      <p:sp>
        <p:nvSpPr>
          <p:cNvPr id="3" name="Marcador de contenido 2">
            <a:extLst>
              <a:ext uri="{FF2B5EF4-FFF2-40B4-BE49-F238E27FC236}">
                <a16:creationId xmlns:a16="http://schemas.microsoft.com/office/drawing/2014/main" id="{76FD2569-514A-CB6B-E6AC-C3CEB4ED3CE9}"/>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Pasar los elementos de un array como argumentos a una función.</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sumar = (a, b, c) =&gt; a + b + c;</a:t>
            </a:r>
            <a:br>
              <a:rPr lang="es-ES">
                <a:latin typeface="Consolas"/>
                <a:ea typeface="Calibri"/>
                <a:cs typeface="Calibri"/>
              </a:rPr>
            </a:br>
            <a:r>
              <a:rPr lang="es-ES">
                <a:latin typeface="Consolas"/>
                <a:ea typeface="Calibri"/>
                <a:cs typeface="Calibri"/>
              </a:rPr>
              <a:t>console.log(sumar(...</a:t>
            </a:r>
            <a:r>
              <a:rPr lang="es-ES" err="1">
                <a:latin typeface="Consolas"/>
                <a:ea typeface="Calibri"/>
                <a:cs typeface="Calibri"/>
              </a:rPr>
              <a:t>numeros</a:t>
            </a:r>
            <a:r>
              <a:rPr lang="es-ES">
                <a:latin typeface="Consolas"/>
                <a:ea typeface="Calibri"/>
                <a:cs typeface="Calibri"/>
              </a:rPr>
              <a:t>)); // 6</a:t>
            </a:r>
          </a:p>
          <a:p>
            <a:pPr marL="342900" indent="-342900">
              <a:buFont typeface="Arial"/>
              <a:buChar char="•"/>
            </a:pPr>
            <a:r>
              <a:rPr lang="es-ES">
                <a:latin typeface="Calibri"/>
                <a:ea typeface="Calibri"/>
                <a:cs typeface="Calibri"/>
              </a:rPr>
              <a:t>Crear una copia de un objeto.</a:t>
            </a:r>
          </a:p>
          <a:p>
            <a:r>
              <a:rPr lang="es-ES" err="1">
                <a:latin typeface="Consolas"/>
                <a:ea typeface="Calibri"/>
                <a:cs typeface="Calibri"/>
              </a:rPr>
              <a:t>const</a:t>
            </a:r>
            <a:r>
              <a:rPr lang="es-ES">
                <a:latin typeface="Consolas"/>
                <a:ea typeface="Calibri"/>
                <a:cs typeface="Calibri"/>
              </a:rPr>
              <a:t> persona = { nombre: "Diego", edad: 25 };</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copiaPersona</a:t>
            </a:r>
            <a:r>
              <a:rPr lang="es-ES">
                <a:latin typeface="Consolas"/>
                <a:ea typeface="Calibri"/>
                <a:cs typeface="Calibri"/>
              </a:rPr>
              <a:t> = { ...persona };  // { nombre: "Diego", edad: 25 }</a:t>
            </a:r>
          </a:p>
          <a:p>
            <a:pPr marL="342900" indent="-342900">
              <a:buFont typeface="Arial"/>
              <a:buChar char="•"/>
            </a:pPr>
            <a:r>
              <a:rPr lang="es-ES">
                <a:latin typeface="Calibri"/>
                <a:ea typeface="Calibri"/>
                <a:cs typeface="Calibri"/>
              </a:rPr>
              <a:t>Combinar varios objetos en uno solo:</a:t>
            </a:r>
          </a:p>
          <a:p>
            <a:r>
              <a:rPr lang="es-ES" err="1">
                <a:latin typeface="Consolas"/>
                <a:ea typeface="Calibri"/>
                <a:cs typeface="Calibri"/>
              </a:rPr>
              <a:t>const</a:t>
            </a:r>
            <a:r>
              <a:rPr lang="es-ES">
                <a:latin typeface="Consolas"/>
                <a:ea typeface="Calibri"/>
                <a:cs typeface="Calibri"/>
              </a:rPr>
              <a:t> persona = { nombre: "</a:t>
            </a:r>
            <a:r>
              <a:rPr lang="es-ES" sz="2100">
                <a:latin typeface="Consolas"/>
                <a:ea typeface="Calibri"/>
                <a:cs typeface="Calibri"/>
              </a:rPr>
              <a:t>Diego</a:t>
            </a:r>
            <a:r>
              <a:rPr lang="es-ES">
                <a:latin typeface="Consolas"/>
                <a:ea typeface="Calibri"/>
                <a:cs typeface="Calibri"/>
              </a:rPr>
              <a:t>", edad: 25 };</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direccion</a:t>
            </a:r>
            <a:r>
              <a:rPr lang="es-ES">
                <a:latin typeface="Consolas"/>
                <a:ea typeface="Calibri"/>
                <a:cs typeface="Calibri"/>
              </a:rPr>
              <a:t> = { ciudad: "Albacete", comunidad: "Castilla la Mancha" };</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combinado = { ...persona, ...</a:t>
            </a:r>
            <a:r>
              <a:rPr lang="es-ES" err="1">
                <a:latin typeface="Consolas"/>
                <a:ea typeface="Calibri"/>
                <a:cs typeface="Calibri"/>
              </a:rPr>
              <a:t>direccion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console.log(combinado); // { nombre: "</a:t>
            </a:r>
            <a:r>
              <a:rPr lang="es-ES" sz="2100">
                <a:latin typeface="Consolas"/>
                <a:ea typeface="Calibri"/>
                <a:cs typeface="Calibri"/>
              </a:rPr>
              <a:t>Diego</a:t>
            </a:r>
            <a:r>
              <a:rPr lang="es-ES">
                <a:latin typeface="Consolas"/>
                <a:ea typeface="Calibri"/>
                <a:cs typeface="Calibri"/>
              </a:rPr>
              <a:t>", edad: 25, ciudad: "</a:t>
            </a:r>
            <a:r>
              <a:rPr lang="es-ES" sz="2100">
                <a:latin typeface="Consolas"/>
                <a:ea typeface="Calibri"/>
                <a:cs typeface="Calibri"/>
              </a:rPr>
              <a:t>Albacete</a:t>
            </a:r>
            <a:r>
              <a:rPr lang="es-ES">
                <a:latin typeface="Consolas"/>
                <a:ea typeface="Calibri"/>
                <a:cs typeface="Calibri"/>
              </a:rPr>
              <a:t>", </a:t>
            </a:r>
            <a:r>
              <a:rPr lang="es-ES" sz="2100">
                <a:latin typeface="Consolas"/>
                <a:ea typeface="Calibri"/>
                <a:cs typeface="Calibri"/>
              </a:rPr>
              <a:t>comunidad</a:t>
            </a:r>
            <a:r>
              <a:rPr lang="es-ES">
                <a:latin typeface="Consolas"/>
                <a:ea typeface="Calibri"/>
                <a:cs typeface="Calibri"/>
              </a:rPr>
              <a:t>: "</a:t>
            </a:r>
            <a:r>
              <a:rPr lang="es-ES" sz="2100">
                <a:latin typeface="Consolas"/>
                <a:ea typeface="Calibri"/>
                <a:cs typeface="Calibri"/>
              </a:rPr>
              <a:t>Castilla la Mancha</a:t>
            </a:r>
            <a:r>
              <a:rPr lang="es-ES">
                <a:latin typeface="Consolas"/>
                <a:ea typeface="Calibri"/>
                <a:cs typeface="Calibri"/>
              </a:rPr>
              <a:t>" }</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4011031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BCFA3-F611-4874-31E3-C43A366613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C5245A-78FE-81B8-A97D-09375372D254}"/>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Operadores de propagación. </a:t>
            </a:r>
            <a:r>
              <a:rPr lang="es-ES" err="1">
                <a:latin typeface="Calibri"/>
                <a:ea typeface="Calibri"/>
                <a:cs typeface="Calibri"/>
              </a:rPr>
              <a:t>Rest</a:t>
            </a:r>
          </a:p>
        </p:txBody>
      </p:sp>
      <p:sp>
        <p:nvSpPr>
          <p:cNvPr id="3" name="Marcador de contenido 2">
            <a:extLst>
              <a:ext uri="{FF2B5EF4-FFF2-40B4-BE49-F238E27FC236}">
                <a16:creationId xmlns:a16="http://schemas.microsoft.com/office/drawing/2014/main" id="{F2F7B162-3A1F-392B-6D2D-722DE8B5C618}"/>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err="1">
                <a:latin typeface="Calibri"/>
                <a:ea typeface="Calibri"/>
                <a:cs typeface="Calibri"/>
              </a:rPr>
              <a:t>Rest</a:t>
            </a:r>
            <a:r>
              <a:rPr lang="es-ES">
                <a:latin typeface="Calibri"/>
                <a:ea typeface="Calibri"/>
                <a:cs typeface="Calibri"/>
              </a:rPr>
              <a:t>: El operador </a:t>
            </a:r>
            <a:r>
              <a:rPr lang="es-ES" err="1">
                <a:latin typeface="Calibri"/>
                <a:ea typeface="Calibri"/>
                <a:cs typeface="Calibri"/>
              </a:rPr>
              <a:t>rest</a:t>
            </a:r>
            <a:r>
              <a:rPr lang="es-ES">
                <a:latin typeface="Calibri"/>
                <a:ea typeface="Calibri"/>
                <a:cs typeface="Calibri"/>
              </a:rPr>
              <a:t> se utiliza para agrupar múltiples elementos en un solo array o para agrupar propiedades de un objeto. Es útil para trabajar con un número variable de argumentos en funciones y para desestructurar </a:t>
            </a:r>
            <a:r>
              <a:rPr lang="es-ES" err="1">
                <a:latin typeface="Calibri"/>
                <a:ea typeface="Calibri"/>
                <a:cs typeface="Calibri"/>
              </a:rPr>
              <a:t>arrays</a:t>
            </a:r>
            <a:r>
              <a:rPr lang="es-ES">
                <a:latin typeface="Calibri"/>
                <a:ea typeface="Calibri"/>
                <a:cs typeface="Calibri"/>
              </a:rPr>
              <a:t> y objetos.</a:t>
            </a:r>
          </a:p>
          <a:p>
            <a:pPr marL="342900" indent="-342900">
              <a:buFont typeface="Arial"/>
              <a:buChar char="•"/>
            </a:pPr>
            <a:r>
              <a:rPr lang="es-ES">
                <a:latin typeface="Calibri"/>
                <a:ea typeface="Calibri"/>
                <a:cs typeface="Calibri"/>
              </a:rPr>
              <a:t>Agrupar un número variable de argumentos en una función.</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sumarTodo</a:t>
            </a:r>
            <a:r>
              <a:rPr lang="es-ES">
                <a:latin typeface="Consolas"/>
                <a:ea typeface="Calibri"/>
                <a:cs typeface="Calibri"/>
              </a:rPr>
              <a:t> = (...</a:t>
            </a:r>
            <a:r>
              <a:rPr lang="es-ES" err="1">
                <a:latin typeface="Consolas"/>
                <a:ea typeface="Calibri"/>
                <a:cs typeface="Calibri"/>
              </a:rPr>
              <a:t>numeros</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r>
              <a:rPr lang="es-ES" err="1">
                <a:latin typeface="Consolas"/>
                <a:ea typeface="Calibri"/>
                <a:cs typeface="Calibri"/>
              </a:rPr>
              <a:t>numeros.reduce</a:t>
            </a:r>
            <a:r>
              <a:rPr lang="es-ES">
                <a:latin typeface="Consolas"/>
                <a:ea typeface="Calibri"/>
                <a:cs typeface="Calibri"/>
              </a:rPr>
              <a:t>((total, </a:t>
            </a:r>
            <a:r>
              <a:rPr lang="es-ES" err="1">
                <a:latin typeface="Consolas"/>
                <a:ea typeface="Calibri"/>
                <a:cs typeface="Calibri"/>
              </a:rPr>
              <a:t>num</a:t>
            </a:r>
            <a:r>
              <a:rPr lang="es-ES">
                <a:latin typeface="Consolas"/>
                <a:ea typeface="Calibri"/>
                <a:cs typeface="Calibri"/>
              </a:rPr>
              <a:t>) =&gt; total + </a:t>
            </a:r>
            <a:r>
              <a:rPr lang="es-ES" err="1">
                <a:latin typeface="Consolas"/>
                <a:ea typeface="Calibri"/>
                <a:cs typeface="Calibri"/>
              </a:rPr>
              <a:t>num</a:t>
            </a:r>
            <a:r>
              <a:rPr lang="es-ES">
                <a:latin typeface="Consolas"/>
                <a:ea typeface="Calibri"/>
                <a:cs typeface="Calibri"/>
              </a:rPr>
              <a:t>, 0);</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sumarTodo</a:t>
            </a:r>
            <a:r>
              <a:rPr lang="es-ES">
                <a:latin typeface="Consolas"/>
                <a:ea typeface="Calibri"/>
                <a:cs typeface="Calibri"/>
              </a:rPr>
              <a:t>(1, 2, 3, 4)); // 10</a:t>
            </a:r>
          </a:p>
          <a:p>
            <a:pPr marL="342900" indent="-342900">
              <a:buFont typeface="Arial"/>
              <a:buChar char="•"/>
            </a:pPr>
            <a:r>
              <a:rPr lang="es-ES">
                <a:latin typeface="Calibri"/>
                <a:ea typeface="Calibri"/>
                <a:cs typeface="Calibri"/>
              </a:rPr>
              <a:t>Agrupar el resto de las propiedades de un objeto en una sola variable.</a:t>
            </a:r>
          </a:p>
          <a:p>
            <a:r>
              <a:rPr lang="es-ES" err="1">
                <a:latin typeface="Consolas"/>
                <a:ea typeface="Calibri"/>
                <a:cs typeface="Calibri"/>
              </a:rPr>
              <a:t>const</a:t>
            </a:r>
            <a:r>
              <a:rPr lang="es-ES">
                <a:latin typeface="Consolas"/>
                <a:ea typeface="Calibri"/>
                <a:cs typeface="Calibri"/>
              </a:rPr>
              <a:t> persona = { nombre: "Diego", edad: 25, ciudad: "Albacete", comunidad: "Castilla la Mancha" };</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 nombre, edad, ...</a:t>
            </a:r>
            <a:r>
              <a:rPr lang="es-ES" err="1">
                <a:latin typeface="Consolas"/>
                <a:ea typeface="Calibri"/>
                <a:cs typeface="Calibri"/>
              </a:rPr>
              <a:t>direccion</a:t>
            </a:r>
            <a:r>
              <a:rPr lang="es-ES">
                <a:latin typeface="Consolas"/>
                <a:ea typeface="Calibri"/>
                <a:cs typeface="Calibri"/>
              </a:rPr>
              <a:t> } = persona;</a:t>
            </a:r>
            <a:br>
              <a:rPr lang="es-ES">
                <a:latin typeface="Consolas"/>
                <a:ea typeface="Calibri"/>
                <a:cs typeface="Calibri"/>
              </a:rPr>
            </a:br>
            <a:r>
              <a:rPr lang="es-ES">
                <a:latin typeface="Consolas"/>
                <a:ea typeface="Calibri"/>
                <a:cs typeface="Calibri"/>
              </a:rPr>
              <a:t>console.log(nombre); // "Diego"</a:t>
            </a:r>
            <a:br>
              <a:rPr lang="es-ES">
                <a:latin typeface="Consolas"/>
                <a:ea typeface="Calibri"/>
                <a:cs typeface="Calibri"/>
              </a:rPr>
            </a:br>
            <a:r>
              <a:rPr lang="es-ES">
                <a:latin typeface="Consolas"/>
                <a:ea typeface="Calibri"/>
                <a:cs typeface="Calibri"/>
              </a:rPr>
              <a:t>console.log(edad); // 25</a:t>
            </a:r>
            <a:br>
              <a:rPr lang="es-ES">
                <a:latin typeface="Consolas"/>
                <a:ea typeface="Calibri"/>
                <a:cs typeface="Calibri"/>
              </a:rPr>
            </a:br>
            <a:r>
              <a:rPr lang="es-ES">
                <a:latin typeface="Consolas"/>
                <a:ea typeface="Calibri"/>
                <a:cs typeface="Calibri"/>
              </a:rPr>
              <a:t>console.log(</a:t>
            </a:r>
            <a:r>
              <a:rPr lang="es-ES" err="1">
                <a:latin typeface="Consolas"/>
                <a:ea typeface="Calibri"/>
                <a:cs typeface="Calibri"/>
              </a:rPr>
              <a:t>direccion</a:t>
            </a:r>
            <a:r>
              <a:rPr lang="es-ES">
                <a:latin typeface="Consolas"/>
                <a:ea typeface="Calibri"/>
                <a:cs typeface="Calibri"/>
              </a:rPr>
              <a:t>); // { ciudad: "Albacete", comunidad: "Castilla la Mancha" }</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373359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6D34E-0025-81CA-538B-537E0C3EC9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DDE084-02EE-C203-8153-B49EDAD56CC5}"/>
              </a:ext>
            </a:extLst>
          </p:cNvPr>
          <p:cNvSpPr>
            <a:spLocks noGrp="1"/>
          </p:cNvSpPr>
          <p:nvPr>
            <p:ph type="title"/>
          </p:nvPr>
        </p:nvSpPr>
        <p:spPr/>
        <p:txBody>
          <a:bodyPr/>
          <a:lstStyle/>
          <a:p>
            <a:r>
              <a:rPr lang="es-ES">
                <a:latin typeface="Calibri"/>
                <a:ea typeface="Calibri"/>
                <a:cs typeface="Calibri"/>
              </a:rPr>
              <a:t>Características de la sintaxis del lenguaje cliente: </a:t>
            </a:r>
            <a:r>
              <a:rPr lang="es-ES" err="1">
                <a:latin typeface="Calibri"/>
                <a:ea typeface="Calibri"/>
                <a:cs typeface="Calibri"/>
              </a:rPr>
              <a:t>Javascript</a:t>
            </a:r>
            <a:r>
              <a:rPr lang="es-ES">
                <a:latin typeface="Calibri"/>
                <a:ea typeface="Calibri"/>
                <a:cs typeface="Calibri"/>
              </a:rPr>
              <a:t> y </a:t>
            </a:r>
            <a:r>
              <a:rPr lang="es-ES" err="1">
                <a:latin typeface="Calibri"/>
                <a:ea typeface="Calibri"/>
                <a:cs typeface="Calibri"/>
              </a:rPr>
              <a:t>React</a:t>
            </a:r>
            <a:r>
              <a:rPr lang="es-ES">
                <a:latin typeface="Calibri"/>
                <a:ea typeface="Calibri"/>
                <a:cs typeface="Calibri"/>
              </a:rPr>
              <a:t>. Módulos</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0AC6F7D6-AE6A-2CED-9DE2-F44DFD346313}"/>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mn-lt"/>
                <a:cs typeface="+mn-lt"/>
              </a:rPr>
              <a:t>Importar y Exportar Módulos: Dividir el código en módulos reutilizables.</a:t>
            </a:r>
            <a:endParaRPr lang="es-ES">
              <a:latin typeface="Calibri"/>
            </a:endParaRPr>
          </a:p>
          <a:p>
            <a:r>
              <a:rPr lang="es-ES">
                <a:latin typeface="Consolas"/>
                <a:ea typeface="+mn-lt"/>
                <a:cs typeface="+mn-lt"/>
              </a:rPr>
              <a:t>// archivo.js</a:t>
            </a:r>
            <a:br>
              <a:rPr lang="es-ES">
                <a:latin typeface="Consolas"/>
                <a:ea typeface="+mn-lt"/>
                <a:cs typeface="+mn-lt"/>
              </a:rPr>
            </a:br>
            <a:r>
              <a:rPr lang="es-ES" err="1">
                <a:latin typeface="Consolas"/>
                <a:ea typeface="+mn-lt"/>
                <a:cs typeface="+mn-lt"/>
              </a:rPr>
              <a:t>export</a:t>
            </a:r>
            <a:r>
              <a:rPr lang="es-ES">
                <a:latin typeface="Consolas"/>
                <a:ea typeface="+mn-lt"/>
                <a:cs typeface="+mn-lt"/>
              </a:rPr>
              <a:t> </a:t>
            </a:r>
            <a:r>
              <a:rPr lang="es-ES" err="1">
                <a:latin typeface="Consolas"/>
                <a:ea typeface="+mn-lt"/>
                <a:cs typeface="+mn-lt"/>
              </a:rPr>
              <a:t>const</a:t>
            </a:r>
            <a:r>
              <a:rPr lang="es-ES">
                <a:latin typeface="Consolas"/>
                <a:ea typeface="+mn-lt"/>
                <a:cs typeface="+mn-lt"/>
              </a:rPr>
              <a:t> saludar = () =&gt; {</a:t>
            </a:r>
            <a:br>
              <a:rPr lang="es-ES">
                <a:latin typeface="Consolas"/>
                <a:ea typeface="+mn-lt"/>
                <a:cs typeface="+mn-lt"/>
              </a:rPr>
            </a:br>
            <a:r>
              <a:rPr lang="es-ES">
                <a:latin typeface="Consolas"/>
                <a:ea typeface="+mn-lt"/>
                <a:cs typeface="+mn-lt"/>
              </a:rPr>
              <a:t>      console.log("Hola, mundo!");</a:t>
            </a:r>
            <a:br>
              <a:rPr lang="en-US">
                <a:latin typeface="Consolas"/>
              </a:rPr>
            </a:br>
            <a:r>
              <a:rPr lang="es-ES">
                <a:latin typeface="Consolas"/>
                <a:ea typeface="+mn-lt"/>
                <a:cs typeface="+mn-lt"/>
              </a:rPr>
              <a:t>};</a:t>
            </a:r>
            <a:endParaRPr lang="es-ES">
              <a:latin typeface="Consolas"/>
            </a:endParaRPr>
          </a:p>
          <a:p>
            <a:pPr>
              <a:buFont typeface="Arial"/>
              <a:buChar char="•"/>
            </a:pPr>
            <a:endParaRPr lang="es-ES">
              <a:latin typeface="Consolas"/>
            </a:endParaRPr>
          </a:p>
          <a:p>
            <a:r>
              <a:rPr lang="es-ES">
                <a:latin typeface="Consolas"/>
                <a:ea typeface="+mn-lt"/>
                <a:cs typeface="+mn-lt"/>
              </a:rPr>
              <a:t>// main.js</a:t>
            </a:r>
            <a:br>
              <a:rPr lang="es-ES">
                <a:latin typeface="Consolas"/>
                <a:ea typeface="+mn-lt"/>
                <a:cs typeface="+mn-lt"/>
              </a:rPr>
            </a:br>
            <a:r>
              <a:rPr lang="es-ES">
                <a:latin typeface="Consolas"/>
                <a:ea typeface="+mn-lt"/>
                <a:cs typeface="+mn-lt"/>
              </a:rPr>
              <a:t>    </a:t>
            </a:r>
            <a:r>
              <a:rPr lang="es-ES" err="1">
                <a:latin typeface="Consolas"/>
                <a:ea typeface="+mn-lt"/>
                <a:cs typeface="+mn-lt"/>
              </a:rPr>
              <a:t>import</a:t>
            </a:r>
            <a:r>
              <a:rPr lang="es-ES">
                <a:latin typeface="Consolas"/>
                <a:ea typeface="+mn-lt"/>
                <a:cs typeface="+mn-lt"/>
              </a:rPr>
              <a:t> { saludar } </a:t>
            </a:r>
            <a:r>
              <a:rPr lang="es-ES" err="1">
                <a:latin typeface="Consolas"/>
                <a:ea typeface="+mn-lt"/>
                <a:cs typeface="+mn-lt"/>
              </a:rPr>
              <a:t>from</a:t>
            </a:r>
            <a:r>
              <a:rPr lang="es-ES">
                <a:latin typeface="Consolas"/>
                <a:ea typeface="+mn-lt"/>
                <a:cs typeface="+mn-lt"/>
              </a:rPr>
              <a:t> './archivo.js';</a:t>
            </a:r>
            <a:br>
              <a:rPr lang="es-ES">
                <a:latin typeface="Consolas"/>
                <a:ea typeface="+mn-lt"/>
                <a:cs typeface="+mn-lt"/>
              </a:rPr>
            </a:br>
            <a:r>
              <a:rPr lang="es-ES">
                <a:latin typeface="Consolas"/>
                <a:ea typeface="+mn-lt"/>
                <a:cs typeface="+mn-lt"/>
              </a:rPr>
              <a:t>    saludar();</a:t>
            </a:r>
            <a:endParaRPr lang="es-ES">
              <a:latin typeface="Consolas"/>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986725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B092FD-75CA-DE8E-79F5-5D8091E02768}"/>
              </a:ext>
            </a:extLst>
          </p:cNvPr>
          <p:cNvSpPr>
            <a:spLocks noGrp="1"/>
          </p:cNvSpPr>
          <p:nvPr>
            <p:ph type="title"/>
          </p:nvPr>
        </p:nvSpPr>
        <p:spPr/>
        <p:txBody>
          <a:bodyPr>
            <a:normAutofit/>
          </a:bodyPr>
          <a:lstStyle/>
          <a:p>
            <a:r>
              <a:rPr lang="es-ES">
                <a:latin typeface="Calibri"/>
                <a:ea typeface="Calibri"/>
                <a:cs typeface="Calibri"/>
              </a:rPr>
              <a:t>Instalación y configuración básica. Windows</a:t>
            </a:r>
          </a:p>
        </p:txBody>
      </p:sp>
      <p:sp>
        <p:nvSpPr>
          <p:cNvPr id="3" name="Marcador de contenido 2">
            <a:extLst>
              <a:ext uri="{FF2B5EF4-FFF2-40B4-BE49-F238E27FC236}">
                <a16:creationId xmlns:a16="http://schemas.microsoft.com/office/drawing/2014/main" id="{E41BF99F-0A21-C61F-41EE-8A1FC80E68FD}"/>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Para Windows, el primer paso es descargar e instalar Node.js y </a:t>
            </a:r>
            <a:r>
              <a:rPr lang="es-ES" err="1">
                <a:latin typeface="Calibri"/>
                <a:ea typeface="Calibri"/>
                <a:cs typeface="Calibri"/>
              </a:rPr>
              <a:t>npm</a:t>
            </a:r>
            <a:endParaRPr lang="es-ES">
              <a:latin typeface="Calibri"/>
              <a:ea typeface="Calibri"/>
              <a:cs typeface="Calibri"/>
            </a:endParaRPr>
          </a:p>
          <a:p>
            <a:pPr marL="617220" lvl="1">
              <a:buFont typeface="Courier New"/>
              <a:buChar char="o"/>
            </a:pPr>
            <a:r>
              <a:rPr lang="es-ES">
                <a:latin typeface="Calibri"/>
                <a:ea typeface="Calibri"/>
                <a:cs typeface="Calibri"/>
              </a:rPr>
              <a:t>Descargar Node.js:</a:t>
            </a:r>
          </a:p>
          <a:p>
            <a:pPr marL="891540" lvl="3">
              <a:buFont typeface="Arial"/>
              <a:buChar char="•"/>
            </a:pPr>
            <a:r>
              <a:rPr lang="es-ES">
                <a:latin typeface="Calibri"/>
                <a:ea typeface="Calibri"/>
                <a:cs typeface="Calibri"/>
              </a:rPr>
              <a:t>Ve a la página oficial de Node.js.</a:t>
            </a:r>
          </a:p>
          <a:p>
            <a:pPr marL="891540" lvl="3">
              <a:buFont typeface="Arial"/>
              <a:buChar char="•"/>
            </a:pPr>
            <a:r>
              <a:rPr lang="es-ES">
                <a:latin typeface="Calibri"/>
                <a:ea typeface="Calibri"/>
                <a:cs typeface="Calibri"/>
              </a:rPr>
              <a:t>Descarga el instalador para Windows (recomendado LTS).</a:t>
            </a:r>
          </a:p>
          <a:p>
            <a:pPr marL="617220" lvl="1">
              <a:buFont typeface="Courier New"/>
              <a:buChar char="o"/>
            </a:pPr>
            <a:r>
              <a:rPr lang="es-ES">
                <a:latin typeface="Calibri"/>
                <a:ea typeface="Calibri"/>
                <a:cs typeface="Calibri"/>
              </a:rPr>
              <a:t>Instalar Node.js:</a:t>
            </a:r>
          </a:p>
          <a:p>
            <a:pPr marL="891540" lvl="3">
              <a:buFont typeface="Arial"/>
              <a:buChar char="•"/>
            </a:pPr>
            <a:r>
              <a:rPr lang="es-ES">
                <a:latin typeface="Calibri"/>
                <a:ea typeface="Calibri"/>
                <a:cs typeface="Calibri"/>
              </a:rPr>
              <a:t>Ejecuta el instalador descargado y sigue las instrucciones.</a:t>
            </a:r>
          </a:p>
          <a:p>
            <a:pPr marL="617220" lvl="1">
              <a:buFont typeface="Courier New"/>
              <a:buChar char="o"/>
            </a:pPr>
            <a:r>
              <a:rPr lang="es-ES">
                <a:latin typeface="Calibri"/>
                <a:ea typeface="Calibri"/>
                <a:cs typeface="Calibri"/>
              </a:rPr>
              <a:t>Verificar la instalación:</a:t>
            </a:r>
          </a:p>
          <a:p>
            <a:pPr marL="891540" lvl="3">
              <a:buFont typeface="Arial"/>
              <a:buChar char="•"/>
            </a:pPr>
            <a:r>
              <a:rPr lang="es-ES">
                <a:latin typeface="Calibri"/>
                <a:ea typeface="Calibri"/>
                <a:cs typeface="Calibri"/>
              </a:rPr>
              <a:t>Abre el símbolo del sistema (</a:t>
            </a:r>
            <a:r>
              <a:rPr lang="es-ES" err="1">
                <a:latin typeface="Calibri"/>
                <a:ea typeface="Calibri"/>
                <a:cs typeface="Calibri"/>
              </a:rPr>
              <a:t>cmd</a:t>
            </a:r>
            <a:r>
              <a:rPr lang="es-ES">
                <a:latin typeface="Calibri"/>
                <a:ea typeface="Calibri"/>
                <a:cs typeface="Calibri"/>
              </a:rPr>
              <a:t>) y ejecuta los siguientes comandos:</a:t>
            </a:r>
          </a:p>
          <a:p>
            <a:pPr marL="662940" lvl="3" indent="0">
              <a:buNone/>
            </a:pPr>
            <a:r>
              <a:rPr lang="es-ES" err="1">
                <a:latin typeface="Consolas"/>
                <a:ea typeface="Calibri"/>
                <a:cs typeface="Calibri"/>
              </a:rPr>
              <a:t>node</a:t>
            </a:r>
            <a:r>
              <a:rPr lang="es-ES">
                <a:latin typeface="Consolas"/>
                <a:ea typeface="Calibri"/>
                <a:cs typeface="Calibri"/>
              </a:rPr>
              <a:t> –v</a:t>
            </a:r>
            <a:br>
              <a:rPr lang="es-ES">
                <a:latin typeface="Consolas"/>
                <a:ea typeface="Calibri"/>
                <a:cs typeface="Calibri"/>
              </a:rPr>
            </a:br>
            <a:r>
              <a:rPr lang="es-ES" err="1">
                <a:latin typeface="Consolas"/>
                <a:ea typeface="Calibri"/>
                <a:cs typeface="Calibri"/>
              </a:rPr>
              <a:t>npm</a:t>
            </a:r>
            <a:r>
              <a:rPr lang="es-ES">
                <a:latin typeface="Consolas"/>
                <a:ea typeface="Calibri"/>
                <a:cs typeface="Calibri"/>
              </a:rPr>
              <a:t> -v</a:t>
            </a:r>
          </a:p>
          <a:p>
            <a:pPr marL="342900" indent="-342900">
              <a:buFont typeface="Arial"/>
              <a:buChar char="•"/>
            </a:pPr>
            <a:r>
              <a:rPr lang="es-ES">
                <a:latin typeface="Calibri"/>
                <a:ea typeface="Calibri"/>
                <a:cs typeface="Calibri"/>
              </a:rPr>
              <a:t>Si todo ha funcionado correctamente se verían las versiones instaladas de Node.js y </a:t>
            </a:r>
            <a:r>
              <a:rPr lang="es-ES" err="1">
                <a:latin typeface="Calibri"/>
                <a:ea typeface="Calibri"/>
                <a:cs typeface="Calibri"/>
              </a:rPr>
              <a:t>npm</a:t>
            </a:r>
            <a:r>
              <a:rPr lang="es-ES">
                <a:latin typeface="Calibri"/>
                <a:ea typeface="Calibri"/>
                <a:cs typeface="Calibri"/>
              </a:rPr>
              <a:t>.</a:t>
            </a:r>
          </a:p>
          <a:p>
            <a:pPr marL="342900" indent="-342900">
              <a:buFont typeface="Arial"/>
              <a:buChar char="•"/>
            </a:pPr>
            <a:r>
              <a:rPr lang="es-ES">
                <a:latin typeface="Calibri"/>
                <a:ea typeface="+mn-lt"/>
                <a:cs typeface="+mn-lt"/>
              </a:rPr>
              <a:t>Si la versión de NodeJS es demasiado antigua, con nvm (debemos tenerlo instalado previamente) se puede actualizar a la última versión estable con: </a:t>
            </a:r>
          </a:p>
          <a:p>
            <a:r>
              <a:rPr lang="es-ES">
                <a:latin typeface="Consolas"/>
                <a:ea typeface="+mn-lt"/>
                <a:cs typeface="+mn-lt"/>
              </a:rPr>
              <a:t>    </a:t>
            </a:r>
            <a:r>
              <a:rPr lang="es-ES" err="1">
                <a:latin typeface="Consolas"/>
                <a:ea typeface="+mn-lt"/>
                <a:cs typeface="+mn-lt"/>
              </a:rPr>
              <a:t>nvm</a:t>
            </a:r>
            <a:r>
              <a:rPr lang="es-ES">
                <a:latin typeface="Consolas"/>
                <a:ea typeface="+mn-lt"/>
                <a:cs typeface="+mn-lt"/>
              </a:rPr>
              <a:t> --</a:t>
            </a:r>
            <a:r>
              <a:rPr lang="es-ES" err="1">
                <a:latin typeface="Consolas"/>
                <a:ea typeface="+mn-lt"/>
                <a:cs typeface="+mn-lt"/>
              </a:rPr>
              <a:t>lts</a:t>
            </a:r>
            <a:r>
              <a:rPr lang="es-ES">
                <a:latin typeface="Consolas"/>
                <a:ea typeface="+mn-lt"/>
                <a:cs typeface="+mn-lt"/>
              </a:rPr>
              <a:t> </a:t>
            </a:r>
            <a:endParaRPr lang="es-ES">
              <a:latin typeface="Consolas"/>
              <a:ea typeface="Calibri"/>
              <a:cs typeface="Calibri"/>
            </a:endParaRPr>
          </a:p>
        </p:txBody>
      </p:sp>
    </p:spTree>
    <p:extLst>
      <p:ext uri="{BB962C8B-B14F-4D97-AF65-F5344CB8AC3E}">
        <p14:creationId xmlns:p14="http://schemas.microsoft.com/office/powerpoint/2010/main" val="4238084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90660-218B-CAD1-9F0E-131D1A5FF3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108BAB-195A-8FE9-E82A-207B421129CB}"/>
              </a:ext>
            </a:extLst>
          </p:cNvPr>
          <p:cNvSpPr>
            <a:spLocks noGrp="1"/>
          </p:cNvSpPr>
          <p:nvPr>
            <p:ph type="title"/>
          </p:nvPr>
        </p:nvSpPr>
        <p:spPr/>
        <p:txBody>
          <a:bodyPr>
            <a:normAutofit/>
          </a:bodyPr>
          <a:lstStyle/>
          <a:p>
            <a:r>
              <a:rPr lang="es-ES">
                <a:latin typeface="Calibri"/>
                <a:ea typeface="Calibri"/>
                <a:cs typeface="Calibri"/>
              </a:rPr>
              <a:t>Instalación y configuración básica. Linux</a:t>
            </a:r>
          </a:p>
        </p:txBody>
      </p:sp>
      <p:sp>
        <p:nvSpPr>
          <p:cNvPr id="3" name="Marcador de contenido 2">
            <a:extLst>
              <a:ext uri="{FF2B5EF4-FFF2-40B4-BE49-F238E27FC236}">
                <a16:creationId xmlns:a16="http://schemas.microsoft.com/office/drawing/2014/main" id="{014F8212-BEFA-6079-28C5-F5FFB726BDC3}"/>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Para Linux, el primer paso es actualizar el sistema y descargar e instalar Node.js y </a:t>
            </a:r>
            <a:r>
              <a:rPr lang="es-ES" err="1">
                <a:latin typeface="Calibri"/>
                <a:ea typeface="Calibri"/>
                <a:cs typeface="Calibri"/>
              </a:rPr>
              <a:t>npm</a:t>
            </a:r>
            <a:endParaRPr lang="es-ES">
              <a:latin typeface="Calibri"/>
              <a:ea typeface="Calibri"/>
              <a:cs typeface="Calibri"/>
            </a:endParaRPr>
          </a:p>
          <a:p>
            <a:pPr marL="617220" lvl="1">
              <a:buFont typeface="Courier New"/>
              <a:buChar char="o"/>
            </a:pPr>
            <a:r>
              <a:rPr lang="es-ES">
                <a:latin typeface="Calibri"/>
                <a:ea typeface="Calibri"/>
                <a:cs typeface="Calibri"/>
              </a:rPr>
              <a:t>Actualizar el sistema</a:t>
            </a:r>
          </a:p>
          <a:p>
            <a:pPr marL="662940" lvl="3" indent="0">
              <a:buNone/>
            </a:pPr>
            <a:r>
              <a:rPr lang="es-ES">
                <a:latin typeface="Consolas"/>
                <a:ea typeface="Calibri"/>
                <a:cs typeface="Calibri"/>
              </a:rPr>
              <a:t>sudo </a:t>
            </a:r>
            <a:r>
              <a:rPr lang="es-ES" err="1">
                <a:latin typeface="Consolas"/>
                <a:ea typeface="Calibri"/>
                <a:cs typeface="Calibri"/>
              </a:rPr>
              <a:t>apt</a:t>
            </a:r>
            <a:r>
              <a:rPr lang="es-ES">
                <a:latin typeface="Consolas"/>
                <a:ea typeface="Calibri"/>
                <a:cs typeface="Calibri"/>
              </a:rPr>
              <a:t> </a:t>
            </a:r>
            <a:r>
              <a:rPr lang="es-ES" err="1">
                <a:latin typeface="Consolas"/>
                <a:ea typeface="Calibri"/>
                <a:cs typeface="Calibri"/>
              </a:rPr>
              <a:t>update</a:t>
            </a:r>
            <a:br>
              <a:rPr lang="es-ES">
                <a:latin typeface="Consolas"/>
                <a:ea typeface="Calibri"/>
                <a:cs typeface="Calibri"/>
              </a:rPr>
            </a:br>
            <a:r>
              <a:rPr lang="es-ES">
                <a:latin typeface="Consolas"/>
                <a:ea typeface="Calibri"/>
                <a:cs typeface="Calibri"/>
              </a:rPr>
              <a:t>sudo </a:t>
            </a:r>
            <a:r>
              <a:rPr lang="es-ES" err="1">
                <a:latin typeface="Consolas"/>
                <a:ea typeface="Calibri"/>
                <a:cs typeface="Calibri"/>
              </a:rPr>
              <a:t>apt</a:t>
            </a:r>
            <a:r>
              <a:rPr lang="es-ES">
                <a:latin typeface="Consolas"/>
                <a:ea typeface="Calibri"/>
                <a:cs typeface="Calibri"/>
              </a:rPr>
              <a:t> </a:t>
            </a:r>
            <a:r>
              <a:rPr lang="es-ES" err="1">
                <a:latin typeface="Consolas"/>
                <a:ea typeface="Calibri"/>
                <a:cs typeface="Calibri"/>
              </a:rPr>
              <a:t>upgrade</a:t>
            </a:r>
            <a:endParaRPr lang="es-ES">
              <a:latin typeface="Consolas"/>
              <a:ea typeface="Calibri"/>
              <a:cs typeface="Calibri"/>
            </a:endParaRPr>
          </a:p>
          <a:p>
            <a:pPr marL="617220" lvl="1">
              <a:buFont typeface="Courier New"/>
              <a:buChar char="o"/>
            </a:pPr>
            <a:r>
              <a:rPr lang="es-ES">
                <a:latin typeface="Calibri"/>
                <a:ea typeface="Calibri"/>
                <a:cs typeface="Calibri"/>
              </a:rPr>
              <a:t>Instalar Node.js:</a:t>
            </a:r>
          </a:p>
          <a:p>
            <a:pPr marL="891540" lvl="3">
              <a:buFont typeface="Arial"/>
              <a:buChar char="•"/>
            </a:pPr>
            <a:r>
              <a:rPr lang="es-ES">
                <a:latin typeface="Calibri"/>
                <a:ea typeface="Calibri"/>
                <a:cs typeface="Calibri"/>
              </a:rPr>
              <a:t>Abre una terminal y ejecuta los siguientes comandos para instalar Node.JS desde el repositorio oficial:</a:t>
            </a:r>
          </a:p>
          <a:p>
            <a:pPr marL="662940" lvl="3" indent="0">
              <a:buNone/>
            </a:pPr>
            <a:r>
              <a:rPr lang="es-ES" err="1">
                <a:latin typeface="Consolas"/>
                <a:ea typeface="Calibri"/>
                <a:cs typeface="Calibri"/>
              </a:rPr>
              <a:t>curl</a:t>
            </a:r>
            <a:r>
              <a:rPr lang="es-ES">
                <a:latin typeface="Consolas"/>
                <a:ea typeface="Calibri"/>
                <a:cs typeface="Calibri"/>
              </a:rPr>
              <a:t> -</a:t>
            </a:r>
            <a:r>
              <a:rPr lang="es-ES" err="1">
                <a:latin typeface="Consolas"/>
                <a:ea typeface="Calibri"/>
                <a:cs typeface="Calibri"/>
              </a:rPr>
              <a:t>fsSL</a:t>
            </a:r>
            <a:r>
              <a:rPr lang="es-ES">
                <a:latin typeface="Consolas"/>
                <a:ea typeface="Calibri"/>
                <a:cs typeface="Calibri"/>
              </a:rPr>
              <a:t> https://deb.nodesource.com/setup_24.x | sudo -E </a:t>
            </a:r>
            <a:r>
              <a:rPr lang="es-ES" err="1">
                <a:latin typeface="Consolas"/>
                <a:ea typeface="Calibri"/>
                <a:cs typeface="Calibri"/>
              </a:rPr>
              <a:t>bash</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sudo </a:t>
            </a:r>
            <a:r>
              <a:rPr lang="es-ES" err="1">
                <a:latin typeface="Consolas"/>
                <a:ea typeface="Calibri"/>
                <a:cs typeface="Calibri"/>
              </a:rPr>
              <a:t>apt</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-y </a:t>
            </a:r>
            <a:r>
              <a:rPr lang="es-ES" err="1">
                <a:latin typeface="Consolas"/>
                <a:ea typeface="Calibri"/>
                <a:cs typeface="Calibri"/>
              </a:rPr>
              <a:t>nodejs</a:t>
            </a:r>
            <a:endParaRPr lang="es-ES">
              <a:latin typeface="Consolas"/>
              <a:ea typeface="Calibri"/>
              <a:cs typeface="Calibri"/>
            </a:endParaRPr>
          </a:p>
          <a:p>
            <a:pPr marL="617220" lvl="1">
              <a:buFont typeface="Courier New"/>
              <a:buChar char="o"/>
            </a:pPr>
            <a:r>
              <a:rPr lang="es-ES">
                <a:latin typeface="Calibri"/>
                <a:ea typeface="Calibri"/>
                <a:cs typeface="Calibri"/>
              </a:rPr>
              <a:t>Verificar la instalación:</a:t>
            </a:r>
          </a:p>
          <a:p>
            <a:pPr marL="891540" lvl="3">
              <a:buFont typeface="Arial"/>
              <a:buChar char="•"/>
            </a:pPr>
            <a:r>
              <a:rPr lang="es-ES">
                <a:latin typeface="Calibri"/>
                <a:ea typeface="Calibri"/>
                <a:cs typeface="Calibri"/>
              </a:rPr>
              <a:t>Abre una terminal y ejecuta los siguientes comandos:</a:t>
            </a:r>
          </a:p>
          <a:p>
            <a:pPr marL="662940" lvl="3" indent="0">
              <a:buNone/>
            </a:pPr>
            <a:r>
              <a:rPr lang="es-ES" err="1">
                <a:latin typeface="Consolas"/>
                <a:ea typeface="Calibri"/>
                <a:cs typeface="Calibri"/>
              </a:rPr>
              <a:t>node</a:t>
            </a:r>
            <a:r>
              <a:rPr lang="es-ES">
                <a:latin typeface="Consolas"/>
                <a:ea typeface="Calibri"/>
                <a:cs typeface="Calibri"/>
              </a:rPr>
              <a:t> -v</a:t>
            </a:r>
            <a:br>
              <a:rPr lang="es-ES">
                <a:latin typeface="Consolas"/>
                <a:ea typeface="Calibri"/>
                <a:cs typeface="Calibri"/>
              </a:rPr>
            </a:br>
            <a:r>
              <a:rPr lang="es-ES" err="1">
                <a:latin typeface="Consolas"/>
                <a:ea typeface="Calibri"/>
                <a:cs typeface="Calibri"/>
              </a:rPr>
              <a:t>npm</a:t>
            </a:r>
            <a:r>
              <a:rPr lang="es-ES">
                <a:latin typeface="Consolas"/>
                <a:ea typeface="Calibri"/>
                <a:cs typeface="Calibri"/>
              </a:rPr>
              <a:t> -v</a:t>
            </a:r>
          </a:p>
          <a:p>
            <a:pPr marL="342900" indent="-342900">
              <a:buFont typeface="Arial"/>
              <a:buChar char="•"/>
            </a:pPr>
            <a:r>
              <a:rPr lang="es-ES">
                <a:latin typeface="Calibri"/>
                <a:ea typeface="Calibri"/>
                <a:cs typeface="Calibri"/>
              </a:rPr>
              <a:t>Si todo ha funcionado correctamente se verían las versiones instaladas de Node.js y </a:t>
            </a:r>
            <a:r>
              <a:rPr lang="es-ES" err="1">
                <a:latin typeface="Calibri"/>
                <a:ea typeface="Calibri"/>
                <a:cs typeface="Calibri"/>
              </a:rPr>
              <a:t>npm</a:t>
            </a:r>
            <a:r>
              <a:rPr lang="es-ES">
                <a:latin typeface="Calibri"/>
                <a:ea typeface="Calibri"/>
                <a:cs typeface="Calibri"/>
              </a:rPr>
              <a:t>.</a:t>
            </a:r>
          </a:p>
          <a:p>
            <a:pPr marL="342900" indent="-342900">
              <a:buFont typeface="Arial"/>
              <a:buChar char="•"/>
            </a:pPr>
            <a:r>
              <a:rPr lang="es-ES">
                <a:latin typeface="Calibri"/>
                <a:ea typeface="Calibri"/>
                <a:cs typeface="Calibri"/>
              </a:rPr>
              <a:t>Si la versión de </a:t>
            </a:r>
            <a:r>
              <a:rPr lang="es-ES" err="1">
                <a:latin typeface="Calibri"/>
                <a:ea typeface="Calibri"/>
                <a:cs typeface="Calibri"/>
              </a:rPr>
              <a:t>NodeJS</a:t>
            </a:r>
            <a:r>
              <a:rPr lang="es-ES">
                <a:latin typeface="Calibri"/>
                <a:ea typeface="Calibri"/>
                <a:cs typeface="Calibri"/>
              </a:rPr>
              <a:t> es demasiado antigua, con </a:t>
            </a:r>
            <a:r>
              <a:rPr lang="es-ES" err="1">
                <a:latin typeface="Calibri"/>
                <a:ea typeface="Calibri"/>
                <a:cs typeface="Calibri"/>
              </a:rPr>
              <a:t>nvm</a:t>
            </a:r>
            <a:r>
              <a:rPr lang="es-ES">
                <a:latin typeface="Calibri"/>
                <a:ea typeface="Calibri"/>
                <a:cs typeface="Calibri"/>
              </a:rPr>
              <a:t> (debemos tenerlo instalado previamente) se puede actualizar a la última versión estable con:</a:t>
            </a:r>
          </a:p>
          <a:p>
            <a:pPr lvl="1" indent="0">
              <a:buNone/>
            </a:pPr>
            <a:r>
              <a:rPr lang="es-ES">
                <a:latin typeface="Consolas"/>
                <a:ea typeface="Calibri"/>
                <a:cs typeface="Calibri"/>
              </a:rPr>
              <a:t>    </a:t>
            </a:r>
            <a:r>
              <a:rPr lang="es-ES" err="1">
                <a:latin typeface="Consolas"/>
                <a:ea typeface="Calibri"/>
                <a:cs typeface="Calibri"/>
              </a:rPr>
              <a:t>nvm</a:t>
            </a:r>
            <a:r>
              <a:rPr lang="es-ES">
                <a:latin typeface="Consolas"/>
                <a:ea typeface="Calibri"/>
                <a:cs typeface="Calibri"/>
              </a:rPr>
              <a:t> --</a:t>
            </a:r>
            <a:r>
              <a:rPr lang="es-ES" err="1">
                <a:latin typeface="Consolas"/>
                <a:ea typeface="Calibri"/>
                <a:cs typeface="Calibri"/>
              </a:rPr>
              <a:t>lts</a:t>
            </a:r>
            <a:endParaRPr lang="es-ES">
              <a:latin typeface="Consolas"/>
              <a:ea typeface="Calibri"/>
              <a:cs typeface="Calibri"/>
            </a:endParaRPr>
          </a:p>
        </p:txBody>
      </p:sp>
    </p:spTree>
    <p:extLst>
      <p:ext uri="{BB962C8B-B14F-4D97-AF65-F5344CB8AC3E}">
        <p14:creationId xmlns:p14="http://schemas.microsoft.com/office/powerpoint/2010/main" val="2332461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7A397-324C-C941-233E-4155B4ABD6F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F4404B8-C9F2-F577-4B15-056C90EABD24}"/>
              </a:ext>
            </a:extLst>
          </p:cNvPr>
          <p:cNvSpPr>
            <a:spLocks noGrp="1"/>
          </p:cNvSpPr>
          <p:nvPr>
            <p:ph type="title"/>
          </p:nvPr>
        </p:nvSpPr>
        <p:spPr/>
        <p:txBody>
          <a:bodyPr>
            <a:normAutofit/>
          </a:bodyPr>
          <a:lstStyle/>
          <a:p>
            <a:r>
              <a:rPr lang="es-ES">
                <a:latin typeface="Calibri"/>
                <a:ea typeface="Calibri"/>
                <a:cs typeface="Calibri"/>
              </a:rPr>
              <a:t>Instalación y configuración básica. Crear una aplicación </a:t>
            </a:r>
            <a:r>
              <a:rPr lang="es-ES" err="1">
                <a:latin typeface="Calibri"/>
                <a:ea typeface="Calibri"/>
                <a:cs typeface="Calibri"/>
              </a:rPr>
              <a:t>React</a:t>
            </a:r>
            <a:r>
              <a:rPr lang="es-ES">
                <a:latin typeface="Calibri"/>
                <a:ea typeface="Calibri"/>
                <a:cs typeface="Calibri"/>
              </a:rPr>
              <a:t> con </a:t>
            </a:r>
            <a:r>
              <a:rPr lang="es-ES" err="1">
                <a:latin typeface="Calibri"/>
                <a:ea typeface="Calibri"/>
                <a:cs typeface="Calibri"/>
              </a:rPr>
              <a:t>create</a:t>
            </a:r>
            <a:r>
              <a:rPr lang="es-ES">
                <a:latin typeface="Calibri"/>
                <a:ea typeface="Calibri"/>
                <a:cs typeface="Calibri"/>
              </a:rPr>
              <a:t>-</a:t>
            </a:r>
            <a:r>
              <a:rPr lang="es-ES" err="1">
                <a:latin typeface="Calibri"/>
                <a:ea typeface="Calibri"/>
                <a:cs typeface="Calibri"/>
              </a:rPr>
              <a:t>react</a:t>
            </a:r>
            <a:r>
              <a:rPr lang="es-ES">
                <a:latin typeface="Calibri"/>
                <a:ea typeface="Calibri"/>
                <a:cs typeface="Calibri"/>
              </a:rPr>
              <a:t>-app </a:t>
            </a:r>
            <a:r>
              <a:rPr lang="es-ES">
                <a:solidFill>
                  <a:srgbClr val="FF0000"/>
                </a:solidFill>
                <a:latin typeface="Calibri"/>
                <a:ea typeface="Calibri"/>
                <a:cs typeface="Calibri"/>
              </a:rPr>
              <a:t>(se considera obsoleta)</a:t>
            </a:r>
          </a:p>
        </p:txBody>
      </p:sp>
      <p:sp>
        <p:nvSpPr>
          <p:cNvPr id="3" name="Marcador de contenido 2">
            <a:extLst>
              <a:ext uri="{FF2B5EF4-FFF2-40B4-BE49-F238E27FC236}">
                <a16:creationId xmlns:a16="http://schemas.microsoft.com/office/drawing/2014/main" id="{443D49F0-EAB3-8818-4628-BD76C774E099}"/>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El segundo paso es crear la aplicación </a:t>
            </a:r>
            <a:r>
              <a:rPr lang="es-ES" err="1">
                <a:latin typeface="Calibri"/>
                <a:ea typeface="Calibri"/>
                <a:cs typeface="Calibri"/>
              </a:rPr>
              <a:t>React</a:t>
            </a:r>
            <a:r>
              <a:rPr lang="es-ES">
                <a:latin typeface="Calibri"/>
                <a:ea typeface="Calibri"/>
                <a:cs typeface="Calibri"/>
              </a:rPr>
              <a:t> con </a:t>
            </a:r>
            <a:r>
              <a:rPr lang="es-ES" err="1">
                <a:latin typeface="Calibri"/>
                <a:ea typeface="Calibri"/>
                <a:cs typeface="Calibri"/>
              </a:rPr>
              <a:t>create</a:t>
            </a:r>
            <a:r>
              <a:rPr lang="es-ES">
                <a:latin typeface="Calibri"/>
                <a:ea typeface="Calibri"/>
                <a:cs typeface="Calibri"/>
              </a:rPr>
              <a:t>-</a:t>
            </a:r>
            <a:r>
              <a:rPr lang="es-ES" err="1">
                <a:latin typeface="Calibri"/>
                <a:ea typeface="Calibri"/>
                <a:cs typeface="Calibri"/>
              </a:rPr>
              <a:t>react</a:t>
            </a:r>
            <a:r>
              <a:rPr lang="es-ES">
                <a:latin typeface="Calibri"/>
                <a:ea typeface="Calibri"/>
                <a:cs typeface="Calibri"/>
              </a:rPr>
              <a:t>-app y </a:t>
            </a:r>
            <a:r>
              <a:rPr lang="es-ES" err="1">
                <a:latin typeface="Calibri"/>
                <a:ea typeface="Calibri"/>
                <a:cs typeface="Calibri"/>
              </a:rPr>
              <a:t>WebPack</a:t>
            </a:r>
            <a:r>
              <a:rPr lang="es-ES">
                <a:latin typeface="Calibri"/>
                <a:ea typeface="Calibri"/>
                <a:cs typeface="Calibri"/>
              </a:rPr>
              <a:t>. Este paso se realiza en ambos casos desde la terminal, ya sea CMD o una Shell </a:t>
            </a:r>
            <a:r>
              <a:rPr lang="es-ES" err="1">
                <a:latin typeface="Calibri"/>
                <a:ea typeface="Calibri"/>
                <a:cs typeface="Calibri"/>
              </a:rPr>
              <a:t>Bash</a:t>
            </a:r>
            <a:r>
              <a:rPr lang="es-ES">
                <a:latin typeface="Calibri"/>
                <a:ea typeface="Calibri"/>
                <a:cs typeface="Calibri"/>
              </a:rPr>
              <a:t>:</a:t>
            </a:r>
          </a:p>
          <a:p>
            <a:pPr marL="617220" lvl="1">
              <a:buFont typeface="Courier New"/>
              <a:buChar char="o"/>
            </a:pPr>
            <a:r>
              <a:rPr lang="es-ES">
                <a:latin typeface="Calibri"/>
                <a:ea typeface="Calibri"/>
                <a:cs typeface="Calibri"/>
              </a:rPr>
              <a:t>Instalar </a:t>
            </a:r>
            <a:r>
              <a:rPr lang="es-ES" err="1">
                <a:latin typeface="Calibri"/>
                <a:ea typeface="Calibri"/>
                <a:cs typeface="Calibri"/>
              </a:rPr>
              <a:t>Create</a:t>
            </a:r>
            <a:r>
              <a:rPr lang="es-ES">
                <a:latin typeface="Calibri"/>
                <a:ea typeface="Calibri"/>
                <a:cs typeface="Calibri"/>
              </a:rPr>
              <a:t> </a:t>
            </a:r>
            <a:r>
              <a:rPr lang="es-ES" err="1">
                <a:latin typeface="Calibri"/>
                <a:ea typeface="Calibri"/>
                <a:cs typeface="Calibri"/>
              </a:rPr>
              <a:t>React</a:t>
            </a:r>
            <a:r>
              <a:rPr lang="es-ES">
                <a:latin typeface="Calibri"/>
                <a:ea typeface="Calibri"/>
                <a:cs typeface="Calibri"/>
              </a:rPr>
              <a:t> App:</a:t>
            </a:r>
          </a:p>
          <a:p>
            <a:pPr marL="891540" lvl="3">
              <a:buFont typeface="Arial"/>
              <a:buChar char="•"/>
            </a:pPr>
            <a:r>
              <a:rPr lang="es-ES">
                <a:latin typeface="Calibri"/>
                <a:ea typeface="Calibri"/>
                <a:cs typeface="Calibri"/>
              </a:rPr>
              <a:t>Abre una terminal y ejecuta el siguiente comando:</a:t>
            </a:r>
          </a:p>
          <a:p>
            <a:pPr marL="662940" lvl="3" indent="0">
              <a:buNone/>
            </a:pPr>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-g </a:t>
            </a:r>
            <a:r>
              <a:rPr lang="es-ES" err="1">
                <a:latin typeface="Consolas"/>
                <a:ea typeface="Calibri"/>
                <a:cs typeface="Calibri"/>
              </a:rPr>
              <a:t>create</a:t>
            </a:r>
            <a:r>
              <a:rPr lang="es-ES">
                <a:latin typeface="Consolas"/>
                <a:ea typeface="Calibri"/>
                <a:cs typeface="Calibri"/>
              </a:rPr>
              <a:t>-</a:t>
            </a:r>
            <a:r>
              <a:rPr lang="es-ES" err="1">
                <a:latin typeface="Consolas"/>
                <a:ea typeface="Calibri"/>
                <a:cs typeface="Calibri"/>
              </a:rPr>
              <a:t>react</a:t>
            </a:r>
            <a:r>
              <a:rPr lang="es-ES">
                <a:latin typeface="Consolas"/>
                <a:ea typeface="Calibri"/>
                <a:cs typeface="Calibri"/>
              </a:rPr>
              <a:t>-app</a:t>
            </a:r>
          </a:p>
          <a:p>
            <a:pPr marL="617220" lvl="1">
              <a:buFont typeface="Courier New"/>
              <a:buChar char="o"/>
            </a:pPr>
            <a:r>
              <a:rPr lang="es-ES">
                <a:latin typeface="Calibri"/>
                <a:ea typeface="Calibri"/>
                <a:cs typeface="Calibri"/>
              </a:rPr>
              <a:t>Crear un nuevo proyecto </a:t>
            </a:r>
            <a:r>
              <a:rPr lang="es-ES" err="1">
                <a:latin typeface="Calibri"/>
                <a:ea typeface="Calibri"/>
                <a:cs typeface="Calibri"/>
              </a:rPr>
              <a:t>React</a:t>
            </a:r>
            <a:r>
              <a:rPr lang="es-ES">
                <a:latin typeface="Calibri"/>
                <a:ea typeface="Calibri"/>
                <a:cs typeface="Calibri"/>
              </a:rPr>
              <a:t>:</a:t>
            </a:r>
          </a:p>
          <a:p>
            <a:pPr marL="891540" lvl="3">
              <a:buFont typeface="Arial"/>
              <a:buChar char="•"/>
            </a:pPr>
            <a:r>
              <a:rPr lang="es-ES">
                <a:latin typeface="Calibri"/>
                <a:ea typeface="Calibri"/>
                <a:cs typeface="Calibri"/>
              </a:rPr>
              <a:t>Ejecuta el siguiente comando:</a:t>
            </a:r>
          </a:p>
          <a:p>
            <a:pPr marL="662940" lvl="3" indent="0">
              <a:buNone/>
            </a:pPr>
            <a:r>
              <a:rPr lang="es-ES" err="1">
                <a:latin typeface="Consolas"/>
                <a:ea typeface="Calibri"/>
                <a:cs typeface="Calibri"/>
              </a:rPr>
              <a:t>create</a:t>
            </a:r>
            <a:r>
              <a:rPr lang="es-ES">
                <a:latin typeface="Consolas"/>
                <a:ea typeface="Calibri"/>
                <a:cs typeface="Calibri"/>
              </a:rPr>
              <a:t>-</a:t>
            </a:r>
            <a:r>
              <a:rPr lang="es-ES" err="1">
                <a:latin typeface="Consolas"/>
                <a:ea typeface="Calibri"/>
                <a:cs typeface="Calibri"/>
              </a:rPr>
              <a:t>react</a:t>
            </a:r>
            <a:r>
              <a:rPr lang="es-ES">
                <a:latin typeface="Consolas"/>
                <a:ea typeface="Calibri"/>
                <a:cs typeface="Calibri"/>
              </a:rPr>
              <a:t>-app mi-nuevo-proyecto</a:t>
            </a:r>
          </a:p>
          <a:p>
            <a:pPr marL="617220" lvl="1">
              <a:buFont typeface="Courier New"/>
              <a:buChar char="o"/>
            </a:pPr>
            <a:r>
              <a:rPr lang="es-ES">
                <a:latin typeface="Calibri"/>
                <a:ea typeface="Calibri"/>
                <a:cs typeface="Calibri"/>
              </a:rPr>
              <a:t>Entra en el directorio del proyecto:</a:t>
            </a:r>
          </a:p>
          <a:p>
            <a:pPr marL="388620" lvl="1" indent="0">
              <a:buNone/>
            </a:pPr>
            <a:r>
              <a:rPr lang="es-ES">
                <a:latin typeface="Calibri"/>
                <a:ea typeface="Calibri"/>
                <a:cs typeface="Calibri"/>
              </a:rPr>
              <a:t>cd mi-nuevo-proyecto</a:t>
            </a:r>
          </a:p>
          <a:p>
            <a:pPr marL="617220" lvl="1">
              <a:buFont typeface="Courier New"/>
              <a:buChar char="o"/>
            </a:pPr>
            <a:r>
              <a:rPr lang="es-ES">
                <a:latin typeface="Calibri"/>
                <a:ea typeface="Calibri"/>
                <a:cs typeface="Calibri"/>
              </a:rPr>
              <a:t>Iniciar el servidor de desarrollo:</a:t>
            </a:r>
          </a:p>
          <a:p>
            <a:pPr marL="891540" lvl="3">
              <a:buFont typeface="Arial"/>
              <a:buChar char="•"/>
            </a:pPr>
            <a:r>
              <a:rPr lang="es-ES">
                <a:latin typeface="Calibri"/>
                <a:ea typeface="Calibri"/>
                <a:cs typeface="Calibri"/>
              </a:rPr>
              <a:t>Ejecuta el siguiente comando:</a:t>
            </a:r>
            <a:endParaRPr lang="es-ES" err="1">
              <a:latin typeface="Calibri"/>
              <a:ea typeface="Calibri"/>
              <a:cs typeface="Calibri"/>
            </a:endParaRPr>
          </a:p>
          <a:p>
            <a:pPr marL="662940" lvl="3" indent="0">
              <a:buNone/>
            </a:pPr>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start</a:t>
            </a:r>
            <a:endParaRPr lang="es-ES">
              <a:latin typeface="Consolas"/>
              <a:ea typeface="Calibri"/>
              <a:cs typeface="Calibri"/>
            </a:endParaRPr>
          </a:p>
          <a:p>
            <a:pPr marL="342900" indent="-342900">
              <a:buFont typeface="Arial"/>
              <a:buChar char="•"/>
            </a:pPr>
            <a:r>
              <a:rPr lang="es-ES">
                <a:latin typeface="Calibri"/>
                <a:ea typeface="Calibri"/>
                <a:cs typeface="Calibri"/>
              </a:rPr>
              <a:t>Abre el navegador y ve a http://localhost:3000 para ver la aplicación básica.</a:t>
            </a:r>
          </a:p>
        </p:txBody>
      </p:sp>
    </p:spTree>
    <p:extLst>
      <p:ext uri="{BB962C8B-B14F-4D97-AF65-F5344CB8AC3E}">
        <p14:creationId xmlns:p14="http://schemas.microsoft.com/office/powerpoint/2010/main" val="1754507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0E48F-2E7C-1503-521F-4249ACD294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8945C4-6EFD-B595-DB8D-31E8C18D9018}"/>
              </a:ext>
            </a:extLst>
          </p:cNvPr>
          <p:cNvSpPr>
            <a:spLocks noGrp="1"/>
          </p:cNvSpPr>
          <p:nvPr>
            <p:ph type="title"/>
          </p:nvPr>
        </p:nvSpPr>
        <p:spPr/>
        <p:txBody>
          <a:bodyPr>
            <a:normAutofit/>
          </a:bodyPr>
          <a:lstStyle/>
          <a:p>
            <a:r>
              <a:rPr lang="es-ES">
                <a:latin typeface="Calibri"/>
                <a:ea typeface="Calibri"/>
                <a:cs typeface="Calibri"/>
              </a:rPr>
              <a:t>Instalación y configuración básica. Crear una aplicación </a:t>
            </a:r>
            <a:r>
              <a:rPr lang="es-ES" err="1">
                <a:latin typeface="Calibri"/>
                <a:ea typeface="Calibri"/>
                <a:cs typeface="Calibri"/>
              </a:rPr>
              <a:t>React</a:t>
            </a:r>
            <a:r>
              <a:rPr lang="es-ES">
                <a:latin typeface="Calibri"/>
                <a:ea typeface="Calibri"/>
                <a:cs typeface="Calibri"/>
              </a:rPr>
              <a:t> con vite </a:t>
            </a:r>
            <a:r>
              <a:rPr lang="es-ES">
                <a:solidFill>
                  <a:srgbClr val="92D050"/>
                </a:solidFill>
                <a:latin typeface="Calibri"/>
                <a:ea typeface="Calibri"/>
                <a:cs typeface="Calibri"/>
              </a:rPr>
              <a:t>(Recomendada)</a:t>
            </a:r>
          </a:p>
        </p:txBody>
      </p:sp>
      <p:sp>
        <p:nvSpPr>
          <p:cNvPr id="3" name="Marcador de contenido 2">
            <a:extLst>
              <a:ext uri="{FF2B5EF4-FFF2-40B4-BE49-F238E27FC236}">
                <a16:creationId xmlns:a16="http://schemas.microsoft.com/office/drawing/2014/main" id="{07440BDF-B481-899C-F8F0-340980947AF5}"/>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El segundo paso es crear la aplicación </a:t>
            </a:r>
            <a:r>
              <a:rPr lang="es-ES" err="1">
                <a:latin typeface="Calibri"/>
                <a:ea typeface="Calibri"/>
                <a:cs typeface="Calibri"/>
              </a:rPr>
              <a:t>React</a:t>
            </a:r>
            <a:r>
              <a:rPr lang="es-ES">
                <a:latin typeface="Calibri"/>
                <a:ea typeface="Calibri"/>
                <a:cs typeface="Calibri"/>
              </a:rPr>
              <a:t> con vite y </a:t>
            </a:r>
            <a:r>
              <a:rPr lang="es-ES" err="1">
                <a:latin typeface="Calibri"/>
                <a:ea typeface="Calibri"/>
                <a:cs typeface="Calibri"/>
              </a:rPr>
              <a:t>WebPack</a:t>
            </a:r>
            <a:r>
              <a:rPr lang="es-ES">
                <a:latin typeface="Calibri"/>
                <a:ea typeface="Calibri"/>
                <a:cs typeface="Calibri"/>
              </a:rPr>
              <a:t>. Este paso se realiza en ambos casos desde la terminal, ya sea CMD o una Shell </a:t>
            </a:r>
            <a:r>
              <a:rPr lang="es-ES" err="1">
                <a:latin typeface="Calibri"/>
                <a:ea typeface="Calibri"/>
                <a:cs typeface="Calibri"/>
              </a:rPr>
              <a:t>Bash</a:t>
            </a:r>
            <a:r>
              <a:rPr lang="es-ES">
                <a:latin typeface="Calibri"/>
                <a:ea typeface="Calibri"/>
                <a:cs typeface="Calibri"/>
              </a:rPr>
              <a:t>:</a:t>
            </a:r>
          </a:p>
          <a:p>
            <a:pPr marL="617220" lvl="1">
              <a:buFont typeface="Courier New"/>
              <a:buChar char="o"/>
            </a:pPr>
            <a:r>
              <a:rPr lang="es-ES">
                <a:latin typeface="Calibri"/>
                <a:ea typeface="Calibri"/>
                <a:cs typeface="Calibri"/>
              </a:rPr>
              <a:t>Crear un nuevo proyecto </a:t>
            </a:r>
            <a:r>
              <a:rPr lang="es-ES" err="1">
                <a:latin typeface="Calibri"/>
                <a:ea typeface="Calibri"/>
                <a:cs typeface="Calibri"/>
              </a:rPr>
              <a:t>React</a:t>
            </a:r>
            <a:r>
              <a:rPr lang="es-ES">
                <a:latin typeface="Calibri"/>
                <a:ea typeface="Calibri"/>
                <a:cs typeface="Calibri"/>
              </a:rPr>
              <a:t>:</a:t>
            </a:r>
          </a:p>
          <a:p>
            <a:pPr marL="662940" lvl="3" indent="0">
              <a:buNone/>
            </a:pPr>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create</a:t>
            </a:r>
            <a:r>
              <a:rPr lang="es-ES">
                <a:latin typeface="Consolas"/>
                <a:ea typeface="Calibri"/>
                <a:cs typeface="Calibri"/>
              </a:rPr>
              <a:t> </a:t>
            </a:r>
            <a:r>
              <a:rPr lang="es-ES" err="1">
                <a:latin typeface="Consolas"/>
                <a:ea typeface="Calibri"/>
                <a:cs typeface="Calibri"/>
              </a:rPr>
              <a:t>vite@latest</a:t>
            </a:r>
            <a:endParaRPr lang="es-ES">
              <a:latin typeface="Consolas"/>
              <a:ea typeface="Calibri"/>
              <a:cs typeface="Calibri"/>
            </a:endParaRPr>
          </a:p>
          <a:p>
            <a:pPr marL="617220" lvl="1">
              <a:buFont typeface="Courier New"/>
              <a:buChar char="o"/>
            </a:pPr>
            <a:r>
              <a:rPr lang="es-ES">
                <a:latin typeface="Calibri"/>
                <a:ea typeface="Calibri"/>
                <a:cs typeface="Calibri"/>
              </a:rPr>
              <a:t>Nos aparecerá un asistente que nos pedirá:</a:t>
            </a:r>
          </a:p>
          <a:p>
            <a:pPr marL="891540" lvl="3">
              <a:buFont typeface="Arial,Sans-Serif"/>
              <a:buChar char="•"/>
            </a:pPr>
            <a:r>
              <a:rPr lang="es-ES">
                <a:latin typeface="Calibri"/>
                <a:ea typeface="Calibri"/>
                <a:cs typeface="Calibri"/>
              </a:rPr>
              <a:t>El nombre del proyecto (y el nombre del paquete que pueden ser similares)</a:t>
            </a:r>
            <a:endParaRPr lang="en-US">
              <a:latin typeface="Calibri"/>
              <a:ea typeface="Calibri"/>
              <a:cs typeface="Calibri"/>
            </a:endParaRPr>
          </a:p>
          <a:p>
            <a:pPr marL="891540" lvl="3">
              <a:buFont typeface="Arial,Sans-Serif"/>
              <a:buChar char="•"/>
            </a:pPr>
            <a:r>
              <a:rPr lang="es-ES">
                <a:latin typeface="Calibri"/>
                <a:ea typeface="Calibri"/>
                <a:cs typeface="Calibri"/>
              </a:rPr>
              <a:t>El </a:t>
            </a:r>
            <a:r>
              <a:rPr lang="es-ES" err="1">
                <a:latin typeface="Calibri"/>
                <a:ea typeface="Calibri"/>
                <a:cs typeface="Calibri"/>
              </a:rPr>
              <a:t>framework</a:t>
            </a:r>
            <a:r>
              <a:rPr lang="es-ES">
                <a:latin typeface="Calibri"/>
                <a:ea typeface="Calibri"/>
                <a:cs typeface="Calibri"/>
              </a:rPr>
              <a:t> (elegiremos </a:t>
            </a:r>
            <a:r>
              <a:rPr lang="es-ES" err="1">
                <a:latin typeface="Calibri"/>
                <a:ea typeface="Calibri"/>
                <a:cs typeface="Calibri"/>
              </a:rPr>
              <a:t>React</a:t>
            </a:r>
            <a:r>
              <a:rPr lang="es-ES">
                <a:latin typeface="Calibri"/>
                <a:ea typeface="Calibri"/>
                <a:cs typeface="Calibri"/>
              </a:rPr>
              <a:t>)</a:t>
            </a:r>
            <a:endParaRPr lang="en-US">
              <a:latin typeface="Calibri"/>
              <a:ea typeface="Calibri"/>
              <a:cs typeface="Calibri"/>
            </a:endParaRPr>
          </a:p>
          <a:p>
            <a:pPr marL="891540" lvl="3">
              <a:buFont typeface="Arial,Sans-Serif"/>
              <a:buChar char="•"/>
            </a:pPr>
            <a:r>
              <a:rPr lang="es-ES">
                <a:latin typeface="Calibri"/>
                <a:ea typeface="Calibri"/>
                <a:cs typeface="Calibri"/>
              </a:rPr>
              <a:t>El lenguaje que vamos a utilizar (elegiremos JavaScript)</a:t>
            </a:r>
          </a:p>
          <a:p>
            <a:pPr marL="617220" lvl="1">
              <a:buFont typeface="Courier New"/>
              <a:buChar char="o"/>
            </a:pPr>
            <a:r>
              <a:rPr lang="es-ES" sz="2000">
                <a:solidFill>
                  <a:srgbClr val="000000"/>
                </a:solidFill>
                <a:latin typeface="Calibri"/>
                <a:ea typeface="Calibri"/>
                <a:cs typeface="Calibri"/>
              </a:rPr>
              <a:t>Iniciar el servidor de desarrollo:</a:t>
            </a:r>
            <a:endParaRPr lang="es-ES">
              <a:latin typeface="Calibri"/>
              <a:ea typeface="Calibri"/>
              <a:cs typeface="Calibri"/>
            </a:endParaRPr>
          </a:p>
          <a:p>
            <a:pPr marL="891540" lvl="3">
              <a:buFont typeface="Arial,Sans-Serif"/>
              <a:buChar char="•"/>
            </a:pPr>
            <a:r>
              <a:rPr lang="es-ES" sz="1300">
                <a:latin typeface="Calibri"/>
                <a:ea typeface="Calibri"/>
                <a:cs typeface="Calibri"/>
              </a:rPr>
              <a:t>Entramos en el directorio donde hemos creado el proyecto</a:t>
            </a:r>
            <a:endParaRPr lang="en-US" sz="1300">
              <a:latin typeface="Calibri"/>
              <a:ea typeface="Calibri"/>
              <a:cs typeface="Calibri"/>
            </a:endParaRPr>
          </a:p>
          <a:p>
            <a:pPr marL="662940" lvl="3" indent="0">
              <a:buNone/>
            </a:pPr>
            <a:r>
              <a:rPr lang="es-ES" sz="1300">
                <a:solidFill>
                  <a:srgbClr val="413224"/>
                </a:solidFill>
                <a:latin typeface="Consolas"/>
                <a:ea typeface="Calibri"/>
                <a:cs typeface="Calibri"/>
              </a:rPr>
              <a:t>cd nombre-del-proyecto</a:t>
            </a:r>
          </a:p>
          <a:p>
            <a:pPr marL="891540" lvl="3">
              <a:buFont typeface="Arial"/>
              <a:buChar char="•"/>
            </a:pPr>
            <a:r>
              <a:rPr lang="es-ES">
                <a:latin typeface="Calibri"/>
                <a:ea typeface="Calibri"/>
                <a:cs typeface="Calibri"/>
              </a:rPr>
              <a:t>Instalamos las dependencias</a:t>
            </a:r>
            <a:endParaRPr lang="es-ES" err="1">
              <a:latin typeface="Calibri"/>
              <a:ea typeface="Calibri"/>
              <a:cs typeface="Calibri"/>
            </a:endParaRPr>
          </a:p>
          <a:p>
            <a:pPr marL="662940" lvl="3" indent="0">
              <a:buNone/>
            </a:pPr>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endParaRPr lang="es-ES">
              <a:latin typeface="Consolas"/>
              <a:ea typeface="Calibri"/>
              <a:cs typeface="Calibri"/>
            </a:endParaRPr>
          </a:p>
          <a:p>
            <a:pPr marL="891540" lvl="3">
              <a:buFont typeface="Arial"/>
              <a:buChar char="•"/>
            </a:pPr>
            <a:r>
              <a:rPr lang="es-ES">
                <a:latin typeface="Calibri"/>
                <a:ea typeface="Calibri"/>
                <a:cs typeface="Calibri"/>
              </a:rPr>
              <a:t>Iniciamos el servidor de desarrollo</a:t>
            </a:r>
          </a:p>
          <a:p>
            <a:pPr marL="662940" lvl="3" indent="0">
              <a:buNone/>
            </a:pPr>
            <a:r>
              <a:rPr lang="es-ES" err="1">
                <a:latin typeface="Consolas"/>
                <a:ea typeface="Calibri"/>
                <a:cs typeface="Calibri"/>
              </a:rPr>
              <a:t>npm</a:t>
            </a:r>
            <a:r>
              <a:rPr lang="es-ES">
                <a:latin typeface="Consolas"/>
                <a:ea typeface="Calibri"/>
                <a:cs typeface="Calibri"/>
              </a:rPr>
              <a:t> run </a:t>
            </a:r>
            <a:r>
              <a:rPr lang="es-ES" err="1">
                <a:latin typeface="Consolas"/>
                <a:ea typeface="Calibri"/>
                <a:cs typeface="Calibri"/>
              </a:rPr>
              <a:t>dev</a:t>
            </a:r>
            <a:endParaRPr lang="es-ES">
              <a:latin typeface="Consolas"/>
              <a:ea typeface="Calibri"/>
              <a:cs typeface="Calibri"/>
            </a:endParaRPr>
          </a:p>
          <a:p>
            <a:pPr marL="342900" indent="-342900">
              <a:buFont typeface="Arial"/>
              <a:buChar char="•"/>
            </a:pPr>
            <a:r>
              <a:rPr lang="es-ES">
                <a:latin typeface="Calibri"/>
                <a:ea typeface="Calibri"/>
                <a:cs typeface="Calibri"/>
              </a:rPr>
              <a:t>Abre el navegador y ve a http://localhost:5173 para ver la aplicación básica (El puerto por defecto es el 5173 pero puede cambiar).</a:t>
            </a:r>
          </a:p>
        </p:txBody>
      </p:sp>
    </p:spTree>
    <p:extLst>
      <p:ext uri="{BB962C8B-B14F-4D97-AF65-F5344CB8AC3E}">
        <p14:creationId xmlns:p14="http://schemas.microsoft.com/office/powerpoint/2010/main" val="42016933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10598-C552-7E6E-0051-A1D450A1EA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374D2A-B00E-803B-F92E-4D079AE4CE2B}"/>
              </a:ext>
            </a:extLst>
          </p:cNvPr>
          <p:cNvSpPr>
            <a:spLocks noGrp="1"/>
          </p:cNvSpPr>
          <p:nvPr>
            <p:ph type="title"/>
          </p:nvPr>
        </p:nvSpPr>
        <p:spPr/>
        <p:txBody>
          <a:bodyPr>
            <a:normAutofit/>
          </a:bodyPr>
          <a:lstStyle/>
          <a:p>
            <a:r>
              <a:rPr lang="es-ES">
                <a:latin typeface="Calibri"/>
                <a:ea typeface="Calibri"/>
                <a:cs typeface="Calibri"/>
              </a:rPr>
              <a:t>Instalación y configuración básica. Crear un hola mundo</a:t>
            </a:r>
            <a:endParaRPr lang="es-ES">
              <a:solidFill>
                <a:srgbClr val="92D050"/>
              </a:solidFill>
              <a:latin typeface="Calibri"/>
              <a:ea typeface="Calibri"/>
              <a:cs typeface="Calibri"/>
            </a:endParaRPr>
          </a:p>
        </p:txBody>
      </p:sp>
      <p:sp>
        <p:nvSpPr>
          <p:cNvPr id="3" name="Marcador de contenido 2">
            <a:extLst>
              <a:ext uri="{FF2B5EF4-FFF2-40B4-BE49-F238E27FC236}">
                <a16:creationId xmlns:a16="http://schemas.microsoft.com/office/drawing/2014/main" id="{C9C9208F-EF3F-1B76-CDB1-1E7BFA121F45}"/>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Para comprobar que todo funciona se abre el navegador en localhost en el puerto indicado y se modifica el fichero </a:t>
            </a:r>
            <a:r>
              <a:rPr lang="es-ES" err="1">
                <a:latin typeface="Calibri"/>
                <a:ea typeface="Calibri"/>
                <a:cs typeface="Calibri"/>
              </a:rPr>
              <a:t>src</a:t>
            </a:r>
            <a:r>
              <a:rPr lang="es-ES">
                <a:latin typeface="Calibri"/>
                <a:ea typeface="Calibri"/>
                <a:cs typeface="Calibri"/>
              </a:rPr>
              <a:t>/</a:t>
            </a:r>
            <a:r>
              <a:rPr lang="es-ES" err="1">
                <a:latin typeface="Calibri"/>
                <a:ea typeface="Calibri"/>
                <a:cs typeface="Calibri"/>
              </a:rPr>
              <a:t>App.jsx</a:t>
            </a:r>
            <a:r>
              <a:rPr lang="es-ES">
                <a:latin typeface="Calibri"/>
                <a:ea typeface="Calibri"/>
                <a:cs typeface="Calibri"/>
              </a:rPr>
              <a:t> dejándolo como sigue:</a:t>
            </a:r>
            <a:endParaRPr lang="es-ES" err="1">
              <a:latin typeface="Calibri"/>
              <a:ea typeface="Calibri"/>
              <a:cs typeface="Calibri"/>
            </a:endParaRPr>
          </a:p>
          <a:p>
            <a:r>
              <a:rPr lang="es-ES" err="1">
                <a:latin typeface="Consolas"/>
                <a:ea typeface="+mn-lt"/>
                <a:cs typeface="+mn-lt"/>
              </a:rPr>
              <a:t>import</a:t>
            </a:r>
            <a:r>
              <a:rPr lang="es-ES">
                <a:latin typeface="Consolas"/>
                <a:ea typeface="+mn-lt"/>
                <a:cs typeface="+mn-lt"/>
              </a:rPr>
              <a:t> './App.css';</a:t>
            </a:r>
            <a:br>
              <a:rPr lang="es-ES">
                <a:latin typeface="Consolas"/>
                <a:ea typeface="+mn-lt"/>
                <a:cs typeface="+mn-lt"/>
              </a:rPr>
            </a:br>
            <a:r>
              <a:rPr lang="es-ES" err="1">
                <a:latin typeface="Consolas"/>
                <a:ea typeface="+mn-lt"/>
                <a:cs typeface="+mn-lt"/>
              </a:rPr>
              <a:t>function</a:t>
            </a:r>
            <a:r>
              <a:rPr lang="es-ES">
                <a:latin typeface="Consolas"/>
                <a:ea typeface="+mn-lt"/>
                <a:cs typeface="+mn-lt"/>
              </a:rPr>
              <a:t> App()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 </a:t>
            </a:r>
            <a:r>
              <a:rPr lang="es-ES" err="1">
                <a:latin typeface="Consolas"/>
                <a:ea typeface="+mn-lt"/>
                <a:cs typeface="+mn-lt"/>
              </a:rPr>
              <a:t>className</a:t>
            </a:r>
            <a:r>
              <a:rPr lang="es-ES">
                <a:latin typeface="Consolas"/>
                <a:ea typeface="+mn-lt"/>
                <a:cs typeface="+mn-lt"/>
              </a:rPr>
              <a:t>="App"&gt;</a:t>
            </a:r>
            <a:br>
              <a:rPr lang="es-ES">
                <a:latin typeface="Consolas"/>
                <a:ea typeface="+mn-lt"/>
                <a:cs typeface="+mn-lt"/>
              </a:rPr>
            </a:br>
            <a:r>
              <a:rPr lang="es-ES">
                <a:latin typeface="Consolas"/>
                <a:ea typeface="+mn-lt"/>
                <a:cs typeface="+mn-lt"/>
              </a:rPr>
              <a:t>      &lt;h1&gt;Hola Mundo!!&lt;/h1&gt;</a:t>
            </a:r>
            <a:br>
              <a:rPr lang="es-ES">
                <a:latin typeface="Consolas"/>
                <a:ea typeface="+mn-lt"/>
                <a:cs typeface="+mn-lt"/>
              </a:rPr>
            </a:br>
            <a:r>
              <a:rPr lang="es-ES">
                <a:latin typeface="Consolas"/>
                <a:ea typeface="+mn-lt"/>
                <a:cs typeface="+mn-lt"/>
              </a:rPr>
              <a:t>      &lt;h1&gt;Soy Diego!!&lt;/h1&gt;</a:t>
            </a:r>
            <a:br>
              <a:rPr lang="es-ES">
                <a:latin typeface="Consolas"/>
                <a:ea typeface="+mn-lt"/>
                <a:cs typeface="+mn-lt"/>
              </a:rPr>
            </a:br>
            <a:r>
              <a:rPr lang="es-ES">
                <a:latin typeface="Consolas"/>
                <a:ea typeface="+mn-lt"/>
                <a:cs typeface="+mn-lt"/>
              </a:rPr>
              <a:t>      &lt;p&gt;Y esto es mi primer contacto con </a:t>
            </a:r>
            <a:r>
              <a:rPr lang="es-ES" err="1">
                <a:latin typeface="Consolas"/>
                <a:ea typeface="+mn-lt"/>
                <a:cs typeface="+mn-lt"/>
              </a:rPr>
              <a:t>React</a:t>
            </a:r>
            <a:r>
              <a:rPr lang="es-ES">
                <a:latin typeface="Consolas"/>
                <a:ea typeface="+mn-lt"/>
                <a:cs typeface="+mn-lt"/>
              </a:rPr>
              <a:t>!!&lt;/p&gt;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App;</a:t>
            </a:r>
            <a:endParaRPr lang="es-ES">
              <a:latin typeface="Consolas"/>
            </a:endParaRPr>
          </a:p>
          <a:p>
            <a:pPr marL="342900" indent="-342900">
              <a:buFont typeface="Arial"/>
              <a:buChar char="•"/>
            </a:pPr>
            <a:r>
              <a:rPr lang="es-ES">
                <a:latin typeface="Calibri"/>
                <a:ea typeface="Calibri"/>
                <a:cs typeface="Calibri"/>
              </a:rPr>
              <a:t>Es probable que la disposición, formato, etc. de los componentes no sea la esperada. Esto es por los estilos por defecto. Estos se pueden cambiar en el fichero </a:t>
            </a:r>
            <a:r>
              <a:rPr lang="es-ES" err="1">
                <a:latin typeface="Calibri"/>
                <a:ea typeface="Calibri"/>
                <a:cs typeface="Calibri"/>
              </a:rPr>
              <a:t>src</a:t>
            </a:r>
            <a:r>
              <a:rPr lang="es-ES">
                <a:latin typeface="Calibri"/>
                <a:ea typeface="Calibri"/>
                <a:cs typeface="Calibri"/>
              </a:rPr>
              <a:t>/index.css y en </a:t>
            </a:r>
            <a:r>
              <a:rPr lang="es-ES" err="1">
                <a:latin typeface="Calibri"/>
                <a:ea typeface="Calibri"/>
                <a:cs typeface="Calibri"/>
              </a:rPr>
              <a:t>src</a:t>
            </a:r>
            <a:r>
              <a:rPr lang="es-ES">
                <a:latin typeface="Calibri"/>
                <a:ea typeface="Calibri"/>
                <a:cs typeface="Calibri"/>
              </a:rPr>
              <a:t>/App.css</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239477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531F4-1E28-EE89-48D5-E31040D8D5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2412B19-1027-4C28-BFAD-D68E4D474BD8}"/>
              </a:ext>
            </a:extLst>
          </p:cNvPr>
          <p:cNvSpPr>
            <a:spLocks noGrp="1"/>
          </p:cNvSpPr>
          <p:nvPr>
            <p:ph type="title"/>
          </p:nvPr>
        </p:nvSpPr>
        <p:spPr/>
        <p:txBody>
          <a:bodyPr>
            <a:normAutofit/>
          </a:bodyPr>
          <a:lstStyle/>
          <a:p>
            <a:r>
              <a:rPr lang="es-ES">
                <a:latin typeface="Calibri"/>
                <a:ea typeface="Calibri"/>
                <a:cs typeface="Calibri"/>
              </a:rPr>
              <a:t>Instalación y configuración básica. </a:t>
            </a:r>
            <a:r>
              <a:rPr lang="es-ES">
                <a:latin typeface="Calibri"/>
                <a:ea typeface="+mj-lt"/>
                <a:cs typeface="+mj-lt"/>
              </a:rPr>
              <a:t>Instalación y gestión de dependencias con </a:t>
            </a:r>
            <a:r>
              <a:rPr lang="es-ES" err="1">
                <a:latin typeface="Calibri"/>
                <a:ea typeface="+mj-lt"/>
                <a:cs typeface="+mj-lt"/>
              </a:rPr>
              <a:t>npm</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17EFD130-D96D-A2D9-D774-4F4C43D0CEAE}"/>
              </a:ext>
            </a:extLst>
          </p:cNvPr>
          <p:cNvSpPr>
            <a:spLocks noGrp="1"/>
          </p:cNvSpPr>
          <p:nvPr>
            <p:ph idx="1"/>
          </p:nvPr>
        </p:nvSpPr>
        <p:spPr>
          <a:xfrm>
            <a:off x="1028700" y="2161903"/>
            <a:ext cx="6101751" cy="3969342"/>
          </a:xfrm>
        </p:spPr>
        <p:txBody>
          <a:bodyPr vert="horz" lIns="91440" tIns="45720" rIns="91440" bIns="45720" rtlCol="0" anchor="t">
            <a:normAutofit fontScale="92500"/>
          </a:bodyPr>
          <a:lstStyle/>
          <a:p>
            <a:pPr marL="342900" indent="-342900">
              <a:buFont typeface="Arial"/>
              <a:buChar char="•"/>
            </a:pPr>
            <a:r>
              <a:rPr lang="es-ES" err="1">
                <a:latin typeface="Calibri"/>
                <a:ea typeface="Calibri"/>
                <a:cs typeface="Calibri"/>
              </a:rPr>
              <a:t>npm</a:t>
            </a:r>
            <a:r>
              <a:rPr lang="es-ES">
                <a:latin typeface="Calibri"/>
                <a:ea typeface="Calibri"/>
                <a:cs typeface="Calibri"/>
              </a:rPr>
              <a:t> es el gestor de paquetes oficial para Node.js. Permite instalar, actualizar y gestionar los paquetes (bibliotecas y herramientas) que se vayan a utilizar en el proyecto. </a:t>
            </a:r>
          </a:p>
          <a:p>
            <a:pPr marL="342900" indent="-342900">
              <a:buFont typeface="Arial"/>
              <a:buChar char="•"/>
            </a:pPr>
            <a:r>
              <a:rPr lang="es-ES" err="1">
                <a:latin typeface="Calibri"/>
                <a:ea typeface="Calibri"/>
                <a:cs typeface="Calibri"/>
              </a:rPr>
              <a:t>npm</a:t>
            </a:r>
            <a:r>
              <a:rPr lang="es-ES">
                <a:latin typeface="Calibri"/>
                <a:ea typeface="Calibri"/>
                <a:cs typeface="Calibri"/>
              </a:rPr>
              <a:t> también gestiona las dependencias del proyecto, asegurando que todas las bibliotecas necesarias estén disponibles y actualizadas.</a:t>
            </a:r>
          </a:p>
          <a:p>
            <a:pPr marL="342900" indent="-342900">
              <a:buFont typeface="Arial"/>
              <a:buChar char="•"/>
            </a:pPr>
            <a:r>
              <a:rPr lang="es-ES">
                <a:latin typeface="Calibri"/>
                <a:ea typeface="Calibri"/>
                <a:cs typeface="Calibri"/>
              </a:rPr>
              <a:t>El archivo </a:t>
            </a:r>
            <a:r>
              <a:rPr lang="es-ES" err="1">
                <a:latin typeface="Calibri"/>
                <a:ea typeface="Calibri"/>
                <a:cs typeface="Calibri"/>
              </a:rPr>
              <a:t>package.json</a:t>
            </a:r>
            <a:r>
              <a:rPr lang="es-ES">
                <a:latin typeface="Calibri"/>
                <a:ea typeface="Calibri"/>
                <a:cs typeface="Calibri"/>
              </a:rPr>
              <a:t> es el fichero que gestiona las dependencias en un proyecto de Node.js. Contiene información sobre el proyecto, scripts de </a:t>
            </a:r>
            <a:r>
              <a:rPr lang="es-ES" err="1">
                <a:latin typeface="Calibri"/>
                <a:ea typeface="Calibri"/>
                <a:cs typeface="Calibri"/>
              </a:rPr>
              <a:t>npm</a:t>
            </a:r>
            <a:r>
              <a:rPr lang="es-ES">
                <a:latin typeface="Calibri"/>
                <a:ea typeface="Calibri"/>
                <a:cs typeface="Calibri"/>
              </a:rPr>
              <a:t>, y una lista de dependencias. Adjunto se encuentra un ejemplo:</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
        <p:nvSpPr>
          <p:cNvPr id="5" name="Marcador de contenido 2">
            <a:extLst>
              <a:ext uri="{FF2B5EF4-FFF2-40B4-BE49-F238E27FC236}">
                <a16:creationId xmlns:a16="http://schemas.microsoft.com/office/drawing/2014/main" id="{295A27D0-C34B-E83F-3D1E-DAB8F04AD04A}"/>
              </a:ext>
            </a:extLst>
          </p:cNvPr>
          <p:cNvSpPr txBox="1">
            <a:spLocks/>
          </p:cNvSpPr>
          <p:nvPr/>
        </p:nvSpPr>
        <p:spPr>
          <a:xfrm>
            <a:off x="7406497" y="2012378"/>
            <a:ext cx="3758241" cy="4120304"/>
          </a:xfrm>
          <a:prstGeom prst="rect">
            <a:avLst/>
          </a:prstGeom>
        </p:spPr>
        <p:txBody>
          <a:bodyPr vert="horz" lIns="91440" tIns="45720" rIns="91440" bIns="45720" rtlCol="0" anchor="t">
            <a:normAutofit fontScale="70000" lnSpcReduction="20000"/>
          </a:bodyPr>
          <a:lst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latin typeface="Consolas"/>
                <a:ea typeface="+mn-lt"/>
                <a:cs typeface="+mn-lt"/>
              </a:rPr>
              <a:t>{  "</a:t>
            </a:r>
            <a:r>
              <a:rPr lang="es-ES" err="1">
                <a:latin typeface="Consolas"/>
                <a:ea typeface="+mn-lt"/>
                <a:cs typeface="+mn-lt"/>
              </a:rPr>
              <a:t>name</a:t>
            </a:r>
            <a:r>
              <a:rPr lang="es-ES">
                <a:latin typeface="Consolas"/>
                <a:ea typeface="+mn-lt"/>
                <a:cs typeface="+mn-lt"/>
              </a:rPr>
              <a:t>": "mi-app",</a:t>
            </a:r>
            <a:br>
              <a:rPr lang="es-ES">
                <a:latin typeface="Consolas"/>
                <a:ea typeface="+mn-lt"/>
                <a:cs typeface="+mn-lt"/>
              </a:rPr>
            </a:br>
            <a:r>
              <a:rPr lang="es-ES">
                <a:latin typeface="Consolas"/>
                <a:ea typeface="+mn-lt"/>
                <a:cs typeface="+mn-lt"/>
              </a:rPr>
              <a:t>  "</a:t>
            </a:r>
            <a:r>
              <a:rPr lang="es-ES" err="1">
                <a:latin typeface="Consolas"/>
                <a:ea typeface="+mn-lt"/>
                <a:cs typeface="+mn-lt"/>
              </a:rPr>
              <a:t>version</a:t>
            </a:r>
            <a:r>
              <a:rPr lang="es-ES">
                <a:latin typeface="Consolas"/>
                <a:ea typeface="+mn-lt"/>
                <a:cs typeface="+mn-lt"/>
              </a:rPr>
              <a:t>": "1.0.0",</a:t>
            </a:r>
            <a:br>
              <a:rPr lang="es-ES">
                <a:latin typeface="Consolas"/>
                <a:ea typeface="+mn-lt"/>
                <a:cs typeface="+mn-lt"/>
              </a:rPr>
            </a:br>
            <a:r>
              <a:rPr lang="es-ES">
                <a:latin typeface="Consolas"/>
                <a:ea typeface="+mn-lt"/>
                <a:cs typeface="+mn-lt"/>
              </a:rPr>
              <a:t>  "</a:t>
            </a:r>
            <a:r>
              <a:rPr lang="es-ES" err="1">
                <a:latin typeface="Consolas"/>
                <a:ea typeface="+mn-lt"/>
                <a:cs typeface="+mn-lt"/>
              </a:rPr>
              <a:t>description</a:t>
            </a:r>
            <a:r>
              <a:rPr lang="es-ES">
                <a:latin typeface="Consolas"/>
                <a:ea typeface="+mn-lt"/>
                <a:cs typeface="+mn-lt"/>
              </a:rPr>
              <a:t>": "Aplicación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main</a:t>
            </a:r>
            <a:r>
              <a:rPr lang="es-ES">
                <a:latin typeface="Consolas"/>
                <a:ea typeface="+mn-lt"/>
                <a:cs typeface="+mn-lt"/>
              </a:rPr>
              <a:t>": "index.js",</a:t>
            </a:r>
            <a:br>
              <a:rPr lang="es-ES">
                <a:latin typeface="Consolas"/>
                <a:ea typeface="+mn-lt"/>
                <a:cs typeface="+mn-lt"/>
              </a:rPr>
            </a:br>
            <a:r>
              <a:rPr lang="es-ES">
                <a:latin typeface="Consolas"/>
                <a:ea typeface="+mn-lt"/>
                <a:cs typeface="+mn-lt"/>
              </a:rPr>
              <a:t>  "scripts": {</a:t>
            </a:r>
            <a:br>
              <a:rPr lang="es-ES">
                <a:latin typeface="Consolas"/>
                <a:ea typeface="+mn-lt"/>
                <a:cs typeface="+mn-lt"/>
              </a:rPr>
            </a:br>
            <a:r>
              <a:rPr lang="es-ES">
                <a:latin typeface="Consolas"/>
                <a:ea typeface="+mn-lt"/>
                <a:cs typeface="+mn-lt"/>
              </a:rPr>
              <a:t>    "</a:t>
            </a:r>
            <a:r>
              <a:rPr lang="es-ES" err="1">
                <a:latin typeface="Consolas"/>
                <a:ea typeface="+mn-lt"/>
                <a:cs typeface="+mn-lt"/>
              </a:rPr>
              <a:t>start</a:t>
            </a:r>
            <a:r>
              <a:rPr lang="es-ES">
                <a:latin typeface="Consolas"/>
                <a:ea typeface="+mn-lt"/>
                <a:cs typeface="+mn-lt"/>
              </a:rPr>
              <a:t>": "vite",</a:t>
            </a:r>
            <a:br>
              <a:rPr lang="es-ES">
                <a:latin typeface="Consolas"/>
                <a:ea typeface="+mn-lt"/>
                <a:cs typeface="+mn-lt"/>
              </a:rPr>
            </a:br>
            <a:r>
              <a:rPr lang="es-ES">
                <a:latin typeface="Consolas"/>
                <a:ea typeface="+mn-lt"/>
                <a:cs typeface="+mn-lt"/>
              </a:rPr>
              <a:t>    "</a:t>
            </a:r>
            <a:r>
              <a:rPr lang="es-ES" err="1">
                <a:latin typeface="Consolas"/>
                <a:ea typeface="+mn-lt"/>
                <a:cs typeface="+mn-lt"/>
              </a:rPr>
              <a:t>build</a:t>
            </a:r>
            <a:r>
              <a:rPr lang="es-ES">
                <a:latin typeface="Consolas"/>
                <a:ea typeface="+mn-lt"/>
                <a:cs typeface="+mn-lt"/>
              </a:rPr>
              <a:t>": "vite </a:t>
            </a:r>
            <a:r>
              <a:rPr lang="es-ES" err="1">
                <a:latin typeface="Consolas"/>
                <a:ea typeface="+mn-lt"/>
                <a:cs typeface="+mn-lt"/>
              </a:rPr>
              <a:t>build</a:t>
            </a:r>
            <a:r>
              <a:rPr lang="es-ES">
                <a:latin typeface="Consolas"/>
                <a:ea typeface="+mn-lt"/>
                <a:cs typeface="+mn-lt"/>
              </a:rPr>
              <a:t>",</a:t>
            </a:r>
            <a:br>
              <a:rPr lang="es-ES">
                <a:latin typeface="Consolas"/>
                <a:ea typeface="+mn-lt"/>
                <a:cs typeface="+mn-lt"/>
              </a:rPr>
            </a:br>
            <a:r>
              <a:rPr lang="es-ES">
                <a:latin typeface="Consolas"/>
                <a:ea typeface="+mn-lt"/>
                <a:cs typeface="+mn-lt"/>
              </a:rPr>
              <a:t>    "serve": "vite </a:t>
            </a:r>
            <a:r>
              <a:rPr lang="es-ES" err="1">
                <a:latin typeface="Consolas"/>
                <a:ea typeface="+mn-lt"/>
                <a:cs typeface="+mn-lt"/>
              </a:rPr>
              <a:t>preview</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dependencies</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react</a:t>
            </a:r>
            <a:r>
              <a:rPr lang="es-ES">
                <a:latin typeface="Consolas"/>
                <a:ea typeface="+mn-lt"/>
                <a:cs typeface="+mn-lt"/>
              </a:rPr>
              <a:t>": "^19.1.0",</a:t>
            </a:r>
            <a:br>
              <a:rPr lang="es-ES">
                <a:latin typeface="Consolas"/>
                <a:ea typeface="+mn-lt"/>
                <a:cs typeface="+mn-lt"/>
              </a:rPr>
            </a:br>
            <a:r>
              <a:rPr lang="es-ES">
                <a:latin typeface="Consolas"/>
                <a:ea typeface="+mn-lt"/>
                <a:cs typeface="+mn-lt"/>
              </a:rPr>
              <a:t>    "</a:t>
            </a:r>
            <a:r>
              <a:rPr lang="es-ES" err="1">
                <a:latin typeface="Consolas"/>
                <a:ea typeface="+mn-lt"/>
                <a:cs typeface="+mn-lt"/>
              </a:rPr>
              <a:t>react</a:t>
            </a:r>
            <a:r>
              <a:rPr lang="es-ES">
                <a:latin typeface="Consolas"/>
                <a:ea typeface="+mn-lt"/>
                <a:cs typeface="+mn-lt"/>
              </a:rPr>
              <a:t>-dom": "^19.1.0"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devDependencies</a:t>
            </a:r>
            <a:r>
              <a:rPr lang="es-ES">
                <a:latin typeface="Consolas"/>
                <a:ea typeface="+mn-lt"/>
                <a:cs typeface="+mn-lt"/>
              </a:rPr>
              <a:t>": {</a:t>
            </a:r>
            <a:br>
              <a:rPr lang="es-ES">
                <a:latin typeface="Consolas"/>
                <a:ea typeface="+mn-lt"/>
                <a:cs typeface="+mn-lt"/>
              </a:rPr>
            </a:br>
            <a:r>
              <a:rPr lang="es-ES">
                <a:latin typeface="Consolas"/>
                <a:ea typeface="+mn-lt"/>
                <a:cs typeface="+mn-lt"/>
              </a:rPr>
              <a:t>    "vite": "^6.3.5"</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author</a:t>
            </a:r>
            <a:r>
              <a:rPr lang="es-ES">
                <a:latin typeface="Consolas"/>
                <a:ea typeface="+mn-lt"/>
                <a:cs typeface="+mn-lt"/>
              </a:rPr>
              <a:t>": "Diego J. García",</a:t>
            </a:r>
            <a:br>
              <a:rPr lang="es-ES">
                <a:latin typeface="Consolas"/>
                <a:ea typeface="+mn-lt"/>
                <a:cs typeface="+mn-lt"/>
              </a:rPr>
            </a:br>
            <a:r>
              <a:rPr lang="es-ES">
                <a:latin typeface="Consolas"/>
                <a:ea typeface="+mn-lt"/>
                <a:cs typeface="+mn-lt"/>
              </a:rPr>
              <a:t>  "</a:t>
            </a:r>
            <a:r>
              <a:rPr lang="es-ES" err="1">
                <a:latin typeface="Consolas"/>
                <a:ea typeface="+mn-lt"/>
                <a:cs typeface="+mn-lt"/>
              </a:rPr>
              <a:t>license</a:t>
            </a:r>
            <a:r>
              <a:rPr lang="es-ES">
                <a:latin typeface="Consolas"/>
                <a:ea typeface="+mn-lt"/>
                <a:cs typeface="+mn-lt"/>
              </a:rPr>
              <a:t>": "MIT"</a:t>
            </a:r>
            <a:br>
              <a:rPr lang="es-ES">
                <a:latin typeface="Consolas"/>
                <a:ea typeface="+mn-lt"/>
                <a:cs typeface="+mn-lt"/>
              </a:rPr>
            </a:br>
            <a:r>
              <a:rPr lang="es-ES">
                <a:latin typeface="Consolas"/>
                <a:ea typeface="+mn-lt"/>
                <a:cs typeface="+mn-lt"/>
              </a:rPr>
              <a:t>}</a:t>
            </a:r>
            <a:endParaRPr lang="es-ES">
              <a:latin typeface="Consolas"/>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33829643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89029-6D86-8591-FB0D-FABC5D622E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D9E255-3C9F-C76E-323B-52FAEA0C02FF}"/>
              </a:ext>
            </a:extLst>
          </p:cNvPr>
          <p:cNvSpPr>
            <a:spLocks noGrp="1"/>
          </p:cNvSpPr>
          <p:nvPr>
            <p:ph type="title"/>
          </p:nvPr>
        </p:nvSpPr>
        <p:spPr/>
        <p:txBody>
          <a:bodyPr>
            <a:normAutofit/>
          </a:bodyPr>
          <a:lstStyle/>
          <a:p>
            <a:r>
              <a:rPr lang="es-ES">
                <a:latin typeface="Calibri"/>
                <a:ea typeface="Calibri"/>
                <a:cs typeface="Calibri"/>
              </a:rPr>
              <a:t>Instalación y configuración básica. </a:t>
            </a:r>
            <a:r>
              <a:rPr lang="es-ES">
                <a:latin typeface="Calibri"/>
                <a:ea typeface="+mj-lt"/>
                <a:cs typeface="+mj-lt"/>
              </a:rPr>
              <a:t>Instalación y gestión de dependencias con </a:t>
            </a:r>
            <a:r>
              <a:rPr lang="es-ES" err="1">
                <a:latin typeface="Calibri"/>
                <a:ea typeface="+mj-lt"/>
                <a:cs typeface="+mj-lt"/>
              </a:rPr>
              <a:t>npm</a:t>
            </a:r>
            <a:r>
              <a:rPr lang="es-ES">
                <a:latin typeface="Calibri"/>
                <a:ea typeface="+mj-lt"/>
                <a:cs typeface="+mj-lt"/>
              </a:rPr>
              <a:t>. Comandos básicos de </a:t>
            </a:r>
            <a:r>
              <a:rPr lang="es-ES" err="1">
                <a:latin typeface="Calibri"/>
                <a:ea typeface="+mj-lt"/>
                <a:cs typeface="+mj-lt"/>
              </a:rPr>
              <a:t>npm</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9420470C-C8DC-E815-1CE3-57357B7F12D0}"/>
              </a:ext>
            </a:extLst>
          </p:cNvPr>
          <p:cNvSpPr>
            <a:spLocks noGrp="1"/>
          </p:cNvSpPr>
          <p:nvPr>
            <p:ph idx="1"/>
          </p:nvPr>
        </p:nvSpPr>
        <p:spPr/>
        <p:txBody>
          <a:bodyPr vert="horz" lIns="91440" tIns="45720" rIns="91440" bIns="45720" rtlCol="0" anchor="t">
            <a:normAutofit/>
          </a:bodyPr>
          <a:lstStyle/>
          <a:p>
            <a:pPr marL="285750" indent="-285750">
              <a:buFont typeface="Arial"/>
              <a:buChar char="•"/>
            </a:pPr>
            <a:r>
              <a:rPr lang="es-ES">
                <a:latin typeface="Calibri"/>
                <a:ea typeface="Calibri"/>
                <a:cs typeface="Calibri"/>
              </a:rPr>
              <a:t>Para crear un nuevo archivo </a:t>
            </a:r>
            <a:r>
              <a:rPr lang="es-ES" err="1">
                <a:latin typeface="Calibri"/>
                <a:ea typeface="Calibri"/>
                <a:cs typeface="Calibri"/>
              </a:rPr>
              <a:t>package.json</a:t>
            </a:r>
            <a:r>
              <a:rPr lang="es-ES">
                <a:latin typeface="Calibri"/>
                <a:ea typeface="Calibri"/>
                <a:cs typeface="Calibri"/>
              </a:rPr>
              <a:t>, se utiliza el comando </a:t>
            </a:r>
            <a:r>
              <a:rPr lang="es-ES" err="1">
                <a:latin typeface="Calibri"/>
                <a:ea typeface="Calibri"/>
                <a:cs typeface="Calibri"/>
              </a:rPr>
              <a:t>npm</a:t>
            </a:r>
            <a:r>
              <a:rPr lang="es-ES">
                <a:latin typeface="Calibri"/>
                <a:ea typeface="Calibri"/>
                <a:cs typeface="Calibri"/>
              </a:rPr>
              <a:t> </a:t>
            </a:r>
            <a:r>
              <a:rPr lang="es-ES" err="1">
                <a:latin typeface="Calibri"/>
                <a:ea typeface="Calibri"/>
                <a:cs typeface="Calibri"/>
              </a:rPr>
              <a:t>init</a:t>
            </a:r>
            <a:r>
              <a:rPr lang="es-ES">
                <a:latin typeface="Calibri"/>
                <a:ea typeface="Calibri"/>
                <a:cs typeface="Calibri"/>
              </a:rPr>
              <a:t> y guiará a través de una serie de preguntas para configurar el proyecto. Se puede usar </a:t>
            </a:r>
            <a:r>
              <a:rPr lang="es-ES" err="1">
                <a:latin typeface="Calibri"/>
                <a:ea typeface="Calibri"/>
                <a:cs typeface="Calibri"/>
              </a:rPr>
              <a:t>npm</a:t>
            </a:r>
            <a:r>
              <a:rPr lang="es-ES">
                <a:latin typeface="Calibri"/>
                <a:ea typeface="Calibri"/>
                <a:cs typeface="Calibri"/>
              </a:rPr>
              <a:t> </a:t>
            </a:r>
            <a:r>
              <a:rPr lang="es-ES" err="1">
                <a:latin typeface="Calibri"/>
                <a:ea typeface="Calibri"/>
                <a:cs typeface="Calibri"/>
              </a:rPr>
              <a:t>init</a:t>
            </a:r>
            <a:r>
              <a:rPr lang="es-ES">
                <a:latin typeface="Calibri"/>
                <a:ea typeface="Calibri"/>
                <a:cs typeface="Calibri"/>
              </a:rPr>
              <a:t> -y para aceptar las configuraciones predeterminadas:</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init</a:t>
            </a:r>
            <a:endParaRPr lang="es-ES">
              <a:latin typeface="Consolas"/>
              <a:ea typeface="Calibri"/>
              <a:cs typeface="Calibri"/>
            </a:endParaRPr>
          </a:p>
          <a:p>
            <a:pPr marL="342900" indent="-342900">
              <a:buFont typeface="Arial"/>
              <a:buChar char="•"/>
            </a:pPr>
            <a:r>
              <a:rPr lang="es-ES">
                <a:latin typeface="Calibri"/>
                <a:ea typeface="Calibri"/>
                <a:cs typeface="Calibri"/>
              </a:rPr>
              <a:t>Para instalar una nueva dependencia y añadirla a </a:t>
            </a:r>
            <a:r>
              <a:rPr lang="es-ES" err="1">
                <a:latin typeface="Calibri"/>
                <a:ea typeface="Calibri"/>
                <a:cs typeface="Calibri"/>
              </a:rPr>
              <a:t>package.json</a:t>
            </a:r>
            <a:r>
              <a:rPr lang="es-ES">
                <a:latin typeface="Calibri"/>
                <a:ea typeface="Calibri"/>
                <a:cs typeface="Calibri"/>
              </a:rPr>
              <a:t>, se utiliza el comando:</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nombre-del-paquete</a:t>
            </a:r>
          </a:p>
          <a:p>
            <a:pPr marL="342900" indent="-342900">
              <a:buFont typeface="Arial"/>
              <a:buChar char="•"/>
            </a:pPr>
            <a:r>
              <a:rPr lang="es-ES">
                <a:latin typeface="Calibri"/>
                <a:ea typeface="Calibri"/>
                <a:cs typeface="Calibri"/>
              </a:rPr>
              <a:t>Por ejemplo, para instalar </a:t>
            </a:r>
            <a:r>
              <a:rPr lang="es-ES" err="1">
                <a:latin typeface="Calibri"/>
                <a:ea typeface="Calibri"/>
                <a:cs typeface="Calibri"/>
              </a:rPr>
              <a:t>React</a:t>
            </a:r>
            <a:r>
              <a:rPr lang="es-ES">
                <a:latin typeface="Calibri"/>
                <a:ea typeface="Calibri"/>
                <a:cs typeface="Calibri"/>
              </a:rPr>
              <a:t> se puede utilizar:</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a:t>
            </a:r>
            <a:r>
              <a:rPr lang="es-ES" err="1">
                <a:latin typeface="Consolas"/>
                <a:ea typeface="Calibri"/>
                <a:cs typeface="Calibri"/>
              </a:rPr>
              <a:t>react</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348893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D00F0-0E3B-7BB9-377C-79DB1538A5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7847A7-C69C-BFAE-C107-F5EB835C2B93}"/>
              </a:ext>
            </a:extLst>
          </p:cNvPr>
          <p:cNvSpPr>
            <a:spLocks noGrp="1"/>
          </p:cNvSpPr>
          <p:nvPr>
            <p:ph type="title"/>
          </p:nvPr>
        </p:nvSpPr>
        <p:spPr/>
        <p:txBody>
          <a:bodyPr>
            <a:normAutofit/>
          </a:bodyPr>
          <a:lstStyle/>
          <a:p>
            <a:r>
              <a:rPr lang="es-ES">
                <a:latin typeface="Calibri"/>
                <a:ea typeface="Calibri"/>
                <a:cs typeface="Calibri"/>
              </a:rPr>
              <a:t>Instalación y configuración básica. </a:t>
            </a:r>
            <a:r>
              <a:rPr lang="es-ES">
                <a:latin typeface="Calibri"/>
                <a:ea typeface="+mj-lt"/>
                <a:cs typeface="+mj-lt"/>
              </a:rPr>
              <a:t>Instalación y gestión de dependencias con </a:t>
            </a:r>
            <a:r>
              <a:rPr lang="es-ES" err="1">
                <a:latin typeface="Calibri"/>
                <a:ea typeface="+mj-lt"/>
                <a:cs typeface="+mj-lt"/>
              </a:rPr>
              <a:t>npm</a:t>
            </a:r>
            <a:r>
              <a:rPr lang="es-ES">
                <a:latin typeface="Calibri"/>
                <a:ea typeface="+mj-lt"/>
                <a:cs typeface="+mj-lt"/>
              </a:rPr>
              <a:t>. Comandos básicos de </a:t>
            </a:r>
            <a:r>
              <a:rPr lang="es-ES" err="1">
                <a:latin typeface="Calibri"/>
                <a:ea typeface="+mj-lt"/>
                <a:cs typeface="+mj-lt"/>
              </a:rPr>
              <a:t>npm</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1A9D609B-31B8-90E5-729F-364FCC52242B}"/>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Hay paquetes que solo son necesarios durante el desarrollo pero no en producción. Para instalar estas dependencias se utiliza la opción --</a:t>
            </a:r>
            <a:r>
              <a:rPr lang="es-ES" err="1">
                <a:latin typeface="Calibri"/>
                <a:ea typeface="Calibri"/>
                <a:cs typeface="Calibri"/>
              </a:rPr>
              <a:t>save-dev</a:t>
            </a:r>
            <a:r>
              <a:rPr lang="es-ES">
                <a:latin typeface="Calibri"/>
                <a:ea typeface="Calibri"/>
                <a:cs typeface="Calibri"/>
              </a:rPr>
              <a:t> o, en su versión acortada –D:</a:t>
            </a:r>
            <a:endParaRPr lang="es-ES" err="1">
              <a:ea typeface="+mn-lt"/>
              <a:cs typeface="+mn-lt"/>
            </a:endParaRPr>
          </a:p>
          <a:p>
            <a:r>
              <a:rPr lang="es-ES" err="1">
                <a:latin typeface="Consolas"/>
                <a:ea typeface="+mn-lt"/>
                <a:cs typeface="+mn-lt"/>
              </a:rPr>
              <a:t>npm</a:t>
            </a:r>
            <a:r>
              <a:rPr lang="es-ES">
                <a:latin typeface="Consolas"/>
                <a:ea typeface="+mn-lt"/>
                <a:cs typeface="+mn-lt"/>
              </a:rPr>
              <a:t> </a:t>
            </a:r>
            <a:r>
              <a:rPr lang="es-ES" err="1">
                <a:latin typeface="Consolas"/>
                <a:ea typeface="+mn-lt"/>
                <a:cs typeface="+mn-lt"/>
              </a:rPr>
              <a:t>install</a:t>
            </a:r>
            <a:r>
              <a:rPr lang="es-ES">
                <a:latin typeface="Consolas"/>
                <a:ea typeface="+mn-lt"/>
                <a:cs typeface="+mn-lt"/>
              </a:rPr>
              <a:t> nombre-del-paquete --</a:t>
            </a:r>
            <a:r>
              <a:rPr lang="es-ES" err="1">
                <a:latin typeface="Consolas"/>
                <a:ea typeface="+mn-lt"/>
                <a:cs typeface="+mn-lt"/>
              </a:rPr>
              <a:t>save-dev</a:t>
            </a:r>
            <a:endParaRPr lang="es-ES">
              <a:latin typeface="Consolas"/>
            </a:endParaRPr>
          </a:p>
          <a:p>
            <a:pPr marL="285750" indent="-285750">
              <a:buFont typeface="Arial"/>
              <a:buChar char="•"/>
            </a:pPr>
            <a:r>
              <a:rPr lang="es-ES">
                <a:latin typeface="Calibri"/>
                <a:ea typeface="Calibri"/>
                <a:cs typeface="Calibri"/>
              </a:rPr>
              <a:t>Por ejemplo, para instalar </a:t>
            </a:r>
            <a:r>
              <a:rPr lang="es-ES" err="1">
                <a:latin typeface="Calibri"/>
                <a:ea typeface="Calibri"/>
                <a:cs typeface="Calibri"/>
              </a:rPr>
              <a:t>ESLint</a:t>
            </a:r>
            <a:r>
              <a:rPr lang="es-ES">
                <a:latin typeface="Calibri"/>
                <a:ea typeface="Calibri"/>
                <a:cs typeface="Calibri"/>
              </a:rPr>
              <a:t> y </a:t>
            </a:r>
            <a:r>
              <a:rPr lang="es-ES" err="1">
                <a:latin typeface="Calibri"/>
                <a:ea typeface="Calibri"/>
                <a:cs typeface="Calibri"/>
              </a:rPr>
              <a:t>Prettier</a:t>
            </a:r>
            <a:r>
              <a:rPr lang="es-ES">
                <a:latin typeface="Calibri"/>
                <a:ea typeface="Calibri"/>
                <a:cs typeface="Calibri"/>
              </a:rPr>
              <a:t> se puede utilizar:</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a:t>
            </a:r>
            <a:r>
              <a:rPr lang="es-ES" err="1">
                <a:latin typeface="Consolas"/>
                <a:ea typeface="Calibri"/>
                <a:cs typeface="Calibri"/>
              </a:rPr>
              <a:t>eslint</a:t>
            </a:r>
            <a:r>
              <a:rPr lang="es-ES">
                <a:latin typeface="Consolas"/>
                <a:ea typeface="Calibri"/>
                <a:cs typeface="Calibri"/>
              </a:rPr>
              <a:t> </a:t>
            </a:r>
            <a:r>
              <a:rPr lang="es-ES" err="1">
                <a:latin typeface="Consolas"/>
                <a:ea typeface="Calibri"/>
                <a:cs typeface="Calibri"/>
              </a:rPr>
              <a:t>prettier</a:t>
            </a:r>
            <a:r>
              <a:rPr lang="es-ES">
                <a:latin typeface="Consolas"/>
                <a:ea typeface="Calibri"/>
                <a:cs typeface="Calibri"/>
              </a:rPr>
              <a:t> </a:t>
            </a:r>
            <a:r>
              <a:rPr lang="es-ES" err="1">
                <a:latin typeface="Consolas"/>
                <a:ea typeface="Calibri"/>
                <a:cs typeface="Calibri"/>
              </a:rPr>
              <a:t>eslint</a:t>
            </a:r>
            <a:r>
              <a:rPr lang="es-ES">
                <a:latin typeface="Consolas"/>
                <a:ea typeface="Calibri"/>
                <a:cs typeface="Calibri"/>
              </a:rPr>
              <a:t>-plugin-</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eslint-config-prettier</a:t>
            </a:r>
            <a:r>
              <a:rPr lang="es-ES">
                <a:latin typeface="Consolas"/>
                <a:ea typeface="Calibri"/>
                <a:cs typeface="Calibri"/>
              </a:rPr>
              <a:t> </a:t>
            </a:r>
            <a:r>
              <a:rPr lang="es-ES" err="1">
                <a:latin typeface="Consolas"/>
                <a:ea typeface="Calibri"/>
                <a:cs typeface="Calibri"/>
              </a:rPr>
              <a:t>eslint</a:t>
            </a:r>
            <a:r>
              <a:rPr lang="es-ES">
                <a:latin typeface="Consolas"/>
                <a:ea typeface="Calibri"/>
                <a:cs typeface="Calibri"/>
              </a:rPr>
              <a:t>-plugin-</a:t>
            </a:r>
            <a:r>
              <a:rPr lang="es-ES" err="1">
                <a:latin typeface="Consolas"/>
                <a:ea typeface="Calibri"/>
                <a:cs typeface="Calibri"/>
              </a:rPr>
              <a:t>prettier</a:t>
            </a:r>
            <a:r>
              <a:rPr lang="es-ES">
                <a:latin typeface="Consolas"/>
                <a:ea typeface="Calibri"/>
                <a:cs typeface="Calibri"/>
              </a:rPr>
              <a:t> --</a:t>
            </a:r>
            <a:r>
              <a:rPr lang="es-ES" err="1">
                <a:latin typeface="Consolas"/>
                <a:ea typeface="Calibri"/>
                <a:cs typeface="Calibri"/>
              </a:rPr>
              <a:t>save-dev</a:t>
            </a:r>
          </a:p>
          <a:p>
            <a:pPr marL="342900" indent="-342900">
              <a:buFont typeface="Arial"/>
              <a:buChar char="•"/>
            </a:pPr>
            <a:r>
              <a:rPr lang="es-ES">
                <a:latin typeface="Calibri"/>
                <a:ea typeface="+mn-lt"/>
                <a:cs typeface="+mn-lt"/>
              </a:rPr>
              <a:t>Si se clona un proyecto desde un repositorio y se necesita instalar todas las dependencias listadas en </a:t>
            </a:r>
            <a:r>
              <a:rPr lang="es-ES" err="1">
                <a:latin typeface="Calibri"/>
                <a:ea typeface="+mn-lt"/>
                <a:cs typeface="+mn-lt"/>
              </a:rPr>
              <a:t>package.json</a:t>
            </a:r>
            <a:r>
              <a:rPr lang="es-ES">
                <a:latin typeface="Calibri"/>
                <a:ea typeface="+mn-lt"/>
                <a:cs typeface="+mn-lt"/>
              </a:rPr>
              <a:t>, se utiliza el siguiente comando:</a:t>
            </a:r>
            <a:endParaRPr lang="es-ES">
              <a:latin typeface="Calibri"/>
            </a:endParaRPr>
          </a:p>
          <a:p>
            <a:r>
              <a:rPr lang="es-ES" err="1">
                <a:latin typeface="Consolas"/>
                <a:ea typeface="+mn-lt"/>
                <a:cs typeface="+mn-lt"/>
              </a:rPr>
              <a:t>npm</a:t>
            </a:r>
            <a:r>
              <a:rPr lang="es-ES">
                <a:latin typeface="Consolas"/>
                <a:ea typeface="+mn-lt"/>
                <a:cs typeface="+mn-lt"/>
              </a:rPr>
              <a:t> </a:t>
            </a:r>
            <a:r>
              <a:rPr lang="es-ES" err="1">
                <a:latin typeface="Consolas"/>
                <a:ea typeface="+mn-lt"/>
                <a:cs typeface="+mn-lt"/>
              </a:rPr>
              <a:t>install</a:t>
            </a:r>
            <a:endParaRPr lang="es-ES" err="1">
              <a:latin typeface="Consolas"/>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4669226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58738-96E9-73F9-CAE6-4CD40EAD81F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061820-728B-9768-3D36-66FF556A7721}"/>
              </a:ext>
            </a:extLst>
          </p:cNvPr>
          <p:cNvSpPr>
            <a:spLocks noGrp="1"/>
          </p:cNvSpPr>
          <p:nvPr>
            <p:ph type="title"/>
          </p:nvPr>
        </p:nvSpPr>
        <p:spPr/>
        <p:txBody>
          <a:bodyPr>
            <a:normAutofit/>
          </a:bodyPr>
          <a:lstStyle/>
          <a:p>
            <a:r>
              <a:rPr lang="es-ES">
                <a:latin typeface="Calibri"/>
                <a:ea typeface="Calibri"/>
                <a:cs typeface="Calibri"/>
              </a:rPr>
              <a:t>Instalación y configuración básica. </a:t>
            </a:r>
            <a:r>
              <a:rPr lang="es-ES">
                <a:latin typeface="Calibri"/>
                <a:ea typeface="+mj-lt"/>
                <a:cs typeface="+mj-lt"/>
              </a:rPr>
              <a:t>Instalación y gestión de dependencias con </a:t>
            </a:r>
            <a:r>
              <a:rPr lang="es-ES" err="1">
                <a:latin typeface="Calibri"/>
                <a:ea typeface="+mj-lt"/>
                <a:cs typeface="+mj-lt"/>
              </a:rPr>
              <a:t>npm</a:t>
            </a:r>
            <a:r>
              <a:rPr lang="es-ES">
                <a:latin typeface="Calibri"/>
                <a:ea typeface="+mj-lt"/>
                <a:cs typeface="+mj-lt"/>
              </a:rPr>
              <a:t>. Comandos básicos de </a:t>
            </a:r>
            <a:r>
              <a:rPr lang="es-ES" err="1">
                <a:latin typeface="Calibri"/>
                <a:ea typeface="+mj-lt"/>
                <a:cs typeface="+mj-lt"/>
              </a:rPr>
              <a:t>npm</a:t>
            </a:r>
            <a:endParaRPr lang="es-ES" err="1">
              <a:latin typeface="Calibri"/>
              <a:ea typeface="Calibri"/>
              <a:cs typeface="Calibri"/>
            </a:endParaRPr>
          </a:p>
        </p:txBody>
      </p:sp>
      <p:sp>
        <p:nvSpPr>
          <p:cNvPr id="3" name="Marcador de contenido 2">
            <a:extLst>
              <a:ext uri="{FF2B5EF4-FFF2-40B4-BE49-F238E27FC236}">
                <a16:creationId xmlns:a16="http://schemas.microsoft.com/office/drawing/2014/main" id="{BBDAEC08-4C5E-D238-332B-646FFFABD473}"/>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Para actualizar una dependencia a su última versión, utiliza el siguiente comando:</a:t>
            </a:r>
            <a:endParaRPr lang="es-ES" err="1">
              <a:latin typeface="Calibri"/>
              <a:ea typeface="Calibri"/>
              <a:cs typeface="Calibri"/>
            </a:endParaRP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update</a:t>
            </a:r>
            <a:r>
              <a:rPr lang="es-ES">
                <a:latin typeface="Consolas"/>
                <a:ea typeface="Calibri"/>
                <a:cs typeface="Calibri"/>
              </a:rPr>
              <a:t> nombre-del-paquete</a:t>
            </a:r>
          </a:p>
          <a:p>
            <a:pPr marL="342900" indent="-342900">
              <a:buFont typeface="Arial"/>
              <a:buChar char="•"/>
            </a:pPr>
            <a:r>
              <a:rPr lang="es-ES">
                <a:latin typeface="Calibri"/>
                <a:ea typeface="Calibri"/>
                <a:cs typeface="Calibri"/>
              </a:rPr>
              <a:t>Para eliminar una dependencia y actualizar </a:t>
            </a:r>
            <a:r>
              <a:rPr lang="es-ES" err="1">
                <a:latin typeface="Calibri"/>
                <a:ea typeface="Calibri"/>
                <a:cs typeface="Calibri"/>
              </a:rPr>
              <a:t>package.json</a:t>
            </a:r>
            <a:r>
              <a:rPr lang="es-ES">
                <a:latin typeface="Calibri"/>
                <a:ea typeface="Calibri"/>
                <a:cs typeface="Calibri"/>
              </a:rPr>
              <a:t>, utiliza el siguiente comando:</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uninstall</a:t>
            </a:r>
            <a:r>
              <a:rPr lang="es-ES">
                <a:latin typeface="Consolas"/>
                <a:ea typeface="Calibri"/>
                <a:cs typeface="Calibri"/>
              </a:rPr>
              <a:t> nombre-del-paquete</a:t>
            </a:r>
          </a:p>
          <a:p>
            <a:pPr marL="342900" indent="-342900">
              <a:buFont typeface="Arial"/>
              <a:buChar char="•"/>
            </a:pPr>
            <a:r>
              <a:rPr lang="es-ES">
                <a:latin typeface="Calibri"/>
                <a:ea typeface="Calibri"/>
                <a:cs typeface="Calibri"/>
              </a:rPr>
              <a:t>Para verificar qué paquetes tienen actualizaciones disponibles mostrando las versiones más recientes se utiliza el siguiente comando:</a:t>
            </a:r>
            <a:endParaRPr lang="es-ES" err="1">
              <a:latin typeface="Calibri"/>
              <a:ea typeface="Calibri"/>
              <a:cs typeface="Calibri"/>
            </a:endParaRP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outdated</a:t>
            </a:r>
            <a:endParaRPr lang="es-ES">
              <a:latin typeface="Consolas"/>
              <a:ea typeface="Calibri"/>
              <a:cs typeface="Calibri"/>
            </a:endParaRPr>
          </a:p>
          <a:p>
            <a:pPr marL="342900" indent="-342900">
              <a:buFont typeface="Arial"/>
              <a:buChar char="•"/>
            </a:pPr>
            <a:r>
              <a:rPr lang="es-ES">
                <a:latin typeface="Calibri"/>
                <a:ea typeface="Calibri"/>
                <a:cs typeface="Calibri"/>
              </a:rPr>
              <a:t>Para actualizar todas las dependencias a sus versiones más recientes, se usa:</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update</a:t>
            </a:r>
            <a:endParaRPr lang="es-ES">
              <a:latin typeface="Consolas"/>
              <a:ea typeface="Calibri"/>
              <a:cs typeface="Calibri"/>
            </a:endParaRPr>
          </a:p>
          <a:p>
            <a:pPr marL="342900" indent="-342900">
              <a:buFont typeface="Arial"/>
              <a:buChar char="•"/>
            </a:pPr>
            <a:r>
              <a:rPr lang="es-ES">
                <a:latin typeface="Calibri"/>
                <a:ea typeface="Calibri"/>
                <a:cs typeface="Calibri"/>
              </a:rPr>
              <a:t>Siempre es conveniente probar la aplicación después de actualizar cualquier paquete</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908468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A4B81-A3D7-5E6A-A895-39295747B10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4C7E17-5622-998D-1796-6D8E44703F41}"/>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a:t>
            </a:r>
          </a:p>
        </p:txBody>
      </p:sp>
      <p:sp>
        <p:nvSpPr>
          <p:cNvPr id="3" name="Marcador de contenido 2">
            <a:extLst>
              <a:ext uri="{FF2B5EF4-FFF2-40B4-BE49-F238E27FC236}">
                <a16:creationId xmlns:a16="http://schemas.microsoft.com/office/drawing/2014/main" id="{7B19B1FA-87B5-6C8C-B9F7-B9AEF85322C0}"/>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La estructura de directorios de un proyecto </a:t>
            </a:r>
            <a:r>
              <a:rPr lang="es-ES" err="1">
                <a:latin typeface="Calibri"/>
                <a:ea typeface="Calibri"/>
                <a:cs typeface="Calibri"/>
              </a:rPr>
              <a:t>React</a:t>
            </a:r>
            <a:r>
              <a:rPr lang="es-ES">
                <a:latin typeface="Calibri"/>
                <a:ea typeface="Calibri"/>
                <a:cs typeface="Calibri"/>
              </a:rPr>
              <a:t> puede variar según las preferencias del desarrollador y las necesidades del proyecto, pero hay una estructura de directorios y ficheros común que se utiliza en la mayoría de los proyectos. </a:t>
            </a:r>
          </a:p>
          <a:p>
            <a:pPr marL="342900" indent="-342900">
              <a:buFont typeface="Arial"/>
              <a:buChar char="•"/>
            </a:pPr>
            <a:r>
              <a:rPr lang="es-ES" err="1">
                <a:latin typeface="Calibri"/>
                <a:ea typeface="Calibri"/>
                <a:cs typeface="Calibri"/>
              </a:rPr>
              <a:t>node_modules</a:t>
            </a:r>
            <a:r>
              <a:rPr lang="es-ES">
                <a:latin typeface="Calibri"/>
                <a:ea typeface="Calibri"/>
                <a:cs typeface="Calibri"/>
              </a:rPr>
              <a:t>/ Este directorio contiene todas las dependencias y módulos de Node.js que se instalan a través de </a:t>
            </a:r>
            <a:r>
              <a:rPr lang="es-ES" err="1">
                <a:latin typeface="Calibri"/>
                <a:ea typeface="Calibri"/>
                <a:cs typeface="Calibri"/>
              </a:rPr>
              <a:t>npm</a:t>
            </a:r>
            <a:r>
              <a:rPr lang="es-ES">
                <a:latin typeface="Calibri"/>
                <a:ea typeface="Calibri"/>
                <a:cs typeface="Calibri"/>
              </a:rPr>
              <a:t>. Se generará en el momento en el que se ejecuta el </a:t>
            </a:r>
            <a:r>
              <a:rPr lang="es-ES" err="1">
                <a:latin typeface="Calibri"/>
                <a:ea typeface="Calibri"/>
                <a:cs typeface="Calibri"/>
              </a:rPr>
              <a:t>npm</a:t>
            </a:r>
            <a:r>
              <a:rPr lang="es-ES">
                <a:latin typeface="Calibri"/>
                <a:ea typeface="Calibri"/>
                <a:cs typeface="Calibri"/>
              </a:rPr>
              <a:t> </a:t>
            </a:r>
            <a:r>
              <a:rPr lang="es-ES" err="1">
                <a:latin typeface="Calibri"/>
                <a:ea typeface="Calibri"/>
                <a:cs typeface="Calibri"/>
              </a:rPr>
              <a:t>install</a:t>
            </a:r>
            <a:r>
              <a:rPr lang="es-ES">
                <a:latin typeface="Calibri"/>
                <a:ea typeface="Calibri"/>
                <a:cs typeface="Calibri"/>
              </a:rPr>
              <a:t>. No es necesario modificar nada en esta carpeta salvo en casos muy concretos.</a:t>
            </a:r>
          </a:p>
          <a:p>
            <a:pPr marL="342900" indent="-342900">
              <a:buFont typeface="Arial"/>
              <a:buChar char="•"/>
            </a:pPr>
            <a:r>
              <a:rPr lang="es-ES" err="1">
                <a:latin typeface="Calibri"/>
                <a:ea typeface="Calibri"/>
                <a:cs typeface="Calibri"/>
              </a:rPr>
              <a:t>public</a:t>
            </a:r>
            <a:r>
              <a:rPr lang="es-ES">
                <a:latin typeface="Calibri"/>
                <a:ea typeface="Calibri"/>
                <a:cs typeface="Calibri"/>
              </a:rPr>
              <a:t>/ Este directorio contiene archivos estáticos que no se procesan por </a:t>
            </a:r>
            <a:r>
              <a:rPr lang="es-ES" err="1">
                <a:latin typeface="Calibri"/>
                <a:ea typeface="Calibri"/>
                <a:cs typeface="Calibri"/>
              </a:rPr>
              <a:t>Webpack</a:t>
            </a:r>
            <a:r>
              <a:rPr lang="es-ES">
                <a:latin typeface="Calibri"/>
                <a:ea typeface="Calibri"/>
                <a:cs typeface="Calibri"/>
              </a:rPr>
              <a:t> o Vite. En este directorio se encuentran archivos como</a:t>
            </a:r>
          </a:p>
          <a:p>
            <a:pPr marL="617220" lvl="1">
              <a:buFont typeface="Courier New"/>
              <a:buChar char="o"/>
            </a:pPr>
            <a:r>
              <a:rPr lang="es-ES">
                <a:latin typeface="Calibri"/>
                <a:ea typeface="Calibri"/>
                <a:cs typeface="Calibri"/>
              </a:rPr>
              <a:t>index.html: El archivo HTML principal que se carga cuando se inicia la aplicación.</a:t>
            </a:r>
          </a:p>
          <a:p>
            <a:pPr marL="617220" lvl="1">
              <a:buFont typeface="Courier New"/>
              <a:buChar char="o"/>
            </a:pPr>
            <a:r>
              <a:rPr lang="es-ES">
                <a:latin typeface="Calibri"/>
                <a:ea typeface="Calibri"/>
                <a:cs typeface="Calibri"/>
              </a:rPr>
              <a:t>favicon.ico: El ícono de la aplicación.</a:t>
            </a:r>
          </a:p>
          <a:p>
            <a:pPr marL="617220" lvl="1">
              <a:buFont typeface="Courier New"/>
              <a:buChar char="o"/>
            </a:pPr>
            <a:r>
              <a:rPr lang="es-ES">
                <a:latin typeface="Calibri"/>
                <a:ea typeface="Calibri"/>
                <a:cs typeface="Calibri"/>
              </a:rPr>
              <a:t>Otros archivos estáticos como imágenes, íconos o fuentes.</a:t>
            </a:r>
          </a:p>
          <a:p>
            <a:pPr marL="388620" lvl="1" indent="0">
              <a:buNone/>
            </a:pPr>
            <a:r>
              <a:rPr lang="es-ES">
                <a:latin typeface="Calibri"/>
                <a:ea typeface="Calibri"/>
                <a:cs typeface="Calibri"/>
              </a:rPr>
              <a:t>Cualquier fichero colocado en el directorio </a:t>
            </a:r>
            <a:r>
              <a:rPr lang="es-ES" err="1">
                <a:latin typeface="Calibri"/>
                <a:ea typeface="Calibri"/>
                <a:cs typeface="Calibri"/>
              </a:rPr>
              <a:t>public</a:t>
            </a:r>
            <a:r>
              <a:rPr lang="es-ES">
                <a:latin typeface="Calibri"/>
                <a:ea typeface="Calibri"/>
                <a:cs typeface="Calibri"/>
              </a:rPr>
              <a:t> será accesible desde la raíz de la aplicación.</a:t>
            </a:r>
          </a:p>
        </p:txBody>
      </p:sp>
    </p:spTree>
    <p:extLst>
      <p:ext uri="{BB962C8B-B14F-4D97-AF65-F5344CB8AC3E}">
        <p14:creationId xmlns:p14="http://schemas.microsoft.com/office/powerpoint/2010/main" val="3445427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954FD-CFE2-2FD4-6CFC-19DE7407C7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B06FF8-0BCD-B69C-9F77-3F5954592AC8}"/>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a:t>
            </a:r>
          </a:p>
        </p:txBody>
      </p:sp>
      <p:sp>
        <p:nvSpPr>
          <p:cNvPr id="3" name="Marcador de contenido 2">
            <a:extLst>
              <a:ext uri="{FF2B5EF4-FFF2-40B4-BE49-F238E27FC236}">
                <a16:creationId xmlns:a16="http://schemas.microsoft.com/office/drawing/2014/main" id="{F1D4A987-B262-D335-5FF2-7326A7BAA421}"/>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err="1">
                <a:latin typeface="Calibri"/>
                <a:ea typeface="Calibri"/>
                <a:cs typeface="Calibri"/>
              </a:rPr>
              <a:t>src</a:t>
            </a:r>
            <a:r>
              <a:rPr lang="es-ES">
                <a:latin typeface="Calibri"/>
                <a:ea typeface="Calibri"/>
                <a:cs typeface="Calibri"/>
              </a:rPr>
              <a:t>/ Es el directorio principal donde se encuentra el código fuente de la aplicación. Es en este directorio donde se desarrollará la gran mayoría del código. Contiene ficheros y directorios como:</a:t>
            </a:r>
          </a:p>
          <a:p>
            <a:pPr marL="617220" lvl="1">
              <a:buFont typeface="Courier New"/>
              <a:buChar char="o"/>
            </a:pPr>
            <a:r>
              <a:rPr lang="es-ES">
                <a:latin typeface="Calibri"/>
                <a:ea typeface="Calibri"/>
                <a:cs typeface="Calibri"/>
              </a:rPr>
              <a:t>index.js o </a:t>
            </a:r>
            <a:r>
              <a:rPr lang="es-ES" err="1">
                <a:latin typeface="Calibri"/>
                <a:ea typeface="Calibri"/>
                <a:cs typeface="Calibri"/>
              </a:rPr>
              <a:t>index.jsx</a:t>
            </a:r>
            <a:r>
              <a:rPr lang="es-ES">
                <a:latin typeface="Calibri"/>
                <a:ea typeface="Calibri"/>
                <a:cs typeface="Calibri"/>
              </a:rPr>
              <a:t>: Fichero con el punto de entrada principal de la aplicación. Aquí es donde </a:t>
            </a:r>
            <a:r>
              <a:rPr lang="es-ES" err="1">
                <a:latin typeface="Calibri"/>
                <a:ea typeface="Calibri"/>
                <a:cs typeface="Calibri"/>
              </a:rPr>
              <a:t>React</a:t>
            </a:r>
            <a:r>
              <a:rPr lang="es-ES">
                <a:latin typeface="Calibri"/>
                <a:ea typeface="Calibri"/>
                <a:cs typeface="Calibri"/>
              </a:rPr>
              <a:t> se monta en el DOM.</a:t>
            </a:r>
          </a:p>
          <a:p>
            <a:pPr marL="617220" lvl="1">
              <a:buFont typeface="Courier New"/>
              <a:buChar char="o"/>
            </a:pPr>
            <a:r>
              <a:rPr lang="es-ES">
                <a:latin typeface="Calibri"/>
                <a:ea typeface="Calibri"/>
                <a:cs typeface="Calibri"/>
              </a:rPr>
              <a:t>App.js o </a:t>
            </a:r>
            <a:r>
              <a:rPr lang="es-ES" err="1">
                <a:latin typeface="Calibri"/>
                <a:ea typeface="Calibri"/>
                <a:cs typeface="Calibri"/>
              </a:rPr>
              <a:t>App.jsx</a:t>
            </a:r>
            <a:r>
              <a:rPr lang="es-ES">
                <a:latin typeface="Calibri"/>
                <a:ea typeface="Calibri"/>
                <a:cs typeface="Calibri"/>
              </a:rPr>
              <a:t>: Es el componente principal de la aplicación. Generalmente, este componente contiene la estructura básica de la aplicación. Es el primer componente que se renderiza.</a:t>
            </a:r>
          </a:p>
          <a:p>
            <a:pPr marL="617220" lvl="1">
              <a:buFont typeface="Courier New"/>
              <a:buChar char="o"/>
            </a:pPr>
            <a:r>
              <a:rPr lang="es-ES" err="1">
                <a:latin typeface="Calibri"/>
                <a:ea typeface="Calibri"/>
                <a:cs typeface="Calibri"/>
              </a:rPr>
              <a:t>main.jsx</a:t>
            </a:r>
            <a:r>
              <a:rPr lang="es-ES">
                <a:latin typeface="Calibri"/>
                <a:ea typeface="Calibri"/>
                <a:cs typeface="Calibri"/>
              </a:rPr>
              <a:t>: </a:t>
            </a:r>
            <a:r>
              <a:rPr lang="es-ES">
                <a:latin typeface="Calibri"/>
                <a:ea typeface="+mn-lt"/>
                <a:cs typeface="+mn-lt"/>
              </a:rPr>
              <a:t>Es el punto de entrada a la aplicación. Aquí es donde </a:t>
            </a:r>
            <a:r>
              <a:rPr lang="es-ES" err="1">
                <a:latin typeface="Calibri"/>
                <a:ea typeface="+mn-lt"/>
                <a:cs typeface="+mn-lt"/>
              </a:rPr>
              <a:t>React</a:t>
            </a:r>
            <a:r>
              <a:rPr lang="es-ES">
                <a:latin typeface="Calibri"/>
                <a:ea typeface="+mn-lt"/>
                <a:cs typeface="+mn-lt"/>
              </a:rPr>
              <a:t> se monta en el DOM.</a:t>
            </a:r>
            <a:endParaRPr lang="es-ES">
              <a:latin typeface="Calibri"/>
              <a:ea typeface="Calibri"/>
              <a:cs typeface="Calibri"/>
            </a:endParaRPr>
          </a:p>
          <a:p>
            <a:pPr marL="617220" lvl="2" indent="-228600">
              <a:buFont typeface="Courier New"/>
              <a:buChar char="o"/>
            </a:pPr>
            <a:r>
              <a:rPr lang="es-ES" err="1">
                <a:latin typeface="Calibri"/>
                <a:ea typeface="Calibri"/>
                <a:cs typeface="Calibri"/>
              </a:rPr>
              <a:t>components</a:t>
            </a:r>
            <a:r>
              <a:rPr lang="es-ES">
                <a:latin typeface="Calibri"/>
                <a:ea typeface="Calibri"/>
                <a:cs typeface="Calibri"/>
              </a:rPr>
              <a:t>/: Contiene componentes reutilizables de la aplicación.</a:t>
            </a:r>
          </a:p>
          <a:p>
            <a:pPr marL="617220" lvl="2" indent="-228600">
              <a:buFont typeface="Courier New"/>
              <a:buChar char="o"/>
            </a:pPr>
            <a:r>
              <a:rPr lang="es-ES" err="1">
                <a:latin typeface="Calibri"/>
                <a:ea typeface="Calibri"/>
                <a:cs typeface="Calibri"/>
              </a:rPr>
              <a:t>pages</a:t>
            </a:r>
            <a:r>
              <a:rPr lang="es-ES">
                <a:latin typeface="Calibri"/>
                <a:ea typeface="Calibri"/>
                <a:cs typeface="Calibri"/>
              </a:rPr>
              <a:t>/: Contiene componentes de página que representan diferentes vistas o rutas de la aplicación.</a:t>
            </a:r>
          </a:p>
          <a:p>
            <a:pPr marL="617220" lvl="2" indent="-228600">
              <a:buFont typeface="Courier New"/>
              <a:buChar char="o"/>
            </a:pPr>
            <a:r>
              <a:rPr lang="es-ES" err="1">
                <a:latin typeface="Calibri"/>
                <a:ea typeface="Calibri"/>
                <a:cs typeface="Calibri"/>
              </a:rPr>
              <a:t>assets</a:t>
            </a:r>
            <a:r>
              <a:rPr lang="es-ES">
                <a:latin typeface="Calibri"/>
                <a:ea typeface="Calibri"/>
                <a:cs typeface="Calibri"/>
              </a:rPr>
              <a:t>/: Contiene archivos estáticos como imágenes, estilos CSS, etc.</a:t>
            </a:r>
          </a:p>
          <a:p>
            <a:pPr marL="617220" lvl="2" indent="-228600">
              <a:buFont typeface="Courier New"/>
              <a:buChar char="o"/>
            </a:pPr>
            <a:r>
              <a:rPr lang="es-ES" err="1">
                <a:latin typeface="Calibri"/>
                <a:ea typeface="Calibri"/>
                <a:cs typeface="Calibri"/>
              </a:rPr>
              <a:t>hooks</a:t>
            </a:r>
            <a:r>
              <a:rPr lang="es-ES">
                <a:latin typeface="Calibri"/>
                <a:ea typeface="Calibri"/>
                <a:cs typeface="Calibri"/>
              </a:rPr>
              <a:t>/: Contiene </a:t>
            </a:r>
            <a:r>
              <a:rPr lang="es-ES" err="1">
                <a:latin typeface="Calibri"/>
                <a:ea typeface="Calibri"/>
                <a:cs typeface="Calibri"/>
              </a:rPr>
              <a:t>hooks</a:t>
            </a:r>
            <a:r>
              <a:rPr lang="es-ES">
                <a:latin typeface="Calibri"/>
                <a:ea typeface="Calibri"/>
                <a:cs typeface="Calibri"/>
              </a:rPr>
              <a:t> personalizados.</a:t>
            </a:r>
          </a:p>
          <a:p>
            <a:pPr marL="617220" lvl="2" indent="-228600">
              <a:buFont typeface="Courier New"/>
              <a:buChar char="o"/>
            </a:pPr>
            <a:r>
              <a:rPr lang="es-ES" err="1">
                <a:latin typeface="Calibri"/>
                <a:ea typeface="Calibri"/>
                <a:cs typeface="Calibri"/>
              </a:rPr>
              <a:t>context</a:t>
            </a:r>
            <a:r>
              <a:rPr lang="es-ES">
                <a:latin typeface="Calibri"/>
                <a:ea typeface="Calibri"/>
                <a:cs typeface="Calibri"/>
              </a:rPr>
              <a:t>/: Contiene archivos relacionados con el contexto de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Context</a:t>
            </a:r>
            <a:r>
              <a:rPr lang="es-ES">
                <a:latin typeface="Calibri"/>
                <a:ea typeface="Calibri"/>
                <a:cs typeface="Calibri"/>
              </a:rPr>
              <a:t> API).</a:t>
            </a:r>
          </a:p>
          <a:p>
            <a:pPr marL="617220" lvl="2" indent="-228600">
              <a:buFont typeface="Courier New"/>
              <a:buChar char="o"/>
            </a:pPr>
            <a:r>
              <a:rPr lang="es-ES" err="1">
                <a:latin typeface="Calibri"/>
                <a:ea typeface="Calibri"/>
                <a:cs typeface="Calibri"/>
              </a:rPr>
              <a:t>services</a:t>
            </a:r>
            <a:r>
              <a:rPr lang="es-ES">
                <a:latin typeface="Calibri"/>
                <a:ea typeface="Calibri"/>
                <a:cs typeface="Calibri"/>
              </a:rPr>
              <a:t>/: Contiene archivos relacionados con la lógica de negocio, como llamadas a </a:t>
            </a:r>
            <a:r>
              <a:rPr lang="es-ES" err="1">
                <a:latin typeface="Calibri"/>
                <a:ea typeface="Calibri"/>
                <a:cs typeface="Calibri"/>
              </a:rPr>
              <a:t>APIs</a:t>
            </a:r>
            <a:r>
              <a:rPr lang="es-ES">
                <a:latin typeface="Calibri"/>
                <a:ea typeface="Calibri"/>
                <a:cs typeface="Calibri"/>
              </a:rPr>
              <a:t>.</a:t>
            </a:r>
          </a:p>
        </p:txBody>
      </p:sp>
    </p:spTree>
    <p:extLst>
      <p:ext uri="{BB962C8B-B14F-4D97-AF65-F5344CB8AC3E}">
        <p14:creationId xmlns:p14="http://schemas.microsoft.com/office/powerpoint/2010/main" val="1227450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9E794-760F-B256-ED65-BFD6C637C7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95CEAC-68F4-90AE-E470-6C2D6EC5221A}"/>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 Archivos de Configuración</a:t>
            </a:r>
          </a:p>
        </p:txBody>
      </p:sp>
      <p:sp>
        <p:nvSpPr>
          <p:cNvPr id="3" name="Marcador de contenido 2">
            <a:extLst>
              <a:ext uri="{FF2B5EF4-FFF2-40B4-BE49-F238E27FC236}">
                <a16:creationId xmlns:a16="http://schemas.microsoft.com/office/drawing/2014/main" id="{0E54C093-181C-0C29-F28A-ADFFFACBFCFC}"/>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Los archivos de configuración que </a:t>
            </a:r>
            <a:r>
              <a:rPr lang="es-ES" sz="1900">
                <a:latin typeface="Calibri"/>
                <a:ea typeface="Calibri"/>
                <a:cs typeface="Calibri"/>
              </a:rPr>
              <a:t>contienen configuraciones importantes para el desarrollo y la construcción de la aplicación </a:t>
            </a:r>
            <a:r>
              <a:rPr lang="es-ES">
                <a:latin typeface="Calibri"/>
                <a:ea typeface="Calibri"/>
                <a:cs typeface="Calibri"/>
              </a:rPr>
              <a:t>se encuentran en la raíz del proyecto. Por norma general se encuentran:</a:t>
            </a:r>
          </a:p>
          <a:p>
            <a:pPr marL="617220" lvl="1" indent="-342900">
              <a:buFont typeface="Courier New"/>
              <a:buChar char="o"/>
            </a:pPr>
            <a:r>
              <a:rPr lang="es-ES" err="1">
                <a:latin typeface="Calibri"/>
                <a:ea typeface="Calibri"/>
                <a:cs typeface="Calibri"/>
              </a:rPr>
              <a:t>package.json</a:t>
            </a:r>
            <a:r>
              <a:rPr lang="es-ES">
                <a:latin typeface="Calibri"/>
                <a:ea typeface="Calibri"/>
                <a:cs typeface="Calibri"/>
              </a:rPr>
              <a:t>: Contiene información sobre el proyecto, scripts de </a:t>
            </a:r>
            <a:r>
              <a:rPr lang="es-ES" err="1">
                <a:latin typeface="Calibri"/>
                <a:ea typeface="Calibri"/>
                <a:cs typeface="Calibri"/>
              </a:rPr>
              <a:t>npm</a:t>
            </a:r>
            <a:r>
              <a:rPr lang="es-ES">
                <a:latin typeface="Calibri"/>
                <a:ea typeface="Calibri"/>
                <a:cs typeface="Calibri"/>
              </a:rPr>
              <a:t>, y dependencias.</a:t>
            </a:r>
          </a:p>
          <a:p>
            <a:pPr marL="617220" lvl="1" indent="-342900">
              <a:buFont typeface="Courier New"/>
              <a:buChar char="o"/>
            </a:pPr>
            <a:r>
              <a:rPr lang="es-ES">
                <a:latin typeface="Calibri"/>
                <a:ea typeface="Calibri"/>
                <a:cs typeface="Calibri"/>
              </a:rPr>
              <a:t>vite.config.js o </a:t>
            </a:r>
            <a:r>
              <a:rPr lang="es-ES" err="1">
                <a:latin typeface="Calibri"/>
                <a:ea typeface="Calibri"/>
                <a:cs typeface="Calibri"/>
              </a:rPr>
              <a:t>vite.config.ts</a:t>
            </a:r>
            <a:r>
              <a:rPr lang="es-ES">
                <a:latin typeface="Calibri"/>
                <a:ea typeface="Calibri"/>
                <a:cs typeface="Calibri"/>
              </a:rPr>
              <a:t>: Archivo de configuración de Vite (si se usa Vite).</a:t>
            </a:r>
          </a:p>
          <a:p>
            <a:pPr marL="617220" lvl="1" indent="-342900">
              <a:buFont typeface="Courier New"/>
              <a:buChar char="o"/>
            </a:pPr>
            <a:r>
              <a:rPr lang="es-ES">
                <a:latin typeface="Calibri"/>
                <a:ea typeface="Calibri"/>
                <a:cs typeface="Calibri"/>
              </a:rPr>
              <a:t>webpack.config.js: Archivo de configuración de </a:t>
            </a:r>
            <a:r>
              <a:rPr lang="es-ES" err="1">
                <a:latin typeface="Calibri"/>
                <a:ea typeface="Calibri"/>
                <a:cs typeface="Calibri"/>
              </a:rPr>
              <a:t>Webpack</a:t>
            </a:r>
            <a:r>
              <a:rPr lang="es-ES">
                <a:latin typeface="Calibri"/>
                <a:ea typeface="Calibri"/>
                <a:cs typeface="Calibri"/>
              </a:rPr>
              <a:t> (si se usa </a:t>
            </a:r>
            <a:r>
              <a:rPr lang="es-ES" err="1">
                <a:latin typeface="Calibri"/>
                <a:ea typeface="Calibri"/>
                <a:cs typeface="Calibri"/>
              </a:rPr>
              <a:t>Webpack</a:t>
            </a:r>
            <a:r>
              <a:rPr lang="es-ES">
                <a:latin typeface="Calibri"/>
                <a:ea typeface="Calibri"/>
                <a:cs typeface="Calibri"/>
              </a:rPr>
              <a:t>).</a:t>
            </a:r>
          </a:p>
          <a:p>
            <a:pPr marL="617220" lvl="1" indent="-342900">
              <a:buFont typeface="Courier New"/>
              <a:buChar char="o"/>
            </a:pPr>
            <a:r>
              <a:rPr lang="es-ES">
                <a:latin typeface="Calibri"/>
                <a:ea typeface="Calibri"/>
                <a:cs typeface="Calibri"/>
              </a:rPr>
              <a:t>.</a:t>
            </a:r>
            <a:r>
              <a:rPr lang="es-ES" err="1">
                <a:latin typeface="Calibri"/>
                <a:ea typeface="Calibri"/>
                <a:cs typeface="Calibri"/>
              </a:rPr>
              <a:t>babelrc</a:t>
            </a:r>
            <a:r>
              <a:rPr lang="es-ES">
                <a:latin typeface="Calibri"/>
                <a:ea typeface="Calibri"/>
                <a:cs typeface="Calibri"/>
              </a:rPr>
              <a:t>: Archivo de configuración de Babel.</a:t>
            </a:r>
          </a:p>
          <a:p>
            <a:pPr marL="617220" lvl="1" indent="-342900">
              <a:buFont typeface="Courier New"/>
              <a:buChar char="o"/>
            </a:pPr>
            <a:r>
              <a:rPr lang="es-ES">
                <a:latin typeface="Calibri"/>
                <a:ea typeface="Calibri"/>
                <a:cs typeface="Calibri"/>
              </a:rPr>
              <a:t>.eslintrc.js: Archivo de configuración de </a:t>
            </a:r>
            <a:r>
              <a:rPr lang="es-ES" err="1">
                <a:latin typeface="Calibri"/>
                <a:ea typeface="Calibri"/>
                <a:cs typeface="Calibri"/>
              </a:rPr>
              <a:t>ESLint</a:t>
            </a:r>
            <a:r>
              <a:rPr lang="es-ES">
                <a:latin typeface="Calibri"/>
                <a:ea typeface="Calibri"/>
                <a:cs typeface="Calibri"/>
              </a:rPr>
              <a:t>. (si se usa </a:t>
            </a:r>
            <a:r>
              <a:rPr lang="es-ES" err="1">
                <a:latin typeface="Calibri"/>
                <a:ea typeface="Calibri"/>
                <a:cs typeface="Calibri"/>
              </a:rPr>
              <a:t>ESLint</a:t>
            </a:r>
            <a:r>
              <a:rPr lang="es-ES">
                <a:latin typeface="Calibri"/>
                <a:ea typeface="Calibri"/>
                <a:cs typeface="Calibri"/>
              </a:rPr>
              <a:t>)</a:t>
            </a:r>
          </a:p>
          <a:p>
            <a:pPr marL="617220" lvl="1" indent="-342900">
              <a:buFont typeface="Courier New,monospace"/>
              <a:buChar char="o"/>
            </a:pPr>
            <a:r>
              <a:rPr lang="es-ES">
                <a:latin typeface="Calibri"/>
                <a:ea typeface="Calibri"/>
                <a:cs typeface="Calibri"/>
              </a:rPr>
              <a:t>.</a:t>
            </a:r>
            <a:r>
              <a:rPr lang="es-ES" err="1">
                <a:latin typeface="Calibri"/>
                <a:ea typeface="Calibri"/>
                <a:cs typeface="Calibri"/>
              </a:rPr>
              <a:t>prettierrc</a:t>
            </a:r>
            <a:r>
              <a:rPr lang="es-ES">
                <a:latin typeface="Calibri"/>
                <a:ea typeface="Calibri"/>
                <a:cs typeface="Calibri"/>
              </a:rPr>
              <a:t>: Archivo de configuración de </a:t>
            </a:r>
            <a:r>
              <a:rPr lang="es-ES" err="1">
                <a:latin typeface="Calibri"/>
                <a:ea typeface="Calibri"/>
                <a:cs typeface="Calibri"/>
              </a:rPr>
              <a:t>Prettier</a:t>
            </a:r>
            <a:r>
              <a:rPr lang="es-ES">
                <a:latin typeface="Calibri"/>
                <a:ea typeface="Calibri"/>
                <a:cs typeface="Calibri"/>
              </a:rPr>
              <a:t>.(si se usa </a:t>
            </a:r>
            <a:r>
              <a:rPr lang="es-ES" err="1">
                <a:latin typeface="Calibri"/>
                <a:ea typeface="Calibri"/>
                <a:cs typeface="Calibri"/>
              </a:rPr>
              <a:t>Prettier</a:t>
            </a:r>
            <a:r>
              <a:rPr lang="es-ES">
                <a:latin typeface="Calibri"/>
                <a:ea typeface="Calibri"/>
                <a:cs typeface="Calibri"/>
              </a:rPr>
              <a:t>)</a:t>
            </a:r>
          </a:p>
          <a:p>
            <a:pPr marL="617220" lvl="1" indent="-342900">
              <a:buFont typeface="Courier New,monospace"/>
              <a:buChar char="o"/>
            </a:pPr>
            <a:r>
              <a:rPr lang="es-ES">
                <a:latin typeface="Calibri"/>
                <a:ea typeface="Calibri"/>
                <a:cs typeface="Calibri"/>
              </a:rPr>
              <a:t>.</a:t>
            </a:r>
            <a:r>
              <a:rPr lang="es-ES" err="1">
                <a:latin typeface="Calibri"/>
                <a:ea typeface="Calibri"/>
                <a:cs typeface="Calibri"/>
              </a:rPr>
              <a:t>gitignore</a:t>
            </a:r>
            <a:r>
              <a:rPr lang="es-ES">
                <a:latin typeface="Calibri"/>
                <a:ea typeface="Calibri"/>
                <a:cs typeface="Calibri"/>
              </a:rPr>
              <a:t>: Especifica qué archivos y directorios deben ser ignorados por Git.</a:t>
            </a:r>
          </a:p>
          <a:p>
            <a:endParaRPr lang="es-ES">
              <a:latin typeface="Calibri"/>
              <a:ea typeface="Calibri"/>
              <a:cs typeface="Calibri"/>
            </a:endParaRPr>
          </a:p>
        </p:txBody>
      </p:sp>
    </p:spTree>
    <p:extLst>
      <p:ext uri="{BB962C8B-B14F-4D97-AF65-F5344CB8AC3E}">
        <p14:creationId xmlns:p14="http://schemas.microsoft.com/office/powerpoint/2010/main" val="3010358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4CF44-D0B1-9812-6B31-64555C4BC9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2F2322-F6AF-F877-3BAA-335289EAB520}"/>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 Archivo de configuración vite.config.js</a:t>
            </a:r>
          </a:p>
        </p:txBody>
      </p:sp>
      <p:sp>
        <p:nvSpPr>
          <p:cNvPr id="3" name="Marcador de contenido 2">
            <a:extLst>
              <a:ext uri="{FF2B5EF4-FFF2-40B4-BE49-F238E27FC236}">
                <a16:creationId xmlns:a16="http://schemas.microsoft.com/office/drawing/2014/main" id="{9B023298-4166-44FA-42A1-E4463A44CFB2}"/>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En el archivo de configuración de vite se pueden realizar diferentes configuraciones para determinar el comportamiento de la aplicación. Tiene muchos </a:t>
            </a:r>
            <a:r>
              <a:rPr lang="es-ES" err="1">
                <a:latin typeface="Calibri"/>
                <a:ea typeface="Calibri"/>
                <a:cs typeface="Calibri"/>
              </a:rPr>
              <a:t>plugins</a:t>
            </a:r>
            <a:r>
              <a:rPr lang="es-ES">
                <a:latin typeface="Calibri"/>
                <a:ea typeface="Calibri"/>
                <a:cs typeface="Calibri"/>
              </a:rPr>
              <a:t> que se pueden incluir aquí</a:t>
            </a:r>
            <a:endParaRPr lang="es-ES" sz="1900">
              <a:latin typeface="Calibri"/>
              <a:ea typeface="Calibri"/>
              <a:cs typeface="Calibri"/>
            </a:endParaRP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defineConfig</a:t>
            </a:r>
            <a:r>
              <a:rPr lang="es-ES">
                <a:latin typeface="Consolas"/>
                <a:ea typeface="+mn-lt"/>
                <a:cs typeface="+mn-lt"/>
              </a:rPr>
              <a:t> } </a:t>
            </a:r>
            <a:r>
              <a:rPr lang="es-ES" err="1">
                <a:latin typeface="Consolas"/>
                <a:ea typeface="+mn-lt"/>
                <a:cs typeface="+mn-lt"/>
              </a:rPr>
              <a:t>from</a:t>
            </a:r>
            <a:r>
              <a:rPr lang="es-ES">
                <a:latin typeface="Consolas"/>
                <a:ea typeface="+mn-lt"/>
                <a:cs typeface="+mn-lt"/>
              </a:rPr>
              <a:t> 'vite';</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react</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vitejs</a:t>
            </a:r>
            <a:r>
              <a:rPr lang="es-ES">
                <a:latin typeface="Consolas"/>
                <a:ea typeface="+mn-lt"/>
                <a:cs typeface="+mn-lt"/>
              </a:rPr>
              <a:t>/plugin-</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defineConfig</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plugins</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a:latin typeface="Consolas"/>
                <a:ea typeface="+mn-lt"/>
                <a:cs typeface="+mn-lt"/>
              </a:rPr>
              <a:t>  server: {      //Datos que están por defecto pero se pueden cambiar</a:t>
            </a:r>
            <a:br>
              <a:rPr lang="es-ES">
                <a:latin typeface="Consolas"/>
                <a:ea typeface="+mn-lt"/>
                <a:cs typeface="+mn-lt"/>
              </a:rPr>
            </a:br>
            <a:r>
              <a:rPr lang="es-ES">
                <a:latin typeface="Consolas"/>
                <a:ea typeface="+mn-lt"/>
                <a:cs typeface="+mn-lt"/>
              </a:rPr>
              <a:t>    </a:t>
            </a:r>
            <a:r>
              <a:rPr lang="es-ES" err="1">
                <a:latin typeface="Consolas"/>
                <a:ea typeface="+mn-lt"/>
                <a:cs typeface="+mn-lt"/>
              </a:rPr>
              <a:t>port</a:t>
            </a:r>
            <a:r>
              <a:rPr lang="es-ES">
                <a:latin typeface="Consolas"/>
                <a:ea typeface="+mn-lt"/>
                <a:cs typeface="+mn-lt"/>
              </a:rPr>
              <a:t>: 5173, // Puerto donde se ejecutará el servidor de desarrollo</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build</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outDir</a:t>
            </a:r>
            <a:r>
              <a:rPr lang="es-ES">
                <a:latin typeface="Consolas"/>
                <a:ea typeface="+mn-lt"/>
                <a:cs typeface="+mn-lt"/>
              </a:rPr>
              <a:t>: '</a:t>
            </a:r>
            <a:r>
              <a:rPr lang="es-ES" err="1">
                <a:latin typeface="Consolas"/>
                <a:ea typeface="+mn-lt"/>
                <a:cs typeface="+mn-lt"/>
              </a:rPr>
              <a:t>dist</a:t>
            </a:r>
            <a:r>
              <a:rPr lang="es-ES">
                <a:latin typeface="Consolas"/>
                <a:ea typeface="+mn-lt"/>
                <a:cs typeface="+mn-lt"/>
              </a:rPr>
              <a:t>', // Directorio donde se crea la versión de producción</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endParaRPr lang="es-ES">
              <a:latin typeface="Consolas"/>
            </a:endParaRPr>
          </a:p>
          <a:p>
            <a:endParaRPr lang="es-ES">
              <a:latin typeface="Calibri"/>
              <a:ea typeface="Calibri"/>
              <a:cs typeface="Calibri"/>
            </a:endParaRPr>
          </a:p>
        </p:txBody>
      </p:sp>
    </p:spTree>
    <p:extLst>
      <p:ext uri="{BB962C8B-B14F-4D97-AF65-F5344CB8AC3E}">
        <p14:creationId xmlns:p14="http://schemas.microsoft.com/office/powerpoint/2010/main" val="3360419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98DAB-7E4A-B1ED-8EE5-3799461507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6E5C50-27DE-041D-54F4-9CBF82B21129}"/>
              </a:ext>
            </a:extLst>
          </p:cNvPr>
          <p:cNvSpPr>
            <a:spLocks noGrp="1"/>
          </p:cNvSpPr>
          <p:nvPr>
            <p:ph type="title"/>
          </p:nvPr>
        </p:nvSpPr>
        <p:spPr/>
        <p:txBody>
          <a:bodyPr>
            <a:normAutofit/>
          </a:bodyPr>
          <a:lstStyle/>
          <a:p>
            <a:r>
              <a:rPr lang="es-ES">
                <a:latin typeface="Calibri"/>
                <a:ea typeface="Calibri"/>
                <a:cs typeface="Calibri"/>
              </a:rPr>
              <a:t>Estructura del proyecto creado en el </a:t>
            </a:r>
            <a:r>
              <a:rPr lang="es-ES" err="1">
                <a:latin typeface="Calibri"/>
                <a:ea typeface="Calibri"/>
                <a:cs typeface="Calibri"/>
              </a:rPr>
              <a:t>framework</a:t>
            </a:r>
            <a:r>
              <a:rPr lang="es-ES">
                <a:latin typeface="Calibri"/>
                <a:ea typeface="Calibri"/>
                <a:cs typeface="Calibri"/>
              </a:rPr>
              <a:t> cliente. Separación de componentes en directorios.</a:t>
            </a:r>
          </a:p>
        </p:txBody>
      </p:sp>
      <p:sp>
        <p:nvSpPr>
          <p:cNvPr id="3" name="Marcador de contenido 2">
            <a:extLst>
              <a:ext uri="{FF2B5EF4-FFF2-40B4-BE49-F238E27FC236}">
                <a16:creationId xmlns:a16="http://schemas.microsoft.com/office/drawing/2014/main" id="{80D1D3DA-E169-3630-C694-0020F2132CA2}"/>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Los componentes en </a:t>
            </a:r>
            <a:r>
              <a:rPr lang="es-ES" err="1">
                <a:latin typeface="Calibri"/>
                <a:ea typeface="Calibri"/>
                <a:cs typeface="Calibri"/>
              </a:rPr>
              <a:t>React</a:t>
            </a:r>
            <a:r>
              <a:rPr lang="es-ES">
                <a:latin typeface="Calibri"/>
                <a:ea typeface="Calibri"/>
                <a:cs typeface="Calibri"/>
              </a:rPr>
              <a:t> se implementan, normalmente, en varios ficheros. Separar los componentes y los archivos que los implementan en distintos directorios es una práctica recomendada para organizar el proyecto </a:t>
            </a:r>
            <a:r>
              <a:rPr lang="es-ES" err="1">
                <a:latin typeface="Calibri"/>
                <a:ea typeface="Calibri"/>
                <a:cs typeface="Calibri"/>
              </a:rPr>
              <a:t>React</a:t>
            </a:r>
            <a:r>
              <a:rPr lang="es-ES">
                <a:latin typeface="Calibri"/>
                <a:ea typeface="Calibri"/>
                <a:cs typeface="Calibri"/>
              </a:rPr>
              <a:t> y que sea fácil de mantener. </a:t>
            </a:r>
          </a:p>
          <a:p>
            <a:pPr marL="342900" indent="-342900">
              <a:buFont typeface="Arial"/>
              <a:buChar char="•"/>
            </a:pPr>
            <a:r>
              <a:rPr lang="es-ES">
                <a:latin typeface="Calibri"/>
                <a:ea typeface="Calibri"/>
                <a:cs typeface="Calibri"/>
              </a:rPr>
              <a:t>Una buena práctica puede ser crear un directorio para cada componente de forma que, este directorio, contenga el archivo del componente, su archivo de estilos y cualquier archivo de prueba o de otro tipo que tenga asociado. Por ejemplo, si tenemos un componente que define el </a:t>
            </a:r>
            <a:r>
              <a:rPr lang="es-ES" err="1">
                <a:latin typeface="Calibri"/>
                <a:ea typeface="Calibri"/>
                <a:cs typeface="Calibri"/>
              </a:rPr>
              <a:t>Header</a:t>
            </a:r>
            <a:r>
              <a:rPr lang="es-ES">
                <a:latin typeface="Calibri"/>
                <a:ea typeface="Calibri"/>
                <a:cs typeface="Calibri"/>
              </a:rPr>
              <a:t> de nuestra aplicación, donde el fichero </a:t>
            </a:r>
            <a:r>
              <a:rPr lang="es-ES" err="1">
                <a:latin typeface="Calibri"/>
                <a:ea typeface="Calibri"/>
                <a:cs typeface="Calibri"/>
              </a:rPr>
              <a:t>jsx</a:t>
            </a:r>
            <a:r>
              <a:rPr lang="es-ES">
                <a:latin typeface="Calibri"/>
                <a:ea typeface="Calibri"/>
                <a:cs typeface="Calibri"/>
              </a:rPr>
              <a:t> es el archivo principal del componente, Header.css los estilos asociados y Header.test.js su fichero de pruebas, se puede crear siguiendo la siguiente estructura:</a:t>
            </a:r>
          </a:p>
          <a:p>
            <a:pPr marL="617220" lvl="1" indent="-342900">
              <a:buFont typeface="Courier New"/>
              <a:buChar char="o"/>
            </a:pPr>
            <a:r>
              <a:rPr lang="es-ES" err="1">
                <a:latin typeface="Consolas"/>
                <a:ea typeface="Calibri"/>
                <a:cs typeface="Calibri"/>
              </a:rPr>
              <a:t>Components</a:t>
            </a:r>
            <a:r>
              <a:rPr lang="es-ES">
                <a:latin typeface="Consolas"/>
                <a:ea typeface="Calibri"/>
                <a:cs typeface="Calibri"/>
              </a:rPr>
              <a:t>/</a:t>
            </a:r>
          </a:p>
          <a:p>
            <a:pPr marL="674370" lvl="2" indent="-285750">
              <a:buFont typeface="Arial"/>
              <a:buChar char="•"/>
            </a:pPr>
            <a:r>
              <a:rPr lang="es-ES" err="1">
                <a:latin typeface="Consolas"/>
                <a:ea typeface="Calibri"/>
                <a:cs typeface="Calibri"/>
              </a:rPr>
              <a:t>Header</a:t>
            </a:r>
            <a:r>
              <a:rPr lang="es-ES">
                <a:latin typeface="Consolas"/>
                <a:ea typeface="Calibri"/>
                <a:cs typeface="Calibri"/>
              </a:rPr>
              <a:t>/</a:t>
            </a:r>
            <a:endParaRPr lang="es-ES"/>
          </a:p>
          <a:p>
            <a:pPr marL="948690" lvl="3" indent="-285750">
              <a:buFont typeface="Arial"/>
              <a:buChar char="•"/>
            </a:pPr>
            <a:r>
              <a:rPr lang="es-ES" err="1">
                <a:latin typeface="Consolas"/>
                <a:ea typeface="Calibri"/>
                <a:cs typeface="Calibri"/>
              </a:rPr>
              <a:t>Header.jsx</a:t>
            </a:r>
            <a:endParaRPr lang="es-ES">
              <a:latin typeface="Consolas"/>
              <a:ea typeface="Calibri"/>
              <a:cs typeface="Calibri"/>
            </a:endParaRPr>
          </a:p>
          <a:p>
            <a:pPr marL="948690" lvl="3" indent="-285750">
              <a:buFont typeface="Arial"/>
              <a:buChar char="•"/>
            </a:pPr>
            <a:r>
              <a:rPr lang="es-ES">
                <a:latin typeface="Consolas"/>
                <a:ea typeface="Calibri"/>
                <a:cs typeface="Calibri"/>
              </a:rPr>
              <a:t>Header.css</a:t>
            </a:r>
          </a:p>
          <a:p>
            <a:pPr marL="948690" lvl="3" indent="-285750">
              <a:buFont typeface="Arial"/>
              <a:buChar char="•"/>
            </a:pPr>
            <a:r>
              <a:rPr lang="es-ES">
                <a:latin typeface="Consolas"/>
                <a:ea typeface="Calibri"/>
                <a:cs typeface="Calibri"/>
              </a:rPr>
              <a:t>Header.test.js</a:t>
            </a:r>
          </a:p>
          <a:p>
            <a:endParaRPr lang="es-ES">
              <a:latin typeface="Calibri"/>
              <a:ea typeface="Calibri"/>
              <a:cs typeface="Calibri"/>
            </a:endParaRPr>
          </a:p>
        </p:txBody>
      </p:sp>
    </p:spTree>
    <p:extLst>
      <p:ext uri="{BB962C8B-B14F-4D97-AF65-F5344CB8AC3E}">
        <p14:creationId xmlns:p14="http://schemas.microsoft.com/office/powerpoint/2010/main" val="21068373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0BE145-DF78-E713-F5C2-63529B13DBAD}"/>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Diferencia entre componentes funcionales y de clase.</a:t>
            </a:r>
          </a:p>
        </p:txBody>
      </p:sp>
      <p:sp>
        <p:nvSpPr>
          <p:cNvPr id="3" name="Marcador de contenido 2">
            <a:extLst>
              <a:ext uri="{FF2B5EF4-FFF2-40B4-BE49-F238E27FC236}">
                <a16:creationId xmlns:a16="http://schemas.microsoft.com/office/drawing/2014/main" id="{1DBD59B1-7120-545C-560A-72C6F973F265}"/>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Los componentes son las unidades fundamentales de construcción en muchas bibliotecas y </a:t>
            </a:r>
            <a:r>
              <a:rPr lang="es-ES" err="1">
                <a:latin typeface="Calibri"/>
                <a:ea typeface="Calibri"/>
                <a:cs typeface="Calibri"/>
              </a:rPr>
              <a:t>frameworks</a:t>
            </a:r>
            <a:r>
              <a:rPr lang="es-ES">
                <a:latin typeface="Calibri"/>
                <a:ea typeface="Calibri"/>
                <a:cs typeface="Calibri"/>
              </a:rPr>
              <a:t> de desarrollo de interfaces de usuario, como </a:t>
            </a:r>
            <a:r>
              <a:rPr lang="es-ES" err="1">
                <a:latin typeface="Calibri"/>
                <a:ea typeface="Calibri"/>
                <a:cs typeface="Calibri"/>
              </a:rPr>
              <a:t>React</a:t>
            </a:r>
            <a:r>
              <a:rPr lang="es-ES">
                <a:latin typeface="Calibri"/>
                <a:ea typeface="Calibri"/>
                <a:cs typeface="Calibri"/>
              </a:rPr>
              <a:t>. </a:t>
            </a:r>
          </a:p>
          <a:p>
            <a:pPr marL="342900" indent="-342900">
              <a:buFont typeface="Arial"/>
              <a:buChar char="•"/>
            </a:pPr>
            <a:r>
              <a:rPr lang="es-ES">
                <a:latin typeface="Calibri"/>
                <a:ea typeface="Calibri"/>
                <a:cs typeface="Calibri"/>
              </a:rPr>
              <a:t>Cada componente representa una parte de la interfaz de usuario (UI) y puede ser tan simple como un botón o tan complejo como una página completa.</a:t>
            </a:r>
          </a:p>
          <a:p>
            <a:pPr marL="342900" indent="-342900">
              <a:buFont typeface="Arial"/>
              <a:buChar char="•"/>
            </a:pPr>
            <a:r>
              <a:rPr lang="es-ES">
                <a:latin typeface="Calibri"/>
                <a:ea typeface="Calibri"/>
                <a:cs typeface="Calibri"/>
              </a:rPr>
              <a:t>En la práctica, un componente es una función o una clase de JavaScript que devuelve una descripción de lo que se pretende mostrar en pantalla. Esta descripción se suele expresar en JSX, una sintaxis que mezcla JavaScript y HTML. </a:t>
            </a:r>
          </a:p>
          <a:p>
            <a:pPr marL="342900" indent="-342900">
              <a:buFont typeface="Arial"/>
              <a:buChar char="•"/>
            </a:pPr>
            <a:r>
              <a:rPr lang="es-ES">
                <a:latin typeface="Calibri"/>
                <a:ea typeface="Calibri"/>
                <a:cs typeface="Calibri"/>
              </a:rPr>
              <a:t>Algunas ventajas de utilizar componentes son:</a:t>
            </a:r>
            <a:endParaRPr lang="es-ES"/>
          </a:p>
          <a:p>
            <a:pPr marL="617220" lvl="1">
              <a:buFont typeface="Courier New"/>
              <a:buChar char="o"/>
            </a:pPr>
            <a:r>
              <a:rPr lang="es-ES">
                <a:latin typeface="Calibri"/>
                <a:ea typeface="Calibri"/>
                <a:cs typeface="Calibri"/>
              </a:rPr>
              <a:t>Se pueden reutilizar en diferentes partes de la aplicación, reduciendo duplicación de código.</a:t>
            </a:r>
          </a:p>
          <a:p>
            <a:pPr marL="617220" lvl="1">
              <a:buFont typeface="Courier New"/>
              <a:buChar char="o"/>
            </a:pPr>
            <a:r>
              <a:rPr lang="es-ES">
                <a:latin typeface="Calibri"/>
                <a:ea typeface="Calibri"/>
                <a:cs typeface="Calibri"/>
              </a:rPr>
              <a:t>Permiten dividir la interfaz de usuario en partes más pequeñas y manejables.</a:t>
            </a:r>
          </a:p>
          <a:p>
            <a:pPr marL="617220" lvl="1">
              <a:buFont typeface="Courier New"/>
              <a:buChar char="o"/>
            </a:pPr>
            <a:r>
              <a:rPr lang="es-ES">
                <a:latin typeface="Calibri"/>
                <a:ea typeface="Calibri"/>
                <a:cs typeface="Calibri"/>
              </a:rPr>
              <a:t>Facilitan la actualización y el mantenimiento de tu código.</a:t>
            </a:r>
          </a:p>
          <a:p>
            <a:pPr marL="617220" lvl="1">
              <a:buFont typeface="Courier New"/>
              <a:buChar char="o"/>
            </a:pPr>
            <a:r>
              <a:rPr lang="es-ES">
                <a:latin typeface="Calibri"/>
                <a:ea typeface="Calibri"/>
                <a:cs typeface="Calibri"/>
              </a:rPr>
              <a:t>Hacen que el código sea más fácil de leer y entender.</a:t>
            </a:r>
          </a:p>
        </p:txBody>
      </p:sp>
    </p:spTree>
    <p:extLst>
      <p:ext uri="{BB962C8B-B14F-4D97-AF65-F5344CB8AC3E}">
        <p14:creationId xmlns:p14="http://schemas.microsoft.com/office/powerpoint/2010/main" val="1466123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72099-B528-F6F7-00BC-BCDC71C0C9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406348-9B8E-BD17-5757-978BB45438E5}"/>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Diferencia entre componentes funcionales y de clase.</a:t>
            </a:r>
          </a:p>
        </p:txBody>
      </p:sp>
      <p:sp>
        <p:nvSpPr>
          <p:cNvPr id="3" name="Marcador de contenido 2">
            <a:extLst>
              <a:ext uri="{FF2B5EF4-FFF2-40B4-BE49-F238E27FC236}">
                <a16:creationId xmlns:a16="http://schemas.microsoft.com/office/drawing/2014/main" id="{E2A61DD9-5843-2AB9-7BBA-EF3BE5759789}"/>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Existen dos formas de diseñar componentes, produciendo componentes funcionales o de clase.</a:t>
            </a:r>
          </a:p>
          <a:p>
            <a:pPr marL="342900" indent="-342900">
              <a:buFont typeface="Arial"/>
              <a:buChar char="•"/>
            </a:pPr>
            <a:r>
              <a:rPr lang="es-ES">
                <a:latin typeface="Calibri"/>
                <a:ea typeface="Calibri"/>
                <a:cs typeface="Calibri"/>
              </a:rPr>
              <a:t>Los componentes funcionales son </a:t>
            </a:r>
            <a:r>
              <a:rPr lang="es-ES">
                <a:latin typeface="Calibri"/>
                <a:ea typeface="+mn-lt"/>
                <a:cs typeface="+mn-lt"/>
              </a:rPr>
              <a:t>la forma moderna y recomendada de crear componentes en </a:t>
            </a:r>
            <a:r>
              <a:rPr lang="es-ES" err="1">
                <a:latin typeface="Calibri"/>
                <a:ea typeface="+mn-lt"/>
                <a:cs typeface="+mn-lt"/>
              </a:rPr>
              <a:t>React</a:t>
            </a:r>
            <a:r>
              <a:rPr lang="es-ES">
                <a:latin typeface="Calibri"/>
                <a:ea typeface="+mn-lt"/>
                <a:cs typeface="+mn-lt"/>
              </a:rPr>
              <a:t>. Son funciones de JavaScript que devuelven JSX, lo que describe qué debe mostrarse en la interfaz de usuario.</a:t>
            </a:r>
          </a:p>
          <a:p>
            <a:pPr marL="342900" indent="-342900">
              <a:buFont typeface="Arial"/>
              <a:buChar char="•"/>
            </a:pPr>
            <a:r>
              <a:rPr lang="es-ES">
                <a:latin typeface="Calibri"/>
                <a:ea typeface="Calibri"/>
                <a:cs typeface="Calibri"/>
              </a:rPr>
              <a:t>También permiten el uso de </a:t>
            </a:r>
            <a:r>
              <a:rPr lang="es-ES" err="1">
                <a:latin typeface="Calibri"/>
                <a:ea typeface="Calibri"/>
                <a:cs typeface="Calibri"/>
              </a:rPr>
              <a:t>hooks</a:t>
            </a:r>
            <a:r>
              <a:rPr lang="es-ES">
                <a:latin typeface="Calibri"/>
                <a:ea typeface="Calibri"/>
                <a:cs typeface="Calibri"/>
              </a:rPr>
              <a:t> como </a:t>
            </a:r>
            <a:r>
              <a:rPr lang="es-ES" err="1">
                <a:latin typeface="Calibri"/>
                <a:ea typeface="Calibri"/>
                <a:cs typeface="Calibri"/>
              </a:rPr>
              <a:t>useState</a:t>
            </a:r>
            <a:r>
              <a:rPr lang="es-ES">
                <a:latin typeface="Calibri"/>
                <a:ea typeface="Calibri"/>
                <a:cs typeface="Calibri"/>
              </a:rPr>
              <a:t> o </a:t>
            </a:r>
            <a:r>
              <a:rPr lang="es-ES" err="1">
                <a:latin typeface="Calibri"/>
                <a:ea typeface="Calibri"/>
                <a:cs typeface="Calibri"/>
              </a:rPr>
              <a:t>useEffect</a:t>
            </a:r>
            <a:r>
              <a:rPr lang="es-ES">
                <a:latin typeface="Calibri"/>
                <a:ea typeface="Calibri"/>
                <a:cs typeface="Calibri"/>
              </a:rPr>
              <a:t> para manejar el estado, los efectos secundarios, controlar el ciclo de vida del componente, entre otros.</a:t>
            </a:r>
          </a:p>
          <a:p>
            <a:pPr marL="342900" indent="-342900">
              <a:buFont typeface="Arial"/>
              <a:buChar char="•"/>
            </a:pPr>
            <a:r>
              <a:rPr lang="es-ES">
                <a:latin typeface="Calibri"/>
                <a:ea typeface="Calibri"/>
                <a:cs typeface="Calibri"/>
              </a:rPr>
              <a:t>Su principal ventaja es que son más simples y fáciles de leer, tienen mejor rendimiento y permiten utilizar </a:t>
            </a:r>
            <a:r>
              <a:rPr lang="es-ES" err="1">
                <a:latin typeface="Calibri"/>
                <a:ea typeface="Calibri"/>
                <a:cs typeface="Calibri"/>
              </a:rPr>
              <a:t>hooks</a:t>
            </a:r>
            <a:r>
              <a:rPr lang="es-ES">
                <a:latin typeface="Calibri"/>
                <a:ea typeface="Calibri"/>
                <a:cs typeface="Calibri"/>
              </a:rPr>
              <a:t>.</a:t>
            </a:r>
          </a:p>
          <a:p>
            <a:r>
              <a:rPr lang="es-ES" err="1">
                <a:latin typeface="Consolas"/>
                <a:ea typeface="+mn-lt"/>
                <a:cs typeface="+mn-lt"/>
              </a:rPr>
              <a:t>import</a:t>
            </a:r>
            <a:r>
              <a:rPr lang="es-ES">
                <a:latin typeface="Consolas"/>
                <a:ea typeface="+mn-lt"/>
                <a:cs typeface="+mn-lt"/>
              </a:rPr>
              <a:t> </a:t>
            </a:r>
            <a:r>
              <a:rPr lang="es-ES" err="1">
                <a:latin typeface="Consolas"/>
                <a:ea typeface="+mn-lt"/>
                <a:cs typeface="+mn-lt"/>
              </a:rPr>
              <a:t>React</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n-US">
                <a:latin typeface="Consolas"/>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ComponenteFuncional</a:t>
            </a:r>
            <a:r>
              <a:rPr lang="es-ES">
                <a:latin typeface="Consolas"/>
                <a:ea typeface="+mn-lt"/>
                <a:cs typeface="+mn-lt"/>
              </a:rPr>
              <a:t>(</a:t>
            </a:r>
            <a:r>
              <a:rPr lang="es-ES" err="1">
                <a:latin typeface="Consolas"/>
                <a:ea typeface="+mn-lt"/>
                <a:cs typeface="+mn-lt"/>
              </a:rPr>
              <a:t>props</a:t>
            </a:r>
            <a:r>
              <a:rPr lang="es-ES">
                <a:latin typeface="Consolas"/>
                <a:ea typeface="+mn-lt"/>
                <a:cs typeface="+mn-lt"/>
              </a:rPr>
              <a:t>) {</a:t>
            </a:r>
            <a:br>
              <a:rPr lang="es-ES">
                <a:latin typeface="Consolas"/>
                <a:ea typeface="+mn-lt"/>
                <a:cs typeface="+mn-lt"/>
              </a:rPr>
            </a:br>
            <a:r>
              <a:rPr lang="es-ES">
                <a:latin typeface="Consolas"/>
                <a:ea typeface="+mn-lt"/>
                <a:cs typeface="+mn-lt"/>
              </a:rPr>
              <a:t>  // Lógica del componente (manejo de estado, ciclo de vida, </a:t>
            </a:r>
            <a:r>
              <a:rPr lang="es-ES" err="1">
                <a:latin typeface="Consolas"/>
                <a:ea typeface="+mn-lt"/>
                <a:cs typeface="+mn-lt"/>
              </a:rPr>
              <a:t>hooks</a:t>
            </a:r>
            <a:r>
              <a:rPr lang="es-ES">
                <a:latin typeface="Consolas"/>
                <a:ea typeface="+mn-lt"/>
                <a:cs typeface="+mn-lt"/>
              </a:rPr>
              <a:t>, etc.)</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       </a:t>
            </a:r>
            <a:br>
              <a:rPr lang="es-ES">
                <a:latin typeface="Consolas"/>
                <a:ea typeface="+mn-lt"/>
                <a:cs typeface="+mn-lt"/>
              </a:rPr>
            </a:br>
            <a:r>
              <a:rPr lang="es-ES">
                <a:latin typeface="Consolas"/>
                <a:ea typeface="+mn-lt"/>
                <a:cs typeface="+mn-lt"/>
              </a:rPr>
              <a:t>       &lt;h1&gt;{</a:t>
            </a:r>
            <a:r>
              <a:rPr lang="es-ES" err="1">
                <a:latin typeface="Consolas"/>
                <a:ea typeface="+mn-lt"/>
                <a:cs typeface="+mn-lt"/>
              </a:rPr>
              <a:t>props.titulo</a:t>
            </a:r>
            <a:r>
              <a:rPr lang="es-ES">
                <a:latin typeface="Consolas"/>
                <a:ea typeface="+mn-lt"/>
                <a:cs typeface="+mn-lt"/>
              </a:rPr>
              <a:t>}&lt;/h1&gt;</a:t>
            </a:r>
            <a:br>
              <a:rPr lang="es-ES">
                <a:latin typeface="Consolas"/>
                <a:ea typeface="+mn-lt"/>
                <a:cs typeface="+mn-lt"/>
              </a:rPr>
            </a:br>
            <a:r>
              <a:rPr lang="es-ES">
                <a:latin typeface="Consolas"/>
                <a:ea typeface="+mn-lt"/>
                <a:cs typeface="+mn-lt"/>
              </a:rPr>
              <a:t>       &lt;p&gt;{</a:t>
            </a:r>
            <a:r>
              <a:rPr lang="es-ES" err="1">
                <a:latin typeface="Consolas"/>
                <a:ea typeface="+mn-lt"/>
                <a:cs typeface="+mn-lt"/>
              </a:rPr>
              <a:t>props.descripcion</a:t>
            </a:r>
            <a:r>
              <a:rPr lang="es-ES">
                <a:latin typeface="Consolas"/>
                <a:ea typeface="+mn-lt"/>
                <a:cs typeface="+mn-lt"/>
              </a:rPr>
              <a:t>}&lt;/p&gt;</a:t>
            </a:r>
            <a:br>
              <a:rPr lang="en-US"/>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sz="2100" err="1">
                <a:latin typeface="Consolas"/>
                <a:ea typeface="+mn-lt"/>
                <a:cs typeface="+mn-lt"/>
              </a:rPr>
              <a:t>ComponenteFuncional</a:t>
            </a:r>
            <a:r>
              <a:rPr lang="es-ES">
                <a:latin typeface="Consolas"/>
                <a:ea typeface="+mn-lt"/>
                <a:cs typeface="+mn-lt"/>
              </a:rPr>
              <a:t>;</a:t>
            </a:r>
            <a:endParaRPr lang="es-ES">
              <a:latin typeface="Consolas"/>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841847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0C6DE-18E0-DE3F-AEEB-29437CE536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92A424-7410-58C5-FCB6-B61432375ED1}"/>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Diferencia entre componentes funcionales y de clase.</a:t>
            </a:r>
          </a:p>
        </p:txBody>
      </p:sp>
      <p:sp>
        <p:nvSpPr>
          <p:cNvPr id="3" name="Marcador de contenido 2">
            <a:extLst>
              <a:ext uri="{FF2B5EF4-FFF2-40B4-BE49-F238E27FC236}">
                <a16:creationId xmlns:a16="http://schemas.microsoft.com/office/drawing/2014/main" id="{068C2BF2-8310-5A4C-D94C-0D300ECD1147}"/>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mn-lt"/>
                <a:cs typeface="+mn-lt"/>
              </a:rPr>
              <a:t>Aunque los componentes funcionales son la forma predominante y recomendada de construir interfaces de usuario en </a:t>
            </a:r>
            <a:r>
              <a:rPr lang="es-ES" err="1">
                <a:latin typeface="Calibri"/>
                <a:ea typeface="+mn-lt"/>
                <a:cs typeface="+mn-lt"/>
              </a:rPr>
              <a:t>React</a:t>
            </a:r>
            <a:r>
              <a:rPr lang="es-ES">
                <a:latin typeface="Calibri"/>
                <a:ea typeface="+mn-lt"/>
                <a:cs typeface="+mn-lt"/>
              </a:rPr>
              <a:t> moderno, los componentes de clase aún existen y es importante entenderlos, especialmente cuando se trabaja con código heredado o se necesita comprender ciertos aspectos del ciclo de vida de los componentes de </a:t>
            </a:r>
            <a:r>
              <a:rPr lang="es-ES" err="1">
                <a:latin typeface="Calibri"/>
                <a:ea typeface="+mn-lt"/>
                <a:cs typeface="+mn-lt"/>
              </a:rPr>
              <a:t>React</a:t>
            </a:r>
            <a:r>
              <a:rPr lang="es-ES">
                <a:latin typeface="Calibri"/>
                <a:ea typeface="+mn-lt"/>
                <a:cs typeface="+mn-lt"/>
              </a:rPr>
              <a:t>.</a:t>
            </a:r>
          </a:p>
          <a:p>
            <a:pPr marL="342900" indent="-342900">
              <a:buFont typeface="Arial"/>
              <a:buChar char="•"/>
            </a:pPr>
            <a:r>
              <a:rPr lang="es-ES">
                <a:latin typeface="Calibri"/>
                <a:ea typeface="+mn-lt"/>
                <a:cs typeface="+mn-lt"/>
              </a:rPr>
              <a:t>Los componentes de clase son clases de JavaScript que extienden la clase </a:t>
            </a:r>
            <a:r>
              <a:rPr lang="es-ES" err="1">
                <a:latin typeface="Calibri"/>
                <a:ea typeface="+mn-lt"/>
                <a:cs typeface="+mn-lt"/>
              </a:rPr>
              <a:t>React.Component</a:t>
            </a:r>
            <a:r>
              <a:rPr lang="es-ES">
                <a:latin typeface="Calibri"/>
                <a:ea typeface="+mn-lt"/>
                <a:cs typeface="+mn-lt"/>
              </a:rPr>
              <a:t>. Tienen un estado interno, métodos de ciclo de vida y un método render() que devuelve JSX.</a:t>
            </a:r>
            <a:endParaRPr lang="es-ES">
              <a:latin typeface="Calibri"/>
              <a:ea typeface="Calibri"/>
              <a:cs typeface="Calibri"/>
            </a:endParaRPr>
          </a:p>
          <a:p>
            <a:r>
              <a:rPr lang="es-ES" err="1">
                <a:latin typeface="Consolas"/>
                <a:ea typeface="+mn-lt"/>
                <a:cs typeface="+mn-lt"/>
              </a:rPr>
              <a:t>import</a:t>
            </a:r>
            <a:r>
              <a:rPr lang="es-ES">
                <a:latin typeface="Consolas"/>
                <a:ea typeface="+mn-lt"/>
                <a:cs typeface="+mn-lt"/>
              </a:rPr>
              <a:t> </a:t>
            </a:r>
            <a:r>
              <a:rPr lang="es-ES" err="1">
                <a:latin typeface="Consolas"/>
                <a:ea typeface="+mn-lt"/>
                <a:cs typeface="+mn-lt"/>
              </a:rPr>
              <a:t>React</a:t>
            </a:r>
            <a:r>
              <a:rPr lang="es-ES">
                <a:latin typeface="Consolas"/>
                <a:ea typeface="+mn-lt"/>
                <a:cs typeface="+mn-lt"/>
              </a:rPr>
              <a:t>, { </a:t>
            </a:r>
            <a:r>
              <a:rPr lang="es-ES" err="1">
                <a:latin typeface="Consolas"/>
                <a:ea typeface="+mn-lt"/>
                <a:cs typeface="+mn-lt"/>
              </a:rPr>
              <a:t>Component</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class</a:t>
            </a:r>
            <a:r>
              <a:rPr lang="es-ES">
                <a:latin typeface="Consolas"/>
                <a:ea typeface="+mn-lt"/>
                <a:cs typeface="+mn-lt"/>
              </a:rPr>
              <a:t> </a:t>
            </a:r>
            <a:r>
              <a:rPr lang="es-ES" err="1">
                <a:latin typeface="Consolas"/>
                <a:ea typeface="+mn-lt"/>
                <a:cs typeface="+mn-lt"/>
              </a:rPr>
              <a:t>ComponenteDeClase</a:t>
            </a:r>
            <a:r>
              <a:rPr lang="es-ES">
                <a:latin typeface="Consolas"/>
                <a:ea typeface="+mn-lt"/>
                <a:cs typeface="+mn-lt"/>
              </a:rPr>
              <a:t> </a:t>
            </a:r>
            <a:r>
              <a:rPr lang="es-ES" err="1">
                <a:latin typeface="Consolas"/>
                <a:ea typeface="+mn-lt"/>
                <a:cs typeface="+mn-lt"/>
              </a:rPr>
              <a:t>extends</a:t>
            </a:r>
            <a:r>
              <a:rPr lang="es-ES">
                <a:latin typeface="Consolas"/>
                <a:ea typeface="+mn-lt"/>
                <a:cs typeface="+mn-lt"/>
              </a:rPr>
              <a:t> </a:t>
            </a:r>
            <a:r>
              <a:rPr lang="es-ES" err="1">
                <a:latin typeface="Consolas"/>
                <a:ea typeface="+mn-lt"/>
                <a:cs typeface="+mn-lt"/>
              </a:rPr>
              <a:t>Component</a:t>
            </a:r>
            <a:r>
              <a:rPr lang="es-ES">
                <a:latin typeface="Consolas"/>
                <a:ea typeface="+mn-lt"/>
                <a:cs typeface="+mn-lt"/>
              </a:rPr>
              <a:t> {</a:t>
            </a:r>
            <a:br>
              <a:rPr lang="es-ES">
                <a:latin typeface="Consolas"/>
                <a:ea typeface="+mn-lt"/>
                <a:cs typeface="+mn-lt"/>
              </a:rPr>
            </a:br>
            <a:r>
              <a:rPr lang="es-ES">
                <a:latin typeface="Consolas"/>
                <a:ea typeface="+mn-lt"/>
                <a:cs typeface="+mn-lt"/>
              </a:rPr>
              <a:t>  constructor(</a:t>
            </a:r>
            <a:r>
              <a:rPr lang="es-ES" err="1">
                <a:latin typeface="Consolas"/>
                <a:ea typeface="+mn-lt"/>
                <a:cs typeface="+mn-lt"/>
              </a:rPr>
              <a:t>props</a:t>
            </a:r>
            <a:r>
              <a:rPr lang="es-ES">
                <a:latin typeface="Consolas"/>
                <a:ea typeface="+mn-lt"/>
                <a:cs typeface="+mn-lt"/>
              </a:rPr>
              <a:t>) {</a:t>
            </a:r>
            <a:br>
              <a:rPr lang="es-ES">
                <a:latin typeface="Consolas"/>
                <a:ea typeface="+mn-lt"/>
                <a:cs typeface="+mn-lt"/>
              </a:rPr>
            </a:br>
            <a:r>
              <a:rPr lang="es-ES">
                <a:latin typeface="Consolas"/>
                <a:ea typeface="+mn-lt"/>
                <a:cs typeface="+mn-lt"/>
              </a:rPr>
              <a:t>    super(</a:t>
            </a:r>
            <a:r>
              <a:rPr lang="es-ES" err="1">
                <a:latin typeface="Consolas"/>
                <a:ea typeface="+mn-lt"/>
                <a:cs typeface="+mn-lt"/>
              </a:rPr>
              <a:t>props</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this.state</a:t>
            </a:r>
            <a:r>
              <a:rPr lang="es-ES">
                <a:latin typeface="Consolas"/>
                <a:ea typeface="+mn-lt"/>
                <a:cs typeface="+mn-lt"/>
              </a:rPr>
              <a:t> = {</a:t>
            </a:r>
            <a:br>
              <a:rPr lang="es-ES">
                <a:latin typeface="Consolas"/>
                <a:ea typeface="+mn-lt"/>
                <a:cs typeface="+mn-lt"/>
              </a:rPr>
            </a:br>
            <a:r>
              <a:rPr lang="es-ES">
                <a:latin typeface="Consolas"/>
                <a:ea typeface="+mn-lt"/>
                <a:cs typeface="+mn-lt"/>
              </a:rPr>
              <a:t>      // Estado inicial del componente</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 Métodos de ciclo de vida (</a:t>
            </a:r>
            <a:r>
              <a:rPr lang="es-ES" err="1">
                <a:latin typeface="Consolas"/>
                <a:ea typeface="+mn-lt"/>
                <a:cs typeface="+mn-lt"/>
              </a:rPr>
              <a:t>componentDidMount</a:t>
            </a:r>
            <a:r>
              <a:rPr lang="es-ES">
                <a:latin typeface="Consolas"/>
                <a:ea typeface="+mn-lt"/>
                <a:cs typeface="+mn-lt"/>
              </a:rPr>
              <a:t>, </a:t>
            </a:r>
            <a:r>
              <a:rPr lang="es-ES" err="1">
                <a:latin typeface="Consolas"/>
                <a:ea typeface="+mn-lt"/>
                <a:cs typeface="+mn-lt"/>
              </a:rPr>
              <a:t>componentDidUpdate</a:t>
            </a:r>
            <a:r>
              <a:rPr lang="es-ES">
                <a:latin typeface="Consolas"/>
                <a:ea typeface="+mn-lt"/>
                <a:cs typeface="+mn-lt"/>
              </a:rPr>
              <a:t>, etc.)</a:t>
            </a:r>
            <a:br>
              <a:rPr lang="es-ES">
                <a:latin typeface="Consolas"/>
                <a:ea typeface="+mn-lt"/>
                <a:cs typeface="+mn-lt"/>
              </a:rPr>
            </a:br>
            <a:r>
              <a:rPr lang="es-ES">
                <a:latin typeface="Consolas"/>
                <a:ea typeface="+mn-lt"/>
                <a:cs typeface="+mn-lt"/>
              </a:rPr>
              <a:t>  render() {</a:t>
            </a:r>
            <a:br>
              <a:rPr lang="es-ES">
                <a:latin typeface="Consolas"/>
                <a:ea typeface="+mn-lt"/>
                <a:cs typeface="+mn-lt"/>
              </a:rPr>
            </a:br>
            <a:r>
              <a:rPr lang="es-ES">
                <a:latin typeface="Consolas"/>
                <a:ea typeface="+mn-lt"/>
                <a:cs typeface="+mn-lt"/>
              </a:rPr>
              <a:t>    // JSX que describe la interfaz de usuario</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        &lt;h1&gt;{</a:t>
            </a:r>
            <a:r>
              <a:rPr lang="es-ES" err="1">
                <a:latin typeface="Consolas"/>
                <a:ea typeface="+mn-lt"/>
                <a:cs typeface="+mn-lt"/>
              </a:rPr>
              <a:t>this.props.titulo</a:t>
            </a:r>
            <a:r>
              <a:rPr lang="es-ES">
                <a:latin typeface="Consolas"/>
                <a:ea typeface="+mn-lt"/>
                <a:cs typeface="+mn-lt"/>
              </a:rPr>
              <a:t>}&lt;/h1&gt;        &lt;p&gt;{</a:t>
            </a:r>
            <a:r>
              <a:rPr lang="es-ES" err="1">
                <a:latin typeface="Consolas"/>
                <a:ea typeface="+mn-lt"/>
                <a:cs typeface="+mn-lt"/>
              </a:rPr>
              <a:t>this.props.descripcion</a:t>
            </a:r>
            <a:r>
              <a:rPr lang="es-ES">
                <a:latin typeface="Consolas"/>
                <a:ea typeface="+mn-lt"/>
                <a:cs typeface="+mn-lt"/>
              </a:rPr>
              <a:t>}&lt;/p&gt;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ComponenteDeClase</a:t>
            </a:r>
            <a:r>
              <a:rPr lang="es-ES">
                <a:latin typeface="Consolas"/>
                <a:ea typeface="+mn-lt"/>
                <a:cs typeface="+mn-lt"/>
              </a:rPr>
              <a:t>;</a:t>
            </a: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34648567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BDAD5-540A-F98C-3B0B-4E18F17875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6E39B7-278D-4B89-BD3B-1258FB2A564F}"/>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Estructura de un componente funcional.</a:t>
            </a:r>
          </a:p>
        </p:txBody>
      </p:sp>
      <p:sp>
        <p:nvSpPr>
          <p:cNvPr id="3" name="Marcador de contenido 2">
            <a:extLst>
              <a:ext uri="{FF2B5EF4-FFF2-40B4-BE49-F238E27FC236}">
                <a16:creationId xmlns:a16="http://schemas.microsoft.com/office/drawing/2014/main" id="{5A5E920D-081B-8F7C-AA04-6A0C566882FE}"/>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Un componente funcional es, básicamente, una función de JavaScript, dentro de un fichero llamado como la función, que devuelve JSX. La estructura básica es la siguiente:</a:t>
            </a:r>
          </a:p>
          <a:p>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MiComponente</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 Lógica del componente (manejo de estado, </a:t>
            </a:r>
            <a:r>
              <a:rPr lang="es-ES" err="1">
                <a:latin typeface="Consolas"/>
                <a:ea typeface="Calibri"/>
                <a:cs typeface="Calibri"/>
              </a:rPr>
              <a:t>hooks</a:t>
            </a:r>
            <a:r>
              <a:rPr lang="es-ES">
                <a:latin typeface="Consolas"/>
                <a:ea typeface="Calibri"/>
                <a:cs typeface="Calibri"/>
              </a:rPr>
              <a:t>, etc.)</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 JSX que describe la interfaz de usuario</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      &lt;h1&gt;{</a:t>
            </a:r>
            <a:r>
              <a:rPr lang="es-ES" err="1">
                <a:latin typeface="Consolas"/>
                <a:ea typeface="Calibri"/>
                <a:cs typeface="Calibri"/>
              </a:rPr>
              <a:t>props.titulo</a:t>
            </a:r>
            <a:r>
              <a:rPr lang="es-ES">
                <a:latin typeface="Consolas"/>
                <a:ea typeface="Calibri"/>
                <a:cs typeface="Calibri"/>
              </a:rPr>
              <a:t>}&lt;/h1&gt;      &lt;p&gt;{</a:t>
            </a:r>
            <a:r>
              <a:rPr lang="es-ES" err="1">
                <a:latin typeface="Consolas"/>
                <a:ea typeface="Calibri"/>
                <a:cs typeface="Calibri"/>
              </a:rPr>
              <a:t>props.descripcion</a:t>
            </a:r>
            <a:r>
              <a:rPr lang="es-ES">
                <a:latin typeface="Consolas"/>
                <a:ea typeface="Calibri"/>
                <a:cs typeface="Calibri"/>
              </a:rPr>
              <a:t>}&lt;/p&gt;    &lt;/</a:t>
            </a:r>
            <a:r>
              <a:rPr lang="es-ES" err="1">
                <a:latin typeface="Consolas"/>
                <a:ea typeface="Calibri"/>
                <a:cs typeface="Calibri"/>
              </a:rPr>
              <a:t>div</a:t>
            </a:r>
            <a:r>
              <a:rPr lang="es-ES">
                <a:latin typeface="Consolas"/>
                <a:ea typeface="Calibri"/>
                <a:cs typeface="Calibri"/>
              </a:rPr>
              <a:t>&gt;</a:t>
            </a:r>
            <a:br>
              <a:rPr lang="en-U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alibri"/>
                <a:ea typeface="Calibri"/>
                <a:cs typeface="Calibri"/>
              </a:rPr>
            </a:br>
            <a:r>
              <a:rPr lang="es-ES" err="1">
                <a:latin typeface="Calibri"/>
                <a:ea typeface="Calibri"/>
                <a:cs typeface="Calibri"/>
              </a:rPr>
              <a:t>export</a:t>
            </a:r>
            <a:r>
              <a:rPr lang="es-ES">
                <a:latin typeface="Calibri"/>
                <a:ea typeface="Calibri"/>
                <a:cs typeface="Calibri"/>
              </a:rPr>
              <a:t> default </a:t>
            </a:r>
            <a:r>
              <a:rPr lang="es-ES" err="1">
                <a:latin typeface="Calibri"/>
                <a:ea typeface="Calibri"/>
                <a:cs typeface="Calibri"/>
              </a:rPr>
              <a:t>MiComponente</a:t>
            </a:r>
            <a:r>
              <a:rPr lang="es-ES">
                <a:latin typeface="Calibri"/>
                <a:ea typeface="Calibri"/>
                <a:cs typeface="Calibri"/>
              </a:rPr>
              <a:t>;</a:t>
            </a:r>
          </a:p>
          <a:p>
            <a:pPr marL="342900" indent="-342900">
              <a:buFont typeface="Arial"/>
              <a:buChar char="•"/>
            </a:pPr>
            <a:r>
              <a:rPr lang="es-ES">
                <a:latin typeface="Calibri"/>
                <a:ea typeface="Calibri"/>
                <a:cs typeface="Calibri"/>
              </a:rPr>
              <a:t>En este ejemplo se deben desatacar en la estructura del componente básico:</a:t>
            </a:r>
          </a:p>
          <a:p>
            <a:pPr marL="617220" lvl="1">
              <a:buFont typeface="Courier New"/>
              <a:buChar char="o"/>
            </a:pPr>
            <a:r>
              <a:rPr lang="es-ES">
                <a:latin typeface="Calibri"/>
                <a:ea typeface="Calibri"/>
                <a:cs typeface="Calibri"/>
              </a:rPr>
              <a:t>Importación de </a:t>
            </a:r>
            <a:r>
              <a:rPr lang="es-ES" err="1">
                <a:latin typeface="Calibri"/>
                <a:ea typeface="Calibri"/>
                <a:cs typeface="Calibri"/>
              </a:rPr>
              <a:t>React</a:t>
            </a:r>
            <a:r>
              <a:rPr lang="es-ES">
                <a:latin typeface="Calibri"/>
                <a:ea typeface="Calibri"/>
                <a:cs typeface="Calibri"/>
              </a:rPr>
              <a:t> que es </a:t>
            </a:r>
            <a:r>
              <a:rPr lang="es-ES" err="1">
                <a:latin typeface="Calibri"/>
                <a:ea typeface="Calibri"/>
                <a:cs typeface="Calibri"/>
              </a:rPr>
              <a:t>necesdaria</a:t>
            </a:r>
            <a:r>
              <a:rPr lang="es-ES">
                <a:latin typeface="Calibri"/>
                <a:ea typeface="Calibri"/>
                <a:cs typeface="Calibri"/>
              </a:rPr>
              <a:t> para poder renderizar JSX: </a:t>
            </a:r>
            <a:r>
              <a:rPr lang="es-ES" err="1">
                <a:latin typeface="Calibri"/>
                <a:ea typeface="Calibri"/>
                <a:cs typeface="Calibri"/>
              </a:rPr>
              <a:t>import</a:t>
            </a:r>
            <a:r>
              <a:rPr lang="es-ES">
                <a:latin typeface="Calibri"/>
                <a:ea typeface="Calibri"/>
                <a:cs typeface="Calibri"/>
              </a:rPr>
              <a:t> </a:t>
            </a:r>
            <a:r>
              <a:rPr lang="es-ES" err="1">
                <a:latin typeface="Calibri"/>
                <a:ea typeface="Calibri"/>
                <a:cs typeface="Calibri"/>
              </a:rPr>
              <a:t>React</a:t>
            </a:r>
            <a:r>
              <a:rPr lang="es-ES">
                <a:latin typeface="Calibri"/>
                <a:ea typeface="Calibri"/>
                <a:cs typeface="Calibri"/>
              </a:rPr>
              <a:t> </a:t>
            </a:r>
            <a:r>
              <a:rPr lang="es-ES" err="1">
                <a:latin typeface="Calibri"/>
                <a:ea typeface="Calibri"/>
                <a:cs typeface="Calibri"/>
              </a:rPr>
              <a:t>from</a:t>
            </a:r>
            <a:r>
              <a:rPr lang="es-ES">
                <a:latin typeface="Calibri"/>
                <a:ea typeface="Calibri"/>
                <a:cs typeface="Calibri"/>
              </a:rPr>
              <a:t> '</a:t>
            </a:r>
            <a:r>
              <a:rPr lang="es-ES" err="1">
                <a:latin typeface="Calibri"/>
                <a:ea typeface="Calibri"/>
                <a:cs typeface="Calibri"/>
              </a:rPr>
              <a:t>react</a:t>
            </a:r>
            <a:r>
              <a:rPr lang="es-ES">
                <a:latin typeface="Calibri"/>
                <a:ea typeface="Calibri"/>
                <a:cs typeface="Calibri"/>
              </a:rPr>
              <a:t>';</a:t>
            </a:r>
          </a:p>
          <a:p>
            <a:pPr marL="617220" lvl="1">
              <a:buFont typeface="Courier New"/>
              <a:buChar char="o"/>
            </a:pPr>
            <a:r>
              <a:rPr lang="es-ES">
                <a:latin typeface="Calibri"/>
                <a:ea typeface="Calibri"/>
                <a:cs typeface="Calibri"/>
              </a:rPr>
              <a:t>Definición del componente a partir de la función: </a:t>
            </a:r>
            <a:r>
              <a:rPr lang="es-ES" err="1">
                <a:latin typeface="Calibri"/>
                <a:ea typeface="Calibri"/>
                <a:cs typeface="Calibri"/>
              </a:rPr>
              <a:t>function</a:t>
            </a:r>
            <a:r>
              <a:rPr lang="es-ES">
                <a:latin typeface="Calibri"/>
                <a:ea typeface="Calibri"/>
                <a:cs typeface="Calibri"/>
              </a:rPr>
              <a:t> </a:t>
            </a:r>
            <a:r>
              <a:rPr lang="es-ES" err="1">
                <a:latin typeface="Calibri"/>
                <a:ea typeface="Calibri"/>
                <a:cs typeface="Calibri"/>
              </a:rPr>
              <a:t>MiComponente</a:t>
            </a:r>
            <a:r>
              <a:rPr lang="es-ES">
                <a:latin typeface="Calibri"/>
                <a:ea typeface="Calibri"/>
                <a:cs typeface="Calibri"/>
              </a:rPr>
              <a:t>(</a:t>
            </a:r>
            <a:r>
              <a:rPr lang="es-ES" err="1">
                <a:latin typeface="Calibri"/>
                <a:ea typeface="Calibri"/>
                <a:cs typeface="Calibri"/>
              </a:rPr>
              <a:t>props</a:t>
            </a:r>
            <a:r>
              <a:rPr lang="es-ES">
                <a:latin typeface="Calibri"/>
                <a:ea typeface="Calibri"/>
                <a:cs typeface="Calibri"/>
              </a:rPr>
              <a:t>) { ... }.</a:t>
            </a:r>
          </a:p>
          <a:p>
            <a:pPr marL="617220" lvl="1">
              <a:buFont typeface="Courier New"/>
              <a:buChar char="o"/>
            </a:pPr>
            <a:r>
              <a:rPr lang="es-ES">
                <a:latin typeface="Calibri"/>
                <a:ea typeface="Calibri"/>
                <a:cs typeface="Calibri"/>
              </a:rPr>
              <a:t>Uso de </a:t>
            </a:r>
            <a:r>
              <a:rPr lang="es-ES" err="1">
                <a:latin typeface="Calibri"/>
                <a:ea typeface="Calibri"/>
                <a:cs typeface="Calibri"/>
              </a:rPr>
              <a:t>props</a:t>
            </a:r>
            <a:r>
              <a:rPr lang="es-ES">
                <a:latin typeface="Calibri"/>
                <a:ea typeface="Calibri"/>
                <a:cs typeface="Calibri"/>
              </a:rPr>
              <a:t>: El argumento </a:t>
            </a:r>
            <a:r>
              <a:rPr lang="es-ES" err="1">
                <a:latin typeface="Calibri"/>
                <a:ea typeface="Calibri"/>
                <a:cs typeface="Calibri"/>
              </a:rPr>
              <a:t>props</a:t>
            </a:r>
            <a:r>
              <a:rPr lang="es-ES">
                <a:latin typeface="Calibri"/>
                <a:ea typeface="Calibri"/>
                <a:cs typeface="Calibri"/>
              </a:rPr>
              <a:t> contiene las propiedades que se pasan al componente.</a:t>
            </a:r>
          </a:p>
          <a:p>
            <a:pPr marL="617220" lvl="1">
              <a:buFont typeface="Courier New"/>
              <a:buChar char="o"/>
            </a:pPr>
            <a:r>
              <a:rPr lang="es-ES">
                <a:latin typeface="Calibri"/>
                <a:ea typeface="Calibri"/>
                <a:cs typeface="Calibri"/>
              </a:rPr>
              <a:t>Código JSX: En el </a:t>
            </a:r>
            <a:r>
              <a:rPr lang="es-ES" err="1">
                <a:latin typeface="Calibri"/>
                <a:ea typeface="Calibri"/>
                <a:cs typeface="Calibri"/>
              </a:rPr>
              <a:t>return</a:t>
            </a:r>
            <a:r>
              <a:rPr lang="es-ES">
                <a:latin typeface="Calibri"/>
                <a:ea typeface="Calibri"/>
                <a:cs typeface="Calibri"/>
              </a:rPr>
              <a:t> (...) se encuentra el JSX que describe la interfaz de usuario.</a:t>
            </a:r>
          </a:p>
          <a:p>
            <a:pPr marL="617220" lvl="1">
              <a:buFont typeface="Courier New"/>
              <a:buChar char="o"/>
            </a:pPr>
            <a:r>
              <a:rPr lang="es-ES">
                <a:latin typeface="Calibri"/>
                <a:ea typeface="Calibri"/>
                <a:cs typeface="Calibri"/>
              </a:rPr>
              <a:t>Exportación que permite utilizar el componente en otros archivos: </a:t>
            </a:r>
            <a:r>
              <a:rPr lang="es-ES" err="1">
                <a:latin typeface="Calibri"/>
                <a:ea typeface="Calibri"/>
                <a:cs typeface="Calibri"/>
              </a:rPr>
              <a:t>export</a:t>
            </a:r>
            <a:r>
              <a:rPr lang="es-ES">
                <a:latin typeface="Calibri"/>
                <a:ea typeface="Calibri"/>
                <a:cs typeface="Calibri"/>
              </a:rPr>
              <a:t> default </a:t>
            </a:r>
            <a:r>
              <a:rPr lang="es-ES" err="1">
                <a:latin typeface="Calibri"/>
                <a:ea typeface="Calibri"/>
                <a:cs typeface="Calibri"/>
              </a:rPr>
              <a:t>MiComponente</a:t>
            </a:r>
            <a:r>
              <a:rPr lang="es-ES">
                <a:latin typeface="Calibri"/>
                <a:ea typeface="Calibri"/>
                <a:cs typeface="Calibri"/>
              </a:rPr>
              <a:t>;</a:t>
            </a:r>
          </a:p>
        </p:txBody>
      </p:sp>
    </p:spTree>
    <p:extLst>
      <p:ext uri="{BB962C8B-B14F-4D97-AF65-F5344CB8AC3E}">
        <p14:creationId xmlns:p14="http://schemas.microsoft.com/office/powerpoint/2010/main" val="25480995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8FC3C-419E-7CF8-E079-4B7452B6D8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423F94-F13D-83EB-BC4D-EC398B9455D9}"/>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Implementación de un componente funcional.</a:t>
            </a:r>
          </a:p>
        </p:txBody>
      </p:sp>
      <p:sp>
        <p:nvSpPr>
          <p:cNvPr id="3" name="Marcador de contenido 2">
            <a:extLst>
              <a:ext uri="{FF2B5EF4-FFF2-40B4-BE49-F238E27FC236}">
                <a16:creationId xmlns:a16="http://schemas.microsoft.com/office/drawing/2014/main" id="{2CBDD226-0E43-9ECE-695E-40440F3C01FD}"/>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Para una correcta implementación de componentes funcionales es necesario</a:t>
            </a:r>
          </a:p>
          <a:p>
            <a:pPr marL="617220" lvl="1">
              <a:buFont typeface="Courier New"/>
              <a:buChar char="o"/>
            </a:pPr>
            <a:r>
              <a:rPr lang="es-ES">
                <a:latin typeface="Calibri"/>
                <a:ea typeface="Calibri"/>
                <a:cs typeface="Calibri"/>
              </a:rPr>
              <a:t>JSX: Escribir JSX para definir la estructura de la interfaz de usuario.</a:t>
            </a:r>
          </a:p>
          <a:p>
            <a:pPr marL="617220" lvl="1">
              <a:buFont typeface="Courier New"/>
              <a:buChar char="o"/>
            </a:pPr>
            <a:r>
              <a:rPr lang="es-ES" err="1">
                <a:latin typeface="Calibri"/>
                <a:ea typeface="Calibri"/>
                <a:cs typeface="Calibri"/>
              </a:rPr>
              <a:t>Props</a:t>
            </a:r>
            <a:r>
              <a:rPr lang="es-ES">
                <a:latin typeface="Calibri"/>
                <a:ea typeface="Calibri"/>
                <a:cs typeface="Calibri"/>
              </a:rPr>
              <a:t>: Acceder a las </a:t>
            </a:r>
            <a:r>
              <a:rPr lang="es-ES" err="1">
                <a:latin typeface="Calibri"/>
                <a:ea typeface="Calibri"/>
                <a:cs typeface="Calibri"/>
              </a:rPr>
              <a:t>props</a:t>
            </a:r>
            <a:r>
              <a:rPr lang="es-ES">
                <a:latin typeface="Calibri"/>
                <a:ea typeface="Calibri"/>
                <a:cs typeface="Calibri"/>
              </a:rPr>
              <a:t> a través del objeto </a:t>
            </a:r>
            <a:r>
              <a:rPr lang="es-ES" err="1">
                <a:latin typeface="Calibri"/>
                <a:ea typeface="Calibri"/>
                <a:cs typeface="Calibri"/>
              </a:rPr>
              <a:t>props</a:t>
            </a:r>
            <a:r>
              <a:rPr lang="es-ES">
                <a:latin typeface="Calibri"/>
                <a:ea typeface="Calibri"/>
                <a:cs typeface="Calibri"/>
              </a:rPr>
              <a:t> y úsalas para renderizar contenido dinámico.</a:t>
            </a:r>
          </a:p>
          <a:p>
            <a:pPr marL="617220" lvl="1">
              <a:buFont typeface="Courier New"/>
              <a:buChar char="o"/>
            </a:pPr>
            <a:r>
              <a:rPr lang="es-ES">
                <a:latin typeface="Calibri"/>
                <a:ea typeface="Calibri"/>
                <a:cs typeface="Calibri"/>
              </a:rPr>
              <a:t>Estado: Utilizar 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useState</a:t>
            </a:r>
            <a:r>
              <a:rPr lang="es-ES">
                <a:latin typeface="Calibri"/>
                <a:ea typeface="Calibri"/>
                <a:cs typeface="Calibri"/>
              </a:rPr>
              <a:t> para agregar estado local a tus componentes.</a:t>
            </a:r>
          </a:p>
          <a:p>
            <a:pPr marL="617220" lvl="1">
              <a:buFont typeface="Courier New"/>
              <a:buChar char="o"/>
            </a:pPr>
            <a:r>
              <a:rPr lang="es-ES">
                <a:latin typeface="Calibri"/>
                <a:ea typeface="Calibri"/>
                <a:cs typeface="Calibri"/>
              </a:rPr>
              <a:t>Eventos: Asignar funciones de manejador a los eventos de los elementos JSX.</a:t>
            </a:r>
          </a:p>
          <a:p>
            <a:pPr marL="617220" lvl="1">
              <a:buFont typeface="Courier New"/>
              <a:buChar char="o"/>
            </a:pPr>
            <a:r>
              <a:rPr lang="es-ES">
                <a:latin typeface="Calibri"/>
                <a:ea typeface="Calibri"/>
                <a:cs typeface="Calibri"/>
              </a:rPr>
              <a:t>Renderizado condicional: Usar expresiones de JavaScript dentro de JSX para mostrar u ocultar elementos basados en condiciones.</a:t>
            </a:r>
          </a:p>
          <a:p>
            <a:pPr marL="617220" lvl="1">
              <a:buFont typeface="Courier New"/>
              <a:buChar char="o"/>
            </a:pPr>
            <a:r>
              <a:rPr lang="es-ES">
                <a:latin typeface="Calibri"/>
                <a:ea typeface="Calibri"/>
                <a:cs typeface="Calibri"/>
              </a:rPr>
              <a:t>Listas: Usar el método .</a:t>
            </a:r>
            <a:r>
              <a:rPr lang="es-ES" err="1">
                <a:latin typeface="Calibri"/>
                <a:ea typeface="Calibri"/>
                <a:cs typeface="Calibri"/>
              </a:rPr>
              <a:t>map</a:t>
            </a:r>
            <a:r>
              <a:rPr lang="es-ES">
                <a:latin typeface="Calibri"/>
                <a:ea typeface="Calibri"/>
                <a:cs typeface="Calibri"/>
              </a:rPr>
              <a:t>() para renderizar listas de elementos.</a:t>
            </a:r>
          </a:p>
          <a:p>
            <a:pPr marL="617220" lvl="1">
              <a:buFont typeface="Courier New"/>
              <a:buChar char="o"/>
            </a:pPr>
            <a:r>
              <a:rPr lang="es-ES">
                <a:latin typeface="Calibri"/>
                <a:ea typeface="Calibri"/>
                <a:cs typeface="Calibri"/>
              </a:rPr>
              <a:t>No olvidar el uso de </a:t>
            </a:r>
            <a:r>
              <a:rPr lang="es-ES" err="1">
                <a:latin typeface="Calibri"/>
                <a:ea typeface="Calibri"/>
                <a:cs typeface="Calibri"/>
              </a:rPr>
              <a:t>keys</a:t>
            </a:r>
            <a:r>
              <a:rPr lang="es-ES">
                <a:latin typeface="Calibri"/>
                <a:ea typeface="Calibri"/>
                <a:cs typeface="Calibri"/>
              </a:rPr>
              <a:t> cuando se renderizan listas.</a:t>
            </a:r>
          </a:p>
          <a:p>
            <a:pPr marL="342900" indent="-228600">
              <a:buFont typeface="Arial"/>
              <a:buChar char="•"/>
            </a:pPr>
            <a:r>
              <a:rPr lang="es-ES">
                <a:latin typeface="Calibri"/>
                <a:ea typeface="Calibri"/>
                <a:cs typeface="Calibri"/>
              </a:rPr>
              <a:t>En el desarrollo de componentes es importante, aparte de definir el componente, exportarlo porque, si no, no se podrá utilizar en otras partes de la aplicación.</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9218500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6C443-77C5-4C18-F360-E62756B04A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9F0E66-4BC6-C9CE-D38D-D116FD83A46C}"/>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Creación de un componente funcional.</a:t>
            </a:r>
          </a:p>
        </p:txBody>
      </p:sp>
      <p:sp>
        <p:nvSpPr>
          <p:cNvPr id="3" name="Marcador de contenido 2">
            <a:extLst>
              <a:ext uri="{FF2B5EF4-FFF2-40B4-BE49-F238E27FC236}">
                <a16:creationId xmlns:a16="http://schemas.microsoft.com/office/drawing/2014/main" id="{B651D3A2-3860-2D8B-996D-8A62089A16BC}"/>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Buenas prácticas para la creación de componentes funcionales reutilizables:</a:t>
            </a:r>
          </a:p>
          <a:p>
            <a:pPr marL="617220" lvl="1">
              <a:buFont typeface="Courier New"/>
              <a:buChar char="o"/>
            </a:pPr>
            <a:r>
              <a:rPr lang="es-ES">
                <a:latin typeface="Calibri"/>
                <a:ea typeface="Calibri"/>
                <a:cs typeface="Calibri"/>
              </a:rPr>
              <a:t>Identificar patrones: Busca elementos de la interfaz que se repiten.</a:t>
            </a:r>
          </a:p>
          <a:p>
            <a:pPr marL="617220" lvl="1">
              <a:buFont typeface="Courier New"/>
              <a:buChar char="o"/>
            </a:pPr>
            <a:r>
              <a:rPr lang="es-ES">
                <a:latin typeface="Calibri"/>
                <a:ea typeface="Calibri"/>
                <a:cs typeface="Calibri"/>
              </a:rPr>
              <a:t>Abstraer la lógica: Crea componentes funcionales que encapsulen la lógica y la presentación.</a:t>
            </a:r>
          </a:p>
          <a:p>
            <a:pPr marL="617220" lvl="1">
              <a:buFont typeface="Courier New"/>
              <a:buChar char="o"/>
            </a:pPr>
            <a:r>
              <a:rPr lang="es-ES" err="1">
                <a:latin typeface="Calibri"/>
                <a:ea typeface="Calibri"/>
                <a:cs typeface="Calibri"/>
              </a:rPr>
              <a:t>Props</a:t>
            </a:r>
            <a:r>
              <a:rPr lang="es-ES">
                <a:latin typeface="Calibri"/>
                <a:ea typeface="Calibri"/>
                <a:cs typeface="Calibri"/>
              </a:rPr>
              <a:t>: Utiliza </a:t>
            </a:r>
            <a:r>
              <a:rPr lang="es-ES" err="1">
                <a:latin typeface="Calibri"/>
                <a:ea typeface="Calibri"/>
                <a:cs typeface="Calibri"/>
              </a:rPr>
              <a:t>props</a:t>
            </a:r>
            <a:r>
              <a:rPr lang="es-ES">
                <a:latin typeface="Calibri"/>
                <a:ea typeface="Calibri"/>
                <a:cs typeface="Calibri"/>
              </a:rPr>
              <a:t> para hacer que los componentes sean configurables.</a:t>
            </a:r>
          </a:p>
          <a:p>
            <a:pPr marL="617220" lvl="1">
              <a:buFont typeface="Courier New"/>
              <a:buChar char="o"/>
            </a:pPr>
            <a:r>
              <a:rPr lang="es-ES" err="1">
                <a:latin typeface="Calibri"/>
                <a:ea typeface="Calibri"/>
                <a:cs typeface="Calibri"/>
              </a:rPr>
              <a:t>Hooks</a:t>
            </a:r>
            <a:r>
              <a:rPr lang="es-ES">
                <a:latin typeface="Calibri"/>
                <a:ea typeface="Calibri"/>
                <a:cs typeface="Calibri"/>
              </a:rPr>
              <a:t> personalizados: Crea </a:t>
            </a:r>
            <a:r>
              <a:rPr lang="es-ES" err="1">
                <a:latin typeface="Calibri"/>
                <a:ea typeface="Calibri"/>
                <a:cs typeface="Calibri"/>
              </a:rPr>
              <a:t>hooks</a:t>
            </a:r>
            <a:r>
              <a:rPr lang="es-ES">
                <a:latin typeface="Calibri"/>
                <a:ea typeface="Calibri"/>
                <a:cs typeface="Calibri"/>
              </a:rPr>
              <a:t> personalizados para reutilizar lógica compleja entre componentes.</a:t>
            </a:r>
          </a:p>
          <a:p>
            <a:pPr marL="342900" indent="-228600">
              <a:buFont typeface="Arial"/>
              <a:buChar char="•"/>
            </a:pPr>
            <a:r>
              <a:rPr lang="es-ES">
                <a:latin typeface="Calibri"/>
                <a:ea typeface="Calibri"/>
                <a:cs typeface="Calibri"/>
              </a:rPr>
              <a:t>Creamos un nuevo fichero llamado </a:t>
            </a:r>
            <a:r>
              <a:rPr lang="es-ES" err="1">
                <a:latin typeface="Calibri"/>
                <a:ea typeface="Calibri"/>
                <a:cs typeface="Calibri"/>
              </a:rPr>
              <a:t>Mensaje.jsx</a:t>
            </a:r>
            <a:r>
              <a:rPr lang="es-ES">
                <a:latin typeface="Calibri"/>
                <a:ea typeface="Calibri"/>
                <a:cs typeface="Calibri"/>
              </a:rPr>
              <a:t> dentro del directorio </a:t>
            </a:r>
            <a:r>
              <a:rPr lang="es-ES" err="1">
                <a:latin typeface="Calibri"/>
                <a:ea typeface="Calibri"/>
                <a:cs typeface="Calibri"/>
              </a:rPr>
              <a:t>src</a:t>
            </a:r>
            <a:endParaRPr lang="es-ES">
              <a:latin typeface="Calibri"/>
              <a:ea typeface="Calibri"/>
              <a:cs typeface="Calibri"/>
            </a:endParaRPr>
          </a:p>
          <a:p>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Mensaje(</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 </a:t>
            </a:r>
            <a:r>
              <a:rPr lang="es-ES" err="1">
                <a:latin typeface="Consolas"/>
                <a:ea typeface="Calibri"/>
                <a:cs typeface="Calibri"/>
              </a:rPr>
              <a:t>style</a:t>
            </a:r>
            <a:r>
              <a:rPr lang="es-ES">
                <a:latin typeface="Consolas"/>
                <a:ea typeface="Calibri"/>
                <a:cs typeface="Calibri"/>
              </a:rPr>
              <a:t>={{ </a:t>
            </a:r>
            <a:r>
              <a:rPr lang="es-ES" err="1">
                <a:latin typeface="Consolas"/>
                <a:ea typeface="Calibri"/>
                <a:cs typeface="Calibri"/>
              </a:rPr>
              <a:t>backgroundColor</a:t>
            </a:r>
            <a:r>
              <a:rPr lang="es-ES">
                <a:latin typeface="Consolas"/>
                <a:ea typeface="Calibri"/>
                <a:cs typeface="Calibri"/>
              </a:rPr>
              <a:t>: </a:t>
            </a:r>
            <a:r>
              <a:rPr lang="es-ES" err="1">
                <a:latin typeface="Consolas"/>
                <a:ea typeface="Calibri"/>
                <a:cs typeface="Calibri"/>
              </a:rPr>
              <a:t>props.color</a:t>
            </a:r>
            <a:r>
              <a:rPr lang="es-ES">
                <a:latin typeface="Consolas"/>
                <a:ea typeface="Calibri"/>
                <a:cs typeface="Calibri"/>
              </a:rPr>
              <a:t>, </a:t>
            </a:r>
            <a:r>
              <a:rPr lang="es-ES" err="1">
                <a:latin typeface="Consolas"/>
                <a:ea typeface="Calibri"/>
                <a:cs typeface="Calibri"/>
              </a:rPr>
              <a:t>padding</a:t>
            </a:r>
            <a:r>
              <a:rPr lang="es-ES">
                <a:latin typeface="Consolas"/>
                <a:ea typeface="Calibri"/>
                <a:cs typeface="Calibri"/>
              </a:rPr>
              <a:t>: '10px' }}&gt;</a:t>
            </a:r>
            <a:br>
              <a:rPr lang="es-ES">
                <a:latin typeface="Consolas"/>
                <a:ea typeface="Calibri"/>
                <a:cs typeface="Calibri"/>
              </a:rPr>
            </a:br>
            <a:r>
              <a:rPr lang="es-ES">
                <a:latin typeface="Consolas"/>
                <a:ea typeface="Calibri"/>
                <a:cs typeface="Calibri"/>
              </a:rPr>
              <a:t>      &lt;p&gt;Saludo: {</a:t>
            </a:r>
            <a:r>
              <a:rPr lang="es-ES" err="1">
                <a:latin typeface="Consolas"/>
                <a:ea typeface="Calibri"/>
                <a:cs typeface="Calibri"/>
              </a:rPr>
              <a:t>props.texto</a:t>
            </a:r>
            <a:r>
              <a:rPr lang="es-ES">
                <a:latin typeface="Consolas"/>
                <a:ea typeface="Calibri"/>
                <a:cs typeface="Calibri"/>
              </a:rPr>
              <a:t>}&lt;/p&gt;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p>
          <a:p>
            <a:r>
              <a:rPr lang="es-ES" err="1">
                <a:latin typeface="Consolas"/>
                <a:ea typeface="Calibri"/>
                <a:cs typeface="Calibri"/>
              </a:rPr>
              <a:t>export</a:t>
            </a:r>
            <a:r>
              <a:rPr lang="es-ES">
                <a:latin typeface="Consolas"/>
                <a:ea typeface="Calibri"/>
                <a:cs typeface="Calibri"/>
              </a:rPr>
              <a:t> default Mensaje;</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5376224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06A48-E14E-7FD1-C8BF-DD2643D9CE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D02B7B-C3D9-0491-C841-2EF3501CF3EE}"/>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Creación de un componente funcional.</a:t>
            </a:r>
          </a:p>
        </p:txBody>
      </p:sp>
      <p:sp>
        <p:nvSpPr>
          <p:cNvPr id="3" name="Marcador de contenido 2">
            <a:extLst>
              <a:ext uri="{FF2B5EF4-FFF2-40B4-BE49-F238E27FC236}">
                <a16:creationId xmlns:a16="http://schemas.microsoft.com/office/drawing/2014/main" id="{208CB3F2-37D3-05BF-E295-B8A8C8A4FF75}"/>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Calibri"/>
                <a:cs typeface="Calibri"/>
              </a:rPr>
              <a:t>En este ejemplo, el componente Mensaje es reutilizable porque puede recibir diferentes textos y colores a través de </a:t>
            </a:r>
            <a:r>
              <a:rPr lang="es-ES" err="1">
                <a:latin typeface="Calibri"/>
                <a:ea typeface="Calibri"/>
                <a:cs typeface="Calibri"/>
              </a:rPr>
              <a:t>props</a:t>
            </a:r>
            <a:r>
              <a:rPr lang="es-ES">
                <a:latin typeface="Calibri"/>
                <a:ea typeface="Calibri"/>
                <a:cs typeface="Calibri"/>
              </a:rPr>
              <a:t>. Para utilizarlo, abrimos el fichero </a:t>
            </a:r>
            <a:r>
              <a:rPr lang="es-ES" err="1">
                <a:latin typeface="Calibri"/>
                <a:ea typeface="Calibri"/>
                <a:cs typeface="Calibri"/>
              </a:rPr>
              <a:t>App.jsx</a:t>
            </a:r>
            <a:r>
              <a:rPr lang="es-ES">
                <a:latin typeface="Calibri"/>
                <a:ea typeface="Calibri"/>
                <a:cs typeface="Calibri"/>
              </a:rPr>
              <a:t> y lo modificamos de la siguiente forma:</a:t>
            </a:r>
            <a:endParaRPr lang="es-ES">
              <a:latin typeface="Bembo"/>
              <a:ea typeface="Calibri"/>
              <a:cs typeface="Calibri"/>
            </a:endParaRPr>
          </a:p>
          <a:p>
            <a:r>
              <a:rPr lang="es-ES">
                <a:latin typeface="Consolas"/>
                <a:ea typeface="Calibri"/>
                <a:cs typeface="Calibri"/>
              </a:rPr>
              <a:t>// Uso del componente Mensaje </a:t>
            </a:r>
            <a:br>
              <a:rPr lang="es-ES">
                <a:latin typeface="Consolas"/>
                <a:ea typeface="Calibri"/>
                <a:cs typeface="Calibri"/>
              </a:rPr>
            </a:br>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br>
              <a:rPr lang="es-ES">
                <a:latin typeface="Consolas"/>
                <a:ea typeface="Calibri"/>
                <a:cs typeface="Calibri"/>
              </a:rPr>
            </a:br>
            <a:r>
              <a:rPr lang="es-ES" err="1">
                <a:latin typeface="Consolas"/>
                <a:ea typeface="Calibri"/>
                <a:cs typeface="Calibri"/>
              </a:rPr>
              <a:t>import</a:t>
            </a:r>
            <a:r>
              <a:rPr lang="es-ES">
                <a:latin typeface="Consolas"/>
                <a:ea typeface="Calibri"/>
                <a:cs typeface="Calibri"/>
              </a:rPr>
              <a:t> Mensaje </a:t>
            </a:r>
            <a:r>
              <a:rPr lang="es-ES" err="1">
                <a:latin typeface="Consolas"/>
                <a:ea typeface="Calibri"/>
                <a:cs typeface="Calibri"/>
              </a:rPr>
              <a:t>from</a:t>
            </a:r>
            <a:r>
              <a:rPr lang="es-ES">
                <a:latin typeface="Consolas"/>
                <a:ea typeface="Calibri"/>
                <a:cs typeface="Calibri"/>
              </a:rPr>
              <a:t> './Mensaje'; </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App()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 </a:t>
            </a:r>
            <a:br>
              <a:rPr lang="es-ES">
                <a:latin typeface="Consolas"/>
                <a:ea typeface="Calibri"/>
                <a:cs typeface="Calibri"/>
              </a:rPr>
            </a:br>
            <a:r>
              <a:rPr lang="es-ES">
                <a:latin typeface="Consolas"/>
                <a:ea typeface="Calibri"/>
                <a:cs typeface="Calibri"/>
              </a:rPr>
              <a:t>      &lt;Mensaje texto="¡Hola Mundo!" color="</a:t>
            </a:r>
            <a:r>
              <a:rPr lang="es-ES" err="1">
                <a:latin typeface="Consolas"/>
                <a:ea typeface="Calibri"/>
                <a:cs typeface="Calibri"/>
              </a:rPr>
              <a:t>lightblue</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&lt;Mensaje texto="¡Bienvenido!" color="</a:t>
            </a:r>
            <a:r>
              <a:rPr lang="es-ES" err="1">
                <a:latin typeface="Consolas"/>
                <a:ea typeface="Calibri"/>
                <a:cs typeface="Calibri"/>
              </a:rPr>
              <a:t>lightgreen</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 </a:t>
            </a:r>
            <a:br>
              <a:rPr lang="es-ES">
                <a:latin typeface="Consolas"/>
                <a:ea typeface="Calibri"/>
                <a:cs typeface="Calibri"/>
              </a:rPr>
            </a:br>
            <a:r>
              <a:rPr lang="es-ES">
                <a:latin typeface="Consolas"/>
                <a:ea typeface="Calibri"/>
                <a:cs typeface="Calibri"/>
              </a:rPr>
              <a:t>  ); </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App;</a:t>
            </a:r>
            <a:endParaRPr lang="es-ES"/>
          </a:p>
        </p:txBody>
      </p:sp>
    </p:spTree>
    <p:extLst>
      <p:ext uri="{BB962C8B-B14F-4D97-AF65-F5344CB8AC3E}">
        <p14:creationId xmlns:p14="http://schemas.microsoft.com/office/powerpoint/2010/main" val="22690377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B36FE-85B8-92B4-E0DF-213FEDAA6D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E0BA61-064F-C64A-CCED-B486D55DE6F2}"/>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2BB90D22-7506-1932-10E9-7131EDFEC564}"/>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JSX (JavaScript XML) es una extensión de la sintaxis de JavaScript que se utiliza en </a:t>
            </a:r>
            <a:r>
              <a:rPr lang="es-ES" err="1">
                <a:latin typeface="Calibri"/>
                <a:ea typeface="Calibri"/>
                <a:cs typeface="Calibri"/>
              </a:rPr>
              <a:t>React</a:t>
            </a:r>
            <a:r>
              <a:rPr lang="es-ES">
                <a:latin typeface="Calibri"/>
                <a:ea typeface="Calibri"/>
                <a:cs typeface="Calibri"/>
              </a:rPr>
              <a:t> para describir cómo debería verse la interfaz de usuario. Aunque parece HTML, en realidad es una combinación de JavaScript y XML.</a:t>
            </a:r>
          </a:p>
          <a:p>
            <a:pPr marL="342900" indent="-342900">
              <a:buFont typeface="Arial"/>
              <a:buChar char="•"/>
            </a:pPr>
            <a:r>
              <a:rPr lang="es-ES">
                <a:latin typeface="Calibri"/>
                <a:ea typeface="Calibri"/>
                <a:cs typeface="Calibri"/>
              </a:rPr>
              <a:t>Esta sintaxis permite escribir estructuras similares a HTML dentro de JavaScript. Esto hace que el código sea más legible y fácil de escribir, ya que se puede ver la estructura de la interfaz de usuario directamente en el código.</a:t>
            </a:r>
          </a:p>
          <a:p>
            <a:r>
              <a:rPr lang="es-ES" err="1">
                <a:latin typeface="Consolas"/>
                <a:ea typeface="Calibri"/>
                <a:cs typeface="Calibri"/>
              </a:rPr>
              <a:t>const</a:t>
            </a:r>
            <a:r>
              <a:rPr lang="es-ES">
                <a:latin typeface="Consolas"/>
                <a:ea typeface="Calibri"/>
                <a:cs typeface="Calibri"/>
              </a:rPr>
              <a:t> elemento = &lt;h1&gt;Hola, mundo!&lt;/h1&gt;;</a:t>
            </a:r>
          </a:p>
          <a:p>
            <a:pPr marL="342900" indent="-342900">
              <a:buFont typeface="Arial"/>
              <a:buChar char="•"/>
            </a:pPr>
            <a:r>
              <a:rPr lang="es-ES">
                <a:latin typeface="Calibri"/>
                <a:ea typeface="Calibri"/>
                <a:cs typeface="Calibri"/>
              </a:rPr>
              <a:t>En este ejemplo, &lt;h1&gt;Hola, mundo!&lt;/h1&gt; es un elemento JSX que se compila a una llamada de función de JavaScript que crea un elemento </a:t>
            </a:r>
            <a:r>
              <a:rPr lang="es-ES" err="1">
                <a:latin typeface="Calibri"/>
                <a:ea typeface="Calibri"/>
                <a:cs typeface="Calibri"/>
              </a:rPr>
              <a:t>React</a:t>
            </a:r>
            <a:r>
              <a:rPr lang="es-ES">
                <a:latin typeface="Calibri"/>
                <a:ea typeface="Calibri"/>
                <a:cs typeface="Calibri"/>
              </a:rPr>
              <a:t>.</a:t>
            </a:r>
          </a:p>
          <a:p>
            <a:pPr marL="342900" indent="-342900">
              <a:buFont typeface="Arial"/>
              <a:buChar char="•"/>
            </a:pPr>
            <a:r>
              <a:rPr lang="es-ES">
                <a:latin typeface="Calibri"/>
                <a:ea typeface="Calibri"/>
                <a:cs typeface="Calibri"/>
              </a:rPr>
              <a:t>En lugar de separar la lógica de la interfaz de usuario en archivos HTML y JavaScript separados, JSX permite combinarlos en un solo lugar facilitando el desarrollo y el mantenimiento del código.</a:t>
            </a:r>
          </a:p>
        </p:txBody>
      </p:sp>
    </p:spTree>
    <p:extLst>
      <p:ext uri="{BB962C8B-B14F-4D97-AF65-F5344CB8AC3E}">
        <p14:creationId xmlns:p14="http://schemas.microsoft.com/office/powerpoint/2010/main" val="21232334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E5A4C-5092-4BFF-3F03-DD9D189C31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A4BED84-3977-5283-E682-2609C2D71267}"/>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226CCE3C-118F-EBAD-49B6-7FA94B4CE3AE}"/>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JSX se </a:t>
            </a:r>
            <a:r>
              <a:rPr lang="es-ES" err="1">
                <a:latin typeface="Calibri"/>
                <a:ea typeface="Calibri"/>
                <a:cs typeface="Calibri"/>
              </a:rPr>
              <a:t>transpila</a:t>
            </a:r>
            <a:r>
              <a:rPr lang="es-ES">
                <a:latin typeface="Calibri"/>
                <a:ea typeface="Calibri"/>
                <a:cs typeface="Calibri"/>
              </a:rPr>
              <a:t> a llamadas de funciones de JavaScript utilizando herramientas como Babel. Cada elemento JSX se convierte en una llamada a </a:t>
            </a:r>
            <a:r>
              <a:rPr lang="es-ES" err="1">
                <a:latin typeface="Calibri"/>
                <a:ea typeface="Calibri"/>
                <a:cs typeface="Calibri"/>
              </a:rPr>
              <a:t>React.createElement</a:t>
            </a:r>
            <a:r>
              <a:rPr lang="es-ES">
                <a:latin typeface="Calibri"/>
                <a:ea typeface="Calibri"/>
                <a:cs typeface="Calibri"/>
              </a:rPr>
              <a:t>. Por ejemplo:</a:t>
            </a:r>
          </a:p>
          <a:p>
            <a:r>
              <a:rPr lang="es-ES" err="1">
                <a:latin typeface="Consolas"/>
                <a:ea typeface="Calibri"/>
                <a:cs typeface="Calibri"/>
              </a:rPr>
              <a:t>const</a:t>
            </a:r>
            <a:r>
              <a:rPr lang="es-ES">
                <a:latin typeface="Consolas"/>
                <a:ea typeface="Calibri"/>
                <a:cs typeface="Calibri"/>
              </a:rPr>
              <a:t> elemento = &lt;h1&gt;Hola, mundo!&lt;/h1&gt;;</a:t>
            </a:r>
            <a:br>
              <a:rPr lang="en-US">
                <a:latin typeface="Consolas"/>
                <a:ea typeface="Calibri"/>
                <a:cs typeface="Calibri"/>
              </a:rPr>
            </a:br>
            <a:r>
              <a:rPr lang="es-ES">
                <a:latin typeface="Consolas"/>
                <a:ea typeface="Calibri"/>
                <a:cs typeface="Calibri"/>
              </a:rPr>
              <a:t>// La instrucción JSX anterior se </a:t>
            </a:r>
            <a:r>
              <a:rPr lang="es-ES" err="1">
                <a:latin typeface="Consolas"/>
                <a:ea typeface="Calibri"/>
                <a:cs typeface="Calibri"/>
              </a:rPr>
              <a:t>transpila</a:t>
            </a:r>
            <a:r>
              <a:rPr lang="es-ES">
                <a:latin typeface="Consolas"/>
                <a:ea typeface="Calibri"/>
                <a:cs typeface="Calibri"/>
              </a:rPr>
              <a:t> como:</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elemento = </a:t>
            </a:r>
            <a:r>
              <a:rPr lang="es-ES" err="1">
                <a:latin typeface="Consolas"/>
                <a:ea typeface="Calibri"/>
                <a:cs typeface="Calibri"/>
              </a:rPr>
              <a:t>React.createElement</a:t>
            </a:r>
            <a:r>
              <a:rPr lang="es-ES">
                <a:latin typeface="Consolas"/>
                <a:ea typeface="Calibri"/>
                <a:cs typeface="Calibri"/>
              </a:rPr>
              <a:t>('h1', </a:t>
            </a:r>
            <a:r>
              <a:rPr lang="es-ES" err="1">
                <a:latin typeface="Consolas"/>
                <a:ea typeface="Calibri"/>
                <a:cs typeface="Calibri"/>
              </a:rPr>
              <a:t>null</a:t>
            </a:r>
            <a:r>
              <a:rPr lang="es-ES">
                <a:latin typeface="Consolas"/>
                <a:ea typeface="Calibri"/>
                <a:cs typeface="Calibri"/>
              </a:rPr>
              <a:t>, 'Hola, mundo!');</a:t>
            </a:r>
          </a:p>
          <a:p>
            <a:pPr marL="342900" indent="-342900">
              <a:buFont typeface="Arial"/>
              <a:buChar char="•"/>
            </a:pPr>
            <a:r>
              <a:rPr lang="es-ES">
                <a:latin typeface="Calibri"/>
                <a:ea typeface="Calibri"/>
                <a:cs typeface="Calibri"/>
              </a:rPr>
              <a:t>Los elementos JSX pueden ser etiquetas HTML o componentes de </a:t>
            </a:r>
            <a:r>
              <a:rPr lang="es-ES" err="1">
                <a:latin typeface="Calibri"/>
                <a:ea typeface="Calibri"/>
                <a:cs typeface="Calibri"/>
              </a:rPr>
              <a:t>React</a:t>
            </a:r>
            <a:r>
              <a:rPr lang="es-ES">
                <a:latin typeface="Calibri"/>
                <a:ea typeface="Calibri"/>
                <a:cs typeface="Calibri"/>
              </a:rPr>
              <a:t>.</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elementoHTML</a:t>
            </a:r>
            <a:r>
              <a:rPr lang="es-ES">
                <a:latin typeface="Consolas"/>
                <a:ea typeface="Calibri"/>
                <a:cs typeface="Calibri"/>
              </a:rPr>
              <a:t> = &lt;</a:t>
            </a:r>
            <a:r>
              <a:rPr lang="es-ES" err="1">
                <a:latin typeface="Consolas"/>
                <a:ea typeface="Calibri"/>
                <a:cs typeface="Calibri"/>
              </a:rPr>
              <a:t>div</a:t>
            </a:r>
            <a:r>
              <a:rPr lang="es-ES">
                <a:latin typeface="Consolas"/>
                <a:ea typeface="Calibri"/>
                <a:cs typeface="Calibri"/>
              </a:rPr>
              <a:t>&gt;Esto es un </a:t>
            </a:r>
            <a:r>
              <a:rPr lang="es-ES" err="1">
                <a:latin typeface="Consolas"/>
                <a:ea typeface="Calibri"/>
                <a:cs typeface="Calibri"/>
              </a:rPr>
              <a:t>div</a:t>
            </a:r>
            <a:r>
              <a:rPr lang="es-ES">
                <a:latin typeface="Consolas"/>
                <a:ea typeface="Calibri"/>
                <a:cs typeface="Calibri"/>
              </a:rPr>
              <a:t>&lt;/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elementoReact</a:t>
            </a:r>
            <a:r>
              <a:rPr lang="es-ES">
                <a:latin typeface="Consolas"/>
                <a:ea typeface="Calibri"/>
                <a:cs typeface="Calibri"/>
              </a:rPr>
              <a:t> = &lt;</a:t>
            </a:r>
            <a:r>
              <a:rPr lang="es-ES" err="1">
                <a:latin typeface="Consolas"/>
                <a:ea typeface="Calibri"/>
                <a:cs typeface="Calibri"/>
              </a:rPr>
              <a:t>MiComponente</a:t>
            </a:r>
            <a:r>
              <a:rPr lang="es-ES">
                <a:latin typeface="Consolas"/>
                <a:ea typeface="Calibri"/>
                <a:cs typeface="Calibri"/>
              </a:rPr>
              <a:t> /&gt;;</a:t>
            </a:r>
          </a:p>
          <a:p>
            <a:pPr marL="342900" indent="-342900">
              <a:buFont typeface="Arial"/>
              <a:buChar char="•"/>
            </a:pPr>
            <a:r>
              <a:rPr lang="es-ES">
                <a:latin typeface="Calibri"/>
                <a:ea typeface="Calibri"/>
                <a:cs typeface="Calibri"/>
              </a:rPr>
              <a:t>Los atributos en JSX se escriben de manera similar a los atributos HTML, pero utilizan </a:t>
            </a:r>
            <a:r>
              <a:rPr lang="es-ES" err="1">
                <a:latin typeface="Calibri"/>
                <a:ea typeface="Calibri"/>
                <a:cs typeface="Calibri"/>
              </a:rPr>
              <a:t>camelCase</a:t>
            </a:r>
            <a:r>
              <a:rPr lang="es-ES">
                <a:latin typeface="Calibri"/>
                <a:ea typeface="Calibri"/>
                <a:cs typeface="Calibri"/>
              </a:rPr>
              <a:t> para los nombres de los atributos.</a:t>
            </a:r>
          </a:p>
          <a:p>
            <a:r>
              <a:rPr lang="es-ES" err="1">
                <a:latin typeface="Consolas"/>
                <a:ea typeface="Calibri"/>
                <a:cs typeface="Calibri"/>
              </a:rPr>
              <a:t>const</a:t>
            </a:r>
            <a:r>
              <a:rPr lang="es-ES">
                <a:latin typeface="Consolas"/>
                <a:ea typeface="Calibri"/>
                <a:cs typeface="Calibri"/>
              </a:rPr>
              <a:t> elemento = &lt;</a:t>
            </a:r>
            <a:r>
              <a:rPr lang="es-ES" err="1">
                <a:latin typeface="Consolas"/>
                <a:ea typeface="Calibri"/>
                <a:cs typeface="Calibri"/>
              </a:rPr>
              <a:t>img</a:t>
            </a:r>
            <a:r>
              <a:rPr lang="es-ES">
                <a:latin typeface="Consolas"/>
                <a:ea typeface="Calibri"/>
                <a:cs typeface="Calibri"/>
              </a:rPr>
              <a:t> </a:t>
            </a:r>
            <a:r>
              <a:rPr lang="es-ES" err="1">
                <a:latin typeface="Consolas"/>
                <a:ea typeface="Calibri"/>
                <a:cs typeface="Calibri"/>
              </a:rPr>
              <a:t>src</a:t>
            </a:r>
            <a:r>
              <a:rPr lang="es-ES">
                <a:latin typeface="Consolas"/>
                <a:ea typeface="Calibri"/>
                <a:cs typeface="Calibri"/>
              </a:rPr>
              <a:t>="imagen.jpg" </a:t>
            </a:r>
            <a:r>
              <a:rPr lang="es-ES" err="1">
                <a:latin typeface="Consolas"/>
                <a:ea typeface="Calibri"/>
                <a:cs typeface="Calibri"/>
              </a:rPr>
              <a:t>alt</a:t>
            </a:r>
            <a:r>
              <a:rPr lang="es-ES">
                <a:latin typeface="Consolas"/>
                <a:ea typeface="Calibri"/>
                <a:cs typeface="Calibri"/>
              </a:rPr>
              <a:t>="Descripción de la imagen" /&gt;;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boton</a:t>
            </a:r>
            <a:r>
              <a:rPr lang="es-ES">
                <a:latin typeface="Consolas"/>
                <a:ea typeface="Calibri"/>
                <a:cs typeface="Calibri"/>
              </a:rPr>
              <a:t> = &lt;</a:t>
            </a:r>
            <a:r>
              <a:rPr lang="es-ES" err="1">
                <a:latin typeface="Consolas"/>
                <a:ea typeface="Calibri"/>
                <a:cs typeface="Calibri"/>
              </a:rPr>
              <a:t>button</a:t>
            </a:r>
            <a:r>
              <a:rPr lang="es-ES">
                <a:latin typeface="Consolas"/>
                <a:ea typeface="Calibri"/>
                <a:cs typeface="Calibri"/>
              </a:rPr>
              <a:t> </a:t>
            </a:r>
            <a:r>
              <a:rPr lang="es-ES" err="1">
                <a:latin typeface="Consolas"/>
                <a:ea typeface="Calibri"/>
                <a:cs typeface="Calibri"/>
              </a:rPr>
              <a:t>onClick</a:t>
            </a:r>
            <a:r>
              <a:rPr lang="es-ES">
                <a:latin typeface="Consolas"/>
                <a:ea typeface="Calibri"/>
                <a:cs typeface="Calibri"/>
              </a:rPr>
              <a:t>={</a:t>
            </a:r>
            <a:r>
              <a:rPr lang="es-ES" err="1">
                <a:latin typeface="Consolas"/>
                <a:ea typeface="Calibri"/>
                <a:cs typeface="Calibri"/>
              </a:rPr>
              <a:t>manejarClick</a:t>
            </a:r>
            <a:r>
              <a:rPr lang="es-ES">
                <a:latin typeface="Consolas"/>
                <a:ea typeface="Calibri"/>
                <a:cs typeface="Calibri"/>
              </a:rPr>
              <a:t>}&gt;Clic aquí&lt;/</a:t>
            </a:r>
            <a:r>
              <a:rPr lang="es-ES" err="1">
                <a:latin typeface="Consolas"/>
                <a:ea typeface="Calibri"/>
                <a:cs typeface="Calibri"/>
              </a:rPr>
              <a:t>button</a:t>
            </a:r>
            <a:r>
              <a:rPr lang="es-ES">
                <a:latin typeface="Consolas"/>
                <a:ea typeface="Calibri"/>
                <a:cs typeface="Calibri"/>
              </a:rPr>
              <a:t>&gt;;</a:t>
            </a:r>
          </a:p>
        </p:txBody>
      </p:sp>
    </p:spTree>
    <p:extLst>
      <p:ext uri="{BB962C8B-B14F-4D97-AF65-F5344CB8AC3E}">
        <p14:creationId xmlns:p14="http://schemas.microsoft.com/office/powerpoint/2010/main" val="8551378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129CE-8C4A-3DDD-6849-BD8FDF3EAC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3E48D4-4118-CFB8-5E4A-D986653D047A}"/>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3DEA7C43-8B60-2E1A-9898-90D7308F8F2E}"/>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JSX permite la inclusión de expresiones de JavaScript utilizando llaves {}.</a:t>
            </a:r>
          </a:p>
          <a:p>
            <a:r>
              <a:rPr lang="es-ES" err="1">
                <a:latin typeface="Consolas"/>
                <a:ea typeface="Calibri"/>
                <a:cs typeface="Calibri"/>
              </a:rPr>
              <a:t>const</a:t>
            </a:r>
            <a:r>
              <a:rPr lang="es-ES">
                <a:latin typeface="Consolas"/>
                <a:ea typeface="Calibri"/>
                <a:cs typeface="Calibri"/>
              </a:rPr>
              <a:t> nombre = "Diego";</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saludo = &lt;h1&gt;Hola, {nombre}!&lt;/h1&gt;;</a:t>
            </a:r>
          </a:p>
          <a:p>
            <a:pPr marL="342900" indent="-342900">
              <a:buFont typeface="Arial"/>
              <a:buChar char="•"/>
            </a:pPr>
            <a:r>
              <a:rPr lang="es-ES">
                <a:latin typeface="Calibri"/>
                <a:ea typeface="Calibri"/>
                <a:cs typeface="Calibri"/>
              </a:rPr>
              <a:t>Cuando hay que crear condicionales dentro del código, se utiliza el operador ternario.</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esUsuario</a:t>
            </a:r>
            <a:r>
              <a:rPr lang="es-ES">
                <a:latin typeface="Consolas"/>
                <a:ea typeface="Calibri"/>
                <a:cs typeface="Calibri"/>
              </a:rPr>
              <a:t> = true;</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mensaje = &lt;p&gt;{</a:t>
            </a:r>
            <a:r>
              <a:rPr lang="es-ES" err="1">
                <a:latin typeface="Consolas"/>
                <a:ea typeface="Calibri"/>
                <a:cs typeface="Calibri"/>
              </a:rPr>
              <a:t>esUsuario</a:t>
            </a:r>
            <a:r>
              <a:rPr lang="es-ES">
                <a:latin typeface="Consolas"/>
                <a:ea typeface="Calibri"/>
                <a:cs typeface="Calibri"/>
              </a:rPr>
              <a:t> ? "Bienvenido de nuevo!" : "Por favor, regístrate."}&lt;/p&gt;;</a:t>
            </a:r>
          </a:p>
          <a:p>
            <a:pPr marL="342900" indent="-342900">
              <a:buFont typeface="Arial"/>
              <a:buChar char="•"/>
            </a:pPr>
            <a:r>
              <a:rPr lang="es-ES">
                <a:latin typeface="Calibri"/>
                <a:ea typeface="Calibri"/>
                <a:cs typeface="Calibri"/>
              </a:rPr>
              <a:t>También permite renderizar listas de elementos utilizando el método </a:t>
            </a:r>
            <a:r>
              <a:rPr lang="es-ES" err="1">
                <a:latin typeface="Calibri"/>
                <a:ea typeface="Calibri"/>
                <a:cs typeface="Calibri"/>
              </a:rPr>
              <a:t>map</a:t>
            </a:r>
            <a:r>
              <a:rPr lang="es-ES">
                <a:latin typeface="Calibri"/>
                <a:ea typeface="Calibri"/>
                <a:cs typeface="Calibri"/>
              </a:rPr>
              <a:t> de los </a:t>
            </a:r>
            <a:r>
              <a:rPr lang="es-ES" err="1">
                <a:latin typeface="Calibri"/>
                <a:ea typeface="Calibri"/>
                <a:cs typeface="Calibri"/>
              </a:rPr>
              <a:t>arrays</a:t>
            </a:r>
            <a:r>
              <a:rPr lang="es-ES">
                <a:latin typeface="Calibri"/>
                <a:ea typeface="Calibri"/>
                <a:cs typeface="Calibri"/>
              </a:rPr>
              <a:t>.</a:t>
            </a: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numeros</a:t>
            </a:r>
            <a:r>
              <a:rPr lang="es-ES">
                <a:latin typeface="Consolas"/>
                <a:ea typeface="Calibri"/>
                <a:cs typeface="Calibri"/>
              </a:rPr>
              <a:t> = [1, 2, 3, 4, 5];</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listaNumeros</a:t>
            </a:r>
            <a:r>
              <a:rPr lang="es-ES">
                <a:latin typeface="Consolas"/>
                <a:ea typeface="Calibri"/>
                <a:cs typeface="Calibri"/>
              </a:rPr>
              <a:t> = </a:t>
            </a:r>
            <a:r>
              <a:rPr lang="es-ES" err="1">
                <a:latin typeface="Consolas"/>
                <a:ea typeface="Calibri"/>
                <a:cs typeface="Calibri"/>
              </a:rPr>
              <a:t>numeros.map</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 =&gt; &lt;</a:t>
            </a:r>
            <a:r>
              <a:rPr lang="es-ES" err="1">
                <a:latin typeface="Consolas"/>
                <a:ea typeface="Calibri"/>
                <a:cs typeface="Calibri"/>
              </a:rPr>
              <a:t>li</a:t>
            </a:r>
            <a:r>
              <a:rPr lang="es-ES">
                <a:latin typeface="Consolas"/>
                <a:ea typeface="Calibri"/>
                <a:cs typeface="Calibri"/>
              </a:rPr>
              <a:t> </a:t>
            </a:r>
            <a:r>
              <a:rPr lang="es-ES" err="1">
                <a:latin typeface="Consolas"/>
                <a:ea typeface="Calibri"/>
                <a:cs typeface="Calibri"/>
              </a:rPr>
              <a:t>key</a:t>
            </a:r>
            <a:r>
              <a:rPr lang="es-ES">
                <a:latin typeface="Consolas"/>
                <a:ea typeface="Calibri"/>
                <a:cs typeface="Calibri"/>
              </a:rPr>
              <a:t>={</a:t>
            </a:r>
            <a:r>
              <a:rPr lang="es-ES" err="1">
                <a:latin typeface="Consolas"/>
                <a:ea typeface="Calibri"/>
                <a:cs typeface="Calibri"/>
              </a:rPr>
              <a:t>num</a:t>
            </a:r>
            <a:r>
              <a:rPr lang="es-ES">
                <a:latin typeface="Consolas"/>
                <a:ea typeface="Calibri"/>
                <a:cs typeface="Calibri"/>
              </a:rPr>
              <a:t>}&gt;{</a:t>
            </a:r>
            <a:r>
              <a:rPr lang="es-ES" err="1">
                <a:latin typeface="Consolas"/>
                <a:ea typeface="Calibri"/>
                <a:cs typeface="Calibri"/>
              </a:rPr>
              <a:t>num</a:t>
            </a:r>
            <a:r>
              <a:rPr lang="es-ES">
                <a:latin typeface="Consolas"/>
                <a:ea typeface="Calibri"/>
                <a:cs typeface="Calibri"/>
              </a:rPr>
              <a:t>}&lt;/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lista = &lt;</a:t>
            </a:r>
            <a:r>
              <a:rPr lang="es-ES" err="1">
                <a:latin typeface="Consolas"/>
                <a:ea typeface="Calibri"/>
                <a:cs typeface="Calibri"/>
              </a:rPr>
              <a:t>ul</a:t>
            </a:r>
            <a:r>
              <a:rPr lang="es-ES">
                <a:latin typeface="Consolas"/>
                <a:ea typeface="Calibri"/>
                <a:cs typeface="Calibri"/>
              </a:rPr>
              <a:t>&gt;{</a:t>
            </a:r>
            <a:r>
              <a:rPr lang="es-ES" err="1">
                <a:latin typeface="Consolas"/>
                <a:ea typeface="Calibri"/>
                <a:cs typeface="Calibri"/>
              </a:rPr>
              <a:t>listaNumeros</a:t>
            </a:r>
            <a:r>
              <a:rPr lang="es-ES">
                <a:latin typeface="Consolas"/>
                <a:ea typeface="Calibri"/>
                <a:cs typeface="Calibri"/>
              </a:rPr>
              <a:t>}&lt;/</a:t>
            </a:r>
            <a:r>
              <a:rPr lang="es-ES" err="1">
                <a:latin typeface="Consolas"/>
                <a:ea typeface="Calibri"/>
                <a:cs typeface="Calibri"/>
              </a:rPr>
              <a:t>ul</a:t>
            </a:r>
            <a:r>
              <a:rPr lang="es-ES">
                <a:latin typeface="Consolas"/>
                <a:ea typeface="Calibri"/>
                <a:cs typeface="Calibri"/>
              </a:rPr>
              <a:t>&gt;;</a:t>
            </a:r>
          </a:p>
        </p:txBody>
      </p:sp>
    </p:spTree>
    <p:extLst>
      <p:ext uri="{BB962C8B-B14F-4D97-AF65-F5344CB8AC3E}">
        <p14:creationId xmlns:p14="http://schemas.microsoft.com/office/powerpoint/2010/main" val="20396278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A6FA5-2A55-04EB-1863-F4D19C63A6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B4BF52-D2C1-3ABF-A9A5-F9EA96C74FBD}"/>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6164CDCC-1785-87A3-E438-CEFE7FE4BF13}"/>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Los componentes pueden ser utilizados dentro de JSX como si fueran elementos HTML. Los nombres de los componentes deben comenzar con mayúscula y es importante el uso de </a:t>
            </a:r>
            <a:r>
              <a:rPr lang="es-ES" err="1">
                <a:latin typeface="Calibri"/>
                <a:ea typeface="Calibri"/>
                <a:cs typeface="Calibri"/>
              </a:rPr>
              <a:t>camelCase</a:t>
            </a:r>
            <a:r>
              <a:rPr lang="es-ES">
                <a:latin typeface="Calibri"/>
                <a:ea typeface="Calibri"/>
                <a:cs typeface="Calibri"/>
              </a:rPr>
              <a:t> en todo el nombre por claridad.</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ComponenteSaludo</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&lt;h1&gt;Hola, {</a:t>
            </a:r>
            <a:r>
              <a:rPr lang="es-ES" err="1">
                <a:latin typeface="Consolas"/>
                <a:ea typeface="Calibri"/>
                <a:cs typeface="Calibri"/>
              </a:rPr>
              <a:t>props.nombre</a:t>
            </a:r>
            <a:r>
              <a:rPr lang="es-ES">
                <a:latin typeface="Consolas"/>
                <a:ea typeface="Calibri"/>
                <a:cs typeface="Calibri"/>
              </a:rPr>
              <a:t>}!&lt;/h1&gt;;</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const</a:t>
            </a:r>
            <a:r>
              <a:rPr lang="es-ES">
                <a:latin typeface="Consolas"/>
                <a:ea typeface="Calibri"/>
                <a:cs typeface="Calibri"/>
              </a:rPr>
              <a:t> elemento = &lt;</a:t>
            </a:r>
            <a:r>
              <a:rPr lang="es-ES" err="1">
                <a:latin typeface="Consolas"/>
                <a:ea typeface="Calibri"/>
                <a:cs typeface="Calibri"/>
              </a:rPr>
              <a:t>ComponenteSaludo</a:t>
            </a:r>
            <a:r>
              <a:rPr lang="es-ES">
                <a:latin typeface="Consolas"/>
                <a:ea typeface="Calibri"/>
                <a:cs typeface="Calibri"/>
              </a:rPr>
              <a:t> nombre="Juan" /&gt;;</a:t>
            </a:r>
          </a:p>
          <a:p>
            <a:pPr marL="342900" indent="-342900">
              <a:buFont typeface="Arial"/>
              <a:buChar char="•"/>
            </a:pPr>
            <a:r>
              <a:rPr lang="es-ES">
                <a:latin typeface="Calibri"/>
                <a:ea typeface="Calibri"/>
                <a:cs typeface="Calibri"/>
              </a:rPr>
              <a:t>Los fragmentos permiten agrupar varios elementos sin agregar nodos adicionales al DOM. Se utilizan con la etiqueta &lt;</a:t>
            </a:r>
            <a:r>
              <a:rPr lang="es-ES" err="1">
                <a:latin typeface="Calibri"/>
                <a:ea typeface="Calibri"/>
                <a:cs typeface="Calibri"/>
              </a:rPr>
              <a:t>React.Fragment</a:t>
            </a:r>
            <a:r>
              <a:rPr lang="es-ES">
                <a:latin typeface="Calibri"/>
                <a:ea typeface="Calibri"/>
                <a:cs typeface="Calibri"/>
              </a:rPr>
              <a:t>&gt; o su forma abreviada &lt;&gt;.</a:t>
            </a:r>
          </a:p>
          <a:p>
            <a:r>
              <a:rPr lang="es-ES" err="1">
                <a:latin typeface="Consolas"/>
                <a:ea typeface="Calibri"/>
                <a:cs typeface="Calibri"/>
              </a:rPr>
              <a:t>function</a:t>
            </a:r>
            <a:r>
              <a:rPr lang="es-ES">
                <a:latin typeface="Consolas"/>
                <a:ea typeface="Calibri"/>
                <a:cs typeface="Calibri"/>
              </a:rPr>
              <a:t> Lista()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li</a:t>
            </a:r>
            <a:r>
              <a:rPr lang="es-ES">
                <a:latin typeface="Consolas"/>
                <a:ea typeface="Calibri"/>
                <a:cs typeface="Calibri"/>
              </a:rPr>
              <a:t>&gt;Elemento 1&lt;/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li</a:t>
            </a:r>
            <a:r>
              <a:rPr lang="es-ES">
                <a:latin typeface="Consolas"/>
                <a:ea typeface="Calibri"/>
                <a:cs typeface="Calibri"/>
              </a:rPr>
              <a:t>&gt;Elemento 2&lt;/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li</a:t>
            </a:r>
            <a:r>
              <a:rPr lang="es-ES">
                <a:latin typeface="Consolas"/>
                <a:ea typeface="Calibri"/>
                <a:cs typeface="Calibri"/>
              </a:rPr>
              <a:t>&gt;Elemento 3&lt;/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p>
        </p:txBody>
      </p:sp>
    </p:spTree>
    <p:extLst>
      <p:ext uri="{BB962C8B-B14F-4D97-AF65-F5344CB8AC3E}">
        <p14:creationId xmlns:p14="http://schemas.microsoft.com/office/powerpoint/2010/main" val="27330626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849EC-CFE8-43E8-E189-757BF288291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55EF36-3114-16AC-9FF1-A6F50289D270}"/>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544F5733-6D54-127C-E1F8-ABECD172DF47}"/>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Se pueden usar expresiones condicionales y bucles dentro de JSX para renderizar elementos de manera dinámica.</a:t>
            </a:r>
          </a:p>
          <a:p>
            <a:r>
              <a:rPr lang="es-ES">
                <a:latin typeface="Consolas"/>
                <a:ea typeface="Calibri"/>
                <a:cs typeface="Calibri"/>
              </a:rPr>
              <a:t>    </a:t>
            </a:r>
            <a:r>
              <a:rPr lang="es-ES" err="1">
                <a:latin typeface="Consolas"/>
                <a:ea typeface="Calibri"/>
                <a:cs typeface="Calibri"/>
              </a:rPr>
              <a:t>function</a:t>
            </a:r>
            <a:r>
              <a:rPr lang="es-ES">
                <a:latin typeface="Consolas"/>
                <a:ea typeface="Calibri"/>
                <a:cs typeface="Calibri"/>
              </a:rPr>
              <a:t> Saludo({ </a:t>
            </a:r>
            <a:r>
              <a:rPr lang="es-ES" err="1">
                <a:latin typeface="Consolas"/>
                <a:ea typeface="Calibri"/>
                <a:cs typeface="Calibri"/>
              </a:rPr>
              <a:t>esUsuario</a:t>
            </a:r>
            <a:r>
              <a:rPr lang="es-ES">
                <a:latin typeface="Consolas"/>
                <a:ea typeface="Calibri"/>
                <a:cs typeface="Calibri"/>
              </a:rPr>
              <a:t>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esUsuario</a:t>
            </a:r>
            <a:r>
              <a:rPr lang="es-ES">
                <a:latin typeface="Consolas"/>
                <a:ea typeface="Calibri"/>
                <a:cs typeface="Calibri"/>
              </a:rPr>
              <a:t> ? &lt;h1&gt;Bienvenido de nuevo!&lt;/h1&gt; : &lt;h1&gt;Por favor, regístrate.&lt;/h1&gt;}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ListaDeElementos</a:t>
            </a:r>
            <a:r>
              <a:rPr lang="es-ES">
                <a:latin typeface="Consolas"/>
                <a:ea typeface="Calibri"/>
                <a:cs typeface="Calibri"/>
              </a:rPr>
              <a:t>({ elementos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ul</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elementos.map</a:t>
            </a:r>
            <a:r>
              <a:rPr lang="es-ES">
                <a:latin typeface="Consolas"/>
                <a:ea typeface="Calibri"/>
                <a:cs typeface="Calibri"/>
              </a:rPr>
              <a:t>((elemento, </a:t>
            </a:r>
            <a:r>
              <a:rPr lang="es-ES" err="1">
                <a:latin typeface="Consolas"/>
                <a:ea typeface="Calibri"/>
                <a:cs typeface="Calibri"/>
              </a:rPr>
              <a:t>index</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li</a:t>
            </a:r>
            <a:r>
              <a:rPr lang="es-ES">
                <a:latin typeface="Consolas"/>
                <a:ea typeface="Calibri"/>
                <a:cs typeface="Calibri"/>
              </a:rPr>
              <a:t> </a:t>
            </a:r>
            <a:r>
              <a:rPr lang="es-ES" err="1">
                <a:latin typeface="Consolas"/>
                <a:ea typeface="Calibri"/>
                <a:cs typeface="Calibri"/>
              </a:rPr>
              <a:t>key</a:t>
            </a:r>
            <a:r>
              <a:rPr lang="es-ES">
                <a:latin typeface="Consolas"/>
                <a:ea typeface="Calibri"/>
                <a:cs typeface="Calibri"/>
              </a:rPr>
              <a:t>={</a:t>
            </a:r>
            <a:r>
              <a:rPr lang="es-ES" err="1">
                <a:latin typeface="Consolas"/>
                <a:ea typeface="Calibri"/>
                <a:cs typeface="Calibri"/>
              </a:rPr>
              <a:t>index</a:t>
            </a:r>
            <a:r>
              <a:rPr lang="es-ES">
                <a:latin typeface="Consolas"/>
                <a:ea typeface="Calibri"/>
                <a:cs typeface="Calibri"/>
              </a:rPr>
              <a:t>}&gt;{elemento}&lt;/</a:t>
            </a:r>
            <a:r>
              <a:rPr lang="es-ES" err="1">
                <a:latin typeface="Consolas"/>
                <a:ea typeface="Calibri"/>
                <a:cs typeface="Calibri"/>
              </a:rPr>
              <a:t>li</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ul</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p>
        </p:txBody>
      </p:sp>
    </p:spTree>
    <p:extLst>
      <p:ext uri="{BB962C8B-B14F-4D97-AF65-F5344CB8AC3E}">
        <p14:creationId xmlns:p14="http://schemas.microsoft.com/office/powerpoint/2010/main" val="14980809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00C58-5CB2-B129-9354-0D6AA022EF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21B613-68E9-5290-CD0E-656CE3053A61}"/>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6C1CA4DA-7B6F-F9E9-4CEF-C2DE53AB4C38}"/>
              </a:ext>
            </a:extLst>
          </p:cNvPr>
          <p:cNvSpPr>
            <a:spLocks noGrp="1"/>
          </p:cNvSpPr>
          <p:nvPr>
            <p:ph idx="1"/>
          </p:nvPr>
        </p:nvSpPr>
        <p:spPr/>
        <p:txBody>
          <a:bodyPr vert="horz" lIns="91440" tIns="45720" rIns="91440" bIns="45720" rtlCol="0" anchor="t">
            <a:normAutofit fontScale="62500" lnSpcReduction="20000"/>
          </a:bodyPr>
          <a:lstStyle/>
          <a:p>
            <a:pPr marL="342900" indent="-342900">
              <a:buFont typeface="Arial"/>
              <a:buChar char="•"/>
            </a:pPr>
            <a:r>
              <a:rPr lang="es-ES">
                <a:latin typeface="Calibri"/>
                <a:ea typeface="Calibri"/>
                <a:cs typeface="Calibri"/>
              </a:rPr>
              <a:t>En este ejemplo, App es un componente que utiliza el componente Tarjeta para renderizar varias tarjetas con diferentes títulos y contenidos.</a:t>
            </a:r>
          </a:p>
          <a:p>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Tarjeta({ titulo, contenido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 </a:t>
            </a:r>
            <a:r>
              <a:rPr lang="es-ES" err="1">
                <a:latin typeface="Consolas"/>
                <a:ea typeface="Calibri"/>
                <a:cs typeface="Calibri"/>
              </a:rPr>
              <a:t>className</a:t>
            </a:r>
            <a:r>
              <a:rPr lang="es-ES">
                <a:latin typeface="Consolas"/>
                <a:ea typeface="Calibri"/>
                <a:cs typeface="Calibri"/>
              </a:rPr>
              <a:t>="tarjeta"&gt; {/* Cuerpo del componente con la clase tarjeta */}</a:t>
            </a:r>
            <a:br>
              <a:rPr lang="es-ES">
                <a:latin typeface="Consolas"/>
                <a:ea typeface="Calibri"/>
                <a:cs typeface="Calibri"/>
              </a:rPr>
            </a:br>
            <a:r>
              <a:rPr lang="es-ES">
                <a:latin typeface="Consolas"/>
                <a:ea typeface="Calibri"/>
                <a:cs typeface="Calibri"/>
              </a:rPr>
              <a:t>           &lt;h2&gt;{titulo}&lt;/h2&gt;     </a:t>
            </a:r>
            <a:r>
              <a:rPr lang="es-ES" sz="2100">
                <a:latin typeface="Consolas"/>
                <a:ea typeface="Calibri"/>
                <a:cs typeface="Calibri"/>
              </a:rPr>
              <a:t>{/* Titular de la tarjeta */}</a:t>
            </a:r>
            <a:br>
              <a:rPr lang="es-ES">
                <a:latin typeface="Consolas"/>
                <a:ea typeface="Calibri"/>
                <a:cs typeface="Calibri"/>
              </a:rPr>
            </a:br>
            <a:r>
              <a:rPr lang="es-ES">
                <a:latin typeface="Consolas"/>
                <a:ea typeface="Calibri"/>
                <a:cs typeface="Calibri"/>
              </a:rPr>
              <a:t>           &lt;p&gt;{contenido}&lt;/p&gt;    </a:t>
            </a:r>
            <a:r>
              <a:rPr lang="es-ES" sz="2100">
                <a:latin typeface="Consolas"/>
                <a:ea typeface="Calibri"/>
                <a:cs typeface="Calibri"/>
              </a:rPr>
              <a:t>{/* Contenido de la tarjeta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App()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&lt;Tarjeta titulo="Título 1" contenido="Contenido de la tarjeta 1" /&gt;</a:t>
            </a:r>
            <a:br>
              <a:rPr lang="es-ES">
                <a:latin typeface="Consolas"/>
                <a:ea typeface="Calibri"/>
                <a:cs typeface="Calibri"/>
              </a:rPr>
            </a:br>
            <a:r>
              <a:rPr lang="es-ES">
                <a:latin typeface="Consolas"/>
                <a:ea typeface="Calibri"/>
                <a:cs typeface="Calibri"/>
              </a:rPr>
              <a:t>           &lt;Tarjeta titulo="Título 2" contenido="Contenido de la tarjeta 2" /&gt;</a:t>
            </a:r>
            <a:br>
              <a:rPr lang="es-ES">
                <a:latin typeface="Consolas"/>
                <a:ea typeface="Calibri"/>
                <a:cs typeface="Calibri"/>
              </a:rPr>
            </a:br>
            <a:r>
              <a:rPr lang="es-ES">
                <a:latin typeface="Consolas"/>
                <a:ea typeface="Calibri"/>
                <a:cs typeface="Calibri"/>
              </a:rPr>
              <a:t>           &lt;Tarjeta titulo="Título 3" contenido="Contenido de la tarjeta 3" /&gt;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App;</a:t>
            </a:r>
          </a:p>
          <a:p>
            <a:endParaRPr lang="es-ES">
              <a:latin typeface="Calibri"/>
              <a:ea typeface="Calibri"/>
              <a:cs typeface="Calibri"/>
            </a:endParaRPr>
          </a:p>
        </p:txBody>
      </p:sp>
    </p:spTree>
    <p:extLst>
      <p:ext uri="{BB962C8B-B14F-4D97-AF65-F5344CB8AC3E}">
        <p14:creationId xmlns:p14="http://schemas.microsoft.com/office/powerpoint/2010/main" val="5422754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40874-1B4C-1BF1-C53F-6DEDBB34B2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817B96-A5B5-465D-E883-4380A047690D}"/>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2D198CF0-EB1F-9062-3EFE-E031EFE253AA}"/>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err="1">
                <a:ea typeface="+mn-lt"/>
                <a:cs typeface="+mn-lt"/>
              </a:rPr>
              <a:t>React-router</a:t>
            </a:r>
            <a:r>
              <a:rPr lang="es-ES" dirty="0">
                <a:ea typeface="+mn-lt"/>
                <a:cs typeface="+mn-lt"/>
              </a:rPr>
              <a:t>: Incluir la instalación y configuración de </a:t>
            </a:r>
            <a:r>
              <a:rPr lang="es-ES" dirty="0" err="1">
                <a:ea typeface="+mn-lt"/>
                <a:cs typeface="+mn-lt"/>
              </a:rPr>
              <a:t>React</a:t>
            </a:r>
            <a:r>
              <a:rPr lang="es-ES" dirty="0">
                <a:ea typeface="+mn-lt"/>
                <a:cs typeface="+mn-lt"/>
              </a:rPr>
              <a:t> </a:t>
            </a:r>
            <a:r>
              <a:rPr lang="es-ES" dirty="0" err="1">
                <a:ea typeface="+mn-lt"/>
                <a:cs typeface="+mn-lt"/>
              </a:rPr>
              <a:t>Router</a:t>
            </a:r>
            <a:r>
              <a:rPr lang="es-ES" dirty="0">
                <a:ea typeface="+mn-lt"/>
                <a:cs typeface="+mn-lt"/>
              </a:rPr>
              <a:t> para la navegación.</a:t>
            </a:r>
          </a:p>
          <a:p>
            <a:endParaRPr lang="es-ES">
              <a:latin typeface="Calibri"/>
              <a:ea typeface="Calibri"/>
              <a:cs typeface="Calibri"/>
            </a:endParaRPr>
          </a:p>
        </p:txBody>
      </p:sp>
    </p:spTree>
    <p:extLst>
      <p:ext uri="{BB962C8B-B14F-4D97-AF65-F5344CB8AC3E}">
        <p14:creationId xmlns:p14="http://schemas.microsoft.com/office/powerpoint/2010/main" val="4421362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A1E48-E7DB-6E38-DBFC-B16F4FB622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0850C3-132B-00A4-A18B-37621A130CCC}"/>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A86C3DE2-C410-C30F-DB1C-BD04E170B26A}"/>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Navegar entre páginas diferentes: Introducir el concepto de navegación en aplicaciones </a:t>
            </a:r>
            <a:r>
              <a:rPr lang="es-ES" dirty="0" err="1">
                <a:ea typeface="+mn-lt"/>
                <a:cs typeface="+mn-lt"/>
              </a:rPr>
              <a:t>React</a:t>
            </a:r>
            <a:r>
              <a:rPr lang="es-ES" dirty="0">
                <a:ea typeface="+mn-lt"/>
                <a:cs typeface="+mn-lt"/>
              </a:rPr>
              <a:t>.</a:t>
            </a:r>
            <a:endParaRPr lang="es-ES" dirty="0" err="1">
              <a:ea typeface="+mn-lt"/>
              <a:cs typeface="+mn-lt"/>
            </a:endParaRPr>
          </a:p>
          <a:p>
            <a:endParaRPr lang="es-ES">
              <a:latin typeface="Calibri"/>
              <a:ea typeface="Calibri"/>
              <a:cs typeface="Calibri"/>
            </a:endParaRPr>
          </a:p>
        </p:txBody>
      </p:sp>
    </p:spTree>
    <p:extLst>
      <p:ext uri="{BB962C8B-B14F-4D97-AF65-F5344CB8AC3E}">
        <p14:creationId xmlns:p14="http://schemas.microsoft.com/office/powerpoint/2010/main" val="42176275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1A1DD-3B4F-C5FF-D96F-D3C5997FEF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F84A927-C92F-88E4-C09E-00DB9779FA2C}"/>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FBCE362B-7AF2-99E0-67AC-BD067F6B8E05}"/>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Añadir estilos y clases a los componentes: Explicar cómo se pueden aplicar estilos y clases en </a:t>
            </a:r>
            <a:r>
              <a:rPr lang="es-ES" dirty="0" err="1">
                <a:ea typeface="+mn-lt"/>
                <a:cs typeface="+mn-lt"/>
              </a:rPr>
              <a:t>React</a:t>
            </a:r>
            <a:r>
              <a:rPr lang="es-ES" dirty="0">
                <a:ea typeface="+mn-lt"/>
                <a:cs typeface="+mn-lt"/>
              </a:rPr>
              <a:t>.</a:t>
            </a:r>
            <a:endParaRPr lang="es-ES" dirty="0" err="1"/>
          </a:p>
          <a:p>
            <a:endParaRPr lang="es-ES">
              <a:latin typeface="Calibri"/>
              <a:ea typeface="Calibri"/>
              <a:cs typeface="Calibri"/>
            </a:endParaRPr>
          </a:p>
        </p:txBody>
      </p:sp>
    </p:spTree>
    <p:extLst>
      <p:ext uri="{BB962C8B-B14F-4D97-AF65-F5344CB8AC3E}">
        <p14:creationId xmlns:p14="http://schemas.microsoft.com/office/powerpoint/2010/main" val="36368411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040B4-88D7-8201-D75B-C4F366F177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62267B0-4A21-CC89-4263-021921948C19}"/>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DD091D7A-6096-E95C-7AB4-2CD69CF6BEF3}"/>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Añadir Bootstrap y/o </a:t>
            </a:r>
            <a:r>
              <a:rPr lang="es-ES" dirty="0" err="1">
                <a:ea typeface="+mn-lt"/>
                <a:cs typeface="+mn-lt"/>
              </a:rPr>
              <a:t>Tailwind</a:t>
            </a:r>
            <a:r>
              <a:rPr lang="es-ES" dirty="0">
                <a:ea typeface="+mn-lt"/>
                <a:cs typeface="+mn-lt"/>
              </a:rPr>
              <a:t>: Incluir la integración de </a:t>
            </a:r>
            <a:r>
              <a:rPr lang="es-ES" dirty="0" err="1">
                <a:ea typeface="+mn-lt"/>
                <a:cs typeface="+mn-lt"/>
              </a:rPr>
              <a:t>frameworks</a:t>
            </a:r>
            <a:r>
              <a:rPr lang="es-ES" dirty="0">
                <a:ea typeface="+mn-lt"/>
                <a:cs typeface="+mn-lt"/>
              </a:rPr>
              <a:t> de CSS en la sintaxis de </a:t>
            </a:r>
            <a:r>
              <a:rPr lang="es-ES" dirty="0" err="1">
                <a:ea typeface="+mn-lt"/>
                <a:cs typeface="+mn-lt"/>
              </a:rPr>
              <a:t>React</a:t>
            </a:r>
            <a:endParaRPr lang="es-ES" dirty="0" err="1"/>
          </a:p>
          <a:p>
            <a:endParaRPr lang="es-ES">
              <a:latin typeface="Calibri"/>
              <a:ea typeface="Calibri"/>
              <a:cs typeface="Calibri"/>
            </a:endParaRPr>
          </a:p>
        </p:txBody>
      </p:sp>
    </p:spTree>
    <p:extLst>
      <p:ext uri="{BB962C8B-B14F-4D97-AF65-F5344CB8AC3E}">
        <p14:creationId xmlns:p14="http://schemas.microsoft.com/office/powerpoint/2010/main" val="15969667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38DE1-0453-3FF2-C8A1-59EBD2C9C7B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5504C75-A73A-F5F1-2A95-B5216C780186}"/>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8D60A22A-C1A3-B1A2-B250-3BDECD399AC4}"/>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Crear, modificar y eliminar componentes en tiempo de ejecución: Incluir la dinámica de los componentes y cómo se pueden gestionar en tiempo de ejecución.</a:t>
            </a:r>
            <a:endParaRPr lang="es-ES" dirty="0"/>
          </a:p>
          <a:p>
            <a:endParaRPr lang="es-ES">
              <a:latin typeface="Calibri"/>
              <a:ea typeface="Calibri"/>
              <a:cs typeface="Calibri"/>
            </a:endParaRPr>
          </a:p>
        </p:txBody>
      </p:sp>
    </p:spTree>
    <p:extLst>
      <p:ext uri="{BB962C8B-B14F-4D97-AF65-F5344CB8AC3E}">
        <p14:creationId xmlns:p14="http://schemas.microsoft.com/office/powerpoint/2010/main" val="2280458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03BDE-AC22-44EE-E04E-97399B5C46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C46A12-9C0D-15C9-D3F7-2C9F80C390AA}"/>
              </a:ext>
            </a:extLst>
          </p:cNvPr>
          <p:cNvSpPr>
            <a:spLocks noGrp="1"/>
          </p:cNvSpPr>
          <p:nvPr>
            <p:ph type="title"/>
          </p:nvPr>
        </p:nvSpPr>
        <p:spPr/>
        <p:txBody>
          <a:bodyPr/>
          <a:lstStyle/>
          <a:p>
            <a:r>
              <a:rPr lang="es-ES">
                <a:latin typeface="Calibri"/>
                <a:ea typeface="Calibri"/>
                <a:cs typeface="Calibri"/>
              </a:rPr>
              <a:t>Estructura, diseño e implementación de componentes. Uso de JSX para la estructura de la interfaz de usuario.</a:t>
            </a:r>
            <a:endParaRPr lang="es-ES"/>
          </a:p>
        </p:txBody>
      </p:sp>
      <p:sp>
        <p:nvSpPr>
          <p:cNvPr id="3" name="Marcador de contenido 2">
            <a:extLst>
              <a:ext uri="{FF2B5EF4-FFF2-40B4-BE49-F238E27FC236}">
                <a16:creationId xmlns:a16="http://schemas.microsoft.com/office/drawing/2014/main" id="{F0C499BB-99A7-FABB-F332-CB76EBFC4DB2}"/>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Comprobar cuando se renderizan los componentes y cómo evitar redundancias al renderizar: Discutir la estructura del proyecto en relación con el ciclo de vida de los componentes y la optimización del renderizado.</a:t>
            </a:r>
          </a:p>
          <a:p>
            <a:endParaRPr lang="es-ES">
              <a:latin typeface="Calibri"/>
              <a:ea typeface="Calibri"/>
              <a:cs typeface="Calibri"/>
            </a:endParaRPr>
          </a:p>
        </p:txBody>
      </p:sp>
    </p:spTree>
    <p:extLst>
      <p:ext uri="{BB962C8B-B14F-4D97-AF65-F5344CB8AC3E}">
        <p14:creationId xmlns:p14="http://schemas.microsoft.com/office/powerpoint/2010/main" val="10031656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8B408-3790-909A-C6D6-368BE613F18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EC9A61E-BA95-E6AA-0D52-8EB35BAC2174}"/>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Uso de </a:t>
            </a:r>
            <a:r>
              <a:rPr lang="es-ES" err="1">
                <a:latin typeface="Calibri"/>
                <a:ea typeface="Calibri"/>
                <a:cs typeface="Calibri"/>
              </a:rPr>
              <a:t>props</a:t>
            </a:r>
            <a:r>
              <a:rPr lang="es-ES">
                <a:latin typeface="Calibri"/>
                <a:ea typeface="Calibri"/>
                <a:cs typeface="Calibri"/>
              </a:rPr>
              <a:t> para pasar datos entre componentes.</a:t>
            </a:r>
          </a:p>
        </p:txBody>
      </p:sp>
      <p:sp>
        <p:nvSpPr>
          <p:cNvPr id="3" name="Marcador de contenido 2">
            <a:extLst>
              <a:ext uri="{FF2B5EF4-FFF2-40B4-BE49-F238E27FC236}">
                <a16:creationId xmlns:a16="http://schemas.microsoft.com/office/drawing/2014/main" id="{1FE73A3E-8C04-4669-B583-A0F2DAEB28CE}"/>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Las </a:t>
            </a:r>
            <a:r>
              <a:rPr lang="es-ES" err="1">
                <a:latin typeface="Calibri"/>
                <a:ea typeface="Calibri"/>
                <a:cs typeface="Calibri"/>
              </a:rPr>
              <a:t>props</a:t>
            </a:r>
            <a:r>
              <a:rPr lang="es-ES">
                <a:latin typeface="Calibri"/>
                <a:ea typeface="Calibri"/>
                <a:cs typeface="Calibri"/>
              </a:rPr>
              <a:t> (abreviatura de "</a:t>
            </a:r>
            <a:r>
              <a:rPr lang="es-ES" err="1">
                <a:latin typeface="Calibri"/>
                <a:ea typeface="Calibri"/>
                <a:cs typeface="Calibri"/>
              </a:rPr>
              <a:t>properties</a:t>
            </a:r>
            <a:r>
              <a:rPr lang="es-ES">
                <a:latin typeface="Calibri"/>
                <a:ea typeface="Calibri"/>
                <a:cs typeface="Calibri"/>
              </a:rPr>
              <a:t>") son una forma fundamental de pasar datos y eventos entre componentes en </a:t>
            </a:r>
            <a:r>
              <a:rPr lang="es-ES" err="1">
                <a:latin typeface="Calibri"/>
                <a:ea typeface="Calibri"/>
                <a:cs typeface="Calibri"/>
              </a:rPr>
              <a:t>React</a:t>
            </a:r>
            <a:r>
              <a:rPr lang="es-ES">
                <a:latin typeface="Calibri"/>
                <a:ea typeface="Calibri"/>
                <a:cs typeface="Calibri"/>
              </a:rPr>
              <a:t>. Son datos pasados a un componente desde su componente padre. Son inmutables, lo que significa que el componente que las recibe no puede modificarlas. Se utilizan para personalizar y configurar el comportamiento y la apariencia del componente.</a:t>
            </a:r>
          </a:p>
          <a:p>
            <a:pPr marL="342900" indent="-342900">
              <a:buFont typeface="Arial"/>
              <a:buChar char="•"/>
            </a:pPr>
            <a:r>
              <a:rPr lang="es-ES">
                <a:latin typeface="Calibri"/>
                <a:ea typeface="Calibri"/>
                <a:cs typeface="Calibri"/>
              </a:rPr>
              <a:t>Para pasar </a:t>
            </a:r>
            <a:r>
              <a:rPr lang="es-ES" err="1">
                <a:latin typeface="Calibri"/>
                <a:ea typeface="Calibri"/>
                <a:cs typeface="Calibri"/>
              </a:rPr>
              <a:t>props</a:t>
            </a:r>
            <a:r>
              <a:rPr lang="es-ES">
                <a:latin typeface="Calibri"/>
                <a:ea typeface="Calibri"/>
                <a:cs typeface="Calibri"/>
              </a:rPr>
              <a:t> a un componente hijo, se añaden como atributos al elemento del componente en el JSX del componente padre.</a:t>
            </a:r>
          </a:p>
          <a:p>
            <a:r>
              <a:rPr lang="es-ES" err="1">
                <a:latin typeface="Consolas"/>
                <a:ea typeface="+mn-lt"/>
                <a:cs typeface="+mn-lt"/>
              </a:rPr>
              <a:t>import</a:t>
            </a:r>
            <a:r>
              <a:rPr lang="es-ES">
                <a:latin typeface="Consolas"/>
                <a:ea typeface="+mn-lt"/>
                <a:cs typeface="+mn-lt"/>
              </a:rPr>
              <a:t> </a:t>
            </a:r>
            <a:r>
              <a:rPr lang="es-ES" err="1">
                <a:latin typeface="Consolas"/>
                <a:ea typeface="+mn-lt"/>
                <a:cs typeface="+mn-lt"/>
              </a:rPr>
              <a:t>ComponenteHijo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ComponenteHijo</a:t>
            </a:r>
            <a:r>
              <a:rPr lang="es-ES">
                <a:latin typeface="Consolas"/>
                <a:ea typeface="+mn-lt"/>
                <a:cs typeface="+mn-lt"/>
              </a:rPr>
              <a:t>";</a:t>
            </a:r>
            <a:br>
              <a:rPr lang="en-US">
                <a:latin typeface="Consolas"/>
              </a:rPr>
            </a:br>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ComponentePadre</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ComponenteHijo</a:t>
            </a:r>
            <a:r>
              <a:rPr lang="es-ES">
                <a:latin typeface="Consolas"/>
                <a:ea typeface="Calibri"/>
                <a:cs typeface="Calibri"/>
              </a:rPr>
              <a:t> mensaje="Hola desde el padre" /&gt;;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err="1">
                <a:latin typeface="Consolas"/>
                <a:ea typeface="Calibri"/>
                <a:cs typeface="Calibri"/>
              </a:rPr>
              <a:t>ComponentePadre</a:t>
            </a:r>
            <a:r>
              <a:rPr lang="es-ES">
                <a:latin typeface="Consolas"/>
                <a:ea typeface="Calibri"/>
                <a:cs typeface="Calibri"/>
              </a:rPr>
              <a:t>;</a:t>
            </a:r>
          </a:p>
          <a:p>
            <a:pPr marL="342900" indent="-342900">
              <a:buFont typeface="Arial"/>
              <a:buChar char="•"/>
            </a:pPr>
            <a:r>
              <a:rPr lang="es-ES">
                <a:latin typeface="Calibri"/>
                <a:ea typeface="Calibri"/>
                <a:cs typeface="Calibri"/>
              </a:rPr>
              <a:t>El componente hijo recibe las </a:t>
            </a:r>
            <a:r>
              <a:rPr lang="es-ES" err="1">
                <a:latin typeface="Calibri"/>
                <a:ea typeface="Calibri"/>
                <a:cs typeface="Calibri"/>
              </a:rPr>
              <a:t>props</a:t>
            </a:r>
            <a:r>
              <a:rPr lang="es-ES">
                <a:latin typeface="Calibri"/>
                <a:ea typeface="Calibri"/>
                <a:cs typeface="Calibri"/>
              </a:rPr>
              <a:t> como un objeto en el argumento de la función.</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ComponenteHijo</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&gt;Mensaje en el hijo recibido del padre: {</a:t>
            </a:r>
            <a:r>
              <a:rPr lang="es-ES" err="1">
                <a:latin typeface="Consolas"/>
                <a:ea typeface="Calibri"/>
                <a:cs typeface="Calibri"/>
              </a:rPr>
              <a:t>props.mensaje</a:t>
            </a:r>
            <a:r>
              <a:rPr lang="es-ES">
                <a:latin typeface="Consolas"/>
                <a:ea typeface="Calibri"/>
                <a:cs typeface="Calibri"/>
              </a:rPr>
              <a:t>}&lt;/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err="1">
                <a:latin typeface="Consolas"/>
                <a:ea typeface="Calibri"/>
                <a:cs typeface="Calibri"/>
              </a:rPr>
              <a:t>ComponenteHijo</a:t>
            </a:r>
            <a:r>
              <a:rPr lang="es-ES">
                <a:latin typeface="Consolas"/>
                <a:ea typeface="Calibri"/>
                <a:cs typeface="Calibri"/>
              </a:rPr>
              <a:t>;</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1323031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78CAA-2C50-D326-6281-AEDA4199CC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8A1585-3225-08A8-029A-1ED82F4CEEB4}"/>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Uso de </a:t>
            </a:r>
            <a:r>
              <a:rPr lang="es-ES" err="1">
                <a:latin typeface="Calibri"/>
                <a:ea typeface="Calibri"/>
                <a:cs typeface="Calibri"/>
              </a:rPr>
              <a:t>props</a:t>
            </a:r>
            <a:r>
              <a:rPr lang="es-ES">
                <a:latin typeface="Calibri"/>
                <a:ea typeface="Calibri"/>
                <a:cs typeface="Calibri"/>
              </a:rPr>
              <a:t> para pasar datos entre componentes.</a:t>
            </a:r>
          </a:p>
        </p:txBody>
      </p:sp>
      <p:sp>
        <p:nvSpPr>
          <p:cNvPr id="3" name="Marcador de contenido 2">
            <a:extLst>
              <a:ext uri="{FF2B5EF4-FFF2-40B4-BE49-F238E27FC236}">
                <a16:creationId xmlns:a16="http://schemas.microsoft.com/office/drawing/2014/main" id="{C373A7F0-9EEA-9D68-EF4D-65E0252C7DA7}"/>
              </a:ext>
            </a:extLst>
          </p:cNvPr>
          <p:cNvSpPr>
            <a:spLocks noGrp="1"/>
          </p:cNvSpPr>
          <p:nvPr>
            <p:ph idx="1"/>
          </p:nvPr>
        </p:nvSpPr>
        <p:spPr/>
        <p:txBody>
          <a:bodyPr vert="horz" lIns="91440" tIns="45720" rIns="91440" bIns="45720" rtlCol="0" anchor="t">
            <a:normAutofit fontScale="62500" lnSpcReduction="20000"/>
          </a:bodyPr>
          <a:lstStyle/>
          <a:p>
            <a:pPr marL="342900" indent="-342900">
              <a:buFont typeface="Arial"/>
              <a:buChar char="•"/>
            </a:pPr>
            <a:r>
              <a:rPr lang="es-ES">
                <a:latin typeface="Calibri"/>
                <a:ea typeface="Calibri"/>
                <a:cs typeface="Calibri"/>
              </a:rPr>
              <a:t>Las </a:t>
            </a:r>
            <a:r>
              <a:rPr lang="es-ES" err="1">
                <a:latin typeface="Calibri"/>
                <a:ea typeface="Calibri"/>
                <a:cs typeface="Calibri"/>
              </a:rPr>
              <a:t>props</a:t>
            </a:r>
            <a:r>
              <a:rPr lang="es-ES">
                <a:latin typeface="Calibri"/>
                <a:ea typeface="Calibri"/>
                <a:cs typeface="Calibri"/>
              </a:rPr>
              <a:t> pueden ser utilizadas para renderizar contenido de manera condicional o para personalizar la UI.</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ComponenteHijo</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props.mensaje</a:t>
            </a:r>
            <a:r>
              <a:rPr lang="es-ES">
                <a:latin typeface="Consolas"/>
                <a:ea typeface="Calibri"/>
                <a:cs typeface="Calibri"/>
              </a:rPr>
              <a:t> ? &lt;p&gt;{</a:t>
            </a:r>
            <a:r>
              <a:rPr lang="es-ES" err="1">
                <a:latin typeface="Consolas"/>
                <a:ea typeface="Calibri"/>
                <a:cs typeface="Calibri"/>
              </a:rPr>
              <a:t>props.mensaje</a:t>
            </a:r>
            <a:r>
              <a:rPr lang="es-ES">
                <a:latin typeface="Consolas"/>
                <a:ea typeface="Calibri"/>
                <a:cs typeface="Calibri"/>
              </a:rPr>
              <a:t>}&lt;/p&gt; : &lt;p&gt;No hay mensaje&lt;/p&gt;}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p>
          <a:p>
            <a:pPr marL="342900" indent="-342900">
              <a:buFont typeface="Arial"/>
              <a:buChar char="•"/>
            </a:pPr>
            <a:r>
              <a:rPr lang="es-ES">
                <a:latin typeface="Calibri"/>
                <a:ea typeface="Calibri"/>
                <a:cs typeface="Calibri"/>
              </a:rPr>
              <a:t>Además de datos, también se pueden pasar funciones como </a:t>
            </a:r>
            <a:r>
              <a:rPr lang="es-ES" err="1">
                <a:latin typeface="Calibri"/>
                <a:ea typeface="Calibri"/>
                <a:cs typeface="Calibri"/>
              </a:rPr>
              <a:t>props</a:t>
            </a:r>
            <a:r>
              <a:rPr lang="es-ES">
                <a:latin typeface="Calibri"/>
                <a:ea typeface="Calibri"/>
                <a:cs typeface="Calibri"/>
              </a:rPr>
              <a:t>. Esto es útil para manejar eventos en el componente hijo y permitir que el componente padre controle el comportamiento.</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ComponentePadre</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manejarClick</a:t>
            </a:r>
            <a:r>
              <a:rPr lang="es-ES">
                <a:latin typeface="Consolas"/>
                <a:ea typeface="Calibri"/>
                <a:cs typeface="Calibri"/>
              </a:rPr>
              <a:t> = () =&gt;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alert</a:t>
            </a:r>
            <a:r>
              <a:rPr lang="es-ES">
                <a:latin typeface="Consolas"/>
                <a:ea typeface="Calibri"/>
                <a:cs typeface="Calibri"/>
              </a:rPr>
              <a:t>('Botón </a:t>
            </a:r>
            <a:r>
              <a:rPr lang="es-ES" err="1">
                <a:latin typeface="Consolas"/>
                <a:ea typeface="Calibri"/>
                <a:cs typeface="Calibri"/>
              </a:rPr>
              <a:t>clickeado</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ComponenteHijo</a:t>
            </a:r>
            <a:r>
              <a:rPr lang="es-ES">
                <a:latin typeface="Consolas"/>
                <a:ea typeface="Calibri"/>
                <a:cs typeface="Calibri"/>
              </a:rPr>
              <a:t> </a:t>
            </a:r>
            <a:r>
              <a:rPr lang="es-ES" err="1">
                <a:latin typeface="Consolas"/>
                <a:ea typeface="Calibri"/>
                <a:cs typeface="Calibri"/>
              </a:rPr>
              <a:t>onClick</a:t>
            </a:r>
            <a:r>
              <a:rPr lang="es-ES">
                <a:latin typeface="Consolas"/>
                <a:ea typeface="Calibri"/>
                <a:cs typeface="Calibri"/>
              </a:rPr>
              <a:t>={</a:t>
            </a:r>
            <a:r>
              <a:rPr lang="es-ES" err="1">
                <a:latin typeface="Consolas"/>
                <a:ea typeface="Calibri"/>
                <a:cs typeface="Calibri"/>
              </a:rPr>
              <a:t>manejarClick</a:t>
            </a:r>
            <a:r>
              <a:rPr lang="es-ES">
                <a:latin typeface="Consolas"/>
                <a:ea typeface="Calibri"/>
                <a:cs typeface="Calibri"/>
              </a:rPr>
              <a:t>} /&gt;;</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ComponenteHijo</a:t>
            </a:r>
            <a:r>
              <a:rPr lang="es-ES">
                <a:latin typeface="Consolas"/>
                <a:ea typeface="Calibri"/>
                <a:cs typeface="Calibri"/>
              </a:rPr>
              <a:t>(</a:t>
            </a:r>
            <a:r>
              <a:rPr lang="es-ES" err="1">
                <a:latin typeface="Consolas"/>
                <a:ea typeface="Calibri"/>
                <a:cs typeface="Calibri"/>
              </a:rPr>
              <a:t>props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button</a:t>
            </a:r>
            <a:r>
              <a:rPr lang="es-ES">
                <a:latin typeface="Consolas"/>
                <a:ea typeface="Calibri"/>
                <a:cs typeface="Calibri"/>
              </a:rPr>
              <a:t> </a:t>
            </a:r>
            <a:r>
              <a:rPr lang="es-ES" err="1">
                <a:latin typeface="Consolas"/>
                <a:ea typeface="Calibri"/>
                <a:cs typeface="Calibri"/>
              </a:rPr>
              <a:t>onClick</a:t>
            </a:r>
            <a:r>
              <a:rPr lang="es-ES">
                <a:latin typeface="Consolas"/>
                <a:ea typeface="Calibri"/>
                <a:cs typeface="Calibri"/>
              </a:rPr>
              <a:t>={</a:t>
            </a:r>
            <a:r>
              <a:rPr lang="es-ES" err="1">
                <a:latin typeface="Consolas"/>
                <a:ea typeface="Calibri"/>
                <a:cs typeface="Calibri"/>
              </a:rPr>
              <a:t>props.onClick</a:t>
            </a:r>
            <a:r>
              <a:rPr lang="es-ES">
                <a:latin typeface="Consolas"/>
                <a:ea typeface="Calibri"/>
                <a:cs typeface="Calibri"/>
              </a:rPr>
              <a:t>}&gt;Clic aquí&lt;/</a:t>
            </a:r>
            <a:r>
              <a:rPr lang="es-ES" err="1">
                <a:latin typeface="Consolas"/>
                <a:ea typeface="Calibri"/>
                <a:cs typeface="Calibri"/>
              </a:rPr>
              <a:t>button</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5711459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3ACC8-CF9B-3684-E149-D2B5A7EB73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795694-3200-E860-5433-5CCF09F7259C}"/>
              </a:ext>
            </a:extLst>
          </p:cNvPr>
          <p:cNvSpPr>
            <a:spLocks noGrp="1"/>
          </p:cNvSpPr>
          <p:nvPr>
            <p:ph type="title"/>
          </p:nvPr>
        </p:nvSpPr>
        <p:spPr/>
        <p:txBody>
          <a:bodyPr>
            <a:normAutofit/>
          </a:bodyPr>
          <a:lstStyle/>
          <a:p>
            <a:r>
              <a:rPr lang="es-ES">
                <a:latin typeface="Calibri"/>
                <a:ea typeface="Calibri"/>
                <a:cs typeface="Calibri"/>
              </a:rPr>
              <a:t>Estructura, diseño e implementación de componentes. Uso de </a:t>
            </a:r>
            <a:r>
              <a:rPr lang="es-ES" err="1">
                <a:latin typeface="Calibri"/>
                <a:ea typeface="Calibri"/>
                <a:cs typeface="Calibri"/>
              </a:rPr>
              <a:t>props</a:t>
            </a:r>
            <a:r>
              <a:rPr lang="es-ES">
                <a:latin typeface="Calibri"/>
                <a:ea typeface="Calibri"/>
                <a:cs typeface="Calibri"/>
              </a:rPr>
              <a:t> para pasar datos entre componentes.</a:t>
            </a:r>
          </a:p>
        </p:txBody>
      </p:sp>
      <p:sp>
        <p:nvSpPr>
          <p:cNvPr id="3" name="Marcador de contenido 2">
            <a:extLst>
              <a:ext uri="{FF2B5EF4-FFF2-40B4-BE49-F238E27FC236}">
                <a16:creationId xmlns:a16="http://schemas.microsoft.com/office/drawing/2014/main" id="{C64FD7E6-25C9-FDD0-FDEA-FEB276B30B43}"/>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Ejemplo que muestra cómo pasar datos y funciones entre componentes utilizando </a:t>
            </a:r>
            <a:r>
              <a:rPr lang="es-ES" err="1">
                <a:latin typeface="Calibri"/>
                <a:ea typeface="Calibri"/>
                <a:cs typeface="Calibri"/>
              </a:rPr>
              <a:t>props</a:t>
            </a:r>
            <a:r>
              <a:rPr lang="es-ES">
                <a:latin typeface="Calibri"/>
                <a:ea typeface="Calibri"/>
                <a:cs typeface="Calibri"/>
              </a:rPr>
              <a:t> de forma desestructurada:</a:t>
            </a:r>
          </a:p>
          <a:p>
            <a:r>
              <a:rPr lang="es-ES" err="1">
                <a:latin typeface="Consolas"/>
                <a:ea typeface="Calibri"/>
                <a:cs typeface="Calibri"/>
              </a:rPr>
              <a:t>import</a:t>
            </a:r>
            <a:r>
              <a:rPr lang="es-ES">
                <a:latin typeface="Consolas"/>
                <a:ea typeface="Calibri"/>
                <a:cs typeface="Calibri"/>
              </a:rPr>
              <a:t> </a:t>
            </a:r>
            <a:r>
              <a:rPr lang="es-ES" err="1">
                <a:latin typeface="Consolas"/>
                <a:ea typeface="+mn-lt"/>
                <a:cs typeface="+mn-lt"/>
              </a:rPr>
              <a:t>ComponenteHijo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ComponenteHijo</a:t>
            </a:r>
            <a:r>
              <a:rPr lang="es-ES">
                <a:latin typeface="Consolas"/>
                <a:ea typeface="+mn-lt"/>
                <a:cs typeface="+mn-lt"/>
              </a:rPr>
              <a:t>";</a:t>
            </a:r>
            <a:br>
              <a:rPr lang="es-ES">
                <a:latin typeface="Consolas"/>
                <a:ea typeface="+mn-lt"/>
                <a:cs typeface="+mn-lt"/>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ComponentePadre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mensajePasado</a:t>
            </a:r>
            <a:r>
              <a:rPr lang="es-ES">
                <a:latin typeface="Consolas"/>
                <a:ea typeface="+mn-lt"/>
                <a:cs typeface="+mn-lt"/>
              </a:rPr>
              <a:t> = "Mensaje que quiero poner en el botón";</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manejarClick</a:t>
            </a:r>
            <a:r>
              <a:rPr lang="es-ES">
                <a:latin typeface="Consolas"/>
                <a:ea typeface="+mn-lt"/>
                <a:cs typeface="+mn-lt"/>
              </a:rPr>
              <a:t> = () =&gt;{</a:t>
            </a:r>
            <a:br>
              <a:rPr lang="es-ES">
                <a:latin typeface="Consolas"/>
                <a:ea typeface="+mn-lt"/>
                <a:cs typeface="+mn-lt"/>
              </a:rPr>
            </a:br>
            <a:r>
              <a:rPr lang="es-ES">
                <a:latin typeface="Consolas"/>
                <a:ea typeface="+mn-lt"/>
                <a:cs typeface="+mn-lt"/>
              </a:rPr>
              <a:t>        </a:t>
            </a:r>
            <a:r>
              <a:rPr lang="es-ES" err="1">
                <a:latin typeface="Consolas"/>
                <a:ea typeface="+mn-lt"/>
                <a:cs typeface="+mn-lt"/>
              </a:rPr>
              <a:t>alert</a:t>
            </a:r>
            <a:r>
              <a:rPr lang="es-ES">
                <a:latin typeface="Consolas"/>
                <a:ea typeface="+mn-lt"/>
                <a:cs typeface="+mn-lt"/>
              </a:rPr>
              <a:t>("Se ha pulsado el botón");</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ComponenteHijo</a:t>
            </a:r>
            <a:r>
              <a:rPr lang="es-ES">
                <a:latin typeface="Consolas"/>
                <a:ea typeface="+mn-lt"/>
                <a:cs typeface="+mn-lt"/>
              </a:rPr>
              <a:t> mensaje={</a:t>
            </a:r>
            <a:r>
              <a:rPr lang="es-ES" err="1">
                <a:latin typeface="Consolas"/>
                <a:ea typeface="+mn-lt"/>
                <a:cs typeface="+mn-lt"/>
              </a:rPr>
              <a:t>mensajePasado</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manejarClick</a:t>
            </a:r>
            <a:r>
              <a:rPr lang="es-ES">
                <a:latin typeface="Consolas"/>
                <a:ea typeface="+mn-lt"/>
                <a:cs typeface="+mn-lt"/>
              </a:rPr>
              <a:t>} /&gt;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ComponentePadre</a:t>
            </a:r>
            <a:r>
              <a:rPr lang="es-ES">
                <a:latin typeface="Consolas"/>
                <a:ea typeface="+mn-lt"/>
                <a:cs typeface="+mn-lt"/>
              </a:rPr>
              <a:t>;</a:t>
            </a:r>
            <a:endParaRPr lang="es-ES">
              <a:latin typeface="Consolas"/>
              <a:ea typeface="Calibri"/>
              <a:cs typeface="Calibri"/>
            </a:endParaRPr>
          </a:p>
          <a:p>
            <a:r>
              <a:rPr lang="es-ES" err="1">
                <a:latin typeface="Consolas"/>
                <a:ea typeface="+mn-lt"/>
                <a:cs typeface="+mn-lt"/>
              </a:rPr>
              <a:t>function</a:t>
            </a:r>
            <a:r>
              <a:rPr lang="es-ES">
                <a:latin typeface="Consolas"/>
                <a:ea typeface="+mn-lt"/>
                <a:cs typeface="+mn-lt"/>
              </a:rPr>
              <a:t> </a:t>
            </a:r>
            <a:r>
              <a:rPr lang="es-ES" err="1">
                <a:latin typeface="Consolas"/>
                <a:ea typeface="+mn-lt"/>
                <a:cs typeface="+mn-lt"/>
              </a:rPr>
              <a:t>ComponenteHijo</a:t>
            </a:r>
            <a:r>
              <a:rPr lang="es-ES">
                <a:latin typeface="Consolas"/>
                <a:ea typeface="+mn-lt"/>
                <a:cs typeface="+mn-lt"/>
              </a:rPr>
              <a:t>({mensaje, </a:t>
            </a:r>
            <a:r>
              <a:rPr lang="es-ES" err="1">
                <a:latin typeface="Consolas"/>
                <a:ea typeface="+mn-lt"/>
                <a:cs typeface="+mn-lt"/>
              </a:rPr>
              <a:t>onClick</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onClick</a:t>
            </a:r>
            <a:r>
              <a:rPr lang="es-ES">
                <a:latin typeface="Consolas"/>
                <a:ea typeface="+mn-lt"/>
                <a:cs typeface="+mn-lt"/>
              </a:rPr>
              <a:t>}&gt;{mensaje}&lt;/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ComponenteHijo</a:t>
            </a:r>
            <a:r>
              <a:rPr lang="es-ES">
                <a:latin typeface="Consolas"/>
                <a:ea typeface="+mn-lt"/>
                <a:cs typeface="+mn-lt"/>
              </a:rPr>
              <a:t>;</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6957993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4542B-1AF3-F1B3-40D4-0B90C7F6A4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4F2EAD-92D4-D027-B723-45589CC3E4E9}"/>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a:t>
            </a:r>
          </a:p>
        </p:txBody>
      </p:sp>
      <p:sp>
        <p:nvSpPr>
          <p:cNvPr id="3" name="Marcador de contenido 2">
            <a:extLst>
              <a:ext uri="{FF2B5EF4-FFF2-40B4-BE49-F238E27FC236}">
                <a16:creationId xmlns:a16="http://schemas.microsoft.com/office/drawing/2014/main" id="{4F8CA3F9-9DF0-C924-F9C5-B643EA56AF59}"/>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a:latin typeface="Calibri"/>
                <a:ea typeface="Calibri"/>
                <a:cs typeface="Calibri"/>
              </a:rPr>
              <a:t>Crear componentes reutilizables es esencial en el desarrollo de interfaces de usuario modernas y en la creación de componentes más complejos. Estos componentes permiten construir aplicaciones más mantenibles, modulares y eficientes.</a:t>
            </a:r>
          </a:p>
          <a:p>
            <a:pPr marL="342900" indent="-342900">
              <a:buFont typeface="Arial"/>
              <a:buChar char="•"/>
            </a:pPr>
            <a:r>
              <a:rPr lang="es-ES">
                <a:latin typeface="Calibri"/>
                <a:ea typeface="Calibri"/>
                <a:cs typeface="Calibri"/>
              </a:rPr>
              <a:t>Es conveniente buscas patrones repetitivos en la aplicación. Si hay elementos de la UI que se repiten con ligeras variaciones, es una señal de que se puede crear un componente reutilizable.</a:t>
            </a:r>
          </a:p>
          <a:p>
            <a:pPr marL="342900" indent="-342900">
              <a:buFont typeface="Arial"/>
              <a:buChar char="•"/>
            </a:pPr>
            <a:r>
              <a:rPr lang="es-ES">
                <a:latin typeface="Calibri"/>
                <a:ea typeface="Calibri"/>
                <a:cs typeface="Calibri"/>
              </a:rPr>
              <a:t>Es importante que los componentes que acepten </a:t>
            </a:r>
            <a:r>
              <a:rPr lang="es-ES" err="1">
                <a:latin typeface="Calibri"/>
                <a:ea typeface="Calibri"/>
                <a:cs typeface="Calibri"/>
              </a:rPr>
              <a:t>props</a:t>
            </a:r>
            <a:r>
              <a:rPr lang="es-ES">
                <a:latin typeface="Calibri"/>
                <a:ea typeface="Calibri"/>
                <a:cs typeface="Calibri"/>
              </a:rPr>
              <a:t> que permitan personalizar su </a:t>
            </a:r>
            <a:r>
              <a:rPr lang="es-ES" sz="2100">
                <a:latin typeface="Calibri"/>
                <a:ea typeface="Calibri"/>
                <a:cs typeface="Calibri"/>
              </a:rPr>
              <a:t>apariencia y </a:t>
            </a:r>
            <a:r>
              <a:rPr lang="es-ES">
                <a:latin typeface="Calibri"/>
                <a:ea typeface="Calibri"/>
                <a:cs typeface="Calibri"/>
              </a:rPr>
              <a:t>comportamiento. Esto hace al componente más flexible y adaptable a diferentes contextos.</a:t>
            </a: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Boton</a:t>
            </a:r>
            <a:r>
              <a:rPr lang="es-ES">
                <a:latin typeface="Consolas"/>
                <a:ea typeface="Calibri"/>
                <a:cs typeface="Calibri"/>
              </a:rPr>
              <a:t>({ texto, </a:t>
            </a:r>
            <a:r>
              <a:rPr lang="es-ES" err="1">
                <a:latin typeface="Consolas"/>
                <a:ea typeface="Calibri"/>
                <a:cs typeface="Calibri"/>
              </a:rPr>
              <a:t>onClick</a:t>
            </a:r>
            <a:r>
              <a:rPr lang="es-ES">
                <a:latin typeface="Consolas"/>
                <a:ea typeface="Calibri"/>
                <a:cs typeface="Calibri"/>
              </a:rPr>
              <a:t>, estilo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&lt;</a:t>
            </a:r>
            <a:r>
              <a:rPr lang="es-ES" err="1">
                <a:latin typeface="Consolas"/>
                <a:ea typeface="Calibri"/>
                <a:cs typeface="Calibri"/>
              </a:rPr>
              <a:t>button</a:t>
            </a:r>
            <a:r>
              <a:rPr lang="es-ES">
                <a:latin typeface="Consolas"/>
                <a:ea typeface="Calibri"/>
                <a:cs typeface="Calibri"/>
              </a:rPr>
              <a:t> </a:t>
            </a:r>
            <a:r>
              <a:rPr lang="es-ES" err="1">
                <a:latin typeface="Consolas"/>
                <a:ea typeface="Calibri"/>
                <a:cs typeface="Calibri"/>
              </a:rPr>
              <a:t>onClick</a:t>
            </a:r>
            <a:r>
              <a:rPr lang="es-ES">
                <a:latin typeface="Consolas"/>
                <a:ea typeface="Calibri"/>
                <a:cs typeface="Calibri"/>
              </a:rPr>
              <a:t>={</a:t>
            </a:r>
            <a:r>
              <a:rPr lang="es-ES" err="1">
                <a:latin typeface="Consolas"/>
                <a:ea typeface="Calibri"/>
                <a:cs typeface="Calibri"/>
              </a:rPr>
              <a:t>onClick</a:t>
            </a:r>
            <a:r>
              <a:rPr lang="es-ES">
                <a:latin typeface="Consolas"/>
                <a:ea typeface="Calibri"/>
                <a:cs typeface="Calibri"/>
              </a:rPr>
              <a:t>} </a:t>
            </a:r>
            <a:r>
              <a:rPr lang="es-ES" err="1">
                <a:latin typeface="Consolas"/>
                <a:ea typeface="Calibri"/>
                <a:cs typeface="Calibri"/>
              </a:rPr>
              <a:t>style</a:t>
            </a:r>
            <a:r>
              <a:rPr lang="es-ES">
                <a:latin typeface="Consolas"/>
                <a:ea typeface="Calibri"/>
                <a:cs typeface="Calibri"/>
              </a:rPr>
              <a:t>={estilo}&gt;{texto}&lt;/</a:t>
            </a:r>
            <a:r>
              <a:rPr lang="es-ES" err="1">
                <a:latin typeface="Consolas"/>
                <a:ea typeface="Calibri"/>
                <a:cs typeface="Calibri"/>
              </a:rPr>
              <a:t>button</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a:t>
            </a:r>
          </a:p>
        </p:txBody>
      </p:sp>
    </p:spTree>
    <p:extLst>
      <p:ext uri="{BB962C8B-B14F-4D97-AF65-F5344CB8AC3E}">
        <p14:creationId xmlns:p14="http://schemas.microsoft.com/office/powerpoint/2010/main" val="3931617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3848E-ECDA-A16F-70E2-D017919C1B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F9C57C-2D1F-97B0-0FD7-ECFDCCB071F7}"/>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1</a:t>
            </a:r>
          </a:p>
        </p:txBody>
      </p:sp>
      <p:sp>
        <p:nvSpPr>
          <p:cNvPr id="3" name="Marcador de contenido 2">
            <a:extLst>
              <a:ext uri="{FF2B5EF4-FFF2-40B4-BE49-F238E27FC236}">
                <a16:creationId xmlns:a16="http://schemas.microsoft.com/office/drawing/2014/main" id="{BFAA4722-A48D-C995-CF81-D71A77106FDB}"/>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A partir de componentes simples se pueden construir componentes más complejos siguiendo el principio de "composición sobre herencia". Se pueden reutilizar componentes dentro de otras componentes, no solo en App.</a:t>
            </a:r>
          </a:p>
          <a:p>
            <a:pPr marL="342900" indent="-342900">
              <a:buFont typeface="Arial"/>
              <a:buChar char="•"/>
            </a:pPr>
            <a:r>
              <a:rPr lang="es-ES">
                <a:latin typeface="Calibri"/>
                <a:ea typeface="Calibri"/>
                <a:cs typeface="Calibri"/>
              </a:rPr>
              <a:t>En este ejemplo, el componente "Tarjeta" será el contenedor principal que luego se usará. Se debe tener en cuenta que el objeto "</a:t>
            </a:r>
            <a:r>
              <a:rPr lang="es-ES" err="1">
                <a:latin typeface="Calibri"/>
                <a:ea typeface="Calibri"/>
                <a:cs typeface="Calibri"/>
              </a:rPr>
              <a:t>children</a:t>
            </a:r>
            <a:r>
              <a:rPr lang="es-ES">
                <a:latin typeface="Calibri"/>
                <a:ea typeface="Calibri"/>
                <a:cs typeface="Calibri"/>
              </a:rPr>
              <a:t>" contiene a todos los componentes hijos de un componente padre.</a:t>
            </a:r>
          </a:p>
          <a:p>
            <a:pPr marL="342900" indent="-342900">
              <a:buFont typeface="Arial"/>
              <a:buChar char="•"/>
            </a:pPr>
            <a:r>
              <a:rPr lang="es-ES">
                <a:latin typeface="Calibri"/>
                <a:ea typeface="Calibri"/>
                <a:cs typeface="Calibri"/>
              </a:rPr>
              <a:t>En primer lugar, creamos un fichero dentro de </a:t>
            </a:r>
            <a:r>
              <a:rPr lang="es-ES" err="1">
                <a:latin typeface="Calibri"/>
                <a:ea typeface="Calibri"/>
                <a:cs typeface="Calibri"/>
              </a:rPr>
              <a:t>src</a:t>
            </a:r>
            <a:r>
              <a:rPr lang="es-ES">
                <a:latin typeface="Calibri"/>
                <a:ea typeface="Calibri"/>
                <a:cs typeface="Calibri"/>
              </a:rPr>
              <a:t>/</a:t>
            </a:r>
            <a:r>
              <a:rPr lang="es-ES" err="1">
                <a:latin typeface="Calibri"/>
                <a:ea typeface="Calibri"/>
                <a:cs typeface="Calibri"/>
              </a:rPr>
              <a:t>Components</a:t>
            </a:r>
            <a:r>
              <a:rPr lang="es-ES">
                <a:latin typeface="Calibri"/>
                <a:ea typeface="Calibri"/>
                <a:cs typeface="Calibri"/>
              </a:rPr>
              <a:t>/Tarjeta/ llamado </a:t>
            </a:r>
            <a:r>
              <a:rPr lang="es-ES" err="1">
                <a:latin typeface="Calibri"/>
                <a:ea typeface="Calibri"/>
                <a:cs typeface="Calibri"/>
              </a:rPr>
              <a:t>Tarjeta.jsx</a:t>
            </a:r>
            <a:endParaRPr lang="es-ES">
              <a:latin typeface="Calibri"/>
              <a:ea typeface="Calibri"/>
              <a:cs typeface="Calibri"/>
            </a:endParaRPr>
          </a:p>
          <a:p>
            <a:r>
              <a:rPr lang="es-ES" err="1">
                <a:latin typeface="Consolas"/>
                <a:ea typeface="Calibri"/>
                <a:cs typeface="Calibri"/>
              </a:rPr>
              <a:t>function</a:t>
            </a:r>
            <a:r>
              <a:rPr lang="es-ES">
                <a:latin typeface="Consolas"/>
                <a:ea typeface="Calibri"/>
                <a:cs typeface="Calibri"/>
              </a:rPr>
              <a:t> Tarjeta({ </a:t>
            </a:r>
            <a:r>
              <a:rPr lang="es-ES" err="1">
                <a:latin typeface="Consolas"/>
                <a:ea typeface="Calibri"/>
                <a:cs typeface="Calibri"/>
              </a:rPr>
              <a:t>children</a:t>
            </a:r>
            <a:r>
              <a:rPr lang="es-ES">
                <a:latin typeface="Consolas"/>
                <a:ea typeface="Calibri"/>
                <a:cs typeface="Calibri"/>
              </a:rPr>
              <a:t>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 </a:t>
            </a:r>
            <a:r>
              <a:rPr lang="es-ES" err="1">
                <a:latin typeface="Consolas"/>
                <a:ea typeface="Calibri"/>
                <a:cs typeface="Calibri"/>
              </a:rPr>
              <a:t>className</a:t>
            </a:r>
            <a:r>
              <a:rPr lang="es-ES">
                <a:latin typeface="Consolas"/>
                <a:ea typeface="Calibri"/>
                <a:cs typeface="Calibri"/>
              </a:rPr>
              <a:t>="tarjeta"&gt;</a:t>
            </a:r>
            <a:br>
              <a:rPr lang="es-ES">
                <a:latin typeface="Consolas"/>
                <a:ea typeface="Calibri"/>
                <a:cs typeface="Calibri"/>
              </a:rPr>
            </a:br>
            <a:r>
              <a:rPr lang="es-ES">
                <a:latin typeface="Consolas"/>
                <a:ea typeface="Calibri"/>
                <a:cs typeface="Calibri"/>
              </a:rPr>
              <a:t>                {</a:t>
            </a:r>
            <a:r>
              <a:rPr lang="es-ES" sz="2100" err="1">
                <a:latin typeface="Consolas"/>
                <a:ea typeface="Calibri"/>
                <a:cs typeface="Calibri"/>
              </a:rPr>
              <a:t>children</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Tarjeta;</a:t>
            </a:r>
          </a:p>
        </p:txBody>
      </p:sp>
    </p:spTree>
    <p:extLst>
      <p:ext uri="{BB962C8B-B14F-4D97-AF65-F5344CB8AC3E}">
        <p14:creationId xmlns:p14="http://schemas.microsoft.com/office/powerpoint/2010/main" val="132940781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838B8-38E5-4F91-D577-7DA74698C2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37D5A2D-C97D-C65C-207F-E7F0CC214515}"/>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1</a:t>
            </a:r>
          </a:p>
        </p:txBody>
      </p:sp>
      <p:sp>
        <p:nvSpPr>
          <p:cNvPr id="3" name="Marcador de contenido 2">
            <a:extLst>
              <a:ext uri="{FF2B5EF4-FFF2-40B4-BE49-F238E27FC236}">
                <a16:creationId xmlns:a16="http://schemas.microsoft.com/office/drawing/2014/main" id="{400BD07D-6E46-E144-3D8C-68788757D51C}"/>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Creamos un segundo componente dentro del directorio </a:t>
            </a:r>
            <a:r>
              <a:rPr lang="es-ES" err="1">
                <a:latin typeface="Calibri"/>
                <a:ea typeface="Calibri"/>
                <a:cs typeface="Calibri"/>
              </a:rPr>
              <a:t>src</a:t>
            </a:r>
            <a:r>
              <a:rPr lang="es-ES">
                <a:latin typeface="Calibri"/>
                <a:ea typeface="Calibri"/>
                <a:cs typeface="Calibri"/>
              </a:rPr>
              <a:t>/</a:t>
            </a:r>
            <a:r>
              <a:rPr lang="es-ES" err="1">
                <a:latin typeface="Calibri"/>
                <a:ea typeface="Calibri"/>
                <a:cs typeface="Calibri"/>
              </a:rPr>
              <a:t>Components</a:t>
            </a:r>
            <a:r>
              <a:rPr lang="es-ES">
                <a:latin typeface="Calibri"/>
                <a:ea typeface="Calibri"/>
                <a:cs typeface="Calibri"/>
              </a:rPr>
              <a:t>/Tarjeta/ o, si preferimos, en un directorio diferente, que contendrá la imagen del usuario y su texto alternativo. El nombre del fichero será </a:t>
            </a:r>
            <a:r>
              <a:rPr lang="es-ES" err="1">
                <a:latin typeface="Calibri"/>
                <a:ea typeface="Calibri"/>
                <a:cs typeface="Calibri"/>
              </a:rPr>
              <a:t>ImagenUsuario.jsx</a:t>
            </a:r>
            <a:endParaRPr lang="es-ES">
              <a:latin typeface="Calibri"/>
              <a:ea typeface="Calibri"/>
              <a:cs typeface="Calibri"/>
            </a:endParaRPr>
          </a:p>
          <a:p>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ImagenUsuario</a:t>
            </a:r>
            <a:r>
              <a:rPr lang="es-ES">
                <a:latin typeface="Consolas"/>
                <a:ea typeface="Calibri"/>
                <a:cs typeface="Calibri"/>
              </a:rPr>
              <a:t> = ({ </a:t>
            </a:r>
            <a:r>
              <a:rPr lang="es-ES" err="1">
                <a:latin typeface="Consolas"/>
                <a:ea typeface="Calibri"/>
                <a:cs typeface="Calibri"/>
              </a:rPr>
              <a:t>src</a:t>
            </a:r>
            <a:r>
              <a:rPr lang="es-ES">
                <a:latin typeface="Consolas"/>
                <a:ea typeface="Calibri"/>
                <a:cs typeface="Calibri"/>
              </a:rPr>
              <a:t>, </a:t>
            </a:r>
            <a:r>
              <a:rPr lang="es-ES" err="1">
                <a:latin typeface="Consolas"/>
                <a:ea typeface="Calibri"/>
                <a:cs typeface="Calibri"/>
              </a:rPr>
              <a:t>alt</a:t>
            </a:r>
            <a:r>
              <a:rPr lang="es-ES">
                <a:latin typeface="Consolas"/>
                <a:ea typeface="Calibri"/>
                <a:cs typeface="Calibri"/>
              </a:rPr>
              <a:t> }) =&gt;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img</a:t>
            </a:r>
            <a:r>
              <a:rPr lang="es-ES">
                <a:latin typeface="Consolas"/>
                <a:ea typeface="Calibri"/>
                <a:cs typeface="Calibri"/>
              </a:rPr>
              <a:t> </a:t>
            </a:r>
            <a:r>
              <a:rPr lang="es-ES" err="1">
                <a:latin typeface="Consolas"/>
                <a:ea typeface="Calibri"/>
                <a:cs typeface="Calibri"/>
              </a:rPr>
              <a:t>className</a:t>
            </a:r>
            <a:r>
              <a:rPr lang="es-ES">
                <a:latin typeface="Consolas"/>
                <a:ea typeface="Calibri"/>
                <a:cs typeface="Calibri"/>
              </a:rPr>
              <a:t>="imagen-usuario" </a:t>
            </a:r>
            <a:r>
              <a:rPr lang="es-ES" err="1">
                <a:latin typeface="Consolas"/>
                <a:ea typeface="Calibri"/>
                <a:cs typeface="Calibri"/>
              </a:rPr>
              <a:t>src</a:t>
            </a:r>
            <a:r>
              <a:rPr lang="es-ES">
                <a:latin typeface="Consolas"/>
                <a:ea typeface="Calibri"/>
                <a:cs typeface="Calibri"/>
              </a:rPr>
              <a:t>={</a:t>
            </a:r>
            <a:r>
              <a:rPr lang="es-ES" err="1">
                <a:latin typeface="Consolas"/>
                <a:ea typeface="Calibri"/>
                <a:cs typeface="Calibri"/>
              </a:rPr>
              <a:t>src</a:t>
            </a:r>
            <a:r>
              <a:rPr lang="es-ES">
                <a:latin typeface="Consolas"/>
                <a:ea typeface="Calibri"/>
                <a:cs typeface="Calibri"/>
              </a:rPr>
              <a:t>} </a:t>
            </a:r>
            <a:r>
              <a:rPr lang="es-ES" err="1">
                <a:latin typeface="Consolas"/>
                <a:ea typeface="Calibri"/>
                <a:cs typeface="Calibri"/>
              </a:rPr>
              <a:t>alt</a:t>
            </a:r>
            <a:r>
              <a:rPr lang="es-ES">
                <a:latin typeface="Consolas"/>
                <a:ea typeface="Calibri"/>
                <a:cs typeface="Calibri"/>
              </a:rPr>
              <a:t>={</a:t>
            </a:r>
            <a:r>
              <a:rPr lang="es-ES" err="1">
                <a:latin typeface="Consolas"/>
                <a:ea typeface="Calibri"/>
                <a:cs typeface="Calibri"/>
              </a:rPr>
              <a:t>alt</a:t>
            </a:r>
            <a:r>
              <a:rPr lang="es-ES">
                <a:latin typeface="Consolas"/>
                <a:ea typeface="Calibri"/>
                <a:cs typeface="Calibri"/>
              </a:rPr>
              <a:t>} /&gt;;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sz="2100" err="1">
                <a:latin typeface="Consolas"/>
                <a:ea typeface="Calibri"/>
                <a:cs typeface="Calibri"/>
              </a:rPr>
              <a:t>ImagenUsuario</a:t>
            </a:r>
            <a:r>
              <a:rPr lang="es-ES" sz="2100">
                <a:latin typeface="Consolas"/>
                <a:ea typeface="Calibri"/>
                <a:cs typeface="Calibri"/>
              </a:rPr>
              <a:t> </a:t>
            </a:r>
            <a:r>
              <a:rPr lang="es-ES">
                <a:latin typeface="Consolas"/>
                <a:ea typeface="Calibri"/>
                <a:cs typeface="Calibri"/>
              </a:rPr>
              <a:t>;</a:t>
            </a:r>
            <a:endParaRPr lang="es-ES"/>
          </a:p>
          <a:p>
            <a:pPr marL="342900" indent="-342900">
              <a:buFont typeface="Arial"/>
              <a:buChar char="•"/>
            </a:pPr>
            <a:r>
              <a:rPr lang="es-ES" sz="2100">
                <a:latin typeface="Calibri"/>
                <a:ea typeface="Calibri"/>
                <a:cs typeface="Calibri"/>
              </a:rPr>
              <a:t>Creamos un tercer componente dentro del directorio </a:t>
            </a:r>
            <a:r>
              <a:rPr lang="es-ES" sz="2100" err="1">
                <a:latin typeface="Calibri"/>
                <a:ea typeface="Calibri"/>
                <a:cs typeface="Calibri"/>
              </a:rPr>
              <a:t>src</a:t>
            </a:r>
            <a:r>
              <a:rPr lang="es-ES" sz="2100">
                <a:latin typeface="Calibri"/>
                <a:ea typeface="Calibri"/>
                <a:cs typeface="Calibri"/>
              </a:rPr>
              <a:t>/</a:t>
            </a:r>
            <a:r>
              <a:rPr lang="es-ES" sz="2100" err="1">
                <a:latin typeface="Calibri"/>
                <a:ea typeface="Calibri"/>
                <a:cs typeface="Calibri"/>
              </a:rPr>
              <a:t>Components</a:t>
            </a:r>
            <a:r>
              <a:rPr lang="es-ES" sz="2100">
                <a:latin typeface="Calibri"/>
                <a:ea typeface="Calibri"/>
                <a:cs typeface="Calibri"/>
              </a:rPr>
              <a:t>/Tarjeta/ o, si preferimos, en un directorio diferente, que contendrá información del usuario como su nombre o su descripción. El nombre del fichero será </a:t>
            </a:r>
            <a:r>
              <a:rPr lang="es-ES" sz="2100" err="1">
                <a:latin typeface="Calibri"/>
                <a:ea typeface="Calibri"/>
                <a:cs typeface="Calibri"/>
              </a:rPr>
              <a:t>InfoUsuario.jsx</a:t>
            </a:r>
            <a:endParaRPr lang="es-ES" sz="2100">
              <a:latin typeface="Calibri"/>
              <a:ea typeface="Calibri"/>
              <a:cs typeface="Calibri"/>
            </a:endParaRP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InfoUsuario</a:t>
            </a:r>
            <a:r>
              <a:rPr lang="es-ES">
                <a:latin typeface="Consolas"/>
                <a:ea typeface="Calibri"/>
                <a:cs typeface="Calibri"/>
              </a:rPr>
              <a:t>({ nombre, </a:t>
            </a:r>
            <a:r>
              <a:rPr lang="es-ES" err="1">
                <a:latin typeface="Consolas"/>
                <a:ea typeface="Calibri"/>
                <a:cs typeface="Calibri"/>
              </a:rPr>
              <a:t>descripcion</a:t>
            </a:r>
            <a:r>
              <a:rPr lang="es-ES">
                <a:latin typeface="Consolas"/>
                <a:ea typeface="Calibri"/>
                <a:cs typeface="Calibri"/>
              </a:rPr>
              <a:t> })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 </a:t>
            </a:r>
            <a:r>
              <a:rPr lang="es-ES" err="1">
                <a:latin typeface="Consolas"/>
                <a:ea typeface="Calibri"/>
                <a:cs typeface="Calibri"/>
              </a:rPr>
              <a:t>className</a:t>
            </a:r>
            <a:r>
              <a:rPr lang="es-ES">
                <a:latin typeface="Consolas"/>
                <a:ea typeface="Calibri"/>
                <a:cs typeface="Calibri"/>
              </a:rPr>
              <a:t>="</a:t>
            </a:r>
            <a:r>
              <a:rPr lang="es-ES" err="1">
                <a:latin typeface="Consolas"/>
                <a:ea typeface="Calibri"/>
                <a:cs typeface="Calibri"/>
              </a:rPr>
              <a:t>info</a:t>
            </a:r>
            <a:r>
              <a:rPr lang="es-ES">
                <a:latin typeface="Consolas"/>
                <a:ea typeface="Calibri"/>
                <a:cs typeface="Calibri"/>
              </a:rPr>
              <a:t>-usuario"&gt;</a:t>
            </a:r>
            <a:br>
              <a:rPr lang="es-ES">
                <a:latin typeface="Consolas"/>
                <a:ea typeface="Calibri"/>
                <a:cs typeface="Calibri"/>
              </a:rPr>
            </a:br>
            <a:r>
              <a:rPr lang="es-ES">
                <a:latin typeface="Consolas"/>
                <a:ea typeface="Calibri"/>
                <a:cs typeface="Calibri"/>
              </a:rPr>
              <a:t>                &lt;h2&gt;{nombre}&lt;/h2&gt;</a:t>
            </a:r>
            <a:br>
              <a:rPr lang="es-ES">
                <a:latin typeface="Consolas"/>
                <a:ea typeface="Calibri"/>
                <a:cs typeface="Calibri"/>
              </a:rPr>
            </a:br>
            <a:r>
              <a:rPr lang="es-ES">
                <a:latin typeface="Consolas"/>
                <a:ea typeface="Calibri"/>
                <a:cs typeface="Calibri"/>
              </a:rPr>
              <a:t>                &lt;p&gt;{</a:t>
            </a:r>
            <a:r>
              <a:rPr lang="es-ES" err="1">
                <a:latin typeface="Consolas"/>
                <a:ea typeface="Calibri"/>
                <a:cs typeface="Calibri"/>
              </a:rPr>
              <a:t>descripcion</a:t>
            </a:r>
            <a:r>
              <a:rPr lang="es-ES">
                <a:latin typeface="Consolas"/>
                <a:ea typeface="Calibri"/>
                <a:cs typeface="Calibri"/>
              </a:rPr>
              <a:t>}&lt;/p&gt;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div</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err="1">
                <a:latin typeface="Consolas"/>
                <a:ea typeface="Calibri"/>
                <a:cs typeface="Calibri"/>
              </a:rPr>
              <a:t>InfoUsuario</a:t>
            </a:r>
            <a:r>
              <a:rPr lang="es-ES">
                <a:latin typeface="Consolas"/>
                <a:ea typeface="Calibri"/>
                <a:cs typeface="Calibri"/>
              </a:rPr>
              <a:t>;</a:t>
            </a:r>
          </a:p>
        </p:txBody>
      </p:sp>
    </p:spTree>
    <p:extLst>
      <p:ext uri="{BB962C8B-B14F-4D97-AF65-F5344CB8AC3E}">
        <p14:creationId xmlns:p14="http://schemas.microsoft.com/office/powerpoint/2010/main" val="419078895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4E286-99CE-DAB7-EAC7-5D32B6F473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F85AD0-3C71-7E7D-A2C8-30FA9D21B4B6}"/>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1</a:t>
            </a:r>
          </a:p>
        </p:txBody>
      </p:sp>
      <p:sp>
        <p:nvSpPr>
          <p:cNvPr id="3" name="Marcador de contenido 2">
            <a:extLst>
              <a:ext uri="{FF2B5EF4-FFF2-40B4-BE49-F238E27FC236}">
                <a16:creationId xmlns:a16="http://schemas.microsoft.com/office/drawing/2014/main" id="{9F848CD9-4163-D626-19F0-4E243BE4A2BC}"/>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A continuación, creamos un componente dentro del directorio </a:t>
            </a:r>
            <a:r>
              <a:rPr lang="es-ES" err="1">
                <a:latin typeface="Calibri"/>
                <a:ea typeface="Calibri"/>
                <a:cs typeface="Calibri"/>
              </a:rPr>
              <a:t>src</a:t>
            </a:r>
            <a:r>
              <a:rPr lang="es-ES">
                <a:latin typeface="Calibri"/>
                <a:ea typeface="Calibri"/>
                <a:cs typeface="Calibri"/>
              </a:rPr>
              <a:t>/</a:t>
            </a:r>
            <a:r>
              <a:rPr lang="es-ES" err="1">
                <a:latin typeface="Calibri"/>
                <a:ea typeface="Calibri"/>
                <a:cs typeface="Calibri"/>
              </a:rPr>
              <a:t>Components</a:t>
            </a:r>
            <a:r>
              <a:rPr lang="es-ES">
                <a:latin typeface="Calibri"/>
                <a:ea typeface="Calibri"/>
                <a:cs typeface="Calibri"/>
              </a:rPr>
              <a:t>/Tarjeta/ o, si preferimos, en un directorio diferente, que combinará los componentes Tarjeta, </a:t>
            </a:r>
            <a:r>
              <a:rPr lang="es-ES" err="1">
                <a:latin typeface="Calibri"/>
                <a:ea typeface="Calibri"/>
                <a:cs typeface="Calibri"/>
              </a:rPr>
              <a:t>ImagenUsuario</a:t>
            </a:r>
            <a:r>
              <a:rPr lang="es-ES">
                <a:latin typeface="Calibri"/>
                <a:ea typeface="Calibri"/>
                <a:cs typeface="Calibri"/>
              </a:rPr>
              <a:t> e </a:t>
            </a:r>
            <a:r>
              <a:rPr lang="es-ES" err="1">
                <a:latin typeface="Calibri"/>
                <a:ea typeface="Calibri"/>
                <a:cs typeface="Calibri"/>
              </a:rPr>
              <a:t>InfoUsuario</a:t>
            </a:r>
            <a:r>
              <a:rPr lang="es-ES">
                <a:latin typeface="Calibri"/>
                <a:ea typeface="Calibri"/>
                <a:cs typeface="Calibri"/>
              </a:rPr>
              <a:t> en uno solo. El nombre del fichero será </a:t>
            </a:r>
            <a:r>
              <a:rPr lang="es-ES" err="1">
                <a:latin typeface="Calibri"/>
                <a:ea typeface="Calibri"/>
                <a:cs typeface="Calibri"/>
              </a:rPr>
              <a:t>TarjetaUsuario.jsx</a:t>
            </a:r>
            <a:endParaRPr lang="es-ES">
              <a:latin typeface="Calibri"/>
              <a:ea typeface="Calibri"/>
              <a:cs typeface="Calibri"/>
            </a:endParaRPr>
          </a:p>
          <a:p>
            <a:r>
              <a:rPr lang="es-ES" err="1">
                <a:latin typeface="Consolas"/>
                <a:ea typeface="Calibri"/>
                <a:cs typeface="Calibri"/>
              </a:rPr>
              <a:t>function</a:t>
            </a:r>
            <a:r>
              <a:rPr lang="es-ES">
                <a:latin typeface="Consolas"/>
                <a:ea typeface="Calibri"/>
                <a:cs typeface="Calibri"/>
              </a:rPr>
              <a:t> </a:t>
            </a:r>
            <a:r>
              <a:rPr lang="es-ES" err="1">
                <a:latin typeface="Consolas"/>
                <a:ea typeface="Calibri"/>
                <a:cs typeface="Calibri"/>
              </a:rPr>
              <a:t>TarjetaUsuario</a:t>
            </a:r>
            <a:r>
              <a:rPr lang="es-ES">
                <a:latin typeface="Consolas"/>
                <a:ea typeface="Calibri"/>
                <a:cs typeface="Calibri"/>
              </a:rPr>
              <a:t>({ </a:t>
            </a:r>
            <a:r>
              <a:rPr lang="es-ES" sz="2100">
                <a:latin typeface="Consolas"/>
                <a:ea typeface="Calibri"/>
                <a:cs typeface="Calibri"/>
              </a:rPr>
              <a:t>usuario </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&lt;Tarjeta&gt;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ImagenUsuario</a:t>
            </a:r>
            <a:r>
              <a:rPr lang="es-ES">
                <a:latin typeface="Consolas"/>
                <a:ea typeface="Calibri"/>
                <a:cs typeface="Calibri"/>
              </a:rPr>
              <a:t> </a:t>
            </a:r>
            <a:r>
              <a:rPr lang="es-ES" err="1">
                <a:latin typeface="Consolas"/>
                <a:ea typeface="Calibri"/>
                <a:cs typeface="Calibri"/>
              </a:rPr>
              <a:t>src</a:t>
            </a:r>
            <a:r>
              <a:rPr lang="es-ES">
                <a:latin typeface="Consolas"/>
                <a:ea typeface="Calibri"/>
                <a:cs typeface="Calibri"/>
              </a:rPr>
              <a:t>={</a:t>
            </a:r>
            <a:r>
              <a:rPr lang="es-ES" sz="2100" err="1">
                <a:latin typeface="Consolas"/>
                <a:ea typeface="Calibri"/>
                <a:cs typeface="Calibri"/>
              </a:rPr>
              <a:t>usuario.imagen</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alt</a:t>
            </a:r>
            <a:r>
              <a:rPr lang="es-ES">
                <a:latin typeface="Consolas"/>
                <a:ea typeface="Calibri"/>
                <a:cs typeface="Calibri"/>
              </a:rPr>
              <a:t>={</a:t>
            </a:r>
            <a:r>
              <a:rPr lang="es-ES" sz="2100" err="1">
                <a:latin typeface="Consolas"/>
                <a:ea typeface="Calibri"/>
                <a:cs typeface="Calibri"/>
              </a:rPr>
              <a:t>usuario.nombre</a:t>
            </a:r>
            <a:r>
              <a:rPr lang="es-ES">
                <a:latin typeface="Consolas"/>
                <a:ea typeface="Calibri"/>
                <a:cs typeface="Calibri"/>
              </a:rPr>
              <a:t>} /&gt;</a:t>
            </a:r>
            <a:br>
              <a:rPr lang="es-ES">
                <a:latin typeface="Consolas"/>
                <a:ea typeface="Calibri"/>
                <a:cs typeface="Calibri"/>
              </a:rPr>
            </a:br>
            <a:r>
              <a:rPr lang="es-ES">
                <a:latin typeface="Consolas"/>
                <a:ea typeface="Calibri"/>
                <a:cs typeface="Calibri"/>
              </a:rPr>
              <a:t>                &lt;</a:t>
            </a:r>
            <a:r>
              <a:rPr lang="es-ES" err="1">
                <a:latin typeface="Consolas"/>
                <a:ea typeface="Calibri"/>
                <a:cs typeface="Calibri"/>
              </a:rPr>
              <a:t>InfoUsuario</a:t>
            </a:r>
            <a:r>
              <a:rPr lang="es-ES">
                <a:latin typeface="Consolas"/>
                <a:ea typeface="Calibri"/>
                <a:cs typeface="Calibri"/>
              </a:rPr>
              <a:t> nombre={</a:t>
            </a:r>
            <a:r>
              <a:rPr lang="es-ES" sz="2100" err="1">
                <a:latin typeface="Consolas"/>
                <a:ea typeface="Calibri"/>
                <a:cs typeface="Calibri"/>
              </a:rPr>
              <a:t>usuario.nombre</a:t>
            </a:r>
            <a:r>
              <a:rPr lang="es-ES" sz="2100">
                <a:latin typeface="Consolas"/>
                <a:ea typeface="Calibri"/>
                <a:cs typeface="Calibri"/>
              </a:rPr>
              <a:t>}</a:t>
            </a:r>
            <a:br>
              <a:rPr lang="es-ES" sz="2100">
                <a:latin typeface="Consolas"/>
                <a:ea typeface="Calibri"/>
                <a:cs typeface="Calibri"/>
              </a:rPr>
            </a:br>
            <a:r>
              <a:rPr lang="es-ES">
                <a:latin typeface="Consolas"/>
                <a:ea typeface="Calibri"/>
                <a:cs typeface="Calibri"/>
              </a:rPr>
              <a:t>                               </a:t>
            </a:r>
            <a:r>
              <a:rPr lang="es-ES" err="1">
                <a:latin typeface="Consolas"/>
                <a:ea typeface="Calibri"/>
                <a:cs typeface="Calibri"/>
              </a:rPr>
              <a:t>descripcion</a:t>
            </a:r>
            <a:r>
              <a:rPr lang="es-ES">
                <a:latin typeface="Consolas"/>
                <a:ea typeface="Calibri"/>
                <a:cs typeface="Calibri"/>
              </a:rPr>
              <a:t>={</a:t>
            </a:r>
            <a:r>
              <a:rPr lang="es-ES" sz="2100" err="1">
                <a:latin typeface="Consolas"/>
                <a:ea typeface="Calibri"/>
                <a:cs typeface="Calibri"/>
              </a:rPr>
              <a:t>usuario.descripcion</a:t>
            </a:r>
            <a:r>
              <a:rPr lang="es-ES" sz="2100">
                <a:latin typeface="Consolas"/>
                <a:ea typeface="Calibri"/>
                <a:cs typeface="Calibri"/>
              </a:rPr>
              <a:t>} </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&lt;/</a:t>
            </a:r>
            <a:r>
              <a:rPr lang="es-ES" sz="2100">
                <a:latin typeface="Consolas"/>
                <a:ea typeface="Calibri"/>
                <a:cs typeface="Calibri"/>
              </a:rPr>
              <a:t>Tarjeta</a:t>
            </a:r>
            <a:r>
              <a:rPr lang="es-ES">
                <a:latin typeface="Consolas"/>
                <a:ea typeface="Calibri"/>
                <a:cs typeface="Calibri"/>
              </a:rPr>
              <a:t>&gt;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export</a:t>
            </a:r>
            <a:r>
              <a:rPr lang="es-ES">
                <a:latin typeface="Consolas"/>
                <a:ea typeface="Calibri"/>
                <a:cs typeface="Calibri"/>
              </a:rPr>
              <a:t> default </a:t>
            </a:r>
            <a:r>
              <a:rPr lang="es-ES" err="1">
                <a:latin typeface="Consolas"/>
                <a:ea typeface="Calibri"/>
                <a:cs typeface="Calibri"/>
              </a:rPr>
              <a:t>InfoUsuario</a:t>
            </a:r>
            <a:r>
              <a:rPr lang="es-ES">
                <a:latin typeface="Consolas"/>
                <a:ea typeface="Calibri"/>
                <a:cs typeface="Calibri"/>
              </a:rPr>
              <a:t>;</a:t>
            </a:r>
          </a:p>
        </p:txBody>
      </p:sp>
    </p:spTree>
    <p:extLst>
      <p:ext uri="{BB962C8B-B14F-4D97-AF65-F5344CB8AC3E}">
        <p14:creationId xmlns:p14="http://schemas.microsoft.com/office/powerpoint/2010/main" val="15121597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1B4DE-AC5E-5AD6-5A74-C9E1CEDC79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565A37-EBC8-179D-243C-8B0F13D4CC75}"/>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1</a:t>
            </a:r>
          </a:p>
        </p:txBody>
      </p:sp>
      <p:sp>
        <p:nvSpPr>
          <p:cNvPr id="3" name="Marcador de contenido 2">
            <a:extLst>
              <a:ext uri="{FF2B5EF4-FFF2-40B4-BE49-F238E27FC236}">
                <a16:creationId xmlns:a16="http://schemas.microsoft.com/office/drawing/2014/main" id="{9ACCFDCE-6841-4C16-5C8C-296C5E4F3819}"/>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Por último se puede utilizar el componente </a:t>
            </a:r>
            <a:r>
              <a:rPr lang="es-ES" err="1">
                <a:latin typeface="Calibri"/>
                <a:ea typeface="Calibri"/>
                <a:cs typeface="Calibri"/>
              </a:rPr>
              <a:t>TarjetaUsuario</a:t>
            </a:r>
            <a:r>
              <a:rPr lang="es-ES">
                <a:latin typeface="Calibri"/>
                <a:ea typeface="Calibri"/>
                <a:cs typeface="Calibri"/>
              </a:rPr>
              <a:t> en el componente principal App a partir de un objeto de </a:t>
            </a:r>
            <a:r>
              <a:rPr lang="es-ES" err="1">
                <a:latin typeface="Calibri"/>
                <a:ea typeface="Calibri"/>
                <a:cs typeface="Calibri"/>
              </a:rPr>
              <a:t>javascript</a:t>
            </a:r>
            <a:r>
              <a:rPr lang="es-ES">
                <a:latin typeface="Calibri"/>
                <a:ea typeface="Calibri"/>
                <a:cs typeface="Calibri"/>
              </a:rPr>
              <a:t> que se puede crear de diferentes formas, en el código, de un formulario de datos, de un documento JSON,…</a:t>
            </a:r>
            <a:endParaRPr lang="es-ES">
              <a:latin typeface="Consolas"/>
              <a:ea typeface="Calibri"/>
              <a:cs typeface="Calibri"/>
            </a:endParaRPr>
          </a:p>
          <a:p>
            <a:r>
              <a:rPr lang="es-ES" err="1">
                <a:latin typeface="Consolas"/>
                <a:ea typeface="Calibri"/>
                <a:cs typeface="Calibri"/>
              </a:rPr>
              <a:t>import</a:t>
            </a:r>
            <a:r>
              <a:rPr lang="es-ES">
                <a:latin typeface="Consolas"/>
                <a:ea typeface="Calibri"/>
                <a:cs typeface="Calibri"/>
              </a:rPr>
              <a:t> </a:t>
            </a:r>
            <a:r>
              <a:rPr lang="es-ES" err="1">
                <a:latin typeface="Consolas"/>
                <a:ea typeface="Calibri"/>
                <a:cs typeface="Calibri"/>
              </a:rPr>
              <a:t>TarjetaUsuario</a:t>
            </a:r>
            <a:r>
              <a:rPr lang="es-ES">
                <a:latin typeface="Consolas"/>
                <a:ea typeface="Calibri"/>
                <a:cs typeface="Calibri"/>
              </a:rPr>
              <a:t> </a:t>
            </a:r>
            <a:r>
              <a:rPr lang="es-ES" err="1">
                <a:latin typeface="Consolas"/>
                <a:ea typeface="Calibri"/>
                <a:cs typeface="Calibri"/>
              </a:rPr>
              <a:t>from</a:t>
            </a:r>
            <a:r>
              <a:rPr lang="es-ES">
                <a:latin typeface="Consolas"/>
                <a:ea typeface="Calibri"/>
                <a:cs typeface="Calibri"/>
              </a:rPr>
              <a:t> './</a:t>
            </a:r>
            <a:r>
              <a:rPr lang="es-ES" err="1">
                <a:latin typeface="Consolas"/>
                <a:ea typeface="Calibri"/>
                <a:cs typeface="Calibri"/>
              </a:rPr>
              <a:t>Components</a:t>
            </a:r>
            <a:r>
              <a:rPr lang="es-ES">
                <a:latin typeface="Consolas"/>
                <a:ea typeface="Calibri"/>
                <a:cs typeface="Calibri"/>
              </a:rPr>
              <a:t>/Tarjeta/</a:t>
            </a:r>
            <a:r>
              <a:rPr lang="es-ES" err="1">
                <a:latin typeface="Consolas"/>
                <a:ea typeface="Calibri"/>
                <a:cs typeface="Calibri"/>
              </a:rPr>
              <a:t>TarjetaUsuario</a:t>
            </a:r>
            <a:r>
              <a:rPr lang="es-ES">
                <a:latin typeface="Consolas"/>
                <a:ea typeface="Calibri"/>
                <a:cs typeface="Calibri"/>
              </a:rPr>
              <a:t>';</a:t>
            </a:r>
            <a:br>
              <a:rPr lang="es-ES">
                <a:latin typeface="Consolas"/>
                <a:ea typeface="Calibri"/>
                <a:cs typeface="Calibri"/>
              </a:rPr>
            </a:br>
            <a:r>
              <a:rPr lang="es-ES" err="1">
                <a:latin typeface="Consolas"/>
                <a:ea typeface="Calibri"/>
                <a:cs typeface="Calibri"/>
              </a:rPr>
              <a:t>function</a:t>
            </a:r>
            <a:r>
              <a:rPr lang="es-ES">
                <a:latin typeface="Consolas"/>
                <a:ea typeface="Calibri"/>
                <a:cs typeface="Calibri"/>
              </a:rPr>
              <a:t> App()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objetoUsuario</a:t>
            </a:r>
            <a:r>
              <a:rPr lang="es-ES">
                <a:latin typeface="Consolas"/>
                <a:ea typeface="Calibri"/>
                <a:cs typeface="Calibri"/>
              </a:rPr>
              <a:t> = {</a:t>
            </a:r>
            <a:br>
              <a:rPr lang="es-ES">
                <a:latin typeface="Consolas"/>
                <a:ea typeface="Calibri"/>
                <a:cs typeface="Calibri"/>
              </a:rPr>
            </a:br>
            <a:r>
              <a:rPr lang="es-ES" sz="2100">
                <a:latin typeface="Consolas"/>
                <a:ea typeface="Calibri"/>
                <a:cs typeface="Calibri"/>
              </a:rPr>
              <a:t>        nombre: "Diego García",</a:t>
            </a:r>
            <a:br>
              <a:rPr lang="es-ES" sz="2100">
                <a:latin typeface="Consolas"/>
                <a:ea typeface="Calibri"/>
                <a:cs typeface="Calibri"/>
              </a:rPr>
            </a:br>
            <a:r>
              <a:rPr lang="es-ES" sz="2100">
                <a:latin typeface="Consolas"/>
                <a:ea typeface="Calibri"/>
                <a:cs typeface="Calibri"/>
              </a:rPr>
              <a:t>        </a:t>
            </a:r>
            <a:r>
              <a:rPr lang="es-ES" sz="2100" err="1">
                <a:latin typeface="Consolas"/>
                <a:ea typeface="Calibri"/>
                <a:cs typeface="Calibri"/>
              </a:rPr>
              <a:t>descripcion</a:t>
            </a:r>
            <a:r>
              <a:rPr lang="es-ES" sz="2100">
                <a:latin typeface="Consolas"/>
                <a:ea typeface="Calibri"/>
                <a:cs typeface="Calibri"/>
              </a:rPr>
              <a:t>: "Desarrollo de Aplicaciones Utilizando </a:t>
            </a:r>
            <a:r>
              <a:rPr lang="es-ES" sz="2100" err="1">
                <a:latin typeface="Consolas"/>
                <a:ea typeface="Calibri"/>
                <a:cs typeface="Calibri"/>
              </a:rPr>
              <a:t>Frameworks</a:t>
            </a:r>
            <a:r>
              <a:rPr lang="es-ES" sz="2100">
                <a:latin typeface="Consolas"/>
                <a:ea typeface="Calibri"/>
                <a:cs typeface="Calibri"/>
              </a:rPr>
              <a:t>",</a:t>
            </a:r>
            <a:br>
              <a:rPr lang="es-ES" sz="2100">
                <a:latin typeface="Consolas"/>
                <a:ea typeface="Calibri"/>
                <a:cs typeface="Calibri"/>
              </a:rPr>
            </a:br>
            <a:r>
              <a:rPr lang="es-ES" sz="2100">
                <a:latin typeface="Consolas"/>
                <a:ea typeface="Calibri"/>
                <a:cs typeface="Calibri"/>
              </a:rPr>
              <a:t>        imagen: "</a:t>
            </a:r>
            <a:r>
              <a:rPr lang="es-ES" sz="2100" err="1">
                <a:latin typeface="Consolas"/>
                <a:ea typeface="Calibri"/>
                <a:cs typeface="Calibri"/>
              </a:rPr>
              <a:t>path</a:t>
            </a:r>
            <a:r>
              <a:rPr lang="es-ES" sz="2100">
                <a:latin typeface="Consolas"/>
                <a:ea typeface="Calibri"/>
                <a:cs typeface="Calibri"/>
              </a:rPr>
              <a:t>/a/mi/mifoto.jpg",</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 &lt;</a:t>
            </a:r>
            <a:r>
              <a:rPr lang="es-ES" err="1">
                <a:latin typeface="Consolas"/>
                <a:ea typeface="Calibri"/>
                <a:cs typeface="Calibri"/>
              </a:rPr>
              <a:t>TarjetaUsuario</a:t>
            </a:r>
            <a:r>
              <a:rPr lang="es-ES">
                <a:latin typeface="Consolas"/>
                <a:ea typeface="Calibri"/>
                <a:cs typeface="Calibri"/>
              </a:rPr>
              <a:t> usuario={</a:t>
            </a:r>
            <a:r>
              <a:rPr lang="es-ES" err="1">
                <a:latin typeface="Consolas"/>
                <a:ea typeface="Calibri"/>
                <a:cs typeface="Calibri"/>
              </a:rPr>
              <a:t>objetoUsuario</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a:t>
            </a:r>
            <a:endParaRPr lang="es-ES">
              <a:latin typeface="Consolas"/>
            </a:endParaRPr>
          </a:p>
        </p:txBody>
      </p:sp>
    </p:spTree>
    <p:extLst>
      <p:ext uri="{BB962C8B-B14F-4D97-AF65-F5344CB8AC3E}">
        <p14:creationId xmlns:p14="http://schemas.microsoft.com/office/powerpoint/2010/main" val="39969857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DB80B-6484-A914-B9EC-FCB0123265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52DA187-74A5-5C99-E70B-0E57BA6B5488}"/>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2</a:t>
            </a:r>
          </a:p>
        </p:txBody>
      </p:sp>
      <p:sp>
        <p:nvSpPr>
          <p:cNvPr id="3" name="Marcador de contenido 2">
            <a:extLst>
              <a:ext uri="{FF2B5EF4-FFF2-40B4-BE49-F238E27FC236}">
                <a16:creationId xmlns:a16="http://schemas.microsoft.com/office/drawing/2014/main" id="{3C24E1F5-0FDA-5BF9-E971-00DE1F3030A5}"/>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dirty="0">
                <a:latin typeface="Calibri"/>
                <a:ea typeface="Calibri"/>
                <a:cs typeface="Calibri"/>
              </a:rPr>
              <a:t>En este ejemplo se va a hacer una lista de tareas funcional reutilizando componentes:</a:t>
            </a:r>
            <a:endParaRPr lang="es-ES" dirty="0">
              <a:latin typeface="Consolas"/>
              <a:ea typeface="Calibri"/>
              <a:cs typeface="Calibri"/>
            </a:endParaRPr>
          </a:p>
          <a:p>
            <a:pPr marL="617220" lvl="1">
              <a:buFont typeface="Courier New"/>
              <a:buChar char="o"/>
            </a:pPr>
            <a:r>
              <a:rPr lang="es-ES" dirty="0">
                <a:latin typeface="Calibri"/>
                <a:ea typeface="Calibri"/>
                <a:cs typeface="Calibri"/>
              </a:rPr>
              <a:t>En primer lugar, tendremos una tarea simple en un solo componente.</a:t>
            </a:r>
          </a:p>
          <a:p>
            <a:pPr marL="617220" lvl="1">
              <a:buFont typeface="Courier New"/>
              <a:buChar char="o"/>
            </a:pPr>
            <a:r>
              <a:rPr lang="es-ES" dirty="0">
                <a:latin typeface="Calibri"/>
                <a:ea typeface="Calibri"/>
                <a:cs typeface="Calibri"/>
              </a:rPr>
              <a:t>En segundo lugar, tendremos un componente que sea la lista de tareas.</a:t>
            </a:r>
          </a:p>
          <a:p>
            <a:pPr marL="617220" lvl="1">
              <a:buFont typeface="Courier New"/>
              <a:buChar char="o"/>
            </a:pPr>
            <a:r>
              <a:rPr lang="es-ES" dirty="0">
                <a:latin typeface="Calibri"/>
                <a:ea typeface="Calibri"/>
                <a:cs typeface="Calibri"/>
              </a:rPr>
              <a:t>Por último, tendremos un formulario que nos permita agregar y eliminar tareas.</a:t>
            </a:r>
          </a:p>
          <a:p>
            <a:pPr marL="342900" indent="-342900">
              <a:buFont typeface="Arial"/>
              <a:buChar char="•"/>
            </a:pPr>
            <a:r>
              <a:rPr lang="es-ES" dirty="0">
                <a:latin typeface="Calibri"/>
                <a:ea typeface="Calibri"/>
                <a:cs typeface="Calibri"/>
              </a:rPr>
              <a:t>Creamos un nuevo fichero llamado </a:t>
            </a:r>
            <a:r>
              <a:rPr lang="es-ES" dirty="0" err="1">
                <a:latin typeface="Calibri"/>
                <a:ea typeface="Calibri"/>
                <a:cs typeface="Calibri"/>
              </a:rPr>
              <a:t>src</a:t>
            </a:r>
            <a:r>
              <a:rPr lang="es-ES" dirty="0">
                <a:latin typeface="Calibri"/>
                <a:ea typeface="Calibri"/>
                <a:cs typeface="Calibri"/>
              </a:rPr>
              <a:t>/Componentes/Tarea/</a:t>
            </a:r>
            <a:r>
              <a:rPr lang="es-ES" dirty="0" err="1">
                <a:latin typeface="Calibri"/>
                <a:ea typeface="Calibri"/>
                <a:cs typeface="Calibri"/>
              </a:rPr>
              <a:t>Tarea.jsx</a:t>
            </a:r>
            <a:endParaRPr lang="es-ES" dirty="0">
              <a:latin typeface="Calibri"/>
              <a:ea typeface="Calibri"/>
              <a:cs typeface="Calibri"/>
            </a:endParaRPr>
          </a:p>
          <a:p>
            <a:r>
              <a:rPr lang="es-ES" dirty="0" err="1">
                <a:latin typeface="Consolas"/>
                <a:ea typeface="+mn-lt"/>
                <a:cs typeface="+mn-lt"/>
              </a:rPr>
              <a:t>import</a:t>
            </a:r>
            <a:r>
              <a:rPr lang="es-ES" dirty="0">
                <a:latin typeface="Consolas"/>
                <a:ea typeface="+mn-lt"/>
                <a:cs typeface="+mn-lt"/>
              </a:rPr>
              <a:t> "./Tarea.css";               //Se puede crear un fichero </a:t>
            </a:r>
            <a:r>
              <a:rPr lang="es-ES" dirty="0" err="1">
                <a:latin typeface="Consolas"/>
                <a:ea typeface="+mn-lt"/>
                <a:cs typeface="+mn-lt"/>
              </a:rPr>
              <a:t>css</a:t>
            </a:r>
            <a:r>
              <a:rPr lang="es-ES" dirty="0">
                <a:latin typeface="Consolas"/>
                <a:ea typeface="+mn-lt"/>
                <a:cs typeface="+mn-lt"/>
              </a:rPr>
              <a:t> para </a:t>
            </a:r>
            <a:br>
              <a:rPr lang="es-ES" dirty="0">
                <a:latin typeface="Consolas"/>
                <a:ea typeface="+mn-lt"/>
                <a:cs typeface="+mn-lt"/>
              </a:rPr>
            </a:br>
            <a:r>
              <a:rPr lang="es-ES" dirty="0" err="1">
                <a:latin typeface="Consolas"/>
                <a:ea typeface="+mn-lt"/>
                <a:cs typeface="+mn-lt"/>
              </a:rPr>
              <a:t>function</a:t>
            </a:r>
            <a:r>
              <a:rPr lang="es-ES" dirty="0">
                <a:latin typeface="Consolas"/>
                <a:ea typeface="+mn-lt"/>
                <a:cs typeface="+mn-lt"/>
              </a:rPr>
              <a:t> Tarea({</a:t>
            </a:r>
            <a:r>
              <a:rPr lang="es-ES" dirty="0" err="1">
                <a:latin typeface="Consolas"/>
                <a:ea typeface="+mn-lt"/>
                <a:cs typeface="+mn-lt"/>
              </a:rPr>
              <a:t>tarea,onDelete</a:t>
            </a:r>
            <a:r>
              <a:rPr lang="es-ES" dirty="0">
                <a:latin typeface="Consolas"/>
                <a:ea typeface="+mn-lt"/>
                <a:cs typeface="+mn-lt"/>
              </a:rPr>
              <a:t>}){   //modificar los estilos del componente</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return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 </a:t>
            </a:r>
            <a:r>
              <a:rPr lang="es-ES" dirty="0" err="1">
                <a:latin typeface="Consolas"/>
                <a:ea typeface="+mn-lt"/>
                <a:cs typeface="+mn-lt"/>
              </a:rPr>
              <a:t>className</a:t>
            </a:r>
            <a:r>
              <a:rPr lang="es-ES" dirty="0">
                <a:latin typeface="Consolas"/>
                <a:ea typeface="+mn-lt"/>
                <a:cs typeface="+mn-lt"/>
              </a:rPr>
              <a:t>="Tarea"&gt;</a:t>
            </a:r>
            <a:br>
              <a:rPr lang="en-US" dirty="0">
                <a:latin typeface="Consolas"/>
              </a:rPr>
            </a:br>
            <a:r>
              <a:rPr lang="es-ES" dirty="0">
                <a:latin typeface="Consolas"/>
                <a:ea typeface="+mn-lt"/>
                <a:cs typeface="+mn-lt"/>
              </a:rPr>
              <a:t>            &lt;h3&gt;{</a:t>
            </a:r>
            <a:r>
              <a:rPr lang="es-ES" dirty="0" err="1">
                <a:latin typeface="Consolas"/>
                <a:ea typeface="+mn-lt"/>
                <a:cs typeface="+mn-lt"/>
              </a:rPr>
              <a:t>tarea.titulo</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button</a:t>
            </a:r>
            <a:r>
              <a:rPr lang="es-ES" dirty="0">
                <a:latin typeface="Consolas"/>
                <a:ea typeface="+mn-lt"/>
                <a:cs typeface="+mn-lt"/>
              </a:rPr>
              <a:t> </a:t>
            </a:r>
            <a:r>
              <a:rPr lang="es-ES" dirty="0" err="1">
                <a:latin typeface="Consolas"/>
                <a:ea typeface="+mn-lt"/>
                <a:cs typeface="+mn-lt"/>
              </a:rPr>
              <a:t>onClick</a:t>
            </a:r>
            <a:r>
              <a:rPr lang="es-ES" dirty="0">
                <a:latin typeface="Consolas"/>
                <a:ea typeface="+mn-lt"/>
                <a:cs typeface="+mn-lt"/>
              </a:rPr>
              <a:t>={()=&gt; </a:t>
            </a:r>
            <a:r>
              <a:rPr lang="es-ES" dirty="0" err="1">
                <a:latin typeface="Consolas"/>
                <a:ea typeface="+mn-lt"/>
                <a:cs typeface="+mn-lt"/>
              </a:rPr>
              <a:t>onDelete</a:t>
            </a:r>
            <a:r>
              <a:rPr lang="es-ES" dirty="0">
                <a:latin typeface="Consolas"/>
                <a:ea typeface="+mn-lt"/>
                <a:cs typeface="+mn-lt"/>
              </a:rPr>
              <a:t>(</a:t>
            </a:r>
            <a:r>
              <a:rPr lang="es-ES" dirty="0" err="1">
                <a:latin typeface="Consolas"/>
                <a:ea typeface="+mn-lt"/>
                <a:cs typeface="+mn-lt"/>
              </a:rPr>
              <a:t>tarea.id</a:t>
            </a:r>
            <a:r>
              <a:rPr lang="es-ES" dirty="0">
                <a:latin typeface="Consolas"/>
                <a:ea typeface="+mn-lt"/>
                <a:cs typeface="+mn-lt"/>
              </a:rPr>
              <a:t>)}&gt;Eliminar&lt;/</a:t>
            </a:r>
            <a:r>
              <a:rPr lang="es-ES" dirty="0" err="1">
                <a:latin typeface="Consolas"/>
                <a:ea typeface="+mn-lt"/>
                <a:cs typeface="+mn-lt"/>
              </a:rPr>
              <a:t>button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&lt;/h3&gt;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export</a:t>
            </a:r>
            <a:r>
              <a:rPr lang="es-ES" dirty="0">
                <a:latin typeface="Consolas"/>
                <a:ea typeface="+mn-lt"/>
                <a:cs typeface="+mn-lt"/>
              </a:rPr>
              <a:t> default Tarea;</a:t>
            </a:r>
            <a:endParaRPr lang="es-ES" dirty="0">
              <a:latin typeface="Consolas"/>
            </a:endParaRPr>
          </a:p>
        </p:txBody>
      </p:sp>
    </p:spTree>
    <p:extLst>
      <p:ext uri="{BB962C8B-B14F-4D97-AF65-F5344CB8AC3E}">
        <p14:creationId xmlns:p14="http://schemas.microsoft.com/office/powerpoint/2010/main" val="14911575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6148-3757-8CC6-3850-AFB1C49F12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9EAC82-6509-8F61-D89A-017ACEFEEB96}"/>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2</a:t>
            </a:r>
          </a:p>
        </p:txBody>
      </p:sp>
      <p:sp>
        <p:nvSpPr>
          <p:cNvPr id="3" name="Marcador de contenido 2">
            <a:extLst>
              <a:ext uri="{FF2B5EF4-FFF2-40B4-BE49-F238E27FC236}">
                <a16:creationId xmlns:a16="http://schemas.microsoft.com/office/drawing/2014/main" id="{5CBBDA95-B147-8517-4C1F-DB636E1B4814}"/>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Creamos un nuevo fichero llamado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ListaDeTareas</a:t>
            </a:r>
            <a:r>
              <a:rPr lang="es-ES">
                <a:latin typeface="Calibri"/>
                <a:ea typeface="Calibri"/>
                <a:cs typeface="Calibri"/>
              </a:rPr>
              <a:t>/</a:t>
            </a:r>
            <a:r>
              <a:rPr lang="es-ES" err="1">
                <a:latin typeface="Calibri"/>
                <a:ea typeface="Calibri"/>
                <a:cs typeface="Calibri"/>
              </a:rPr>
              <a:t>ListaDeTareas.jsx</a:t>
            </a:r>
            <a:endParaRPr lang="es-ES" err="1"/>
          </a:p>
          <a:p>
            <a:r>
              <a:rPr lang="es-ES" err="1">
                <a:latin typeface="Consolas"/>
                <a:ea typeface="+mn-lt"/>
                <a:cs typeface="+mn-lt"/>
              </a:rPr>
              <a:t>import</a:t>
            </a:r>
            <a:r>
              <a:rPr lang="es-ES">
                <a:latin typeface="Consolas"/>
                <a:ea typeface="+mn-lt"/>
                <a:cs typeface="+mn-lt"/>
              </a:rPr>
              <a:t> Tarea </a:t>
            </a:r>
            <a:r>
              <a:rPr lang="es-ES" err="1">
                <a:latin typeface="Consolas"/>
                <a:ea typeface="+mn-lt"/>
                <a:cs typeface="+mn-lt"/>
              </a:rPr>
              <a:t>from</a:t>
            </a:r>
            <a:r>
              <a:rPr lang="es-ES">
                <a:latin typeface="Consolas"/>
                <a:ea typeface="+mn-lt"/>
                <a:cs typeface="+mn-lt"/>
              </a:rPr>
              <a:t> "../Tarea/Tarea";</a:t>
            </a:r>
            <a:br>
              <a:rPr lang="es-ES">
                <a:latin typeface="Consolas"/>
                <a:ea typeface="+mn-lt"/>
                <a:cs typeface="+mn-lt"/>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ListaDeTareas</a:t>
            </a:r>
            <a:r>
              <a:rPr lang="es-ES">
                <a:latin typeface="Consolas"/>
                <a:ea typeface="+mn-lt"/>
                <a:cs typeface="+mn-lt"/>
              </a:rPr>
              <a:t>({</a:t>
            </a:r>
            <a:r>
              <a:rPr lang="es-ES" err="1">
                <a:latin typeface="Consolas"/>
                <a:ea typeface="+mn-lt"/>
                <a:cs typeface="+mn-lt"/>
              </a:rPr>
              <a:t>tareas,onDelete</a:t>
            </a:r>
            <a:r>
              <a:rPr lang="es-ES">
                <a:latin typeface="Consolas"/>
                <a:ea typeface="+mn-lt"/>
                <a:cs typeface="+mn-lt"/>
              </a:rPr>
              <a:t>}){  //Se pasa como argumento una</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 lista de tareas y la función para cuando se eliminen</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  // Para cada tarea se crea un componente Tarea           </a:t>
            </a:r>
            <a:br>
              <a:rPr lang="es-ES">
                <a:latin typeface="Consolas"/>
                <a:ea typeface="+mn-lt"/>
                <a:cs typeface="+mn-lt"/>
              </a:rPr>
            </a:br>
            <a:r>
              <a:rPr lang="es-ES">
                <a:latin typeface="Consolas"/>
                <a:ea typeface="+mn-lt"/>
                <a:cs typeface="+mn-lt"/>
              </a:rPr>
              <a:t>            {</a:t>
            </a:r>
            <a:r>
              <a:rPr lang="es-ES" err="1">
                <a:latin typeface="Consolas"/>
                <a:ea typeface="+mn-lt"/>
                <a:cs typeface="+mn-lt"/>
              </a:rPr>
              <a:t>tareas.map</a:t>
            </a:r>
            <a:r>
              <a:rPr lang="es-ES">
                <a:latin typeface="Consolas"/>
                <a:ea typeface="+mn-lt"/>
                <a:cs typeface="+mn-lt"/>
              </a:rPr>
              <a:t>(tarea =&gt; (  //Con sus propiedades concretas</a:t>
            </a:r>
            <a:br>
              <a:rPr lang="es-ES">
                <a:latin typeface="Consolas"/>
                <a:ea typeface="+mn-lt"/>
                <a:cs typeface="+mn-lt"/>
              </a:rPr>
            </a:br>
            <a:r>
              <a:rPr lang="es-ES">
                <a:latin typeface="Consolas"/>
                <a:ea typeface="+mn-lt"/>
                <a:cs typeface="+mn-lt"/>
              </a:rPr>
              <a:t>                &lt;Tarea </a:t>
            </a:r>
            <a:r>
              <a:rPr lang="es-ES" err="1">
                <a:latin typeface="Consolas"/>
                <a:ea typeface="+mn-lt"/>
                <a:cs typeface="+mn-lt"/>
              </a:rPr>
              <a:t>key</a:t>
            </a:r>
            <a:r>
              <a:rPr lang="es-ES">
                <a:latin typeface="Consolas"/>
                <a:ea typeface="+mn-lt"/>
                <a:cs typeface="+mn-lt"/>
              </a:rPr>
              <a:t>={</a:t>
            </a:r>
            <a:r>
              <a:rPr lang="es-ES" err="1">
                <a:latin typeface="Consolas"/>
                <a:ea typeface="+mn-lt"/>
                <a:cs typeface="+mn-lt"/>
              </a:rPr>
              <a:t>tarea.id</a:t>
            </a:r>
            <a:r>
              <a:rPr lang="es-ES">
                <a:latin typeface="Consolas"/>
                <a:ea typeface="+mn-lt"/>
                <a:cs typeface="+mn-lt"/>
              </a:rPr>
              <a:t>} tarea={tarea} </a:t>
            </a:r>
            <a:r>
              <a:rPr lang="es-ES" err="1">
                <a:latin typeface="Consolas"/>
                <a:ea typeface="+mn-lt"/>
                <a:cs typeface="+mn-lt"/>
              </a:rPr>
              <a:t>onDelete</a:t>
            </a:r>
            <a:r>
              <a:rPr lang="es-ES">
                <a:latin typeface="Consolas"/>
                <a:ea typeface="+mn-lt"/>
                <a:cs typeface="+mn-lt"/>
              </a:rPr>
              <a:t>={</a:t>
            </a:r>
            <a:r>
              <a:rPr lang="es-ES" err="1">
                <a:latin typeface="Consolas"/>
                <a:ea typeface="+mn-lt"/>
                <a:cs typeface="+mn-lt"/>
              </a:rPr>
              <a:t>onDelete</a:t>
            </a:r>
            <a:r>
              <a:rPr lang="es-ES">
                <a:latin typeface="Consolas"/>
                <a:ea typeface="+mn-lt"/>
                <a:cs typeface="+mn-lt"/>
              </a:rPr>
              <a:t>} /&gt;</a:t>
            </a:r>
            <a:br>
              <a:rPr lang="es-ES">
                <a:latin typeface="Consolas"/>
                <a:ea typeface="+mn-lt"/>
                <a:cs typeface="+mn-lt"/>
              </a:rPr>
            </a:br>
            <a:r>
              <a:rPr lang="es-ES">
                <a:latin typeface="Consolas"/>
                <a:ea typeface="+mn-lt"/>
                <a:cs typeface="+mn-lt"/>
              </a:rPr>
              <a:t>            ))}  // Es muy importante usar el atributo </a:t>
            </a:r>
            <a:r>
              <a:rPr lang="es-ES" err="1">
                <a:latin typeface="Consolas"/>
                <a:ea typeface="+mn-lt"/>
                <a:cs typeface="+mn-lt"/>
              </a:rPr>
              <a:t>key</a:t>
            </a:r>
            <a:r>
              <a:rPr lang="es-ES">
                <a:latin typeface="Consolas"/>
                <a:ea typeface="+mn-lt"/>
                <a:cs typeface="+mn-lt"/>
              </a:rPr>
              <a:t> para que </a:t>
            </a:r>
            <a:r>
              <a:rPr lang="es-ES" err="1">
                <a:latin typeface="Consolas"/>
                <a:ea typeface="+mn-lt"/>
                <a:cs typeface="+mn-lt"/>
              </a:rPr>
              <a:t>React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   // reconozca cual es la tarea que está gestionando</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ListaDeTareas</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26881841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FEE82-344C-5671-DDC1-1AFBD0C068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DBBD6D-8824-DE30-956C-64A4EBB8B5B4}"/>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2</a:t>
            </a:r>
          </a:p>
        </p:txBody>
      </p:sp>
      <p:sp>
        <p:nvSpPr>
          <p:cNvPr id="3" name="Marcador de contenido 2">
            <a:extLst>
              <a:ext uri="{FF2B5EF4-FFF2-40B4-BE49-F238E27FC236}">
                <a16:creationId xmlns:a16="http://schemas.microsoft.com/office/drawing/2014/main" id="{13A350F6-9672-0F76-BE0C-373F19C6E9B3}"/>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Calibri"/>
                <a:cs typeface="Calibri"/>
              </a:rPr>
              <a:t>Creamos un nuevo fichero llamado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FormularioTareas</a:t>
            </a:r>
            <a:r>
              <a:rPr lang="es-ES">
                <a:latin typeface="Calibri"/>
                <a:ea typeface="Calibri"/>
                <a:cs typeface="Calibri"/>
              </a:rPr>
              <a:t>/</a:t>
            </a:r>
            <a:r>
              <a:rPr lang="es-ES" err="1">
                <a:latin typeface="Calibri"/>
                <a:ea typeface="Calibri"/>
                <a:cs typeface="Calibri"/>
              </a:rPr>
              <a:t>FormularioTareas.jsx</a:t>
            </a:r>
            <a:endParaRPr lang="es-ES" err="1"/>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FormularioTareas</a:t>
            </a:r>
            <a:r>
              <a:rPr lang="es-ES">
                <a:latin typeface="Consolas"/>
                <a:ea typeface="+mn-lt"/>
                <a:cs typeface="+mn-lt"/>
              </a:rPr>
              <a:t>({</a:t>
            </a:r>
            <a:r>
              <a:rPr lang="es-ES" err="1">
                <a:latin typeface="Consolas"/>
                <a:ea typeface="+mn-lt"/>
                <a:cs typeface="+mn-lt"/>
              </a:rPr>
              <a:t>onAdd</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titulo,setTitulo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manejarEnvio</a:t>
            </a:r>
            <a:r>
              <a:rPr lang="es-ES">
                <a:latin typeface="Consolas"/>
                <a:ea typeface="+mn-lt"/>
                <a:cs typeface="+mn-lt"/>
              </a:rPr>
              <a:t> = (evento)=&gt;{</a:t>
            </a:r>
            <a:br>
              <a:rPr lang="es-ES">
                <a:latin typeface="Consolas"/>
                <a:ea typeface="+mn-lt"/>
                <a:cs typeface="+mn-lt"/>
              </a:rPr>
            </a:br>
            <a:r>
              <a:rPr lang="es-ES">
                <a:latin typeface="Consolas"/>
                <a:ea typeface="+mn-lt"/>
                <a:cs typeface="+mn-lt"/>
              </a:rPr>
              <a:t>        </a:t>
            </a:r>
            <a:r>
              <a:rPr lang="es-ES" err="1">
                <a:latin typeface="Consolas"/>
                <a:ea typeface="+mn-lt"/>
                <a:cs typeface="+mn-lt"/>
              </a:rPr>
              <a:t>evento.preventDefault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(!titulo)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onAdd</a:t>
            </a:r>
            <a:r>
              <a:rPr lang="es-ES">
                <a:latin typeface="Consolas"/>
                <a:ea typeface="+mn-lt"/>
                <a:cs typeface="+mn-lt"/>
              </a:rPr>
              <a:t>(titulo);</a:t>
            </a:r>
            <a:br>
              <a:rPr lang="es-ES">
                <a:latin typeface="Consolas"/>
                <a:ea typeface="+mn-lt"/>
                <a:cs typeface="+mn-lt"/>
              </a:rPr>
            </a:br>
            <a:r>
              <a:rPr lang="es-ES">
                <a:latin typeface="Consolas"/>
                <a:ea typeface="+mn-lt"/>
                <a:cs typeface="+mn-lt"/>
              </a:rPr>
              <a:t>        </a:t>
            </a:r>
            <a:r>
              <a:rPr lang="es-ES" err="1">
                <a:latin typeface="Consolas"/>
                <a:ea typeface="+mn-lt"/>
                <a:cs typeface="+mn-lt"/>
              </a:rPr>
              <a:t>setTitulo</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 </a:t>
            </a:r>
            <a:r>
              <a:rPr lang="es-ES" err="1">
                <a:latin typeface="Consolas"/>
                <a:ea typeface="+mn-lt"/>
                <a:cs typeface="+mn-lt"/>
              </a:rPr>
              <a:t>onSubmit</a:t>
            </a:r>
            <a:r>
              <a:rPr lang="es-ES">
                <a:latin typeface="Consolas"/>
                <a:ea typeface="+mn-lt"/>
                <a:cs typeface="+mn-lt"/>
              </a:rPr>
              <a:t>={</a:t>
            </a:r>
            <a:r>
              <a:rPr lang="es-ES" err="1">
                <a:latin typeface="Consolas"/>
                <a:ea typeface="+mn-lt"/>
                <a:cs typeface="+mn-lt"/>
              </a:rPr>
              <a:t>manejarEnvio</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txtTarea</a:t>
            </a:r>
            <a:r>
              <a:rPr lang="es-ES">
                <a:latin typeface="Consolas"/>
                <a:ea typeface="+mn-lt"/>
                <a:cs typeface="+mn-lt"/>
              </a:rPr>
              <a:t>" id="</a:t>
            </a:r>
            <a:r>
              <a:rPr lang="es-ES" err="1">
                <a:latin typeface="Consolas"/>
                <a:ea typeface="+mn-lt"/>
                <a:cs typeface="+mn-lt"/>
              </a:rPr>
              <a:t>txtTarea</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={titulo} </a:t>
            </a:r>
            <a:r>
              <a:rPr lang="es-ES" err="1">
                <a:latin typeface="Consolas"/>
                <a:ea typeface="+mn-lt"/>
                <a:cs typeface="+mn-lt"/>
              </a:rPr>
              <a:t>onChange</a:t>
            </a:r>
            <a:r>
              <a:rPr lang="es-ES">
                <a:latin typeface="Consolas"/>
                <a:ea typeface="+mn-lt"/>
                <a:cs typeface="+mn-lt"/>
              </a:rPr>
              <a:t>={(evento) =&gt; </a:t>
            </a:r>
            <a:r>
              <a:rPr lang="es-ES" err="1">
                <a:latin typeface="Consolas"/>
                <a:ea typeface="+mn-lt"/>
                <a:cs typeface="+mn-lt"/>
              </a:rPr>
              <a:t>setTitulo</a:t>
            </a:r>
            <a:r>
              <a:rPr lang="es-ES">
                <a:latin typeface="Consolas"/>
                <a:ea typeface="+mn-lt"/>
                <a:cs typeface="+mn-lt"/>
              </a:rPr>
              <a:t>(</a:t>
            </a:r>
            <a:r>
              <a:rPr lang="es-ES" err="1">
                <a:latin typeface="Consolas"/>
                <a:ea typeface="+mn-lt"/>
                <a:cs typeface="+mn-lt"/>
              </a:rPr>
              <a:t>evento.target.value</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submit</a:t>
            </a:r>
            <a:r>
              <a:rPr lang="es-ES">
                <a:latin typeface="Consolas"/>
                <a:ea typeface="+mn-lt"/>
                <a:cs typeface="+mn-lt"/>
              </a:rPr>
              <a:t>"&gt;Añadir tarea&lt;/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FormularioTareas</a:t>
            </a:r>
            <a:r>
              <a:rPr lang="es-ES">
                <a:latin typeface="Consolas"/>
                <a:ea typeface="+mn-lt"/>
                <a:cs typeface="+mn-lt"/>
              </a:rPr>
              <a:t>;</a:t>
            </a:r>
          </a:p>
        </p:txBody>
      </p:sp>
    </p:spTree>
    <p:extLst>
      <p:ext uri="{BB962C8B-B14F-4D97-AF65-F5344CB8AC3E}">
        <p14:creationId xmlns:p14="http://schemas.microsoft.com/office/powerpoint/2010/main" val="51435822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FE074-76AE-9CDE-A1EF-4F333937FC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D41103-42A7-7DA6-9FAD-4FAA92CFE0F8}"/>
              </a:ext>
            </a:extLst>
          </p:cNvPr>
          <p:cNvSpPr>
            <a:spLocks noGrp="1"/>
          </p:cNvSpPr>
          <p:nvPr>
            <p:ph type="title"/>
          </p:nvPr>
        </p:nvSpPr>
        <p:spPr/>
        <p:txBody>
          <a:bodyPr>
            <a:normAutofit fontScale="90000"/>
          </a:bodyPr>
          <a:lstStyle/>
          <a:p>
            <a:r>
              <a:rPr lang="es-ES">
                <a:latin typeface="Calibri"/>
                <a:ea typeface="Calibri"/>
                <a:cs typeface="Calibri"/>
              </a:rPr>
              <a:t>Estructura, diseño e implementación de componentes. Avanzado. Creación de componentes reutilizables y complejos. Ejemplo 2</a:t>
            </a:r>
          </a:p>
        </p:txBody>
      </p:sp>
      <p:sp>
        <p:nvSpPr>
          <p:cNvPr id="3" name="Marcador de contenido 2">
            <a:extLst>
              <a:ext uri="{FF2B5EF4-FFF2-40B4-BE49-F238E27FC236}">
                <a16:creationId xmlns:a16="http://schemas.microsoft.com/office/drawing/2014/main" id="{BE1909E8-E2C7-37E9-E843-90EFB73D24B5}"/>
              </a:ext>
            </a:extLst>
          </p:cNvPr>
          <p:cNvSpPr>
            <a:spLocks noGrp="1"/>
          </p:cNvSpPr>
          <p:nvPr>
            <p:ph idx="1"/>
          </p:nvPr>
        </p:nvSpPr>
        <p:spPr>
          <a:xfrm>
            <a:off x="1028700" y="2164758"/>
            <a:ext cx="10134600" cy="3969342"/>
          </a:xfrm>
        </p:spPr>
        <p:txBody>
          <a:bodyPr vert="horz" lIns="91440" tIns="45720" rIns="91440" bIns="45720" rtlCol="0" anchor="t">
            <a:normAutofit fontScale="62500" lnSpcReduction="20000"/>
          </a:bodyPr>
          <a:lstStyle/>
          <a:p>
            <a:pPr marL="342900" indent="-342900">
              <a:buFont typeface="Arial"/>
              <a:buChar char="•"/>
            </a:pPr>
            <a:r>
              <a:rPr lang="es-ES" dirty="0">
                <a:latin typeface="Calibri"/>
                <a:ea typeface="Calibri"/>
                <a:cs typeface="Calibri"/>
              </a:rPr>
              <a:t>Por último, lo componemos todo en </a:t>
            </a:r>
            <a:r>
              <a:rPr lang="es-ES" dirty="0" err="1">
                <a:latin typeface="Calibri"/>
                <a:ea typeface="Calibri"/>
                <a:cs typeface="Calibri"/>
              </a:rPr>
              <a:t>App.jsx</a:t>
            </a:r>
            <a:endParaRPr lang="es-ES" dirty="0"/>
          </a:p>
          <a:p>
            <a:r>
              <a:rPr lang="es-ES" dirty="0" err="1">
                <a:solidFill>
                  <a:srgbClr val="413224"/>
                </a:solidFill>
                <a:latin typeface="Consolas"/>
                <a:ea typeface="+mn-lt"/>
                <a:cs typeface="+mn-lt"/>
              </a:rPr>
              <a:t>import</a:t>
            </a:r>
            <a:r>
              <a:rPr lang="es-ES" dirty="0">
                <a:solidFill>
                  <a:srgbClr val="413224"/>
                </a:solidFill>
                <a:latin typeface="Consolas"/>
                <a:ea typeface="+mn-lt"/>
                <a:cs typeface="+mn-lt"/>
              </a:rPr>
              <a:t> { </a:t>
            </a:r>
            <a:r>
              <a:rPr lang="es-ES" dirty="0" err="1">
                <a:solidFill>
                  <a:srgbClr val="413224"/>
                </a:solidFill>
                <a:latin typeface="Consolas"/>
                <a:ea typeface="+mn-lt"/>
                <a:cs typeface="+mn-lt"/>
              </a:rPr>
              <a:t>useState</a:t>
            </a:r>
            <a:r>
              <a:rPr lang="es-ES" dirty="0">
                <a:solidFill>
                  <a:srgbClr val="413224"/>
                </a:solidFill>
                <a:latin typeface="Consolas"/>
                <a:ea typeface="+mn-lt"/>
                <a:cs typeface="+mn-lt"/>
              </a:rPr>
              <a:t> } </a:t>
            </a:r>
            <a:r>
              <a:rPr lang="es-ES" dirty="0" err="1">
                <a:solidFill>
                  <a:srgbClr val="413224"/>
                </a:solidFill>
                <a:latin typeface="Consolas"/>
                <a:ea typeface="+mn-lt"/>
                <a:cs typeface="+mn-lt"/>
              </a:rPr>
              <a:t>from</a:t>
            </a:r>
            <a:r>
              <a:rPr lang="es-ES" dirty="0">
                <a:solidFill>
                  <a:srgbClr val="413224"/>
                </a:solidFill>
                <a:latin typeface="Consolas"/>
                <a:ea typeface="+mn-lt"/>
                <a:cs typeface="+mn-lt"/>
              </a:rPr>
              <a:t> "</a:t>
            </a:r>
            <a:r>
              <a:rPr lang="es-ES" dirty="0" err="1">
                <a:solidFill>
                  <a:srgbClr val="413224"/>
                </a:solidFill>
                <a:latin typeface="Consolas"/>
                <a:ea typeface="+mn-lt"/>
                <a:cs typeface="+mn-lt"/>
              </a:rPr>
              <a:t>react</a:t>
            </a:r>
            <a:r>
              <a:rPr lang="es-ES" dirty="0">
                <a:solidFill>
                  <a:srgbClr val="413224"/>
                </a:solidFill>
                <a:latin typeface="Consolas"/>
                <a:ea typeface="+mn-lt"/>
                <a:cs typeface="+mn-lt"/>
              </a:rPr>
              <a:t>";</a:t>
            </a:r>
            <a:br>
              <a:rPr lang="es-ES" dirty="0">
                <a:latin typeface="Consolas"/>
                <a:ea typeface="+mn-lt"/>
                <a:cs typeface="+mn-lt"/>
              </a:rPr>
            </a:br>
            <a:r>
              <a:rPr lang="es-ES" dirty="0" err="1">
                <a:solidFill>
                  <a:srgbClr val="413224"/>
                </a:solidFill>
                <a:latin typeface="Consolas"/>
                <a:ea typeface="+mn-lt"/>
                <a:cs typeface="+mn-lt"/>
              </a:rPr>
              <a:t>import</a:t>
            </a:r>
            <a:r>
              <a:rPr lang="es-ES" dirty="0">
                <a:solidFill>
                  <a:srgbClr val="413224"/>
                </a:solidFill>
                <a:latin typeface="Consolas"/>
                <a:ea typeface="+mn-lt"/>
                <a:cs typeface="+mn-lt"/>
              </a:rPr>
              <a:t> </a:t>
            </a:r>
            <a:r>
              <a:rPr lang="es-ES" dirty="0" err="1">
                <a:solidFill>
                  <a:srgbClr val="413224"/>
                </a:solidFill>
                <a:latin typeface="Consolas"/>
                <a:ea typeface="+mn-lt"/>
                <a:cs typeface="+mn-lt"/>
              </a:rPr>
              <a:t>FormularioTareas</a:t>
            </a:r>
            <a:r>
              <a:rPr lang="es-ES" dirty="0">
                <a:solidFill>
                  <a:srgbClr val="413224"/>
                </a:solidFill>
                <a:latin typeface="Consolas"/>
                <a:ea typeface="+mn-lt"/>
                <a:cs typeface="+mn-lt"/>
              </a:rPr>
              <a:t> </a:t>
            </a:r>
            <a:r>
              <a:rPr lang="es-ES" dirty="0" err="1">
                <a:solidFill>
                  <a:srgbClr val="413224"/>
                </a:solidFill>
                <a:latin typeface="Consolas"/>
                <a:ea typeface="+mn-lt"/>
                <a:cs typeface="+mn-lt"/>
              </a:rPr>
              <a:t>from</a:t>
            </a:r>
            <a:r>
              <a:rPr lang="es-ES" dirty="0">
                <a:solidFill>
                  <a:srgbClr val="413224"/>
                </a:solidFill>
                <a:latin typeface="Consolas"/>
                <a:ea typeface="+mn-lt"/>
                <a:cs typeface="+mn-lt"/>
              </a:rPr>
              <a:t> "./Componentes/</a:t>
            </a:r>
            <a:r>
              <a:rPr lang="es-ES" dirty="0" err="1">
                <a:solidFill>
                  <a:srgbClr val="413224"/>
                </a:solidFill>
                <a:latin typeface="Consolas"/>
                <a:ea typeface="+mn-lt"/>
                <a:cs typeface="+mn-lt"/>
              </a:rPr>
              <a:t>FormularioTareas</a:t>
            </a:r>
            <a:r>
              <a:rPr lang="es-ES" dirty="0">
                <a:solidFill>
                  <a:srgbClr val="413224"/>
                </a:solidFill>
                <a:latin typeface="Consolas"/>
                <a:ea typeface="+mn-lt"/>
                <a:cs typeface="+mn-lt"/>
              </a:rPr>
              <a:t>/</a:t>
            </a:r>
            <a:r>
              <a:rPr lang="es-ES" dirty="0" err="1">
                <a:solidFill>
                  <a:srgbClr val="413224"/>
                </a:solidFill>
                <a:latin typeface="Consolas"/>
                <a:ea typeface="+mn-lt"/>
                <a:cs typeface="+mn-lt"/>
              </a:rPr>
              <a:t>FormularioTareas</a:t>
            </a:r>
            <a:r>
              <a:rPr lang="es-ES" dirty="0">
                <a:solidFill>
                  <a:srgbClr val="413224"/>
                </a:solidFill>
                <a:latin typeface="Consolas"/>
                <a:ea typeface="+mn-lt"/>
                <a:cs typeface="+mn-lt"/>
              </a:rPr>
              <a:t>";</a:t>
            </a:r>
            <a:br>
              <a:rPr lang="es-ES" dirty="0">
                <a:latin typeface="Consolas"/>
                <a:ea typeface="+mn-lt"/>
                <a:cs typeface="+mn-lt"/>
              </a:rPr>
            </a:br>
            <a:r>
              <a:rPr lang="es-ES" dirty="0" err="1">
                <a:solidFill>
                  <a:srgbClr val="413224"/>
                </a:solidFill>
                <a:latin typeface="Consolas"/>
                <a:ea typeface="+mn-lt"/>
                <a:cs typeface="+mn-lt"/>
              </a:rPr>
              <a:t>import</a:t>
            </a:r>
            <a:r>
              <a:rPr lang="es-ES" dirty="0">
                <a:solidFill>
                  <a:srgbClr val="413224"/>
                </a:solidFill>
                <a:latin typeface="Consolas"/>
                <a:ea typeface="+mn-lt"/>
                <a:cs typeface="+mn-lt"/>
              </a:rPr>
              <a:t> </a:t>
            </a:r>
            <a:r>
              <a:rPr lang="es-ES" dirty="0" err="1">
                <a:solidFill>
                  <a:srgbClr val="413224"/>
                </a:solidFill>
                <a:latin typeface="Consolas"/>
                <a:ea typeface="+mn-lt"/>
                <a:cs typeface="+mn-lt"/>
              </a:rPr>
              <a:t>ListaDeTareas</a:t>
            </a:r>
            <a:r>
              <a:rPr lang="es-ES" dirty="0">
                <a:solidFill>
                  <a:srgbClr val="413224"/>
                </a:solidFill>
                <a:latin typeface="Consolas"/>
                <a:ea typeface="+mn-lt"/>
                <a:cs typeface="+mn-lt"/>
              </a:rPr>
              <a:t> </a:t>
            </a:r>
            <a:r>
              <a:rPr lang="es-ES" dirty="0" err="1">
                <a:solidFill>
                  <a:srgbClr val="413224"/>
                </a:solidFill>
                <a:latin typeface="Consolas"/>
                <a:ea typeface="+mn-lt"/>
                <a:cs typeface="+mn-lt"/>
              </a:rPr>
              <a:t>from</a:t>
            </a:r>
            <a:r>
              <a:rPr lang="es-ES" dirty="0">
                <a:solidFill>
                  <a:srgbClr val="413224"/>
                </a:solidFill>
                <a:latin typeface="Consolas"/>
                <a:ea typeface="+mn-lt"/>
                <a:cs typeface="+mn-lt"/>
              </a:rPr>
              <a:t> "./Componentes/</a:t>
            </a:r>
            <a:r>
              <a:rPr lang="es-ES" dirty="0" err="1">
                <a:solidFill>
                  <a:srgbClr val="413224"/>
                </a:solidFill>
                <a:latin typeface="Consolas"/>
                <a:ea typeface="+mn-lt"/>
                <a:cs typeface="+mn-lt"/>
              </a:rPr>
              <a:t>ListaDeTareas</a:t>
            </a:r>
            <a:r>
              <a:rPr lang="es-ES" dirty="0">
                <a:solidFill>
                  <a:srgbClr val="413224"/>
                </a:solidFill>
                <a:latin typeface="Consolas"/>
                <a:ea typeface="+mn-lt"/>
                <a:cs typeface="+mn-lt"/>
              </a:rPr>
              <a:t>/</a:t>
            </a:r>
            <a:r>
              <a:rPr lang="es-ES" dirty="0" err="1">
                <a:solidFill>
                  <a:srgbClr val="413224"/>
                </a:solidFill>
                <a:latin typeface="Consolas"/>
                <a:ea typeface="+mn-lt"/>
                <a:cs typeface="+mn-lt"/>
              </a:rPr>
              <a:t>ListaDeTareas</a:t>
            </a:r>
            <a:r>
              <a:rPr lang="es-ES" dirty="0">
                <a:solidFill>
                  <a:srgbClr val="413224"/>
                </a:solidFill>
                <a:latin typeface="Consolas"/>
                <a:ea typeface="+mn-lt"/>
                <a:cs typeface="+mn-lt"/>
              </a:rPr>
              <a:t>";</a:t>
            </a:r>
            <a:br>
              <a:rPr lang="es-ES" dirty="0">
                <a:latin typeface="Consolas"/>
                <a:ea typeface="+mn-lt"/>
                <a:cs typeface="+mn-lt"/>
              </a:rPr>
            </a:br>
            <a:r>
              <a:rPr lang="es-ES" dirty="0" err="1">
                <a:solidFill>
                  <a:srgbClr val="413224"/>
                </a:solidFill>
                <a:latin typeface="Consolas"/>
                <a:ea typeface="+mn-lt"/>
                <a:cs typeface="+mn-lt"/>
              </a:rPr>
              <a:t>function</a:t>
            </a:r>
            <a:r>
              <a:rPr lang="es-ES" dirty="0">
                <a:solidFill>
                  <a:srgbClr val="413224"/>
                </a:solidFill>
                <a:latin typeface="Consolas"/>
                <a:ea typeface="+mn-lt"/>
                <a:cs typeface="+mn-lt"/>
              </a:rPr>
              <a:t> App() {</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const</a:t>
            </a:r>
            <a:r>
              <a:rPr lang="es-ES" dirty="0">
                <a:solidFill>
                  <a:srgbClr val="413224"/>
                </a:solidFill>
                <a:latin typeface="Consolas"/>
                <a:ea typeface="+mn-lt"/>
                <a:cs typeface="+mn-lt"/>
              </a:rPr>
              <a:t> [tareas, </a:t>
            </a:r>
            <a:r>
              <a:rPr lang="es-ES" dirty="0" err="1">
                <a:solidFill>
                  <a:srgbClr val="413224"/>
                </a:solidFill>
                <a:latin typeface="Consolas"/>
                <a:ea typeface="+mn-lt"/>
                <a:cs typeface="+mn-lt"/>
              </a:rPr>
              <a:t>setTareas</a:t>
            </a:r>
            <a:r>
              <a:rPr lang="es-ES" dirty="0">
                <a:solidFill>
                  <a:srgbClr val="413224"/>
                </a:solidFill>
                <a:latin typeface="Consolas"/>
                <a:ea typeface="+mn-lt"/>
                <a:cs typeface="+mn-lt"/>
              </a:rPr>
              <a:t>] = </a:t>
            </a:r>
            <a:r>
              <a:rPr lang="es-ES" dirty="0" err="1">
                <a:solidFill>
                  <a:srgbClr val="413224"/>
                </a:solidFill>
                <a:latin typeface="Consolas"/>
                <a:ea typeface="+mn-lt"/>
                <a:cs typeface="+mn-lt"/>
              </a:rPr>
              <a:t>useState</a:t>
            </a:r>
            <a:r>
              <a:rPr lang="es-ES" dirty="0">
                <a:solidFill>
                  <a:srgbClr val="413224"/>
                </a:solidFill>
                <a:latin typeface="Consolas"/>
                <a:ea typeface="+mn-lt"/>
                <a:cs typeface="+mn-lt"/>
              </a:rPr>
              <a:t>([]);  // Control de estado, se verá a continuación</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const</a:t>
            </a:r>
            <a:r>
              <a:rPr lang="es-ES" dirty="0">
                <a:solidFill>
                  <a:srgbClr val="413224"/>
                </a:solidFill>
                <a:latin typeface="Consolas"/>
                <a:ea typeface="+mn-lt"/>
                <a:cs typeface="+mn-lt"/>
              </a:rPr>
              <a:t> </a:t>
            </a:r>
            <a:r>
              <a:rPr lang="es-ES" dirty="0" err="1">
                <a:solidFill>
                  <a:srgbClr val="413224"/>
                </a:solidFill>
                <a:latin typeface="Consolas"/>
                <a:ea typeface="+mn-lt"/>
                <a:cs typeface="+mn-lt"/>
              </a:rPr>
              <a:t>addTarea</a:t>
            </a:r>
            <a:r>
              <a:rPr lang="es-ES" dirty="0">
                <a:solidFill>
                  <a:srgbClr val="413224"/>
                </a:solidFill>
                <a:latin typeface="Consolas"/>
                <a:ea typeface="+mn-lt"/>
                <a:cs typeface="+mn-lt"/>
              </a:rPr>
              <a:t> = (titulo) =&gt;{</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const</a:t>
            </a:r>
            <a:r>
              <a:rPr lang="es-ES" dirty="0">
                <a:solidFill>
                  <a:srgbClr val="413224"/>
                </a:solidFill>
                <a:latin typeface="Consolas"/>
                <a:ea typeface="+mn-lt"/>
                <a:cs typeface="+mn-lt"/>
              </a:rPr>
              <a:t> </a:t>
            </a:r>
            <a:r>
              <a:rPr lang="es-ES" dirty="0" err="1">
                <a:solidFill>
                  <a:srgbClr val="413224"/>
                </a:solidFill>
                <a:latin typeface="Consolas"/>
                <a:ea typeface="+mn-lt"/>
                <a:cs typeface="+mn-lt"/>
              </a:rPr>
              <a:t>nuevaTarea</a:t>
            </a:r>
            <a:r>
              <a:rPr lang="es-ES" dirty="0">
                <a:solidFill>
                  <a:srgbClr val="413224"/>
                </a:solidFill>
                <a:latin typeface="Consolas"/>
                <a:ea typeface="+mn-lt"/>
                <a:cs typeface="+mn-lt"/>
              </a:rPr>
              <a:t> = { id: </a:t>
            </a:r>
            <a:r>
              <a:rPr lang="es-ES" dirty="0" err="1">
                <a:solidFill>
                  <a:srgbClr val="413224"/>
                </a:solidFill>
                <a:latin typeface="Consolas"/>
                <a:ea typeface="+mn-lt"/>
                <a:cs typeface="+mn-lt"/>
              </a:rPr>
              <a:t>Date.now</a:t>
            </a:r>
            <a:r>
              <a:rPr lang="es-ES" dirty="0">
                <a:solidFill>
                  <a:srgbClr val="413224"/>
                </a:solidFill>
                <a:latin typeface="Consolas"/>
                <a:ea typeface="+mn-lt"/>
                <a:cs typeface="+mn-lt"/>
              </a:rPr>
              <a:t>(), titulo};</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setTareas</a:t>
            </a:r>
            <a:r>
              <a:rPr lang="es-ES" dirty="0">
                <a:solidFill>
                  <a:srgbClr val="413224"/>
                </a:solidFill>
                <a:latin typeface="Consolas"/>
                <a:ea typeface="+mn-lt"/>
                <a:cs typeface="+mn-lt"/>
              </a:rPr>
              <a:t>([...</a:t>
            </a:r>
            <a:r>
              <a:rPr lang="es-ES" dirty="0" err="1">
                <a:solidFill>
                  <a:srgbClr val="413224"/>
                </a:solidFill>
                <a:latin typeface="Consolas"/>
                <a:ea typeface="+mn-lt"/>
                <a:cs typeface="+mn-lt"/>
              </a:rPr>
              <a:t>tareas,nuevaTarea</a:t>
            </a:r>
            <a:r>
              <a:rPr lang="es-ES" dirty="0">
                <a:solidFill>
                  <a:srgbClr val="413224"/>
                </a:solidFill>
                <a:latin typeface="Consolas"/>
                <a:ea typeface="+mn-lt"/>
                <a:cs typeface="+mn-lt"/>
              </a:rPr>
              <a:t>]);</a:t>
            </a:r>
            <a:br>
              <a:rPr lang="es-ES" dirty="0">
                <a:latin typeface="Consolas"/>
                <a:ea typeface="+mn-lt"/>
                <a:cs typeface="+mn-lt"/>
              </a:rPr>
            </a:br>
            <a:r>
              <a:rPr lang="es-ES" dirty="0">
                <a:solidFill>
                  <a:srgbClr val="413224"/>
                </a:solidFill>
                <a:latin typeface="Consolas"/>
                <a:ea typeface="+mn-lt"/>
                <a:cs typeface="+mn-lt"/>
              </a:rPr>
              <a:t>  }</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const</a:t>
            </a:r>
            <a:r>
              <a:rPr lang="es-ES" dirty="0">
                <a:solidFill>
                  <a:srgbClr val="413224"/>
                </a:solidFill>
                <a:latin typeface="Consolas"/>
                <a:ea typeface="+mn-lt"/>
                <a:cs typeface="+mn-lt"/>
              </a:rPr>
              <a:t> </a:t>
            </a:r>
            <a:r>
              <a:rPr lang="es-ES" dirty="0" err="1">
                <a:solidFill>
                  <a:srgbClr val="413224"/>
                </a:solidFill>
                <a:latin typeface="Consolas"/>
                <a:ea typeface="+mn-lt"/>
                <a:cs typeface="+mn-lt"/>
              </a:rPr>
              <a:t>delTarea</a:t>
            </a:r>
            <a:r>
              <a:rPr lang="es-ES" dirty="0">
                <a:solidFill>
                  <a:srgbClr val="413224"/>
                </a:solidFill>
                <a:latin typeface="Consolas"/>
                <a:ea typeface="+mn-lt"/>
                <a:cs typeface="+mn-lt"/>
              </a:rPr>
              <a:t> = (id) =&gt;{</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setTareas</a:t>
            </a:r>
            <a:r>
              <a:rPr lang="es-ES" dirty="0">
                <a:solidFill>
                  <a:srgbClr val="413224"/>
                </a:solidFill>
                <a:latin typeface="Consolas"/>
                <a:ea typeface="+mn-lt"/>
                <a:cs typeface="+mn-lt"/>
              </a:rPr>
              <a:t>(</a:t>
            </a:r>
            <a:r>
              <a:rPr lang="es-ES" dirty="0" err="1">
                <a:solidFill>
                  <a:srgbClr val="413224"/>
                </a:solidFill>
                <a:latin typeface="Consolas"/>
                <a:ea typeface="+mn-lt"/>
                <a:cs typeface="+mn-lt"/>
              </a:rPr>
              <a:t>tareas.filter</a:t>
            </a:r>
            <a:r>
              <a:rPr lang="es-ES" dirty="0">
                <a:solidFill>
                  <a:srgbClr val="413224"/>
                </a:solidFill>
                <a:latin typeface="Consolas"/>
                <a:ea typeface="+mn-lt"/>
                <a:cs typeface="+mn-lt"/>
              </a:rPr>
              <a:t>(tarea =&gt; </a:t>
            </a:r>
            <a:r>
              <a:rPr lang="es-ES" dirty="0" err="1">
                <a:solidFill>
                  <a:srgbClr val="413224"/>
                </a:solidFill>
                <a:latin typeface="Consolas"/>
                <a:ea typeface="+mn-lt"/>
                <a:cs typeface="+mn-lt"/>
              </a:rPr>
              <a:t>tarea.id</a:t>
            </a:r>
            <a:r>
              <a:rPr lang="es-ES" dirty="0">
                <a:solidFill>
                  <a:srgbClr val="413224"/>
                </a:solidFill>
                <a:latin typeface="Consolas"/>
                <a:ea typeface="+mn-lt"/>
                <a:cs typeface="+mn-lt"/>
              </a:rPr>
              <a:t> !== id));</a:t>
            </a:r>
            <a:br>
              <a:rPr lang="es-ES" dirty="0">
                <a:latin typeface="Consolas"/>
                <a:ea typeface="+mn-lt"/>
                <a:cs typeface="+mn-lt"/>
              </a:rPr>
            </a:br>
            <a:r>
              <a:rPr lang="es-ES" dirty="0">
                <a:solidFill>
                  <a:srgbClr val="413224"/>
                </a:solidFill>
                <a:latin typeface="Consolas"/>
                <a:ea typeface="+mn-lt"/>
                <a:cs typeface="+mn-lt"/>
              </a:rPr>
              <a:t>  }</a:t>
            </a:r>
            <a:br>
              <a:rPr lang="es-ES" dirty="0">
                <a:latin typeface="Consolas"/>
                <a:ea typeface="+mn-lt"/>
                <a:cs typeface="+mn-lt"/>
              </a:rPr>
            </a:br>
            <a:r>
              <a:rPr lang="es-ES" dirty="0">
                <a:solidFill>
                  <a:srgbClr val="413224"/>
                </a:solidFill>
                <a:latin typeface="Consolas"/>
                <a:ea typeface="+mn-lt"/>
                <a:cs typeface="+mn-lt"/>
              </a:rPr>
              <a:t>  </a:t>
            </a:r>
            <a:r>
              <a:rPr lang="es-ES" dirty="0" err="1">
                <a:solidFill>
                  <a:srgbClr val="413224"/>
                </a:solidFill>
                <a:latin typeface="Consolas"/>
                <a:ea typeface="+mn-lt"/>
                <a:cs typeface="+mn-lt"/>
              </a:rPr>
              <a:t>return</a:t>
            </a:r>
            <a:r>
              <a:rPr lang="es-ES" dirty="0">
                <a:solidFill>
                  <a:srgbClr val="413224"/>
                </a:solidFill>
                <a:latin typeface="Consolas"/>
                <a:ea typeface="+mn-lt"/>
                <a:cs typeface="+mn-lt"/>
              </a:rPr>
              <a:t> (</a:t>
            </a:r>
            <a:br>
              <a:rPr lang="es-ES" dirty="0">
                <a:latin typeface="Consolas"/>
                <a:ea typeface="+mn-lt"/>
                <a:cs typeface="+mn-lt"/>
              </a:rPr>
            </a:br>
            <a:r>
              <a:rPr lang="es-ES" dirty="0">
                <a:solidFill>
                  <a:srgbClr val="413224"/>
                </a:solidFill>
                <a:latin typeface="Consolas"/>
                <a:ea typeface="+mn-lt"/>
                <a:cs typeface="+mn-lt"/>
              </a:rPr>
              <a:t>      &lt;h1&gt;Lista de Tareas&lt;/h1&gt;</a:t>
            </a:r>
            <a:br>
              <a:rPr lang="es-ES" dirty="0">
                <a:latin typeface="Consolas"/>
                <a:ea typeface="+mn-lt"/>
                <a:cs typeface="+mn-lt"/>
              </a:rPr>
            </a:br>
            <a:r>
              <a:rPr lang="es-ES" dirty="0">
                <a:solidFill>
                  <a:srgbClr val="413224"/>
                </a:solidFill>
                <a:latin typeface="Consolas"/>
                <a:ea typeface="+mn-lt"/>
                <a:cs typeface="+mn-lt"/>
              </a:rPr>
              <a:t>      &lt;</a:t>
            </a:r>
            <a:r>
              <a:rPr lang="es-ES" dirty="0" err="1">
                <a:solidFill>
                  <a:srgbClr val="413224"/>
                </a:solidFill>
                <a:latin typeface="Consolas"/>
                <a:ea typeface="+mn-lt"/>
                <a:cs typeface="+mn-lt"/>
              </a:rPr>
              <a:t>FormularioTareas</a:t>
            </a:r>
            <a:r>
              <a:rPr lang="es-ES" dirty="0">
                <a:solidFill>
                  <a:srgbClr val="413224"/>
                </a:solidFill>
                <a:latin typeface="Consolas"/>
                <a:ea typeface="+mn-lt"/>
                <a:cs typeface="+mn-lt"/>
              </a:rPr>
              <a:t> </a:t>
            </a:r>
            <a:r>
              <a:rPr lang="es-ES" dirty="0" err="1">
                <a:solidFill>
                  <a:srgbClr val="413224"/>
                </a:solidFill>
                <a:latin typeface="Consolas"/>
                <a:ea typeface="+mn-lt"/>
                <a:cs typeface="+mn-lt"/>
              </a:rPr>
              <a:t>onAdd</a:t>
            </a:r>
            <a:r>
              <a:rPr lang="es-ES" dirty="0">
                <a:solidFill>
                  <a:srgbClr val="413224"/>
                </a:solidFill>
                <a:latin typeface="Consolas"/>
                <a:ea typeface="+mn-lt"/>
                <a:cs typeface="+mn-lt"/>
              </a:rPr>
              <a:t>={</a:t>
            </a:r>
            <a:r>
              <a:rPr lang="es-ES" dirty="0" err="1">
                <a:solidFill>
                  <a:srgbClr val="413224"/>
                </a:solidFill>
                <a:latin typeface="Consolas"/>
                <a:ea typeface="+mn-lt"/>
                <a:cs typeface="+mn-lt"/>
              </a:rPr>
              <a:t>addTarea</a:t>
            </a:r>
            <a:r>
              <a:rPr lang="es-ES" dirty="0">
                <a:solidFill>
                  <a:srgbClr val="413224"/>
                </a:solidFill>
                <a:latin typeface="Consolas"/>
                <a:ea typeface="+mn-lt"/>
                <a:cs typeface="+mn-lt"/>
              </a:rPr>
              <a:t>} /&gt;</a:t>
            </a:r>
            <a:br>
              <a:rPr lang="es-ES" dirty="0">
                <a:latin typeface="Consolas"/>
                <a:ea typeface="+mn-lt"/>
                <a:cs typeface="+mn-lt"/>
              </a:rPr>
            </a:br>
            <a:r>
              <a:rPr lang="es-ES" dirty="0">
                <a:solidFill>
                  <a:srgbClr val="413224"/>
                </a:solidFill>
                <a:latin typeface="Consolas"/>
                <a:ea typeface="+mn-lt"/>
                <a:cs typeface="+mn-lt"/>
              </a:rPr>
              <a:t>      &lt;</a:t>
            </a:r>
            <a:r>
              <a:rPr lang="es-ES" dirty="0" err="1">
                <a:solidFill>
                  <a:srgbClr val="413224"/>
                </a:solidFill>
                <a:latin typeface="Consolas"/>
                <a:ea typeface="+mn-lt"/>
                <a:cs typeface="+mn-lt"/>
              </a:rPr>
              <a:t>ListaDeTareas</a:t>
            </a:r>
            <a:r>
              <a:rPr lang="es-ES" dirty="0">
                <a:solidFill>
                  <a:srgbClr val="413224"/>
                </a:solidFill>
                <a:latin typeface="Consolas"/>
                <a:ea typeface="+mn-lt"/>
                <a:cs typeface="+mn-lt"/>
              </a:rPr>
              <a:t> tareas={tareas} </a:t>
            </a:r>
            <a:r>
              <a:rPr lang="es-ES" dirty="0" err="1">
                <a:solidFill>
                  <a:srgbClr val="413224"/>
                </a:solidFill>
                <a:latin typeface="Consolas"/>
                <a:ea typeface="+mn-lt"/>
                <a:cs typeface="+mn-lt"/>
              </a:rPr>
              <a:t>onDelete</a:t>
            </a:r>
            <a:r>
              <a:rPr lang="es-ES" dirty="0">
                <a:solidFill>
                  <a:srgbClr val="413224"/>
                </a:solidFill>
                <a:latin typeface="Consolas"/>
                <a:ea typeface="+mn-lt"/>
                <a:cs typeface="+mn-lt"/>
              </a:rPr>
              <a:t>={</a:t>
            </a:r>
            <a:r>
              <a:rPr lang="es-ES" dirty="0" err="1">
                <a:solidFill>
                  <a:srgbClr val="413224"/>
                </a:solidFill>
                <a:latin typeface="Consolas"/>
                <a:ea typeface="+mn-lt"/>
                <a:cs typeface="+mn-lt"/>
              </a:rPr>
              <a:t>delTarea</a:t>
            </a:r>
            <a:r>
              <a:rPr lang="es-ES" dirty="0">
                <a:solidFill>
                  <a:srgbClr val="413224"/>
                </a:solidFill>
                <a:latin typeface="Consolas"/>
                <a:ea typeface="+mn-lt"/>
                <a:cs typeface="+mn-lt"/>
              </a:rPr>
              <a:t>}/&gt;</a:t>
            </a:r>
            <a:br>
              <a:rPr lang="es-ES" dirty="0">
                <a:latin typeface="Consolas"/>
                <a:ea typeface="+mn-lt"/>
                <a:cs typeface="+mn-lt"/>
              </a:rPr>
            </a:br>
            <a:r>
              <a:rPr lang="es-ES" dirty="0">
                <a:solidFill>
                  <a:srgbClr val="413224"/>
                </a:solidFill>
                <a:latin typeface="Consolas"/>
                <a:ea typeface="+mn-lt"/>
                <a:cs typeface="+mn-lt"/>
              </a:rPr>
              <a:t>    &lt;/</a:t>
            </a:r>
            <a:r>
              <a:rPr lang="es-ES" dirty="0" err="1">
                <a:solidFill>
                  <a:srgbClr val="413224"/>
                </a:solidFill>
                <a:latin typeface="Consolas"/>
                <a:ea typeface="+mn-lt"/>
                <a:cs typeface="+mn-lt"/>
              </a:rPr>
              <a:t>div</a:t>
            </a:r>
            <a:r>
              <a:rPr lang="es-ES" dirty="0">
                <a:solidFill>
                  <a:srgbClr val="413224"/>
                </a:solidFill>
                <a:latin typeface="Consolas"/>
                <a:ea typeface="+mn-lt"/>
                <a:cs typeface="+mn-lt"/>
              </a:rPr>
              <a:t>&gt;</a:t>
            </a:r>
            <a:br>
              <a:rPr lang="es-ES" dirty="0">
                <a:latin typeface="Consolas"/>
                <a:ea typeface="+mn-lt"/>
                <a:cs typeface="+mn-lt"/>
              </a:rPr>
            </a:br>
            <a:r>
              <a:rPr lang="es-ES" dirty="0">
                <a:solidFill>
                  <a:srgbClr val="413224"/>
                </a:solidFill>
                <a:latin typeface="Consolas"/>
                <a:ea typeface="+mn-lt"/>
                <a:cs typeface="+mn-lt"/>
              </a:rPr>
              <a:t>  );</a:t>
            </a:r>
            <a:br>
              <a:rPr lang="es-ES" dirty="0">
                <a:latin typeface="Consolas"/>
                <a:ea typeface="+mn-lt"/>
                <a:cs typeface="+mn-lt"/>
              </a:rPr>
            </a:br>
            <a:r>
              <a:rPr lang="es-ES" dirty="0">
                <a:solidFill>
                  <a:srgbClr val="413224"/>
                </a:solidFill>
                <a:latin typeface="Consolas"/>
                <a:ea typeface="+mn-lt"/>
                <a:cs typeface="+mn-lt"/>
              </a:rPr>
              <a:t>}</a:t>
            </a:r>
            <a:br>
              <a:rPr lang="es-ES" dirty="0">
                <a:latin typeface="Consolas"/>
                <a:ea typeface="+mn-lt"/>
                <a:cs typeface="+mn-lt"/>
              </a:rPr>
            </a:br>
            <a:r>
              <a:rPr lang="es-ES" dirty="0" err="1">
                <a:solidFill>
                  <a:srgbClr val="413224"/>
                </a:solidFill>
                <a:latin typeface="Consolas"/>
                <a:ea typeface="+mn-lt"/>
                <a:cs typeface="+mn-lt"/>
              </a:rPr>
              <a:t>export</a:t>
            </a:r>
            <a:r>
              <a:rPr lang="es-ES" dirty="0">
                <a:solidFill>
                  <a:srgbClr val="413224"/>
                </a:solidFill>
                <a:latin typeface="Consolas"/>
                <a:ea typeface="+mn-lt"/>
                <a:cs typeface="+mn-lt"/>
              </a:rPr>
              <a:t> default App; 15/01/2026</a:t>
            </a:r>
            <a:endParaRPr lang="es-ES" dirty="0">
              <a:latin typeface="Consolas"/>
              <a:ea typeface="+mn-lt"/>
              <a:cs typeface="+mn-lt"/>
            </a:endParaRPr>
          </a:p>
        </p:txBody>
      </p:sp>
    </p:spTree>
    <p:extLst>
      <p:ext uri="{BB962C8B-B14F-4D97-AF65-F5344CB8AC3E}">
        <p14:creationId xmlns:p14="http://schemas.microsoft.com/office/powerpoint/2010/main" val="10378463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12E18-65D9-01DA-445E-0EA539CC38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766BBE-7225-B337-6EDE-91C670C78AA7}"/>
              </a:ext>
            </a:extLst>
          </p:cNvPr>
          <p:cNvSpPr>
            <a:spLocks noGrp="1"/>
          </p:cNvSpPr>
          <p:nvPr>
            <p:ph type="title"/>
          </p:nvPr>
        </p:nvSpPr>
        <p:spPr/>
        <p:txBody>
          <a:bodyPr>
            <a:normAutofit/>
          </a:bodyPr>
          <a:lstStyle/>
          <a:p>
            <a:r>
              <a:rPr lang="es-ES" dirty="0">
                <a:latin typeface="Calibri"/>
                <a:ea typeface="Calibri"/>
                <a:cs typeface="Calibri"/>
              </a:rPr>
              <a:t>Gestión del estado de la aplicación.</a:t>
            </a:r>
            <a:endParaRPr lang="es-ES" dirty="0">
              <a:latin typeface="Bembo"/>
              <a:ea typeface="Calibri"/>
              <a:cs typeface="Calibri"/>
            </a:endParaRPr>
          </a:p>
        </p:txBody>
      </p:sp>
      <p:sp>
        <p:nvSpPr>
          <p:cNvPr id="3" name="Marcador de contenido 2">
            <a:extLst>
              <a:ext uri="{FF2B5EF4-FFF2-40B4-BE49-F238E27FC236}">
                <a16:creationId xmlns:a16="http://schemas.microsoft.com/office/drawing/2014/main" id="{73F294E6-24CD-8510-672D-ED597DC205D1}"/>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latin typeface="Calibri"/>
                <a:ea typeface="Calibri"/>
                <a:cs typeface="Calibri"/>
              </a:rPr>
              <a:t>La gestión del estado es un concepto fundamental en el desarrollo de aplicaciones web, especialmente en </a:t>
            </a:r>
            <a:r>
              <a:rPr lang="es-ES" dirty="0" err="1">
                <a:latin typeface="Calibri"/>
                <a:ea typeface="Calibri"/>
                <a:cs typeface="Calibri"/>
              </a:rPr>
              <a:t>frameworks</a:t>
            </a:r>
            <a:r>
              <a:rPr lang="es-ES" dirty="0">
                <a:latin typeface="Calibri"/>
                <a:ea typeface="Calibri"/>
                <a:cs typeface="Calibri"/>
              </a:rPr>
              <a:t> como </a:t>
            </a:r>
            <a:r>
              <a:rPr lang="es-ES" dirty="0" err="1">
                <a:latin typeface="Calibri"/>
                <a:ea typeface="Calibri"/>
                <a:cs typeface="Calibri"/>
              </a:rPr>
              <a:t>React</a:t>
            </a:r>
            <a:r>
              <a:rPr lang="es-ES" dirty="0">
                <a:latin typeface="Calibri"/>
                <a:ea typeface="Calibri"/>
                <a:cs typeface="Calibri"/>
              </a:rPr>
              <a:t>.</a:t>
            </a:r>
          </a:p>
          <a:p>
            <a:pPr marL="342900" indent="-342900">
              <a:buFont typeface="Arial"/>
              <a:buChar char="•"/>
            </a:pPr>
            <a:r>
              <a:rPr lang="es-ES" dirty="0">
                <a:latin typeface="Calibri"/>
                <a:ea typeface="Calibri"/>
                <a:cs typeface="Calibri"/>
              </a:rPr>
              <a:t>El "estado" se refiere a los datos que determinan cómo se muestra y se comporta la aplicación en un momento determinado. Algunos ejemplos pueden ser:</a:t>
            </a:r>
          </a:p>
          <a:p>
            <a:pPr marL="617220" lvl="1">
              <a:buFont typeface="Courier New"/>
              <a:buChar char="o"/>
            </a:pPr>
            <a:r>
              <a:rPr lang="es-ES" dirty="0">
                <a:latin typeface="Calibri"/>
                <a:ea typeface="Calibri"/>
                <a:cs typeface="Calibri"/>
              </a:rPr>
              <a:t>El texto que un usuario ha escrito en un formulario.</a:t>
            </a:r>
          </a:p>
          <a:p>
            <a:pPr marL="617220" lvl="1">
              <a:buFont typeface="Courier New"/>
              <a:buChar char="o"/>
            </a:pPr>
            <a:r>
              <a:rPr lang="es-ES" dirty="0">
                <a:latin typeface="Calibri"/>
                <a:ea typeface="Calibri"/>
                <a:cs typeface="Calibri"/>
              </a:rPr>
              <a:t>Los elementos que se muestran en una lista.</a:t>
            </a:r>
          </a:p>
          <a:p>
            <a:pPr marL="617220" lvl="1">
              <a:buFont typeface="Courier New"/>
              <a:buChar char="o"/>
            </a:pPr>
            <a:r>
              <a:rPr lang="es-ES" dirty="0">
                <a:latin typeface="Calibri"/>
                <a:ea typeface="Calibri"/>
                <a:cs typeface="Calibri"/>
              </a:rPr>
              <a:t>Si un menú está abierto o cerrado.</a:t>
            </a:r>
          </a:p>
          <a:p>
            <a:pPr marL="617220" lvl="1">
              <a:buFont typeface="Courier New"/>
              <a:buChar char="o"/>
            </a:pPr>
            <a:r>
              <a:rPr lang="es-ES" dirty="0">
                <a:latin typeface="Calibri"/>
                <a:ea typeface="Calibri"/>
                <a:cs typeface="Calibri"/>
              </a:rPr>
              <a:t>La información del usuario que ha iniciado sesión.</a:t>
            </a:r>
          </a:p>
          <a:p>
            <a:pPr marL="342900" indent="-342900">
              <a:buFont typeface="Arial"/>
              <a:buChar char="•"/>
            </a:pPr>
            <a:r>
              <a:rPr lang="es-ES" dirty="0">
                <a:latin typeface="Calibri"/>
                <a:ea typeface="Calibri"/>
                <a:cs typeface="Calibri"/>
              </a:rPr>
              <a:t>La gestión del estado es el proceso de controlar y actualizar estos datos a medida que la aplicación interactúa con el usuario o recibe información del servidor.</a:t>
            </a:r>
          </a:p>
        </p:txBody>
      </p:sp>
    </p:spTree>
    <p:extLst>
      <p:ext uri="{BB962C8B-B14F-4D97-AF65-F5344CB8AC3E}">
        <p14:creationId xmlns:p14="http://schemas.microsoft.com/office/powerpoint/2010/main" val="29408159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53EF7-8F6A-72EB-4653-1203C18E66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D066A2-9D90-3519-B87E-88B2B64D0695}"/>
              </a:ext>
            </a:extLst>
          </p:cNvPr>
          <p:cNvSpPr>
            <a:spLocks noGrp="1"/>
          </p:cNvSpPr>
          <p:nvPr>
            <p:ph type="title"/>
          </p:nvPr>
        </p:nvSpPr>
        <p:spPr/>
        <p:txBody>
          <a:bodyPr>
            <a:normAutofit/>
          </a:bodyPr>
          <a:lstStyle/>
          <a:p>
            <a:r>
              <a:rPr lang="es-ES">
                <a:latin typeface="Calibri"/>
                <a:ea typeface="Calibri"/>
                <a:cs typeface="Calibri"/>
              </a:rPr>
              <a:t>Gestión del estado de la aplicación.</a:t>
            </a:r>
            <a:endParaRPr lang="es-ES">
              <a:latin typeface="Bembo"/>
              <a:ea typeface="Calibri"/>
              <a:cs typeface="Calibri"/>
            </a:endParaRPr>
          </a:p>
        </p:txBody>
      </p:sp>
      <p:sp>
        <p:nvSpPr>
          <p:cNvPr id="3" name="Marcador de contenido 2">
            <a:extLst>
              <a:ext uri="{FF2B5EF4-FFF2-40B4-BE49-F238E27FC236}">
                <a16:creationId xmlns:a16="http://schemas.microsoft.com/office/drawing/2014/main" id="{FAA07E7E-E624-14AA-6D1D-6F27DB7844C5}"/>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dirty="0">
                <a:latin typeface="Calibri"/>
                <a:ea typeface="Calibri"/>
                <a:cs typeface="Calibri"/>
              </a:rPr>
              <a:t>La gestión del estado es esencial para crear aplicaciones interactivas y dinámicas. Va a permitir:</a:t>
            </a:r>
          </a:p>
          <a:p>
            <a:pPr marL="617220" lvl="1">
              <a:buFont typeface="Courier New"/>
              <a:buChar char="o"/>
            </a:pPr>
            <a:r>
              <a:rPr lang="es-ES" dirty="0">
                <a:latin typeface="Calibri"/>
                <a:ea typeface="Calibri"/>
                <a:cs typeface="Calibri"/>
              </a:rPr>
              <a:t>Actualizar la interfaz de usuario pues se actualizará automáticamente para reflejar los nuevos datos en el momento en el que el estado cambie.</a:t>
            </a:r>
          </a:p>
          <a:p>
            <a:pPr marL="617220" lvl="1">
              <a:buFont typeface="Courier New"/>
              <a:buChar char="o"/>
            </a:pPr>
            <a:r>
              <a:rPr lang="es-ES" dirty="0">
                <a:latin typeface="Calibri"/>
                <a:ea typeface="Calibri"/>
                <a:cs typeface="Calibri"/>
              </a:rPr>
              <a:t>Que los usuarios interactúen con la aplicación y que la aplicación responda a esas interacciones.</a:t>
            </a:r>
          </a:p>
          <a:p>
            <a:pPr marL="617220" lvl="1">
              <a:buFont typeface="Courier New"/>
              <a:buChar char="o"/>
            </a:pPr>
            <a:r>
              <a:rPr lang="es-ES" dirty="0">
                <a:latin typeface="Calibri"/>
                <a:ea typeface="Calibri"/>
                <a:cs typeface="Calibri"/>
              </a:rPr>
              <a:t>Que diferentes componentes de la aplicación compartan y utilicen los mismos datos.</a:t>
            </a:r>
          </a:p>
          <a:p>
            <a:pPr marL="617220" lvl="1">
              <a:buFont typeface="Courier New"/>
              <a:buChar char="o"/>
            </a:pPr>
            <a:r>
              <a:rPr lang="es-ES" dirty="0">
                <a:latin typeface="Calibri"/>
                <a:ea typeface="Calibri"/>
                <a:cs typeface="Calibri"/>
              </a:rPr>
              <a:t>Mantener la consistencia asegurando que la aplicación se comporte de manera predecible y consistente.</a:t>
            </a:r>
          </a:p>
          <a:p>
            <a:pPr marL="342900" indent="-342900">
              <a:buFont typeface="Arial"/>
              <a:buChar char="•"/>
            </a:pPr>
            <a:r>
              <a:rPr lang="es-ES" dirty="0">
                <a:latin typeface="Calibri"/>
                <a:ea typeface="Calibri"/>
                <a:cs typeface="Calibri"/>
              </a:rPr>
              <a:t>Para que la gestión del estado sea efectiva es necesario:</a:t>
            </a:r>
          </a:p>
          <a:p>
            <a:pPr marL="617220" lvl="1">
              <a:buFont typeface="Courier New"/>
              <a:buChar char="o"/>
            </a:pPr>
            <a:r>
              <a:rPr lang="es-ES" dirty="0">
                <a:latin typeface="Calibri"/>
                <a:ea typeface="Calibri"/>
                <a:cs typeface="Calibri"/>
              </a:rPr>
              <a:t>Mantener los datos del estado en un lugar accesible.</a:t>
            </a:r>
          </a:p>
          <a:p>
            <a:pPr marL="617220" lvl="1">
              <a:buFont typeface="Courier New"/>
              <a:buChar char="o"/>
            </a:pPr>
            <a:r>
              <a:rPr lang="es-ES" dirty="0">
                <a:latin typeface="Calibri"/>
                <a:ea typeface="Calibri"/>
                <a:cs typeface="Calibri"/>
              </a:rPr>
              <a:t>Modificar los datos del estado cuando sea necesario.</a:t>
            </a:r>
          </a:p>
          <a:p>
            <a:pPr marL="617220" lvl="1">
              <a:buFont typeface="Courier New"/>
              <a:buChar char="o"/>
            </a:pPr>
            <a:r>
              <a:rPr lang="es-ES" dirty="0">
                <a:latin typeface="Calibri"/>
                <a:ea typeface="Calibri"/>
                <a:cs typeface="Calibri"/>
              </a:rPr>
              <a:t>Permitir que diferentes partes de la aplicación accedan y utilicen los mismos datos del estado.</a:t>
            </a:r>
          </a:p>
          <a:p>
            <a:pPr marL="617220" lvl="1">
              <a:buFont typeface="Courier New"/>
              <a:buChar char="o"/>
            </a:pPr>
            <a:r>
              <a:rPr lang="es-ES" dirty="0">
                <a:latin typeface="Calibri"/>
                <a:ea typeface="Calibri"/>
                <a:cs typeface="Calibri"/>
              </a:rPr>
              <a:t>15/01/2026</a:t>
            </a:r>
          </a:p>
          <a:p>
            <a:pPr marL="342900" indent="-342900">
              <a:buFont typeface="Arial"/>
              <a:buChar char="•"/>
            </a:pPr>
            <a:endParaRPr lang="es-ES" dirty="0">
              <a:latin typeface="Calibri"/>
              <a:ea typeface="Calibri"/>
              <a:cs typeface="Calibri"/>
            </a:endParaRPr>
          </a:p>
        </p:txBody>
      </p:sp>
    </p:spTree>
    <p:extLst>
      <p:ext uri="{BB962C8B-B14F-4D97-AF65-F5344CB8AC3E}">
        <p14:creationId xmlns:p14="http://schemas.microsoft.com/office/powerpoint/2010/main" val="1495307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872C8-239A-8DC4-9554-456017972D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3FCA9F-1FB5-6730-A3BB-0DF98B778EA1}"/>
              </a:ext>
            </a:extLst>
          </p:cNvPr>
          <p:cNvSpPr>
            <a:spLocks noGrp="1"/>
          </p:cNvSpPr>
          <p:nvPr>
            <p:ph type="title"/>
          </p:nvPr>
        </p:nvSpPr>
        <p:spPr/>
        <p:txBody>
          <a:bodyPr>
            <a:normAutofit/>
          </a:bodyPr>
          <a:lstStyle/>
          <a:p>
            <a:r>
              <a:rPr lang="es-ES" dirty="0">
                <a:latin typeface="Calibri"/>
                <a:ea typeface="Calibri"/>
                <a:cs typeface="Calibri"/>
              </a:rPr>
              <a:t>Gestión del estado de la aplicación. Diferencia entre estado y </a:t>
            </a:r>
            <a:r>
              <a:rPr lang="es-ES" dirty="0" err="1">
                <a:latin typeface="Calibri"/>
                <a:ea typeface="Calibri"/>
                <a:cs typeface="Calibri"/>
              </a:rPr>
              <a:t>props</a:t>
            </a:r>
            <a:r>
              <a:rPr lang="es-ES" dirty="0">
                <a:latin typeface="Calibri"/>
                <a:ea typeface="Calibri"/>
                <a:cs typeface="Calibri"/>
              </a:rPr>
              <a:t>. </a:t>
            </a:r>
            <a:r>
              <a:rPr lang="es-ES" dirty="0" err="1">
                <a:latin typeface="Calibri"/>
                <a:ea typeface="Calibri"/>
                <a:cs typeface="Calibri"/>
              </a:rPr>
              <a:t>Wednesday</a:t>
            </a:r>
            <a:r>
              <a:rPr lang="es-ES" dirty="0">
                <a:latin typeface="Calibri"/>
                <a:ea typeface="Calibri"/>
                <a:cs typeface="Calibri"/>
              </a:rPr>
              <a:t>, </a:t>
            </a:r>
            <a:r>
              <a:rPr lang="es-ES" dirty="0" err="1">
                <a:latin typeface="Calibri"/>
                <a:ea typeface="Calibri"/>
                <a:cs typeface="Calibri"/>
              </a:rPr>
              <a:t>Jenuary</a:t>
            </a:r>
            <a:r>
              <a:rPr lang="es-ES" dirty="0">
                <a:latin typeface="Calibri"/>
                <a:ea typeface="Calibri"/>
                <a:cs typeface="Calibri"/>
              </a:rPr>
              <a:t> </a:t>
            </a:r>
            <a:r>
              <a:rPr lang="es-ES" dirty="0" err="1">
                <a:latin typeface="Calibri"/>
                <a:ea typeface="Calibri"/>
                <a:cs typeface="Calibri"/>
              </a:rPr>
              <a:t>twenty-first</a:t>
            </a:r>
            <a:endParaRPr lang="es-ES" dirty="0">
              <a:latin typeface="Calibri"/>
              <a:ea typeface="Calibri"/>
              <a:cs typeface="Calibri"/>
            </a:endParaRPr>
          </a:p>
        </p:txBody>
      </p:sp>
      <p:sp>
        <p:nvSpPr>
          <p:cNvPr id="3" name="Marcador de contenido 2">
            <a:extLst>
              <a:ext uri="{FF2B5EF4-FFF2-40B4-BE49-F238E27FC236}">
                <a16:creationId xmlns:a16="http://schemas.microsoft.com/office/drawing/2014/main" id="{3DF6E256-60C9-3FAE-EB1E-04B455355A3A}"/>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latin typeface="Calibri"/>
                <a:ea typeface="Calibri"/>
                <a:cs typeface="Calibri"/>
              </a:rPr>
              <a:t>Podríamos pensar que las </a:t>
            </a:r>
            <a:r>
              <a:rPr lang="es-ES" dirty="0" err="1">
                <a:latin typeface="Calibri"/>
                <a:ea typeface="Calibri"/>
                <a:cs typeface="Calibri"/>
              </a:rPr>
              <a:t>props</a:t>
            </a:r>
            <a:r>
              <a:rPr lang="es-ES" dirty="0">
                <a:latin typeface="Calibri"/>
                <a:ea typeface="Calibri"/>
                <a:cs typeface="Calibri"/>
              </a:rPr>
              <a:t>, como atributos del componente, podrían servirnos para gestionar el estado pero esto no es así ya que las </a:t>
            </a:r>
            <a:r>
              <a:rPr lang="es-ES" dirty="0" err="1">
                <a:latin typeface="Calibri"/>
                <a:ea typeface="Calibri"/>
                <a:cs typeface="Calibri"/>
              </a:rPr>
              <a:t>props</a:t>
            </a:r>
            <a:r>
              <a:rPr lang="es-ES" dirty="0">
                <a:latin typeface="Calibri"/>
                <a:ea typeface="Calibri"/>
                <a:cs typeface="Calibri"/>
              </a:rPr>
              <a:t> son datos recibidos desde su "padre".</a:t>
            </a:r>
          </a:p>
          <a:p>
            <a:pPr marL="342900" indent="-342900">
              <a:buFont typeface="Arial"/>
              <a:buChar char="•"/>
            </a:pPr>
            <a:r>
              <a:rPr lang="es-ES" dirty="0">
                <a:latin typeface="Calibri"/>
                <a:ea typeface="Calibri"/>
                <a:cs typeface="Calibri"/>
              </a:rPr>
              <a:t>Las </a:t>
            </a:r>
            <a:r>
              <a:rPr lang="es-ES" dirty="0" err="1">
                <a:latin typeface="Calibri"/>
                <a:ea typeface="Calibri"/>
                <a:cs typeface="Calibri"/>
              </a:rPr>
              <a:t>props</a:t>
            </a:r>
            <a:r>
              <a:rPr lang="es-ES" dirty="0">
                <a:latin typeface="Calibri"/>
                <a:ea typeface="Calibri"/>
                <a:cs typeface="Calibri"/>
              </a:rPr>
              <a:t> se comportan como configuraciones externas. Un componente hijo usa estas configuraciones para renderizarse, pero no puede cambiarlas por sí mismo. Son inmutables.</a:t>
            </a:r>
          </a:p>
          <a:p>
            <a:pPr marL="342900" indent="-342900">
              <a:buFont typeface="Arial"/>
              <a:buChar char="•"/>
            </a:pPr>
            <a:r>
              <a:rPr lang="es-ES" dirty="0">
                <a:latin typeface="Calibri"/>
                <a:ea typeface="Calibri"/>
                <a:cs typeface="Calibri"/>
              </a:rPr>
              <a:t>Si un componente hijo necesita "cambiar" una </a:t>
            </a:r>
            <a:r>
              <a:rPr lang="es-ES" dirty="0" err="1">
                <a:latin typeface="Calibri"/>
                <a:ea typeface="Calibri"/>
                <a:cs typeface="Calibri"/>
              </a:rPr>
              <a:t>prop</a:t>
            </a:r>
            <a:r>
              <a:rPr lang="es-ES" dirty="0">
                <a:latin typeface="Calibri"/>
                <a:ea typeface="Calibri"/>
                <a:cs typeface="Calibri"/>
              </a:rPr>
              <a:t>, debería pedírselo a su componente padre que cambie el valor y le pase la nueva </a:t>
            </a:r>
            <a:r>
              <a:rPr lang="es-ES" dirty="0" err="1">
                <a:latin typeface="Calibri"/>
                <a:ea typeface="Calibri"/>
                <a:cs typeface="Calibri"/>
              </a:rPr>
              <a:t>prop</a:t>
            </a:r>
            <a:r>
              <a:rPr lang="es-ES" dirty="0">
                <a:latin typeface="Calibri"/>
                <a:ea typeface="Calibri"/>
                <a:cs typeface="Calibri"/>
              </a:rPr>
              <a:t>.</a:t>
            </a:r>
          </a:p>
          <a:p>
            <a:pPr marL="342900" indent="-342900">
              <a:buFont typeface="Arial"/>
              <a:buChar char="•"/>
            </a:pPr>
            <a:r>
              <a:rPr lang="es-ES" dirty="0">
                <a:latin typeface="Calibri"/>
                <a:ea typeface="Calibri"/>
                <a:cs typeface="Calibri"/>
              </a:rPr>
              <a:t>Si tenemos, por ejemplo, un componente "</a:t>
            </a:r>
            <a:r>
              <a:rPr lang="es-ES" dirty="0" err="1">
                <a:latin typeface="Calibri"/>
                <a:ea typeface="Calibri"/>
                <a:cs typeface="Calibri"/>
              </a:rPr>
              <a:t>PerfilUsuario</a:t>
            </a:r>
            <a:r>
              <a:rPr lang="es-ES" dirty="0">
                <a:latin typeface="Calibri"/>
                <a:ea typeface="Calibri"/>
                <a:cs typeface="Calibri"/>
              </a:rPr>
              <a:t>" con la información de un usuario. El componente padre podría pasar el nombre como una </a:t>
            </a:r>
            <a:r>
              <a:rPr lang="es-ES" dirty="0" err="1">
                <a:latin typeface="Calibri"/>
                <a:ea typeface="Calibri"/>
                <a:cs typeface="Calibri"/>
              </a:rPr>
              <a:t>prop</a:t>
            </a:r>
            <a:r>
              <a:rPr lang="es-ES" dirty="0">
                <a:latin typeface="Calibri"/>
                <a:ea typeface="Calibri"/>
                <a:cs typeface="Calibri"/>
              </a:rPr>
              <a:t>: &lt;</a:t>
            </a:r>
            <a:r>
              <a:rPr lang="es-ES" dirty="0" err="1">
                <a:latin typeface="Calibri"/>
                <a:ea typeface="Calibri"/>
                <a:cs typeface="Calibri"/>
              </a:rPr>
              <a:t>PerfilUsuario</a:t>
            </a:r>
            <a:r>
              <a:rPr lang="es-ES" dirty="0">
                <a:latin typeface="Calibri"/>
                <a:ea typeface="Calibri"/>
                <a:cs typeface="Calibri"/>
              </a:rPr>
              <a:t> nombre="Ana" /&gt;.</a:t>
            </a:r>
          </a:p>
          <a:p>
            <a:pPr marL="342900" indent="-342900">
              <a:buFont typeface="Arial"/>
              <a:buChar char="•"/>
            </a:pPr>
            <a:r>
              <a:rPr lang="es-ES" dirty="0">
                <a:latin typeface="Calibri"/>
                <a:ea typeface="Calibri"/>
                <a:cs typeface="Calibri"/>
              </a:rPr>
              <a:t>El componente "</a:t>
            </a:r>
            <a:r>
              <a:rPr lang="es-ES" dirty="0" err="1">
                <a:latin typeface="Calibri"/>
                <a:ea typeface="Calibri"/>
                <a:cs typeface="Calibri"/>
              </a:rPr>
              <a:t>PerfilUsuario</a:t>
            </a:r>
            <a:r>
              <a:rPr lang="es-ES" dirty="0">
                <a:latin typeface="Calibri"/>
                <a:ea typeface="Calibri"/>
                <a:cs typeface="Calibri"/>
              </a:rPr>
              <a:t>" muestra el nombre, pero no tiene forma de cambiarlo directamente. Si el nombre necesita cambiar, el padre tendría que pasar un nuevo valor.</a:t>
            </a:r>
          </a:p>
          <a:p>
            <a:pPr marL="617220" lvl="1" indent="-342900">
              <a:buFont typeface="Arial"/>
              <a:buChar char="•"/>
            </a:pPr>
            <a:endParaRPr lang="es-ES" dirty="0">
              <a:latin typeface="Calibri"/>
              <a:ea typeface="Calibri"/>
              <a:cs typeface="Calibri"/>
            </a:endParaRPr>
          </a:p>
        </p:txBody>
      </p:sp>
    </p:spTree>
    <p:extLst>
      <p:ext uri="{BB962C8B-B14F-4D97-AF65-F5344CB8AC3E}">
        <p14:creationId xmlns:p14="http://schemas.microsoft.com/office/powerpoint/2010/main" val="30957229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0C0FA-255B-0B2D-FAF7-F4F46BD6DC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5D8A87-91D6-9D13-0C38-27732727BAFB}"/>
              </a:ext>
            </a:extLst>
          </p:cNvPr>
          <p:cNvSpPr>
            <a:spLocks noGrp="1"/>
          </p:cNvSpPr>
          <p:nvPr>
            <p:ph type="title"/>
          </p:nvPr>
        </p:nvSpPr>
        <p:spPr/>
        <p:txBody>
          <a:bodyPr>
            <a:normAutofit/>
          </a:bodyPr>
          <a:lstStyle/>
          <a:p>
            <a:r>
              <a:rPr lang="es-ES" dirty="0">
                <a:latin typeface="Calibri"/>
                <a:ea typeface="Calibri"/>
                <a:cs typeface="Calibri"/>
              </a:rPr>
              <a:t>Gestión del estado de la aplicación. Diferencia entre estado y </a:t>
            </a:r>
            <a:r>
              <a:rPr lang="es-ES" dirty="0" err="1">
                <a:latin typeface="Calibri"/>
                <a:ea typeface="Calibri"/>
                <a:cs typeface="Calibri"/>
              </a:rPr>
              <a:t>props</a:t>
            </a:r>
            <a:r>
              <a:rPr lang="es-ES" dirty="0">
                <a:latin typeface="Calibri"/>
                <a:ea typeface="Calibri"/>
                <a:cs typeface="Calibri"/>
              </a:rPr>
              <a:t>. </a:t>
            </a:r>
            <a:r>
              <a:rPr lang="es-ES" dirty="0" err="1">
                <a:latin typeface="Calibri"/>
                <a:ea typeface="Calibri"/>
                <a:cs typeface="Calibri"/>
              </a:rPr>
              <a:t>Wednesday</a:t>
            </a:r>
            <a:r>
              <a:rPr lang="es-ES" dirty="0">
                <a:latin typeface="Calibri"/>
                <a:ea typeface="Calibri"/>
                <a:cs typeface="Calibri"/>
              </a:rPr>
              <a:t>, </a:t>
            </a:r>
            <a:r>
              <a:rPr lang="es-ES" dirty="0" err="1">
                <a:latin typeface="Calibri"/>
                <a:ea typeface="Calibri"/>
                <a:cs typeface="Calibri"/>
              </a:rPr>
              <a:t>Jenuary</a:t>
            </a:r>
            <a:r>
              <a:rPr lang="es-ES" dirty="0">
                <a:latin typeface="Calibri"/>
                <a:ea typeface="Calibri"/>
                <a:cs typeface="Calibri"/>
              </a:rPr>
              <a:t> </a:t>
            </a:r>
            <a:r>
              <a:rPr lang="es-ES" dirty="0" err="1">
                <a:latin typeface="Calibri"/>
                <a:ea typeface="Calibri"/>
                <a:cs typeface="Calibri"/>
              </a:rPr>
              <a:t>twenty-first</a:t>
            </a:r>
            <a:endParaRPr lang="es-ES" dirty="0">
              <a:latin typeface="Calibri"/>
              <a:ea typeface="Calibri"/>
              <a:cs typeface="Calibri"/>
            </a:endParaRPr>
          </a:p>
        </p:txBody>
      </p:sp>
      <p:sp>
        <p:nvSpPr>
          <p:cNvPr id="3" name="Marcador de contenido 2">
            <a:extLst>
              <a:ext uri="{FF2B5EF4-FFF2-40B4-BE49-F238E27FC236}">
                <a16:creationId xmlns:a16="http://schemas.microsoft.com/office/drawing/2014/main" id="{0BB0D6BF-E95C-39F6-941B-1536759067AA}"/>
              </a:ext>
            </a:extLst>
          </p:cNvPr>
          <p:cNvSpPr>
            <a:spLocks noGrp="1"/>
          </p:cNvSpPr>
          <p:nvPr>
            <p:ph idx="1"/>
          </p:nvPr>
        </p:nvSpPr>
        <p:spPr/>
        <p:txBody>
          <a:bodyPr vert="horz" lIns="91440" tIns="45720" rIns="91440" bIns="45720" rtlCol="0" anchor="t">
            <a:noAutofit/>
          </a:bodyPr>
          <a:lstStyle/>
          <a:p>
            <a:pPr marL="342900" indent="-342900">
              <a:buFont typeface="Arial,Sans-Serif"/>
              <a:buChar char="•"/>
            </a:pPr>
            <a:r>
              <a:rPr lang="es-ES">
                <a:latin typeface="Calibri"/>
                <a:ea typeface="Calibri"/>
                <a:cs typeface="Calibri"/>
              </a:rPr>
              <a:t>El estado es la forma en que un componente gestiona sus propios datos internos. En este caso es mutable dentro del componente.</a:t>
            </a:r>
          </a:p>
          <a:p>
            <a:pPr marL="342900" indent="-342900">
              <a:buFont typeface="Arial"/>
              <a:buChar char="•"/>
            </a:pPr>
            <a:r>
              <a:rPr lang="es-ES">
                <a:latin typeface="Calibri"/>
                <a:ea typeface="Calibri"/>
                <a:cs typeface="Calibri"/>
              </a:rPr>
              <a:t>Cuando el estado cambia, </a:t>
            </a:r>
            <a:r>
              <a:rPr lang="es-ES" err="1">
                <a:latin typeface="Calibri"/>
                <a:ea typeface="Calibri"/>
                <a:cs typeface="Calibri"/>
              </a:rPr>
              <a:t>React</a:t>
            </a:r>
            <a:r>
              <a:rPr lang="es-ES">
                <a:latin typeface="Calibri"/>
                <a:ea typeface="Calibri"/>
                <a:cs typeface="Calibri"/>
              </a:rPr>
              <a:t> reconoce que el componente necesita volver a renderizarse para reflejar los nuevos datos pues el estado afecta directamente el comportamiento y la apariencia de un componente</a:t>
            </a:r>
          </a:p>
          <a:p>
            <a:pPr marL="342900" indent="-342900">
              <a:buFont typeface="Arial"/>
              <a:buChar char="•"/>
            </a:pPr>
            <a:r>
              <a:rPr lang="es-ES">
                <a:latin typeface="Calibri"/>
                <a:ea typeface="Calibri"/>
                <a:cs typeface="Calibri"/>
              </a:rPr>
              <a:t>El estado permite que los componentes sean dinámicos e interactivos, se utiliza para gestionar datos internos que pueden cambiar.</a:t>
            </a:r>
          </a:p>
          <a:p>
            <a:pPr marL="342900" indent="-342900">
              <a:buFont typeface="Arial"/>
              <a:buChar char="•"/>
            </a:pPr>
            <a:r>
              <a:rPr lang="es-ES">
                <a:latin typeface="Calibri"/>
                <a:ea typeface="Calibri"/>
                <a:cs typeface="Calibri"/>
              </a:rPr>
              <a:t>Si tenemos, por ejemplo, un componente "Contador" que muestra un número y tiene un botón para incrementarlo, el número actual se almacena en el estado del componente.</a:t>
            </a:r>
          </a:p>
          <a:p>
            <a:pPr marL="342900" indent="-342900">
              <a:buFont typeface="Arial"/>
              <a:buChar char="•"/>
            </a:pPr>
            <a:r>
              <a:rPr lang="es-ES">
                <a:latin typeface="Calibri"/>
                <a:ea typeface="Calibri"/>
                <a:cs typeface="Calibri"/>
              </a:rPr>
              <a:t>Cuando el usuario hace clic en el botón, el componente actualiza su estado, y </a:t>
            </a:r>
            <a:r>
              <a:rPr lang="es-ES" err="1">
                <a:latin typeface="Calibri"/>
                <a:ea typeface="Calibri"/>
                <a:cs typeface="Calibri"/>
              </a:rPr>
              <a:t>React</a:t>
            </a:r>
            <a:r>
              <a:rPr lang="es-ES">
                <a:latin typeface="Calibri"/>
                <a:ea typeface="Calibri"/>
                <a:cs typeface="Calibri"/>
              </a:rPr>
              <a:t> actualiza la interfaz de usuario para mostrar el nuevo número.</a:t>
            </a:r>
          </a:p>
        </p:txBody>
      </p:sp>
    </p:spTree>
    <p:extLst>
      <p:ext uri="{BB962C8B-B14F-4D97-AF65-F5344CB8AC3E}">
        <p14:creationId xmlns:p14="http://schemas.microsoft.com/office/powerpoint/2010/main" val="2268544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EA506-0A73-B205-F094-2014E8BA8B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79BDDD-E74F-C803-A098-7E0501D06E4A}"/>
              </a:ext>
            </a:extLst>
          </p:cNvPr>
          <p:cNvSpPr>
            <a:spLocks noGrp="1"/>
          </p:cNvSpPr>
          <p:nvPr>
            <p:ph type="title"/>
          </p:nvPr>
        </p:nvSpPr>
        <p:spPr/>
        <p:txBody>
          <a:bodyPr>
            <a:normAutofit/>
          </a:bodyPr>
          <a:lstStyle/>
          <a:p>
            <a:r>
              <a:rPr lang="es-ES" dirty="0">
                <a:latin typeface="Calibri"/>
                <a:ea typeface="Calibri"/>
                <a:cs typeface="Calibri"/>
              </a:rPr>
              <a:t>Gestión del estado de la aplicación. Diferencia entre estado local y </a:t>
            </a:r>
            <a:r>
              <a:rPr lang="es-ES" dirty="0" err="1">
                <a:latin typeface="Calibri"/>
                <a:ea typeface="Calibri"/>
                <a:cs typeface="Calibri"/>
              </a:rPr>
              <a:t>global.Wednesday,Jenuary</a:t>
            </a:r>
            <a:r>
              <a:rPr lang="es-ES" dirty="0">
                <a:latin typeface="Calibri"/>
                <a:ea typeface="Calibri"/>
                <a:cs typeface="Calibri"/>
              </a:rPr>
              <a:t> </a:t>
            </a:r>
            <a:r>
              <a:rPr lang="es-ES" dirty="0" err="1">
                <a:latin typeface="Calibri"/>
                <a:ea typeface="Calibri"/>
                <a:cs typeface="Calibri"/>
              </a:rPr>
              <a:t>twenty-first</a:t>
            </a:r>
            <a:endParaRPr lang="es-ES" dirty="0">
              <a:latin typeface="Calibri"/>
              <a:ea typeface="Calibri"/>
              <a:cs typeface="Calibri"/>
            </a:endParaRPr>
          </a:p>
        </p:txBody>
      </p:sp>
      <p:sp>
        <p:nvSpPr>
          <p:cNvPr id="3" name="Marcador de contenido 2">
            <a:extLst>
              <a:ext uri="{FF2B5EF4-FFF2-40B4-BE49-F238E27FC236}">
                <a16:creationId xmlns:a16="http://schemas.microsoft.com/office/drawing/2014/main" id="{9F02E3DD-935E-D719-E0A0-AE65273D13D7}"/>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El estado local es el estado que pertenece a un componente específico. Solo el componente que posee el estado local puede modificarlo directamente.</a:t>
            </a:r>
          </a:p>
          <a:p>
            <a:pPr marL="342900" indent="-342900">
              <a:buFont typeface="Arial"/>
              <a:buChar char="•"/>
            </a:pPr>
            <a:r>
              <a:rPr lang="es-ES">
                <a:latin typeface="Calibri"/>
                <a:ea typeface="Calibri"/>
                <a:cs typeface="Calibri"/>
              </a:rPr>
              <a:t>Cada componente puede tener su propio estado local, que se gestiona con 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useState</a:t>
            </a:r>
            <a:r>
              <a:rPr lang="es-ES">
                <a:latin typeface="Calibri"/>
                <a:ea typeface="Calibri"/>
                <a:cs typeface="Calibri"/>
              </a:rPr>
              <a:t> (en componentes funcionales) o </a:t>
            </a:r>
            <a:r>
              <a:rPr lang="es-ES" err="1">
                <a:latin typeface="Calibri"/>
                <a:ea typeface="Calibri"/>
                <a:cs typeface="Calibri"/>
              </a:rPr>
              <a:t>this.state</a:t>
            </a:r>
            <a:r>
              <a:rPr lang="es-ES">
                <a:latin typeface="Calibri"/>
                <a:ea typeface="Calibri"/>
                <a:cs typeface="Calibri"/>
              </a:rPr>
              <a:t> (en componentes de clase).</a:t>
            </a:r>
          </a:p>
          <a:p>
            <a:pPr marL="342900" indent="-342900">
              <a:buFont typeface="Arial"/>
              <a:buChar char="•"/>
            </a:pPr>
            <a:r>
              <a:rPr lang="es-ES">
                <a:latin typeface="Calibri"/>
                <a:ea typeface="Calibri"/>
                <a:cs typeface="Calibri"/>
              </a:rPr>
              <a:t>La principal característica del estado local es que solo es accesible dentro del componente que lo define.</a:t>
            </a:r>
          </a:p>
          <a:p>
            <a:pPr marL="342900" indent="-342900">
              <a:buFont typeface="Arial"/>
              <a:buChar char="•"/>
            </a:pPr>
            <a:r>
              <a:rPr lang="es-ES">
                <a:latin typeface="Calibri"/>
                <a:ea typeface="Calibri"/>
                <a:cs typeface="Calibri"/>
              </a:rPr>
              <a:t>Es fácil de usar y gestionar para datos que solo necesita un componente.</a:t>
            </a:r>
          </a:p>
          <a:p>
            <a:pPr marL="342900" indent="-342900">
              <a:buFont typeface="Arial"/>
              <a:buChar char="•"/>
            </a:pPr>
            <a:r>
              <a:rPr lang="es-ES">
                <a:latin typeface="Calibri"/>
                <a:ea typeface="Calibri"/>
                <a:cs typeface="Calibri"/>
              </a:rPr>
              <a:t>Las actualizaciones del estado local solo afectan al componente y sus hijos, lo que mejora el rendimiento.</a:t>
            </a:r>
          </a:p>
          <a:p>
            <a:pPr marL="342900" indent="-342900">
              <a:buFont typeface="Arial"/>
              <a:buChar char="•"/>
            </a:pPr>
            <a:r>
              <a:rPr lang="es-ES">
                <a:latin typeface="Calibri"/>
                <a:ea typeface="Calibri"/>
                <a:cs typeface="Calibri"/>
              </a:rPr>
              <a:t>Se utiliza principalmente en componentes pequeños y simples, para datos que no deben compartirse entre componentes no relacionados o cuando los datos solo son necesarios dentro de un componente.</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34224337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D66C9-4D3B-53B3-292A-F6060BF953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15520F-559B-AA6E-3267-61DB5A912B71}"/>
              </a:ext>
            </a:extLst>
          </p:cNvPr>
          <p:cNvSpPr>
            <a:spLocks noGrp="1"/>
          </p:cNvSpPr>
          <p:nvPr>
            <p:ph type="title"/>
          </p:nvPr>
        </p:nvSpPr>
        <p:spPr/>
        <p:txBody>
          <a:bodyPr>
            <a:normAutofit/>
          </a:bodyPr>
          <a:lstStyle/>
          <a:p>
            <a:r>
              <a:rPr lang="es-ES" dirty="0">
                <a:latin typeface="Calibri"/>
                <a:ea typeface="Calibri"/>
                <a:cs typeface="Calibri"/>
              </a:rPr>
              <a:t>Gestión del estado de la aplicación. Diferencia entre estado local y </a:t>
            </a:r>
            <a:r>
              <a:rPr lang="es-ES" dirty="0" err="1">
                <a:latin typeface="Calibri"/>
                <a:ea typeface="Calibri"/>
                <a:cs typeface="Calibri"/>
              </a:rPr>
              <a:t>global.Wednesday</a:t>
            </a:r>
            <a:r>
              <a:rPr lang="es-ES" dirty="0">
                <a:latin typeface="Calibri"/>
                <a:ea typeface="Calibri"/>
                <a:cs typeface="Calibri"/>
              </a:rPr>
              <a:t>, </a:t>
            </a:r>
            <a:r>
              <a:rPr lang="es-ES" dirty="0" err="1">
                <a:latin typeface="Calibri"/>
                <a:ea typeface="Calibri"/>
                <a:cs typeface="Calibri"/>
              </a:rPr>
              <a:t>Jenuary-first</a:t>
            </a:r>
            <a:endParaRPr lang="es-ES" dirty="0">
              <a:latin typeface="Calibri"/>
              <a:ea typeface="Calibri"/>
              <a:cs typeface="Calibri"/>
            </a:endParaRPr>
          </a:p>
        </p:txBody>
      </p:sp>
      <p:sp>
        <p:nvSpPr>
          <p:cNvPr id="3" name="Marcador de contenido 2">
            <a:extLst>
              <a:ext uri="{FF2B5EF4-FFF2-40B4-BE49-F238E27FC236}">
                <a16:creationId xmlns:a16="http://schemas.microsoft.com/office/drawing/2014/main" id="{C34F3596-1969-02DC-462D-41AFC04E71A5}"/>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El estado global es aquel que es accesible desde cualquier parte de la aplicación. Se utiliza para datos que necesitan ser compartidos entre múltiples componentes, incluso si no están relacionados directamente.</a:t>
            </a:r>
          </a:p>
          <a:p>
            <a:pPr marL="342900" indent="-342900">
              <a:buFont typeface="Arial"/>
              <a:buChar char="•"/>
            </a:pPr>
            <a:r>
              <a:rPr lang="es-ES">
                <a:latin typeface="Calibri"/>
                <a:ea typeface="Calibri"/>
                <a:cs typeface="Calibri"/>
              </a:rPr>
              <a:t>En la mayoría de los casos se gestiona utilizando herramientas como </a:t>
            </a:r>
            <a:r>
              <a:rPr lang="es-ES" err="1">
                <a:latin typeface="Calibri"/>
                <a:ea typeface="Calibri"/>
                <a:cs typeface="Calibri"/>
              </a:rPr>
              <a:t>Context</a:t>
            </a:r>
            <a:r>
              <a:rPr lang="es-ES">
                <a:latin typeface="Calibri"/>
                <a:ea typeface="Calibri"/>
                <a:cs typeface="Calibri"/>
              </a:rPr>
              <a:t> API o bibliotecas de gestión de estado global como </a:t>
            </a:r>
            <a:r>
              <a:rPr lang="es-ES" err="1">
                <a:latin typeface="Calibri"/>
                <a:ea typeface="Calibri"/>
                <a:cs typeface="Calibri"/>
              </a:rPr>
              <a:t>Redux</a:t>
            </a:r>
            <a:r>
              <a:rPr lang="es-ES">
                <a:latin typeface="Calibri"/>
                <a:ea typeface="Calibri"/>
                <a:cs typeface="Calibri"/>
              </a:rPr>
              <a:t> o </a:t>
            </a:r>
            <a:r>
              <a:rPr lang="es-ES" err="1">
                <a:latin typeface="Calibri"/>
                <a:ea typeface="Calibri"/>
                <a:cs typeface="Calibri"/>
              </a:rPr>
              <a:t>Zustand</a:t>
            </a:r>
            <a:r>
              <a:rPr lang="es-ES">
                <a:latin typeface="Calibri"/>
                <a:ea typeface="Calibri"/>
                <a:cs typeface="Calibri"/>
              </a:rPr>
              <a:t>.</a:t>
            </a:r>
          </a:p>
          <a:p>
            <a:pPr marL="342900" indent="-342900">
              <a:buFont typeface="Arial"/>
              <a:buChar char="•"/>
            </a:pPr>
            <a:r>
              <a:rPr lang="es-ES">
                <a:latin typeface="Calibri"/>
                <a:ea typeface="Calibri"/>
                <a:cs typeface="Calibri"/>
              </a:rPr>
              <a:t>El estado global es accesible desde cualquier componente de la aplicación. </a:t>
            </a:r>
          </a:p>
          <a:p>
            <a:pPr marL="342900" indent="-342900">
              <a:buFont typeface="Arial"/>
              <a:buChar char="•"/>
            </a:pPr>
            <a:r>
              <a:rPr lang="es-ES">
                <a:latin typeface="Calibri"/>
                <a:ea typeface="Calibri"/>
                <a:cs typeface="Calibri"/>
              </a:rPr>
              <a:t>La gestión del estado global puede ser más compleja que la del estado local.</a:t>
            </a:r>
          </a:p>
          <a:p>
            <a:pPr marL="342900" indent="-342900">
              <a:buFont typeface="Arial"/>
              <a:buChar char="•"/>
            </a:pPr>
            <a:r>
              <a:rPr lang="es-ES">
                <a:latin typeface="Calibri"/>
                <a:ea typeface="Calibri"/>
                <a:cs typeface="Calibri"/>
              </a:rPr>
              <a:t>Permite compartir datos entre componentes no relacionados.</a:t>
            </a:r>
          </a:p>
          <a:p>
            <a:pPr marL="342900" indent="-342900">
              <a:buFont typeface="Arial"/>
              <a:buChar char="•"/>
            </a:pPr>
            <a:r>
              <a:rPr lang="es-ES">
                <a:latin typeface="Calibri"/>
                <a:ea typeface="Calibri"/>
                <a:cs typeface="Calibri"/>
              </a:rPr>
              <a:t>Se va a utilizar principalmente cuando los datos necesitan ser compartidos entre muchos componentes, cuando los datos son críticos para la aplicación y necesitan estar disponibles en todas partes, para aplicaciones grandes y complejas con muchas interacciones, entre otras</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2348651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37931-44AC-6AFA-E6A6-DA358ED1575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0B39D9-9D6A-B2A3-867C-5A1432502B35}"/>
              </a:ext>
            </a:extLst>
          </p:cNvPr>
          <p:cNvSpPr>
            <a:spLocks noGrp="1"/>
          </p:cNvSpPr>
          <p:nvPr>
            <p:ph type="title"/>
          </p:nvPr>
        </p:nvSpPr>
        <p:spPr/>
        <p:txBody>
          <a:bodyPr>
            <a:normAutofit/>
          </a:bodyPr>
          <a:lstStyle/>
          <a:p>
            <a:r>
              <a:rPr lang="es-ES" dirty="0">
                <a:latin typeface="Calibri"/>
                <a:ea typeface="Calibri"/>
                <a:cs typeface="Calibri"/>
              </a:rPr>
              <a:t>Gestión del estado de la aplicación. </a:t>
            </a:r>
            <a:r>
              <a:rPr lang="es-ES" dirty="0" err="1">
                <a:latin typeface="Calibri"/>
                <a:ea typeface="Calibri"/>
                <a:cs typeface="Calibri"/>
              </a:rPr>
              <a:t>Hooks</a:t>
            </a:r>
            <a:r>
              <a:rPr lang="es-ES" dirty="0">
                <a:latin typeface="Calibri"/>
                <a:ea typeface="Calibri"/>
                <a:cs typeface="Calibri"/>
              </a:rPr>
              <a:t>. </a:t>
            </a:r>
            <a:r>
              <a:rPr lang="es-ES" dirty="0" err="1">
                <a:latin typeface="Calibri"/>
                <a:ea typeface="Calibri"/>
                <a:cs typeface="Calibri"/>
              </a:rPr>
              <a:t>Wednesday</a:t>
            </a:r>
            <a:endParaRPr lang="es-ES" dirty="0">
              <a:latin typeface="Calibri"/>
              <a:ea typeface="Calibri"/>
              <a:cs typeface="Calibri"/>
            </a:endParaRPr>
          </a:p>
        </p:txBody>
      </p:sp>
      <p:sp>
        <p:nvSpPr>
          <p:cNvPr id="3" name="Marcador de contenido 2">
            <a:extLst>
              <a:ext uri="{FF2B5EF4-FFF2-40B4-BE49-F238E27FC236}">
                <a16:creationId xmlns:a16="http://schemas.microsoft.com/office/drawing/2014/main" id="{F70F55DB-D24F-8DCC-6E64-D234C9663A0D}"/>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Sans-Serif"/>
              <a:buChar char="•"/>
            </a:pPr>
            <a:r>
              <a:rPr lang="es-ES">
                <a:latin typeface="Calibri"/>
                <a:ea typeface="Calibri"/>
                <a:cs typeface="Calibri"/>
              </a:rPr>
              <a:t>Los </a:t>
            </a:r>
            <a:r>
              <a:rPr lang="es-ES" err="1">
                <a:latin typeface="Calibri"/>
                <a:ea typeface="Calibri"/>
                <a:cs typeface="Calibri"/>
              </a:rPr>
              <a:t>Hooks</a:t>
            </a:r>
            <a:r>
              <a:rPr lang="es-ES">
                <a:latin typeface="Calibri"/>
                <a:ea typeface="Calibri"/>
                <a:cs typeface="Calibri"/>
              </a:rPr>
              <a:t> son una de las características más importantes de </a:t>
            </a:r>
            <a:r>
              <a:rPr lang="es-ES" err="1">
                <a:latin typeface="Calibri"/>
                <a:ea typeface="Calibri"/>
                <a:cs typeface="Calibri"/>
              </a:rPr>
              <a:t>React</a:t>
            </a:r>
            <a:r>
              <a:rPr lang="es-ES">
                <a:latin typeface="Calibri"/>
                <a:ea typeface="Calibri"/>
                <a:cs typeface="Calibri"/>
              </a:rPr>
              <a:t> moderno. </a:t>
            </a:r>
            <a:r>
              <a:rPr lang="es-ES" sz="2100">
                <a:latin typeface="Calibri"/>
                <a:ea typeface="Calibri"/>
                <a:cs typeface="Calibri"/>
              </a:rPr>
              <a:t>Son funciones especiales que permiten "enganchar" (</a:t>
            </a:r>
            <a:r>
              <a:rPr lang="es-ES" sz="2100" err="1">
                <a:latin typeface="Calibri"/>
                <a:ea typeface="Calibri"/>
                <a:cs typeface="Calibri"/>
              </a:rPr>
              <a:t>hook</a:t>
            </a:r>
            <a:r>
              <a:rPr lang="es-ES" sz="2100">
                <a:latin typeface="Calibri"/>
                <a:ea typeface="Calibri"/>
                <a:cs typeface="Calibri"/>
              </a:rPr>
              <a:t> </a:t>
            </a:r>
            <a:r>
              <a:rPr lang="es-ES" sz="2100" err="1">
                <a:latin typeface="Calibri"/>
                <a:ea typeface="Calibri"/>
                <a:cs typeface="Calibri"/>
              </a:rPr>
              <a:t>into</a:t>
            </a:r>
            <a:r>
              <a:rPr lang="es-ES" sz="2100">
                <a:latin typeface="Calibri"/>
                <a:ea typeface="Calibri"/>
                <a:cs typeface="Calibri"/>
              </a:rPr>
              <a:t>) el estado y el ciclo de vida de </a:t>
            </a:r>
            <a:r>
              <a:rPr lang="es-ES" sz="2100" err="1">
                <a:latin typeface="Calibri"/>
                <a:ea typeface="Calibri"/>
                <a:cs typeface="Calibri"/>
              </a:rPr>
              <a:t>React</a:t>
            </a:r>
            <a:r>
              <a:rPr lang="es-ES" sz="2100">
                <a:latin typeface="Calibri"/>
                <a:ea typeface="Calibri"/>
                <a:cs typeface="Calibri"/>
              </a:rPr>
              <a:t> en componentes funcionales.</a:t>
            </a:r>
            <a:endParaRPr lang="es-ES" sz="1800">
              <a:latin typeface="Calibri"/>
              <a:ea typeface="Calibri"/>
              <a:cs typeface="Calibri"/>
            </a:endParaRPr>
          </a:p>
          <a:p>
            <a:pPr marL="342900" indent="-342900">
              <a:buFont typeface="Arial,Sans-Serif"/>
              <a:buChar char="•"/>
            </a:pPr>
            <a:r>
              <a:rPr lang="es-ES">
                <a:latin typeface="Calibri"/>
                <a:ea typeface="Calibri"/>
                <a:cs typeface="Calibri"/>
              </a:rPr>
              <a:t>Permiten usar el estado y otras características de </a:t>
            </a:r>
            <a:r>
              <a:rPr lang="es-ES" err="1">
                <a:latin typeface="Calibri"/>
                <a:ea typeface="Calibri"/>
                <a:cs typeface="Calibri"/>
              </a:rPr>
              <a:t>React</a:t>
            </a:r>
            <a:r>
              <a:rPr lang="es-ES">
                <a:latin typeface="Calibri"/>
                <a:ea typeface="Calibri"/>
                <a:cs typeface="Calibri"/>
              </a:rPr>
              <a:t> en componentes funcionales </a:t>
            </a:r>
            <a:r>
              <a:rPr lang="es-ES" sz="1800">
                <a:latin typeface="Calibri"/>
                <a:ea typeface="Calibri"/>
                <a:cs typeface="Calibri"/>
              </a:rPr>
              <a:t>haciendo los componentes más concisos y legibles. P</a:t>
            </a:r>
            <a:r>
              <a:rPr lang="es-ES" sz="2100">
                <a:latin typeface="Calibri"/>
                <a:ea typeface="Calibri"/>
                <a:cs typeface="Calibri"/>
              </a:rPr>
              <a:t>ermiten extraer la lógica de estado de un componente y reutilizarla en otros facilitando la creación de componentes más limpios y modulares.</a:t>
            </a:r>
            <a:endParaRPr lang="es-ES" sz="1800">
              <a:latin typeface="Calibri"/>
              <a:ea typeface="Calibri"/>
              <a:cs typeface="Calibri"/>
            </a:endParaRPr>
          </a:p>
          <a:p>
            <a:pPr marL="342900" indent="-342900">
              <a:buFont typeface="Arial"/>
              <a:buChar char="•"/>
            </a:pPr>
            <a:r>
              <a:rPr lang="es-ES">
                <a:latin typeface="Calibri"/>
                <a:ea typeface="Calibri"/>
                <a:cs typeface="Calibri"/>
              </a:rPr>
              <a:t>Con 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useState</a:t>
            </a:r>
            <a:r>
              <a:rPr lang="es-ES">
                <a:latin typeface="Calibri"/>
                <a:ea typeface="Calibri"/>
                <a:cs typeface="Calibri"/>
              </a:rPr>
              <a:t>, los componentes funcionales pueden tener su propio estado local.</a:t>
            </a:r>
          </a:p>
          <a:p>
            <a:pPr marL="342900" indent="-342900">
              <a:buFont typeface="Arial"/>
              <a:buChar char="•"/>
            </a:pPr>
            <a:r>
              <a:rPr lang="es-ES">
                <a:latin typeface="Calibri"/>
                <a:ea typeface="Calibri"/>
                <a:cs typeface="Calibri"/>
              </a:rPr>
              <a:t>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useEffect</a:t>
            </a:r>
            <a:r>
              <a:rPr lang="es-ES">
                <a:latin typeface="Calibri"/>
                <a:ea typeface="Calibri"/>
                <a:cs typeface="Calibri"/>
              </a:rPr>
              <a:t> permite gestionar efectos secundarios en componentes funcionales, como llamadas a </a:t>
            </a:r>
            <a:r>
              <a:rPr lang="es-ES" err="1">
                <a:latin typeface="Calibri"/>
                <a:ea typeface="Calibri"/>
                <a:cs typeface="Calibri"/>
              </a:rPr>
              <a:t>APIs</a:t>
            </a:r>
            <a:r>
              <a:rPr lang="es-ES">
                <a:latin typeface="Calibri"/>
                <a:ea typeface="Calibri"/>
                <a:cs typeface="Calibri"/>
              </a:rPr>
              <a:t>, suscripciones o manipulación del DOM reemplazando métodos de ciclo de vida de los componentes de clase como </a:t>
            </a:r>
            <a:r>
              <a:rPr lang="es-ES" err="1">
                <a:latin typeface="Calibri"/>
                <a:ea typeface="Calibri"/>
                <a:cs typeface="Calibri"/>
              </a:rPr>
              <a:t>componentDidMount</a:t>
            </a:r>
            <a:r>
              <a:rPr lang="es-ES">
                <a:latin typeface="Calibri"/>
                <a:ea typeface="Calibri"/>
                <a:cs typeface="Calibri"/>
              </a:rPr>
              <a:t> y </a:t>
            </a:r>
            <a:r>
              <a:rPr lang="es-ES" err="1">
                <a:latin typeface="Calibri"/>
                <a:ea typeface="Calibri"/>
                <a:cs typeface="Calibri"/>
              </a:rPr>
              <a:t>componentDidUpdate</a:t>
            </a:r>
            <a:r>
              <a:rPr lang="es-ES">
                <a:latin typeface="Calibri"/>
                <a:ea typeface="Calibri"/>
                <a:cs typeface="Calibri"/>
              </a:rPr>
              <a:t>.</a:t>
            </a:r>
          </a:p>
          <a:p>
            <a:pPr marL="342900" indent="-342900">
              <a:buFont typeface="Arial"/>
              <a:buChar char="•"/>
            </a:pPr>
            <a:r>
              <a:rPr lang="es-ES">
                <a:latin typeface="Calibri"/>
                <a:ea typeface="Calibri"/>
                <a:cs typeface="Calibri"/>
              </a:rPr>
              <a:t>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useContext</a:t>
            </a:r>
            <a:r>
              <a:rPr lang="es-ES">
                <a:latin typeface="Calibri"/>
                <a:ea typeface="Calibri"/>
                <a:cs typeface="Calibri"/>
              </a:rPr>
              <a:t> permite compartir datos entre componentes sin necesidad de pasar </a:t>
            </a:r>
            <a:r>
              <a:rPr lang="es-ES" err="1">
                <a:latin typeface="Calibri"/>
                <a:ea typeface="Calibri"/>
                <a:cs typeface="Calibri"/>
              </a:rPr>
              <a:t>props</a:t>
            </a:r>
            <a:r>
              <a:rPr lang="es-ES">
                <a:latin typeface="Calibri"/>
                <a:ea typeface="Calibri"/>
                <a:cs typeface="Calibri"/>
              </a:rPr>
              <a:t> manualmente a través de la jerarquía de componentes.</a:t>
            </a:r>
          </a:p>
        </p:txBody>
      </p:sp>
    </p:spTree>
    <p:extLst>
      <p:ext uri="{BB962C8B-B14F-4D97-AF65-F5344CB8AC3E}">
        <p14:creationId xmlns:p14="http://schemas.microsoft.com/office/powerpoint/2010/main" val="12798741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CFAD5-8927-E17C-3EF6-AD0D676761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05A7EB-A4E5-CD3F-5949-1A1170C50D8C}"/>
              </a:ext>
            </a:extLst>
          </p:cNvPr>
          <p:cNvSpPr>
            <a:spLocks noGrp="1"/>
          </p:cNvSpPr>
          <p:nvPr>
            <p:ph type="title"/>
          </p:nvPr>
        </p:nvSpPr>
        <p:spPr/>
        <p:txBody>
          <a:bodyPr>
            <a:normAutofit/>
          </a:bodyPr>
          <a:lstStyle/>
          <a:p>
            <a:r>
              <a:rPr lang="es-ES">
                <a:latin typeface="Calibri"/>
                <a:ea typeface="Calibri"/>
                <a:cs typeface="Calibri"/>
              </a:rPr>
              <a:t>Gestión del estado de la aplicación. </a:t>
            </a:r>
            <a:r>
              <a:rPr lang="es-ES" err="1">
                <a:latin typeface="Calibri"/>
                <a:ea typeface="Calibri"/>
                <a:cs typeface="Calibri"/>
              </a:rPr>
              <a:t>Hooks</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A5F05ABA-FCBC-C085-B28E-771EF9DD9C8E}"/>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sz="2100">
                <a:latin typeface="Calibri"/>
                <a:ea typeface="+mn-lt"/>
                <a:cs typeface="+mn-lt"/>
              </a:rPr>
              <a:t>Los componentes funcionales con </a:t>
            </a:r>
            <a:r>
              <a:rPr lang="es-ES" sz="2100" err="1">
                <a:latin typeface="Calibri"/>
                <a:ea typeface="+mn-lt"/>
                <a:cs typeface="+mn-lt"/>
              </a:rPr>
              <a:t>Hooks</a:t>
            </a:r>
            <a:r>
              <a:rPr lang="es-ES" sz="2100">
                <a:latin typeface="Calibri"/>
                <a:ea typeface="+mn-lt"/>
                <a:cs typeface="+mn-lt"/>
              </a:rPr>
              <a:t> son generalmente más cortos y fáciles de leer que los componentes de clase facilitando la reutilización de lógica entre componentes. </a:t>
            </a:r>
            <a:r>
              <a:rPr lang="es-ES">
                <a:latin typeface="Calibri"/>
                <a:ea typeface="+mn-lt"/>
                <a:cs typeface="+mn-lt"/>
              </a:rPr>
              <a:t>O</a:t>
            </a:r>
            <a:r>
              <a:rPr lang="es-ES" sz="2100">
                <a:latin typeface="Calibri"/>
                <a:ea typeface="+mn-lt"/>
                <a:cs typeface="+mn-lt"/>
              </a:rPr>
              <a:t>frecen una forma más flexible de gestionar el estado y el ciclo de vida de los componentes. Además, pueden ayudar a optimizar el rendimiento de tu </a:t>
            </a:r>
            <a:r>
              <a:rPr lang="es-ES" sz="2100" err="1">
                <a:latin typeface="Calibri"/>
                <a:ea typeface="+mn-lt"/>
                <a:cs typeface="+mn-lt"/>
              </a:rPr>
              <a:t>aplicación.Los</a:t>
            </a:r>
            <a:r>
              <a:rPr lang="es-ES" sz="2100">
                <a:latin typeface="Calibri"/>
                <a:ea typeface="+mn-lt"/>
                <a:cs typeface="+mn-lt"/>
              </a:rPr>
              <a:t> más comunes son:</a:t>
            </a:r>
          </a:p>
          <a:p>
            <a:pPr marL="617220" lvl="1">
              <a:buFont typeface="Courier New"/>
              <a:buChar char="o"/>
            </a:pPr>
            <a:r>
              <a:rPr lang="es-ES" sz="1900" err="1">
                <a:latin typeface="Calibri"/>
                <a:ea typeface="+mn-lt"/>
                <a:cs typeface="+mn-lt"/>
              </a:rPr>
              <a:t>useState</a:t>
            </a:r>
            <a:r>
              <a:rPr lang="es-ES" sz="1900">
                <a:latin typeface="Calibri"/>
                <a:ea typeface="+mn-lt"/>
                <a:cs typeface="+mn-lt"/>
              </a:rPr>
              <a:t>: Permite agregar estado local a un componente funcional.</a:t>
            </a:r>
            <a:endParaRPr lang="es-ES">
              <a:latin typeface="Calibri"/>
              <a:ea typeface="+mn-lt"/>
              <a:cs typeface="+mn-lt"/>
            </a:endParaRPr>
          </a:p>
          <a:p>
            <a:pPr marL="617220" lvl="1">
              <a:buFont typeface="Courier New"/>
              <a:buChar char="o"/>
            </a:pPr>
            <a:r>
              <a:rPr lang="es-ES" sz="1900" err="1">
                <a:latin typeface="Calibri"/>
                <a:ea typeface="+mn-lt"/>
                <a:cs typeface="+mn-lt"/>
              </a:rPr>
              <a:t>useEffect</a:t>
            </a:r>
            <a:r>
              <a:rPr lang="es-ES" sz="1900">
                <a:latin typeface="Calibri"/>
                <a:ea typeface="+mn-lt"/>
                <a:cs typeface="+mn-lt"/>
              </a:rPr>
              <a:t>: Permite realizar efectos secundarios en un componente funcional.</a:t>
            </a:r>
            <a:endParaRPr lang="es-ES">
              <a:latin typeface="Calibri"/>
              <a:ea typeface="+mn-lt"/>
              <a:cs typeface="+mn-lt"/>
            </a:endParaRPr>
          </a:p>
          <a:p>
            <a:pPr marL="617220" lvl="1">
              <a:buFont typeface="Courier New"/>
              <a:buChar char="o"/>
            </a:pPr>
            <a:r>
              <a:rPr lang="es-ES" sz="2100" err="1">
                <a:latin typeface="Calibri"/>
                <a:ea typeface="+mn-lt"/>
                <a:cs typeface="+mn-lt"/>
              </a:rPr>
              <a:t>useContext</a:t>
            </a:r>
            <a:r>
              <a:rPr lang="es-ES" sz="2100">
                <a:latin typeface="Calibri"/>
                <a:ea typeface="+mn-lt"/>
                <a:cs typeface="+mn-lt"/>
              </a:rPr>
              <a:t>: Permite acceder al contexto de </a:t>
            </a:r>
            <a:r>
              <a:rPr lang="es-ES" sz="2100" err="1">
                <a:latin typeface="Calibri"/>
                <a:ea typeface="+mn-lt"/>
                <a:cs typeface="+mn-lt"/>
              </a:rPr>
              <a:t>React</a:t>
            </a:r>
            <a:r>
              <a:rPr lang="es-ES" sz="2100">
                <a:latin typeface="Calibri"/>
                <a:ea typeface="+mn-lt"/>
                <a:cs typeface="+mn-lt"/>
              </a:rPr>
              <a:t>.</a:t>
            </a:r>
            <a:endParaRPr lang="es-ES">
              <a:latin typeface="Calibri"/>
              <a:ea typeface="+mn-lt"/>
              <a:cs typeface="+mn-lt"/>
            </a:endParaRPr>
          </a:p>
          <a:p>
            <a:pPr marL="617220" lvl="1">
              <a:buFont typeface="Courier New"/>
              <a:buChar char="o"/>
            </a:pPr>
            <a:r>
              <a:rPr lang="es-ES" sz="2100" err="1">
                <a:latin typeface="Calibri"/>
                <a:ea typeface="+mn-lt"/>
                <a:cs typeface="+mn-lt"/>
              </a:rPr>
              <a:t>useRef</a:t>
            </a:r>
            <a:r>
              <a:rPr lang="es-ES" sz="2100">
                <a:latin typeface="Calibri"/>
                <a:ea typeface="+mn-lt"/>
                <a:cs typeface="+mn-lt"/>
              </a:rPr>
              <a:t>: Permite acceder a elementos del DOM y almacenar valores que persisten entre renderizados.</a:t>
            </a:r>
            <a:endParaRPr lang="es-ES">
              <a:latin typeface="Calibri"/>
              <a:ea typeface="+mn-lt"/>
              <a:cs typeface="+mn-lt"/>
            </a:endParaRPr>
          </a:p>
          <a:p>
            <a:pPr marL="617220" lvl="1">
              <a:buFont typeface="Courier New"/>
              <a:buChar char="o"/>
            </a:pPr>
            <a:r>
              <a:rPr lang="es-ES" sz="2100" err="1">
                <a:latin typeface="Calibri"/>
                <a:ea typeface="+mn-lt"/>
                <a:cs typeface="+mn-lt"/>
              </a:rPr>
              <a:t>useMemo</a:t>
            </a:r>
            <a:r>
              <a:rPr lang="es-ES" sz="2100">
                <a:latin typeface="Calibri"/>
                <a:ea typeface="+mn-lt"/>
                <a:cs typeface="+mn-lt"/>
              </a:rPr>
              <a:t>: Permite memorizar el resultado de una función para evitar cálculos innecesarios.</a:t>
            </a:r>
            <a:endParaRPr lang="es-ES">
              <a:latin typeface="Calibri"/>
              <a:ea typeface="+mn-lt"/>
              <a:cs typeface="+mn-lt"/>
            </a:endParaRPr>
          </a:p>
          <a:p>
            <a:pPr marL="617220" lvl="1">
              <a:buFont typeface="Courier New"/>
              <a:buChar char="o"/>
            </a:pPr>
            <a:r>
              <a:rPr lang="es-ES" sz="2100" err="1">
                <a:latin typeface="Calibri"/>
                <a:ea typeface="+mn-lt"/>
                <a:cs typeface="+mn-lt"/>
              </a:rPr>
              <a:t>useCallback</a:t>
            </a:r>
            <a:r>
              <a:rPr lang="es-ES" sz="2100">
                <a:latin typeface="Calibri"/>
                <a:ea typeface="+mn-lt"/>
                <a:cs typeface="+mn-lt"/>
              </a:rPr>
              <a:t>: Permite memorizar una función para evitar recreaciones innecesarias.</a:t>
            </a:r>
            <a:endParaRPr lang="es-ES">
              <a:latin typeface="Calibri"/>
              <a:ea typeface="+mn-lt"/>
              <a:cs typeface="+mn-lt"/>
            </a:endParaRPr>
          </a:p>
          <a:p>
            <a:pPr marL="617220" lvl="1">
              <a:buFont typeface="Courier New"/>
              <a:buChar char="o"/>
            </a:pPr>
            <a:r>
              <a:rPr lang="es-ES" sz="2100">
                <a:latin typeface="Calibri"/>
                <a:ea typeface="+mn-lt"/>
                <a:cs typeface="+mn-lt"/>
              </a:rPr>
              <a:t>Por otro lado, se pueden crear </a:t>
            </a:r>
            <a:r>
              <a:rPr lang="es-ES" sz="2100" err="1">
                <a:latin typeface="Calibri"/>
                <a:ea typeface="+mn-lt"/>
                <a:cs typeface="+mn-lt"/>
              </a:rPr>
              <a:t>Hooks</a:t>
            </a:r>
            <a:r>
              <a:rPr lang="es-ES" sz="2100">
                <a:latin typeface="Calibri"/>
                <a:ea typeface="+mn-lt"/>
                <a:cs typeface="+mn-lt"/>
              </a:rPr>
              <a:t> personalizados para encapsular lógica reutilizable y simplificar componentes.</a:t>
            </a:r>
            <a:endParaRPr lang="es-ES">
              <a:latin typeface="Calibri"/>
              <a:ea typeface="Calibri"/>
              <a:cs typeface="Calibri"/>
            </a:endParaRPr>
          </a:p>
        </p:txBody>
      </p:sp>
    </p:spTree>
    <p:extLst>
      <p:ext uri="{BB962C8B-B14F-4D97-AF65-F5344CB8AC3E}">
        <p14:creationId xmlns:p14="http://schemas.microsoft.com/office/powerpoint/2010/main" val="2123827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7289D8-4288-CB4F-F2AE-72C3977222B4}"/>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useState</a:t>
            </a:r>
            <a:r>
              <a:rPr lang="es-ES">
                <a:latin typeface="Calibri"/>
                <a:ea typeface="Calibri"/>
                <a:cs typeface="Calibri"/>
              </a:rPr>
              <a:t> para manejar estados locales.</a:t>
            </a:r>
          </a:p>
        </p:txBody>
      </p:sp>
      <p:sp>
        <p:nvSpPr>
          <p:cNvPr id="3" name="Marcador de contenido 2">
            <a:extLst>
              <a:ext uri="{FF2B5EF4-FFF2-40B4-BE49-F238E27FC236}">
                <a16:creationId xmlns:a16="http://schemas.microsoft.com/office/drawing/2014/main" id="{9FA7FCCC-CEB5-B7CF-B264-6951ABC35C2E}"/>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useState</a:t>
            </a:r>
            <a:r>
              <a:rPr lang="es-ES">
                <a:latin typeface="Calibri"/>
                <a:ea typeface="Calibri"/>
                <a:cs typeface="Calibri"/>
              </a:rPr>
              <a:t> es uno de los </a:t>
            </a:r>
            <a:r>
              <a:rPr lang="es-ES" err="1">
                <a:latin typeface="Calibri"/>
                <a:ea typeface="Calibri"/>
                <a:cs typeface="Calibri"/>
              </a:rPr>
              <a:t>hooks</a:t>
            </a:r>
            <a:r>
              <a:rPr lang="es-ES">
                <a:latin typeface="Calibri"/>
                <a:ea typeface="Calibri"/>
                <a:cs typeface="Calibri"/>
              </a:rPr>
              <a:t> más utilizados en </a:t>
            </a:r>
            <a:r>
              <a:rPr lang="es-ES" err="1">
                <a:latin typeface="Calibri"/>
                <a:ea typeface="Calibri"/>
                <a:cs typeface="Calibri"/>
              </a:rPr>
              <a:t>React</a:t>
            </a:r>
            <a:r>
              <a:rPr lang="es-ES">
                <a:latin typeface="Calibri"/>
                <a:ea typeface="Calibri"/>
                <a:cs typeface="Calibri"/>
              </a:rPr>
              <a:t>. Es una función que permite añadir y gestionar estado a los componentes funcionales. Al llamar a </a:t>
            </a:r>
            <a:r>
              <a:rPr lang="es-ES" err="1">
                <a:latin typeface="Calibri"/>
                <a:ea typeface="Calibri"/>
                <a:cs typeface="Calibri"/>
              </a:rPr>
              <a:t>useState</a:t>
            </a:r>
            <a:r>
              <a:rPr lang="es-ES">
                <a:latin typeface="Calibri"/>
                <a:ea typeface="Calibri"/>
                <a:cs typeface="Calibri"/>
              </a:rPr>
              <a:t>, se obtienen dos valores: el estado actual y una función para actualizar ese estado. Su sintaxis es:</a:t>
            </a:r>
          </a:p>
          <a:p>
            <a:r>
              <a:rPr lang="es-ES" err="1">
                <a:latin typeface="Calibri"/>
                <a:ea typeface="Calibri"/>
                <a:cs typeface="Calibri"/>
              </a:rPr>
              <a:t>const</a:t>
            </a:r>
            <a:r>
              <a:rPr lang="es-ES">
                <a:latin typeface="Calibri"/>
                <a:ea typeface="Calibri"/>
                <a:cs typeface="Calibri"/>
              </a:rPr>
              <a:t> [estado, </a:t>
            </a:r>
            <a:r>
              <a:rPr lang="es-ES" err="1">
                <a:latin typeface="Calibri"/>
                <a:ea typeface="Calibri"/>
                <a:cs typeface="Calibri"/>
              </a:rPr>
              <a:t>setEstado</a:t>
            </a:r>
            <a:r>
              <a:rPr lang="es-ES">
                <a:latin typeface="Calibri"/>
                <a:ea typeface="Calibri"/>
                <a:cs typeface="Calibri"/>
              </a:rPr>
              <a:t>] = </a:t>
            </a:r>
            <a:r>
              <a:rPr lang="es-ES" err="1">
                <a:latin typeface="Calibri"/>
                <a:ea typeface="Calibri"/>
                <a:cs typeface="Calibri"/>
              </a:rPr>
              <a:t>useState</a:t>
            </a:r>
            <a:r>
              <a:rPr lang="es-ES">
                <a:latin typeface="Calibri"/>
                <a:ea typeface="Calibri"/>
                <a:cs typeface="Calibri"/>
              </a:rPr>
              <a:t>(</a:t>
            </a:r>
            <a:r>
              <a:rPr lang="es-ES" err="1">
                <a:latin typeface="Calibri"/>
                <a:ea typeface="Calibri"/>
                <a:cs typeface="Calibri"/>
              </a:rPr>
              <a:t>valorInicial</a:t>
            </a:r>
            <a:r>
              <a:rPr lang="es-ES">
                <a:latin typeface="Calibri"/>
                <a:ea typeface="Calibri"/>
                <a:cs typeface="Calibri"/>
              </a:rPr>
              <a:t>);</a:t>
            </a:r>
          </a:p>
          <a:p>
            <a:pPr marL="342900" indent="-342900">
              <a:buFont typeface="Arial"/>
              <a:buChar char="•"/>
            </a:pPr>
            <a:r>
              <a:rPr lang="es-ES">
                <a:latin typeface="Calibri"/>
                <a:ea typeface="Calibri"/>
                <a:cs typeface="Calibri"/>
              </a:rPr>
              <a:t>En esta llamada, en la sintaxis tenemos las siguientes variables:</a:t>
            </a:r>
          </a:p>
          <a:p>
            <a:pPr marL="617220" lvl="1">
              <a:buFont typeface="Courier New"/>
              <a:buChar char="o"/>
            </a:pPr>
            <a:r>
              <a:rPr lang="es-ES">
                <a:latin typeface="Calibri"/>
                <a:ea typeface="Calibri"/>
                <a:cs typeface="Calibri"/>
              </a:rPr>
              <a:t>estado: Es el valor actual del estado. Es la variable que contiene el estado y que, consultándola podremos conocer en qué estado se encuentra el componente. Esta variable se puede utilizar en la lógica del componente.</a:t>
            </a:r>
          </a:p>
          <a:p>
            <a:pPr marL="617220" lvl="1">
              <a:buFont typeface="Courier New"/>
              <a:buChar char="o"/>
            </a:pPr>
            <a:r>
              <a:rPr lang="es-ES" err="1">
                <a:latin typeface="Calibri"/>
                <a:ea typeface="Calibri"/>
                <a:cs typeface="Calibri"/>
              </a:rPr>
              <a:t>setEstado</a:t>
            </a:r>
            <a:r>
              <a:rPr lang="es-ES">
                <a:latin typeface="Calibri"/>
                <a:ea typeface="Calibri"/>
                <a:cs typeface="Calibri"/>
              </a:rPr>
              <a:t>: Es una función que pasamos por </a:t>
            </a:r>
            <a:r>
              <a:rPr lang="es-ES" err="1">
                <a:latin typeface="Calibri"/>
                <a:ea typeface="Calibri"/>
                <a:cs typeface="Calibri"/>
              </a:rPr>
              <a:t>parámtero</a:t>
            </a:r>
            <a:r>
              <a:rPr lang="es-ES">
                <a:latin typeface="Calibri"/>
                <a:ea typeface="Calibri"/>
                <a:cs typeface="Calibri"/>
              </a:rPr>
              <a:t> y que se utiliza para actualizar el estado. Esta función será la encargada de modificar el valor de la variable estado.</a:t>
            </a:r>
          </a:p>
          <a:p>
            <a:pPr marL="617220" lvl="1">
              <a:buFont typeface="Courier New"/>
              <a:buChar char="o"/>
            </a:pPr>
            <a:r>
              <a:rPr lang="es-ES" err="1">
                <a:latin typeface="Calibri"/>
                <a:ea typeface="Calibri"/>
                <a:cs typeface="Calibri"/>
              </a:rPr>
              <a:t>valorInicial</a:t>
            </a:r>
            <a:r>
              <a:rPr lang="es-ES">
                <a:latin typeface="Calibri"/>
                <a:ea typeface="Calibri"/>
                <a:cs typeface="Calibri"/>
              </a:rPr>
              <a:t>: Es el valor inicial del estado. Es el valor por defecto que tendrá el estado cuando todavía no se ha realizado ninguna actualización</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135750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291C7-92CE-EFCC-913E-CCAD47D3BA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D41C5D-5229-A227-1CB5-8DB485E6005F}"/>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useState</a:t>
            </a:r>
            <a:r>
              <a:rPr lang="es-ES">
                <a:latin typeface="Calibri"/>
                <a:ea typeface="Calibri"/>
                <a:cs typeface="Calibri"/>
              </a:rPr>
              <a:t> para manejar estados locales. Ejemplo 1</a:t>
            </a:r>
          </a:p>
        </p:txBody>
      </p:sp>
      <p:sp>
        <p:nvSpPr>
          <p:cNvPr id="3" name="Marcador de contenido 2">
            <a:extLst>
              <a:ext uri="{FF2B5EF4-FFF2-40B4-BE49-F238E27FC236}">
                <a16:creationId xmlns:a16="http://schemas.microsoft.com/office/drawing/2014/main" id="{1CC093DD-0A20-0BB2-7D79-BCDE4726E0E1}"/>
              </a:ext>
            </a:extLst>
          </p:cNvPr>
          <p:cNvSpPr>
            <a:spLocks noGrp="1"/>
          </p:cNvSpPr>
          <p:nvPr>
            <p:ph idx="1"/>
          </p:nvPr>
        </p:nvSpPr>
        <p:spPr/>
        <p:txBody>
          <a:bodyPr vert="horz" lIns="91440" tIns="45720" rIns="91440" bIns="45720" rtlCol="0" anchor="t">
            <a:noAutofit/>
          </a:bodyPr>
          <a:lstStyle/>
          <a:p>
            <a:r>
              <a:rPr lang="es-ES" sz="1300" err="1">
                <a:latin typeface="Consolas"/>
                <a:ea typeface="+mn-lt"/>
                <a:cs typeface="+mn-lt"/>
              </a:rPr>
              <a:t>import</a:t>
            </a:r>
            <a:r>
              <a:rPr lang="es-ES" sz="1300">
                <a:latin typeface="Consolas"/>
                <a:ea typeface="+mn-lt"/>
                <a:cs typeface="+mn-lt"/>
              </a:rPr>
              <a:t> </a:t>
            </a:r>
            <a:r>
              <a:rPr lang="es-ES" sz="1300" err="1">
                <a:latin typeface="Consolas"/>
                <a:ea typeface="+mn-lt"/>
                <a:cs typeface="+mn-lt"/>
              </a:rPr>
              <a:t>React</a:t>
            </a:r>
            <a:r>
              <a:rPr lang="es-ES" sz="1300">
                <a:latin typeface="Consolas"/>
                <a:ea typeface="+mn-lt"/>
                <a:cs typeface="+mn-lt"/>
              </a:rPr>
              <a:t>, { </a:t>
            </a:r>
            <a:r>
              <a:rPr lang="es-ES" sz="1300" err="1">
                <a:latin typeface="Consolas"/>
                <a:ea typeface="+mn-lt"/>
                <a:cs typeface="+mn-lt"/>
              </a:rPr>
              <a:t>useState</a:t>
            </a:r>
            <a:r>
              <a:rPr lang="es-ES" sz="1300">
                <a:latin typeface="Consolas"/>
                <a:ea typeface="+mn-lt"/>
                <a:cs typeface="+mn-lt"/>
              </a:rPr>
              <a:t> } </a:t>
            </a:r>
            <a:r>
              <a:rPr lang="es-ES" sz="1300" err="1">
                <a:latin typeface="Consolas"/>
                <a:ea typeface="+mn-lt"/>
                <a:cs typeface="+mn-lt"/>
              </a:rPr>
              <a:t>from</a:t>
            </a:r>
            <a:r>
              <a:rPr lang="es-ES" sz="1300">
                <a:latin typeface="Consolas"/>
                <a:ea typeface="+mn-lt"/>
                <a:cs typeface="+mn-lt"/>
              </a:rPr>
              <a:t> '</a:t>
            </a:r>
            <a:r>
              <a:rPr lang="es-ES" sz="1300" err="1">
                <a:latin typeface="Consolas"/>
                <a:ea typeface="+mn-lt"/>
                <a:cs typeface="+mn-lt"/>
              </a:rPr>
              <a:t>react</a:t>
            </a:r>
            <a:r>
              <a:rPr lang="es-ES" sz="1300">
                <a:latin typeface="Consolas"/>
                <a:ea typeface="+mn-lt"/>
                <a:cs typeface="+mn-lt"/>
              </a:rPr>
              <a:t>';  //Se importa el </a:t>
            </a:r>
            <a:r>
              <a:rPr lang="es-ES" sz="1300" err="1">
                <a:latin typeface="Consolas"/>
                <a:ea typeface="+mn-lt"/>
                <a:cs typeface="+mn-lt"/>
              </a:rPr>
              <a:t>hook</a:t>
            </a:r>
            <a:r>
              <a:rPr lang="es-ES" sz="1300">
                <a:latin typeface="Consolas"/>
                <a:ea typeface="+mn-lt"/>
                <a:cs typeface="+mn-lt"/>
              </a:rPr>
              <a:t> useState</a:t>
            </a:r>
            <a:br>
              <a:rPr lang="en-US" sz="1300">
                <a:latin typeface="Consolas"/>
              </a:rPr>
            </a:br>
            <a:r>
              <a:rPr lang="es-ES" sz="1300">
                <a:latin typeface="Consolas"/>
                <a:ea typeface="+mn-lt"/>
                <a:cs typeface="+mn-lt"/>
              </a:rPr>
              <a:t>function Contador() {</a:t>
            </a:r>
            <a:br>
              <a:rPr lang="es-ES" sz="1300">
                <a:latin typeface="Consolas"/>
                <a:ea typeface="+mn-lt"/>
                <a:cs typeface="+mn-lt"/>
              </a:rPr>
            </a:br>
            <a:r>
              <a:rPr lang="es-ES" sz="1300">
                <a:latin typeface="Consolas"/>
                <a:ea typeface="+mn-lt"/>
                <a:cs typeface="+mn-lt"/>
              </a:rPr>
              <a:t>   // Se declara una variable de estado llamada "contador" con un valor inicial de 0</a:t>
            </a:r>
            <a:br>
              <a:rPr lang="es-ES" sz="1300">
                <a:latin typeface="Consolas"/>
                <a:ea typeface="+mn-lt"/>
                <a:cs typeface="+mn-lt"/>
              </a:rPr>
            </a:br>
            <a:r>
              <a:rPr lang="es-ES" sz="1300">
                <a:latin typeface="Consolas"/>
                <a:ea typeface="+mn-lt"/>
                <a:cs typeface="+mn-lt"/>
              </a:rPr>
              <a:t>   </a:t>
            </a:r>
            <a:r>
              <a:rPr lang="es-ES" sz="1300" err="1">
                <a:latin typeface="Consolas"/>
                <a:ea typeface="+mn-lt"/>
                <a:cs typeface="+mn-lt"/>
              </a:rPr>
              <a:t>const</a:t>
            </a:r>
            <a:r>
              <a:rPr lang="es-ES" sz="1300">
                <a:latin typeface="Consolas"/>
                <a:ea typeface="+mn-lt"/>
                <a:cs typeface="+mn-lt"/>
              </a:rPr>
              <a:t> [contador, </a:t>
            </a:r>
            <a:r>
              <a:rPr lang="es-ES" sz="1300" err="1">
                <a:latin typeface="Consolas"/>
                <a:ea typeface="+mn-lt"/>
                <a:cs typeface="+mn-lt"/>
              </a:rPr>
              <a:t>setContador</a:t>
            </a:r>
            <a:r>
              <a:rPr lang="es-ES" sz="1300">
                <a:latin typeface="Consolas"/>
                <a:ea typeface="+mn-lt"/>
                <a:cs typeface="+mn-lt"/>
              </a:rPr>
              <a:t>] = </a:t>
            </a:r>
            <a:r>
              <a:rPr lang="es-ES" sz="1300" err="1">
                <a:latin typeface="Consolas"/>
                <a:ea typeface="+mn-lt"/>
                <a:cs typeface="+mn-lt"/>
              </a:rPr>
              <a:t>useState</a:t>
            </a:r>
            <a:r>
              <a:rPr lang="es-ES" sz="1300">
                <a:latin typeface="Consolas"/>
                <a:ea typeface="+mn-lt"/>
                <a:cs typeface="+mn-lt"/>
              </a:rPr>
              <a:t>(0);</a:t>
            </a:r>
            <a:br>
              <a:rPr lang="es-ES" sz="1300">
                <a:latin typeface="Consolas"/>
                <a:ea typeface="+mn-lt"/>
                <a:cs typeface="+mn-lt"/>
              </a:rPr>
            </a:br>
            <a:r>
              <a:rPr lang="es-ES" sz="1300">
                <a:latin typeface="Consolas"/>
                <a:ea typeface="+mn-lt"/>
                <a:cs typeface="+mn-lt"/>
              </a:rPr>
              <a:t>   // La función incrementar llama a </a:t>
            </a:r>
            <a:r>
              <a:rPr lang="es-ES" sz="1300" err="1">
                <a:latin typeface="Consolas"/>
                <a:ea typeface="+mn-lt"/>
                <a:cs typeface="+mn-lt"/>
              </a:rPr>
              <a:t>setContador</a:t>
            </a:r>
            <a:r>
              <a:rPr lang="es-ES" sz="1300">
                <a:latin typeface="Consolas"/>
                <a:ea typeface="+mn-lt"/>
                <a:cs typeface="+mn-lt"/>
              </a:rPr>
              <a:t> para cambiar el valor de la variable contador</a:t>
            </a:r>
            <a:br>
              <a:rPr lang="es-ES" sz="1300">
                <a:latin typeface="Consolas"/>
                <a:ea typeface="+mn-lt"/>
                <a:cs typeface="+mn-lt"/>
              </a:rPr>
            </a:br>
            <a:r>
              <a:rPr lang="es-ES" sz="1300">
                <a:latin typeface="Consolas"/>
                <a:ea typeface="+mn-lt"/>
                <a:cs typeface="+mn-lt"/>
              </a:rPr>
              <a:t>   </a:t>
            </a:r>
            <a:r>
              <a:rPr lang="es-ES" sz="1300" err="1">
                <a:latin typeface="Consolas"/>
                <a:ea typeface="+mn-lt"/>
                <a:cs typeface="+mn-lt"/>
              </a:rPr>
              <a:t>const</a:t>
            </a:r>
            <a:r>
              <a:rPr lang="es-ES" sz="1300">
                <a:latin typeface="Consolas"/>
                <a:ea typeface="+mn-lt"/>
                <a:cs typeface="+mn-lt"/>
              </a:rPr>
              <a:t> incrementar = () =&gt; {</a:t>
            </a:r>
            <a:br>
              <a:rPr lang="es-ES" sz="1300">
                <a:latin typeface="Consolas"/>
                <a:ea typeface="+mn-lt"/>
                <a:cs typeface="+mn-lt"/>
              </a:rPr>
            </a:br>
            <a:r>
              <a:rPr lang="es-ES" sz="1300">
                <a:latin typeface="Consolas"/>
                <a:ea typeface="+mn-lt"/>
                <a:cs typeface="+mn-lt"/>
              </a:rPr>
              <a:t>       </a:t>
            </a:r>
            <a:r>
              <a:rPr lang="es-ES" sz="1300" err="1">
                <a:latin typeface="Consolas"/>
                <a:ea typeface="+mn-lt"/>
                <a:cs typeface="+mn-lt"/>
              </a:rPr>
              <a:t>setContador</a:t>
            </a:r>
            <a:r>
              <a:rPr lang="es-ES" sz="1300">
                <a:latin typeface="Consolas"/>
                <a:ea typeface="+mn-lt"/>
                <a:cs typeface="+mn-lt"/>
              </a:rPr>
              <a:t>(contador + 1);  //Cuando se ejecute la función incrementar, se llamará a </a:t>
            </a:r>
            <a:r>
              <a:rPr lang="es-ES" sz="1300" err="1">
                <a:latin typeface="Consolas"/>
                <a:ea typeface="+mn-lt"/>
                <a:cs typeface="+mn-lt"/>
              </a:rPr>
              <a:t>setContador</a:t>
            </a:r>
            <a:br>
              <a:rPr lang="es-ES" sz="1300">
                <a:latin typeface="Consolas"/>
                <a:ea typeface="+mn-lt"/>
                <a:cs typeface="+mn-lt"/>
              </a:rPr>
            </a:br>
            <a:r>
              <a:rPr lang="es-ES" sz="1300">
                <a:latin typeface="Consolas"/>
                <a:ea typeface="+mn-lt"/>
                <a:cs typeface="+mn-lt"/>
              </a:rPr>
              <a:t>   };</a:t>
            </a:r>
            <a:br>
              <a:rPr lang="es-ES" sz="1300">
                <a:latin typeface="Consolas"/>
                <a:ea typeface="+mn-lt"/>
                <a:cs typeface="+mn-lt"/>
              </a:rPr>
            </a:br>
            <a:r>
              <a:rPr lang="es-ES" sz="1300">
                <a:latin typeface="Consolas"/>
                <a:ea typeface="+mn-lt"/>
                <a:cs typeface="+mn-lt"/>
              </a:rPr>
              <a:t>   </a:t>
            </a:r>
            <a:r>
              <a:rPr lang="es-ES" sz="1300" err="1">
                <a:latin typeface="Consolas"/>
                <a:ea typeface="+mn-lt"/>
                <a:cs typeface="+mn-lt"/>
              </a:rPr>
              <a:t>return</a:t>
            </a:r>
            <a:r>
              <a:rPr lang="es-ES" sz="1300">
                <a:latin typeface="Consolas"/>
                <a:ea typeface="+mn-lt"/>
                <a:cs typeface="+mn-lt"/>
              </a:rPr>
              <a:t> (</a:t>
            </a:r>
            <a:br>
              <a:rPr lang="es-ES" sz="1300">
                <a:latin typeface="Consolas"/>
                <a:ea typeface="+mn-lt"/>
                <a:cs typeface="+mn-lt"/>
              </a:rPr>
            </a:br>
            <a:r>
              <a:rPr lang="es-ES" sz="1300">
                <a:latin typeface="Consolas"/>
                <a:ea typeface="+mn-lt"/>
                <a:cs typeface="+mn-lt"/>
              </a:rPr>
              <a:t>       &lt;</a:t>
            </a:r>
            <a:r>
              <a:rPr lang="es-ES" sz="1300" err="1">
                <a:latin typeface="Consolas"/>
                <a:ea typeface="+mn-lt"/>
                <a:cs typeface="+mn-lt"/>
              </a:rPr>
              <a:t>div</a:t>
            </a:r>
            <a:r>
              <a:rPr lang="es-ES" sz="1300">
                <a:latin typeface="Consolas"/>
                <a:ea typeface="+mn-lt"/>
                <a:cs typeface="+mn-lt"/>
              </a:rPr>
              <a:t>&gt;</a:t>
            </a:r>
            <a:br>
              <a:rPr lang="es-ES" sz="1300">
                <a:latin typeface="Consolas"/>
                <a:ea typeface="+mn-lt"/>
                <a:cs typeface="+mn-lt"/>
              </a:rPr>
            </a:br>
            <a:r>
              <a:rPr lang="es-ES" sz="1300">
                <a:latin typeface="Consolas"/>
                <a:ea typeface="+mn-lt"/>
                <a:cs typeface="+mn-lt"/>
              </a:rPr>
              <a:t>           &lt;p&gt;Contador: {contador}&lt;/p&gt;    //Se lee el valor de la variable contador para mostrarlo</a:t>
            </a:r>
            <a:br>
              <a:rPr lang="es-ES" sz="1300">
                <a:latin typeface="Consolas"/>
                <a:ea typeface="+mn-lt"/>
                <a:cs typeface="+mn-lt"/>
              </a:rPr>
            </a:br>
            <a:r>
              <a:rPr lang="es-ES" sz="1300">
                <a:latin typeface="Consolas"/>
                <a:ea typeface="+mn-lt"/>
                <a:cs typeface="+mn-lt"/>
              </a:rPr>
              <a:t>           &lt;</a:t>
            </a:r>
            <a:r>
              <a:rPr lang="es-ES" sz="1300" err="1">
                <a:latin typeface="Consolas"/>
                <a:ea typeface="+mn-lt"/>
                <a:cs typeface="+mn-lt"/>
              </a:rPr>
              <a:t>button</a:t>
            </a:r>
            <a:r>
              <a:rPr lang="es-ES" sz="1300">
                <a:latin typeface="Consolas"/>
                <a:ea typeface="+mn-lt"/>
                <a:cs typeface="+mn-lt"/>
              </a:rPr>
              <a:t> </a:t>
            </a:r>
            <a:r>
              <a:rPr lang="es-ES" sz="1300" err="1">
                <a:latin typeface="Consolas"/>
                <a:ea typeface="+mn-lt"/>
                <a:cs typeface="+mn-lt"/>
              </a:rPr>
              <a:t>onClick</a:t>
            </a:r>
            <a:r>
              <a:rPr lang="es-ES" sz="1300">
                <a:latin typeface="Consolas"/>
                <a:ea typeface="+mn-lt"/>
                <a:cs typeface="+mn-lt"/>
              </a:rPr>
              <a:t>={incrementar}&gt;Incrementar&lt;/</a:t>
            </a:r>
            <a:r>
              <a:rPr lang="es-ES" sz="1300" err="1">
                <a:latin typeface="Consolas"/>
                <a:ea typeface="+mn-lt"/>
                <a:cs typeface="+mn-lt"/>
              </a:rPr>
              <a:t>button</a:t>
            </a:r>
            <a:r>
              <a:rPr lang="es-ES" sz="1300">
                <a:latin typeface="Consolas"/>
                <a:ea typeface="+mn-lt"/>
                <a:cs typeface="+mn-lt"/>
              </a:rPr>
              <a:t>&gt; //Al pulsar llama a la función incrementar</a:t>
            </a:r>
            <a:br>
              <a:rPr lang="es-ES" sz="1300">
                <a:latin typeface="Consolas"/>
                <a:ea typeface="+mn-lt"/>
                <a:cs typeface="+mn-lt"/>
              </a:rPr>
            </a:br>
            <a:r>
              <a:rPr lang="es-ES" sz="1300">
                <a:latin typeface="Consolas"/>
                <a:ea typeface="+mn-lt"/>
                <a:cs typeface="+mn-lt"/>
              </a:rPr>
              <a:t>       &lt;/</a:t>
            </a:r>
            <a:r>
              <a:rPr lang="es-ES" sz="1300" err="1">
                <a:latin typeface="Consolas"/>
                <a:ea typeface="+mn-lt"/>
                <a:cs typeface="+mn-lt"/>
              </a:rPr>
              <a:t>div</a:t>
            </a:r>
            <a:r>
              <a:rPr lang="es-ES" sz="1300">
                <a:latin typeface="Consolas"/>
                <a:ea typeface="+mn-lt"/>
                <a:cs typeface="+mn-lt"/>
              </a:rPr>
              <a:t>&gt;</a:t>
            </a:r>
            <a:br>
              <a:rPr lang="es-ES" sz="1300">
                <a:latin typeface="Consolas"/>
                <a:ea typeface="+mn-lt"/>
                <a:cs typeface="+mn-lt"/>
              </a:rPr>
            </a:br>
            <a:r>
              <a:rPr lang="es-ES" sz="1300">
                <a:latin typeface="Consolas"/>
                <a:ea typeface="+mn-lt"/>
                <a:cs typeface="+mn-lt"/>
              </a:rPr>
              <a:t>   );</a:t>
            </a:r>
            <a:br>
              <a:rPr lang="es-ES" sz="1300">
                <a:latin typeface="Consolas"/>
                <a:ea typeface="+mn-lt"/>
                <a:cs typeface="+mn-lt"/>
              </a:rPr>
            </a:br>
            <a:r>
              <a:rPr lang="es-ES" sz="1300">
                <a:latin typeface="Consolas"/>
                <a:ea typeface="+mn-lt"/>
                <a:cs typeface="+mn-lt"/>
              </a:rPr>
              <a:t>}</a:t>
            </a:r>
            <a:br>
              <a:rPr lang="es-ES" sz="1300">
                <a:latin typeface="Consolas"/>
                <a:ea typeface="+mn-lt"/>
                <a:cs typeface="+mn-lt"/>
              </a:rPr>
            </a:br>
            <a:r>
              <a:rPr lang="es-ES" sz="1300" err="1">
                <a:latin typeface="Consolas"/>
                <a:ea typeface="+mn-lt"/>
                <a:cs typeface="+mn-lt"/>
              </a:rPr>
              <a:t>export</a:t>
            </a:r>
            <a:r>
              <a:rPr lang="es-ES" sz="1300">
                <a:latin typeface="Consolas"/>
                <a:ea typeface="+mn-lt"/>
                <a:cs typeface="+mn-lt"/>
              </a:rPr>
              <a:t> default Contador;</a:t>
            </a:r>
            <a:endParaRPr lang="es-ES" sz="1300">
              <a:latin typeface="Consolas"/>
            </a:endParaRPr>
          </a:p>
          <a:p>
            <a:pPr marL="342900" indent="-342900">
              <a:buFont typeface="Arial"/>
              <a:buChar char="•"/>
            </a:pPr>
            <a:endParaRPr lang="es-ES" sz="1300">
              <a:latin typeface="Consolas"/>
            </a:endParaRPr>
          </a:p>
          <a:p>
            <a:pPr marL="342900" indent="-342900">
              <a:buFont typeface="Arial"/>
              <a:buChar char="•"/>
            </a:pPr>
            <a:endParaRPr lang="es-ES" sz="1300">
              <a:latin typeface="Consolas"/>
              <a:ea typeface="Calibri"/>
              <a:cs typeface="Calibri"/>
            </a:endParaRPr>
          </a:p>
        </p:txBody>
      </p:sp>
    </p:spTree>
    <p:extLst>
      <p:ext uri="{BB962C8B-B14F-4D97-AF65-F5344CB8AC3E}">
        <p14:creationId xmlns:p14="http://schemas.microsoft.com/office/powerpoint/2010/main" val="34584085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2A214-04D5-52E1-76EB-2FFBB3C534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70C70A-3E34-DC2A-3321-BA3F354DEE6F}"/>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useState</a:t>
            </a:r>
            <a:r>
              <a:rPr lang="es-ES">
                <a:latin typeface="Calibri"/>
                <a:ea typeface="Calibri"/>
                <a:cs typeface="Calibri"/>
              </a:rPr>
              <a:t> para manejar estados locales. Ejemplo 2</a:t>
            </a:r>
          </a:p>
        </p:txBody>
      </p:sp>
      <p:sp>
        <p:nvSpPr>
          <p:cNvPr id="3" name="Marcador de contenido 2">
            <a:extLst>
              <a:ext uri="{FF2B5EF4-FFF2-40B4-BE49-F238E27FC236}">
                <a16:creationId xmlns:a16="http://schemas.microsoft.com/office/drawing/2014/main" id="{EB3C8318-417A-54EB-207B-0C35B98F64EA}"/>
              </a:ext>
            </a:extLst>
          </p:cNvPr>
          <p:cNvSpPr>
            <a:spLocks noGrp="1"/>
          </p:cNvSpPr>
          <p:nvPr>
            <p:ph idx="1"/>
          </p:nvPr>
        </p:nvSpPr>
        <p:spPr/>
        <p:txBody>
          <a:bodyPr vert="horz" lIns="91440" tIns="45720" rIns="91440" bIns="45720" rtlCol="0" anchor="t">
            <a:noAutofit/>
          </a:bodyPr>
          <a:lstStyle/>
          <a:p>
            <a:r>
              <a:rPr lang="es-ES" sz="800" err="1">
                <a:latin typeface="Consolas"/>
                <a:ea typeface="+mn-lt"/>
                <a:cs typeface="+mn-lt"/>
              </a:rPr>
              <a:t>import</a:t>
            </a:r>
            <a:r>
              <a:rPr lang="es-ES" sz="800">
                <a:latin typeface="Consolas"/>
                <a:ea typeface="+mn-lt"/>
                <a:cs typeface="+mn-lt"/>
              </a:rPr>
              <a:t> </a:t>
            </a:r>
            <a:r>
              <a:rPr lang="es-ES" sz="800" err="1">
                <a:latin typeface="Consolas"/>
                <a:ea typeface="+mn-lt"/>
                <a:cs typeface="+mn-lt"/>
              </a:rPr>
              <a:t>React</a:t>
            </a:r>
            <a:r>
              <a:rPr lang="es-ES" sz="800">
                <a:latin typeface="Consolas"/>
                <a:ea typeface="+mn-lt"/>
                <a:cs typeface="+mn-lt"/>
              </a:rPr>
              <a:t>, { </a:t>
            </a:r>
            <a:r>
              <a:rPr lang="es-ES" sz="800" err="1">
                <a:latin typeface="Consolas"/>
                <a:ea typeface="+mn-lt"/>
                <a:cs typeface="+mn-lt"/>
              </a:rPr>
              <a:t>useState</a:t>
            </a:r>
            <a:r>
              <a:rPr lang="es-ES" sz="800">
                <a:latin typeface="Consolas"/>
                <a:ea typeface="+mn-lt"/>
                <a:cs typeface="+mn-lt"/>
              </a:rPr>
              <a:t> } </a:t>
            </a:r>
            <a:r>
              <a:rPr lang="es-ES" sz="800" err="1">
                <a:latin typeface="Consolas"/>
                <a:ea typeface="+mn-lt"/>
                <a:cs typeface="+mn-lt"/>
              </a:rPr>
              <a:t>from</a:t>
            </a:r>
            <a:r>
              <a:rPr lang="es-ES" sz="800">
                <a:latin typeface="Consolas"/>
                <a:ea typeface="+mn-lt"/>
                <a:cs typeface="+mn-lt"/>
              </a:rPr>
              <a:t> '</a:t>
            </a:r>
            <a:r>
              <a:rPr lang="es-ES" sz="800" err="1">
                <a:latin typeface="Consolas"/>
                <a:ea typeface="+mn-lt"/>
                <a:cs typeface="+mn-lt"/>
              </a:rPr>
              <a:t>react</a:t>
            </a:r>
            <a:r>
              <a:rPr lang="es-ES" sz="800">
                <a:latin typeface="Consolas"/>
                <a:ea typeface="+mn-lt"/>
                <a:cs typeface="+mn-lt"/>
              </a:rPr>
              <a:t>';</a:t>
            </a:r>
            <a:br>
              <a:rPr lang="es-ES" sz="800">
                <a:latin typeface="Consolas"/>
                <a:ea typeface="+mn-lt"/>
                <a:cs typeface="+mn-lt"/>
              </a:rPr>
            </a:br>
            <a:r>
              <a:rPr lang="es-ES" sz="800" err="1">
                <a:latin typeface="Consolas"/>
                <a:ea typeface="+mn-lt"/>
                <a:cs typeface="+mn-lt"/>
              </a:rPr>
              <a:t>function</a:t>
            </a:r>
            <a:r>
              <a:rPr lang="es-ES" sz="800">
                <a:latin typeface="Consolas"/>
                <a:ea typeface="+mn-lt"/>
                <a:cs typeface="+mn-lt"/>
              </a:rPr>
              <a:t> Formulario() {</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const</a:t>
            </a:r>
            <a:r>
              <a:rPr lang="es-ES" sz="800">
                <a:latin typeface="Consolas"/>
                <a:ea typeface="+mn-lt"/>
                <a:cs typeface="+mn-lt"/>
              </a:rPr>
              <a:t> [formulario, </a:t>
            </a:r>
            <a:r>
              <a:rPr lang="es-ES" sz="800" err="1">
                <a:latin typeface="Consolas"/>
                <a:ea typeface="+mn-lt"/>
                <a:cs typeface="+mn-lt"/>
              </a:rPr>
              <a:t>setFormulario</a:t>
            </a:r>
            <a:r>
              <a:rPr lang="es-ES" sz="800">
                <a:latin typeface="Consolas"/>
                <a:ea typeface="+mn-lt"/>
                <a:cs typeface="+mn-lt"/>
              </a:rPr>
              <a:t>] = </a:t>
            </a:r>
            <a:r>
              <a:rPr lang="es-ES" sz="800" err="1">
                <a:latin typeface="Consolas"/>
                <a:ea typeface="+mn-lt"/>
                <a:cs typeface="+mn-lt"/>
              </a:rPr>
              <a:t>useState</a:t>
            </a:r>
            <a:r>
              <a:rPr lang="es-ES" sz="800">
                <a:latin typeface="Consolas"/>
                <a:ea typeface="+mn-lt"/>
                <a:cs typeface="+mn-lt"/>
              </a:rPr>
              <a:t>({ nombre: '', email: '' }); //</a:t>
            </a:r>
            <a:r>
              <a:rPr lang="es-ES" sz="800" err="1">
                <a:latin typeface="Consolas"/>
                <a:ea typeface="+mn-lt"/>
                <a:cs typeface="+mn-lt"/>
              </a:rPr>
              <a:t>useState</a:t>
            </a:r>
            <a:r>
              <a:rPr lang="es-ES" sz="800">
                <a:latin typeface="Consolas"/>
                <a:ea typeface="+mn-lt"/>
                <a:cs typeface="+mn-lt"/>
              </a:rPr>
              <a:t> crea formulario, un objeto con dos propiedades: nombre y email. Por defecto, vacíos</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const</a:t>
            </a:r>
            <a:r>
              <a:rPr lang="es-ES" sz="800">
                <a:latin typeface="Consolas"/>
                <a:ea typeface="+mn-lt"/>
                <a:cs typeface="+mn-lt"/>
              </a:rPr>
              <a:t> </a:t>
            </a:r>
            <a:r>
              <a:rPr lang="es-ES" sz="800" err="1">
                <a:latin typeface="Consolas"/>
                <a:ea typeface="+mn-lt"/>
                <a:cs typeface="+mn-lt"/>
              </a:rPr>
              <a:t>manejarCambio</a:t>
            </a:r>
            <a:r>
              <a:rPr lang="es-ES" sz="800">
                <a:latin typeface="Consolas"/>
                <a:ea typeface="+mn-lt"/>
                <a:cs typeface="+mn-lt"/>
              </a:rPr>
              <a:t> = (e) =&gt; {           //e es el objeto con la información del evento que se ha lanzado por el input</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const</a:t>
            </a:r>
            <a:r>
              <a:rPr lang="es-ES" sz="800">
                <a:latin typeface="Consolas"/>
                <a:ea typeface="+mn-lt"/>
                <a:cs typeface="+mn-lt"/>
              </a:rPr>
              <a:t> { </a:t>
            </a:r>
            <a:r>
              <a:rPr lang="es-ES" sz="800" err="1">
                <a:latin typeface="Consolas"/>
                <a:ea typeface="+mn-lt"/>
                <a:cs typeface="+mn-lt"/>
              </a:rPr>
              <a:t>name</a:t>
            </a:r>
            <a:r>
              <a:rPr lang="es-ES" sz="800">
                <a:latin typeface="Consolas"/>
                <a:ea typeface="+mn-lt"/>
                <a:cs typeface="+mn-lt"/>
              </a:rPr>
              <a:t>, </a:t>
            </a:r>
            <a:r>
              <a:rPr lang="es-ES" sz="800" err="1">
                <a:latin typeface="Consolas"/>
                <a:ea typeface="+mn-lt"/>
                <a:cs typeface="+mn-lt"/>
              </a:rPr>
              <a:t>value</a:t>
            </a:r>
            <a:r>
              <a:rPr lang="es-ES" sz="800">
                <a:latin typeface="Consolas"/>
                <a:ea typeface="+mn-lt"/>
                <a:cs typeface="+mn-lt"/>
              </a:rPr>
              <a:t> } = </a:t>
            </a:r>
            <a:r>
              <a:rPr lang="es-ES" sz="800" err="1">
                <a:latin typeface="Consolas"/>
                <a:ea typeface="+mn-lt"/>
                <a:cs typeface="+mn-lt"/>
              </a:rPr>
              <a:t>e.target</a:t>
            </a:r>
            <a:r>
              <a:rPr lang="es-ES" sz="800">
                <a:latin typeface="Consolas"/>
                <a:ea typeface="+mn-lt"/>
                <a:cs typeface="+mn-lt"/>
              </a:rPr>
              <a:t>;    //</a:t>
            </a:r>
            <a:r>
              <a:rPr lang="es-ES" sz="800" err="1">
                <a:latin typeface="Consolas"/>
                <a:ea typeface="+mn-lt"/>
                <a:cs typeface="+mn-lt"/>
              </a:rPr>
              <a:t>e.target</a:t>
            </a:r>
            <a:r>
              <a:rPr lang="es-ES" sz="800">
                <a:latin typeface="Consolas"/>
                <a:ea typeface="+mn-lt"/>
                <a:cs typeface="+mn-lt"/>
              </a:rPr>
              <a:t> referencia al input que activó el evento </a:t>
            </a:r>
            <a:r>
              <a:rPr lang="es-ES" sz="800" err="1">
                <a:latin typeface="Consolas"/>
                <a:ea typeface="+mn-lt"/>
                <a:cs typeface="+mn-lt"/>
              </a:rPr>
              <a:t>name</a:t>
            </a:r>
            <a:r>
              <a:rPr lang="es-ES" sz="800">
                <a:latin typeface="Consolas"/>
                <a:ea typeface="+mn-lt"/>
                <a:cs typeface="+mn-lt"/>
              </a:rPr>
              <a:t> y </a:t>
            </a:r>
            <a:r>
              <a:rPr lang="es-ES" sz="800" err="1">
                <a:latin typeface="Consolas"/>
                <a:ea typeface="+mn-lt"/>
                <a:cs typeface="+mn-lt"/>
              </a:rPr>
              <a:t>value</a:t>
            </a:r>
            <a:r>
              <a:rPr lang="es-ES" sz="800">
                <a:latin typeface="Consolas"/>
                <a:ea typeface="+mn-lt"/>
                <a:cs typeface="+mn-lt"/>
              </a:rPr>
              <a:t> se extraen del campo (</a:t>
            </a:r>
            <a:r>
              <a:rPr lang="es-ES" sz="800" err="1">
                <a:latin typeface="Consolas"/>
                <a:ea typeface="+mn-lt"/>
                <a:cs typeface="+mn-lt"/>
              </a:rPr>
              <a:t>name</a:t>
            </a:r>
            <a:r>
              <a:rPr lang="es-ES" sz="800">
                <a:latin typeface="Consolas"/>
                <a:ea typeface="+mn-lt"/>
                <a:cs typeface="+mn-lt"/>
              </a:rPr>
              <a:t>: nombre del campo, y </a:t>
            </a:r>
            <a:r>
              <a:rPr lang="es-ES" sz="800" err="1">
                <a:latin typeface="Consolas"/>
                <a:ea typeface="+mn-lt"/>
                <a:cs typeface="+mn-lt"/>
              </a:rPr>
              <a:t>value</a:t>
            </a:r>
            <a:r>
              <a:rPr lang="es-ES" sz="800">
                <a:latin typeface="Consolas"/>
                <a:ea typeface="+mn-lt"/>
                <a:cs typeface="+mn-lt"/>
              </a:rPr>
              <a:t>: valor actual)</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setFormulario</a:t>
            </a:r>
            <a:r>
              <a:rPr lang="es-ES" sz="800">
                <a:latin typeface="Consolas"/>
                <a:ea typeface="+mn-lt"/>
                <a:cs typeface="+mn-lt"/>
              </a:rPr>
              <a:t>({                      //Este es el método de </a:t>
            </a:r>
            <a:r>
              <a:rPr lang="es-ES" sz="800" err="1">
                <a:latin typeface="Consolas"/>
                <a:ea typeface="+mn-lt"/>
                <a:cs typeface="+mn-lt"/>
              </a:rPr>
              <a:t>useState</a:t>
            </a:r>
            <a:r>
              <a:rPr lang="es-ES" sz="800">
                <a:latin typeface="Consolas"/>
                <a:ea typeface="+mn-lt"/>
                <a:cs typeface="+mn-lt"/>
              </a:rPr>
              <a:t> que se encarga de actualizar la variable formulario </a:t>
            </a:r>
            <a:br>
              <a:rPr lang="es-ES" sz="800">
                <a:latin typeface="Consolas"/>
                <a:ea typeface="+mn-lt"/>
                <a:cs typeface="+mn-lt"/>
              </a:rPr>
            </a:br>
            <a:r>
              <a:rPr lang="es-ES" sz="800">
                <a:latin typeface="Consolas"/>
                <a:ea typeface="+mn-lt"/>
                <a:cs typeface="+mn-lt"/>
              </a:rPr>
              <a:t>           ...formulario,                   //Hace que se copien todas las propiedades existentes del estado actual, no cambia ninguna</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name</a:t>
            </a:r>
            <a:r>
              <a:rPr lang="es-ES" sz="800">
                <a:latin typeface="Consolas"/>
                <a:ea typeface="+mn-lt"/>
                <a:cs typeface="+mn-lt"/>
              </a:rPr>
              <a:t>]: </a:t>
            </a:r>
            <a:r>
              <a:rPr lang="es-ES" sz="800" err="1">
                <a:latin typeface="Consolas"/>
                <a:ea typeface="+mn-lt"/>
                <a:cs typeface="+mn-lt"/>
              </a:rPr>
              <a:t>value</a:t>
            </a:r>
            <a:r>
              <a:rPr lang="es-ES" sz="800">
                <a:latin typeface="Consolas"/>
                <a:ea typeface="+mn-lt"/>
                <a:cs typeface="+mn-lt"/>
              </a:rPr>
              <a:t>                    //El atributo cuyo nombre </a:t>
            </a:r>
            <a:r>
              <a:rPr lang="es-ES" sz="800" err="1">
                <a:latin typeface="Consolas"/>
                <a:ea typeface="+mn-lt"/>
                <a:cs typeface="+mn-lt"/>
              </a:rPr>
              <a:t>conincida</a:t>
            </a:r>
            <a:r>
              <a:rPr lang="es-ES" sz="800">
                <a:latin typeface="Consolas"/>
                <a:ea typeface="+mn-lt"/>
                <a:cs typeface="+mn-lt"/>
              </a:rPr>
              <a:t> con el valor </a:t>
            </a:r>
            <a:r>
              <a:rPr lang="es-ES" sz="800" err="1">
                <a:latin typeface="Consolas"/>
                <a:ea typeface="+mn-lt"/>
                <a:cs typeface="+mn-lt"/>
              </a:rPr>
              <a:t>name</a:t>
            </a:r>
            <a:r>
              <a:rPr lang="es-ES" sz="800">
                <a:latin typeface="Consolas"/>
                <a:ea typeface="+mn-lt"/>
                <a:cs typeface="+mn-lt"/>
              </a:rPr>
              <a:t> del input que ha generado el evento toma el valor del campo</a:t>
            </a:r>
            <a:br>
              <a:rPr lang="es-ES" sz="800">
                <a:latin typeface="Consolas"/>
                <a:ea typeface="+mn-lt"/>
                <a:cs typeface="+mn-lt"/>
              </a:rPr>
            </a:br>
            <a:r>
              <a:rPr lang="es-ES" sz="800">
                <a:latin typeface="Consolas"/>
                <a:ea typeface="+mn-lt"/>
                <a:cs typeface="+mn-lt"/>
              </a:rPr>
              <a:t>       });</a:t>
            </a:r>
            <a:br>
              <a:rPr lang="es-ES" sz="800">
                <a:latin typeface="Consolas"/>
                <a:ea typeface="+mn-lt"/>
                <a:cs typeface="+mn-lt"/>
              </a:rPr>
            </a:br>
            <a:r>
              <a:rPr lang="es-ES" sz="800">
                <a:latin typeface="Consolas"/>
                <a:ea typeface="+mn-lt"/>
                <a:cs typeface="+mn-lt"/>
              </a:rPr>
              <a:t>   };</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const</a:t>
            </a:r>
            <a:r>
              <a:rPr lang="es-ES" sz="800">
                <a:latin typeface="Consolas"/>
                <a:ea typeface="+mn-lt"/>
                <a:cs typeface="+mn-lt"/>
              </a:rPr>
              <a:t> </a:t>
            </a:r>
            <a:r>
              <a:rPr lang="es-ES" sz="800" err="1">
                <a:latin typeface="Consolas"/>
                <a:ea typeface="+mn-lt"/>
                <a:cs typeface="+mn-lt"/>
              </a:rPr>
              <a:t>manejarEnvio</a:t>
            </a:r>
            <a:r>
              <a:rPr lang="es-ES" sz="800">
                <a:latin typeface="Consolas"/>
                <a:ea typeface="+mn-lt"/>
                <a:cs typeface="+mn-lt"/>
              </a:rPr>
              <a:t> = (e) =&gt; {</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e.preventDefault</a:t>
            </a:r>
            <a:r>
              <a:rPr lang="es-ES" sz="800">
                <a:latin typeface="Consolas"/>
                <a:ea typeface="+mn-lt"/>
                <a:cs typeface="+mn-lt"/>
              </a:rPr>
              <a:t>();</a:t>
            </a:r>
            <a:br>
              <a:rPr lang="es-ES" sz="800">
                <a:latin typeface="Consolas"/>
                <a:ea typeface="+mn-lt"/>
                <a:cs typeface="+mn-lt"/>
              </a:rPr>
            </a:br>
            <a:r>
              <a:rPr lang="es-ES" sz="800">
                <a:latin typeface="Consolas"/>
                <a:ea typeface="+mn-lt"/>
                <a:cs typeface="+mn-lt"/>
              </a:rPr>
              <a:t>       console.log(`Nombre: ${</a:t>
            </a:r>
            <a:r>
              <a:rPr lang="es-ES" sz="800" err="1">
                <a:latin typeface="Consolas"/>
                <a:ea typeface="+mn-lt"/>
                <a:cs typeface="+mn-lt"/>
              </a:rPr>
              <a:t>formulario.nombre</a:t>
            </a:r>
            <a:r>
              <a:rPr lang="es-ES" sz="800">
                <a:latin typeface="Consolas"/>
                <a:ea typeface="+mn-lt"/>
                <a:cs typeface="+mn-lt"/>
              </a:rPr>
              <a:t>}, Email: ${</a:t>
            </a:r>
            <a:r>
              <a:rPr lang="es-ES" sz="800" err="1">
                <a:latin typeface="Consolas"/>
                <a:ea typeface="+mn-lt"/>
                <a:cs typeface="+mn-lt"/>
              </a:rPr>
              <a:t>formulario.email</a:t>
            </a:r>
            <a:r>
              <a:rPr lang="es-ES" sz="800">
                <a:latin typeface="Consolas"/>
                <a:ea typeface="+mn-lt"/>
                <a:cs typeface="+mn-lt"/>
              </a:rPr>
              <a:t>}`); //Datos que se enviarían en el formulario</a:t>
            </a:r>
            <a:br>
              <a:rPr lang="es-ES" sz="800">
                <a:latin typeface="Consolas"/>
                <a:ea typeface="+mn-lt"/>
                <a:cs typeface="+mn-lt"/>
              </a:rPr>
            </a:br>
            <a:r>
              <a:rPr lang="es-ES" sz="800">
                <a:latin typeface="Consolas"/>
                <a:ea typeface="+mn-lt"/>
                <a:cs typeface="+mn-lt"/>
              </a:rPr>
              <a:t>   };</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return</a:t>
            </a:r>
            <a:r>
              <a:rPr lang="es-ES" sz="800">
                <a:latin typeface="Consolas"/>
                <a:ea typeface="+mn-lt"/>
                <a:cs typeface="+mn-lt"/>
              </a:rPr>
              <a:t> (</a:t>
            </a:r>
            <a:br>
              <a:rPr lang="es-ES" sz="800">
                <a:latin typeface="Consolas"/>
                <a:ea typeface="+mn-lt"/>
                <a:cs typeface="+mn-lt"/>
              </a:rPr>
            </a:br>
            <a:r>
              <a:rPr lang="es-ES" sz="800">
                <a:latin typeface="Consolas"/>
                <a:ea typeface="+mn-lt"/>
                <a:cs typeface="+mn-lt"/>
              </a:rPr>
              <a:t>       &lt;</a:t>
            </a:r>
            <a:r>
              <a:rPr lang="es-ES" sz="800" err="1">
                <a:latin typeface="Consolas"/>
                <a:ea typeface="+mn-lt"/>
                <a:cs typeface="+mn-lt"/>
              </a:rPr>
              <a:t>form</a:t>
            </a:r>
            <a:r>
              <a:rPr lang="es-ES" sz="800">
                <a:latin typeface="Consolas"/>
                <a:ea typeface="+mn-lt"/>
                <a:cs typeface="+mn-lt"/>
              </a:rPr>
              <a:t> </a:t>
            </a:r>
            <a:r>
              <a:rPr lang="es-ES" sz="800" err="1">
                <a:latin typeface="Consolas"/>
                <a:ea typeface="+mn-lt"/>
                <a:cs typeface="+mn-lt"/>
              </a:rPr>
              <a:t>onSubmit</a:t>
            </a:r>
            <a:r>
              <a:rPr lang="es-ES" sz="800">
                <a:latin typeface="Consolas"/>
                <a:ea typeface="+mn-lt"/>
                <a:cs typeface="+mn-lt"/>
              </a:rPr>
              <a:t>={</a:t>
            </a:r>
            <a:r>
              <a:rPr lang="es-ES" sz="800" err="1">
                <a:latin typeface="Consolas"/>
                <a:ea typeface="+mn-lt"/>
                <a:cs typeface="+mn-lt"/>
              </a:rPr>
              <a:t>manejarEnvio</a:t>
            </a:r>
            <a:r>
              <a:rPr lang="es-ES" sz="800">
                <a:latin typeface="Consolas"/>
                <a:ea typeface="+mn-lt"/>
                <a:cs typeface="+mn-lt"/>
              </a:rPr>
              <a:t>}&gt;                 //La función </a:t>
            </a:r>
            <a:r>
              <a:rPr lang="es-ES" sz="800" err="1">
                <a:latin typeface="Consolas"/>
                <a:ea typeface="+mn-lt"/>
                <a:cs typeface="+mn-lt"/>
              </a:rPr>
              <a:t>manejarEnvio</a:t>
            </a:r>
            <a:r>
              <a:rPr lang="es-ES" sz="800">
                <a:latin typeface="Consolas"/>
                <a:ea typeface="+mn-lt"/>
                <a:cs typeface="+mn-lt"/>
              </a:rPr>
              <a:t> se ejecutará cuando se envíe el formulario</a:t>
            </a:r>
            <a:br>
              <a:rPr lang="es-ES" sz="800">
                <a:latin typeface="Consolas"/>
                <a:ea typeface="+mn-lt"/>
                <a:cs typeface="+mn-lt"/>
              </a:rPr>
            </a:br>
            <a:r>
              <a:rPr lang="es-ES" sz="800">
                <a:latin typeface="Consolas"/>
                <a:ea typeface="+mn-lt"/>
                <a:cs typeface="+mn-lt"/>
              </a:rPr>
              <a:t>           &lt;input    </a:t>
            </a:r>
            <a:r>
              <a:rPr lang="es-ES" sz="800" err="1">
                <a:latin typeface="Consolas"/>
                <a:ea typeface="+mn-lt"/>
                <a:cs typeface="+mn-lt"/>
              </a:rPr>
              <a:t>type</a:t>
            </a:r>
            <a:r>
              <a:rPr lang="es-ES" sz="800">
                <a:latin typeface="Consolas"/>
                <a:ea typeface="+mn-lt"/>
                <a:cs typeface="+mn-lt"/>
              </a:rPr>
              <a:t>="</a:t>
            </a:r>
            <a:r>
              <a:rPr lang="es-ES" sz="800" err="1">
                <a:latin typeface="Consolas"/>
                <a:ea typeface="+mn-lt"/>
                <a:cs typeface="+mn-lt"/>
              </a:rPr>
              <a:t>text</a:t>
            </a:r>
            <a:r>
              <a:rPr lang="es-ES" sz="800">
                <a:latin typeface="Consolas"/>
                <a:ea typeface="+mn-lt"/>
                <a:cs typeface="+mn-lt"/>
              </a:rPr>
              <a:t>"     </a:t>
            </a:r>
            <a:r>
              <a:rPr lang="es-ES" sz="800" err="1">
                <a:latin typeface="Consolas"/>
                <a:ea typeface="+mn-lt"/>
                <a:cs typeface="+mn-lt"/>
              </a:rPr>
              <a:t>name</a:t>
            </a:r>
            <a:r>
              <a:rPr lang="es-ES" sz="800">
                <a:latin typeface="Consolas"/>
                <a:ea typeface="+mn-lt"/>
                <a:cs typeface="+mn-lt"/>
              </a:rPr>
              <a:t>="nombre"  </a:t>
            </a:r>
            <a:r>
              <a:rPr lang="es-ES" sz="800" err="1">
                <a:latin typeface="Consolas"/>
                <a:ea typeface="+mn-lt"/>
                <a:cs typeface="+mn-lt"/>
              </a:rPr>
              <a:t>placeholder</a:t>
            </a:r>
            <a:r>
              <a:rPr lang="es-ES" sz="800">
                <a:latin typeface="Consolas"/>
                <a:ea typeface="+mn-lt"/>
                <a:cs typeface="+mn-lt"/>
              </a:rPr>
              <a:t>="Nombre"</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value</a:t>
            </a:r>
            <a:r>
              <a:rPr lang="es-ES" sz="800">
                <a:latin typeface="Consolas"/>
                <a:ea typeface="+mn-lt"/>
                <a:cs typeface="+mn-lt"/>
              </a:rPr>
              <a:t>={</a:t>
            </a:r>
            <a:r>
              <a:rPr lang="es-ES" sz="800" err="1">
                <a:latin typeface="Consolas"/>
                <a:ea typeface="+mn-lt"/>
                <a:cs typeface="+mn-lt"/>
              </a:rPr>
              <a:t>formulario.nombre</a:t>
            </a:r>
            <a:r>
              <a:rPr lang="es-ES" sz="800">
                <a:latin typeface="Consolas"/>
                <a:ea typeface="+mn-lt"/>
                <a:cs typeface="+mn-lt"/>
              </a:rPr>
              <a:t>}</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onChange</a:t>
            </a:r>
            <a:r>
              <a:rPr lang="es-ES" sz="800">
                <a:latin typeface="Consolas"/>
                <a:ea typeface="+mn-lt"/>
                <a:cs typeface="+mn-lt"/>
              </a:rPr>
              <a:t>={</a:t>
            </a:r>
            <a:r>
              <a:rPr lang="es-ES" sz="800" err="1">
                <a:latin typeface="Consolas"/>
                <a:ea typeface="+mn-lt"/>
                <a:cs typeface="+mn-lt"/>
              </a:rPr>
              <a:t>manejarCambio</a:t>
            </a:r>
            <a:r>
              <a:rPr lang="es-ES" sz="800">
                <a:latin typeface="Consolas"/>
                <a:ea typeface="+mn-lt"/>
                <a:cs typeface="+mn-lt"/>
              </a:rPr>
              <a:t>}               //La función </a:t>
            </a:r>
            <a:r>
              <a:rPr lang="es-ES" sz="800" err="1">
                <a:latin typeface="Consolas"/>
                <a:ea typeface="+mn-lt"/>
                <a:cs typeface="+mn-lt"/>
              </a:rPr>
              <a:t>manejarCambio</a:t>
            </a:r>
            <a:r>
              <a:rPr lang="es-ES" sz="800">
                <a:latin typeface="Consolas"/>
                <a:ea typeface="+mn-lt"/>
                <a:cs typeface="+mn-lt"/>
              </a:rPr>
              <a:t> se ejecutará cada vez que el usuario escribe en los campos del formulario.</a:t>
            </a:r>
            <a:br>
              <a:rPr lang="es-ES" sz="800">
                <a:latin typeface="Consolas"/>
                <a:ea typeface="+mn-lt"/>
                <a:cs typeface="+mn-lt"/>
              </a:rPr>
            </a:br>
            <a:r>
              <a:rPr lang="es-ES" sz="800">
                <a:latin typeface="Consolas"/>
                <a:ea typeface="+mn-lt"/>
                <a:cs typeface="+mn-lt"/>
              </a:rPr>
              <a:t>           /&gt;</a:t>
            </a:r>
            <a:br>
              <a:rPr lang="es-ES" sz="800">
                <a:latin typeface="Consolas"/>
                <a:ea typeface="+mn-lt"/>
                <a:cs typeface="+mn-lt"/>
              </a:rPr>
            </a:br>
            <a:r>
              <a:rPr lang="es-ES" sz="800">
                <a:latin typeface="Consolas"/>
                <a:ea typeface="+mn-lt"/>
                <a:cs typeface="+mn-lt"/>
              </a:rPr>
              <a:t>           &lt;input   </a:t>
            </a:r>
            <a:r>
              <a:rPr lang="es-ES" sz="800" err="1">
                <a:latin typeface="Consolas"/>
                <a:ea typeface="+mn-lt"/>
                <a:cs typeface="+mn-lt"/>
              </a:rPr>
              <a:t>type</a:t>
            </a:r>
            <a:r>
              <a:rPr lang="es-ES" sz="800">
                <a:latin typeface="Consolas"/>
                <a:ea typeface="+mn-lt"/>
                <a:cs typeface="+mn-lt"/>
              </a:rPr>
              <a:t>="email"   </a:t>
            </a:r>
            <a:r>
              <a:rPr lang="es-ES" sz="800" err="1">
                <a:latin typeface="Consolas"/>
                <a:ea typeface="+mn-lt"/>
                <a:cs typeface="+mn-lt"/>
              </a:rPr>
              <a:t>name</a:t>
            </a:r>
            <a:r>
              <a:rPr lang="es-ES" sz="800">
                <a:latin typeface="Consolas"/>
                <a:ea typeface="+mn-lt"/>
                <a:cs typeface="+mn-lt"/>
              </a:rPr>
              <a:t>="email"   </a:t>
            </a:r>
            <a:r>
              <a:rPr lang="es-ES" sz="800" err="1">
                <a:latin typeface="Consolas"/>
                <a:ea typeface="+mn-lt"/>
                <a:cs typeface="+mn-lt"/>
              </a:rPr>
              <a:t>placeholder</a:t>
            </a:r>
            <a:r>
              <a:rPr lang="es-ES" sz="800">
                <a:latin typeface="Consolas"/>
                <a:ea typeface="+mn-lt"/>
                <a:cs typeface="+mn-lt"/>
              </a:rPr>
              <a:t>="Email"</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value</a:t>
            </a:r>
            <a:r>
              <a:rPr lang="es-ES" sz="800">
                <a:latin typeface="Consolas"/>
                <a:ea typeface="+mn-lt"/>
                <a:cs typeface="+mn-lt"/>
              </a:rPr>
              <a:t>={</a:t>
            </a:r>
            <a:r>
              <a:rPr lang="es-ES" sz="800" err="1">
                <a:latin typeface="Consolas"/>
                <a:ea typeface="+mn-lt"/>
                <a:cs typeface="+mn-lt"/>
              </a:rPr>
              <a:t>formulario.email</a:t>
            </a:r>
            <a:r>
              <a:rPr lang="es-ES" sz="800">
                <a:latin typeface="Consolas"/>
                <a:ea typeface="+mn-lt"/>
                <a:cs typeface="+mn-lt"/>
              </a:rPr>
              <a:t>}</a:t>
            </a:r>
            <a:br>
              <a:rPr lang="es-ES" sz="800">
                <a:latin typeface="Consolas"/>
                <a:ea typeface="+mn-lt"/>
                <a:cs typeface="+mn-lt"/>
              </a:rPr>
            </a:br>
            <a:r>
              <a:rPr lang="es-ES" sz="800">
                <a:latin typeface="Consolas"/>
                <a:ea typeface="+mn-lt"/>
                <a:cs typeface="+mn-lt"/>
              </a:rPr>
              <a:t>               </a:t>
            </a:r>
            <a:r>
              <a:rPr lang="es-ES" sz="800" err="1">
                <a:latin typeface="Consolas"/>
                <a:ea typeface="+mn-lt"/>
                <a:cs typeface="+mn-lt"/>
              </a:rPr>
              <a:t>onChange</a:t>
            </a:r>
            <a:r>
              <a:rPr lang="es-ES" sz="800">
                <a:latin typeface="Consolas"/>
                <a:ea typeface="+mn-lt"/>
                <a:cs typeface="+mn-lt"/>
              </a:rPr>
              <a:t>={</a:t>
            </a:r>
            <a:r>
              <a:rPr lang="es-ES" sz="800" err="1">
                <a:latin typeface="Consolas"/>
                <a:ea typeface="+mn-lt"/>
                <a:cs typeface="+mn-lt"/>
              </a:rPr>
              <a:t>manejarCambio</a:t>
            </a:r>
            <a:r>
              <a:rPr lang="es-ES" sz="800">
                <a:latin typeface="Consolas"/>
                <a:ea typeface="+mn-lt"/>
                <a:cs typeface="+mn-lt"/>
              </a:rPr>
              <a:t>}               //La función </a:t>
            </a:r>
            <a:r>
              <a:rPr lang="es-ES" sz="800" err="1">
                <a:latin typeface="Consolas"/>
                <a:ea typeface="+mn-lt"/>
                <a:cs typeface="+mn-lt"/>
              </a:rPr>
              <a:t>manejarCambio</a:t>
            </a:r>
            <a:r>
              <a:rPr lang="es-ES" sz="800">
                <a:latin typeface="Consolas"/>
                <a:ea typeface="+mn-lt"/>
                <a:cs typeface="+mn-lt"/>
              </a:rPr>
              <a:t> se ejecutará cada vez que el usuario escribe en los campos del formulario.</a:t>
            </a:r>
            <a:br>
              <a:rPr lang="es-ES" sz="800">
                <a:latin typeface="Consolas"/>
                <a:ea typeface="+mn-lt"/>
                <a:cs typeface="+mn-lt"/>
              </a:rPr>
            </a:br>
            <a:r>
              <a:rPr lang="es-ES" sz="800">
                <a:latin typeface="Consolas"/>
                <a:ea typeface="+mn-lt"/>
                <a:cs typeface="+mn-lt"/>
              </a:rPr>
              <a:t>           /&gt;</a:t>
            </a:r>
            <a:br>
              <a:rPr lang="es-ES" sz="800">
                <a:latin typeface="Consolas"/>
                <a:ea typeface="+mn-lt"/>
                <a:cs typeface="+mn-lt"/>
              </a:rPr>
            </a:br>
            <a:r>
              <a:rPr lang="es-ES" sz="800">
                <a:latin typeface="Consolas"/>
                <a:ea typeface="+mn-lt"/>
                <a:cs typeface="+mn-lt"/>
              </a:rPr>
              <a:t>           &lt;</a:t>
            </a:r>
            <a:r>
              <a:rPr lang="es-ES" sz="800" err="1">
                <a:latin typeface="Consolas"/>
                <a:ea typeface="+mn-lt"/>
                <a:cs typeface="+mn-lt"/>
              </a:rPr>
              <a:t>button</a:t>
            </a:r>
            <a:r>
              <a:rPr lang="es-ES" sz="800">
                <a:latin typeface="Consolas"/>
                <a:ea typeface="+mn-lt"/>
                <a:cs typeface="+mn-lt"/>
              </a:rPr>
              <a:t> </a:t>
            </a:r>
            <a:r>
              <a:rPr lang="es-ES" sz="800" err="1">
                <a:latin typeface="Consolas"/>
                <a:ea typeface="+mn-lt"/>
                <a:cs typeface="+mn-lt"/>
              </a:rPr>
              <a:t>type</a:t>
            </a:r>
            <a:r>
              <a:rPr lang="es-ES" sz="800">
                <a:latin typeface="Consolas"/>
                <a:ea typeface="+mn-lt"/>
                <a:cs typeface="+mn-lt"/>
              </a:rPr>
              <a:t>="</a:t>
            </a:r>
            <a:r>
              <a:rPr lang="es-ES" sz="800" err="1">
                <a:latin typeface="Consolas"/>
                <a:ea typeface="+mn-lt"/>
                <a:cs typeface="+mn-lt"/>
              </a:rPr>
              <a:t>submit</a:t>
            </a:r>
            <a:r>
              <a:rPr lang="es-ES" sz="800">
                <a:latin typeface="Consolas"/>
                <a:ea typeface="+mn-lt"/>
                <a:cs typeface="+mn-lt"/>
              </a:rPr>
              <a:t>"&gt;Enviar&lt;/</a:t>
            </a:r>
            <a:r>
              <a:rPr lang="es-ES" sz="800" err="1">
                <a:latin typeface="Consolas"/>
                <a:ea typeface="+mn-lt"/>
                <a:cs typeface="+mn-lt"/>
              </a:rPr>
              <a:t>button</a:t>
            </a:r>
            <a:r>
              <a:rPr lang="es-ES" sz="800">
                <a:latin typeface="Consolas"/>
                <a:ea typeface="+mn-lt"/>
                <a:cs typeface="+mn-lt"/>
              </a:rPr>
              <a:t>&gt;</a:t>
            </a:r>
            <a:br>
              <a:rPr lang="es-ES" sz="800">
                <a:latin typeface="Consolas"/>
                <a:ea typeface="+mn-lt"/>
                <a:cs typeface="+mn-lt"/>
              </a:rPr>
            </a:br>
            <a:r>
              <a:rPr lang="es-ES" sz="800">
                <a:latin typeface="Consolas"/>
                <a:ea typeface="+mn-lt"/>
                <a:cs typeface="+mn-lt"/>
              </a:rPr>
              <a:t>       &lt;/</a:t>
            </a:r>
            <a:r>
              <a:rPr lang="es-ES" sz="800" err="1">
                <a:latin typeface="Consolas"/>
                <a:ea typeface="+mn-lt"/>
                <a:cs typeface="+mn-lt"/>
              </a:rPr>
              <a:t>form</a:t>
            </a:r>
            <a:r>
              <a:rPr lang="es-ES" sz="800">
                <a:latin typeface="Consolas"/>
                <a:ea typeface="+mn-lt"/>
                <a:cs typeface="+mn-lt"/>
              </a:rPr>
              <a:t>&gt;</a:t>
            </a:r>
            <a:br>
              <a:rPr lang="es-ES" sz="800">
                <a:latin typeface="Consolas"/>
                <a:ea typeface="+mn-lt"/>
                <a:cs typeface="+mn-lt"/>
              </a:rPr>
            </a:br>
            <a:r>
              <a:rPr lang="es-ES" sz="800">
                <a:latin typeface="Consolas"/>
                <a:ea typeface="+mn-lt"/>
                <a:cs typeface="+mn-lt"/>
              </a:rPr>
              <a:t>   );</a:t>
            </a:r>
            <a:br>
              <a:rPr lang="es-ES" sz="800">
                <a:latin typeface="Consolas"/>
                <a:ea typeface="+mn-lt"/>
                <a:cs typeface="+mn-lt"/>
              </a:rPr>
            </a:br>
            <a:r>
              <a:rPr lang="es-ES" sz="800">
                <a:latin typeface="Consolas"/>
                <a:ea typeface="+mn-lt"/>
                <a:cs typeface="+mn-lt"/>
              </a:rPr>
              <a:t>}</a:t>
            </a:r>
            <a:br>
              <a:rPr lang="es-ES" sz="800">
                <a:latin typeface="Consolas"/>
                <a:ea typeface="+mn-lt"/>
                <a:cs typeface="+mn-lt"/>
              </a:rPr>
            </a:br>
            <a:r>
              <a:rPr lang="es-ES" sz="800" err="1">
                <a:latin typeface="Consolas"/>
                <a:ea typeface="+mn-lt"/>
                <a:cs typeface="+mn-lt"/>
              </a:rPr>
              <a:t>export</a:t>
            </a:r>
            <a:r>
              <a:rPr lang="es-ES" sz="800">
                <a:latin typeface="Consolas"/>
                <a:ea typeface="+mn-lt"/>
                <a:cs typeface="+mn-lt"/>
              </a:rPr>
              <a:t> default Formulario;</a:t>
            </a:r>
            <a:endParaRPr lang="es-ES" sz="800">
              <a:latin typeface="Consolas"/>
            </a:endParaRPr>
          </a:p>
        </p:txBody>
      </p:sp>
    </p:spTree>
    <p:extLst>
      <p:ext uri="{BB962C8B-B14F-4D97-AF65-F5344CB8AC3E}">
        <p14:creationId xmlns:p14="http://schemas.microsoft.com/office/powerpoint/2010/main" val="6747913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E1D30-E3AD-144B-5D7B-5800DA288B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08ECB7-E967-FFEF-F25E-545B44370B78}"/>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useReducer</a:t>
            </a:r>
            <a:r>
              <a:rPr lang="es-ES">
                <a:latin typeface="Calibri"/>
                <a:ea typeface="Calibri"/>
                <a:cs typeface="Calibri"/>
              </a:rPr>
              <a:t> para manejo avanzado del estado.</a:t>
            </a:r>
          </a:p>
        </p:txBody>
      </p:sp>
      <p:sp>
        <p:nvSpPr>
          <p:cNvPr id="3" name="Marcador de contenido 2">
            <a:extLst>
              <a:ext uri="{FF2B5EF4-FFF2-40B4-BE49-F238E27FC236}">
                <a16:creationId xmlns:a16="http://schemas.microsoft.com/office/drawing/2014/main" id="{90FD4E26-51E4-F7D0-5038-58FCD3675AC0}"/>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a:latin typeface="Calibri"/>
                <a:ea typeface="Calibri"/>
                <a:cs typeface="Calibri"/>
              </a:rPr>
              <a:t>El </a:t>
            </a:r>
            <a:r>
              <a:rPr lang="es-ES" err="1">
                <a:latin typeface="Calibri"/>
                <a:ea typeface="Calibri"/>
                <a:cs typeface="Calibri"/>
              </a:rPr>
              <a:t>hook</a:t>
            </a:r>
            <a:r>
              <a:rPr lang="es-ES">
                <a:latin typeface="Calibri"/>
                <a:ea typeface="Calibri"/>
                <a:cs typeface="Calibri"/>
              </a:rPr>
              <a:t> </a:t>
            </a:r>
            <a:r>
              <a:rPr lang="es-ES" err="1">
                <a:latin typeface="Calibri"/>
                <a:ea typeface="Calibri"/>
                <a:cs typeface="Calibri"/>
              </a:rPr>
              <a:t>useReducer</a:t>
            </a:r>
            <a:r>
              <a:rPr lang="es-ES">
                <a:latin typeface="Calibri"/>
                <a:ea typeface="Calibri"/>
                <a:cs typeface="Calibri"/>
              </a:rPr>
              <a:t> es una alternativa a </a:t>
            </a:r>
            <a:r>
              <a:rPr lang="es-ES" err="1">
                <a:latin typeface="Calibri"/>
                <a:ea typeface="Calibri"/>
                <a:cs typeface="Calibri"/>
              </a:rPr>
              <a:t>useState</a:t>
            </a:r>
            <a:r>
              <a:rPr lang="es-ES">
                <a:latin typeface="Calibri"/>
                <a:ea typeface="Calibri"/>
                <a:cs typeface="Calibri"/>
              </a:rPr>
              <a:t> para manejar el estado en componentes funcionales, especialmente cuando el estado es complejo o cuando las actualizaciones del estado dependen de múltiples acciones.</a:t>
            </a:r>
          </a:p>
          <a:p>
            <a:pPr marL="342900" indent="-342900">
              <a:buFont typeface="Arial"/>
              <a:buChar char="•"/>
            </a:pPr>
            <a:r>
              <a:rPr lang="es-ES" err="1">
                <a:latin typeface="Calibri"/>
                <a:ea typeface="Calibri"/>
                <a:cs typeface="Calibri"/>
              </a:rPr>
              <a:t>useReducer</a:t>
            </a:r>
            <a:r>
              <a:rPr lang="es-ES">
                <a:latin typeface="Calibri"/>
                <a:ea typeface="Calibri"/>
                <a:cs typeface="Calibri"/>
              </a:rPr>
              <a:t> es un </a:t>
            </a:r>
            <a:r>
              <a:rPr lang="es-ES" err="1">
                <a:latin typeface="Calibri"/>
                <a:ea typeface="Calibri"/>
                <a:cs typeface="Calibri"/>
              </a:rPr>
              <a:t>hook</a:t>
            </a:r>
            <a:r>
              <a:rPr lang="es-ES">
                <a:latin typeface="Calibri"/>
                <a:ea typeface="Calibri"/>
                <a:cs typeface="Calibri"/>
              </a:rPr>
              <a:t> que acepta una función que maneja las actualizaciones del estado conocida como </a:t>
            </a:r>
            <a:r>
              <a:rPr lang="es-ES" err="1">
                <a:latin typeface="Calibri"/>
                <a:ea typeface="Calibri"/>
                <a:cs typeface="Calibri"/>
              </a:rPr>
              <a:t>reducer</a:t>
            </a:r>
            <a:r>
              <a:rPr lang="es-ES">
                <a:latin typeface="Calibri"/>
                <a:ea typeface="Calibri"/>
                <a:cs typeface="Calibri"/>
              </a:rPr>
              <a:t> y un estado inicial, y devuelve el estado actual junto con una función disparadora que se utiliza para enviar acciones al </a:t>
            </a:r>
            <a:r>
              <a:rPr lang="es-ES" err="1">
                <a:latin typeface="Calibri"/>
                <a:ea typeface="Calibri"/>
                <a:cs typeface="Calibri"/>
              </a:rPr>
              <a:t>reducer</a:t>
            </a:r>
            <a:r>
              <a:rPr lang="es-ES">
                <a:latin typeface="Calibri"/>
                <a:ea typeface="Calibri"/>
                <a:cs typeface="Calibri"/>
              </a:rPr>
              <a:t>. Sintaxis:</a:t>
            </a:r>
          </a:p>
          <a:p>
            <a:r>
              <a:rPr lang="es-ES" err="1">
                <a:latin typeface="Calibri"/>
                <a:ea typeface="Calibri"/>
                <a:cs typeface="Calibri"/>
              </a:rPr>
              <a:t>const</a:t>
            </a:r>
            <a:r>
              <a:rPr lang="es-ES">
                <a:latin typeface="Calibri"/>
                <a:ea typeface="Calibri"/>
                <a:cs typeface="Calibri"/>
              </a:rPr>
              <a:t> [estado, disparador] = </a:t>
            </a:r>
            <a:r>
              <a:rPr lang="es-ES" err="1">
                <a:latin typeface="Calibri"/>
                <a:ea typeface="Calibri"/>
                <a:cs typeface="Calibri"/>
              </a:rPr>
              <a:t>useReducer</a:t>
            </a:r>
            <a:r>
              <a:rPr lang="es-ES">
                <a:latin typeface="Calibri"/>
                <a:ea typeface="Calibri"/>
                <a:cs typeface="Calibri"/>
              </a:rPr>
              <a:t>(</a:t>
            </a:r>
            <a:r>
              <a:rPr lang="es-ES" err="1">
                <a:latin typeface="Calibri"/>
                <a:ea typeface="Calibri"/>
                <a:cs typeface="Calibri"/>
              </a:rPr>
              <a:t>reducer</a:t>
            </a:r>
            <a:r>
              <a:rPr lang="es-ES">
                <a:latin typeface="Calibri"/>
                <a:ea typeface="Calibri"/>
                <a:cs typeface="Calibri"/>
              </a:rPr>
              <a:t>, </a:t>
            </a:r>
            <a:r>
              <a:rPr lang="es-ES" err="1">
                <a:latin typeface="Calibri"/>
                <a:ea typeface="Calibri"/>
                <a:cs typeface="Calibri"/>
              </a:rPr>
              <a:t>estadoInicial</a:t>
            </a:r>
            <a:r>
              <a:rPr lang="es-ES">
                <a:latin typeface="Calibri"/>
                <a:ea typeface="Calibri"/>
                <a:cs typeface="Calibri"/>
              </a:rPr>
              <a:t>);</a:t>
            </a:r>
          </a:p>
          <a:p>
            <a:pPr marL="342900" indent="-342900">
              <a:buFont typeface="Arial"/>
              <a:buChar char="•"/>
            </a:pPr>
            <a:r>
              <a:rPr lang="es-ES">
                <a:latin typeface="Calibri"/>
                <a:ea typeface="Calibri"/>
                <a:cs typeface="Calibri"/>
              </a:rPr>
              <a:t>En esta llamada podemos ver:</a:t>
            </a:r>
          </a:p>
          <a:p>
            <a:pPr marL="617220" lvl="1">
              <a:buFont typeface="Courier New"/>
              <a:buChar char="o"/>
            </a:pPr>
            <a:r>
              <a:rPr lang="es-ES">
                <a:latin typeface="Calibri"/>
                <a:ea typeface="Calibri"/>
                <a:cs typeface="Calibri"/>
              </a:rPr>
              <a:t>estado: Es el estado actual.</a:t>
            </a:r>
          </a:p>
          <a:p>
            <a:pPr marL="617220" lvl="1">
              <a:buFont typeface="Courier New"/>
              <a:buChar char="o"/>
            </a:pPr>
            <a:r>
              <a:rPr lang="es-ES">
                <a:latin typeface="Calibri"/>
                <a:ea typeface="Calibri"/>
                <a:cs typeface="Calibri"/>
              </a:rPr>
              <a:t>disparador: Es una función que se utiliza para enviar acciones al </a:t>
            </a:r>
            <a:r>
              <a:rPr lang="es-ES" err="1">
                <a:latin typeface="Calibri"/>
                <a:ea typeface="Calibri"/>
                <a:cs typeface="Calibri"/>
              </a:rPr>
              <a:t>reducer</a:t>
            </a:r>
            <a:r>
              <a:rPr lang="es-ES">
                <a:latin typeface="Calibri"/>
                <a:ea typeface="Calibri"/>
                <a:cs typeface="Calibri"/>
              </a:rPr>
              <a:t>.</a:t>
            </a:r>
          </a:p>
          <a:p>
            <a:pPr marL="617220" lvl="1">
              <a:buFont typeface="Courier New"/>
              <a:buChar char="o"/>
            </a:pPr>
            <a:r>
              <a:rPr lang="es-ES" err="1">
                <a:latin typeface="Calibri"/>
                <a:ea typeface="Calibri"/>
                <a:cs typeface="Calibri"/>
              </a:rPr>
              <a:t>reducer</a:t>
            </a:r>
            <a:r>
              <a:rPr lang="es-ES">
                <a:latin typeface="Calibri"/>
                <a:ea typeface="Calibri"/>
                <a:cs typeface="Calibri"/>
              </a:rPr>
              <a:t>: Es una función que toma el estado actual y una acción, y devuelve un nuevo estado.</a:t>
            </a:r>
          </a:p>
          <a:p>
            <a:pPr marL="617220" lvl="1">
              <a:buFont typeface="Courier New"/>
              <a:buChar char="o"/>
            </a:pPr>
            <a:r>
              <a:rPr lang="es-ES" err="1">
                <a:latin typeface="Calibri"/>
                <a:ea typeface="Calibri"/>
                <a:cs typeface="Calibri"/>
              </a:rPr>
              <a:t>estadoInicial</a:t>
            </a:r>
            <a:r>
              <a:rPr lang="es-ES">
                <a:latin typeface="Calibri"/>
                <a:ea typeface="Calibri"/>
                <a:cs typeface="Calibri"/>
              </a:rPr>
              <a:t>: Es el valor inicial, por defecto, del estado.</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17934974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C902-D514-3A1D-449A-D659A14E22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9F4707-7617-70BE-CE68-A915FA87FD6C}"/>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useReducer</a:t>
            </a:r>
            <a:r>
              <a:rPr lang="es-ES">
                <a:latin typeface="Calibri"/>
                <a:ea typeface="Calibri"/>
                <a:cs typeface="Calibri"/>
              </a:rPr>
              <a:t> para manejo avanzado del estado. Ejemplo 1</a:t>
            </a:r>
          </a:p>
        </p:txBody>
      </p:sp>
      <p:sp>
        <p:nvSpPr>
          <p:cNvPr id="3" name="Marcador de contenido 2">
            <a:extLst>
              <a:ext uri="{FF2B5EF4-FFF2-40B4-BE49-F238E27FC236}">
                <a16:creationId xmlns:a16="http://schemas.microsoft.com/office/drawing/2014/main" id="{E7AB6AED-6F95-3C3C-0A11-5863D2711A48}"/>
              </a:ext>
            </a:extLst>
          </p:cNvPr>
          <p:cNvSpPr>
            <a:spLocks noGrp="1"/>
          </p:cNvSpPr>
          <p:nvPr>
            <p:ph idx="1"/>
          </p:nvPr>
        </p:nvSpPr>
        <p:spPr/>
        <p:txBody>
          <a:bodyPr vert="horz" lIns="91440" tIns="45720" rIns="91440" bIns="45720" rtlCol="0" anchor="t">
            <a:noAutofit/>
          </a:bodyPr>
          <a:lstStyle/>
          <a:p>
            <a:r>
              <a:rPr lang="es-ES" sz="1100" err="1">
                <a:latin typeface="Consolas"/>
                <a:ea typeface="+mn-lt"/>
                <a:cs typeface="+mn-lt"/>
              </a:rPr>
              <a:t>import</a:t>
            </a:r>
            <a:r>
              <a:rPr lang="es-ES" sz="1100">
                <a:latin typeface="Consolas"/>
                <a:ea typeface="+mn-lt"/>
                <a:cs typeface="+mn-lt"/>
              </a:rPr>
              <a:t> </a:t>
            </a:r>
            <a:r>
              <a:rPr lang="es-ES" sz="1100" err="1">
                <a:latin typeface="Consolas"/>
                <a:ea typeface="+mn-lt"/>
                <a:cs typeface="+mn-lt"/>
              </a:rPr>
              <a:t>React</a:t>
            </a:r>
            <a:r>
              <a:rPr lang="es-ES" sz="1100">
                <a:latin typeface="Consolas"/>
                <a:ea typeface="+mn-lt"/>
                <a:cs typeface="+mn-lt"/>
              </a:rPr>
              <a:t>, { </a:t>
            </a:r>
            <a:r>
              <a:rPr lang="es-ES" sz="1100" err="1">
                <a:latin typeface="Consolas"/>
                <a:ea typeface="+mn-lt"/>
                <a:cs typeface="+mn-lt"/>
              </a:rPr>
              <a:t>useReducer</a:t>
            </a:r>
            <a:r>
              <a:rPr lang="es-ES" sz="1100">
                <a:latin typeface="Consolas"/>
                <a:ea typeface="+mn-lt"/>
                <a:cs typeface="+mn-lt"/>
              </a:rPr>
              <a:t> } </a:t>
            </a:r>
            <a:r>
              <a:rPr lang="es-ES" sz="1100" err="1">
                <a:latin typeface="Consolas"/>
                <a:ea typeface="+mn-lt"/>
                <a:cs typeface="+mn-lt"/>
              </a:rPr>
              <a:t>from</a:t>
            </a:r>
            <a:r>
              <a:rPr lang="es-ES" sz="1100">
                <a:latin typeface="Consolas"/>
                <a:ea typeface="+mn-lt"/>
                <a:cs typeface="+mn-lt"/>
              </a:rPr>
              <a:t> '</a:t>
            </a:r>
            <a:r>
              <a:rPr lang="es-ES" sz="1100" err="1">
                <a:latin typeface="Consolas"/>
                <a:ea typeface="+mn-lt"/>
                <a:cs typeface="+mn-lt"/>
              </a:rPr>
              <a:t>react</a:t>
            </a:r>
            <a:r>
              <a:rPr lang="es-ES" sz="1100">
                <a:latin typeface="Consolas"/>
                <a:ea typeface="+mn-lt"/>
                <a:cs typeface="+mn-lt"/>
              </a:rPr>
              <a:t>';</a:t>
            </a:r>
            <a:br>
              <a:rPr lang="es-ES" sz="1100">
                <a:latin typeface="Consolas"/>
                <a:ea typeface="+mn-lt"/>
                <a:cs typeface="+mn-lt"/>
              </a:rPr>
            </a:br>
            <a:r>
              <a:rPr lang="es-ES" sz="1100" err="1">
                <a:latin typeface="Consolas"/>
                <a:ea typeface="+mn-lt"/>
                <a:cs typeface="+mn-lt"/>
              </a:rPr>
              <a:t>function</a:t>
            </a:r>
            <a:r>
              <a:rPr lang="es-ES" sz="1100">
                <a:latin typeface="Consolas"/>
                <a:ea typeface="+mn-lt"/>
                <a:cs typeface="+mn-lt"/>
              </a:rPr>
              <a:t> </a:t>
            </a:r>
            <a:r>
              <a:rPr lang="es-ES" sz="1100" err="1">
                <a:latin typeface="Consolas"/>
                <a:ea typeface="+mn-lt"/>
                <a:cs typeface="+mn-lt"/>
              </a:rPr>
              <a:t>reducer</a:t>
            </a:r>
            <a:r>
              <a:rPr lang="es-ES" sz="1100">
                <a:latin typeface="Consolas"/>
                <a:ea typeface="+mn-lt"/>
                <a:cs typeface="+mn-lt"/>
              </a:rPr>
              <a:t>(estado, </a:t>
            </a:r>
            <a:r>
              <a:rPr lang="es-ES" sz="1100" err="1">
                <a:latin typeface="Consolas"/>
                <a:ea typeface="+mn-lt"/>
                <a:cs typeface="+mn-lt"/>
              </a:rPr>
              <a:t>accion</a:t>
            </a:r>
            <a:r>
              <a:rPr lang="es-ES" sz="1100">
                <a:latin typeface="Consolas"/>
                <a:ea typeface="+mn-lt"/>
                <a:cs typeface="+mn-lt"/>
              </a:rPr>
              <a:t>) {    // Definición del </a:t>
            </a:r>
            <a:r>
              <a:rPr lang="es-ES" sz="1100" err="1">
                <a:latin typeface="Consolas"/>
                <a:ea typeface="+mn-lt"/>
                <a:cs typeface="+mn-lt"/>
              </a:rPr>
              <a:t>reducer</a:t>
            </a:r>
            <a:r>
              <a:rPr lang="es-ES" sz="1100">
                <a:latin typeface="Consolas"/>
                <a:ea typeface="+mn-lt"/>
                <a:cs typeface="+mn-lt"/>
              </a:rPr>
              <a:t>, es una función que toma el estado actual y </a:t>
            </a:r>
            <a:br>
              <a:rPr lang="es-ES" sz="1100">
                <a:latin typeface="Consolas"/>
                <a:ea typeface="+mn-lt"/>
                <a:cs typeface="+mn-lt"/>
              </a:rPr>
            </a:br>
            <a:r>
              <a:rPr lang="es-ES" sz="1100">
                <a:latin typeface="Consolas"/>
                <a:ea typeface="+mn-lt"/>
                <a:cs typeface="+mn-lt"/>
              </a:rPr>
              <a:t>   switch (</a:t>
            </a:r>
            <a:r>
              <a:rPr lang="es-ES" sz="1100" err="1">
                <a:latin typeface="Consolas"/>
                <a:ea typeface="+mn-lt"/>
                <a:cs typeface="+mn-lt"/>
              </a:rPr>
              <a:t>accion.type</a:t>
            </a:r>
            <a:r>
              <a:rPr lang="es-ES" sz="1100">
                <a:latin typeface="Consolas"/>
                <a:ea typeface="+mn-lt"/>
                <a:cs typeface="+mn-lt"/>
              </a:rPr>
              <a:t>) {             // una acción y devuelve un nuevo estado basado en el tipo de acción.</a:t>
            </a:r>
            <a:br>
              <a:rPr lang="es-ES" sz="1100">
                <a:latin typeface="Consolas"/>
                <a:ea typeface="+mn-lt"/>
                <a:cs typeface="+mn-lt"/>
              </a:rPr>
            </a:br>
            <a:r>
              <a:rPr lang="es-ES" sz="1100">
                <a:latin typeface="Consolas"/>
                <a:ea typeface="+mn-lt"/>
                <a:cs typeface="+mn-lt"/>
              </a:rPr>
              <a:t>       case 'incrementar':</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return</a:t>
            </a:r>
            <a:r>
              <a:rPr lang="es-ES" sz="1100">
                <a:latin typeface="Consolas"/>
                <a:ea typeface="+mn-lt"/>
                <a:cs typeface="+mn-lt"/>
              </a:rPr>
              <a:t> { contador: </a:t>
            </a:r>
            <a:r>
              <a:rPr lang="es-ES" sz="1100" err="1">
                <a:latin typeface="Consolas"/>
                <a:ea typeface="+mn-lt"/>
                <a:cs typeface="+mn-lt"/>
              </a:rPr>
              <a:t>estado.contador</a:t>
            </a:r>
            <a:r>
              <a:rPr lang="es-ES" sz="1100">
                <a:latin typeface="Consolas"/>
                <a:ea typeface="+mn-lt"/>
                <a:cs typeface="+mn-lt"/>
              </a:rPr>
              <a:t> + 1 };</a:t>
            </a:r>
            <a:br>
              <a:rPr lang="es-ES" sz="1100">
                <a:latin typeface="Consolas"/>
                <a:ea typeface="+mn-lt"/>
                <a:cs typeface="+mn-lt"/>
              </a:rPr>
            </a:br>
            <a:r>
              <a:rPr lang="es-ES" sz="1100">
                <a:latin typeface="Consolas"/>
                <a:ea typeface="+mn-lt"/>
                <a:cs typeface="+mn-lt"/>
              </a:rPr>
              <a:t>       case 'decrementar':</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return</a:t>
            </a:r>
            <a:r>
              <a:rPr lang="es-ES" sz="1100">
                <a:latin typeface="Consolas"/>
                <a:ea typeface="+mn-lt"/>
                <a:cs typeface="+mn-lt"/>
              </a:rPr>
              <a:t> { contador: </a:t>
            </a:r>
            <a:r>
              <a:rPr lang="es-ES" sz="1100" err="1">
                <a:latin typeface="Consolas"/>
                <a:ea typeface="+mn-lt"/>
                <a:cs typeface="+mn-lt"/>
              </a:rPr>
              <a:t>estado.contador</a:t>
            </a:r>
            <a:r>
              <a:rPr lang="es-ES" sz="1100">
                <a:latin typeface="Consolas"/>
                <a:ea typeface="+mn-lt"/>
                <a:cs typeface="+mn-lt"/>
              </a:rPr>
              <a:t> - 1 };</a:t>
            </a:r>
            <a:br>
              <a:rPr lang="es-ES" sz="1100">
                <a:latin typeface="Consolas"/>
                <a:ea typeface="+mn-lt"/>
                <a:cs typeface="+mn-lt"/>
              </a:rPr>
            </a:br>
            <a:r>
              <a:rPr lang="es-ES" sz="1100">
                <a:latin typeface="Consolas"/>
                <a:ea typeface="+mn-lt"/>
                <a:cs typeface="+mn-lt"/>
              </a:rPr>
              <a:t>       default:</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return</a:t>
            </a:r>
            <a:r>
              <a:rPr lang="es-ES" sz="1100">
                <a:latin typeface="Consolas"/>
                <a:ea typeface="+mn-lt"/>
                <a:cs typeface="+mn-lt"/>
              </a:rPr>
              <a:t> estado;</a:t>
            </a:r>
            <a:br>
              <a:rPr lang="es-ES" sz="1100">
                <a:latin typeface="Consolas"/>
                <a:ea typeface="+mn-lt"/>
                <a:cs typeface="+mn-lt"/>
              </a:rPr>
            </a:br>
            <a:r>
              <a:rPr lang="es-ES" sz="1100">
                <a:latin typeface="Consolas"/>
                <a:ea typeface="+mn-lt"/>
                <a:cs typeface="+mn-lt"/>
              </a:rPr>
              <a:t>   }</a:t>
            </a:r>
            <a:br>
              <a:rPr lang="es-ES" sz="1100">
                <a:latin typeface="Consolas"/>
                <a:ea typeface="+mn-lt"/>
                <a:cs typeface="+mn-lt"/>
              </a:rPr>
            </a:br>
            <a:r>
              <a:rPr lang="es-ES" sz="1100">
                <a:latin typeface="Consolas"/>
                <a:ea typeface="+mn-lt"/>
                <a:cs typeface="+mn-lt"/>
              </a:rPr>
              <a:t>}</a:t>
            </a:r>
            <a:br>
              <a:rPr lang="es-ES" sz="1100">
                <a:latin typeface="Consolas"/>
                <a:ea typeface="+mn-lt"/>
                <a:cs typeface="+mn-lt"/>
              </a:rPr>
            </a:br>
            <a:r>
              <a:rPr lang="es-ES" sz="1100" err="1">
                <a:latin typeface="Consolas"/>
                <a:ea typeface="+mn-lt"/>
                <a:cs typeface="+mn-lt"/>
              </a:rPr>
              <a:t>function</a:t>
            </a:r>
            <a:r>
              <a:rPr lang="es-ES" sz="1100">
                <a:latin typeface="Consolas"/>
                <a:ea typeface="+mn-lt"/>
                <a:cs typeface="+mn-lt"/>
              </a:rPr>
              <a:t> Contador() {</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const</a:t>
            </a:r>
            <a:r>
              <a:rPr lang="es-ES" sz="1100">
                <a:latin typeface="Consolas"/>
                <a:ea typeface="+mn-lt"/>
                <a:cs typeface="+mn-lt"/>
              </a:rPr>
              <a:t> [estado, disparador] = </a:t>
            </a:r>
            <a:r>
              <a:rPr lang="es-ES" sz="1100" err="1">
                <a:latin typeface="Consolas"/>
                <a:ea typeface="+mn-lt"/>
                <a:cs typeface="+mn-lt"/>
              </a:rPr>
              <a:t>useReducer</a:t>
            </a:r>
            <a:r>
              <a:rPr lang="es-ES" sz="1100">
                <a:latin typeface="Consolas"/>
                <a:ea typeface="+mn-lt"/>
                <a:cs typeface="+mn-lt"/>
              </a:rPr>
              <a:t>(</a:t>
            </a:r>
            <a:r>
              <a:rPr lang="es-ES" sz="1100" err="1">
                <a:latin typeface="Consolas"/>
                <a:ea typeface="+mn-lt"/>
                <a:cs typeface="+mn-lt"/>
              </a:rPr>
              <a:t>reducer</a:t>
            </a:r>
            <a:r>
              <a:rPr lang="es-ES" sz="1100">
                <a:latin typeface="Consolas"/>
                <a:ea typeface="+mn-lt"/>
                <a:cs typeface="+mn-lt"/>
              </a:rPr>
              <a:t>, { contador: 0 });  // Se llama a </a:t>
            </a:r>
            <a:r>
              <a:rPr lang="es-ES" sz="1100" err="1">
                <a:latin typeface="Consolas"/>
                <a:ea typeface="+mn-lt"/>
                <a:cs typeface="+mn-lt"/>
              </a:rPr>
              <a:t>useReducer</a:t>
            </a:r>
            <a:r>
              <a:rPr lang="es-ES" sz="1100">
                <a:latin typeface="Consolas"/>
                <a:ea typeface="+mn-lt"/>
                <a:cs typeface="+mn-lt"/>
              </a:rPr>
              <a:t> con el </a:t>
            </a:r>
            <a:r>
              <a:rPr lang="es-ES" sz="1100" err="1">
                <a:latin typeface="Consolas"/>
                <a:ea typeface="+mn-lt"/>
                <a:cs typeface="+mn-lt"/>
              </a:rPr>
              <a:t>reducer</a:t>
            </a:r>
            <a:r>
              <a:rPr lang="es-ES" sz="1100">
                <a:latin typeface="Consolas"/>
                <a:ea typeface="+mn-lt"/>
                <a:cs typeface="+mn-lt"/>
              </a:rPr>
              <a:t> y el estado</a:t>
            </a:r>
            <a:br>
              <a:rPr lang="es-ES" sz="1100">
                <a:latin typeface="Consolas"/>
                <a:ea typeface="+mn-lt"/>
                <a:cs typeface="+mn-lt"/>
              </a:rPr>
            </a:br>
            <a:r>
              <a:rPr lang="es-ES" sz="1100">
                <a:latin typeface="Consolas"/>
                <a:ea typeface="+mn-lt"/>
                <a:cs typeface="+mn-lt"/>
              </a:rPr>
              <a:t>   </a:t>
            </a:r>
            <a:r>
              <a:rPr lang="es-ES" sz="1100" err="1">
                <a:latin typeface="Consolas"/>
                <a:ea typeface="+mn-lt"/>
                <a:cs typeface="+mn-lt"/>
              </a:rPr>
              <a:t>return</a:t>
            </a:r>
            <a:r>
              <a:rPr lang="es-ES" sz="1100">
                <a:latin typeface="Consolas"/>
                <a:ea typeface="+mn-lt"/>
                <a:cs typeface="+mn-lt"/>
              </a:rPr>
              <a:t> (                                              // inicial y nos devuelve el estado actual y la función disparadora</a:t>
            </a:r>
            <a:br>
              <a:rPr lang="es-ES" sz="1100">
                <a:latin typeface="Consolas"/>
                <a:ea typeface="+mn-lt"/>
                <a:cs typeface="+mn-lt"/>
              </a:rPr>
            </a:br>
            <a:r>
              <a:rPr lang="es-ES" sz="1100">
                <a:latin typeface="Consolas"/>
                <a:ea typeface="+mn-lt"/>
                <a:cs typeface="+mn-lt"/>
              </a:rPr>
              <a:t>       &lt;</a:t>
            </a:r>
            <a:r>
              <a:rPr lang="es-ES" sz="1100" err="1">
                <a:latin typeface="Consolas"/>
                <a:ea typeface="+mn-lt"/>
                <a:cs typeface="+mn-lt"/>
              </a:rPr>
              <a:t>div</a:t>
            </a:r>
            <a:r>
              <a:rPr lang="es-ES" sz="1100">
                <a:latin typeface="Consolas"/>
                <a:ea typeface="+mn-lt"/>
                <a:cs typeface="+mn-lt"/>
              </a:rPr>
              <a:t>&gt;                                             // que en este caso es un objeto más complejo y no una variable</a:t>
            </a:r>
            <a:br>
              <a:rPr lang="es-ES" sz="1100">
                <a:latin typeface="Consolas"/>
                <a:ea typeface="+mn-lt"/>
                <a:cs typeface="+mn-lt"/>
              </a:rPr>
            </a:br>
            <a:r>
              <a:rPr lang="es-ES" sz="1100">
                <a:latin typeface="Consolas"/>
                <a:ea typeface="+mn-lt"/>
                <a:cs typeface="+mn-lt"/>
              </a:rPr>
              <a:t>           &lt;p&gt;Contador: {</a:t>
            </a:r>
            <a:r>
              <a:rPr lang="es-ES" sz="1100" err="1">
                <a:latin typeface="Consolas"/>
                <a:ea typeface="+mn-lt"/>
                <a:cs typeface="+mn-lt"/>
              </a:rPr>
              <a:t>estado.contador</a:t>
            </a:r>
            <a:r>
              <a:rPr lang="es-ES" sz="1100">
                <a:latin typeface="Consolas"/>
                <a:ea typeface="+mn-lt"/>
                <a:cs typeface="+mn-lt"/>
              </a:rPr>
              <a:t>}&lt;/p&gt;            // Muestra el estado actual del contador</a:t>
            </a:r>
            <a:br>
              <a:rPr lang="es-ES" sz="1100">
                <a:latin typeface="Consolas"/>
                <a:ea typeface="+mn-lt"/>
                <a:cs typeface="+mn-lt"/>
              </a:rPr>
            </a:br>
            <a:r>
              <a:rPr lang="es-ES" sz="1100">
                <a:latin typeface="Consolas"/>
                <a:ea typeface="+mn-lt"/>
                <a:cs typeface="+mn-lt"/>
              </a:rPr>
              <a:t>           &lt;</a:t>
            </a:r>
            <a:r>
              <a:rPr lang="es-ES" sz="1100" err="1">
                <a:latin typeface="Consolas"/>
                <a:ea typeface="+mn-lt"/>
                <a:cs typeface="+mn-lt"/>
              </a:rPr>
              <a:t>button</a:t>
            </a:r>
            <a:r>
              <a:rPr lang="es-ES" sz="1100">
                <a:latin typeface="Consolas"/>
                <a:ea typeface="+mn-lt"/>
                <a:cs typeface="+mn-lt"/>
              </a:rPr>
              <a:t> </a:t>
            </a:r>
            <a:r>
              <a:rPr lang="es-ES" sz="1100" err="1">
                <a:latin typeface="Consolas"/>
                <a:ea typeface="+mn-lt"/>
                <a:cs typeface="+mn-lt"/>
              </a:rPr>
              <a:t>onClick</a:t>
            </a:r>
            <a:r>
              <a:rPr lang="es-ES" sz="1100">
                <a:latin typeface="Consolas"/>
                <a:ea typeface="+mn-lt"/>
                <a:cs typeface="+mn-lt"/>
              </a:rPr>
              <a:t>={() =&gt; disparador({ </a:t>
            </a:r>
            <a:r>
              <a:rPr lang="es-ES" sz="1100" err="1">
                <a:latin typeface="Consolas"/>
                <a:ea typeface="+mn-lt"/>
                <a:cs typeface="+mn-lt"/>
              </a:rPr>
              <a:t>type</a:t>
            </a:r>
            <a:r>
              <a:rPr lang="es-ES" sz="1100">
                <a:latin typeface="Consolas"/>
                <a:ea typeface="+mn-lt"/>
                <a:cs typeface="+mn-lt"/>
              </a:rPr>
              <a:t>: 'incrementar' })}&gt;Incrementar&lt;/</a:t>
            </a:r>
            <a:r>
              <a:rPr lang="es-ES" sz="1100" err="1">
                <a:latin typeface="Consolas"/>
                <a:ea typeface="+mn-lt"/>
                <a:cs typeface="+mn-lt"/>
              </a:rPr>
              <a:t>button</a:t>
            </a:r>
            <a:r>
              <a:rPr lang="es-ES" sz="1100">
                <a:latin typeface="Consolas"/>
                <a:ea typeface="+mn-lt"/>
                <a:cs typeface="+mn-lt"/>
              </a:rPr>
              <a:t>&gt;  //En función del botón pulsado se </a:t>
            </a:r>
            <a:br>
              <a:rPr lang="es-ES" sz="1100">
                <a:latin typeface="Consolas"/>
                <a:ea typeface="+mn-lt"/>
                <a:cs typeface="+mn-lt"/>
              </a:rPr>
            </a:br>
            <a:r>
              <a:rPr lang="es-ES" sz="1100">
                <a:latin typeface="Consolas"/>
                <a:ea typeface="+mn-lt"/>
                <a:cs typeface="+mn-lt"/>
              </a:rPr>
              <a:t>           &lt;</a:t>
            </a:r>
            <a:r>
              <a:rPr lang="es-ES" sz="1100" err="1">
                <a:latin typeface="Consolas"/>
                <a:ea typeface="+mn-lt"/>
                <a:cs typeface="+mn-lt"/>
              </a:rPr>
              <a:t>button</a:t>
            </a:r>
            <a:r>
              <a:rPr lang="es-ES" sz="1100">
                <a:latin typeface="Consolas"/>
                <a:ea typeface="+mn-lt"/>
                <a:cs typeface="+mn-lt"/>
              </a:rPr>
              <a:t> </a:t>
            </a:r>
            <a:r>
              <a:rPr lang="es-ES" sz="1100" err="1">
                <a:latin typeface="Consolas"/>
                <a:ea typeface="+mn-lt"/>
                <a:cs typeface="+mn-lt"/>
              </a:rPr>
              <a:t>onClick</a:t>
            </a:r>
            <a:r>
              <a:rPr lang="es-ES" sz="1100">
                <a:latin typeface="Consolas"/>
                <a:ea typeface="+mn-lt"/>
                <a:cs typeface="+mn-lt"/>
              </a:rPr>
              <a:t>={() =&gt; disparador({ </a:t>
            </a:r>
            <a:r>
              <a:rPr lang="es-ES" sz="1100" err="1">
                <a:latin typeface="Consolas"/>
                <a:ea typeface="+mn-lt"/>
                <a:cs typeface="+mn-lt"/>
              </a:rPr>
              <a:t>type</a:t>
            </a:r>
            <a:r>
              <a:rPr lang="es-ES" sz="1100">
                <a:latin typeface="Consolas"/>
                <a:ea typeface="+mn-lt"/>
                <a:cs typeface="+mn-lt"/>
              </a:rPr>
              <a:t>: 'decrementar' })}&gt;Decrementar&lt;/</a:t>
            </a:r>
            <a:r>
              <a:rPr lang="es-ES" sz="1100" err="1">
                <a:latin typeface="Consolas"/>
                <a:ea typeface="+mn-lt"/>
                <a:cs typeface="+mn-lt"/>
              </a:rPr>
              <a:t>button</a:t>
            </a:r>
            <a:r>
              <a:rPr lang="es-ES" sz="1100">
                <a:latin typeface="Consolas"/>
                <a:ea typeface="+mn-lt"/>
                <a:cs typeface="+mn-lt"/>
              </a:rPr>
              <a:t>&gt;  //lanza un "</a:t>
            </a:r>
            <a:r>
              <a:rPr lang="es-ES" sz="1100" err="1">
                <a:latin typeface="Consolas"/>
                <a:ea typeface="+mn-lt"/>
                <a:cs typeface="+mn-lt"/>
              </a:rPr>
              <a:t>type</a:t>
            </a:r>
            <a:r>
              <a:rPr lang="es-ES" sz="1100">
                <a:latin typeface="Consolas"/>
                <a:ea typeface="+mn-lt"/>
                <a:cs typeface="+mn-lt"/>
              </a:rPr>
              <a:t>" de acción u otra</a:t>
            </a:r>
            <a:br>
              <a:rPr lang="es-ES" sz="1100">
                <a:latin typeface="Consolas"/>
                <a:ea typeface="+mn-lt"/>
                <a:cs typeface="+mn-lt"/>
              </a:rPr>
            </a:br>
            <a:r>
              <a:rPr lang="es-ES" sz="1100">
                <a:latin typeface="Consolas"/>
                <a:ea typeface="+mn-lt"/>
                <a:cs typeface="+mn-lt"/>
              </a:rPr>
              <a:t>       &lt;/</a:t>
            </a:r>
            <a:r>
              <a:rPr lang="es-ES" sz="1100" err="1">
                <a:latin typeface="Consolas"/>
                <a:ea typeface="+mn-lt"/>
                <a:cs typeface="+mn-lt"/>
              </a:rPr>
              <a:t>div</a:t>
            </a:r>
            <a:r>
              <a:rPr lang="es-ES" sz="1100">
                <a:latin typeface="Consolas"/>
                <a:ea typeface="+mn-lt"/>
                <a:cs typeface="+mn-lt"/>
              </a:rPr>
              <a:t>&gt;</a:t>
            </a:r>
            <a:br>
              <a:rPr lang="es-ES" sz="1100">
                <a:latin typeface="Consolas"/>
                <a:ea typeface="+mn-lt"/>
                <a:cs typeface="+mn-lt"/>
              </a:rPr>
            </a:br>
            <a:r>
              <a:rPr lang="es-ES" sz="1100">
                <a:latin typeface="Consolas"/>
                <a:ea typeface="+mn-lt"/>
                <a:cs typeface="+mn-lt"/>
              </a:rPr>
              <a:t>   );</a:t>
            </a:r>
            <a:br>
              <a:rPr lang="es-ES" sz="1100">
                <a:latin typeface="Consolas"/>
                <a:ea typeface="+mn-lt"/>
                <a:cs typeface="+mn-lt"/>
              </a:rPr>
            </a:br>
            <a:r>
              <a:rPr lang="es-ES" sz="1100">
                <a:latin typeface="Consolas"/>
                <a:ea typeface="+mn-lt"/>
                <a:cs typeface="+mn-lt"/>
              </a:rPr>
              <a:t>}</a:t>
            </a:r>
            <a:endParaRPr lang="es-ES" sz="1100">
              <a:latin typeface="Consolas"/>
            </a:endParaRPr>
          </a:p>
        </p:txBody>
      </p:sp>
    </p:spTree>
    <p:extLst>
      <p:ext uri="{BB962C8B-B14F-4D97-AF65-F5344CB8AC3E}">
        <p14:creationId xmlns:p14="http://schemas.microsoft.com/office/powerpoint/2010/main" val="11455317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AFF17-DF47-B6AF-0A67-42AA974967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711B51-6296-56BD-A3AD-6DEEB89DC989}"/>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useReducer</a:t>
            </a:r>
            <a:r>
              <a:rPr lang="es-ES">
                <a:latin typeface="Calibri"/>
                <a:ea typeface="Calibri"/>
                <a:cs typeface="Calibri"/>
              </a:rPr>
              <a:t> para manejo avanzado del estado. Ejemplo 2</a:t>
            </a:r>
          </a:p>
        </p:txBody>
      </p:sp>
      <p:sp>
        <p:nvSpPr>
          <p:cNvPr id="3" name="Marcador de contenido 2">
            <a:extLst>
              <a:ext uri="{FF2B5EF4-FFF2-40B4-BE49-F238E27FC236}">
                <a16:creationId xmlns:a16="http://schemas.microsoft.com/office/drawing/2014/main" id="{93F7645D-A19B-1542-ECD1-7121D317F1F9}"/>
              </a:ext>
            </a:extLst>
          </p:cNvPr>
          <p:cNvSpPr>
            <a:spLocks noGrp="1"/>
          </p:cNvSpPr>
          <p:nvPr>
            <p:ph idx="1"/>
          </p:nvPr>
        </p:nvSpPr>
        <p:spPr/>
        <p:txBody>
          <a:bodyPr vert="horz" lIns="91440" tIns="45720" rIns="91440" bIns="45720" rtlCol="0" anchor="t">
            <a:normAutofit/>
          </a:bodyPr>
          <a:lstStyle/>
          <a:p>
            <a:r>
              <a:rPr lang="es-ES" sz="1400" err="1">
                <a:latin typeface="Consolas"/>
                <a:ea typeface="+mn-lt"/>
                <a:cs typeface="+mn-lt"/>
              </a:rPr>
              <a:t>import</a:t>
            </a:r>
            <a:r>
              <a:rPr lang="es-ES" sz="1400">
                <a:latin typeface="Consolas"/>
                <a:ea typeface="+mn-lt"/>
                <a:cs typeface="+mn-lt"/>
              </a:rPr>
              <a:t> </a:t>
            </a:r>
            <a:r>
              <a:rPr lang="es-ES" sz="1400" err="1">
                <a:latin typeface="Consolas"/>
                <a:ea typeface="+mn-lt"/>
                <a:cs typeface="+mn-lt"/>
              </a:rPr>
              <a:t>React</a:t>
            </a:r>
            <a:r>
              <a:rPr lang="es-ES" sz="1400">
                <a:latin typeface="Consolas"/>
                <a:ea typeface="+mn-lt"/>
                <a:cs typeface="+mn-lt"/>
              </a:rPr>
              <a:t>, { </a:t>
            </a:r>
            <a:r>
              <a:rPr lang="es-ES" sz="1400" err="1">
                <a:latin typeface="Consolas"/>
                <a:ea typeface="+mn-lt"/>
                <a:cs typeface="+mn-lt"/>
              </a:rPr>
              <a:t>useReducer</a:t>
            </a:r>
            <a:r>
              <a:rPr lang="es-ES" sz="1400">
                <a:latin typeface="Consolas"/>
                <a:ea typeface="+mn-lt"/>
                <a:cs typeface="+mn-lt"/>
              </a:rPr>
              <a:t> } </a:t>
            </a:r>
            <a:r>
              <a:rPr lang="es-ES" sz="1400" err="1">
                <a:latin typeface="Consolas"/>
                <a:ea typeface="+mn-lt"/>
                <a:cs typeface="+mn-lt"/>
              </a:rPr>
              <a:t>from</a:t>
            </a:r>
            <a:r>
              <a:rPr lang="es-ES" sz="1400">
                <a:latin typeface="Consolas"/>
                <a:ea typeface="+mn-lt"/>
                <a:cs typeface="+mn-lt"/>
              </a:rPr>
              <a:t> '</a:t>
            </a:r>
            <a:r>
              <a:rPr lang="es-ES" sz="1400" err="1">
                <a:latin typeface="Consolas"/>
                <a:ea typeface="+mn-lt"/>
                <a:cs typeface="+mn-lt"/>
              </a:rPr>
              <a:t>react</a:t>
            </a:r>
            <a:r>
              <a:rPr lang="es-ES" sz="1400">
                <a:latin typeface="Consolas"/>
                <a:ea typeface="+mn-lt"/>
                <a:cs typeface="+mn-lt"/>
              </a:rPr>
              <a:t>';</a:t>
            </a:r>
            <a:br>
              <a:rPr lang="en-US" sz="1400">
                <a:latin typeface="Consolas"/>
              </a:rPr>
            </a:br>
            <a:r>
              <a:rPr lang="es-ES" sz="1400" err="1">
                <a:latin typeface="Consolas"/>
                <a:ea typeface="+mn-lt"/>
                <a:cs typeface="+mn-lt"/>
              </a:rPr>
              <a:t>function</a:t>
            </a:r>
            <a:r>
              <a:rPr lang="es-ES" sz="1400">
                <a:latin typeface="Consolas"/>
                <a:ea typeface="+mn-lt"/>
                <a:cs typeface="+mn-lt"/>
              </a:rPr>
              <a:t> </a:t>
            </a:r>
            <a:r>
              <a:rPr lang="es-ES" sz="1400" err="1">
                <a:latin typeface="Consolas"/>
                <a:ea typeface="+mn-lt"/>
                <a:cs typeface="+mn-lt"/>
              </a:rPr>
              <a:t>reducer</a:t>
            </a:r>
            <a:r>
              <a:rPr lang="es-ES" sz="1400">
                <a:latin typeface="Consolas"/>
                <a:ea typeface="+mn-lt"/>
                <a:cs typeface="+mn-lt"/>
              </a:rPr>
              <a:t>(estado, </a:t>
            </a:r>
            <a:r>
              <a:rPr lang="es-ES" sz="1400" err="1">
                <a:latin typeface="Consolas"/>
                <a:ea typeface="+mn-lt"/>
                <a:cs typeface="+mn-lt"/>
              </a:rPr>
              <a:t>accion</a:t>
            </a:r>
            <a:r>
              <a:rPr lang="es-ES" sz="1400">
                <a:latin typeface="Consolas"/>
                <a:ea typeface="+mn-lt"/>
                <a:cs typeface="+mn-lt"/>
              </a:rPr>
              <a:t>) { // Definición de la función </a:t>
            </a:r>
            <a:r>
              <a:rPr lang="es-ES" sz="1400" err="1">
                <a:latin typeface="Consolas"/>
                <a:ea typeface="+mn-lt"/>
                <a:cs typeface="+mn-lt"/>
              </a:rPr>
              <a:t>reducer</a:t>
            </a:r>
            <a:r>
              <a:rPr lang="es-ES" sz="1400">
                <a:latin typeface="Consolas"/>
                <a:ea typeface="+mn-lt"/>
                <a:cs typeface="+mn-lt"/>
              </a:rPr>
              <a:t>: Esta maneja dos acciones: </a:t>
            </a:r>
            <a:br>
              <a:rPr lang="es-ES" sz="1400">
                <a:latin typeface="Consolas"/>
                <a:ea typeface="+mn-lt"/>
                <a:cs typeface="+mn-lt"/>
              </a:rPr>
            </a:br>
            <a:r>
              <a:rPr lang="es-ES" sz="1400">
                <a:latin typeface="Consolas"/>
                <a:ea typeface="+mn-lt"/>
                <a:cs typeface="+mn-lt"/>
              </a:rPr>
              <a:t>   switch (</a:t>
            </a:r>
            <a:r>
              <a:rPr lang="es-ES" sz="1400" err="1">
                <a:latin typeface="Consolas"/>
                <a:ea typeface="+mn-lt"/>
                <a:cs typeface="+mn-lt"/>
              </a:rPr>
              <a:t>accion.type</a:t>
            </a:r>
            <a:r>
              <a:rPr lang="es-ES" sz="1400">
                <a:latin typeface="Consolas"/>
                <a:ea typeface="+mn-lt"/>
                <a:cs typeface="+mn-lt"/>
              </a:rPr>
              <a:t>) {</a:t>
            </a:r>
            <a:br>
              <a:rPr lang="es-ES" sz="1400">
                <a:latin typeface="Consolas"/>
                <a:ea typeface="+mn-lt"/>
                <a:cs typeface="+mn-lt"/>
              </a:rPr>
            </a:br>
            <a:r>
              <a:rPr lang="es-ES" sz="1400">
                <a:latin typeface="Consolas"/>
                <a:ea typeface="+mn-lt"/>
                <a:cs typeface="+mn-lt"/>
              </a:rPr>
              <a:t>       case '</a:t>
            </a:r>
            <a:r>
              <a:rPr lang="es-ES" sz="1400" err="1">
                <a:latin typeface="Consolas"/>
                <a:ea typeface="+mn-lt"/>
                <a:cs typeface="+mn-lt"/>
              </a:rPr>
              <a:t>cambiarCampo</a:t>
            </a:r>
            <a:r>
              <a:rPr lang="es-ES" sz="1400">
                <a:latin typeface="Consolas"/>
                <a:ea typeface="+mn-lt"/>
                <a:cs typeface="+mn-lt"/>
              </a:rPr>
              <a:t>':        // </a:t>
            </a:r>
            <a:r>
              <a:rPr lang="es-ES" sz="1400" err="1">
                <a:latin typeface="Consolas"/>
                <a:ea typeface="+mn-lt"/>
                <a:cs typeface="+mn-lt"/>
              </a:rPr>
              <a:t>cambiarCampo</a:t>
            </a:r>
            <a:r>
              <a:rPr lang="es-ES" sz="1400">
                <a:latin typeface="Consolas"/>
                <a:ea typeface="+mn-lt"/>
                <a:cs typeface="+mn-lt"/>
              </a:rPr>
              <a:t> para actualizar un campo específico</a:t>
            </a:r>
            <a:br>
              <a:rPr lang="es-ES" sz="1400">
                <a:latin typeface="Consolas"/>
                <a:ea typeface="+mn-lt"/>
                <a:cs typeface="+mn-lt"/>
              </a:rPr>
            </a:br>
            <a:r>
              <a:rPr lang="es-ES" sz="1400">
                <a:latin typeface="Consolas"/>
                <a:ea typeface="+mn-lt"/>
                <a:cs typeface="+mn-lt"/>
              </a:rPr>
              <a:t>           </a:t>
            </a:r>
            <a:r>
              <a:rPr lang="es-ES" sz="1400" err="1">
                <a:latin typeface="Consolas"/>
                <a:ea typeface="+mn-lt"/>
                <a:cs typeface="+mn-lt"/>
              </a:rPr>
              <a:t>return</a:t>
            </a:r>
            <a:r>
              <a:rPr lang="es-ES" sz="1400">
                <a:latin typeface="Consolas"/>
                <a:ea typeface="+mn-lt"/>
                <a:cs typeface="+mn-lt"/>
              </a:rPr>
              <a:t> {</a:t>
            </a:r>
            <a:br>
              <a:rPr lang="es-ES" sz="1400">
                <a:latin typeface="Consolas"/>
                <a:ea typeface="+mn-lt"/>
                <a:cs typeface="+mn-lt"/>
              </a:rPr>
            </a:br>
            <a:r>
              <a:rPr lang="es-ES" sz="1400">
                <a:latin typeface="Consolas"/>
                <a:ea typeface="+mn-lt"/>
                <a:cs typeface="+mn-lt"/>
              </a:rPr>
              <a:t>               ...estado,</a:t>
            </a:r>
            <a:br>
              <a:rPr lang="es-ES" sz="1400">
                <a:latin typeface="Consolas"/>
                <a:ea typeface="+mn-lt"/>
                <a:cs typeface="+mn-lt"/>
              </a:rPr>
            </a:br>
            <a:r>
              <a:rPr lang="es-ES" sz="1400">
                <a:latin typeface="Consolas"/>
                <a:ea typeface="+mn-lt"/>
                <a:cs typeface="+mn-lt"/>
              </a:rPr>
              <a:t>               [</a:t>
            </a:r>
            <a:r>
              <a:rPr lang="es-ES" sz="1400" err="1">
                <a:latin typeface="Consolas"/>
                <a:ea typeface="+mn-lt"/>
                <a:cs typeface="+mn-lt"/>
              </a:rPr>
              <a:t>accion.campo</a:t>
            </a:r>
            <a:r>
              <a:rPr lang="es-ES" sz="1400">
                <a:latin typeface="Consolas"/>
                <a:ea typeface="+mn-lt"/>
                <a:cs typeface="+mn-lt"/>
              </a:rPr>
              <a:t>]: </a:t>
            </a:r>
            <a:r>
              <a:rPr lang="es-ES" sz="1400" err="1">
                <a:latin typeface="Consolas"/>
                <a:ea typeface="+mn-lt"/>
                <a:cs typeface="+mn-lt"/>
              </a:rPr>
              <a:t>accion.valor</a:t>
            </a:r>
            <a:br>
              <a:rPr lang="es-ES" sz="1400">
                <a:latin typeface="Consolas"/>
                <a:ea typeface="+mn-lt"/>
                <a:cs typeface="+mn-lt"/>
              </a:rPr>
            </a:br>
            <a:r>
              <a:rPr lang="es-ES" sz="1400">
                <a:latin typeface="Consolas"/>
                <a:ea typeface="+mn-lt"/>
                <a:cs typeface="+mn-lt"/>
              </a:rPr>
              <a:t>           };</a:t>
            </a:r>
            <a:br>
              <a:rPr lang="es-ES" sz="1400">
                <a:latin typeface="Consolas"/>
                <a:ea typeface="+mn-lt"/>
                <a:cs typeface="+mn-lt"/>
              </a:rPr>
            </a:br>
            <a:r>
              <a:rPr lang="es-ES" sz="1400">
                <a:latin typeface="Consolas"/>
                <a:ea typeface="+mn-lt"/>
                <a:cs typeface="+mn-lt"/>
              </a:rPr>
              <a:t>       case 'resetear':            // y resetear para restablecer el estado al valor inicial.</a:t>
            </a:r>
            <a:br>
              <a:rPr lang="es-ES" sz="1400">
                <a:latin typeface="Consolas"/>
                <a:ea typeface="+mn-lt"/>
                <a:cs typeface="+mn-lt"/>
              </a:rPr>
            </a:br>
            <a:r>
              <a:rPr lang="es-ES" sz="1400">
                <a:latin typeface="Consolas"/>
                <a:ea typeface="+mn-lt"/>
                <a:cs typeface="+mn-lt"/>
              </a:rPr>
              <a:t>           </a:t>
            </a:r>
            <a:r>
              <a:rPr lang="es-ES" sz="1400" err="1">
                <a:latin typeface="Consolas"/>
                <a:ea typeface="+mn-lt"/>
                <a:cs typeface="+mn-lt"/>
              </a:rPr>
              <a:t>return</a:t>
            </a:r>
            <a:r>
              <a:rPr lang="es-ES" sz="1400">
                <a:latin typeface="Consolas"/>
                <a:ea typeface="+mn-lt"/>
                <a:cs typeface="+mn-lt"/>
              </a:rPr>
              <a:t> </a:t>
            </a:r>
            <a:r>
              <a:rPr lang="es-ES" sz="1400" err="1">
                <a:latin typeface="Consolas"/>
                <a:ea typeface="+mn-lt"/>
                <a:cs typeface="+mn-lt"/>
              </a:rPr>
              <a:t>accion.estadoInicial</a:t>
            </a:r>
            <a:r>
              <a:rPr lang="es-ES" sz="1400">
                <a:latin typeface="Consolas"/>
                <a:ea typeface="+mn-lt"/>
                <a:cs typeface="+mn-lt"/>
              </a:rPr>
              <a:t>;</a:t>
            </a:r>
            <a:br>
              <a:rPr lang="es-ES" sz="1400">
                <a:latin typeface="Consolas"/>
                <a:ea typeface="+mn-lt"/>
                <a:cs typeface="+mn-lt"/>
              </a:rPr>
            </a:br>
            <a:r>
              <a:rPr lang="es-ES" sz="1400">
                <a:latin typeface="Consolas"/>
                <a:ea typeface="+mn-lt"/>
                <a:cs typeface="+mn-lt"/>
              </a:rPr>
              <a:t>       default:</a:t>
            </a:r>
            <a:br>
              <a:rPr lang="es-ES" sz="1400">
                <a:latin typeface="Consolas"/>
                <a:ea typeface="+mn-lt"/>
                <a:cs typeface="+mn-lt"/>
              </a:rPr>
            </a:br>
            <a:r>
              <a:rPr lang="es-ES" sz="1400">
                <a:latin typeface="Consolas"/>
                <a:ea typeface="+mn-lt"/>
                <a:cs typeface="+mn-lt"/>
              </a:rPr>
              <a:t>           </a:t>
            </a:r>
            <a:r>
              <a:rPr lang="es-ES" sz="1400" err="1">
                <a:latin typeface="Consolas"/>
                <a:ea typeface="+mn-lt"/>
                <a:cs typeface="+mn-lt"/>
              </a:rPr>
              <a:t>return</a:t>
            </a:r>
            <a:r>
              <a:rPr lang="es-ES" sz="1400">
                <a:latin typeface="Consolas"/>
                <a:ea typeface="+mn-lt"/>
                <a:cs typeface="+mn-lt"/>
              </a:rPr>
              <a:t> estado;</a:t>
            </a:r>
            <a:br>
              <a:rPr lang="es-ES" sz="1400">
                <a:latin typeface="Consolas"/>
                <a:ea typeface="+mn-lt"/>
                <a:cs typeface="+mn-lt"/>
              </a:rPr>
            </a:br>
            <a:r>
              <a:rPr lang="es-ES" sz="1400">
                <a:latin typeface="Consolas"/>
                <a:ea typeface="+mn-lt"/>
                <a:cs typeface="+mn-lt"/>
              </a:rPr>
              <a:t>   }</a:t>
            </a:r>
            <a:br>
              <a:rPr lang="es-ES" sz="1400">
                <a:latin typeface="Consolas"/>
                <a:ea typeface="+mn-lt"/>
                <a:cs typeface="+mn-lt"/>
              </a:rPr>
            </a:br>
            <a:r>
              <a:rPr lang="es-ES" sz="1400">
                <a:latin typeface="Consolas"/>
                <a:ea typeface="+mn-lt"/>
                <a:cs typeface="+mn-lt"/>
              </a:rPr>
              <a:t>}</a:t>
            </a:r>
          </a:p>
          <a:p>
            <a:endParaRPr lang="es-ES"/>
          </a:p>
        </p:txBody>
      </p:sp>
    </p:spTree>
    <p:extLst>
      <p:ext uri="{BB962C8B-B14F-4D97-AF65-F5344CB8AC3E}">
        <p14:creationId xmlns:p14="http://schemas.microsoft.com/office/powerpoint/2010/main" val="41381187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8D179-457C-5152-B044-EAC123EA6D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67AD43-2A84-E6B5-5514-09B6D41AC215}"/>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useReducer</a:t>
            </a:r>
            <a:r>
              <a:rPr lang="es-ES">
                <a:latin typeface="Calibri"/>
                <a:ea typeface="Calibri"/>
                <a:cs typeface="Calibri"/>
              </a:rPr>
              <a:t> para manejo avanzado del estado. Ejemplo 2</a:t>
            </a:r>
          </a:p>
        </p:txBody>
      </p:sp>
      <p:sp>
        <p:nvSpPr>
          <p:cNvPr id="3" name="Marcador de contenido 2">
            <a:extLst>
              <a:ext uri="{FF2B5EF4-FFF2-40B4-BE49-F238E27FC236}">
                <a16:creationId xmlns:a16="http://schemas.microsoft.com/office/drawing/2014/main" id="{64AD9D8F-1195-CDCC-3610-4700EBDB57F8}"/>
              </a:ext>
            </a:extLst>
          </p:cNvPr>
          <p:cNvSpPr>
            <a:spLocks noGrp="1"/>
          </p:cNvSpPr>
          <p:nvPr>
            <p:ph idx="1"/>
          </p:nvPr>
        </p:nvSpPr>
        <p:spPr/>
        <p:txBody>
          <a:bodyPr vert="horz" lIns="91440" tIns="45720" rIns="91440" bIns="45720" rtlCol="0" anchor="t">
            <a:noAutofit/>
          </a:bodyPr>
          <a:lstStyle/>
          <a:p>
            <a:r>
              <a:rPr lang="es-ES" sz="900" dirty="0" err="1">
                <a:latin typeface="Consolas"/>
                <a:ea typeface="+mn-lt"/>
                <a:cs typeface="+mn-lt"/>
              </a:rPr>
              <a:t>function</a:t>
            </a:r>
            <a:r>
              <a:rPr lang="es-ES" sz="900" dirty="0">
                <a:latin typeface="Consolas"/>
                <a:ea typeface="+mn-lt"/>
                <a:cs typeface="+mn-lt"/>
              </a:rPr>
              <a:t> Formulario() {</a:t>
            </a:r>
            <a:br>
              <a:rPr lang="es-ES" sz="900" dirty="0">
                <a:latin typeface="Consolas"/>
                <a:ea typeface="+mn-lt"/>
                <a:cs typeface="+mn-lt"/>
              </a:rPr>
            </a:br>
            <a:r>
              <a:rPr lang="es-ES" sz="900" dirty="0">
                <a:latin typeface="Consolas"/>
                <a:ea typeface="+mn-lt"/>
                <a:cs typeface="+mn-lt"/>
              </a:rPr>
              <a:t>   </a:t>
            </a:r>
            <a:r>
              <a:rPr lang="es-ES" sz="900" dirty="0" err="1">
                <a:latin typeface="Consolas"/>
                <a:ea typeface="+mn-lt"/>
                <a:cs typeface="+mn-lt"/>
              </a:rPr>
              <a:t>const</a:t>
            </a:r>
            <a:r>
              <a:rPr lang="es-ES" sz="900" dirty="0">
                <a:latin typeface="Consolas"/>
                <a:ea typeface="+mn-lt"/>
                <a:cs typeface="+mn-lt"/>
              </a:rPr>
              <a:t> </a:t>
            </a:r>
            <a:r>
              <a:rPr lang="es-ES" sz="900" dirty="0" err="1">
                <a:latin typeface="Consolas"/>
                <a:ea typeface="+mn-lt"/>
                <a:cs typeface="+mn-lt"/>
              </a:rPr>
              <a:t>estadoInicial</a:t>
            </a:r>
            <a:r>
              <a:rPr lang="es-ES" sz="900" dirty="0">
                <a:latin typeface="Consolas"/>
                <a:ea typeface="+mn-lt"/>
                <a:cs typeface="+mn-lt"/>
              </a:rPr>
              <a:t> = { nombre: '', email: '' };</a:t>
            </a:r>
            <a:br>
              <a:rPr lang="es-ES" sz="900" dirty="0">
                <a:latin typeface="Consolas"/>
                <a:ea typeface="+mn-lt"/>
                <a:cs typeface="+mn-lt"/>
              </a:rPr>
            </a:br>
            <a:r>
              <a:rPr lang="es-ES" sz="900" dirty="0">
                <a:latin typeface="Consolas"/>
                <a:ea typeface="+mn-lt"/>
                <a:cs typeface="+mn-lt"/>
              </a:rPr>
              <a:t>   </a:t>
            </a:r>
            <a:r>
              <a:rPr lang="es-ES" sz="900" dirty="0" err="1">
                <a:latin typeface="Consolas"/>
                <a:ea typeface="+mn-lt"/>
                <a:cs typeface="+mn-lt"/>
              </a:rPr>
              <a:t>const</a:t>
            </a:r>
            <a:r>
              <a:rPr lang="es-ES" sz="900" dirty="0">
                <a:latin typeface="Consolas"/>
                <a:ea typeface="+mn-lt"/>
                <a:cs typeface="+mn-lt"/>
              </a:rPr>
              <a:t> [estado, disparador] = </a:t>
            </a:r>
            <a:r>
              <a:rPr lang="es-ES" sz="900" dirty="0" err="1">
                <a:latin typeface="Consolas"/>
                <a:ea typeface="+mn-lt"/>
                <a:cs typeface="+mn-lt"/>
              </a:rPr>
              <a:t>useReducer</a:t>
            </a:r>
            <a:r>
              <a:rPr lang="es-ES" sz="900" dirty="0">
                <a:latin typeface="Consolas"/>
                <a:ea typeface="+mn-lt"/>
                <a:cs typeface="+mn-lt"/>
              </a:rPr>
              <a:t>(</a:t>
            </a:r>
            <a:r>
              <a:rPr lang="es-ES" sz="900" dirty="0" err="1">
                <a:latin typeface="Consolas"/>
                <a:ea typeface="+mn-lt"/>
                <a:cs typeface="+mn-lt"/>
              </a:rPr>
              <a:t>reducer</a:t>
            </a:r>
            <a:r>
              <a:rPr lang="es-ES" sz="900" dirty="0">
                <a:latin typeface="Consolas"/>
                <a:ea typeface="+mn-lt"/>
                <a:cs typeface="+mn-lt"/>
              </a:rPr>
              <a:t>, </a:t>
            </a:r>
            <a:r>
              <a:rPr lang="es-ES" sz="900" dirty="0" err="1">
                <a:latin typeface="Consolas"/>
                <a:ea typeface="+mn-lt"/>
                <a:cs typeface="+mn-lt"/>
              </a:rPr>
              <a:t>estadoInicial</a:t>
            </a:r>
            <a:r>
              <a:rPr lang="es-ES" sz="900" dirty="0">
                <a:latin typeface="Consolas"/>
                <a:ea typeface="+mn-lt"/>
                <a:cs typeface="+mn-lt"/>
              </a:rPr>
              <a:t>);  //Llamamos a </a:t>
            </a:r>
            <a:r>
              <a:rPr lang="es-ES" sz="900" dirty="0" err="1">
                <a:latin typeface="Consolas"/>
                <a:ea typeface="+mn-lt"/>
                <a:cs typeface="+mn-lt"/>
              </a:rPr>
              <a:t>useReducer</a:t>
            </a:r>
            <a:r>
              <a:rPr lang="es-ES" sz="900" dirty="0">
                <a:latin typeface="Consolas"/>
                <a:ea typeface="+mn-lt"/>
                <a:cs typeface="+mn-lt"/>
              </a:rPr>
              <a:t> con el </a:t>
            </a:r>
            <a:r>
              <a:rPr lang="es-ES" sz="900" dirty="0" err="1">
                <a:latin typeface="Consolas"/>
                <a:ea typeface="+mn-lt"/>
                <a:cs typeface="+mn-lt"/>
              </a:rPr>
              <a:t>reducer</a:t>
            </a:r>
            <a:r>
              <a:rPr lang="es-ES" sz="900" dirty="0">
                <a:latin typeface="Consolas"/>
                <a:ea typeface="+mn-lt"/>
                <a:cs typeface="+mn-lt"/>
              </a:rPr>
              <a:t> y el estado inicial. Y</a:t>
            </a:r>
            <a:br>
              <a:rPr lang="es-ES" sz="900" dirty="0">
                <a:latin typeface="Consolas"/>
                <a:ea typeface="+mn-lt"/>
                <a:cs typeface="+mn-lt"/>
              </a:rPr>
            </a:br>
            <a:r>
              <a:rPr lang="es-ES" sz="900" dirty="0">
                <a:latin typeface="Consolas"/>
                <a:ea typeface="+mn-lt"/>
                <a:cs typeface="+mn-lt"/>
              </a:rPr>
              <a:t>   </a:t>
            </a:r>
            <a:r>
              <a:rPr lang="es-ES" sz="900" dirty="0" err="1">
                <a:latin typeface="Consolas"/>
                <a:ea typeface="+mn-lt"/>
                <a:cs typeface="+mn-lt"/>
              </a:rPr>
              <a:t>const</a:t>
            </a:r>
            <a:r>
              <a:rPr lang="es-ES" sz="900" dirty="0">
                <a:latin typeface="Consolas"/>
                <a:ea typeface="+mn-lt"/>
                <a:cs typeface="+mn-lt"/>
              </a:rPr>
              <a:t> </a:t>
            </a:r>
            <a:r>
              <a:rPr lang="es-ES" sz="900" dirty="0" err="1">
                <a:latin typeface="Consolas"/>
                <a:ea typeface="+mn-lt"/>
                <a:cs typeface="+mn-lt"/>
              </a:rPr>
              <a:t>manejarCambio</a:t>
            </a:r>
            <a:r>
              <a:rPr lang="es-ES" sz="900" dirty="0">
                <a:latin typeface="Consolas"/>
                <a:ea typeface="+mn-lt"/>
                <a:cs typeface="+mn-lt"/>
              </a:rPr>
              <a:t> = (e) =&gt; {                                    // nos devuelve el estado actual y la función disparadora.</a:t>
            </a:r>
            <a:br>
              <a:rPr lang="es-ES" sz="900" dirty="0">
                <a:latin typeface="Consolas"/>
                <a:ea typeface="+mn-lt"/>
                <a:cs typeface="+mn-lt"/>
              </a:rPr>
            </a:br>
            <a:r>
              <a:rPr lang="es-ES" sz="900" dirty="0">
                <a:latin typeface="Consolas"/>
                <a:ea typeface="+mn-lt"/>
                <a:cs typeface="+mn-lt"/>
              </a:rPr>
              <a:t>       </a:t>
            </a:r>
            <a:r>
              <a:rPr lang="es-ES" sz="900" dirty="0" err="1">
                <a:latin typeface="Consolas"/>
                <a:ea typeface="+mn-lt"/>
                <a:cs typeface="+mn-lt"/>
              </a:rPr>
              <a:t>const</a:t>
            </a:r>
            <a:r>
              <a:rPr lang="es-ES" sz="900" dirty="0">
                <a:latin typeface="Consolas"/>
                <a:ea typeface="+mn-lt"/>
                <a:cs typeface="+mn-lt"/>
              </a:rPr>
              <a:t> { </a:t>
            </a:r>
            <a:r>
              <a:rPr lang="es-ES" sz="900" dirty="0" err="1">
                <a:latin typeface="Consolas"/>
                <a:ea typeface="+mn-lt"/>
                <a:cs typeface="+mn-lt"/>
              </a:rPr>
              <a:t>name</a:t>
            </a:r>
            <a:r>
              <a:rPr lang="es-ES" sz="900" dirty="0">
                <a:latin typeface="Consolas"/>
                <a:ea typeface="+mn-lt"/>
                <a:cs typeface="+mn-lt"/>
              </a:rPr>
              <a:t>, </a:t>
            </a:r>
            <a:r>
              <a:rPr lang="es-ES" sz="900" dirty="0" err="1">
                <a:latin typeface="Consolas"/>
                <a:ea typeface="+mn-lt"/>
                <a:cs typeface="+mn-lt"/>
              </a:rPr>
              <a:t>value</a:t>
            </a:r>
            <a:r>
              <a:rPr lang="es-ES" sz="900" dirty="0">
                <a:latin typeface="Consolas"/>
                <a:ea typeface="+mn-lt"/>
                <a:cs typeface="+mn-lt"/>
              </a:rPr>
              <a:t> } = </a:t>
            </a:r>
            <a:r>
              <a:rPr lang="es-ES" sz="900" dirty="0" err="1">
                <a:latin typeface="Consolas"/>
                <a:ea typeface="+mn-lt"/>
                <a:cs typeface="+mn-lt"/>
              </a:rPr>
              <a:t>e.taget</a:t>
            </a:r>
            <a:r>
              <a:rPr lang="es-ES" sz="900" dirty="0">
                <a:latin typeface="Consolas"/>
                <a:ea typeface="+mn-lt"/>
                <a:cs typeface="+mn-lt"/>
              </a:rPr>
              <a:t>;</a:t>
            </a:r>
            <a:br>
              <a:rPr lang="es-ES" sz="900" dirty="0">
                <a:latin typeface="Consolas"/>
                <a:ea typeface="+mn-lt"/>
                <a:cs typeface="+mn-lt"/>
              </a:rPr>
            </a:br>
            <a:r>
              <a:rPr lang="es-ES" sz="900" dirty="0">
                <a:latin typeface="Consolas"/>
                <a:ea typeface="+mn-lt"/>
                <a:cs typeface="+mn-lt"/>
              </a:rPr>
              <a:t>       disparador({ </a:t>
            </a:r>
            <a:r>
              <a:rPr lang="es-ES" sz="900" dirty="0" err="1">
                <a:latin typeface="Consolas"/>
                <a:ea typeface="+mn-lt"/>
                <a:cs typeface="+mn-lt"/>
              </a:rPr>
              <a:t>type</a:t>
            </a:r>
            <a:r>
              <a:rPr lang="es-ES" sz="900" dirty="0">
                <a:latin typeface="Consolas"/>
                <a:ea typeface="+mn-lt"/>
                <a:cs typeface="+mn-lt"/>
              </a:rPr>
              <a:t>: '</a:t>
            </a:r>
            <a:r>
              <a:rPr lang="es-ES" sz="900" dirty="0" err="1">
                <a:latin typeface="Consolas"/>
                <a:ea typeface="+mn-lt"/>
                <a:cs typeface="+mn-lt"/>
              </a:rPr>
              <a:t>cambiarCampo</a:t>
            </a:r>
            <a:r>
              <a:rPr lang="es-ES" sz="900" dirty="0">
                <a:latin typeface="Consolas"/>
                <a:ea typeface="+mn-lt"/>
                <a:cs typeface="+mn-lt"/>
              </a:rPr>
              <a:t>', campo: </a:t>
            </a:r>
            <a:r>
              <a:rPr lang="es-ES" sz="900" dirty="0" err="1">
                <a:latin typeface="Consolas"/>
                <a:ea typeface="+mn-lt"/>
                <a:cs typeface="+mn-lt"/>
              </a:rPr>
              <a:t>name</a:t>
            </a:r>
            <a:r>
              <a:rPr lang="es-ES" sz="900" dirty="0">
                <a:latin typeface="Consolas"/>
                <a:ea typeface="+mn-lt"/>
                <a:cs typeface="+mn-lt"/>
              </a:rPr>
              <a:t>, valor: </a:t>
            </a:r>
            <a:r>
              <a:rPr lang="es-ES" sz="900" dirty="0" err="1">
                <a:latin typeface="Consolas"/>
                <a:ea typeface="+mn-lt"/>
                <a:cs typeface="+mn-lt"/>
              </a:rPr>
              <a:t>value</a:t>
            </a:r>
            <a:r>
              <a:rPr lang="es-ES" sz="900" dirty="0">
                <a:latin typeface="Consolas"/>
                <a:ea typeface="+mn-lt"/>
                <a:cs typeface="+mn-lt"/>
              </a:rPr>
              <a:t> });</a:t>
            </a:r>
            <a:br>
              <a:rPr lang="es-ES" sz="900" dirty="0">
                <a:latin typeface="Consolas"/>
                <a:ea typeface="+mn-lt"/>
                <a:cs typeface="+mn-lt"/>
              </a:rPr>
            </a:br>
            <a:r>
              <a:rPr lang="es-ES" sz="900" dirty="0">
                <a:latin typeface="Consolas"/>
                <a:ea typeface="+mn-lt"/>
                <a:cs typeface="+mn-lt"/>
              </a:rPr>
              <a:t>   };</a:t>
            </a:r>
            <a:br>
              <a:rPr lang="es-ES" sz="900" dirty="0">
                <a:latin typeface="Consolas"/>
                <a:ea typeface="+mn-lt"/>
                <a:cs typeface="+mn-lt"/>
              </a:rPr>
            </a:br>
            <a:r>
              <a:rPr lang="es-ES" sz="900" dirty="0">
                <a:latin typeface="Consolas"/>
                <a:ea typeface="+mn-lt"/>
                <a:cs typeface="+mn-lt"/>
              </a:rPr>
              <a:t>   </a:t>
            </a:r>
            <a:r>
              <a:rPr lang="es-ES" sz="900" dirty="0" err="1">
                <a:latin typeface="Consolas"/>
                <a:ea typeface="+mn-lt"/>
                <a:cs typeface="+mn-lt"/>
              </a:rPr>
              <a:t>const</a:t>
            </a:r>
            <a:r>
              <a:rPr lang="es-ES" sz="900" dirty="0">
                <a:latin typeface="Consolas"/>
                <a:ea typeface="+mn-lt"/>
                <a:cs typeface="+mn-lt"/>
              </a:rPr>
              <a:t> </a:t>
            </a:r>
            <a:r>
              <a:rPr lang="es-ES" sz="900" dirty="0" err="1">
                <a:latin typeface="Consolas"/>
                <a:ea typeface="+mn-lt"/>
                <a:cs typeface="+mn-lt"/>
              </a:rPr>
              <a:t>manejarEnvio</a:t>
            </a:r>
            <a:r>
              <a:rPr lang="es-ES" sz="900" dirty="0">
                <a:latin typeface="Consolas"/>
                <a:ea typeface="+mn-lt"/>
                <a:cs typeface="+mn-lt"/>
              </a:rPr>
              <a:t> = (e) =&gt; {</a:t>
            </a:r>
            <a:br>
              <a:rPr lang="es-ES" sz="900" dirty="0">
                <a:latin typeface="Consolas"/>
                <a:ea typeface="+mn-lt"/>
                <a:cs typeface="+mn-lt"/>
              </a:rPr>
            </a:br>
            <a:r>
              <a:rPr lang="es-ES" sz="900" dirty="0">
                <a:latin typeface="Consolas"/>
                <a:ea typeface="+mn-lt"/>
                <a:cs typeface="+mn-lt"/>
              </a:rPr>
              <a:t>       </a:t>
            </a:r>
            <a:r>
              <a:rPr lang="es-ES" sz="900" dirty="0" err="1">
                <a:latin typeface="Consolas"/>
                <a:ea typeface="+mn-lt"/>
                <a:cs typeface="+mn-lt"/>
              </a:rPr>
              <a:t>e.preventDefaul</a:t>
            </a:r>
            <a:r>
              <a:rPr lang="es-ES" sz="900" dirty="0">
                <a:latin typeface="Consolas"/>
                <a:ea typeface="+mn-lt"/>
                <a:cs typeface="+mn-lt"/>
              </a:rPr>
              <a:t>();</a:t>
            </a:r>
            <a:br>
              <a:rPr lang="es-ES" sz="900" dirty="0">
                <a:latin typeface="Consolas"/>
                <a:ea typeface="+mn-lt"/>
                <a:cs typeface="+mn-lt"/>
              </a:rPr>
            </a:br>
            <a:r>
              <a:rPr lang="es-ES" sz="900" dirty="0">
                <a:latin typeface="Consolas"/>
                <a:ea typeface="+mn-lt"/>
                <a:cs typeface="+mn-lt"/>
              </a:rPr>
              <a:t>       console.log(`Nombre: ${</a:t>
            </a:r>
            <a:r>
              <a:rPr lang="es-ES" sz="900" dirty="0" err="1">
                <a:latin typeface="Consolas"/>
                <a:ea typeface="+mn-lt"/>
                <a:cs typeface="+mn-lt"/>
              </a:rPr>
              <a:t>estado.nombre</a:t>
            </a:r>
            <a:r>
              <a:rPr lang="es-ES" sz="900" dirty="0">
                <a:latin typeface="Consolas"/>
                <a:ea typeface="+mn-lt"/>
                <a:cs typeface="+mn-lt"/>
              </a:rPr>
              <a:t>}, Email: ${</a:t>
            </a:r>
            <a:r>
              <a:rPr lang="es-ES" sz="900" dirty="0" err="1">
                <a:latin typeface="Consolas"/>
                <a:ea typeface="+mn-lt"/>
                <a:cs typeface="+mn-lt"/>
              </a:rPr>
              <a:t>estado.email</a:t>
            </a:r>
            <a:r>
              <a:rPr lang="es-ES" sz="900" dirty="0">
                <a:latin typeface="Consolas"/>
                <a:ea typeface="+mn-lt"/>
                <a:cs typeface="+mn-lt"/>
              </a:rPr>
              <a:t>}`);</a:t>
            </a:r>
            <a:br>
              <a:rPr lang="es-ES" sz="900" dirty="0">
                <a:latin typeface="Consolas"/>
                <a:ea typeface="+mn-lt"/>
                <a:cs typeface="+mn-lt"/>
              </a:rPr>
            </a:br>
            <a:r>
              <a:rPr lang="es-ES" sz="900" dirty="0">
                <a:latin typeface="Consolas"/>
                <a:ea typeface="+mn-lt"/>
                <a:cs typeface="+mn-lt"/>
              </a:rPr>
              <a:t>       disparador({ </a:t>
            </a:r>
            <a:r>
              <a:rPr lang="es-ES" sz="900" dirty="0" err="1">
                <a:latin typeface="Consolas"/>
                <a:ea typeface="+mn-lt"/>
                <a:cs typeface="+mn-lt"/>
              </a:rPr>
              <a:t>type</a:t>
            </a:r>
            <a:r>
              <a:rPr lang="es-ES" sz="900" dirty="0">
                <a:latin typeface="Consolas"/>
                <a:ea typeface="+mn-lt"/>
                <a:cs typeface="+mn-lt"/>
              </a:rPr>
              <a:t>: 'resetear', </a:t>
            </a:r>
            <a:r>
              <a:rPr lang="es-ES" sz="900" dirty="0" err="1">
                <a:latin typeface="Consolas"/>
                <a:ea typeface="+mn-lt"/>
                <a:cs typeface="+mn-lt"/>
              </a:rPr>
              <a:t>estadoInicial</a:t>
            </a:r>
            <a:r>
              <a:rPr lang="es-ES" sz="900" dirty="0">
                <a:latin typeface="Consolas"/>
                <a:ea typeface="+mn-lt"/>
                <a:cs typeface="+mn-lt"/>
              </a:rPr>
              <a:t> });</a:t>
            </a:r>
            <a:br>
              <a:rPr lang="es-ES" sz="900" dirty="0">
                <a:latin typeface="Consolas"/>
                <a:ea typeface="+mn-lt"/>
                <a:cs typeface="+mn-lt"/>
              </a:rPr>
            </a:br>
            <a:r>
              <a:rPr lang="es-ES" sz="900" dirty="0">
                <a:latin typeface="Consolas"/>
                <a:ea typeface="+mn-lt"/>
                <a:cs typeface="+mn-lt"/>
              </a:rPr>
              <a:t>   };</a:t>
            </a:r>
            <a:br>
              <a:rPr lang="es-ES" sz="900" dirty="0">
                <a:latin typeface="Consolas"/>
                <a:ea typeface="+mn-lt"/>
                <a:cs typeface="+mn-lt"/>
              </a:rPr>
            </a:br>
            <a:r>
              <a:rPr lang="es-ES" sz="900" dirty="0">
                <a:latin typeface="Consolas"/>
                <a:ea typeface="+mn-lt"/>
                <a:cs typeface="+mn-lt"/>
              </a:rPr>
              <a:t>   </a:t>
            </a:r>
            <a:r>
              <a:rPr lang="es-ES" sz="900" dirty="0" err="1">
                <a:latin typeface="Consolas"/>
                <a:ea typeface="+mn-lt"/>
                <a:cs typeface="+mn-lt"/>
              </a:rPr>
              <a:t>return</a:t>
            </a:r>
            <a:r>
              <a:rPr lang="es-ES" sz="900" dirty="0">
                <a:latin typeface="Consolas"/>
                <a:ea typeface="+mn-lt"/>
                <a:cs typeface="+mn-lt"/>
              </a:rPr>
              <a:t> (</a:t>
            </a:r>
            <a:br>
              <a:rPr lang="es-ES" sz="900" dirty="0">
                <a:latin typeface="Consolas"/>
                <a:ea typeface="+mn-lt"/>
                <a:cs typeface="+mn-lt"/>
              </a:rPr>
            </a:br>
            <a:r>
              <a:rPr lang="es-ES" sz="900" dirty="0">
                <a:latin typeface="Consolas"/>
                <a:ea typeface="+mn-lt"/>
                <a:cs typeface="+mn-lt"/>
              </a:rPr>
              <a:t>       &lt;</a:t>
            </a:r>
            <a:r>
              <a:rPr lang="es-ES" sz="900" dirty="0" err="1">
                <a:latin typeface="Consolas"/>
                <a:ea typeface="+mn-lt"/>
                <a:cs typeface="+mn-lt"/>
              </a:rPr>
              <a:t>form</a:t>
            </a:r>
            <a:r>
              <a:rPr lang="es-ES" sz="900" dirty="0">
                <a:latin typeface="Consolas"/>
                <a:ea typeface="+mn-lt"/>
                <a:cs typeface="+mn-lt"/>
              </a:rPr>
              <a:t> </a:t>
            </a:r>
            <a:r>
              <a:rPr lang="es-ES" sz="900" dirty="0" err="1">
                <a:latin typeface="Consolas"/>
                <a:ea typeface="+mn-lt"/>
                <a:cs typeface="+mn-lt"/>
              </a:rPr>
              <a:t>onSubmit</a:t>
            </a:r>
            <a:r>
              <a:rPr lang="es-ES" sz="900" dirty="0">
                <a:latin typeface="Consolas"/>
                <a:ea typeface="+mn-lt"/>
                <a:cs typeface="+mn-lt"/>
              </a:rPr>
              <a:t>={</a:t>
            </a:r>
            <a:r>
              <a:rPr lang="es-ES" sz="900" dirty="0" err="1">
                <a:latin typeface="Consolas"/>
                <a:ea typeface="+mn-lt"/>
                <a:cs typeface="+mn-lt"/>
              </a:rPr>
              <a:t>manejarEnvio</a:t>
            </a:r>
            <a:r>
              <a:rPr lang="es-ES" sz="900" dirty="0">
                <a:latin typeface="Consolas"/>
                <a:ea typeface="+mn-lt"/>
                <a:cs typeface="+mn-lt"/>
              </a:rPr>
              <a:t>}&gt;      //La función </a:t>
            </a:r>
            <a:r>
              <a:rPr lang="es-ES" sz="900" dirty="0" err="1">
                <a:latin typeface="Consolas"/>
                <a:ea typeface="+mn-lt"/>
                <a:cs typeface="+mn-lt"/>
              </a:rPr>
              <a:t>manejarEnvio</a:t>
            </a:r>
            <a:r>
              <a:rPr lang="es-ES" sz="900" dirty="0">
                <a:latin typeface="Consolas"/>
                <a:ea typeface="+mn-lt"/>
                <a:cs typeface="+mn-lt"/>
              </a:rPr>
              <a:t> se ejecuta cuando el usuario envía el formulario.</a:t>
            </a:r>
            <a:br>
              <a:rPr lang="es-ES" sz="900" dirty="0">
                <a:latin typeface="Consolas"/>
                <a:ea typeface="+mn-lt"/>
                <a:cs typeface="+mn-lt"/>
              </a:rPr>
            </a:br>
            <a:r>
              <a:rPr lang="es-ES" sz="900" dirty="0">
                <a:latin typeface="Consolas"/>
                <a:ea typeface="+mn-lt"/>
                <a:cs typeface="+mn-lt"/>
              </a:rPr>
              <a:t>           &lt;input   </a:t>
            </a:r>
            <a:r>
              <a:rPr lang="es-ES" sz="900" dirty="0" err="1">
                <a:latin typeface="Consolas"/>
                <a:ea typeface="+mn-lt"/>
                <a:cs typeface="+mn-lt"/>
              </a:rPr>
              <a:t>type</a:t>
            </a:r>
            <a:r>
              <a:rPr lang="es-ES" sz="900" dirty="0">
                <a:latin typeface="Consolas"/>
                <a:ea typeface="+mn-lt"/>
                <a:cs typeface="+mn-lt"/>
              </a:rPr>
              <a:t>="</a:t>
            </a:r>
            <a:r>
              <a:rPr lang="es-ES" sz="900" dirty="0" err="1">
                <a:latin typeface="Consolas"/>
                <a:ea typeface="+mn-lt"/>
                <a:cs typeface="+mn-lt"/>
              </a:rPr>
              <a:t>text</a:t>
            </a:r>
            <a:r>
              <a:rPr lang="es-ES" sz="900" dirty="0">
                <a:latin typeface="Consolas"/>
                <a:ea typeface="+mn-lt"/>
                <a:cs typeface="+mn-lt"/>
              </a:rPr>
              <a:t>"  </a:t>
            </a:r>
            <a:r>
              <a:rPr lang="es-ES" sz="900" dirty="0" err="1">
                <a:latin typeface="Consolas"/>
                <a:ea typeface="+mn-lt"/>
                <a:cs typeface="+mn-lt"/>
              </a:rPr>
              <a:t>name</a:t>
            </a:r>
            <a:r>
              <a:rPr lang="es-ES" sz="900" dirty="0">
                <a:latin typeface="Consolas"/>
                <a:ea typeface="+mn-lt"/>
                <a:cs typeface="+mn-lt"/>
              </a:rPr>
              <a:t>="nombre"   </a:t>
            </a:r>
            <a:r>
              <a:rPr lang="es-ES" sz="900" dirty="0" err="1">
                <a:latin typeface="Consolas"/>
                <a:ea typeface="+mn-lt"/>
                <a:cs typeface="+mn-lt"/>
              </a:rPr>
              <a:t>placeholder</a:t>
            </a:r>
            <a:r>
              <a:rPr lang="es-ES" sz="900" dirty="0">
                <a:latin typeface="Consolas"/>
                <a:ea typeface="+mn-lt"/>
                <a:cs typeface="+mn-lt"/>
              </a:rPr>
              <a:t>="Nombre"  </a:t>
            </a:r>
            <a:r>
              <a:rPr lang="es-ES" sz="900" dirty="0" err="1">
                <a:latin typeface="Consolas"/>
                <a:ea typeface="+mn-lt"/>
                <a:cs typeface="+mn-lt"/>
              </a:rPr>
              <a:t>value</a:t>
            </a:r>
            <a:r>
              <a:rPr lang="es-ES" sz="900" dirty="0">
                <a:latin typeface="Consolas"/>
                <a:ea typeface="+mn-lt"/>
                <a:cs typeface="+mn-lt"/>
              </a:rPr>
              <a:t>={</a:t>
            </a:r>
            <a:r>
              <a:rPr lang="es-ES" sz="900" dirty="0" err="1">
                <a:latin typeface="Consolas"/>
                <a:ea typeface="+mn-lt"/>
                <a:cs typeface="+mn-lt"/>
              </a:rPr>
              <a:t>estado.nombre</a:t>
            </a:r>
            <a:r>
              <a:rPr lang="es-ES" sz="900" dirty="0">
                <a:latin typeface="Consolas"/>
                <a:ea typeface="+mn-lt"/>
                <a:cs typeface="+mn-lt"/>
              </a:rPr>
              <a:t>}</a:t>
            </a:r>
            <a:br>
              <a:rPr lang="es-ES" sz="900" dirty="0">
                <a:latin typeface="Consolas"/>
                <a:ea typeface="+mn-lt"/>
                <a:cs typeface="+mn-lt"/>
              </a:rPr>
            </a:br>
            <a:r>
              <a:rPr lang="es-ES" sz="900" dirty="0">
                <a:latin typeface="Consolas"/>
                <a:ea typeface="+mn-lt"/>
                <a:cs typeface="+mn-lt"/>
              </a:rPr>
              <a:t>               </a:t>
            </a:r>
            <a:r>
              <a:rPr lang="es-ES" sz="900" dirty="0" err="1">
                <a:latin typeface="Consolas"/>
                <a:ea typeface="+mn-lt"/>
                <a:cs typeface="+mn-lt"/>
              </a:rPr>
              <a:t>onChange</a:t>
            </a:r>
            <a:r>
              <a:rPr lang="es-ES" sz="900" dirty="0">
                <a:latin typeface="Consolas"/>
                <a:ea typeface="+mn-lt"/>
                <a:cs typeface="+mn-lt"/>
              </a:rPr>
              <a:t>={</a:t>
            </a:r>
            <a:r>
              <a:rPr lang="es-ES" sz="900" dirty="0" err="1">
                <a:latin typeface="Consolas"/>
                <a:ea typeface="+mn-lt"/>
                <a:cs typeface="+mn-lt"/>
              </a:rPr>
              <a:t>manejarCambio</a:t>
            </a:r>
            <a:r>
              <a:rPr lang="es-ES" sz="900" dirty="0">
                <a:latin typeface="Consolas"/>
                <a:ea typeface="+mn-lt"/>
                <a:cs typeface="+mn-lt"/>
              </a:rPr>
              <a:t>}    // La función </a:t>
            </a:r>
            <a:r>
              <a:rPr lang="es-ES" sz="900" dirty="0" err="1">
                <a:latin typeface="Consolas"/>
                <a:ea typeface="+mn-lt"/>
                <a:cs typeface="+mn-lt"/>
              </a:rPr>
              <a:t>manejarCambio</a:t>
            </a:r>
            <a:r>
              <a:rPr lang="es-ES" sz="900" dirty="0">
                <a:latin typeface="Consolas"/>
                <a:ea typeface="+mn-lt"/>
                <a:cs typeface="+mn-lt"/>
              </a:rPr>
              <a:t> se ejecuta cuando el usuario escribe en los campos del formulario.            </a:t>
            </a:r>
            <a:br>
              <a:rPr lang="es-ES" sz="900" dirty="0">
                <a:latin typeface="Consolas"/>
                <a:ea typeface="+mn-lt"/>
                <a:cs typeface="+mn-lt"/>
              </a:rPr>
            </a:br>
            <a:r>
              <a:rPr lang="es-ES" sz="900" dirty="0">
                <a:latin typeface="Consolas"/>
                <a:ea typeface="+mn-lt"/>
                <a:cs typeface="+mn-lt"/>
              </a:rPr>
              <a:t>           /&gt;</a:t>
            </a:r>
            <a:br>
              <a:rPr lang="es-ES" sz="900" dirty="0">
                <a:latin typeface="Consolas"/>
                <a:ea typeface="+mn-lt"/>
                <a:cs typeface="+mn-lt"/>
              </a:rPr>
            </a:br>
            <a:r>
              <a:rPr lang="es-ES" sz="900" dirty="0">
                <a:latin typeface="Consolas"/>
                <a:ea typeface="+mn-lt"/>
                <a:cs typeface="+mn-lt"/>
              </a:rPr>
              <a:t>           &lt;input   </a:t>
            </a:r>
            <a:r>
              <a:rPr lang="es-ES" sz="900" dirty="0" err="1">
                <a:latin typeface="Consolas"/>
                <a:ea typeface="+mn-lt"/>
                <a:cs typeface="+mn-lt"/>
              </a:rPr>
              <a:t>type</a:t>
            </a:r>
            <a:r>
              <a:rPr lang="es-ES" sz="900" dirty="0">
                <a:latin typeface="Consolas"/>
                <a:ea typeface="+mn-lt"/>
                <a:cs typeface="+mn-lt"/>
              </a:rPr>
              <a:t>="email"  </a:t>
            </a:r>
            <a:r>
              <a:rPr lang="es-ES" sz="900" dirty="0" err="1">
                <a:latin typeface="Consolas"/>
                <a:ea typeface="+mn-lt"/>
                <a:cs typeface="+mn-lt"/>
              </a:rPr>
              <a:t>name</a:t>
            </a:r>
            <a:r>
              <a:rPr lang="es-ES" sz="900" dirty="0">
                <a:latin typeface="Consolas"/>
                <a:ea typeface="+mn-lt"/>
                <a:cs typeface="+mn-lt"/>
              </a:rPr>
              <a:t>="email"   </a:t>
            </a:r>
            <a:r>
              <a:rPr lang="es-ES" sz="900" dirty="0" err="1">
                <a:latin typeface="Consolas"/>
                <a:ea typeface="+mn-lt"/>
                <a:cs typeface="+mn-lt"/>
              </a:rPr>
              <a:t>placeholder</a:t>
            </a:r>
            <a:r>
              <a:rPr lang="es-ES" sz="900" dirty="0">
                <a:latin typeface="Consolas"/>
                <a:ea typeface="+mn-lt"/>
                <a:cs typeface="+mn-lt"/>
              </a:rPr>
              <a:t>="Email"    </a:t>
            </a:r>
            <a:r>
              <a:rPr lang="es-ES" sz="900" dirty="0" err="1">
                <a:latin typeface="Consolas"/>
                <a:ea typeface="+mn-lt"/>
                <a:cs typeface="+mn-lt"/>
              </a:rPr>
              <a:t>value</a:t>
            </a:r>
            <a:r>
              <a:rPr lang="es-ES" sz="900" dirty="0">
                <a:latin typeface="Consolas"/>
                <a:ea typeface="+mn-lt"/>
                <a:cs typeface="+mn-lt"/>
              </a:rPr>
              <a:t>={</a:t>
            </a:r>
            <a:r>
              <a:rPr lang="es-ES" sz="900" dirty="0" err="1">
                <a:latin typeface="Consolas"/>
                <a:ea typeface="+mn-lt"/>
                <a:cs typeface="+mn-lt"/>
              </a:rPr>
              <a:t>estado.email</a:t>
            </a:r>
            <a:r>
              <a:rPr lang="es-ES" sz="900" dirty="0">
                <a:latin typeface="Consolas"/>
                <a:ea typeface="+mn-lt"/>
                <a:cs typeface="+mn-lt"/>
              </a:rPr>
              <a:t>}</a:t>
            </a:r>
            <a:br>
              <a:rPr lang="es-ES" sz="900" dirty="0">
                <a:latin typeface="Consolas"/>
                <a:ea typeface="+mn-lt"/>
                <a:cs typeface="+mn-lt"/>
              </a:rPr>
            </a:br>
            <a:r>
              <a:rPr lang="es-ES" sz="900" dirty="0">
                <a:latin typeface="Consolas"/>
                <a:ea typeface="+mn-lt"/>
                <a:cs typeface="+mn-lt"/>
              </a:rPr>
              <a:t>               </a:t>
            </a:r>
            <a:r>
              <a:rPr lang="es-ES" sz="900" dirty="0" err="1">
                <a:latin typeface="Consolas"/>
                <a:ea typeface="+mn-lt"/>
                <a:cs typeface="+mn-lt"/>
              </a:rPr>
              <a:t>onChange</a:t>
            </a:r>
            <a:r>
              <a:rPr lang="es-ES" sz="900" dirty="0">
                <a:latin typeface="Consolas"/>
                <a:ea typeface="+mn-lt"/>
                <a:cs typeface="+mn-lt"/>
              </a:rPr>
              <a:t>={</a:t>
            </a:r>
            <a:r>
              <a:rPr lang="es-ES" sz="900" dirty="0" err="1">
                <a:latin typeface="Consolas"/>
                <a:ea typeface="+mn-lt"/>
                <a:cs typeface="+mn-lt"/>
              </a:rPr>
              <a:t>manejarCambio</a:t>
            </a:r>
            <a:r>
              <a:rPr lang="es-ES" sz="900" dirty="0">
                <a:latin typeface="Consolas"/>
                <a:ea typeface="+mn-lt"/>
                <a:cs typeface="+mn-lt"/>
              </a:rPr>
              <a:t>}    // La función </a:t>
            </a:r>
            <a:r>
              <a:rPr lang="es-ES" sz="900" dirty="0" err="1">
                <a:latin typeface="Consolas"/>
                <a:ea typeface="+mn-lt"/>
                <a:cs typeface="+mn-lt"/>
              </a:rPr>
              <a:t>manejarCambio</a:t>
            </a:r>
            <a:r>
              <a:rPr lang="es-ES" sz="900" dirty="0">
                <a:latin typeface="Consolas"/>
                <a:ea typeface="+mn-lt"/>
                <a:cs typeface="+mn-lt"/>
              </a:rPr>
              <a:t> se ejecuta cuando el usuario escribe en los campos del formulario.            </a:t>
            </a:r>
            <a:br>
              <a:rPr lang="es-ES" sz="900" dirty="0">
                <a:latin typeface="Consolas"/>
                <a:ea typeface="+mn-lt"/>
                <a:cs typeface="+mn-lt"/>
              </a:rPr>
            </a:br>
            <a:r>
              <a:rPr lang="es-ES" sz="900" dirty="0">
                <a:latin typeface="Consolas"/>
                <a:ea typeface="+mn-lt"/>
                <a:cs typeface="+mn-lt"/>
              </a:rPr>
              <a:t>           /&gt;</a:t>
            </a:r>
            <a:br>
              <a:rPr lang="es-ES" sz="900" dirty="0">
                <a:latin typeface="Consolas"/>
                <a:ea typeface="+mn-lt"/>
                <a:cs typeface="+mn-lt"/>
              </a:rPr>
            </a:br>
            <a:r>
              <a:rPr lang="es-ES" sz="900" dirty="0">
                <a:latin typeface="Consolas"/>
                <a:ea typeface="+mn-lt"/>
                <a:cs typeface="+mn-lt"/>
              </a:rPr>
              <a:t>           &lt;</a:t>
            </a:r>
            <a:r>
              <a:rPr lang="es-ES" sz="900" dirty="0" err="1">
                <a:latin typeface="Consolas"/>
                <a:ea typeface="+mn-lt"/>
                <a:cs typeface="+mn-lt"/>
              </a:rPr>
              <a:t>button</a:t>
            </a:r>
            <a:r>
              <a:rPr lang="es-ES" sz="900" dirty="0">
                <a:latin typeface="Consolas"/>
                <a:ea typeface="+mn-lt"/>
                <a:cs typeface="+mn-lt"/>
              </a:rPr>
              <a:t> </a:t>
            </a:r>
            <a:r>
              <a:rPr lang="es-ES" sz="900" dirty="0" err="1">
                <a:latin typeface="Consolas"/>
                <a:ea typeface="+mn-lt"/>
                <a:cs typeface="+mn-lt"/>
              </a:rPr>
              <a:t>type</a:t>
            </a:r>
            <a:r>
              <a:rPr lang="es-ES" sz="900" dirty="0">
                <a:latin typeface="Consolas"/>
                <a:ea typeface="+mn-lt"/>
                <a:cs typeface="+mn-lt"/>
              </a:rPr>
              <a:t>="</a:t>
            </a:r>
            <a:r>
              <a:rPr lang="es-ES" sz="900" dirty="0" err="1">
                <a:latin typeface="Consolas"/>
                <a:ea typeface="+mn-lt"/>
                <a:cs typeface="+mn-lt"/>
              </a:rPr>
              <a:t>submit</a:t>
            </a:r>
            <a:r>
              <a:rPr lang="es-ES" sz="900" dirty="0">
                <a:latin typeface="Consolas"/>
                <a:ea typeface="+mn-lt"/>
                <a:cs typeface="+mn-lt"/>
              </a:rPr>
              <a:t>"&gt;Enviar&lt;/</a:t>
            </a:r>
            <a:r>
              <a:rPr lang="es-ES" sz="900" dirty="0" err="1">
                <a:latin typeface="Consolas"/>
                <a:ea typeface="+mn-lt"/>
                <a:cs typeface="+mn-lt"/>
              </a:rPr>
              <a:t>button</a:t>
            </a:r>
            <a:r>
              <a:rPr lang="es-ES" sz="900" dirty="0">
                <a:latin typeface="Consolas"/>
                <a:ea typeface="+mn-lt"/>
                <a:cs typeface="+mn-lt"/>
              </a:rPr>
              <a:t>&gt;</a:t>
            </a:r>
            <a:br>
              <a:rPr lang="es-ES" sz="900" dirty="0">
                <a:latin typeface="Consolas"/>
                <a:ea typeface="+mn-lt"/>
                <a:cs typeface="+mn-lt"/>
              </a:rPr>
            </a:br>
            <a:r>
              <a:rPr lang="es-ES" sz="900" dirty="0">
                <a:latin typeface="Consolas"/>
                <a:ea typeface="+mn-lt"/>
                <a:cs typeface="+mn-lt"/>
              </a:rPr>
              <a:t>       &lt;/</a:t>
            </a:r>
            <a:r>
              <a:rPr lang="es-ES" sz="900" dirty="0" err="1">
                <a:latin typeface="Consolas"/>
                <a:ea typeface="+mn-lt"/>
                <a:cs typeface="+mn-lt"/>
              </a:rPr>
              <a:t>form</a:t>
            </a:r>
            <a:r>
              <a:rPr lang="es-ES" sz="900" dirty="0">
                <a:latin typeface="Consolas"/>
                <a:ea typeface="+mn-lt"/>
                <a:cs typeface="+mn-lt"/>
              </a:rPr>
              <a:t>&gt;</a:t>
            </a:r>
            <a:br>
              <a:rPr lang="es-ES" sz="900" dirty="0">
                <a:latin typeface="Consolas"/>
                <a:ea typeface="+mn-lt"/>
                <a:cs typeface="+mn-lt"/>
              </a:rPr>
            </a:br>
            <a:r>
              <a:rPr lang="es-ES" sz="900" dirty="0">
                <a:latin typeface="Consolas"/>
                <a:ea typeface="+mn-lt"/>
                <a:cs typeface="+mn-lt"/>
              </a:rPr>
              <a:t>   );</a:t>
            </a:r>
            <a:br>
              <a:rPr lang="es-ES" sz="900" dirty="0">
                <a:latin typeface="Consolas"/>
                <a:ea typeface="+mn-lt"/>
                <a:cs typeface="+mn-lt"/>
              </a:rPr>
            </a:br>
            <a:r>
              <a:rPr lang="es-ES" sz="900" dirty="0">
                <a:latin typeface="Consolas"/>
                <a:ea typeface="+mn-lt"/>
                <a:cs typeface="+mn-lt"/>
              </a:rPr>
              <a:t>}</a:t>
            </a:r>
            <a:br>
              <a:rPr lang="es-ES" sz="900" dirty="0">
                <a:latin typeface="Consolas"/>
                <a:ea typeface="+mn-lt"/>
                <a:cs typeface="+mn-lt"/>
              </a:rPr>
            </a:br>
            <a:r>
              <a:rPr lang="es-ES" sz="900" dirty="0" err="1">
                <a:latin typeface="Consolas"/>
                <a:ea typeface="+mn-lt"/>
                <a:cs typeface="+mn-lt"/>
              </a:rPr>
              <a:t>export</a:t>
            </a:r>
            <a:r>
              <a:rPr lang="es-ES" sz="900" dirty="0">
                <a:latin typeface="Consolas"/>
                <a:ea typeface="+mn-lt"/>
                <a:cs typeface="+mn-lt"/>
              </a:rPr>
              <a:t> default Formulario; 22/01/2026</a:t>
            </a:r>
            <a:endParaRPr lang="es-ES" sz="1400" dirty="0">
              <a:latin typeface="Consolas"/>
            </a:endParaRPr>
          </a:p>
          <a:p>
            <a:endParaRPr lang="es-ES" sz="900" dirty="0">
              <a:latin typeface="Consolas"/>
            </a:endParaRPr>
          </a:p>
        </p:txBody>
      </p:sp>
    </p:spTree>
    <p:extLst>
      <p:ext uri="{BB962C8B-B14F-4D97-AF65-F5344CB8AC3E}">
        <p14:creationId xmlns:p14="http://schemas.microsoft.com/office/powerpoint/2010/main" val="5013769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8FEC2-6774-B76F-9F5A-68C038410E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8C544E-C7C6-4B4A-380F-3B31006735AC}"/>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a:t>
            </a:r>
            <a:endParaRPr lang="es-ES"/>
          </a:p>
        </p:txBody>
      </p:sp>
      <p:sp>
        <p:nvSpPr>
          <p:cNvPr id="3" name="Marcador de contenido 2">
            <a:extLst>
              <a:ext uri="{FF2B5EF4-FFF2-40B4-BE49-F238E27FC236}">
                <a16:creationId xmlns:a16="http://schemas.microsoft.com/office/drawing/2014/main" id="{9CB0E986-DB9A-FCB6-2455-AA38664AF606}"/>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mn-lt"/>
                <a:cs typeface="+mn-lt"/>
              </a:rPr>
              <a:t>La API </a:t>
            </a:r>
            <a:r>
              <a:rPr lang="es-ES" err="1">
                <a:latin typeface="Calibri"/>
                <a:ea typeface="+mn-lt"/>
                <a:cs typeface="+mn-lt"/>
              </a:rPr>
              <a:t>Context</a:t>
            </a:r>
            <a:r>
              <a:rPr lang="es-ES">
                <a:latin typeface="Calibri"/>
                <a:ea typeface="+mn-lt"/>
                <a:cs typeface="+mn-lt"/>
              </a:rPr>
              <a:t> es una herramienta de </a:t>
            </a:r>
            <a:r>
              <a:rPr lang="es-ES" err="1">
                <a:latin typeface="Calibri"/>
                <a:ea typeface="+mn-lt"/>
                <a:cs typeface="+mn-lt"/>
              </a:rPr>
              <a:t>React</a:t>
            </a:r>
            <a:r>
              <a:rPr lang="es-ES">
                <a:latin typeface="Calibri"/>
                <a:ea typeface="+mn-lt"/>
                <a:cs typeface="+mn-lt"/>
              </a:rPr>
              <a:t> que permite compartir datos entre componentes sin necesidad de pasar </a:t>
            </a:r>
            <a:r>
              <a:rPr lang="es-ES" err="1">
                <a:latin typeface="Calibri"/>
                <a:ea typeface="+mn-lt"/>
                <a:cs typeface="+mn-lt"/>
              </a:rPr>
              <a:t>props</a:t>
            </a:r>
            <a:r>
              <a:rPr lang="es-ES">
                <a:latin typeface="Calibri"/>
                <a:ea typeface="+mn-lt"/>
                <a:cs typeface="+mn-lt"/>
              </a:rPr>
              <a:t> manualmente a través de la jerarquía de componentes. Es muy útil en aplicaciones grandes donde ciertos datos, como la información del usuario o la configuración de la aplicación, necesitan ser accesibles en muchos lugares diferentes.</a:t>
            </a:r>
          </a:p>
          <a:p>
            <a:pPr marL="342900" indent="-342900">
              <a:buFont typeface="Arial"/>
              <a:buChar char="•"/>
            </a:pPr>
            <a:r>
              <a:rPr lang="es-ES">
                <a:latin typeface="Calibri"/>
                <a:ea typeface="+mn-lt"/>
                <a:cs typeface="+mn-lt"/>
              </a:rPr>
              <a:t>Esta API permite crear un "contexto" que puede ser consumido por cualquier componente dentro de su árbol de componentes. Esto se logra mediante la creación de un contexto que contiene los datos que se desean compartir y luego envolviendo los componentes que necesitan acceder a esos datos con un proveedor de contexto. Para crear el contexto necesitamos:</a:t>
            </a:r>
            <a:endParaRPr lang="es-ES">
              <a:ea typeface="Calibri"/>
              <a:cs typeface="Calibri"/>
            </a:endParaRPr>
          </a:p>
          <a:p>
            <a:pPr marL="617220" lvl="1">
              <a:buFont typeface="Courier New"/>
              <a:buChar char="o"/>
            </a:pPr>
            <a:r>
              <a:rPr lang="es-ES">
                <a:latin typeface="Calibri"/>
                <a:ea typeface="+mn-lt"/>
                <a:cs typeface="+mn-lt"/>
              </a:rPr>
              <a:t>Utilizar </a:t>
            </a:r>
            <a:r>
              <a:rPr lang="es-ES" err="1">
                <a:latin typeface="Calibri"/>
                <a:ea typeface="+mn-lt"/>
                <a:cs typeface="+mn-lt"/>
              </a:rPr>
              <a:t>React.createContext</a:t>
            </a:r>
            <a:r>
              <a:rPr lang="es-ES">
                <a:latin typeface="Calibri"/>
                <a:ea typeface="+mn-lt"/>
                <a:cs typeface="+mn-lt"/>
              </a:rPr>
              <a:t>() para crear un nuevo contexto.</a:t>
            </a:r>
            <a:endParaRPr lang="es-ES">
              <a:latin typeface="Calibri"/>
              <a:ea typeface="Calibri"/>
              <a:cs typeface="Calibri"/>
            </a:endParaRPr>
          </a:p>
          <a:p>
            <a:pPr marL="617220" lvl="1">
              <a:buFont typeface="Courier New"/>
              <a:buChar char="o"/>
            </a:pPr>
            <a:r>
              <a:rPr lang="es-ES">
                <a:latin typeface="Calibri"/>
                <a:ea typeface="+mn-lt"/>
                <a:cs typeface="+mn-lt"/>
              </a:rPr>
              <a:t>Utilizar el componente </a:t>
            </a:r>
            <a:r>
              <a:rPr lang="es-ES" err="1">
                <a:latin typeface="Calibri"/>
                <a:ea typeface="+mn-lt"/>
                <a:cs typeface="+mn-lt"/>
              </a:rPr>
              <a:t>Provider</a:t>
            </a:r>
            <a:r>
              <a:rPr lang="es-ES">
                <a:latin typeface="Calibri"/>
                <a:ea typeface="+mn-lt"/>
                <a:cs typeface="+mn-lt"/>
              </a:rPr>
              <a:t> del contexto que se crea para envolver los componentes que necesitan acceder a los datos y proveer el contexto.</a:t>
            </a:r>
            <a:endParaRPr lang="es-ES">
              <a:latin typeface="Calibri"/>
              <a:ea typeface="Calibri"/>
              <a:cs typeface="Calibri"/>
            </a:endParaRPr>
          </a:p>
          <a:p>
            <a:pPr marL="617220" lvl="1">
              <a:buFont typeface="Courier New"/>
              <a:buChar char="o"/>
            </a:pPr>
            <a:r>
              <a:rPr lang="es-ES">
                <a:latin typeface="Calibri"/>
                <a:ea typeface="+mn-lt"/>
                <a:cs typeface="+mn-lt"/>
              </a:rPr>
              <a:t>Utilizar el </a:t>
            </a:r>
            <a:r>
              <a:rPr lang="es-ES" err="1">
                <a:latin typeface="Calibri"/>
                <a:ea typeface="+mn-lt"/>
                <a:cs typeface="+mn-lt"/>
              </a:rPr>
              <a:t>hook</a:t>
            </a:r>
            <a:r>
              <a:rPr lang="es-ES">
                <a:latin typeface="Calibri"/>
                <a:ea typeface="+mn-lt"/>
                <a:cs typeface="+mn-lt"/>
              </a:rPr>
              <a:t> </a:t>
            </a:r>
            <a:r>
              <a:rPr lang="es-ES" err="1">
                <a:latin typeface="Calibri"/>
                <a:ea typeface="+mn-lt"/>
                <a:cs typeface="+mn-lt"/>
              </a:rPr>
              <a:t>useContext</a:t>
            </a:r>
            <a:r>
              <a:rPr lang="es-ES">
                <a:latin typeface="Calibri"/>
                <a:ea typeface="+mn-lt"/>
                <a:cs typeface="+mn-lt"/>
              </a:rPr>
              <a:t> para acceder a los datos del contexto en los componentes que lo necesiten.</a:t>
            </a: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6159734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90BD0-6F14-216C-1C4F-8D7A5FA341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EBA9E52-F922-7A04-B20F-37D42EFAB7DE}"/>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5E48EA3C-1C0C-7A42-6836-A4F0A68D26AE}"/>
              </a:ext>
            </a:extLst>
          </p:cNvPr>
          <p:cNvSpPr>
            <a:spLocks noGrp="1"/>
          </p:cNvSpPr>
          <p:nvPr>
            <p:ph idx="1"/>
          </p:nvPr>
        </p:nvSpPr>
        <p:spPr/>
        <p:txBody>
          <a:bodyPr vert="horz" lIns="91440" tIns="45720" rIns="91440" bIns="45720" rtlCol="0" anchor="t">
            <a:normAutofit fontScale="62500" lnSpcReduction="20000"/>
          </a:bodyPr>
          <a:lstStyle/>
          <a:p>
            <a:pPr marL="342900" indent="-342900">
              <a:buFont typeface="Arial"/>
              <a:buChar char="•"/>
            </a:pPr>
            <a:r>
              <a:rPr lang="es-ES">
                <a:latin typeface="Calibri"/>
                <a:ea typeface="+mn-lt"/>
                <a:cs typeface="+mn-lt"/>
              </a:rPr>
              <a:t>En el directorio </a:t>
            </a:r>
            <a:r>
              <a:rPr lang="es-ES" err="1">
                <a:latin typeface="Calibri"/>
                <a:ea typeface="+mn-lt"/>
                <a:cs typeface="+mn-lt"/>
              </a:rPr>
              <a:t>src</a:t>
            </a:r>
            <a:r>
              <a:rPr lang="es-ES">
                <a:latin typeface="Calibri"/>
                <a:ea typeface="+mn-lt"/>
                <a:cs typeface="+mn-lt"/>
              </a:rPr>
              <a:t>/</a:t>
            </a:r>
            <a:r>
              <a:rPr lang="es-ES" err="1">
                <a:latin typeface="Calibri"/>
                <a:ea typeface="+mn-lt"/>
                <a:cs typeface="+mn-lt"/>
              </a:rPr>
              <a:t>Components</a:t>
            </a:r>
            <a:r>
              <a:rPr lang="es-ES">
                <a:latin typeface="Calibri"/>
                <a:ea typeface="+mn-lt"/>
                <a:cs typeface="+mn-lt"/>
              </a:rPr>
              <a:t>/Contexto creamos el fichero </a:t>
            </a:r>
            <a:r>
              <a:rPr lang="es-ES" err="1">
                <a:latin typeface="Calibri"/>
                <a:ea typeface="+mn-lt"/>
                <a:cs typeface="+mn-lt"/>
              </a:rPr>
              <a:t>UsuarioContext.jsx</a:t>
            </a:r>
            <a:r>
              <a:rPr lang="es-ES">
                <a:latin typeface="Calibri"/>
                <a:ea typeface="+mn-lt"/>
                <a:cs typeface="+mn-lt"/>
              </a:rPr>
              <a:t> que será el componente que contenga y ofrezca el contexto</a:t>
            </a:r>
            <a:endParaRPr lang="es-ES">
              <a:latin typeface="Calibri"/>
            </a:endParaRPr>
          </a:p>
          <a:p>
            <a:r>
              <a:rPr lang="es-ES" err="1">
                <a:latin typeface="Consolas"/>
              </a:rPr>
              <a:t>import</a:t>
            </a:r>
            <a:r>
              <a:rPr lang="es-ES">
                <a:latin typeface="Consolas"/>
              </a:rPr>
              <a:t> { </a:t>
            </a:r>
            <a:r>
              <a:rPr lang="es-ES" err="1">
                <a:latin typeface="Consolas"/>
              </a:rPr>
              <a:t>createContext</a:t>
            </a:r>
            <a:r>
              <a:rPr lang="es-ES">
                <a:latin typeface="Consolas"/>
              </a:rPr>
              <a:t>, </a:t>
            </a:r>
            <a:r>
              <a:rPr lang="es-ES" err="1">
                <a:latin typeface="Consolas"/>
              </a:rPr>
              <a:t>useState</a:t>
            </a:r>
            <a:r>
              <a:rPr lang="es-ES">
                <a:latin typeface="Consolas"/>
              </a:rPr>
              <a:t> } </a:t>
            </a:r>
            <a:r>
              <a:rPr lang="es-ES" err="1">
                <a:latin typeface="Consolas"/>
              </a:rPr>
              <a:t>from</a:t>
            </a:r>
            <a:r>
              <a:rPr lang="es-ES">
                <a:latin typeface="Consolas"/>
              </a:rPr>
              <a:t> "</a:t>
            </a:r>
            <a:r>
              <a:rPr lang="es-ES" err="1">
                <a:latin typeface="Consolas"/>
              </a:rPr>
              <a:t>react</a:t>
            </a:r>
            <a:r>
              <a:rPr lang="es-ES">
                <a:latin typeface="Consolas"/>
              </a:rPr>
              <a:t>";</a:t>
            </a:r>
            <a:br>
              <a:rPr lang="es-ES">
                <a:latin typeface="Consolas"/>
              </a:rPr>
            </a:br>
            <a:r>
              <a:rPr lang="es-ES">
                <a:latin typeface="Consolas"/>
              </a:rPr>
              <a:t>    //Se crea un nuevo contexto llamado </a:t>
            </a:r>
            <a:r>
              <a:rPr lang="es-ES" err="1">
                <a:latin typeface="Consolas"/>
              </a:rPr>
              <a:t>UsuarioContext</a:t>
            </a:r>
            <a:br>
              <a:rPr lang="es-ES">
                <a:latin typeface="Consolas"/>
              </a:rPr>
            </a:br>
            <a:r>
              <a:rPr lang="es-ES">
                <a:latin typeface="Consolas"/>
              </a:rPr>
              <a:t>    </a:t>
            </a:r>
            <a:r>
              <a:rPr lang="es-ES" err="1">
                <a:latin typeface="Consolas"/>
              </a:rPr>
              <a:t>const</a:t>
            </a:r>
            <a:r>
              <a:rPr lang="es-ES">
                <a:latin typeface="Consolas"/>
              </a:rPr>
              <a:t> </a:t>
            </a:r>
            <a:r>
              <a:rPr lang="es-ES" err="1">
                <a:latin typeface="Consolas"/>
              </a:rPr>
              <a:t>UsuarioContext</a:t>
            </a:r>
            <a:r>
              <a:rPr lang="es-ES">
                <a:latin typeface="Consolas"/>
              </a:rPr>
              <a:t> = </a:t>
            </a:r>
            <a:r>
              <a:rPr lang="es-ES" err="1">
                <a:latin typeface="Consolas"/>
              </a:rPr>
              <a:t>createContext</a:t>
            </a:r>
            <a:r>
              <a:rPr lang="es-ES">
                <a:latin typeface="Consolas"/>
              </a:rPr>
              <a:t>();</a:t>
            </a:r>
            <a:br>
              <a:rPr lang="es-ES">
                <a:latin typeface="Consolas"/>
              </a:rPr>
            </a:br>
            <a:r>
              <a:rPr lang="es-ES">
                <a:latin typeface="Consolas"/>
              </a:rPr>
              <a:t>    //Creamos el proveedor del contexto del usuario y lo exportamos para poder utilizarlo posteriormente</a:t>
            </a:r>
            <a:br>
              <a:rPr lang="es-ES">
                <a:latin typeface="Consolas"/>
              </a:rPr>
            </a:br>
            <a:r>
              <a:rPr lang="es-ES">
                <a:latin typeface="Consolas"/>
              </a:rPr>
              <a:t>    </a:t>
            </a:r>
            <a:r>
              <a:rPr lang="es-ES" err="1">
                <a:latin typeface="Consolas"/>
              </a:rPr>
              <a:t>export</a:t>
            </a:r>
            <a:r>
              <a:rPr lang="es-ES">
                <a:latin typeface="Consolas"/>
              </a:rPr>
              <a:t> </a:t>
            </a:r>
            <a:r>
              <a:rPr lang="es-ES" err="1">
                <a:latin typeface="Consolas"/>
              </a:rPr>
              <a:t>const</a:t>
            </a:r>
            <a:r>
              <a:rPr lang="es-ES">
                <a:latin typeface="Consolas"/>
              </a:rPr>
              <a:t> </a:t>
            </a:r>
            <a:r>
              <a:rPr lang="es-ES" err="1">
                <a:latin typeface="Consolas"/>
              </a:rPr>
              <a:t>UsuarioProvider</a:t>
            </a:r>
            <a:r>
              <a:rPr lang="es-ES">
                <a:latin typeface="Consolas"/>
              </a:rPr>
              <a:t> = ({</a:t>
            </a:r>
            <a:r>
              <a:rPr lang="es-ES" err="1">
                <a:latin typeface="Consolas"/>
              </a:rPr>
              <a:t>children</a:t>
            </a:r>
            <a:r>
              <a:rPr lang="es-ES">
                <a:latin typeface="Consolas"/>
              </a:rPr>
              <a:t>}) =&gt; {</a:t>
            </a:r>
            <a:br>
              <a:rPr lang="es-ES">
                <a:latin typeface="Consolas"/>
              </a:rPr>
            </a:br>
            <a:r>
              <a:rPr lang="es-ES">
                <a:latin typeface="Consolas"/>
              </a:rPr>
              <a:t>        //Gestionamos el estado del usuario</a:t>
            </a:r>
            <a:br>
              <a:rPr lang="es-ES">
                <a:latin typeface="Consolas"/>
              </a:rPr>
            </a:br>
            <a:r>
              <a:rPr lang="es-ES">
                <a:latin typeface="Consolas"/>
              </a:rPr>
              <a:t>        </a:t>
            </a:r>
            <a:r>
              <a:rPr lang="es-ES" err="1">
                <a:latin typeface="Consolas"/>
              </a:rPr>
              <a:t>const</a:t>
            </a:r>
            <a:r>
              <a:rPr lang="es-ES">
                <a:latin typeface="Consolas"/>
              </a:rPr>
              <a:t> [usuario, </a:t>
            </a:r>
            <a:r>
              <a:rPr lang="es-ES" err="1">
                <a:latin typeface="Consolas"/>
              </a:rPr>
              <a:t>setUsuario</a:t>
            </a:r>
            <a:r>
              <a:rPr lang="es-ES">
                <a:latin typeface="Consolas"/>
              </a:rPr>
              <a:t>] = </a:t>
            </a:r>
            <a:r>
              <a:rPr lang="es-ES" err="1">
                <a:latin typeface="Consolas"/>
              </a:rPr>
              <a:t>useState</a:t>
            </a:r>
            <a:r>
              <a:rPr lang="es-ES">
                <a:latin typeface="Consolas"/>
              </a:rPr>
              <a:t>(</a:t>
            </a:r>
            <a:r>
              <a:rPr lang="es-ES" err="1">
                <a:latin typeface="Consolas"/>
              </a:rPr>
              <a:t>null</a:t>
            </a:r>
            <a:r>
              <a:rPr lang="es-ES">
                <a:latin typeface="Consolas"/>
              </a:rPr>
              <a:t>);</a:t>
            </a:r>
            <a:br>
              <a:rPr lang="es-ES">
                <a:latin typeface="Consolas"/>
              </a:rPr>
            </a:br>
            <a:r>
              <a:rPr lang="es-ES">
                <a:latin typeface="Consolas"/>
              </a:rPr>
              <a:t>        //Devolvemos el </a:t>
            </a:r>
            <a:r>
              <a:rPr lang="es-ES" err="1">
                <a:latin typeface="Consolas"/>
              </a:rPr>
              <a:t>Provider</a:t>
            </a:r>
            <a:r>
              <a:rPr lang="es-ES">
                <a:latin typeface="Consolas"/>
              </a:rPr>
              <a:t> que envuelve a los componentes hijos junto con el </a:t>
            </a:r>
            <a:r>
              <a:rPr lang="es-ES" err="1">
                <a:latin typeface="Consolas"/>
              </a:rPr>
              <a:t>value</a:t>
            </a:r>
            <a:r>
              <a:rPr lang="es-ES">
                <a:latin typeface="Consolas"/>
              </a:rPr>
              <a:t> que contiene</a:t>
            </a:r>
            <a:br>
              <a:rPr lang="es-ES">
                <a:latin typeface="Consolas"/>
              </a:rPr>
            </a:br>
            <a:r>
              <a:rPr lang="es-ES">
                <a:latin typeface="Consolas"/>
              </a:rPr>
              <a:t>        //tanto el estado del usuario como la función que lo actualiza</a:t>
            </a:r>
            <a:br>
              <a:rPr lang="es-ES">
                <a:latin typeface="Consolas"/>
              </a:rPr>
            </a:br>
            <a:r>
              <a:rPr lang="es-ES">
                <a:latin typeface="Consolas"/>
              </a:rPr>
              <a:t>        </a:t>
            </a:r>
            <a:r>
              <a:rPr lang="es-ES" err="1">
                <a:latin typeface="Consolas"/>
              </a:rPr>
              <a:t>return</a:t>
            </a:r>
            <a:r>
              <a:rPr lang="es-ES">
                <a:latin typeface="Consolas"/>
              </a:rPr>
              <a:t> (</a:t>
            </a:r>
            <a:br>
              <a:rPr lang="es-ES">
                <a:latin typeface="Consolas"/>
              </a:rPr>
            </a:br>
            <a:r>
              <a:rPr lang="es-ES">
                <a:latin typeface="Consolas"/>
              </a:rPr>
              <a:t>            &lt;</a:t>
            </a:r>
            <a:r>
              <a:rPr lang="es-ES" err="1">
                <a:latin typeface="Consolas"/>
              </a:rPr>
              <a:t>UsuarioContext.Provider</a:t>
            </a:r>
            <a:r>
              <a:rPr lang="es-ES">
                <a:latin typeface="Consolas"/>
              </a:rPr>
              <a:t> </a:t>
            </a:r>
            <a:r>
              <a:rPr lang="es-ES" err="1">
                <a:latin typeface="Consolas"/>
              </a:rPr>
              <a:t>value</a:t>
            </a:r>
            <a:r>
              <a:rPr lang="es-ES">
                <a:latin typeface="Consolas"/>
              </a:rPr>
              <a:t>={{ usuario, </a:t>
            </a:r>
            <a:r>
              <a:rPr lang="es-ES" err="1">
                <a:latin typeface="Consolas"/>
              </a:rPr>
              <a:t>setUsuario</a:t>
            </a:r>
            <a:r>
              <a:rPr lang="es-ES">
                <a:latin typeface="Consolas"/>
              </a:rPr>
              <a:t>}}&gt;</a:t>
            </a:r>
            <a:br>
              <a:rPr lang="es-ES">
                <a:latin typeface="Consolas"/>
              </a:rPr>
            </a:br>
            <a:r>
              <a:rPr lang="es-ES">
                <a:latin typeface="Consolas"/>
              </a:rPr>
              <a:t>                {</a:t>
            </a:r>
            <a:r>
              <a:rPr lang="es-ES" err="1">
                <a:latin typeface="Consolas"/>
              </a:rPr>
              <a:t>children</a:t>
            </a:r>
            <a:r>
              <a:rPr lang="es-ES">
                <a:latin typeface="Consolas"/>
              </a:rPr>
              <a:t>}</a:t>
            </a:r>
            <a:br>
              <a:rPr lang="es-ES">
                <a:latin typeface="Consolas"/>
              </a:rPr>
            </a:br>
            <a:r>
              <a:rPr lang="es-ES">
                <a:latin typeface="Consolas"/>
              </a:rPr>
              <a:t>            &lt;/</a:t>
            </a:r>
            <a:r>
              <a:rPr lang="es-ES" err="1">
                <a:latin typeface="Consolas"/>
              </a:rPr>
              <a:t>UsuarioContext.Provider</a:t>
            </a:r>
            <a:r>
              <a:rPr lang="es-ES">
                <a:latin typeface="Consolas"/>
              </a:rPr>
              <a:t>&gt;</a:t>
            </a:r>
            <a:br>
              <a:rPr lang="en-US">
                <a:latin typeface="Consolas"/>
              </a:rPr>
            </a:br>
            <a:r>
              <a:rPr lang="es-ES">
                <a:latin typeface="Consolas"/>
              </a:rPr>
              <a:t>        );</a:t>
            </a:r>
            <a:br>
              <a:rPr lang="es-ES">
                <a:latin typeface="Consolas"/>
              </a:rPr>
            </a:br>
            <a:r>
              <a:rPr lang="es-ES">
                <a:latin typeface="Consolas"/>
              </a:rPr>
              <a:t>    };</a:t>
            </a:r>
            <a:br>
              <a:rPr lang="es-ES">
                <a:latin typeface="Consolas"/>
              </a:rPr>
            </a:br>
            <a:r>
              <a:rPr lang="es-ES">
                <a:latin typeface="Consolas"/>
              </a:rPr>
              <a:t>    //Se exporta </a:t>
            </a:r>
            <a:r>
              <a:rPr lang="es-ES" err="1">
                <a:latin typeface="Consolas"/>
              </a:rPr>
              <a:t>UsuarioContext</a:t>
            </a:r>
            <a:r>
              <a:rPr lang="es-ES">
                <a:latin typeface="Consolas"/>
              </a:rPr>
              <a:t> para que otros componentes lo puedan consumir</a:t>
            </a:r>
            <a:br>
              <a:rPr lang="es-ES">
                <a:latin typeface="Consolas"/>
              </a:rPr>
            </a:br>
            <a:r>
              <a:rPr lang="es-ES">
                <a:latin typeface="Consolas"/>
              </a:rPr>
              <a:t>    </a:t>
            </a:r>
            <a:r>
              <a:rPr lang="es-ES" err="1">
                <a:latin typeface="Consolas"/>
              </a:rPr>
              <a:t>export</a:t>
            </a:r>
            <a:r>
              <a:rPr lang="es-ES">
                <a:latin typeface="Consolas"/>
              </a:rPr>
              <a:t> default </a:t>
            </a:r>
            <a:r>
              <a:rPr lang="es-ES" err="1">
                <a:latin typeface="Consolas"/>
              </a:rPr>
              <a:t>UsuarioContext</a:t>
            </a:r>
            <a:r>
              <a:rPr lang="es-ES">
                <a:latin typeface="Consolas"/>
              </a:rPr>
              <a:t>;</a:t>
            </a:r>
            <a:endParaRPr lang="es-ES" sz="1100">
              <a:solidFill>
                <a:srgbClr val="CCCCCC"/>
              </a:solidFill>
              <a:latin typeface="Consolas"/>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27162205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6962E-D584-2AE5-E3BD-763174D425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0DA670-9426-BF0C-A619-5B7D4CF05D09}"/>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0D48364B-5923-B023-66CE-EF228C3089EF}"/>
              </a:ext>
            </a:extLst>
          </p:cNvPr>
          <p:cNvSpPr>
            <a:spLocks noGrp="1"/>
          </p:cNvSpPr>
          <p:nvPr>
            <p:ph idx="1"/>
          </p:nvPr>
        </p:nvSpPr>
        <p:spPr/>
        <p:txBody>
          <a:bodyPr vert="horz" lIns="91440" tIns="45720" rIns="91440" bIns="45720" rtlCol="0" anchor="t">
            <a:normAutofit fontScale="47500" lnSpcReduction="20000"/>
          </a:bodyPr>
          <a:lstStyle/>
          <a:p>
            <a:pPr marL="342900" indent="-342900">
              <a:buFont typeface="Arial"/>
              <a:buChar char="•"/>
            </a:pPr>
            <a:r>
              <a:rPr lang="es-ES">
                <a:latin typeface="Calibri"/>
                <a:ea typeface="+mn-lt"/>
                <a:cs typeface="+mn-lt"/>
              </a:rPr>
              <a:t>En el directorio </a:t>
            </a:r>
            <a:r>
              <a:rPr lang="es-ES" err="1">
                <a:latin typeface="Calibri"/>
                <a:ea typeface="+mn-lt"/>
                <a:cs typeface="+mn-lt"/>
              </a:rPr>
              <a:t>src</a:t>
            </a:r>
            <a:r>
              <a:rPr lang="es-ES">
                <a:latin typeface="Calibri"/>
                <a:ea typeface="+mn-lt"/>
                <a:cs typeface="+mn-lt"/>
              </a:rPr>
              <a:t>/</a:t>
            </a:r>
            <a:r>
              <a:rPr lang="es-ES" err="1">
                <a:latin typeface="Calibri"/>
                <a:ea typeface="+mn-lt"/>
                <a:cs typeface="+mn-lt"/>
              </a:rPr>
              <a:t>Components</a:t>
            </a:r>
            <a:r>
              <a:rPr lang="es-ES">
                <a:latin typeface="Calibri"/>
                <a:ea typeface="+mn-lt"/>
                <a:cs typeface="+mn-lt"/>
              </a:rPr>
              <a:t>/Contexto creamos el fichero </a:t>
            </a:r>
            <a:r>
              <a:rPr lang="es-ES" err="1">
                <a:latin typeface="Calibri"/>
                <a:ea typeface="+mn-lt"/>
                <a:cs typeface="+mn-lt"/>
              </a:rPr>
              <a:t>PerfilUsuario.jsx</a:t>
            </a:r>
            <a:r>
              <a:rPr lang="es-ES">
                <a:latin typeface="Calibri"/>
                <a:ea typeface="+mn-lt"/>
                <a:cs typeface="+mn-lt"/>
              </a:rPr>
              <a:t> que va a ser el encargado de consumir el contexto del usuario. En el ejemplo, el componente </a:t>
            </a:r>
            <a:r>
              <a:rPr lang="es-ES" err="1">
                <a:latin typeface="Calibri"/>
                <a:ea typeface="+mn-lt"/>
                <a:cs typeface="+mn-lt"/>
              </a:rPr>
              <a:t>PerfilUsuario</a:t>
            </a:r>
            <a:r>
              <a:rPr lang="es-ES">
                <a:latin typeface="Calibri"/>
                <a:ea typeface="+mn-lt"/>
                <a:cs typeface="+mn-lt"/>
              </a:rPr>
              <a:t> utiliza el </a:t>
            </a:r>
            <a:r>
              <a:rPr lang="es-ES" err="1">
                <a:latin typeface="Calibri"/>
                <a:ea typeface="+mn-lt"/>
                <a:cs typeface="+mn-lt"/>
              </a:rPr>
              <a:t>hook</a:t>
            </a:r>
            <a:r>
              <a:rPr lang="es-ES">
                <a:latin typeface="Calibri"/>
                <a:ea typeface="+mn-lt"/>
                <a:cs typeface="+mn-lt"/>
              </a:rPr>
              <a:t> </a:t>
            </a:r>
            <a:r>
              <a:rPr lang="es-ES" err="1">
                <a:latin typeface="Calibri"/>
                <a:ea typeface="+mn-lt"/>
                <a:cs typeface="+mn-lt"/>
              </a:rPr>
              <a:t>usuarioContext</a:t>
            </a:r>
            <a:r>
              <a:rPr lang="es-ES">
                <a:latin typeface="Calibri"/>
                <a:ea typeface="+mn-lt"/>
                <a:cs typeface="+mn-lt"/>
              </a:rPr>
              <a:t> y va a mostrar un mensaje de bienvenida o un botón de </a:t>
            </a:r>
            <a:r>
              <a:rPr lang="es-ES" err="1">
                <a:latin typeface="Calibri"/>
                <a:ea typeface="+mn-lt"/>
                <a:cs typeface="+mn-lt"/>
              </a:rPr>
              <a:t>login</a:t>
            </a:r>
            <a:r>
              <a:rPr lang="es-ES">
                <a:latin typeface="Calibri"/>
                <a:ea typeface="+mn-lt"/>
                <a:cs typeface="+mn-lt"/>
              </a:rPr>
              <a:t> dependiendo de si el usuario está autenticado o no.</a:t>
            </a:r>
            <a:endParaRPr lang="es-ES">
              <a:latin typeface="Calibri"/>
            </a:endParaRP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useContext</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UsuarioContext</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PerfilUsuario</a:t>
            </a:r>
            <a:r>
              <a:rPr lang="es-ES">
                <a:latin typeface="Consolas"/>
                <a:ea typeface="+mn-lt"/>
                <a:cs typeface="+mn-lt"/>
              </a:rPr>
              <a:t> = () =&gt; {</a:t>
            </a:r>
            <a:br>
              <a:rPr lang="es-ES">
                <a:latin typeface="Consolas"/>
                <a:ea typeface="+mn-lt"/>
                <a:cs typeface="+mn-lt"/>
              </a:rPr>
            </a:br>
            <a:r>
              <a:rPr lang="es-ES">
                <a:latin typeface="Consolas"/>
                <a:ea typeface="+mn-lt"/>
                <a:cs typeface="+mn-lt"/>
              </a:rPr>
              <a:t>    //Utilizamos el contexto de Usuario que hemos provisto</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{usuario, </a:t>
            </a:r>
            <a:r>
              <a:rPr lang="es-ES" err="1">
                <a:latin typeface="Consolas"/>
                <a:ea typeface="+mn-lt"/>
                <a:cs typeface="+mn-lt"/>
              </a:rPr>
              <a:t>setUsuario</a:t>
            </a:r>
            <a:r>
              <a:rPr lang="es-ES">
                <a:latin typeface="Consolas"/>
                <a:ea typeface="+mn-lt"/>
                <a:cs typeface="+mn-lt"/>
              </a:rPr>
              <a:t>} = </a:t>
            </a:r>
            <a:r>
              <a:rPr lang="es-ES" err="1">
                <a:latin typeface="Consolas"/>
                <a:ea typeface="+mn-lt"/>
                <a:cs typeface="+mn-lt"/>
              </a:rPr>
              <a:t>useContext</a:t>
            </a:r>
            <a:r>
              <a:rPr lang="es-ES">
                <a:latin typeface="Consolas"/>
                <a:ea typeface="+mn-lt"/>
                <a:cs typeface="+mn-lt"/>
              </a:rPr>
              <a:t>(</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a:latin typeface="Consolas"/>
                <a:ea typeface="+mn-lt"/>
                <a:cs typeface="+mn-lt"/>
              </a:rPr>
              <a:t>    //Creamos las funciones que simulan el </a:t>
            </a:r>
            <a:r>
              <a:rPr lang="es-ES" err="1">
                <a:latin typeface="Consolas"/>
                <a:ea typeface="+mn-lt"/>
                <a:cs typeface="+mn-lt"/>
              </a:rPr>
              <a:t>login</a:t>
            </a:r>
            <a:r>
              <a:rPr lang="es-ES">
                <a:latin typeface="Consolas"/>
                <a:ea typeface="+mn-lt"/>
                <a:cs typeface="+mn-lt"/>
              </a:rPr>
              <a:t> y el </a:t>
            </a:r>
            <a:r>
              <a:rPr lang="es-ES" err="1">
                <a:latin typeface="Consolas"/>
                <a:ea typeface="+mn-lt"/>
                <a:cs typeface="+mn-lt"/>
              </a:rPr>
              <a:t>logout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login</a:t>
            </a:r>
            <a:r>
              <a:rPr lang="es-ES">
                <a:latin typeface="Consolas"/>
                <a:ea typeface="+mn-lt"/>
                <a:cs typeface="+mn-lt"/>
              </a:rPr>
              <a:t> = () =&gt; </a:t>
            </a:r>
            <a:r>
              <a:rPr lang="es-ES" err="1">
                <a:latin typeface="Consolas"/>
                <a:ea typeface="+mn-lt"/>
                <a:cs typeface="+mn-lt"/>
              </a:rPr>
              <a:t>setUsuario</a:t>
            </a:r>
            <a:r>
              <a:rPr lang="es-ES">
                <a:latin typeface="Consolas"/>
                <a:ea typeface="+mn-lt"/>
                <a:cs typeface="+mn-lt"/>
              </a:rPr>
              <a:t>({</a:t>
            </a:r>
            <a:r>
              <a:rPr lang="es-ES" err="1">
                <a:latin typeface="Consolas"/>
                <a:ea typeface="+mn-lt"/>
                <a:cs typeface="+mn-lt"/>
              </a:rPr>
              <a:t>nombre:"Diego</a:t>
            </a:r>
            <a:r>
              <a:rPr lang="es-ES">
                <a:latin typeface="Consolas"/>
                <a:ea typeface="+mn-lt"/>
                <a:cs typeface="+mn-lt"/>
              </a:rPr>
              <a:t>", </a:t>
            </a:r>
            <a:r>
              <a:rPr lang="es-ES">
                <a:latin typeface="Consolas"/>
                <a:ea typeface="+mn-lt"/>
                <a:cs typeface="+mn-lt"/>
                <a:hlinkClick r:id="rId2"/>
              </a:rPr>
              <a:t>email:"diego.garcia@iesleonardodavinci.com</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logout</a:t>
            </a:r>
            <a:r>
              <a:rPr lang="es-ES">
                <a:latin typeface="Consolas"/>
                <a:ea typeface="+mn-lt"/>
                <a:cs typeface="+mn-lt"/>
              </a:rPr>
              <a:t>= () =&gt; </a:t>
            </a:r>
            <a:r>
              <a:rPr lang="es-ES" err="1">
                <a:latin typeface="Consolas"/>
                <a:ea typeface="+mn-lt"/>
                <a:cs typeface="+mn-lt"/>
              </a:rPr>
              <a:t>setUsuario</a:t>
            </a:r>
            <a:r>
              <a:rPr lang="es-ES">
                <a:latin typeface="Consolas"/>
                <a:ea typeface="+mn-lt"/>
                <a:cs typeface="+mn-lt"/>
              </a:rPr>
              <a:t>(</a:t>
            </a:r>
            <a:r>
              <a:rPr lang="es-ES" err="1">
                <a:latin typeface="Consolas"/>
                <a:ea typeface="+mn-lt"/>
                <a:cs typeface="+mn-lt"/>
              </a:rPr>
              <a:t>null</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//Si hay un usuario registrado muestra sus datos y el logout</a:t>
            </a:r>
            <a:br>
              <a:rPr lang="es-ES">
                <a:latin typeface="Consolas"/>
                <a:ea typeface="+mn-lt"/>
                <a:cs typeface="+mn-lt"/>
              </a:rPr>
            </a:br>
            <a:r>
              <a:rPr lang="es-ES">
                <a:latin typeface="Consolas"/>
                <a:ea typeface="+mn-lt"/>
                <a:cs typeface="+mn-lt"/>
              </a:rPr>
              <a:t>                usuario ? (      &lt;&gt;</a:t>
            </a:r>
            <a:br>
              <a:rPr lang="es-ES">
                <a:latin typeface="Consolas"/>
                <a:ea typeface="+mn-lt"/>
                <a:cs typeface="+mn-lt"/>
              </a:rPr>
            </a:br>
            <a:r>
              <a:rPr lang="es-ES">
                <a:latin typeface="Consolas"/>
                <a:ea typeface="+mn-lt"/>
                <a:cs typeface="+mn-lt"/>
              </a:rPr>
              <a:t>                        &lt;h1&gt;Bienvenido, {usuario.nombre}&lt;/h1&gt;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logout</a:t>
            </a:r>
            <a:r>
              <a:rPr lang="es-ES">
                <a:latin typeface="Consolas"/>
                <a:ea typeface="+mn-lt"/>
                <a:cs typeface="+mn-lt"/>
              </a:rPr>
              <a:t>}&gt;Cerrar sesión&lt;/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&lt;/&gt;    )   :</a:t>
            </a:r>
            <a:br>
              <a:rPr lang="es-ES">
                <a:latin typeface="Consolas"/>
                <a:ea typeface="+mn-lt"/>
                <a:cs typeface="+mn-lt"/>
              </a:rPr>
            </a:br>
            <a:r>
              <a:rPr lang="es-ES">
                <a:latin typeface="Consolas"/>
                <a:ea typeface="+mn-lt"/>
                <a:cs typeface="+mn-lt"/>
              </a:rPr>
              <a:t>                //Si no hay usuario registrado simula el inicio de sesión</a:t>
            </a:r>
            <a:br>
              <a:rPr lang="es-ES">
                <a:latin typeface="Consolas"/>
                <a:ea typeface="+mn-lt"/>
                <a:cs typeface="+mn-lt"/>
              </a:rPr>
            </a:br>
            <a:r>
              <a:rPr lang="es-ES">
                <a:latin typeface="Consolas"/>
                <a:ea typeface="+mn-lt"/>
                <a:cs typeface="+mn-lt"/>
              </a:rPr>
              <a:t>                (                &lt;&gt;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login</a:t>
            </a:r>
            <a:r>
              <a:rPr lang="es-ES">
                <a:latin typeface="Consolas"/>
                <a:ea typeface="+mn-lt"/>
                <a:cs typeface="+mn-lt"/>
              </a:rPr>
              <a:t>}&gt;Iniciar sesión&lt;/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&lt;/&gt;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PerfilUsuario</a:t>
            </a:r>
            <a:r>
              <a:rPr lang="es-ES">
                <a:latin typeface="Consolas"/>
                <a:ea typeface="+mn-lt"/>
                <a:cs typeface="+mn-lt"/>
              </a:rPr>
              <a:t>;</a:t>
            </a: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12696116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22D4B-6908-C7C5-48F1-C0E373E41D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251A897-6186-11FA-A450-2E6A33DE1FEC}"/>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E175DFE4-1FF5-B819-BFDF-B03D618D9F47}"/>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mn-lt"/>
                <a:cs typeface="+mn-lt"/>
              </a:rPr>
              <a:t>En el directorio </a:t>
            </a:r>
            <a:r>
              <a:rPr lang="es-ES" err="1">
                <a:latin typeface="Calibri"/>
                <a:ea typeface="+mn-lt"/>
                <a:cs typeface="+mn-lt"/>
              </a:rPr>
              <a:t>src</a:t>
            </a:r>
            <a:r>
              <a:rPr lang="es-ES">
                <a:latin typeface="Calibri"/>
                <a:ea typeface="+mn-lt"/>
                <a:cs typeface="+mn-lt"/>
              </a:rPr>
              <a:t>/</a:t>
            </a:r>
            <a:r>
              <a:rPr lang="es-ES" err="1">
                <a:latin typeface="Calibri"/>
                <a:ea typeface="+mn-lt"/>
                <a:cs typeface="+mn-lt"/>
              </a:rPr>
              <a:t>Components</a:t>
            </a:r>
            <a:r>
              <a:rPr lang="es-ES">
                <a:latin typeface="Calibri"/>
                <a:ea typeface="+mn-lt"/>
                <a:cs typeface="+mn-lt"/>
              </a:rPr>
              <a:t>/Contexto creamos el fichero </a:t>
            </a:r>
            <a:r>
              <a:rPr lang="es-ES" err="1">
                <a:latin typeface="Calibri"/>
                <a:ea typeface="+mn-lt"/>
                <a:cs typeface="+mn-lt"/>
              </a:rPr>
              <a:t>TarjetaUsuario.jsx</a:t>
            </a:r>
            <a:r>
              <a:rPr lang="es-ES">
                <a:latin typeface="Calibri"/>
                <a:ea typeface="+mn-lt"/>
                <a:cs typeface="+mn-lt"/>
              </a:rPr>
              <a:t> que va a consumir el contexto del usuario y hacer uso de los datos de usuarios creados en el componente </a:t>
            </a:r>
            <a:r>
              <a:rPr lang="es-ES" err="1">
                <a:latin typeface="Calibri"/>
                <a:ea typeface="+mn-lt"/>
                <a:cs typeface="+mn-lt"/>
              </a:rPr>
              <a:t>PerfilUsuario</a:t>
            </a:r>
            <a:r>
              <a:rPr lang="es-ES">
                <a:latin typeface="Calibri"/>
                <a:ea typeface="+mn-lt"/>
                <a:cs typeface="+mn-lt"/>
              </a:rPr>
              <a:t> mostrando una tarjeta de bienvenida.</a:t>
            </a:r>
            <a:endParaRPr lang="es-ES">
              <a:latin typeface="Calibri"/>
            </a:endParaRP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useContext</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UsuarioContext</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TarjetaUsuario</a:t>
            </a:r>
            <a:r>
              <a:rPr lang="es-ES">
                <a:latin typeface="Consolas"/>
                <a:ea typeface="+mn-lt"/>
                <a:cs typeface="+mn-lt"/>
              </a:rPr>
              <a:t>=()=&gt;{</a:t>
            </a:r>
            <a:br>
              <a:rPr lang="en-US">
                <a:latin typeface="Consolas"/>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{usuario} = </a:t>
            </a:r>
            <a:r>
              <a:rPr lang="es-ES" err="1">
                <a:latin typeface="Consolas"/>
                <a:ea typeface="+mn-lt"/>
                <a:cs typeface="+mn-lt"/>
              </a:rPr>
              <a:t>useContext</a:t>
            </a:r>
            <a:r>
              <a:rPr lang="es-ES">
                <a:latin typeface="Consolas"/>
                <a:ea typeface="+mn-lt"/>
                <a:cs typeface="+mn-lt"/>
              </a:rPr>
              <a:t>(</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(!usuario){</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&lt;p&gt;No hay usuario autenticado&lt;/p&gt;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  </a:t>
            </a:r>
            <a:r>
              <a:rPr lang="es-ES" err="1">
                <a:latin typeface="Consolas"/>
                <a:ea typeface="+mn-lt"/>
                <a:cs typeface="+mn-lt"/>
              </a:rPr>
              <a:t>else</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&lt;h3&gt;{</a:t>
            </a:r>
            <a:r>
              <a:rPr lang="es-ES" err="1">
                <a:latin typeface="Consolas"/>
                <a:ea typeface="+mn-lt"/>
                <a:cs typeface="+mn-lt"/>
              </a:rPr>
              <a:t>usuario.nombre</a:t>
            </a:r>
            <a:r>
              <a:rPr lang="es-ES">
                <a:latin typeface="Consolas"/>
                <a:ea typeface="+mn-lt"/>
                <a:cs typeface="+mn-lt"/>
              </a:rPr>
              <a:t>}&lt;/h3&gt;</a:t>
            </a:r>
            <a:br>
              <a:rPr lang="es-ES">
                <a:latin typeface="Consolas"/>
                <a:ea typeface="+mn-lt"/>
                <a:cs typeface="+mn-lt"/>
              </a:rPr>
            </a:br>
            <a:r>
              <a:rPr lang="es-ES">
                <a:latin typeface="Consolas"/>
                <a:ea typeface="+mn-lt"/>
                <a:cs typeface="+mn-lt"/>
              </a:rPr>
              <a:t>                &lt;h4&gt;Email: {</a:t>
            </a:r>
            <a:r>
              <a:rPr lang="es-ES" err="1">
                <a:latin typeface="Consolas"/>
                <a:ea typeface="+mn-lt"/>
                <a:cs typeface="+mn-lt"/>
              </a:rPr>
              <a:t>usuario.email</a:t>
            </a:r>
            <a:r>
              <a:rPr lang="es-ES">
                <a:latin typeface="Consolas"/>
                <a:ea typeface="+mn-lt"/>
                <a:cs typeface="+mn-lt"/>
              </a:rPr>
              <a:t>}&lt;/h4&gt;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TarjetaUsuario</a:t>
            </a:r>
            <a:r>
              <a:rPr lang="es-ES">
                <a:latin typeface="Consolas"/>
                <a:ea typeface="+mn-lt"/>
                <a:cs typeface="+mn-lt"/>
              </a:rPr>
              <a:t>;</a:t>
            </a: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34094582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B0550-2276-2B6E-2A72-1B98AD2A10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7880AD-89E8-4A16-578A-A9667FFE3A9B}"/>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28F0DB99-51C2-9A04-7639-70328AFAF732}"/>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mn-lt"/>
                <a:cs typeface="+mn-lt"/>
              </a:rPr>
              <a:t>En el fichero </a:t>
            </a:r>
            <a:r>
              <a:rPr lang="es-ES" err="1">
                <a:latin typeface="Calibri"/>
                <a:ea typeface="+mn-lt"/>
                <a:cs typeface="+mn-lt"/>
              </a:rPr>
              <a:t>App.jsx</a:t>
            </a:r>
            <a:r>
              <a:rPr lang="es-ES">
                <a:latin typeface="Calibri"/>
                <a:ea typeface="+mn-lt"/>
                <a:cs typeface="+mn-lt"/>
              </a:rPr>
              <a:t> vamos a proveer el contexto para que se pueda utilizar en toda la App. Se podría proveer solamente para ciertos componentes hijos, no es obligatorio hacerlo para toda la aplicación.</a:t>
            </a:r>
            <a:endParaRPr lang="es-ES">
              <a:latin typeface="Calibri"/>
            </a:endParaRPr>
          </a:p>
          <a:p>
            <a:r>
              <a:rPr lang="es-ES" err="1">
                <a:latin typeface="Consolas"/>
                <a:ea typeface="+mn-lt"/>
                <a:cs typeface="+mn-lt"/>
              </a:rPr>
              <a:t>import</a:t>
            </a:r>
            <a:r>
              <a:rPr lang="es-ES">
                <a:latin typeface="Consolas"/>
                <a:ea typeface="+mn-lt"/>
                <a:cs typeface="+mn-lt"/>
              </a:rPr>
              <a:t> './App.css'</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PerfilUsuario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Components</a:t>
            </a:r>
            <a:r>
              <a:rPr lang="es-ES">
                <a:latin typeface="Consolas"/>
                <a:ea typeface="+mn-lt"/>
                <a:cs typeface="+mn-lt"/>
              </a:rPr>
              <a:t>/Contexto/</a:t>
            </a:r>
            <a:r>
              <a:rPr lang="es-ES" err="1">
                <a:latin typeface="Consolas"/>
                <a:ea typeface="+mn-lt"/>
                <a:cs typeface="+mn-lt"/>
              </a:rPr>
              <a:t>PerfilUsuario</a:t>
            </a:r>
            <a:r>
              <a:rPr lang="es-ES">
                <a:latin typeface="Consolas"/>
                <a:ea typeface="+mn-lt"/>
                <a:cs typeface="+mn-lt"/>
              </a:rPr>
              <a:t>';</a:t>
            </a:r>
            <a:br>
              <a:rPr lang="en-US"/>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arjetaUsuario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Components</a:t>
            </a:r>
            <a:r>
              <a:rPr lang="es-ES">
                <a:latin typeface="Consolas"/>
                <a:ea typeface="+mn-lt"/>
                <a:cs typeface="+mn-lt"/>
              </a:rPr>
              <a:t>/Contexto/</a:t>
            </a:r>
            <a:r>
              <a:rPr lang="es-ES" err="1">
                <a:latin typeface="Consolas"/>
                <a:ea typeface="+mn-lt"/>
                <a:cs typeface="+mn-lt"/>
              </a:rPr>
              <a:t>TarjetaUsuario</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 </a:t>
            </a:r>
            <a:r>
              <a:rPr lang="es-ES" err="1">
                <a:latin typeface="Consolas"/>
                <a:ea typeface="+mn-lt"/>
                <a:cs typeface="+mn-lt"/>
              </a:rPr>
              <a:t>UsuarioProvider</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Components</a:t>
            </a:r>
            <a:r>
              <a:rPr lang="es-ES">
                <a:latin typeface="Consolas"/>
                <a:ea typeface="+mn-lt"/>
                <a:cs typeface="+mn-lt"/>
              </a:rPr>
              <a:t>/Contexto/</a:t>
            </a:r>
            <a:r>
              <a:rPr lang="es-ES" err="1">
                <a:latin typeface="Consolas"/>
                <a:ea typeface="+mn-lt"/>
                <a:cs typeface="+mn-lt"/>
              </a:rPr>
              <a:t>UsuarioContext</a:t>
            </a:r>
            <a:r>
              <a:rPr lang="es-ES">
                <a:latin typeface="Consolas"/>
                <a:ea typeface="+mn-lt"/>
                <a:cs typeface="+mn-lt"/>
              </a:rPr>
              <a:t>';</a:t>
            </a:r>
            <a:br>
              <a:rPr lang="es-ES">
                <a:latin typeface="Consolas"/>
                <a:ea typeface="+mn-lt"/>
                <a:cs typeface="+mn-lt"/>
              </a:rPr>
            </a:br>
            <a:r>
              <a:rPr lang="es-ES" err="1">
                <a:latin typeface="Consolas"/>
                <a:ea typeface="+mn-lt"/>
                <a:cs typeface="+mn-lt"/>
              </a:rPr>
              <a:t>function</a:t>
            </a:r>
            <a:r>
              <a:rPr lang="es-ES">
                <a:latin typeface="Consolas"/>
                <a:ea typeface="+mn-lt"/>
                <a:cs typeface="+mn-lt"/>
              </a:rPr>
              <a:t> App()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&lt;&gt;</a:t>
            </a:r>
            <a:br>
              <a:rPr lang="es-ES">
                <a:latin typeface="Consolas"/>
                <a:ea typeface="+mn-lt"/>
                <a:cs typeface="+mn-lt"/>
              </a:rPr>
            </a:br>
            <a:r>
              <a:rPr lang="es-ES">
                <a:latin typeface="Consolas"/>
                <a:ea typeface="+mn-lt"/>
                <a:cs typeface="+mn-lt"/>
              </a:rPr>
              <a:t>      &lt;</a:t>
            </a:r>
            <a:r>
              <a:rPr lang="es-ES" err="1">
                <a:latin typeface="Consolas"/>
                <a:ea typeface="+mn-lt"/>
                <a:cs typeface="+mn-lt"/>
              </a:rPr>
              <a:t>UsuarioProvider</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PerfilUsuario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TarjetaUsuario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UsuarioProvider</a:t>
            </a:r>
            <a:r>
              <a:rPr lang="es-ES">
                <a:latin typeface="Consolas"/>
                <a:ea typeface="+mn-lt"/>
                <a:cs typeface="+mn-lt"/>
              </a:rPr>
              <a:t>&gt;</a:t>
            </a:r>
            <a:br>
              <a:rPr lang="es-ES">
                <a:latin typeface="Consolas"/>
                <a:ea typeface="+mn-lt"/>
                <a:cs typeface="+mn-lt"/>
              </a:rPr>
            </a:br>
            <a:r>
              <a:rPr lang="es-ES">
                <a:latin typeface="Consolas"/>
                <a:ea typeface="+mn-lt"/>
                <a:cs typeface="+mn-lt"/>
              </a:rPr>
              <a:t>    &lt;/&gt;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App;</a:t>
            </a:r>
            <a:endParaRPr lang="es-ES">
              <a:latin typeface="Consolas"/>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80027257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9C54A-FBF4-0AB8-1C6E-97C7285301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A0A6B0-7276-DBCF-6003-922776448A1C}"/>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48F8B9E1-C57B-5D52-C4C5-7204E6059BE2}"/>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Comprobar estados avanzados: Abordar la gestión de estados complejos y cómo se pueden manejar en </a:t>
            </a:r>
            <a:r>
              <a:rPr lang="es-ES" dirty="0" err="1">
                <a:ea typeface="+mn-lt"/>
                <a:cs typeface="+mn-lt"/>
              </a:rPr>
              <a:t>React</a:t>
            </a:r>
            <a:r>
              <a:rPr lang="es-ES" dirty="0">
                <a:ea typeface="+mn-lt"/>
                <a:cs typeface="+mn-lt"/>
              </a:rPr>
              <a:t>.</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8420086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9DE5D-5771-85A0-68F0-385A7BD47A6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2193132-EA54-2B41-9F24-90010CFAC049}"/>
              </a:ext>
            </a:extLst>
          </p:cNvPr>
          <p:cNvSpPr>
            <a:spLocks noGrp="1"/>
          </p:cNvSpPr>
          <p:nvPr>
            <p:ph type="title"/>
          </p:nvPr>
        </p:nvSpPr>
        <p:spPr/>
        <p:txBody>
          <a:bodyPr>
            <a:normAutofit/>
          </a:bodyPr>
          <a:lstStyle/>
          <a:p>
            <a:r>
              <a:rPr lang="es-ES">
                <a:latin typeface="Calibri"/>
                <a:ea typeface="Calibri"/>
                <a:cs typeface="Calibri"/>
              </a:rPr>
              <a:t>Gestión del estado de la aplicación. Uso de </a:t>
            </a:r>
            <a:r>
              <a:rPr lang="es-ES" err="1">
                <a:latin typeface="Calibri"/>
                <a:ea typeface="Calibri"/>
                <a:cs typeface="Calibri"/>
              </a:rPr>
              <a:t>useContext</a:t>
            </a:r>
            <a:r>
              <a:rPr lang="es-ES">
                <a:latin typeface="Calibri"/>
                <a:ea typeface="Calibri"/>
                <a:cs typeface="Calibri"/>
              </a:rPr>
              <a:t> para compartir datos entre componentes. Ejemplo</a:t>
            </a:r>
            <a:endParaRPr lang="es-ES"/>
          </a:p>
        </p:txBody>
      </p:sp>
      <p:sp>
        <p:nvSpPr>
          <p:cNvPr id="3" name="Marcador de contenido 2">
            <a:extLst>
              <a:ext uri="{FF2B5EF4-FFF2-40B4-BE49-F238E27FC236}">
                <a16:creationId xmlns:a16="http://schemas.microsoft.com/office/drawing/2014/main" id="{8E3621FA-D7D8-828B-81DE-7BAE80126792}"/>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dirty="0">
                <a:ea typeface="+mn-lt"/>
                <a:cs typeface="+mn-lt"/>
              </a:rPr>
              <a:t>Creación de </a:t>
            </a:r>
            <a:r>
              <a:rPr lang="es-ES" dirty="0" err="1">
                <a:ea typeface="+mn-lt"/>
                <a:cs typeface="+mn-lt"/>
              </a:rPr>
              <a:t>hooks</a:t>
            </a:r>
            <a:r>
              <a:rPr lang="es-ES" dirty="0">
                <a:ea typeface="+mn-lt"/>
                <a:cs typeface="+mn-lt"/>
              </a:rPr>
              <a:t> personalizados: Incluir la creación y uso de </a:t>
            </a:r>
            <a:r>
              <a:rPr lang="es-ES" dirty="0" err="1">
                <a:ea typeface="+mn-lt"/>
                <a:cs typeface="+mn-lt"/>
              </a:rPr>
              <a:t>hooks</a:t>
            </a:r>
            <a:r>
              <a:rPr lang="es-ES" dirty="0">
                <a:ea typeface="+mn-lt"/>
                <a:cs typeface="+mn-lt"/>
              </a:rPr>
              <a:t> personalizados para gestionar el estado.</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0391110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17172-F57D-7134-E24C-42ADC9535B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97E4B4-0896-CDA1-0D5B-BB24D44D5DA6}"/>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fetch</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5AF30290-D67B-43E7-EE13-9560FC73A7F8}"/>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a:latin typeface="Calibri"/>
                <a:ea typeface="Calibri"/>
                <a:cs typeface="Calibri"/>
              </a:rPr>
              <a:t>Una API REST (</a:t>
            </a:r>
            <a:r>
              <a:rPr lang="es-ES" err="1">
                <a:latin typeface="Calibri"/>
                <a:ea typeface="Calibri"/>
                <a:cs typeface="Calibri"/>
              </a:rPr>
              <a:t>Representational</a:t>
            </a:r>
            <a:r>
              <a:rPr lang="es-ES">
                <a:latin typeface="Calibri"/>
                <a:ea typeface="Calibri"/>
                <a:cs typeface="Calibri"/>
              </a:rPr>
              <a:t> </a:t>
            </a:r>
            <a:r>
              <a:rPr lang="es-ES" err="1">
                <a:latin typeface="Calibri"/>
                <a:ea typeface="Calibri"/>
                <a:cs typeface="Calibri"/>
              </a:rPr>
              <a:t>State</a:t>
            </a:r>
            <a:r>
              <a:rPr lang="es-ES">
                <a:latin typeface="Calibri"/>
                <a:ea typeface="Calibri"/>
                <a:cs typeface="Calibri"/>
              </a:rPr>
              <a:t> Transfer) es una interfaz que permite a los sistemas interactuar entre sí a través de HTTP. Las operaciones comunes, entre otras, incluyen:</a:t>
            </a:r>
          </a:p>
          <a:p>
            <a:pPr marL="617220" lvl="1">
              <a:buFont typeface="Courier New"/>
              <a:buChar char="o"/>
            </a:pPr>
            <a:r>
              <a:rPr lang="es-ES">
                <a:latin typeface="Calibri"/>
                <a:ea typeface="Calibri"/>
                <a:cs typeface="Calibri"/>
              </a:rPr>
              <a:t>GET: Obtener datos del servidor.</a:t>
            </a:r>
          </a:p>
          <a:p>
            <a:pPr marL="617220" lvl="1">
              <a:buFont typeface="Courier New"/>
              <a:buChar char="o"/>
            </a:pPr>
            <a:r>
              <a:rPr lang="es-ES">
                <a:latin typeface="Calibri"/>
                <a:ea typeface="Calibri"/>
                <a:cs typeface="Calibri"/>
              </a:rPr>
              <a:t>POST: Enviar datos al servidor.</a:t>
            </a:r>
          </a:p>
          <a:p>
            <a:pPr marL="617220" lvl="1">
              <a:buFont typeface="Courier New"/>
              <a:buChar char="o"/>
            </a:pPr>
            <a:r>
              <a:rPr lang="es-ES">
                <a:latin typeface="Calibri"/>
                <a:ea typeface="Calibri"/>
                <a:cs typeface="Calibri"/>
              </a:rPr>
              <a:t>PUT: Actualizar datos en el servidor.</a:t>
            </a:r>
          </a:p>
          <a:p>
            <a:pPr marL="617220" lvl="1">
              <a:buFont typeface="Courier New"/>
              <a:buChar char="o"/>
            </a:pPr>
            <a:r>
              <a:rPr lang="es-ES">
                <a:latin typeface="Calibri"/>
                <a:ea typeface="Calibri"/>
                <a:cs typeface="Calibri"/>
              </a:rPr>
              <a:t>DELETE: Eliminar datos del servidor.</a:t>
            </a:r>
          </a:p>
          <a:p>
            <a:pPr marL="342900" indent="-342900">
              <a:buFont typeface="Arial"/>
              <a:buChar char="•"/>
            </a:pPr>
            <a:r>
              <a:rPr lang="es-ES">
                <a:latin typeface="Calibri"/>
                <a:ea typeface="Calibri"/>
                <a:cs typeface="Calibri"/>
              </a:rPr>
              <a:t>Consumir funciones de una API REST es una práctica común para permitir que las aplicaciones web se comuniquen con un servidor y obtengan o envíen datos.</a:t>
            </a:r>
          </a:p>
          <a:p>
            <a:pPr marL="342900" indent="-342900">
              <a:buFont typeface="Arial"/>
              <a:buChar char="•"/>
            </a:pPr>
            <a:r>
              <a:rPr lang="es-ES" err="1">
                <a:latin typeface="Calibri"/>
                <a:ea typeface="Calibri"/>
                <a:cs typeface="Calibri"/>
              </a:rPr>
              <a:t>fetch</a:t>
            </a:r>
            <a:r>
              <a:rPr lang="es-ES">
                <a:latin typeface="Calibri"/>
                <a:ea typeface="Calibri"/>
                <a:cs typeface="Calibri"/>
              </a:rPr>
              <a:t> es una función nativa de JavaScript que permite realizar peticiones HTTP. Es una herramienta para comunicar los clientes con servidores y obtener o enviar datos. Nos proporciona una forma más sencilla, flexible y potente de realizar peticiones que el antiguo </a:t>
            </a:r>
            <a:r>
              <a:rPr lang="es-ES" err="1">
                <a:latin typeface="Calibri"/>
                <a:ea typeface="Calibri"/>
                <a:cs typeface="Calibri"/>
              </a:rPr>
              <a:t>XMLHttpRequest</a:t>
            </a:r>
            <a:r>
              <a:rPr lang="es-ES">
                <a:latin typeface="Calibri"/>
                <a:ea typeface="Calibri"/>
                <a:cs typeface="Calibri"/>
              </a:rPr>
              <a:t>. Utiliza promesas, lo que facilita el manejo de respuestas asíncronas.</a:t>
            </a:r>
          </a:p>
        </p:txBody>
      </p:sp>
    </p:spTree>
    <p:extLst>
      <p:ext uri="{BB962C8B-B14F-4D97-AF65-F5344CB8AC3E}">
        <p14:creationId xmlns:p14="http://schemas.microsoft.com/office/powerpoint/2010/main" val="3553628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2FE26-2DE8-6970-ED4B-DF66A1AC8E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AA8FF5-38A0-8FBB-772D-10A1D285A4F0}"/>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fetch</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4D580ED1-9AD4-3EDA-7290-2AE6BCF25ECF}"/>
              </a:ext>
            </a:extLst>
          </p:cNvPr>
          <p:cNvSpPr>
            <a:spLocks noGrp="1"/>
          </p:cNvSpPr>
          <p:nvPr>
            <p:ph idx="1"/>
          </p:nvPr>
        </p:nvSpPr>
        <p:spPr/>
        <p:txBody>
          <a:bodyPr vert="horz" lIns="91440" tIns="45720" rIns="91440" bIns="45720" rtlCol="0" anchor="t">
            <a:normAutofit fontScale="85000" lnSpcReduction="10000"/>
          </a:bodyPr>
          <a:lstStyle/>
          <a:p>
            <a:r>
              <a:rPr lang="es-ES" err="1">
                <a:latin typeface="Consolas"/>
                <a:ea typeface="+mn-lt"/>
                <a:cs typeface="+mn-lt"/>
              </a:rPr>
              <a:t>fetch</a:t>
            </a:r>
            <a:r>
              <a:rPr lang="es-ES">
                <a:latin typeface="Consolas"/>
                <a:ea typeface="+mn-lt"/>
                <a:cs typeface="+mn-lt"/>
              </a:rPr>
              <a:t>('https://api.ejemplo.com/datos') // realiza una petición GET</a:t>
            </a:r>
            <a:br>
              <a:rPr lang="es-ES">
                <a:latin typeface="Consolas"/>
                <a:ea typeface="+mn-lt"/>
                <a:cs typeface="+mn-lt"/>
              </a:rPr>
            </a:br>
            <a:r>
              <a:rPr lang="es-ES">
                <a:latin typeface="Consolas"/>
                <a:ea typeface="+mn-lt"/>
                <a:cs typeface="+mn-lt"/>
              </a:rPr>
              <a:t>                                       // a la URL especificada.           </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(response =&gt; {                  // Maneja la respuesta del servidor.</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response.ok</a:t>
            </a:r>
            <a:r>
              <a:rPr lang="es-ES">
                <a:latin typeface="Consolas"/>
                <a:ea typeface="+mn-lt"/>
                <a:cs typeface="+mn-lt"/>
              </a:rPr>
              <a:t>) {                // Indica si la petición fue exitosa </a:t>
            </a:r>
            <a:br>
              <a:rPr lang="es-ES">
                <a:latin typeface="Consolas"/>
                <a:ea typeface="+mn-lt"/>
                <a:cs typeface="+mn-lt"/>
              </a:rPr>
            </a:br>
            <a:r>
              <a:rPr lang="es-ES">
                <a:latin typeface="Consolas"/>
                <a:ea typeface="+mn-lt"/>
                <a:cs typeface="+mn-lt"/>
              </a:rPr>
              <a:t>                                       // (código de estado 2xx).</a:t>
            </a:r>
            <a:br>
              <a:rPr lang="es-ES">
                <a:latin typeface="Consolas"/>
                <a:ea typeface="+mn-lt"/>
                <a:cs typeface="+mn-lt"/>
              </a:rPr>
            </a:br>
            <a:r>
              <a:rPr lang="es-ES">
                <a:latin typeface="Consolas"/>
                <a:ea typeface="+mn-lt"/>
                <a:cs typeface="+mn-lt"/>
              </a:rPr>
              <a:t>      </a:t>
            </a:r>
            <a:r>
              <a:rPr lang="es-ES" err="1">
                <a:latin typeface="Consolas"/>
                <a:ea typeface="+mn-lt"/>
                <a:cs typeface="+mn-lt"/>
              </a:rPr>
              <a:t>throw</a:t>
            </a:r>
            <a:r>
              <a:rPr lang="es-ES">
                <a:latin typeface="Consolas"/>
                <a:ea typeface="+mn-lt"/>
                <a:cs typeface="+mn-lt"/>
              </a:rPr>
              <a:t> new Error('Error en la petición');</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r>
              <a:rPr lang="es-ES" err="1">
                <a:latin typeface="Consolas"/>
                <a:ea typeface="+mn-lt"/>
                <a:cs typeface="+mn-lt"/>
              </a:rPr>
              <a:t>response.json</a:t>
            </a:r>
            <a:r>
              <a:rPr lang="es-ES">
                <a:latin typeface="Consolas"/>
                <a:ea typeface="+mn-lt"/>
                <a:cs typeface="+mn-lt"/>
              </a:rPr>
              <a:t>();            // Analiza el cuerpo de la respuesta </a:t>
            </a:r>
            <a:br>
              <a:rPr lang="es-ES">
                <a:latin typeface="Consolas"/>
                <a:ea typeface="+mn-lt"/>
                <a:cs typeface="+mn-lt"/>
              </a:rPr>
            </a:br>
            <a:r>
              <a:rPr lang="es-ES">
                <a:latin typeface="Consolas"/>
                <a:ea typeface="+mn-lt"/>
                <a:cs typeface="+mn-lt"/>
              </a:rPr>
              <a:t>                                       // como JSON y devuelve una promesa.</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(data =&gt; console.log(data))       // Maneja los datos analizados.</a:t>
            </a:r>
            <a:br>
              <a:rPr lang="es-ES">
                <a:latin typeface="Consolas"/>
                <a:ea typeface="+mn-lt"/>
                <a:cs typeface="+mn-lt"/>
              </a:rPr>
            </a:br>
            <a:r>
              <a:rPr lang="es-ES">
                <a:latin typeface="Consolas"/>
                <a:ea typeface="+mn-lt"/>
                <a:cs typeface="+mn-lt"/>
              </a:rPr>
              <a:t>  .catch(error =&gt; </a:t>
            </a:r>
            <a:r>
              <a:rPr lang="es-ES" err="1">
                <a:latin typeface="Consolas"/>
                <a:ea typeface="+mn-lt"/>
                <a:cs typeface="+mn-lt"/>
              </a:rPr>
              <a:t>console.error</a:t>
            </a:r>
            <a:r>
              <a:rPr lang="es-ES">
                <a:latin typeface="Consolas"/>
                <a:ea typeface="+mn-lt"/>
                <a:cs typeface="+mn-lt"/>
              </a:rPr>
              <a:t>(error)); // Maneja cualquier error que</a:t>
            </a:r>
            <a:br>
              <a:rPr lang="es-ES">
                <a:latin typeface="Consolas"/>
                <a:ea typeface="+mn-lt"/>
                <a:cs typeface="+mn-lt"/>
              </a:rPr>
            </a:br>
            <a:r>
              <a:rPr lang="es-ES">
                <a:latin typeface="Consolas"/>
                <a:ea typeface="+mn-lt"/>
                <a:cs typeface="+mn-lt"/>
              </a:rPr>
              <a:t>                                         // ocurra durante la petición.</a:t>
            </a:r>
            <a:endParaRPr lang="es-ES"/>
          </a:p>
          <a:p>
            <a:pPr marL="342900" indent="-342900">
              <a:buFont typeface="Arial"/>
              <a:buChar char="•"/>
            </a:pPr>
            <a:endParaRPr lang="es-ES">
              <a:latin typeface="Consolas"/>
            </a:endParaRPr>
          </a:p>
        </p:txBody>
      </p:sp>
    </p:spTree>
    <p:extLst>
      <p:ext uri="{BB962C8B-B14F-4D97-AF65-F5344CB8AC3E}">
        <p14:creationId xmlns:p14="http://schemas.microsoft.com/office/powerpoint/2010/main" val="15214782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8E81C-AA26-B528-90DC-1B6A9A760F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405A45-A4CB-D31C-AA56-46DC638E07C9}"/>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fetch</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AED08B6A-CF5B-451F-CB7E-5F73BB47E0A8}"/>
              </a:ext>
            </a:extLst>
          </p:cNvPr>
          <p:cNvSpPr>
            <a:spLocks noGrp="1"/>
          </p:cNvSpPr>
          <p:nvPr>
            <p:ph idx="1"/>
          </p:nvPr>
        </p:nvSpPr>
        <p:spPr/>
        <p:txBody>
          <a:bodyPr vert="horz" lIns="91440" tIns="45720" rIns="91440" bIns="45720" rtlCol="0" anchor="t">
            <a:normAutofit fontScale="77500" lnSpcReduction="20000"/>
          </a:bodyPr>
          <a:lstStyle/>
          <a:p>
            <a:r>
              <a:rPr lang="es-ES" err="1">
                <a:latin typeface="Consolas"/>
                <a:ea typeface="+mn-lt"/>
                <a:cs typeface="+mn-lt"/>
              </a:rPr>
              <a:t>fetch</a:t>
            </a:r>
            <a:r>
              <a:rPr lang="es-ES">
                <a:latin typeface="Consolas"/>
                <a:ea typeface="+mn-lt"/>
                <a:cs typeface="+mn-lt"/>
              </a:rPr>
              <a:t>('https://api.ejemplo.com/datos', {       // Realiza una petición POST a la URL</a:t>
            </a:r>
            <a:br>
              <a:rPr lang="es-ES">
                <a:latin typeface="Consolas"/>
                <a:ea typeface="+mn-lt"/>
                <a:cs typeface="+mn-lt"/>
              </a:rPr>
            </a:br>
            <a:r>
              <a:rPr lang="es-ES">
                <a:latin typeface="Consolas"/>
                <a:ea typeface="+mn-lt"/>
                <a:cs typeface="+mn-lt"/>
              </a:rPr>
              <a:t>  </a:t>
            </a:r>
            <a:r>
              <a:rPr lang="es-ES" err="1">
                <a:latin typeface="Consolas"/>
                <a:ea typeface="+mn-lt"/>
                <a:cs typeface="+mn-lt"/>
              </a:rPr>
              <a:t>method</a:t>
            </a:r>
            <a:r>
              <a:rPr lang="es-ES">
                <a:latin typeface="Consolas"/>
                <a:ea typeface="+mn-lt"/>
                <a:cs typeface="+mn-lt"/>
              </a:rPr>
              <a:t>: 'POST',                              //    especificada con las opciones</a:t>
            </a:r>
            <a:br>
              <a:rPr lang="es-ES">
                <a:latin typeface="Consolas"/>
                <a:ea typeface="+mn-lt"/>
                <a:cs typeface="+mn-lt"/>
              </a:rPr>
            </a:br>
            <a:r>
              <a:rPr lang="es-ES">
                <a:latin typeface="Consolas"/>
                <a:ea typeface="+mn-lt"/>
                <a:cs typeface="+mn-lt"/>
              </a:rPr>
              <a:t>  </a:t>
            </a:r>
            <a:r>
              <a:rPr lang="es-ES" err="1">
                <a:latin typeface="Consolas"/>
                <a:ea typeface="+mn-lt"/>
                <a:cs typeface="+mn-lt"/>
              </a:rPr>
              <a:t>headers</a:t>
            </a:r>
            <a:r>
              <a:rPr lang="es-ES">
                <a:latin typeface="Consolas"/>
                <a:ea typeface="+mn-lt"/>
                <a:cs typeface="+mn-lt"/>
              </a:rPr>
              <a:t>: {                                   //    </a:t>
            </a:r>
            <a:r>
              <a:rPr lang="es-ES" sz="2100">
                <a:latin typeface="Consolas"/>
                <a:ea typeface="+mn-lt"/>
                <a:cs typeface="+mn-lt"/>
              </a:rPr>
              <a:t>proporcionadas.</a:t>
            </a:r>
            <a:br>
              <a:rPr lang="es-ES">
                <a:latin typeface="Consolas"/>
                <a:ea typeface="+mn-lt"/>
                <a:cs typeface="+mn-lt"/>
              </a:rPr>
            </a:br>
            <a:r>
              <a:rPr lang="es-ES">
                <a:latin typeface="Consolas"/>
                <a:ea typeface="+mn-lt"/>
                <a:cs typeface="+mn-lt"/>
              </a:rPr>
              <a:t>    'Content-</a:t>
            </a:r>
            <a:r>
              <a:rPr lang="es-ES" err="1">
                <a:latin typeface="Consolas"/>
                <a:ea typeface="+mn-lt"/>
                <a:cs typeface="+mn-lt"/>
              </a:rPr>
              <a:t>Type</a:t>
            </a:r>
            <a:r>
              <a:rPr lang="es-ES">
                <a:latin typeface="Consolas"/>
                <a:ea typeface="+mn-lt"/>
                <a:cs typeface="+mn-lt"/>
              </a:rPr>
              <a:t>': '</a:t>
            </a:r>
            <a:r>
              <a:rPr lang="es-ES" err="1">
                <a:latin typeface="Consolas"/>
                <a:ea typeface="+mn-lt"/>
                <a:cs typeface="+mn-lt"/>
              </a:rPr>
              <a:t>application</a:t>
            </a:r>
            <a:r>
              <a:rPr lang="es-ES">
                <a:latin typeface="Consolas"/>
                <a:ea typeface="+mn-lt"/>
                <a:cs typeface="+mn-lt"/>
              </a:rPr>
              <a:t>/</a:t>
            </a:r>
            <a:r>
              <a:rPr lang="es-ES" err="1">
                <a:latin typeface="Consolas"/>
                <a:ea typeface="+mn-lt"/>
                <a:cs typeface="+mn-lt"/>
              </a:rPr>
              <a:t>json</a:t>
            </a:r>
            <a:r>
              <a:rPr lang="es-ES">
                <a:latin typeface="Consolas"/>
                <a:ea typeface="+mn-lt"/>
                <a:cs typeface="+mn-lt"/>
              </a:rPr>
              <a:t>'         // </a:t>
            </a:r>
            <a:r>
              <a:rPr lang="es-ES" sz="2100" err="1">
                <a:latin typeface="Consolas"/>
                <a:ea typeface="+mn-lt"/>
                <a:cs typeface="+mn-lt"/>
              </a:rPr>
              <a:t>method</a:t>
            </a:r>
            <a:r>
              <a:rPr lang="es-ES" sz="2100">
                <a:latin typeface="Consolas"/>
                <a:ea typeface="+mn-lt"/>
                <a:cs typeface="+mn-lt"/>
              </a:rPr>
              <a:t>: 'POST' especifica</a:t>
            </a:r>
            <a:br>
              <a:rPr lang="es-ES">
                <a:latin typeface="Consolas"/>
                <a:ea typeface="+mn-lt"/>
                <a:cs typeface="+mn-lt"/>
              </a:rPr>
            </a:br>
            <a:r>
              <a:rPr lang="es-ES">
                <a:latin typeface="Consolas"/>
                <a:ea typeface="+mn-lt"/>
                <a:cs typeface="+mn-lt"/>
              </a:rPr>
              <a:t>  },                                           //    que se usará </a:t>
            </a:r>
            <a:r>
              <a:rPr lang="es-ES" sz="2100">
                <a:latin typeface="Consolas"/>
                <a:ea typeface="+mn-lt"/>
                <a:cs typeface="+mn-lt"/>
              </a:rPr>
              <a:t>el método HTTP.</a:t>
            </a:r>
            <a:br>
              <a:rPr lang="es-ES">
                <a:latin typeface="Consolas"/>
                <a:ea typeface="+mn-lt"/>
                <a:cs typeface="+mn-lt"/>
              </a:rPr>
            </a:br>
            <a:r>
              <a:rPr lang="es-ES">
                <a:latin typeface="Consolas"/>
                <a:ea typeface="+mn-lt"/>
                <a:cs typeface="+mn-lt"/>
              </a:rPr>
              <a:t>  </a:t>
            </a:r>
            <a:r>
              <a:rPr lang="es-ES" err="1">
                <a:latin typeface="Consolas"/>
                <a:ea typeface="+mn-lt"/>
                <a:cs typeface="+mn-lt"/>
              </a:rPr>
              <a:t>body</a:t>
            </a:r>
            <a:r>
              <a:rPr lang="es-ES">
                <a:latin typeface="Consolas"/>
                <a:ea typeface="+mn-lt"/>
                <a:cs typeface="+mn-lt"/>
              </a:rPr>
              <a:t>: </a:t>
            </a:r>
            <a:r>
              <a:rPr lang="es-ES" err="1">
                <a:latin typeface="Consolas"/>
                <a:ea typeface="+mn-lt"/>
                <a:cs typeface="+mn-lt"/>
              </a:rPr>
              <a:t>JSON.stringify</a:t>
            </a:r>
            <a:r>
              <a:rPr lang="es-ES">
                <a:latin typeface="Consolas"/>
                <a:ea typeface="+mn-lt"/>
                <a:cs typeface="+mn-lt"/>
              </a:rPr>
              <a:t>({ clave: 'valor' })     // </a:t>
            </a:r>
            <a:r>
              <a:rPr lang="es-ES" sz="2100" err="1">
                <a:latin typeface="Consolas"/>
                <a:ea typeface="+mn-lt"/>
                <a:cs typeface="+mn-lt"/>
              </a:rPr>
              <a:t>headers</a:t>
            </a:r>
            <a:r>
              <a:rPr lang="es-ES" sz="2100">
                <a:latin typeface="Consolas"/>
                <a:ea typeface="+mn-lt"/>
                <a:cs typeface="+mn-lt"/>
              </a:rPr>
              <a:t>: { ... } configura algunas </a:t>
            </a:r>
            <a:br>
              <a:rPr lang="es-ES">
                <a:latin typeface="Consolas"/>
                <a:ea typeface="+mn-lt"/>
                <a:cs typeface="+mn-lt"/>
              </a:rPr>
            </a:br>
            <a:r>
              <a:rPr lang="es-ES">
                <a:latin typeface="Consolas"/>
                <a:ea typeface="+mn-lt"/>
                <a:cs typeface="+mn-lt"/>
              </a:rPr>
              <a:t>})                                             //    de las </a:t>
            </a:r>
            <a:r>
              <a:rPr lang="es-ES" sz="2100">
                <a:latin typeface="Consolas"/>
                <a:ea typeface="+mn-lt"/>
                <a:cs typeface="+mn-lt"/>
              </a:rPr>
              <a:t>cabeceras de la petición.</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(response =&gt; {                          //'Content-</a:t>
            </a:r>
            <a:r>
              <a:rPr lang="es-ES" err="1">
                <a:latin typeface="Consolas"/>
                <a:ea typeface="+mn-lt"/>
                <a:cs typeface="+mn-lt"/>
              </a:rPr>
              <a:t>Type</a:t>
            </a:r>
            <a:r>
              <a:rPr lang="es-ES">
                <a:latin typeface="Consolas"/>
                <a:ea typeface="+mn-lt"/>
                <a:cs typeface="+mn-lt"/>
              </a:rPr>
              <a:t>': '</a:t>
            </a:r>
            <a:r>
              <a:rPr lang="es-ES" err="1">
                <a:latin typeface="Consolas"/>
                <a:ea typeface="+mn-lt"/>
                <a:cs typeface="+mn-lt"/>
              </a:rPr>
              <a:t>application</a:t>
            </a:r>
            <a:r>
              <a:rPr lang="es-ES">
                <a:latin typeface="Consolas"/>
                <a:ea typeface="+mn-lt"/>
                <a:cs typeface="+mn-lt"/>
              </a:rPr>
              <a:t>/</a:t>
            </a:r>
            <a:r>
              <a:rPr lang="es-ES" err="1">
                <a:latin typeface="Consolas"/>
                <a:ea typeface="+mn-lt"/>
                <a:cs typeface="+mn-lt"/>
              </a:rPr>
              <a:t>json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response.ok</a:t>
            </a:r>
            <a:r>
              <a:rPr lang="es-ES">
                <a:latin typeface="Consolas"/>
                <a:ea typeface="+mn-lt"/>
                <a:cs typeface="+mn-lt"/>
              </a:rPr>
              <a:t>) {                        //    indica que el cuerpo de la </a:t>
            </a:r>
            <a:br>
              <a:rPr lang="es-ES">
                <a:latin typeface="Consolas"/>
                <a:ea typeface="+mn-lt"/>
                <a:cs typeface="+mn-lt"/>
              </a:rPr>
            </a:br>
            <a:r>
              <a:rPr lang="es-ES">
                <a:latin typeface="Consolas"/>
                <a:ea typeface="+mn-lt"/>
                <a:cs typeface="+mn-lt"/>
              </a:rPr>
              <a:t>      </a:t>
            </a:r>
            <a:r>
              <a:rPr lang="es-ES" err="1">
                <a:latin typeface="Consolas"/>
                <a:ea typeface="+mn-lt"/>
                <a:cs typeface="+mn-lt"/>
              </a:rPr>
              <a:t>throw</a:t>
            </a:r>
            <a:r>
              <a:rPr lang="es-ES">
                <a:latin typeface="Consolas"/>
                <a:ea typeface="+mn-lt"/>
                <a:cs typeface="+mn-lt"/>
              </a:rPr>
              <a:t> new Error('Error en la petición'); //    petición está en formato JSON.</a:t>
            </a:r>
            <a:br>
              <a:rPr lang="es-ES">
                <a:latin typeface="Consolas"/>
                <a:ea typeface="+mn-lt"/>
                <a:cs typeface="+mn-lt"/>
              </a:rPr>
            </a:br>
            <a:r>
              <a:rPr lang="es-ES">
                <a:latin typeface="Consolas"/>
                <a:ea typeface="+mn-lt"/>
                <a:cs typeface="+mn-lt"/>
              </a:rPr>
              <a:t>    }                                          // </a:t>
            </a:r>
            <a:r>
              <a:rPr lang="es-ES" err="1">
                <a:latin typeface="Consolas"/>
                <a:ea typeface="+mn-lt"/>
                <a:cs typeface="+mn-lt"/>
              </a:rPr>
              <a:t>body</a:t>
            </a:r>
            <a:r>
              <a:rPr lang="es-ES">
                <a:latin typeface="Consolas"/>
                <a:ea typeface="+mn-lt"/>
                <a:cs typeface="+mn-lt"/>
              </a:rPr>
              <a:t>: especifica</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r>
              <a:rPr lang="es-ES" err="1">
                <a:latin typeface="Consolas"/>
                <a:ea typeface="+mn-lt"/>
                <a:cs typeface="+mn-lt"/>
              </a:rPr>
              <a:t>response.json</a:t>
            </a:r>
            <a:r>
              <a:rPr lang="es-ES">
                <a:latin typeface="Consolas"/>
                <a:ea typeface="+mn-lt"/>
                <a:cs typeface="+mn-lt"/>
              </a:rPr>
              <a:t>();                    //    el cuerpo de la petición.</a:t>
            </a:r>
            <a:br>
              <a:rPr lang="es-ES">
                <a:latin typeface="Consolas"/>
                <a:ea typeface="+mn-lt"/>
                <a:cs typeface="+mn-lt"/>
              </a:rPr>
            </a:br>
            <a:r>
              <a:rPr lang="es-ES">
                <a:latin typeface="Consolas"/>
                <a:ea typeface="+mn-lt"/>
                <a:cs typeface="+mn-lt"/>
              </a:rPr>
              <a:t>  })                                           // </a:t>
            </a:r>
            <a:r>
              <a:rPr lang="es-ES" err="1">
                <a:latin typeface="Consolas"/>
                <a:ea typeface="+mn-lt"/>
                <a:cs typeface="+mn-lt"/>
              </a:rPr>
              <a:t>JSON.stringify</a:t>
            </a:r>
            <a:r>
              <a:rPr lang="es-ES">
                <a:latin typeface="Consolas"/>
                <a:ea typeface="+mn-lt"/>
                <a:cs typeface="+mn-lt"/>
              </a:rPr>
              <a:t>() convierte</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(data =&gt; console.log(data))             //    un objeto JavaScript</a:t>
            </a:r>
            <a:br>
              <a:rPr lang="es-ES">
                <a:latin typeface="Consolas"/>
                <a:ea typeface="+mn-lt"/>
                <a:cs typeface="+mn-lt"/>
              </a:rPr>
            </a:br>
            <a:r>
              <a:rPr lang="es-ES">
                <a:latin typeface="Consolas"/>
                <a:ea typeface="+mn-lt"/>
                <a:cs typeface="+mn-lt"/>
              </a:rPr>
              <a:t>  .catch(error =&gt; </a:t>
            </a:r>
            <a:r>
              <a:rPr lang="es-ES" err="1">
                <a:latin typeface="Consolas"/>
                <a:ea typeface="+mn-lt"/>
                <a:cs typeface="+mn-lt"/>
              </a:rPr>
              <a:t>console.error</a:t>
            </a:r>
            <a:r>
              <a:rPr lang="es-ES">
                <a:latin typeface="Consolas"/>
                <a:ea typeface="+mn-lt"/>
                <a:cs typeface="+mn-lt"/>
              </a:rPr>
              <a:t>(error));       //    en una cadena JSON.</a:t>
            </a:r>
            <a:endParaRPr lang="es-ES">
              <a:latin typeface="Consolas"/>
            </a:endParaRPr>
          </a:p>
          <a:p>
            <a:r>
              <a:rPr lang="es-ES">
                <a:latin typeface="Consolas"/>
              </a:rPr>
              <a:t>// Para los métodos PUT o DELETE se haría de forma similar pero cambiando el método</a:t>
            </a:r>
          </a:p>
          <a:p>
            <a:pPr marL="342900" indent="-342900">
              <a:buFont typeface="Arial"/>
              <a:buChar char="•"/>
            </a:pPr>
            <a:endParaRPr lang="es-ES">
              <a:latin typeface="Consolas"/>
            </a:endParaRPr>
          </a:p>
        </p:txBody>
      </p:sp>
    </p:spTree>
    <p:extLst>
      <p:ext uri="{BB962C8B-B14F-4D97-AF65-F5344CB8AC3E}">
        <p14:creationId xmlns:p14="http://schemas.microsoft.com/office/powerpoint/2010/main" val="40348474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127C6-EE12-2ACD-ADEA-4BAFD56FEF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42796D1-6186-BCC1-DDD2-C654357DD68E}"/>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axios</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B41493A3-918F-8B08-48DD-69DFC5DC1F3B}"/>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Calibri"/>
                <a:cs typeface="Calibri"/>
              </a:rPr>
              <a:t>Axios es una biblioteca de JavaScript basada en promesas para realizar peticiones HTTP desde el navegador y Node.js. Ofrece una API más fácil de usar que </a:t>
            </a:r>
            <a:r>
              <a:rPr lang="es-ES" err="1">
                <a:latin typeface="Calibri"/>
                <a:ea typeface="Calibri"/>
                <a:cs typeface="Calibri"/>
              </a:rPr>
              <a:t>fetch</a:t>
            </a:r>
            <a:r>
              <a:rPr lang="es-ES">
                <a:latin typeface="Calibri"/>
                <a:ea typeface="Calibri"/>
                <a:cs typeface="Calibri"/>
              </a:rPr>
              <a:t> API y características adicionales que la hacen muy popular entre los desarrolladores web. </a:t>
            </a:r>
          </a:p>
          <a:p>
            <a:pPr marL="342900" indent="-342900">
              <a:buFont typeface="Arial"/>
              <a:buChar char="•"/>
            </a:pPr>
            <a:r>
              <a:rPr lang="es-ES">
                <a:latin typeface="Calibri"/>
                <a:ea typeface="Calibri"/>
                <a:cs typeface="Calibri"/>
              </a:rPr>
              <a:t>Axios, a diferencia de </a:t>
            </a:r>
            <a:r>
              <a:rPr lang="es-ES" err="1">
                <a:latin typeface="Calibri"/>
                <a:ea typeface="Calibri"/>
                <a:cs typeface="Calibri"/>
              </a:rPr>
              <a:t>fetch</a:t>
            </a:r>
            <a:r>
              <a:rPr lang="es-ES">
                <a:latin typeface="Calibri"/>
                <a:ea typeface="Calibri"/>
                <a:cs typeface="Calibri"/>
              </a:rPr>
              <a:t>, es una biblioteca externa, lo que aumenta el tamaño de las aplicaciones que la utilizan. Requiere la instalación de una dependencia externa</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a:t>
            </a:r>
            <a:r>
              <a:rPr lang="es-ES" err="1">
                <a:latin typeface="Consolas"/>
                <a:ea typeface="Calibri"/>
                <a:cs typeface="Calibri"/>
              </a:rPr>
              <a:t>axios</a:t>
            </a:r>
            <a:endParaRPr lang="es-ES">
              <a:latin typeface="Consolas"/>
              <a:ea typeface="Calibri"/>
              <a:cs typeface="Calibri"/>
            </a:endParaRPr>
          </a:p>
          <a:p>
            <a:pPr marL="342900" indent="-342900">
              <a:buFont typeface="Arial"/>
              <a:buChar char="•"/>
            </a:pPr>
            <a:r>
              <a:rPr lang="es-ES">
                <a:latin typeface="Calibri"/>
                <a:ea typeface="Calibri"/>
                <a:cs typeface="Calibri"/>
              </a:rPr>
              <a:t>A cambio, es más intuitiva y fácil de usar que </a:t>
            </a:r>
            <a:r>
              <a:rPr lang="es-ES" err="1">
                <a:latin typeface="Calibri"/>
                <a:ea typeface="Calibri"/>
                <a:cs typeface="Calibri"/>
              </a:rPr>
              <a:t>fetch</a:t>
            </a:r>
            <a:r>
              <a:rPr lang="es-ES">
                <a:latin typeface="Calibri"/>
                <a:ea typeface="Calibri"/>
                <a:cs typeface="Calibri"/>
              </a:rPr>
              <a:t>, proporciona un manejo de errores más robusto y permite utilizar interceptores para modificar las peticiones y respuestas, también transforma automáticamente las respuestas JSON, lo que simplifica el código.</a:t>
            </a:r>
          </a:p>
          <a:p>
            <a:pPr marL="342900" indent="-342900">
              <a:buFont typeface="Arial"/>
              <a:buChar char="•"/>
            </a:pPr>
            <a:r>
              <a:rPr lang="es-ES">
                <a:latin typeface="Calibri"/>
                <a:ea typeface="Calibri"/>
                <a:cs typeface="Calibri"/>
              </a:rPr>
              <a:t>Por otro lado, Axios permite cancelar peticiones en curso, lo que es útil para evitar peticiones innecesarias, incluye protección integrada contra ataques XSRF y ayuda en ciertos aspectos muy útiles y usados de las aplicaciones permitiendo interceptar peticiones y respuestas, lo que es útil para agregar lógica común como autenticación o </a:t>
            </a:r>
            <a:r>
              <a:rPr lang="es-ES" err="1">
                <a:latin typeface="Calibri"/>
                <a:ea typeface="Calibri"/>
                <a:cs typeface="Calibri"/>
              </a:rPr>
              <a:t>logging</a:t>
            </a:r>
            <a:r>
              <a:rPr lang="es-ES">
                <a:latin typeface="Calibri"/>
                <a:ea typeface="Calibri"/>
                <a:cs typeface="Calibri"/>
              </a:rPr>
              <a:t>.</a:t>
            </a: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26590105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6EFBD-EAA1-89FE-CEEC-3370D9CEE0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432B3F-88DF-07FF-68A7-AE8FDCA34707}"/>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axios</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731BF7CC-FCF4-6C3A-2439-5E155CFF25D8}"/>
              </a:ext>
            </a:extLst>
          </p:cNvPr>
          <p:cNvSpPr>
            <a:spLocks noGrp="1"/>
          </p:cNvSpPr>
          <p:nvPr>
            <p:ph idx="1"/>
          </p:nvPr>
        </p:nvSpPr>
        <p:spPr/>
        <p:txBody>
          <a:bodyPr vert="horz" lIns="91440" tIns="45720" rIns="91440" bIns="45720" rtlCol="0" anchor="t">
            <a:normAutofit fontScale="85000" lnSpcReduction="20000"/>
          </a:bodyPr>
          <a:lstStyle/>
          <a:p>
            <a:r>
              <a:rPr lang="es-ES" err="1">
                <a:latin typeface="Consolas"/>
                <a:ea typeface="+mn-lt"/>
                <a:cs typeface="+mn-lt"/>
              </a:rPr>
              <a:t>import</a:t>
            </a:r>
            <a:r>
              <a:rPr lang="es-ES">
                <a:latin typeface="Consolas"/>
                <a:ea typeface="+mn-lt"/>
                <a:cs typeface="+mn-lt"/>
              </a:rPr>
              <a:t> </a:t>
            </a:r>
            <a:r>
              <a:rPr lang="es-ES" err="1">
                <a:latin typeface="Consolas"/>
                <a:ea typeface="+mn-lt"/>
                <a:cs typeface="+mn-lt"/>
              </a:rPr>
              <a:t>axios</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axios</a:t>
            </a:r>
            <a:r>
              <a:rPr lang="es-ES">
                <a:latin typeface="Consolas"/>
                <a:ea typeface="+mn-lt"/>
                <a:cs typeface="+mn-lt"/>
              </a:rPr>
              <a:t>';                  // Importa la biblioteca Axios.</a:t>
            </a:r>
            <a:endParaRPr lang="es-ES">
              <a:latin typeface="Consolas"/>
            </a:endParaRPr>
          </a:p>
          <a:p>
            <a:r>
              <a:rPr lang="es-ES" err="1">
                <a:latin typeface="Consolas"/>
                <a:ea typeface="+mn-lt"/>
                <a:cs typeface="+mn-lt"/>
              </a:rPr>
              <a:t>axios.get</a:t>
            </a:r>
            <a:r>
              <a:rPr lang="es-ES">
                <a:latin typeface="Consolas"/>
                <a:ea typeface="+mn-lt"/>
                <a:cs typeface="+mn-lt"/>
              </a:rPr>
              <a:t>('https://api.ejemplo.com/datos')  // Realiza una petición GET a la</a:t>
            </a:r>
          </a:p>
          <a:p>
            <a:r>
              <a:rPr lang="es-ES">
                <a:latin typeface="Consolas"/>
                <a:ea typeface="+mn-lt"/>
                <a:cs typeface="+mn-lt"/>
              </a:rPr>
              <a:t>                                            //   URL especificada.</a:t>
            </a:r>
            <a:endParaRPr lang="es-ES">
              <a:latin typeface="Consolas"/>
            </a:endParaRPr>
          </a:p>
          <a:p>
            <a:r>
              <a:rPr lang="es-ES">
                <a:latin typeface="Consolas"/>
                <a:ea typeface="+mn-lt"/>
                <a:cs typeface="+mn-lt"/>
              </a:rPr>
              <a:t>  .</a:t>
            </a:r>
            <a:r>
              <a:rPr lang="es-ES" err="1">
                <a:latin typeface="Consolas"/>
                <a:ea typeface="+mn-lt"/>
                <a:cs typeface="+mn-lt"/>
              </a:rPr>
              <a:t>then</a:t>
            </a:r>
            <a:r>
              <a:rPr lang="es-ES">
                <a:latin typeface="Consolas"/>
                <a:ea typeface="+mn-lt"/>
                <a:cs typeface="+mn-lt"/>
              </a:rPr>
              <a:t>(response =&gt; {                       // Si la petición es exitosa, la</a:t>
            </a:r>
          </a:p>
          <a:p>
            <a:r>
              <a:rPr lang="es-ES">
                <a:latin typeface="Consolas"/>
                <a:ea typeface="+mn-lt"/>
                <a:cs typeface="+mn-lt"/>
              </a:rPr>
              <a:t>                                            //   respuesta del servidor se almacena</a:t>
            </a:r>
            <a:endParaRPr lang="es-ES">
              <a:latin typeface="Bembo"/>
              <a:ea typeface="+mn-lt"/>
              <a:cs typeface="+mn-lt"/>
            </a:endParaRPr>
          </a:p>
          <a:p>
            <a:r>
              <a:rPr lang="es-ES">
                <a:latin typeface="Consolas"/>
                <a:ea typeface="+mn-lt"/>
                <a:cs typeface="+mn-lt"/>
              </a:rPr>
              <a:t>                                            //   en response. </a:t>
            </a:r>
            <a:r>
              <a:rPr lang="es-ES" err="1">
                <a:latin typeface="Consolas"/>
                <a:ea typeface="+mn-lt"/>
                <a:cs typeface="+mn-lt"/>
              </a:rPr>
              <a:t>response.data</a:t>
            </a:r>
            <a:r>
              <a:rPr lang="es-ES">
                <a:latin typeface="Consolas"/>
                <a:ea typeface="+mn-lt"/>
                <a:cs typeface="+mn-lt"/>
              </a:rPr>
              <a:t> </a:t>
            </a:r>
            <a:endParaRPr lang="es-ES"/>
          </a:p>
          <a:p>
            <a:r>
              <a:rPr lang="es-ES">
                <a:latin typeface="Consolas"/>
                <a:ea typeface="+mn-lt"/>
                <a:cs typeface="+mn-lt"/>
              </a:rPr>
              <a:t>    console.log(</a:t>
            </a:r>
            <a:r>
              <a:rPr lang="es-ES" err="1">
                <a:latin typeface="Consolas"/>
                <a:ea typeface="+mn-lt"/>
                <a:cs typeface="+mn-lt"/>
              </a:rPr>
              <a:t>response.data</a:t>
            </a:r>
            <a:r>
              <a:rPr lang="es-ES">
                <a:latin typeface="Consolas"/>
                <a:ea typeface="+mn-lt"/>
                <a:cs typeface="+mn-lt"/>
              </a:rPr>
              <a:t>);             //   contiene los datos de la respuesta</a:t>
            </a:r>
            <a:endParaRPr lang="es-ES">
              <a:latin typeface="Consolas"/>
            </a:endParaRPr>
          </a:p>
          <a:p>
            <a:r>
              <a:rPr lang="es-ES">
                <a:latin typeface="Consolas"/>
                <a:ea typeface="+mn-lt"/>
                <a:cs typeface="+mn-lt"/>
              </a:rPr>
              <a:t>  })                                        //   (por lo general, en formato JSON)</a:t>
            </a:r>
            <a:endParaRPr lang="es-ES">
              <a:latin typeface="Consolas"/>
            </a:endParaRPr>
          </a:p>
          <a:p>
            <a:r>
              <a:rPr lang="es-ES">
                <a:latin typeface="Consolas"/>
                <a:ea typeface="+mn-lt"/>
                <a:cs typeface="+mn-lt"/>
              </a:rPr>
              <a:t>  .catch(error =&gt; {                         // Si ocurre un error durante la </a:t>
            </a:r>
            <a:endParaRPr lang="es-ES">
              <a:latin typeface="Consolas"/>
            </a:endParaRPr>
          </a:p>
          <a:p>
            <a:r>
              <a:rPr lang="es-ES">
                <a:latin typeface="Consolas"/>
                <a:ea typeface="+mn-lt"/>
                <a:cs typeface="+mn-lt"/>
              </a:rPr>
              <a:t>    </a:t>
            </a:r>
            <a:r>
              <a:rPr lang="es-ES" err="1">
                <a:latin typeface="Consolas"/>
                <a:ea typeface="+mn-lt"/>
                <a:cs typeface="+mn-lt"/>
              </a:rPr>
              <a:t>console.error</a:t>
            </a:r>
            <a:r>
              <a:rPr lang="es-ES">
                <a:latin typeface="Consolas"/>
                <a:ea typeface="+mn-lt"/>
                <a:cs typeface="+mn-lt"/>
              </a:rPr>
              <a:t>(error);                   //    petición, el error se almacena en </a:t>
            </a:r>
            <a:endParaRPr lang="es-ES">
              <a:latin typeface="Consolas"/>
            </a:endParaRPr>
          </a:p>
          <a:p>
            <a:r>
              <a:rPr lang="es-ES">
                <a:latin typeface="Consolas"/>
                <a:ea typeface="+mn-lt"/>
                <a:cs typeface="+mn-lt"/>
              </a:rPr>
              <a:t>  });                                       //    la variable error.</a:t>
            </a: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9878102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5EEBF-1A23-FA46-B3FE-11FCBF0466F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B26808-13D2-A967-E995-826D231A0EF5}"/>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axios</a:t>
            </a:r>
            <a:r>
              <a:rPr lang="es-ES">
                <a:latin typeface="Calibri"/>
                <a:ea typeface="Calibri"/>
                <a:cs typeface="Calibri"/>
              </a:rPr>
              <a:t> para consumir </a:t>
            </a:r>
            <a:r>
              <a:rPr lang="es-ES" err="1">
                <a:latin typeface="Calibri"/>
                <a:ea typeface="Calibri"/>
                <a:cs typeface="Calibri"/>
              </a:rPr>
              <a:t>APIs</a:t>
            </a:r>
            <a:r>
              <a:rPr lang="es-ES">
                <a:latin typeface="Calibri"/>
                <a:ea typeface="Calibri"/>
                <a:cs typeface="Calibri"/>
              </a:rPr>
              <a:t>.</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C8A4C576-4A04-3B57-2562-AA8E94EE1AFD}"/>
              </a:ext>
            </a:extLst>
          </p:cNvPr>
          <p:cNvSpPr>
            <a:spLocks noGrp="1"/>
          </p:cNvSpPr>
          <p:nvPr>
            <p:ph idx="1"/>
          </p:nvPr>
        </p:nvSpPr>
        <p:spPr/>
        <p:txBody>
          <a:bodyPr vert="horz" lIns="91440" tIns="45720" rIns="91440" bIns="45720" rtlCol="0" anchor="t">
            <a:normAutofit fontScale="92500" lnSpcReduction="20000"/>
          </a:bodyPr>
          <a:lstStyle/>
          <a:p>
            <a:r>
              <a:rPr lang="es-ES" err="1">
                <a:latin typeface="Consolas"/>
                <a:ea typeface="+mn-lt"/>
                <a:cs typeface="+mn-lt"/>
              </a:rPr>
              <a:t>import</a:t>
            </a:r>
            <a:r>
              <a:rPr lang="es-ES">
                <a:latin typeface="Consolas"/>
                <a:ea typeface="+mn-lt"/>
                <a:cs typeface="+mn-lt"/>
              </a:rPr>
              <a:t> </a:t>
            </a:r>
            <a:r>
              <a:rPr lang="es-ES" err="1">
                <a:latin typeface="Consolas"/>
                <a:ea typeface="+mn-lt"/>
                <a:cs typeface="+mn-lt"/>
              </a:rPr>
              <a:t>axios</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axios</a:t>
            </a:r>
            <a:r>
              <a:rPr lang="es-ES">
                <a:latin typeface="Consolas"/>
                <a:ea typeface="+mn-lt"/>
                <a:cs typeface="+mn-lt"/>
              </a:rPr>
              <a:t>';</a:t>
            </a:r>
          </a:p>
          <a:p>
            <a:r>
              <a:rPr lang="es-ES" err="1">
                <a:latin typeface="Consolas"/>
                <a:ea typeface="+mn-lt"/>
                <a:cs typeface="+mn-lt"/>
              </a:rPr>
              <a:t>axios.post</a:t>
            </a:r>
            <a:r>
              <a:rPr lang="es-ES">
                <a:latin typeface="Consolas"/>
                <a:ea typeface="+mn-lt"/>
                <a:cs typeface="+mn-lt"/>
              </a:rPr>
              <a:t>('https://api.ejemplo.com/datos',  // Realiza una petición POST   </a:t>
            </a:r>
          </a:p>
          <a:p>
            <a:r>
              <a:rPr lang="es-ES">
                <a:latin typeface="Consolas"/>
                <a:ea typeface="+mn-lt"/>
                <a:cs typeface="+mn-lt"/>
              </a:rPr>
              <a:t>  { clave: 'valor' })                        //   </a:t>
            </a:r>
            <a:r>
              <a:rPr lang="es-ES" sz="2100">
                <a:latin typeface="Consolas"/>
                <a:ea typeface="+mn-lt"/>
                <a:cs typeface="+mn-lt"/>
              </a:rPr>
              <a:t>a la URL especificada, </a:t>
            </a:r>
            <a:endParaRPr lang="es-ES">
              <a:latin typeface="Consolas"/>
            </a:endParaRPr>
          </a:p>
          <a:p>
            <a:r>
              <a:rPr lang="es-ES">
                <a:latin typeface="Consolas"/>
                <a:ea typeface="+mn-lt"/>
                <a:cs typeface="+mn-lt"/>
              </a:rPr>
              <a:t>  .</a:t>
            </a:r>
            <a:r>
              <a:rPr lang="es-ES" err="1">
                <a:latin typeface="Consolas"/>
                <a:ea typeface="+mn-lt"/>
                <a:cs typeface="+mn-lt"/>
              </a:rPr>
              <a:t>then</a:t>
            </a:r>
            <a:r>
              <a:rPr lang="es-ES">
                <a:latin typeface="Consolas"/>
                <a:ea typeface="+mn-lt"/>
                <a:cs typeface="+mn-lt"/>
              </a:rPr>
              <a:t>(response =&gt; {                        //   </a:t>
            </a:r>
            <a:r>
              <a:rPr lang="es-ES" sz="2100">
                <a:latin typeface="Consolas"/>
                <a:ea typeface="+mn-lt"/>
                <a:cs typeface="+mn-lt"/>
              </a:rPr>
              <a:t>enviando el objeto </a:t>
            </a:r>
          </a:p>
          <a:p>
            <a:r>
              <a:rPr lang="es-ES">
                <a:latin typeface="Consolas"/>
                <a:ea typeface="+mn-lt"/>
                <a:cs typeface="+mn-lt"/>
              </a:rPr>
              <a:t>    console.log(</a:t>
            </a:r>
            <a:r>
              <a:rPr lang="es-ES" err="1">
                <a:latin typeface="Consolas"/>
                <a:ea typeface="+mn-lt"/>
                <a:cs typeface="+mn-lt"/>
              </a:rPr>
              <a:t>response.data</a:t>
            </a:r>
            <a:r>
              <a:rPr lang="es-ES">
                <a:latin typeface="Consolas"/>
                <a:ea typeface="+mn-lt"/>
                <a:cs typeface="+mn-lt"/>
              </a:rPr>
              <a:t>);              //   </a:t>
            </a:r>
            <a:r>
              <a:rPr lang="es-ES" sz="2100">
                <a:latin typeface="Consolas"/>
                <a:ea typeface="+mn-lt"/>
                <a:cs typeface="+mn-lt"/>
              </a:rPr>
              <a:t>{ clave: 'valor' }</a:t>
            </a:r>
          </a:p>
          <a:p>
            <a:r>
              <a:rPr lang="es-ES">
                <a:latin typeface="Consolas"/>
                <a:ea typeface="+mn-lt"/>
                <a:cs typeface="+mn-lt"/>
              </a:rPr>
              <a:t>  })                                         //   </a:t>
            </a:r>
            <a:r>
              <a:rPr lang="es-ES" sz="2100">
                <a:latin typeface="Consolas"/>
                <a:ea typeface="+mn-lt"/>
                <a:cs typeface="+mn-lt"/>
              </a:rPr>
              <a:t>como datos en el </a:t>
            </a:r>
          </a:p>
          <a:p>
            <a:r>
              <a:rPr lang="es-ES">
                <a:latin typeface="Consolas"/>
                <a:ea typeface="+mn-lt"/>
                <a:cs typeface="+mn-lt"/>
              </a:rPr>
              <a:t>  .catch(error =&gt; {                          //   </a:t>
            </a:r>
            <a:r>
              <a:rPr lang="es-ES" sz="2100">
                <a:latin typeface="Consolas"/>
                <a:ea typeface="+mn-lt"/>
                <a:cs typeface="+mn-lt"/>
              </a:rPr>
              <a:t>cuerpo de la petición.</a:t>
            </a:r>
          </a:p>
          <a:p>
            <a:r>
              <a:rPr lang="es-ES">
                <a:latin typeface="Consolas"/>
                <a:ea typeface="+mn-lt"/>
                <a:cs typeface="+mn-lt"/>
              </a:rPr>
              <a:t>    </a:t>
            </a:r>
            <a:r>
              <a:rPr lang="es-ES" err="1">
                <a:latin typeface="Consolas"/>
                <a:ea typeface="+mn-lt"/>
                <a:cs typeface="+mn-lt"/>
              </a:rPr>
              <a:t>console.error</a:t>
            </a:r>
            <a:r>
              <a:rPr lang="es-ES">
                <a:latin typeface="Consolas"/>
                <a:ea typeface="+mn-lt"/>
                <a:cs typeface="+mn-lt"/>
              </a:rPr>
              <a:t>(error);                    // PUT y DELETE se harían </a:t>
            </a:r>
            <a:r>
              <a:rPr lang="es-ES" sz="2100">
                <a:latin typeface="Consolas"/>
                <a:ea typeface="+mn-lt"/>
                <a:cs typeface="+mn-lt"/>
              </a:rPr>
              <a:t>con</a:t>
            </a:r>
          </a:p>
          <a:p>
            <a:r>
              <a:rPr lang="es-ES">
                <a:latin typeface="Consolas"/>
                <a:ea typeface="+mn-lt"/>
                <a:cs typeface="+mn-lt"/>
              </a:rPr>
              <a:t>  });                                        //   </a:t>
            </a:r>
            <a:r>
              <a:rPr lang="es-ES" err="1">
                <a:latin typeface="Consolas"/>
                <a:ea typeface="+mn-lt"/>
                <a:cs typeface="+mn-lt"/>
              </a:rPr>
              <a:t>axios.put</a:t>
            </a:r>
            <a:r>
              <a:rPr lang="es-ES">
                <a:latin typeface="Consolas"/>
                <a:ea typeface="+mn-lt"/>
                <a:cs typeface="+mn-lt"/>
              </a:rPr>
              <a:t> y </a:t>
            </a:r>
            <a:r>
              <a:rPr lang="es-ES" err="1">
                <a:latin typeface="Consolas"/>
                <a:ea typeface="+mn-lt"/>
                <a:cs typeface="+mn-lt"/>
              </a:rPr>
              <a:t>axios.delete</a:t>
            </a:r>
            <a:endParaRPr lang="es-ES">
              <a:latin typeface="Consolas"/>
              <a:ea typeface="+mn-lt"/>
              <a:cs typeface="+mn-lt"/>
            </a:endParaRPr>
          </a:p>
          <a:p>
            <a:endParaRPr lang="es-ES">
              <a:latin typeface="Consolas"/>
              <a:ea typeface="+mn-lt"/>
              <a:cs typeface="+mn-lt"/>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a:p>
            <a:pPr marL="342900" indent="-342900">
              <a:buFont typeface="Arial"/>
              <a:buChar char="•"/>
            </a:pPr>
            <a:endParaRPr lang="es-ES">
              <a:latin typeface="Consolas"/>
              <a:ea typeface="Calibri"/>
              <a:cs typeface="Calibri"/>
            </a:endParaRPr>
          </a:p>
        </p:txBody>
      </p:sp>
    </p:spTree>
    <p:extLst>
      <p:ext uri="{BB962C8B-B14F-4D97-AF65-F5344CB8AC3E}">
        <p14:creationId xmlns:p14="http://schemas.microsoft.com/office/powerpoint/2010/main" val="2780884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5300C7-12D2-9C1A-A10A-41A54E36397C}"/>
              </a:ext>
            </a:extLst>
          </p:cNvPr>
          <p:cNvSpPr>
            <a:spLocks noGrp="1"/>
          </p:cNvSpPr>
          <p:nvPr>
            <p:ph type="title"/>
          </p:nvPr>
        </p:nvSpPr>
        <p:spPr/>
        <p:txBody>
          <a:bodyPr>
            <a:normAutofit/>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a:t>
            </a:r>
          </a:p>
        </p:txBody>
      </p:sp>
      <p:sp>
        <p:nvSpPr>
          <p:cNvPr id="3" name="Marcador de contenido 2">
            <a:extLst>
              <a:ext uri="{FF2B5EF4-FFF2-40B4-BE49-F238E27FC236}">
                <a16:creationId xmlns:a16="http://schemas.microsoft.com/office/drawing/2014/main" id="{4CC396CF-134B-5FD3-A27A-C8C5EB25E38E}"/>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mn-lt"/>
                <a:cs typeface="+mn-lt"/>
              </a:rPr>
              <a:t>Ambas herramientas son efectivas para realizar solicitudes HTTP, ambos basados en promesas, pero tienen diferencias clave que pueden influir en la elección de una sobre la otra. </a:t>
            </a:r>
          </a:p>
          <a:p>
            <a:pPr marL="342900" indent="-342900">
              <a:buFont typeface="Arial"/>
              <a:buChar char="•"/>
            </a:pPr>
            <a:r>
              <a:rPr lang="es-ES" err="1">
                <a:latin typeface="Calibri"/>
                <a:ea typeface="+mn-lt"/>
                <a:cs typeface="+mn-lt"/>
              </a:rPr>
              <a:t>Fetch</a:t>
            </a:r>
            <a:r>
              <a:rPr lang="es-ES">
                <a:latin typeface="Calibri"/>
                <a:ea typeface="+mn-lt"/>
                <a:cs typeface="+mn-lt"/>
              </a:rPr>
              <a:t> API es parte de </a:t>
            </a:r>
            <a:r>
              <a:rPr lang="es-ES" err="1">
                <a:latin typeface="Calibri"/>
                <a:ea typeface="+mn-lt"/>
                <a:cs typeface="+mn-lt"/>
              </a:rPr>
              <a:t>Javascript</a:t>
            </a:r>
            <a:r>
              <a:rPr lang="es-ES">
                <a:latin typeface="Calibri"/>
                <a:ea typeface="+mn-lt"/>
                <a:cs typeface="+mn-lt"/>
              </a:rPr>
              <a:t> y, por tanto, tiene soporte nativo, necesita indicar manualmente que se requiere salida en JSON. No permite ni interceptar solicitudes ni cancelarlas y solamente permite capturar errores de red.</a:t>
            </a:r>
          </a:p>
          <a:p>
            <a:pPr marL="342900" indent="-342900">
              <a:buFont typeface="Arial"/>
              <a:buChar char="•"/>
            </a:pPr>
            <a:r>
              <a:rPr lang="es-ES">
                <a:latin typeface="Calibri"/>
                <a:ea typeface="+mn-lt"/>
                <a:cs typeface="+mn-lt"/>
              </a:rPr>
              <a:t>Es ideal para proyectos pequeños o cuando se desea evitar dependencias externas. Su uso es suficiente para la mayoría de las solicitudes simples y muy fácil de implementar.</a:t>
            </a:r>
          </a:p>
          <a:p>
            <a:pPr marL="342900" indent="-342900">
              <a:buFont typeface="Arial"/>
              <a:buChar char="•"/>
            </a:pPr>
            <a:r>
              <a:rPr lang="es-ES">
                <a:latin typeface="Calibri"/>
                <a:ea typeface="+mn-lt"/>
                <a:cs typeface="+mn-lt"/>
              </a:rPr>
              <a:t>Axios no viene por defecto instalado, es necesario instalar una librería externa, convierte automática a JSON, permite interceptar solicitudes, respuestas e incluso cancelarlas, capaz de capturar errores de red y de respuesta además de permitir el establecimiento de configuraciones globales como las cabeceras.</a:t>
            </a:r>
            <a:endParaRPr lang="es-ES">
              <a:latin typeface="Calibri"/>
              <a:ea typeface="Calibri"/>
              <a:cs typeface="Calibri"/>
            </a:endParaRPr>
          </a:p>
          <a:p>
            <a:pPr marL="342900" indent="-342900">
              <a:buFont typeface="Arial"/>
              <a:buChar char="•"/>
            </a:pPr>
            <a:r>
              <a:rPr lang="es-ES">
                <a:latin typeface="Calibri"/>
                <a:ea typeface="Calibri"/>
                <a:cs typeface="Calibri"/>
              </a:rPr>
              <a:t>Se prefiere utilizarlo en aplicaciones más grandes o complejas donde se requiere un manejo más robusto de solicitudes, intercepción de respuestas o cuando se necesita poder cancelar solicitudes. Su API es más rica y su manejo automático del JSON lo hacen más conveniente en muchos casos.</a:t>
            </a:r>
          </a:p>
        </p:txBody>
      </p:sp>
    </p:spTree>
    <p:extLst>
      <p:ext uri="{BB962C8B-B14F-4D97-AF65-F5344CB8AC3E}">
        <p14:creationId xmlns:p14="http://schemas.microsoft.com/office/powerpoint/2010/main" val="9309393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D1804-6C75-69DC-D36A-3074FCA49B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89EB316-A729-E9C0-3CB6-35D975A39122}"/>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E25F4F07-8C8B-AADC-AC39-8243C09A8FDE}"/>
              </a:ext>
            </a:extLst>
          </p:cNvPr>
          <p:cNvSpPr>
            <a:spLocks noGrp="1"/>
          </p:cNvSpPr>
          <p:nvPr>
            <p:ph idx="1"/>
          </p:nvPr>
        </p:nvSpPr>
        <p:spPr/>
        <p:txBody>
          <a:bodyPr vert="horz" lIns="91440" tIns="45720" rIns="91440" bIns="45720" rtlCol="0" anchor="t">
            <a:normAutofit fontScale="92500" lnSpcReduction="10000"/>
          </a:bodyPr>
          <a:lstStyle/>
          <a:p>
            <a:pPr marL="342900" indent="-342900">
              <a:buFont typeface="Arial"/>
              <a:buChar char="•"/>
            </a:pPr>
            <a:r>
              <a:rPr lang="es-ES" err="1">
                <a:latin typeface="Calibri"/>
                <a:ea typeface="Calibri"/>
                <a:cs typeface="Calibri"/>
              </a:rPr>
              <a:t>useEffect</a:t>
            </a:r>
            <a:r>
              <a:rPr lang="es-ES">
                <a:latin typeface="Calibri"/>
                <a:ea typeface="Calibri"/>
                <a:cs typeface="Calibri"/>
              </a:rPr>
              <a:t> es uno de los </a:t>
            </a:r>
            <a:r>
              <a:rPr lang="es-ES" err="1">
                <a:latin typeface="Calibri"/>
                <a:ea typeface="Calibri"/>
                <a:cs typeface="Calibri"/>
              </a:rPr>
              <a:t>hooks</a:t>
            </a:r>
            <a:r>
              <a:rPr lang="es-ES">
                <a:latin typeface="Calibri"/>
                <a:ea typeface="Calibri"/>
                <a:cs typeface="Calibri"/>
              </a:rPr>
              <a:t> más importantes en </a:t>
            </a:r>
            <a:r>
              <a:rPr lang="es-ES" err="1">
                <a:latin typeface="Calibri"/>
                <a:ea typeface="Calibri"/>
                <a:cs typeface="Calibri"/>
              </a:rPr>
              <a:t>React</a:t>
            </a:r>
            <a:r>
              <a:rPr lang="es-ES">
                <a:latin typeface="Calibri"/>
                <a:ea typeface="Calibri"/>
                <a:cs typeface="Calibri"/>
              </a:rPr>
              <a:t>. Permite realizar efectos secundarios en componentes funcionales, como llamadas a </a:t>
            </a:r>
            <a:r>
              <a:rPr lang="es-ES" err="1">
                <a:latin typeface="Calibri"/>
                <a:ea typeface="Calibri"/>
                <a:cs typeface="Calibri"/>
              </a:rPr>
              <a:t>APIs</a:t>
            </a:r>
            <a:r>
              <a:rPr lang="es-ES">
                <a:latin typeface="Calibri"/>
                <a:ea typeface="Calibri"/>
                <a:cs typeface="Calibri"/>
              </a:rPr>
              <a:t>, suscripciones a eventos o manipulación del DOM. </a:t>
            </a:r>
            <a:r>
              <a:rPr lang="es-ES" err="1">
                <a:latin typeface="Calibri"/>
                <a:ea typeface="Calibri"/>
                <a:cs typeface="Calibri"/>
              </a:rPr>
              <a:t>useEffect</a:t>
            </a:r>
            <a:r>
              <a:rPr lang="es-ES">
                <a:latin typeface="Calibri"/>
                <a:ea typeface="Calibri"/>
                <a:cs typeface="Calibri"/>
              </a:rPr>
              <a:t> es un </a:t>
            </a:r>
            <a:r>
              <a:rPr lang="es-ES" err="1">
                <a:latin typeface="Calibri"/>
                <a:ea typeface="Calibri"/>
                <a:cs typeface="Calibri"/>
              </a:rPr>
              <a:t>hook</a:t>
            </a:r>
            <a:r>
              <a:rPr lang="es-ES">
                <a:latin typeface="Calibri"/>
                <a:ea typeface="Calibri"/>
                <a:cs typeface="Calibri"/>
              </a:rPr>
              <a:t> que permite ejecutar código después de que el componente se haya renderizado. Su sintaxis básica es:</a:t>
            </a:r>
          </a:p>
          <a:p>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 El código de la función flecha se ejecutará tras el renderizado</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 =&gt; {</a:t>
            </a:r>
            <a:br>
              <a:rPr lang="es-ES">
                <a:latin typeface="Consolas"/>
                <a:ea typeface="Calibri"/>
                <a:cs typeface="Calibri"/>
              </a:rPr>
            </a:br>
            <a:r>
              <a:rPr lang="es-ES">
                <a:latin typeface="Consolas"/>
                <a:ea typeface="Calibri"/>
                <a:cs typeface="Calibri"/>
              </a:rPr>
              <a:t>       // Aunque es opcional, se puede devolver una función de</a:t>
            </a:r>
            <a:br>
              <a:rPr lang="es-ES">
                <a:latin typeface="Consolas"/>
                <a:ea typeface="Calibri"/>
                <a:cs typeface="Calibri"/>
              </a:rPr>
            </a:br>
            <a:r>
              <a:rPr lang="es-ES">
                <a:latin typeface="Consolas"/>
                <a:ea typeface="Calibri"/>
                <a:cs typeface="Calibri"/>
              </a:rPr>
              <a:t>       // limpieza que se ejecuta antes de desmontar el </a:t>
            </a:r>
            <a:r>
              <a:rPr lang="es-ES" sz="2100">
                <a:latin typeface="Consolas"/>
                <a:ea typeface="Calibri"/>
                <a:cs typeface="Calibri"/>
              </a:rPr>
              <a:t>componente </a:t>
            </a:r>
            <a:br>
              <a:rPr lang="es-ES">
                <a:latin typeface="Consolas"/>
                <a:ea typeface="Calibri"/>
                <a:cs typeface="Calibri"/>
              </a:rPr>
            </a:br>
            <a:r>
              <a:rPr lang="es-ES">
                <a:latin typeface="Consolas"/>
                <a:ea typeface="Calibri"/>
                <a:cs typeface="Calibri"/>
              </a:rPr>
              <a:t>       // o antes de ejecutar el efecto otra vez. Es opcional</a:t>
            </a:r>
            <a:br>
              <a:rPr lang="es-ES">
                <a:latin typeface="Consolas"/>
                <a:ea typeface="Calibri"/>
                <a:cs typeface="Calibri"/>
              </a:rPr>
            </a:br>
            <a:r>
              <a:rPr lang="es-ES">
                <a:latin typeface="Consolas"/>
                <a:ea typeface="Calibri"/>
                <a:cs typeface="Calibri"/>
              </a:rPr>
              <a:t>   };                </a:t>
            </a:r>
            <a:r>
              <a:rPr lang="es-ES" sz="2100">
                <a:latin typeface="Consolas"/>
                <a:ea typeface="Calibri"/>
                <a:cs typeface="Calibri"/>
              </a:rPr>
              <a:t>// El array de dependencias determina cuándo </a:t>
            </a:r>
            <a:br>
              <a:rPr lang="es-ES">
                <a:latin typeface="Consolas"/>
                <a:ea typeface="Calibri"/>
                <a:cs typeface="Calibri"/>
              </a:rPr>
            </a:br>
            <a:r>
              <a:rPr lang="es-ES">
                <a:latin typeface="Consolas"/>
                <a:ea typeface="Calibri"/>
                <a:cs typeface="Calibri"/>
              </a:rPr>
              <a:t>}, [dependencias]);  </a:t>
            </a:r>
            <a:r>
              <a:rPr lang="es-ES" sz="2100">
                <a:latin typeface="Consolas"/>
                <a:ea typeface="Calibri"/>
                <a:cs typeface="Calibri"/>
              </a:rPr>
              <a:t>// se debe volver a ejecutar de nuevo el efecto</a:t>
            </a:r>
            <a:endParaRPr lang="es-ES">
              <a:latin typeface="Consolas"/>
              <a:ea typeface="Calibri"/>
              <a:cs typeface="Calibri"/>
            </a:endParaRPr>
          </a:p>
        </p:txBody>
      </p:sp>
    </p:spTree>
    <p:extLst>
      <p:ext uri="{BB962C8B-B14F-4D97-AF65-F5344CB8AC3E}">
        <p14:creationId xmlns:p14="http://schemas.microsoft.com/office/powerpoint/2010/main" val="22388562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AEE86-6435-4B2C-E7DD-2CB1824AB8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D34F8B-85A4-31DA-BE20-9E832394E68E}"/>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126E67D9-03BA-7DD1-37F9-6D295469B5BB}"/>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a:latin typeface="Calibri"/>
                <a:ea typeface="Calibri"/>
                <a:cs typeface="Calibri"/>
              </a:rPr>
              <a:t>Si se pasa un array vacío como segundo argumento, el efecto solo se ejecutará una vez después del primer renderizado.</a:t>
            </a:r>
            <a:br>
              <a:rPr lang="es-ES">
                <a:latin typeface="Calibri"/>
                <a:ea typeface="Calibri"/>
                <a:cs typeface="Calibri"/>
              </a:rPr>
            </a:br>
            <a:r>
              <a:rPr lang="es-ES">
                <a:latin typeface="Consolas"/>
                <a:ea typeface="Calibri"/>
                <a:cs typeface="Calibri"/>
              </a:rPr>
              <a:t>    </a:t>
            </a:r>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console.log('Componente montado');</a:t>
            </a:r>
            <a:br>
              <a:rPr lang="es-ES">
                <a:latin typeface="Consolas"/>
                <a:ea typeface="Calibri"/>
                <a:cs typeface="Calibri"/>
              </a:rPr>
            </a:br>
            <a:r>
              <a:rPr lang="es-ES">
                <a:latin typeface="Consolas"/>
                <a:ea typeface="Calibri"/>
                <a:cs typeface="Calibri"/>
              </a:rPr>
              <a:t>    }, []);</a:t>
            </a:r>
          </a:p>
          <a:p>
            <a:pPr marL="342900" indent="-342900">
              <a:buFont typeface="Arial"/>
              <a:buChar char="•"/>
            </a:pPr>
            <a:r>
              <a:rPr lang="es-ES">
                <a:latin typeface="Calibri"/>
                <a:ea typeface="Calibri"/>
                <a:cs typeface="Calibri"/>
              </a:rPr>
              <a:t>Si no se pasa un segundo argumento, el efecto se ejecutará siempre después de cada renderizado.</a:t>
            </a:r>
            <a:br>
              <a:rPr lang="es-ES">
                <a:latin typeface="Calibri"/>
                <a:ea typeface="Calibri"/>
                <a:cs typeface="Calibri"/>
              </a:rPr>
            </a:br>
            <a:r>
              <a:rPr lang="es-ES">
                <a:latin typeface="Consolas"/>
                <a:ea typeface="Calibri"/>
                <a:cs typeface="Calibri"/>
              </a:rPr>
              <a:t>    </a:t>
            </a:r>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console.log('Componente actualizado');</a:t>
            </a:r>
            <a:br>
              <a:rPr lang="es-ES">
                <a:latin typeface="Consolas"/>
                <a:ea typeface="Calibri"/>
                <a:cs typeface="Calibri"/>
              </a:rPr>
            </a:br>
            <a:r>
              <a:rPr lang="es-ES">
                <a:latin typeface="Consolas"/>
                <a:ea typeface="Calibri"/>
                <a:cs typeface="Calibri"/>
              </a:rPr>
              <a:t>    });</a:t>
            </a:r>
          </a:p>
          <a:p>
            <a:pPr marL="342900" indent="-342900">
              <a:buFont typeface="Arial"/>
              <a:buChar char="•"/>
            </a:pPr>
            <a:r>
              <a:rPr lang="es-ES">
                <a:latin typeface="Calibri"/>
                <a:ea typeface="Calibri"/>
                <a:cs typeface="Calibri"/>
              </a:rPr>
              <a:t>Si se pasa un array de dependencias, el efecto solo se ejecutará cuando alguna de las dependencias cambie.</a:t>
            </a:r>
            <a:br>
              <a:rPr lang="es-ES">
                <a:latin typeface="Calibri"/>
                <a:ea typeface="Calibri"/>
                <a:cs typeface="Calibri"/>
              </a:rPr>
            </a:br>
            <a:r>
              <a:rPr lang="es-ES">
                <a:latin typeface="Consolas"/>
                <a:ea typeface="Calibri"/>
                <a:cs typeface="Calibri"/>
              </a:rPr>
              <a:t>    </a:t>
            </a:r>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console.log('El valor de </a:t>
            </a:r>
            <a:r>
              <a:rPr lang="es-ES" err="1">
                <a:latin typeface="Consolas"/>
                <a:ea typeface="Calibri"/>
                <a:cs typeface="Calibri"/>
              </a:rPr>
              <a:t>count</a:t>
            </a:r>
            <a:r>
              <a:rPr lang="es-ES">
                <a:latin typeface="Consolas"/>
                <a:ea typeface="Calibri"/>
                <a:cs typeface="Calibri"/>
              </a:rPr>
              <a:t> ha cambiado');</a:t>
            </a:r>
            <a:br>
              <a:rPr lang="es-ES">
                <a:latin typeface="Consolas"/>
                <a:ea typeface="Calibri"/>
                <a:cs typeface="Calibri"/>
              </a:rPr>
            </a:br>
            <a:r>
              <a:rPr lang="es-ES">
                <a:latin typeface="Consolas"/>
                <a:ea typeface="Calibri"/>
                <a:cs typeface="Calibri"/>
              </a:rPr>
              <a:t>    }, [</a:t>
            </a:r>
            <a:r>
              <a:rPr lang="es-ES" err="1">
                <a:latin typeface="Consolas"/>
                <a:ea typeface="Calibri"/>
                <a:cs typeface="Calibri"/>
              </a:rPr>
              <a:t>count</a:t>
            </a:r>
            <a:r>
              <a:rPr lang="es-ES">
                <a:latin typeface="Consolas"/>
                <a:ea typeface="Calibri"/>
                <a:cs typeface="Calibri"/>
              </a:rPr>
              <a:t>]);</a:t>
            </a:r>
          </a:p>
        </p:txBody>
      </p:sp>
    </p:spTree>
    <p:extLst>
      <p:ext uri="{BB962C8B-B14F-4D97-AF65-F5344CB8AC3E}">
        <p14:creationId xmlns:p14="http://schemas.microsoft.com/office/powerpoint/2010/main" val="34763697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1FBF9-32F8-771D-17C0-E4FCCC5346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0190D3-8539-1B10-73E2-7FFC5BDE7A81}"/>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99E286D2-66F4-219E-23BA-33BC2D0C38D0}"/>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Se puede devolver una función de limpieza para limpiar efectos anteriores antes de ejecutar el nuevo efecto o antes de desmontar el componente. Por ejemplo, si hay una suscripción a un evento, cuando se desmonta el componente, como ya no se va a necesitar, se puede </a:t>
            </a:r>
            <a:r>
              <a:rPr lang="es-ES" err="1">
                <a:latin typeface="Calibri"/>
                <a:ea typeface="Calibri"/>
                <a:cs typeface="Calibri"/>
              </a:rPr>
              <a:t>desuscribir</a:t>
            </a:r>
            <a:r>
              <a:rPr lang="es-ES">
                <a:latin typeface="Calibri"/>
                <a:ea typeface="Calibri"/>
                <a:cs typeface="Calibri"/>
              </a:rPr>
              <a:t> del mismo.</a:t>
            </a:r>
            <a:br>
              <a:rPr lang="es-ES">
                <a:latin typeface="Calibri"/>
                <a:ea typeface="Calibri"/>
                <a:cs typeface="Calibri"/>
              </a:rPr>
            </a:br>
            <a:r>
              <a:rPr lang="es-ES">
                <a:latin typeface="Consolas"/>
                <a:ea typeface="Calibri"/>
                <a:cs typeface="Calibri"/>
              </a:rPr>
              <a:t>    </a:t>
            </a:r>
            <a:r>
              <a:rPr lang="es-ES" err="1">
                <a:latin typeface="Consolas"/>
                <a:ea typeface="Calibri"/>
                <a:cs typeface="Calibri"/>
              </a:rPr>
              <a:t>useEffect</a:t>
            </a:r>
            <a:r>
              <a:rPr lang="es-ES">
                <a:latin typeface="Consolas"/>
                <a:ea typeface="Calibri"/>
                <a:cs typeface="Calibri"/>
              </a:rPr>
              <a:t>(() =&gt;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const</a:t>
            </a:r>
            <a:r>
              <a:rPr lang="es-ES">
                <a:latin typeface="Consolas"/>
                <a:ea typeface="Calibri"/>
                <a:cs typeface="Calibri"/>
              </a:rPr>
              <a:t> </a:t>
            </a:r>
            <a:r>
              <a:rPr lang="es-ES" err="1">
                <a:latin typeface="Consolas"/>
                <a:ea typeface="Calibri"/>
                <a:cs typeface="Calibri"/>
              </a:rPr>
              <a:t>suscripcion</a:t>
            </a:r>
            <a:r>
              <a:rPr lang="es-ES">
                <a:latin typeface="Consolas"/>
                <a:ea typeface="Calibri"/>
                <a:cs typeface="Calibri"/>
              </a:rPr>
              <a:t> = </a:t>
            </a:r>
            <a:r>
              <a:rPr lang="es-ES" err="1">
                <a:latin typeface="Consolas"/>
                <a:ea typeface="Calibri"/>
                <a:cs typeface="Calibri"/>
              </a:rPr>
              <a:t>suscribirseAEvento</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return</a:t>
            </a:r>
            <a:r>
              <a:rPr lang="es-ES">
                <a:latin typeface="Consolas"/>
                <a:ea typeface="Calibri"/>
                <a:cs typeface="Calibri"/>
              </a:rPr>
              <a:t> () =&gt;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suscripcion.desuscribirs</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    }, []);</a:t>
            </a:r>
          </a:p>
        </p:txBody>
      </p:sp>
    </p:spTree>
    <p:extLst>
      <p:ext uri="{BB962C8B-B14F-4D97-AF65-F5344CB8AC3E}">
        <p14:creationId xmlns:p14="http://schemas.microsoft.com/office/powerpoint/2010/main" val="367322590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BB01A-428F-C97A-FF03-56280F2A20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D596586-23D3-9ED5-8FDB-1D0DFBF2DF94}"/>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F5350A41-8899-7386-D1DE-4A26AF3C90FC}"/>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Se va a crear un componente para mostrar los datos de la api de libros que se creó en el servidor con Laravel. Si no tenemos disponible la aplicación servidor, la iniciamos para poder acceder a ella.</a:t>
            </a:r>
            <a:endParaRPr lang="es-ES"/>
          </a:p>
          <a:p>
            <a:pPr marL="342900" indent="-342900">
              <a:buFont typeface="Arial"/>
              <a:buChar char="•"/>
            </a:pPr>
            <a:r>
              <a:rPr lang="es-ES">
                <a:latin typeface="Calibri"/>
                <a:ea typeface="Calibri"/>
                <a:cs typeface="Calibri"/>
              </a:rPr>
              <a:t>El componente accederá a la ficha y mostrará el libro con el identificador que le indiquemos.</a:t>
            </a:r>
            <a:endParaRPr lang="es-ES">
              <a:latin typeface="Consolas"/>
              <a:ea typeface="Calibri"/>
              <a:cs typeface="Calibri"/>
            </a:endParaRPr>
          </a:p>
          <a:p>
            <a:pPr marL="342900" indent="-342900">
              <a:buFont typeface="Arial"/>
              <a:buChar char="•"/>
            </a:pPr>
            <a:r>
              <a:rPr lang="es-ES">
                <a:latin typeface="Calibri"/>
                <a:ea typeface="Calibri"/>
                <a:cs typeface="Calibri"/>
              </a:rPr>
              <a:t>En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APILibros</a:t>
            </a:r>
            <a:r>
              <a:rPr lang="es-ES">
                <a:latin typeface="Calibri"/>
                <a:ea typeface="Calibri"/>
                <a:cs typeface="Calibri"/>
              </a:rPr>
              <a:t>/ creamos el componente </a:t>
            </a:r>
            <a:r>
              <a:rPr lang="es-ES" err="1">
                <a:latin typeface="Calibri"/>
                <a:ea typeface="Calibri"/>
                <a:cs typeface="Calibri"/>
              </a:rPr>
              <a:t>APIFichaId.jsx</a:t>
            </a:r>
            <a:br>
              <a:rPr lang="es-ES">
                <a:latin typeface="Calibri"/>
                <a:ea typeface="Calibri"/>
                <a:cs typeface="Calibri"/>
              </a:rPr>
            </a:br>
            <a:endParaRPr lang="es-ES">
              <a:latin typeface="Calibri"/>
              <a:ea typeface="Calibri"/>
              <a:cs typeface="Calibri"/>
            </a:endParaRP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useEffect</a:t>
            </a:r>
            <a:r>
              <a:rPr lang="es-ES">
                <a:latin typeface="Consolas"/>
                <a:ea typeface="+mn-lt"/>
                <a:cs typeface="+mn-lt"/>
              </a:rPr>
              <a:t>,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function</a:t>
            </a:r>
            <a:r>
              <a:rPr lang="es-ES">
                <a:latin typeface="Consolas"/>
                <a:ea typeface="+mn-lt"/>
                <a:cs typeface="+mn-lt"/>
              </a:rPr>
              <a:t> </a:t>
            </a:r>
            <a:r>
              <a:rPr lang="es-ES" err="1">
                <a:latin typeface="Consolas"/>
                <a:ea typeface="+mn-lt"/>
                <a:cs typeface="+mn-lt"/>
              </a:rPr>
              <a:t>APIFichaId</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IdLibro</a:t>
            </a:r>
            <a:r>
              <a:rPr lang="es-ES">
                <a:latin typeface="Consolas"/>
                <a:ea typeface="+mn-lt"/>
                <a:cs typeface="+mn-lt"/>
              </a:rPr>
              <a:t>, </a:t>
            </a:r>
            <a:r>
              <a:rPr lang="es-ES" err="1">
                <a:latin typeface="Consolas"/>
                <a:ea typeface="+mn-lt"/>
                <a:cs typeface="+mn-lt"/>
              </a:rPr>
              <a:t>setIdLibro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Declaramos las variables</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Libro,setLibro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r>
              <a:rPr lang="es-ES" err="1">
                <a:latin typeface="Consolas"/>
                <a:ea typeface="+mn-lt"/>
                <a:cs typeface="+mn-lt"/>
              </a:rPr>
              <a:t>null</a:t>
            </a:r>
            <a:r>
              <a:rPr lang="es-ES">
                <a:latin typeface="Consolas"/>
                <a:ea typeface="+mn-lt"/>
                <a:cs typeface="+mn-lt"/>
              </a:rPr>
              <a:t>);       // que necesitamos gestionar</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cargando,setCargando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(false);// como el </a:t>
            </a:r>
            <a:r>
              <a:rPr lang="es-ES" err="1">
                <a:latin typeface="Consolas"/>
                <a:ea typeface="+mn-lt"/>
                <a:cs typeface="+mn-lt"/>
              </a:rPr>
              <a:t>IdLibro</a:t>
            </a:r>
            <a:r>
              <a:rPr lang="es-ES">
                <a:latin typeface="Consolas"/>
                <a:ea typeface="+mn-lt"/>
                <a:cs typeface="+mn-lt"/>
              </a:rPr>
              <a:t>, Libro,</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error,setError</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r>
              <a:rPr lang="es-ES" err="1">
                <a:latin typeface="Consolas"/>
                <a:ea typeface="+mn-lt"/>
                <a:cs typeface="+mn-lt"/>
              </a:rPr>
              <a:t>null</a:t>
            </a:r>
            <a:r>
              <a:rPr lang="es-ES">
                <a:latin typeface="Consolas"/>
                <a:ea typeface="+mn-lt"/>
                <a:cs typeface="+mn-lt"/>
              </a:rPr>
              <a:t>);         // cargando o el error</a:t>
            </a:r>
            <a:br>
              <a:rPr lang="en-US"/>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CambiarIdLibroChange</a:t>
            </a:r>
            <a:r>
              <a:rPr lang="es-ES">
                <a:latin typeface="Consolas"/>
                <a:ea typeface="+mn-lt"/>
                <a:cs typeface="+mn-lt"/>
              </a:rPr>
              <a:t>=(</a:t>
            </a:r>
            <a:r>
              <a:rPr lang="es-ES" err="1">
                <a:latin typeface="Consolas"/>
                <a:ea typeface="+mn-lt"/>
                <a:cs typeface="+mn-lt"/>
              </a:rPr>
              <a:t>event</a:t>
            </a:r>
            <a:r>
              <a:rPr lang="es-ES">
                <a:latin typeface="Consolas"/>
                <a:ea typeface="+mn-lt"/>
                <a:cs typeface="+mn-lt"/>
              </a:rPr>
              <a:t>) =&gt;{         // Función que gestiona el</a:t>
            </a:r>
            <a:br>
              <a:rPr lang="es-ES">
                <a:latin typeface="Consolas"/>
                <a:ea typeface="+mn-lt"/>
                <a:cs typeface="+mn-lt"/>
              </a:rPr>
            </a:br>
            <a:r>
              <a:rPr lang="es-ES">
                <a:latin typeface="Consolas"/>
                <a:ea typeface="+mn-lt"/>
                <a:cs typeface="+mn-lt"/>
              </a:rPr>
              <a:t>        </a:t>
            </a:r>
            <a:r>
              <a:rPr lang="es-ES" err="1">
                <a:latin typeface="Consolas"/>
                <a:ea typeface="+mn-lt"/>
                <a:cs typeface="+mn-lt"/>
              </a:rPr>
              <a:t>setIdLibro</a:t>
            </a:r>
            <a:r>
              <a:rPr lang="es-ES">
                <a:latin typeface="Consolas"/>
                <a:ea typeface="+mn-lt"/>
                <a:cs typeface="+mn-lt"/>
              </a:rPr>
              <a:t>(</a:t>
            </a:r>
            <a:r>
              <a:rPr lang="es-ES" err="1">
                <a:latin typeface="Consolas"/>
                <a:ea typeface="+mn-lt"/>
                <a:cs typeface="+mn-lt"/>
              </a:rPr>
              <a:t>event.target.value</a:t>
            </a:r>
            <a:r>
              <a:rPr lang="es-ES">
                <a:latin typeface="Consolas"/>
                <a:ea typeface="+mn-lt"/>
                <a:cs typeface="+mn-lt"/>
              </a:rPr>
              <a:t>);            // cambio del cuadro de texto</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CONTINÚA...</a:t>
            </a:r>
            <a:endParaRPr lang="es-ES">
              <a:latin typeface="Consolas"/>
            </a:endParaRPr>
          </a:p>
        </p:txBody>
      </p:sp>
    </p:spTree>
    <p:extLst>
      <p:ext uri="{BB962C8B-B14F-4D97-AF65-F5344CB8AC3E}">
        <p14:creationId xmlns:p14="http://schemas.microsoft.com/office/powerpoint/2010/main" val="153960681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A66D2-78B8-E675-53B0-B688BC5C50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736D27-7AF3-E5B5-AD00-936F6AB5A67B}"/>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F1A44C23-E2BD-6A97-125D-C61A2EA764F2}"/>
              </a:ext>
            </a:extLst>
          </p:cNvPr>
          <p:cNvSpPr>
            <a:spLocks noGrp="1"/>
          </p:cNvSpPr>
          <p:nvPr>
            <p:ph idx="1"/>
          </p:nvPr>
        </p:nvSpPr>
        <p:spPr/>
        <p:txBody>
          <a:bodyPr vert="horz" lIns="91440" tIns="45720" rIns="91440" bIns="45720" rtlCol="0" anchor="t">
            <a:noAutofit/>
          </a:bodyPr>
          <a:lstStyle/>
          <a:p>
            <a:r>
              <a:rPr lang="es-ES" sz="1200">
                <a:latin typeface="Consolas"/>
                <a:ea typeface="+mn-lt"/>
                <a:cs typeface="+mn-lt"/>
              </a:rPr>
              <a:t>    </a:t>
            </a:r>
            <a:r>
              <a:rPr lang="es-ES" sz="1200" err="1">
                <a:latin typeface="Consolas"/>
                <a:ea typeface="+mn-lt"/>
                <a:cs typeface="+mn-lt"/>
              </a:rPr>
              <a:t>useEffect</a:t>
            </a:r>
            <a:r>
              <a:rPr lang="es-ES" sz="1200">
                <a:latin typeface="Consolas"/>
                <a:ea typeface="+mn-lt"/>
                <a:cs typeface="+mn-lt"/>
              </a:rPr>
              <a:t>(()=&gt;{                     // </a:t>
            </a:r>
            <a:r>
              <a:rPr lang="es-ES" sz="1200" err="1">
                <a:latin typeface="Consolas"/>
                <a:ea typeface="+mn-lt"/>
                <a:cs typeface="+mn-lt"/>
              </a:rPr>
              <a:t>useEffect</a:t>
            </a:r>
            <a:r>
              <a:rPr lang="es-ES" sz="1200">
                <a:latin typeface="Consolas"/>
                <a:ea typeface="+mn-lt"/>
                <a:cs typeface="+mn-lt"/>
              </a:rPr>
              <a:t> se ejecuta, nada más cargar y renderizar el componente</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if</a:t>
            </a:r>
            <a:r>
              <a:rPr lang="es-ES" sz="1200">
                <a:latin typeface="Consolas"/>
                <a:ea typeface="+mn-lt"/>
                <a:cs typeface="+mn-lt"/>
              </a:rPr>
              <a:t> (</a:t>
            </a:r>
            <a:r>
              <a:rPr lang="es-ES" sz="1200" err="1">
                <a:latin typeface="Consolas"/>
                <a:ea typeface="+mn-lt"/>
                <a:cs typeface="+mn-lt"/>
              </a:rPr>
              <a:t>IdLibro</a:t>
            </a:r>
            <a:r>
              <a:rPr lang="es-ES" sz="1200">
                <a:latin typeface="Consolas"/>
                <a:ea typeface="+mn-lt"/>
                <a:cs typeface="+mn-lt"/>
              </a:rPr>
              <a:t>){                   // Si tenemos un identificador ponemos el estado cargando a verdadero</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setCargando</a:t>
            </a:r>
            <a:r>
              <a:rPr lang="es-ES" sz="1200">
                <a:latin typeface="Consolas"/>
                <a:ea typeface="+mn-lt"/>
                <a:cs typeface="+mn-lt"/>
              </a:rPr>
              <a:t>(true);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fetch</a:t>
            </a:r>
            <a:r>
              <a:rPr lang="es-ES" sz="1200">
                <a:latin typeface="Consolas"/>
                <a:ea typeface="+mn-lt"/>
                <a:cs typeface="+mn-lt"/>
              </a:rPr>
              <a:t>(`http://localhost:8000/api/libros/${</a:t>
            </a:r>
            <a:r>
              <a:rPr lang="es-ES" sz="1200" err="1">
                <a:latin typeface="Consolas"/>
                <a:ea typeface="+mn-lt"/>
                <a:cs typeface="+mn-lt"/>
              </a:rPr>
              <a:t>IdLibro</a:t>
            </a:r>
            <a:r>
              <a:rPr lang="es-ES" sz="1200">
                <a:latin typeface="Consolas"/>
                <a:ea typeface="+mn-lt"/>
                <a:cs typeface="+mn-lt"/>
              </a:rPr>
              <a:t>}`) //Solicitamos el libro que tiene el identificador</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then</a:t>
            </a:r>
            <a:r>
              <a:rPr lang="es-ES" sz="1200">
                <a:latin typeface="Consolas"/>
                <a:ea typeface="+mn-lt"/>
                <a:cs typeface="+mn-lt"/>
              </a:rPr>
              <a:t>(response =&gt; {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return</a:t>
            </a:r>
            <a:r>
              <a:rPr lang="es-ES" sz="1200">
                <a:latin typeface="Consolas"/>
                <a:ea typeface="+mn-lt"/>
                <a:cs typeface="+mn-lt"/>
              </a:rPr>
              <a:t> </a:t>
            </a:r>
            <a:r>
              <a:rPr lang="es-ES" sz="1200" err="1">
                <a:latin typeface="Consolas"/>
                <a:ea typeface="+mn-lt"/>
                <a:cs typeface="+mn-lt"/>
              </a:rPr>
              <a:t>response.json</a:t>
            </a:r>
            <a:r>
              <a:rPr lang="es-ES" sz="1200">
                <a:latin typeface="Consolas"/>
                <a:ea typeface="+mn-lt"/>
                <a:cs typeface="+mn-lt"/>
              </a:rPr>
              <a:t>(); // Convierte la respuesta a formato JSON</a:t>
            </a:r>
            <a:br>
              <a:rPr lang="es-ES" sz="1200">
                <a:latin typeface="Consolas"/>
                <a:ea typeface="+mn-lt"/>
                <a:cs typeface="+mn-lt"/>
              </a:rPr>
            </a:br>
            <a:r>
              <a:rPr lang="es-ES" sz="1200">
                <a:latin typeface="Consolas"/>
                <a:ea typeface="+mn-lt"/>
                <a:cs typeface="+mn-lt"/>
              </a:rPr>
              <a:t>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then</a:t>
            </a:r>
            <a:r>
              <a:rPr lang="es-ES" sz="1200">
                <a:latin typeface="Consolas"/>
                <a:ea typeface="+mn-lt"/>
                <a:cs typeface="+mn-lt"/>
              </a:rPr>
              <a:t>(data =&gt;{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setLibro</a:t>
            </a:r>
            <a:r>
              <a:rPr lang="es-ES" sz="1200">
                <a:latin typeface="Consolas"/>
                <a:ea typeface="+mn-lt"/>
                <a:cs typeface="+mn-lt"/>
              </a:rPr>
              <a:t>(data);         // Actualiza el Libro con los datos recibidos</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setCargando</a:t>
            </a:r>
            <a:r>
              <a:rPr lang="es-ES" sz="1200">
                <a:latin typeface="Consolas"/>
                <a:ea typeface="+mn-lt"/>
                <a:cs typeface="+mn-lt"/>
              </a:rPr>
              <a:t>(false);     // Cambia el estado de carga a falso</a:t>
            </a:r>
            <a:br>
              <a:rPr lang="es-ES" sz="1200">
                <a:latin typeface="Consolas"/>
                <a:ea typeface="+mn-lt"/>
                <a:cs typeface="+mn-lt"/>
              </a:rPr>
            </a:br>
            <a:r>
              <a:rPr lang="es-ES" sz="1200">
                <a:latin typeface="Consolas"/>
                <a:ea typeface="+mn-lt"/>
                <a:cs typeface="+mn-lt"/>
              </a:rPr>
              <a:t>            })</a:t>
            </a:r>
            <a:br>
              <a:rPr lang="es-ES" sz="1200">
                <a:latin typeface="Consolas"/>
                <a:ea typeface="+mn-lt"/>
                <a:cs typeface="+mn-lt"/>
              </a:rPr>
            </a:br>
            <a:r>
              <a:rPr lang="es-ES" sz="1200">
                <a:latin typeface="Consolas"/>
                <a:ea typeface="+mn-lt"/>
                <a:cs typeface="+mn-lt"/>
              </a:rPr>
              <a:t>            .catch(error =&gt; {</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setError</a:t>
            </a:r>
            <a:r>
              <a:rPr lang="es-ES" sz="1200">
                <a:latin typeface="Consolas"/>
                <a:ea typeface="+mn-lt"/>
                <a:cs typeface="+mn-lt"/>
              </a:rPr>
              <a:t>(error);        // Maneja los errores durante la solicitud</a:t>
            </a:r>
            <a:br>
              <a:rPr lang="es-ES" sz="1200">
                <a:latin typeface="Consolas"/>
                <a:ea typeface="+mn-lt"/>
                <a:cs typeface="+mn-lt"/>
              </a:rPr>
            </a:br>
            <a:r>
              <a:rPr lang="es-ES" sz="1200">
                <a:latin typeface="Consolas"/>
                <a:ea typeface="+mn-lt"/>
                <a:cs typeface="+mn-lt"/>
              </a:rPr>
              <a:t>               </a:t>
            </a:r>
            <a:r>
              <a:rPr lang="es-ES" sz="1200" err="1">
                <a:latin typeface="Consolas"/>
                <a:ea typeface="+mn-lt"/>
                <a:cs typeface="+mn-lt"/>
              </a:rPr>
              <a:t>setCargando</a:t>
            </a:r>
            <a:r>
              <a:rPr lang="es-ES" sz="1200">
                <a:latin typeface="Consolas"/>
                <a:ea typeface="+mn-lt"/>
                <a:cs typeface="+mn-lt"/>
              </a:rPr>
              <a:t>(false);      // Cambia el estado de carga a falso</a:t>
            </a:r>
            <a:br>
              <a:rPr lang="es-ES" sz="1200">
                <a:latin typeface="Consolas"/>
                <a:ea typeface="+mn-lt"/>
                <a:cs typeface="+mn-lt"/>
              </a:rPr>
            </a:br>
            <a:r>
              <a:rPr lang="es-ES" sz="1200">
                <a:latin typeface="Consolas"/>
                <a:ea typeface="+mn-lt"/>
                <a:cs typeface="+mn-lt"/>
              </a:rPr>
              <a:t>            });</a:t>
            </a:r>
            <a:br>
              <a:rPr lang="es-ES" sz="1200">
                <a:latin typeface="Consolas"/>
                <a:ea typeface="+mn-lt"/>
                <a:cs typeface="+mn-lt"/>
              </a:rPr>
            </a:br>
            <a:r>
              <a:rPr lang="es-ES" sz="1200">
                <a:latin typeface="Consolas"/>
                <a:ea typeface="+mn-lt"/>
                <a:cs typeface="+mn-lt"/>
              </a:rPr>
              <a:t>        }</a:t>
            </a:r>
            <a:br>
              <a:rPr lang="es-ES" sz="1200">
                <a:latin typeface="Consolas"/>
                <a:ea typeface="+mn-lt"/>
                <a:cs typeface="+mn-lt"/>
              </a:rPr>
            </a:br>
            <a:r>
              <a:rPr lang="es-ES" sz="1200">
                <a:latin typeface="Consolas"/>
                <a:ea typeface="+mn-lt"/>
                <a:cs typeface="+mn-lt"/>
              </a:rPr>
              <a:t>    }, [</a:t>
            </a:r>
            <a:r>
              <a:rPr lang="es-ES" sz="1200" err="1">
                <a:latin typeface="Consolas"/>
                <a:ea typeface="+mn-lt"/>
                <a:cs typeface="+mn-lt"/>
              </a:rPr>
              <a:t>IdLibro</a:t>
            </a:r>
            <a:r>
              <a:rPr lang="es-ES" sz="1200">
                <a:latin typeface="Consolas"/>
                <a:ea typeface="+mn-lt"/>
                <a:cs typeface="+mn-lt"/>
              </a:rPr>
              <a:t>]);                      // El efecto se ejecuta al cambiar el </a:t>
            </a:r>
            <a:r>
              <a:rPr lang="es-ES" sz="1200" err="1">
                <a:latin typeface="Consolas"/>
                <a:ea typeface="+mn-lt"/>
                <a:cs typeface="+mn-lt"/>
              </a:rPr>
              <a:t>IdLibro</a:t>
            </a:r>
            <a:br>
              <a:rPr lang="es-ES" sz="1200">
                <a:latin typeface="Consolas"/>
              </a:rPr>
            </a:br>
            <a:r>
              <a:rPr lang="es-ES" sz="1200">
                <a:latin typeface="Consolas"/>
              </a:rPr>
              <a:t>//CONTINÚA...</a:t>
            </a:r>
            <a:endParaRPr lang="es-ES" err="1">
              <a:latin typeface="Bembo"/>
            </a:endParaRPr>
          </a:p>
        </p:txBody>
      </p:sp>
    </p:spTree>
    <p:extLst>
      <p:ext uri="{BB962C8B-B14F-4D97-AF65-F5344CB8AC3E}">
        <p14:creationId xmlns:p14="http://schemas.microsoft.com/office/powerpoint/2010/main" val="86296715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F0F74-8FC1-6750-F960-9034202FE3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8D9465-0695-051E-2803-45BEB1DAD70D}"/>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32D1E7D4-BBC0-0A3F-2902-0E6D80DA3F7D}"/>
              </a:ext>
            </a:extLst>
          </p:cNvPr>
          <p:cNvSpPr>
            <a:spLocks noGrp="1"/>
          </p:cNvSpPr>
          <p:nvPr>
            <p:ph idx="1"/>
          </p:nvPr>
        </p:nvSpPr>
        <p:spPr/>
        <p:txBody>
          <a:bodyPr vert="horz" lIns="91440" tIns="45720" rIns="91440" bIns="45720" rtlCol="0" anchor="t">
            <a:normAutofit fontScale="70000" lnSpcReduction="20000"/>
          </a:bodyPr>
          <a:lstStyle/>
          <a:p>
            <a:r>
              <a:rPr lang="es-ES">
                <a:latin typeface="Consolas"/>
                <a:ea typeface="+mn-lt"/>
                <a:cs typeface="+mn-lt"/>
              </a:rPr>
              <a:t>    </a:t>
            </a:r>
            <a:r>
              <a:rPr lang="es-ES" err="1">
                <a:latin typeface="Consolas"/>
                <a:ea typeface="+mn-lt"/>
                <a:cs typeface="+mn-lt"/>
              </a:rPr>
              <a:t>if</a:t>
            </a:r>
            <a:r>
              <a:rPr lang="es-ES">
                <a:latin typeface="Consolas"/>
                <a:ea typeface="+mn-lt"/>
                <a:cs typeface="+mn-lt"/>
              </a:rPr>
              <a:t>(cargando){                       // Si está cargando se muestra</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&lt;</a:t>
            </a:r>
            <a:r>
              <a:rPr lang="es-ES" err="1">
                <a:latin typeface="Consolas"/>
                <a:ea typeface="+mn-lt"/>
                <a:cs typeface="+mn-lt"/>
              </a:rPr>
              <a:t>div</a:t>
            </a:r>
            <a:r>
              <a:rPr lang="es-ES">
                <a:latin typeface="Consolas"/>
                <a:ea typeface="+mn-lt"/>
                <a:cs typeface="+mn-lt"/>
              </a:rPr>
              <a:t>&gt;Cargando...&lt;/</a:t>
            </a:r>
            <a:r>
              <a:rPr lang="es-ES" err="1">
                <a:latin typeface="Consolas"/>
                <a:ea typeface="+mn-lt"/>
                <a:cs typeface="+mn-lt"/>
              </a:rPr>
              <a:t>div</a:t>
            </a:r>
            <a:r>
              <a:rPr lang="es-ES">
                <a:latin typeface="Consolas"/>
                <a:ea typeface="+mn-lt"/>
                <a:cs typeface="+mn-lt"/>
              </a:rPr>
              <a:t>&gt;;  // el estado de carga</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(error){                        // Si hay un error se mostrará</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&lt;</a:t>
            </a:r>
            <a:r>
              <a:rPr lang="es-ES" err="1">
                <a:latin typeface="Consolas"/>
                <a:ea typeface="+mn-lt"/>
                <a:cs typeface="+mn-lt"/>
              </a:rPr>
              <a:t>div</a:t>
            </a:r>
            <a:r>
              <a:rPr lang="es-ES">
                <a:latin typeface="Consolas"/>
                <a:ea typeface="+mn-lt"/>
                <a:cs typeface="+mn-lt"/>
              </a:rPr>
              <a:t>&gt;Error: {</a:t>
            </a:r>
            <a:r>
              <a:rPr lang="es-ES" err="1">
                <a:latin typeface="Consolas"/>
                <a:ea typeface="+mn-lt"/>
                <a:cs typeface="+mn-lt"/>
              </a:rPr>
              <a:t>error.message</a:t>
            </a:r>
            <a:r>
              <a:rPr lang="es-ES">
                <a:latin typeface="Consolas"/>
                <a:ea typeface="+mn-lt"/>
                <a:cs typeface="+mn-lt"/>
              </a:rPr>
              <a:t>}&lt;/</a:t>
            </a:r>
            <a:r>
              <a:rPr lang="es-ES" err="1">
                <a:latin typeface="Consolas"/>
                <a:ea typeface="+mn-lt"/>
                <a:cs typeface="+mn-lt"/>
              </a:rPr>
              <a:t>div</a:t>
            </a:r>
            <a:r>
              <a:rPr lang="es-ES">
                <a:latin typeface="Consolas"/>
                <a:ea typeface="+mn-lt"/>
                <a:cs typeface="+mn-lt"/>
              </a:rPr>
              <a:t>&gt; // El mensaje de error</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txtIdLibro</a:t>
            </a:r>
            <a:r>
              <a:rPr lang="es-ES">
                <a:latin typeface="Consolas"/>
                <a:ea typeface="+mn-lt"/>
                <a:cs typeface="+mn-lt"/>
              </a:rPr>
              <a:t>"</a:t>
            </a:r>
            <a:br>
              <a:rPr lang="es-ES">
                <a:latin typeface="Consolas"/>
                <a:ea typeface="+mn-lt"/>
                <a:cs typeface="+mn-lt"/>
              </a:rPr>
            </a:br>
            <a:r>
              <a:rPr lang="es-ES">
                <a:latin typeface="Consolas"/>
                <a:ea typeface="+mn-lt"/>
                <a:cs typeface="+mn-lt"/>
              </a:rPr>
              <a:t>                   id="</a:t>
            </a:r>
            <a:r>
              <a:rPr lang="es-ES" err="1">
                <a:latin typeface="Consolas"/>
                <a:ea typeface="+mn-lt"/>
                <a:cs typeface="+mn-lt"/>
              </a:rPr>
              <a:t>txtIdLibro</a:t>
            </a: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IdLibro</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CambiarIdLibroChange</a:t>
            </a:r>
            <a:r>
              <a:rPr lang="es-ES">
                <a:latin typeface="Consolas"/>
                <a:ea typeface="+mn-lt"/>
                <a:cs typeface="+mn-lt"/>
              </a:rPr>
              <a:t>}/&gt;</a:t>
            </a:r>
            <a:br>
              <a:rPr lang="es-ES">
                <a:latin typeface="Consolas"/>
                <a:ea typeface="+mn-lt"/>
                <a:cs typeface="+mn-lt"/>
              </a:rPr>
            </a:br>
            <a:r>
              <a:rPr lang="es-ES">
                <a:latin typeface="Consolas"/>
                <a:ea typeface="+mn-lt"/>
                <a:cs typeface="+mn-lt"/>
              </a:rPr>
              <a:t>            {Libro &amp;&amp; (&lt;&gt;</a:t>
            </a:r>
            <a:br>
              <a:rPr lang="es-ES">
                <a:latin typeface="Consolas"/>
                <a:ea typeface="+mn-lt"/>
                <a:cs typeface="+mn-lt"/>
              </a:rPr>
            </a:br>
            <a:r>
              <a:rPr lang="es-ES">
                <a:latin typeface="Consolas"/>
                <a:ea typeface="+mn-lt"/>
                <a:cs typeface="+mn-lt"/>
              </a:rPr>
              <a:t>                &lt;h2&gt;Título: {</a:t>
            </a:r>
            <a:r>
              <a:rPr lang="es-ES" err="1">
                <a:latin typeface="Consolas"/>
                <a:ea typeface="+mn-lt"/>
                <a:cs typeface="+mn-lt"/>
              </a:rPr>
              <a:t>Libro.titulo</a:t>
            </a:r>
            <a:r>
              <a:rPr lang="es-ES">
                <a:latin typeface="Consolas"/>
                <a:ea typeface="+mn-lt"/>
                <a:cs typeface="+mn-lt"/>
              </a:rPr>
              <a:t>}&lt;/h2&gt;</a:t>
            </a:r>
            <a:br>
              <a:rPr lang="es-ES">
                <a:latin typeface="Consolas"/>
                <a:ea typeface="+mn-lt"/>
                <a:cs typeface="+mn-lt"/>
              </a:rPr>
            </a:br>
            <a:r>
              <a:rPr lang="es-ES">
                <a:latin typeface="Consolas"/>
                <a:ea typeface="+mn-lt"/>
                <a:cs typeface="+mn-lt"/>
              </a:rPr>
              <a:t>                &lt;h3&gt;Autor: {</a:t>
            </a:r>
            <a:r>
              <a:rPr lang="es-ES" err="1">
                <a:latin typeface="Consolas"/>
                <a:ea typeface="+mn-lt"/>
                <a:cs typeface="+mn-lt"/>
              </a:rPr>
              <a:t>Libro.autor</a:t>
            </a:r>
            <a:r>
              <a:rPr lang="es-ES">
                <a:latin typeface="Consolas"/>
                <a:ea typeface="+mn-lt"/>
                <a:cs typeface="+mn-lt"/>
              </a:rPr>
              <a:t>}&lt;/h3&gt;</a:t>
            </a:r>
            <a:br>
              <a:rPr lang="es-ES">
                <a:latin typeface="Consolas"/>
                <a:ea typeface="+mn-lt"/>
                <a:cs typeface="+mn-lt"/>
              </a:rPr>
            </a:br>
            <a:r>
              <a:rPr lang="es-ES">
                <a:latin typeface="Consolas"/>
                <a:ea typeface="+mn-lt"/>
                <a:cs typeface="+mn-lt"/>
              </a:rPr>
              <a:t>                &lt;p&gt;ISBN: {</a:t>
            </a:r>
            <a:r>
              <a:rPr lang="es-ES" err="1">
                <a:latin typeface="Consolas"/>
                <a:ea typeface="+mn-lt"/>
                <a:cs typeface="+mn-lt"/>
              </a:rPr>
              <a:t>Libro.isbn</a:t>
            </a:r>
            <a:r>
              <a:rPr lang="es-ES">
                <a:latin typeface="Consolas"/>
                <a:ea typeface="+mn-lt"/>
                <a:cs typeface="+mn-lt"/>
              </a:rPr>
              <a:t>}&lt;/p&gt;</a:t>
            </a:r>
            <a:br>
              <a:rPr lang="es-ES">
                <a:latin typeface="Consolas"/>
                <a:ea typeface="+mn-lt"/>
                <a:cs typeface="+mn-lt"/>
              </a:rPr>
            </a:br>
            <a:r>
              <a:rPr lang="es-ES">
                <a:latin typeface="Consolas"/>
                <a:ea typeface="+mn-lt"/>
                <a:cs typeface="+mn-lt"/>
              </a:rPr>
              <a:t>            &lt;/&gt;)}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APIFichaId</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139044750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154F8-02C9-3F83-FE56-2580215F2E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D1200BB-286E-7F73-D1FB-F9F0FC0369D6}"/>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E1302B63-800A-93DD-FEA5-16AA5B8BCCC1}"/>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latin typeface="Calibri"/>
                <a:ea typeface="Calibri"/>
                <a:cs typeface="Calibri"/>
              </a:rPr>
              <a:t>En el siguiente ejemplo se va a realizar un listado de los libros de nuestra API utilizando </a:t>
            </a:r>
            <a:r>
              <a:rPr lang="es-ES" err="1">
                <a:latin typeface="Calibri"/>
                <a:ea typeface="Calibri"/>
                <a:cs typeface="Calibri"/>
              </a:rPr>
              <a:t>axios</a:t>
            </a:r>
            <a:r>
              <a:rPr lang="es-ES">
                <a:latin typeface="Calibri"/>
                <a:ea typeface="Calibri"/>
                <a:cs typeface="Calibri"/>
              </a:rPr>
              <a:t>.</a:t>
            </a:r>
            <a:endParaRPr lang="es-ES"/>
          </a:p>
          <a:p>
            <a:pPr marL="342900" indent="-342900">
              <a:buFont typeface="Arial"/>
              <a:buChar char="•"/>
            </a:pPr>
            <a:r>
              <a:rPr lang="es-ES">
                <a:latin typeface="Calibri"/>
                <a:ea typeface="Calibri"/>
                <a:cs typeface="Calibri"/>
              </a:rPr>
              <a:t>El componente accederá a la ficha y mostrará el libro con el identificador que le indiquemos.</a:t>
            </a:r>
            <a:endParaRPr lang="es-ES">
              <a:latin typeface="Consolas"/>
              <a:ea typeface="Calibri"/>
              <a:cs typeface="Calibri"/>
            </a:endParaRPr>
          </a:p>
          <a:p>
            <a:pPr marL="342900" indent="-342900">
              <a:buFont typeface="Arial"/>
              <a:buChar char="•"/>
            </a:pPr>
            <a:r>
              <a:rPr lang="es-ES">
                <a:latin typeface="Calibri"/>
                <a:ea typeface="Calibri"/>
                <a:cs typeface="Calibri"/>
              </a:rPr>
              <a:t>En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APILibros</a:t>
            </a:r>
            <a:r>
              <a:rPr lang="es-ES">
                <a:latin typeface="Calibri"/>
                <a:ea typeface="Calibri"/>
                <a:cs typeface="Calibri"/>
              </a:rPr>
              <a:t>/ creamos el componente </a:t>
            </a:r>
            <a:r>
              <a:rPr lang="es-ES" err="1">
                <a:latin typeface="Calibri"/>
                <a:ea typeface="Calibri"/>
                <a:cs typeface="Calibri"/>
              </a:rPr>
              <a:t>ItemLibro.jsx</a:t>
            </a:r>
            <a:r>
              <a:rPr lang="es-ES">
                <a:latin typeface="Calibri"/>
                <a:ea typeface="Calibri"/>
                <a:cs typeface="Calibri"/>
              </a:rPr>
              <a:t> para cada libro que se mostrará en la lista al que, a través de </a:t>
            </a:r>
            <a:r>
              <a:rPr lang="es-ES" err="1">
                <a:latin typeface="Calibri"/>
                <a:ea typeface="Calibri"/>
                <a:cs typeface="Calibri"/>
              </a:rPr>
              <a:t>props</a:t>
            </a:r>
            <a:r>
              <a:rPr lang="es-ES">
                <a:latin typeface="Calibri"/>
                <a:ea typeface="Calibri"/>
                <a:cs typeface="Calibri"/>
              </a:rPr>
              <a:t>, se le pasará el libro que debe mostrar.</a:t>
            </a:r>
            <a:endParaRPr lang="es-ES">
              <a:latin typeface="Consolas"/>
              <a:ea typeface="Calibri"/>
              <a:cs typeface="Calibri"/>
            </a:endParaRPr>
          </a:p>
          <a:p>
            <a:r>
              <a:rPr lang="es-ES" sz="2100">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ItemLibro</a:t>
            </a:r>
            <a:r>
              <a:rPr lang="es-ES">
                <a:latin typeface="Consolas"/>
                <a:ea typeface="+mn-lt"/>
                <a:cs typeface="+mn-lt"/>
              </a:rPr>
              <a:t>=({Libro})=&gt;{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&lt;</a:t>
            </a:r>
            <a:r>
              <a:rPr lang="es-ES" err="1">
                <a:latin typeface="Consolas"/>
                <a:ea typeface="+mn-lt"/>
                <a:cs typeface="+mn-lt"/>
              </a:rPr>
              <a:t>li</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&lt;</a:t>
            </a:r>
            <a:r>
              <a:rPr lang="es-ES" err="1">
                <a:latin typeface="Consolas"/>
                <a:ea typeface="+mn-lt"/>
                <a:cs typeface="+mn-lt"/>
              </a:rPr>
              <a:t>span</a:t>
            </a:r>
            <a:r>
              <a:rPr lang="es-ES">
                <a:latin typeface="Consolas"/>
                <a:ea typeface="+mn-lt"/>
                <a:cs typeface="+mn-lt"/>
              </a:rPr>
              <a:t>&gt;Titulo: {</a:t>
            </a:r>
            <a:r>
              <a:rPr lang="es-ES" err="1">
                <a:latin typeface="Consolas"/>
                <a:ea typeface="+mn-lt"/>
                <a:cs typeface="+mn-lt"/>
              </a:rPr>
              <a:t>Libro.titulo</a:t>
            </a:r>
            <a:r>
              <a:rPr lang="es-ES">
                <a:latin typeface="Consolas"/>
                <a:ea typeface="+mn-lt"/>
                <a:cs typeface="+mn-lt"/>
              </a:rPr>
              <a:t>}&lt;/</a:t>
            </a:r>
            <a:r>
              <a:rPr lang="es-ES" err="1">
                <a:latin typeface="Consolas"/>
                <a:ea typeface="+mn-lt"/>
                <a:cs typeface="+mn-lt"/>
              </a:rPr>
              <a:t>span</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&lt;</a:t>
            </a:r>
            <a:r>
              <a:rPr lang="es-ES" err="1">
                <a:latin typeface="Consolas"/>
                <a:ea typeface="+mn-lt"/>
                <a:cs typeface="+mn-lt"/>
              </a:rPr>
              <a:t>span</a:t>
            </a:r>
            <a:r>
              <a:rPr lang="es-ES">
                <a:latin typeface="Consolas"/>
                <a:ea typeface="+mn-lt"/>
                <a:cs typeface="+mn-lt"/>
              </a:rPr>
              <a:t>&gt;Autor: {</a:t>
            </a:r>
            <a:r>
              <a:rPr lang="es-ES" err="1">
                <a:latin typeface="Consolas"/>
                <a:ea typeface="+mn-lt"/>
                <a:cs typeface="+mn-lt"/>
              </a:rPr>
              <a:t>Libro.autor</a:t>
            </a:r>
            <a:r>
              <a:rPr lang="es-ES">
                <a:latin typeface="Consolas"/>
                <a:ea typeface="+mn-lt"/>
                <a:cs typeface="+mn-lt"/>
              </a:rPr>
              <a:t>}&lt;/</a:t>
            </a:r>
            <a:r>
              <a:rPr lang="es-ES" err="1">
                <a:latin typeface="Consolas"/>
                <a:ea typeface="+mn-lt"/>
                <a:cs typeface="+mn-lt"/>
              </a:rPr>
              <a:t>span</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&lt;/</a:t>
            </a:r>
            <a:r>
              <a:rPr lang="es-ES" err="1">
                <a:latin typeface="Consolas"/>
                <a:ea typeface="+mn-lt"/>
                <a:cs typeface="+mn-lt"/>
              </a:rPr>
              <a:t>li</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sz="2100">
                <a:latin typeface="Consolas"/>
                <a:ea typeface="+mn-lt"/>
                <a:cs typeface="+mn-lt"/>
              </a:rPr>
              <a:t>    </a:t>
            </a:r>
            <a:r>
              <a:rPr lang="es-ES">
                <a:latin typeface="Consolas"/>
                <a:ea typeface="+mn-lt"/>
                <a:cs typeface="+mn-lt"/>
              </a:rPr>
              <a:t>);</a:t>
            </a:r>
            <a:br>
              <a:rPr lang="es-ES">
                <a:latin typeface="Consolas"/>
                <a:ea typeface="+mn-lt"/>
                <a:cs typeface="+mn-lt"/>
              </a:rPr>
            </a:br>
            <a:r>
              <a:rPr lang="es-ES" sz="2100">
                <a:latin typeface="Consolas"/>
                <a:ea typeface="+mn-lt"/>
                <a:cs typeface="+mn-lt"/>
              </a:rPr>
              <a:t>    </a:t>
            </a:r>
            <a:r>
              <a:rPr lang="es-ES">
                <a:latin typeface="Consolas"/>
                <a:ea typeface="+mn-lt"/>
                <a:cs typeface="+mn-lt"/>
              </a:rPr>
              <a:t>}</a:t>
            </a:r>
            <a:br>
              <a:rPr lang="es-ES">
                <a:latin typeface="Consolas"/>
                <a:ea typeface="+mn-lt"/>
                <a:cs typeface="+mn-lt"/>
              </a:rPr>
            </a:br>
            <a:r>
              <a:rPr lang="es-ES" sz="2100">
                <a:latin typeface="Consolas"/>
                <a:ea typeface="+mn-lt"/>
                <a:cs typeface="+mn-lt"/>
              </a:rPr>
              <a:t>    </a:t>
            </a: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ItemLibro</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393644906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69BC2-ACDE-B0DC-0618-F810F78D172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B6A541-4B11-C8F6-0B97-56A4B0C5162D}"/>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9310346F-3EDE-A483-C860-5032EF49D0C2}"/>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a:latin typeface="Calibri"/>
                <a:ea typeface="Calibri"/>
                <a:cs typeface="Calibri"/>
              </a:rPr>
              <a:t>En </a:t>
            </a:r>
            <a:r>
              <a:rPr lang="es-ES" err="1">
                <a:latin typeface="Calibri"/>
                <a:ea typeface="Calibri"/>
                <a:cs typeface="Calibri"/>
              </a:rPr>
              <a:t>src</a:t>
            </a:r>
            <a:r>
              <a:rPr lang="es-ES">
                <a:latin typeface="Calibri"/>
                <a:ea typeface="Calibri"/>
                <a:cs typeface="Calibri"/>
              </a:rPr>
              <a:t>/Componentes/</a:t>
            </a:r>
            <a:r>
              <a:rPr lang="es-ES" err="1">
                <a:latin typeface="Calibri"/>
                <a:ea typeface="Calibri"/>
                <a:cs typeface="Calibri"/>
              </a:rPr>
              <a:t>APILibros</a:t>
            </a:r>
            <a:r>
              <a:rPr lang="es-ES">
                <a:latin typeface="Calibri"/>
                <a:ea typeface="Calibri"/>
                <a:cs typeface="Calibri"/>
              </a:rPr>
              <a:t>/ creamos el componente </a:t>
            </a:r>
            <a:r>
              <a:rPr lang="es-ES" err="1">
                <a:latin typeface="Calibri"/>
                <a:ea typeface="Calibri"/>
                <a:cs typeface="Calibri"/>
              </a:rPr>
              <a:t>ListaLibros.jsx</a:t>
            </a:r>
            <a:r>
              <a:rPr lang="es-ES">
                <a:latin typeface="Calibri"/>
                <a:ea typeface="Calibri"/>
                <a:cs typeface="Calibri"/>
              </a:rPr>
              <a:t> para el listados de libros que se mostrarán. Es en este componente donde se utilizará </a:t>
            </a:r>
            <a:r>
              <a:rPr lang="es-ES" err="1">
                <a:latin typeface="Calibri"/>
                <a:ea typeface="Calibri"/>
                <a:cs typeface="Calibri"/>
              </a:rPr>
              <a:t>axios</a:t>
            </a:r>
            <a:r>
              <a:rPr lang="es-ES">
                <a:latin typeface="Calibri"/>
                <a:ea typeface="Calibri"/>
                <a:cs typeface="Calibri"/>
              </a:rPr>
              <a:t> para recopilar la lista de libros.</a:t>
            </a:r>
            <a:endParaRPr lang="es-ES">
              <a:latin typeface="Consolas"/>
              <a:ea typeface="Calibri"/>
              <a:cs typeface="Calibri"/>
            </a:endParaRPr>
          </a:p>
          <a:p>
            <a:pPr marL="342900" indent="-342900">
              <a:buFont typeface="Arial"/>
              <a:buChar char="•"/>
            </a:pPr>
            <a:r>
              <a:rPr lang="es-ES">
                <a:latin typeface="Calibri"/>
                <a:ea typeface="Calibri"/>
                <a:cs typeface="Calibri"/>
              </a:rPr>
              <a:t>Para utilizar </a:t>
            </a:r>
            <a:r>
              <a:rPr lang="es-ES" err="1">
                <a:latin typeface="Calibri"/>
                <a:ea typeface="Calibri"/>
                <a:cs typeface="Calibri"/>
              </a:rPr>
              <a:t>axios</a:t>
            </a:r>
            <a:r>
              <a:rPr lang="es-ES">
                <a:latin typeface="Calibri"/>
                <a:ea typeface="Calibri"/>
                <a:cs typeface="Calibri"/>
              </a:rPr>
              <a:t> debemos tenerlo instalado previamente con </a:t>
            </a:r>
            <a:r>
              <a:rPr lang="es-ES" err="1">
                <a:latin typeface="Calibri"/>
                <a:ea typeface="Calibri"/>
                <a:cs typeface="Calibri"/>
              </a:rPr>
              <a:t>npm</a:t>
            </a:r>
            <a:r>
              <a:rPr lang="es-ES">
                <a:latin typeface="Calibri"/>
                <a:ea typeface="Calibri"/>
                <a:cs typeface="Calibri"/>
              </a:rPr>
              <a:t> </a:t>
            </a:r>
            <a:r>
              <a:rPr lang="es-ES" err="1">
                <a:latin typeface="Calibri"/>
                <a:ea typeface="Calibri"/>
                <a:cs typeface="Calibri"/>
              </a:rPr>
              <a:t>install</a:t>
            </a:r>
            <a:r>
              <a:rPr lang="es-ES">
                <a:latin typeface="Calibri"/>
                <a:ea typeface="Calibri"/>
                <a:cs typeface="Calibri"/>
              </a:rPr>
              <a:t> </a:t>
            </a:r>
            <a:r>
              <a:rPr lang="es-ES" err="1">
                <a:latin typeface="Calibri"/>
                <a:ea typeface="Calibri"/>
                <a:cs typeface="Calibri"/>
              </a:rPr>
              <a:t>axios</a:t>
            </a:r>
            <a:r>
              <a:rPr lang="es-ES">
                <a:latin typeface="Calibri"/>
                <a:ea typeface="Calibri"/>
                <a:cs typeface="Calibri"/>
              </a:rPr>
              <a:t> e importarlo.</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useEffect</a:t>
            </a:r>
            <a:r>
              <a:rPr lang="es-ES">
                <a:latin typeface="Consolas"/>
                <a:ea typeface="+mn-lt"/>
                <a:cs typeface="+mn-lt"/>
              </a:rPr>
              <a:t>,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ItemLibro</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ItemLibro</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a:t>
            </a:r>
            <a:r>
              <a:rPr lang="es-ES" err="1">
                <a:latin typeface="Consolas"/>
                <a:ea typeface="+mn-lt"/>
                <a:cs typeface="+mn-lt"/>
              </a:rPr>
              <a:t>axios</a:t>
            </a:r>
            <a:r>
              <a:rPr lang="es-ES">
                <a:latin typeface="Consolas"/>
                <a:ea typeface="+mn-lt"/>
                <a:cs typeface="+mn-lt"/>
              </a:rPr>
              <a:t>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axios</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ListaLibros</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lsLibros</a:t>
            </a:r>
            <a:r>
              <a:rPr lang="es-ES">
                <a:latin typeface="Consolas"/>
                <a:ea typeface="+mn-lt"/>
                <a:cs typeface="+mn-lt"/>
              </a:rPr>
              <a:t>, </a:t>
            </a:r>
            <a:r>
              <a:rPr lang="es-ES" err="1">
                <a:latin typeface="Consolas"/>
                <a:ea typeface="+mn-lt"/>
                <a:cs typeface="+mn-lt"/>
              </a:rPr>
              <a:t>setLsLibros</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cargando,setCargando</a:t>
            </a:r>
            <a:r>
              <a:rPr lang="es-ES">
                <a:latin typeface="Consolas"/>
                <a:ea typeface="+mn-lt"/>
                <a:cs typeface="+mn-lt"/>
              </a:rPr>
              <a:t>]=</a:t>
            </a:r>
            <a:r>
              <a:rPr lang="es-ES" err="1">
                <a:latin typeface="Consolas"/>
                <a:ea typeface="+mn-lt"/>
                <a:cs typeface="+mn-lt"/>
              </a:rPr>
              <a:t>useState</a:t>
            </a:r>
            <a:r>
              <a:rPr lang="es-ES">
                <a:latin typeface="Consolas"/>
                <a:ea typeface="+mn-lt"/>
                <a:cs typeface="+mn-lt"/>
              </a:rPr>
              <a:t>(true);</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error,setError</a:t>
            </a:r>
            <a:r>
              <a:rPr lang="es-ES">
                <a:latin typeface="Consolas"/>
                <a:ea typeface="+mn-lt"/>
                <a:cs typeface="+mn-lt"/>
              </a:rPr>
              <a:t>]=</a:t>
            </a:r>
            <a:r>
              <a:rPr lang="es-ES" err="1">
                <a:latin typeface="Consolas"/>
                <a:ea typeface="+mn-lt"/>
                <a:cs typeface="+mn-lt"/>
              </a:rPr>
              <a:t>useState</a:t>
            </a:r>
            <a:r>
              <a:rPr lang="es-ES">
                <a:latin typeface="Consolas"/>
                <a:ea typeface="+mn-lt"/>
                <a:cs typeface="+mn-lt"/>
              </a:rPr>
              <a:t>(false);</a:t>
            </a:r>
            <a:br>
              <a:rPr lang="es-ES">
                <a:latin typeface="Consolas"/>
                <a:ea typeface="+mn-lt"/>
                <a:cs typeface="+mn-lt"/>
              </a:rPr>
            </a:br>
            <a:r>
              <a:rPr lang="es-ES">
                <a:latin typeface="Consolas"/>
                <a:ea typeface="+mn-lt"/>
                <a:cs typeface="+mn-lt"/>
              </a:rPr>
              <a:t>//CONTINÚA...</a:t>
            </a:r>
            <a:endParaRPr lang="es-ES">
              <a:latin typeface="Consolas"/>
            </a:endParaRPr>
          </a:p>
        </p:txBody>
      </p:sp>
    </p:spTree>
    <p:extLst>
      <p:ext uri="{BB962C8B-B14F-4D97-AF65-F5344CB8AC3E}">
        <p14:creationId xmlns:p14="http://schemas.microsoft.com/office/powerpoint/2010/main" val="365835997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F6ED7-7D91-B5D6-AF8C-4198EB281F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2D7FD81-8AC4-80B4-E365-AE36E2045902}"/>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5446442D-76F5-31EA-52E9-5F84ACAC670B}"/>
              </a:ext>
            </a:extLst>
          </p:cNvPr>
          <p:cNvSpPr>
            <a:spLocks noGrp="1"/>
          </p:cNvSpPr>
          <p:nvPr>
            <p:ph idx="1"/>
          </p:nvPr>
        </p:nvSpPr>
        <p:spPr/>
        <p:txBody>
          <a:bodyPr vert="horz" lIns="91440" tIns="45720" rIns="91440" bIns="45720" rtlCol="0" anchor="t">
            <a:normAutofit/>
          </a:bodyPr>
          <a:lstStyle/>
          <a:p>
            <a:r>
              <a:rPr lang="es-ES">
                <a:latin typeface="Consolas"/>
                <a:ea typeface="+mn-lt"/>
                <a:cs typeface="+mn-lt"/>
              </a:rPr>
              <a:t>    </a:t>
            </a:r>
            <a:r>
              <a:rPr lang="es-ES" err="1">
                <a:latin typeface="Consolas"/>
                <a:ea typeface="+mn-lt"/>
                <a:cs typeface="+mn-lt"/>
              </a:rPr>
              <a:t>useEffect</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axios.get</a:t>
            </a:r>
            <a:r>
              <a:rPr lang="es-ES">
                <a:latin typeface="Consolas"/>
                <a:ea typeface="+mn-lt"/>
                <a:cs typeface="+mn-lt"/>
              </a:rPr>
              <a:t>('http://localhost:8000/api/libros')</a:t>
            </a:r>
            <a:br>
              <a:rPr lang="es-ES">
                <a:latin typeface="Consolas"/>
                <a:ea typeface="+mn-lt"/>
                <a:cs typeface="+mn-lt"/>
              </a:rPr>
            </a:br>
            <a:r>
              <a:rPr lang="es-ES">
                <a:latin typeface="Consolas"/>
                <a:ea typeface="+mn-lt"/>
                <a:cs typeface="+mn-lt"/>
              </a:rPr>
              <a:t>        .</a:t>
            </a:r>
            <a:r>
              <a:rPr lang="es-ES" err="1">
                <a:latin typeface="Consolas"/>
                <a:ea typeface="+mn-lt"/>
                <a:cs typeface="+mn-lt"/>
              </a:rPr>
              <a:t>then</a:t>
            </a:r>
            <a:r>
              <a:rPr lang="es-ES">
                <a:latin typeface="Consolas"/>
                <a:ea typeface="+mn-lt"/>
                <a:cs typeface="+mn-lt"/>
              </a:rPr>
              <a:t>(response=&gt;{</a:t>
            </a:r>
            <a:br>
              <a:rPr lang="es-ES">
                <a:latin typeface="Consolas"/>
                <a:ea typeface="+mn-lt"/>
                <a:cs typeface="+mn-lt"/>
              </a:rPr>
            </a:br>
            <a:r>
              <a:rPr lang="es-ES">
                <a:latin typeface="Consolas"/>
                <a:ea typeface="+mn-lt"/>
                <a:cs typeface="+mn-lt"/>
              </a:rPr>
              <a:t>            </a:t>
            </a:r>
            <a:r>
              <a:rPr lang="es-ES" err="1">
                <a:latin typeface="Consolas"/>
                <a:ea typeface="+mn-lt"/>
                <a:cs typeface="+mn-lt"/>
              </a:rPr>
              <a:t>setCargando</a:t>
            </a:r>
            <a:r>
              <a:rPr lang="es-ES">
                <a:latin typeface="Consolas"/>
                <a:ea typeface="+mn-lt"/>
                <a:cs typeface="+mn-lt"/>
              </a:rPr>
              <a:t>(false);</a:t>
            </a:r>
            <a:br>
              <a:rPr lang="es-ES">
                <a:latin typeface="Consolas"/>
                <a:ea typeface="+mn-lt"/>
                <a:cs typeface="+mn-lt"/>
              </a:rPr>
            </a:br>
            <a:r>
              <a:rPr lang="es-ES">
                <a:latin typeface="Consolas"/>
                <a:ea typeface="+mn-lt"/>
                <a:cs typeface="+mn-lt"/>
              </a:rPr>
              <a:t>            </a:t>
            </a:r>
            <a:r>
              <a:rPr lang="es-ES" err="1">
                <a:latin typeface="Consolas"/>
                <a:ea typeface="+mn-lt"/>
                <a:cs typeface="+mn-lt"/>
              </a:rPr>
              <a:t>setLsLibros</a:t>
            </a:r>
            <a:r>
              <a:rPr lang="es-ES">
                <a:latin typeface="Consolas"/>
                <a:ea typeface="+mn-lt"/>
                <a:cs typeface="+mn-lt"/>
              </a:rPr>
              <a:t>(</a:t>
            </a:r>
            <a:r>
              <a:rPr lang="es-ES" err="1">
                <a:latin typeface="Consolas"/>
                <a:ea typeface="+mn-lt"/>
                <a:cs typeface="+mn-lt"/>
              </a:rPr>
              <a:t>response.data</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.catch(error =&gt; {</a:t>
            </a:r>
            <a:br>
              <a:rPr lang="es-ES">
                <a:latin typeface="Consolas"/>
                <a:ea typeface="+mn-lt"/>
                <a:cs typeface="+mn-lt"/>
              </a:rPr>
            </a:br>
            <a:r>
              <a:rPr lang="es-ES">
                <a:latin typeface="Consolas"/>
                <a:ea typeface="+mn-lt"/>
                <a:cs typeface="+mn-lt"/>
              </a:rPr>
              <a:t>            </a:t>
            </a:r>
            <a:r>
              <a:rPr lang="es-ES" err="1">
                <a:latin typeface="Consolas"/>
                <a:ea typeface="+mn-lt"/>
                <a:cs typeface="+mn-lt"/>
              </a:rPr>
              <a:t>setError</a:t>
            </a:r>
            <a:r>
              <a:rPr lang="es-ES">
                <a:latin typeface="Consolas"/>
                <a:ea typeface="+mn-lt"/>
                <a:cs typeface="+mn-lt"/>
              </a:rPr>
              <a:t>(error);</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//continúa...</a:t>
            </a:r>
          </a:p>
        </p:txBody>
      </p:sp>
    </p:spTree>
    <p:extLst>
      <p:ext uri="{BB962C8B-B14F-4D97-AF65-F5344CB8AC3E}">
        <p14:creationId xmlns:p14="http://schemas.microsoft.com/office/powerpoint/2010/main" val="135482319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D1AC2-DB78-6DE9-34CC-5B686841E1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77AE0C-800F-E69D-312D-2F64CCE17AA3}"/>
              </a:ext>
            </a:extLst>
          </p:cNvPr>
          <p:cNvSpPr>
            <a:spLocks noGrp="1"/>
          </p:cNvSpPr>
          <p:nvPr>
            <p:ph type="title"/>
          </p:nvPr>
        </p:nvSpPr>
        <p:spPr/>
        <p:txBody>
          <a:bodyPr>
            <a:normAutofit fontScale="90000"/>
          </a:bodyPr>
          <a:lstStyle/>
          <a:p>
            <a:r>
              <a:rPr lang="es-ES">
                <a:latin typeface="Calibri"/>
                <a:ea typeface="Calibri"/>
                <a:cs typeface="Calibri"/>
              </a:rPr>
              <a:t>Consumo de funciones de la API-</a:t>
            </a:r>
            <a:r>
              <a:rPr lang="es-ES" err="1">
                <a:latin typeface="Calibri"/>
                <a:ea typeface="Calibri"/>
                <a:cs typeface="Calibri"/>
              </a:rPr>
              <a:t>Rest</a:t>
            </a:r>
            <a:r>
              <a:rPr lang="es-ES">
                <a:latin typeface="Calibri"/>
                <a:ea typeface="Calibri"/>
                <a:cs typeface="Calibri"/>
              </a:rPr>
              <a:t> para comunicación con el servidor. Uso de </a:t>
            </a:r>
            <a:r>
              <a:rPr lang="es-ES" err="1">
                <a:latin typeface="Calibri"/>
                <a:ea typeface="Calibri"/>
                <a:cs typeface="Calibri"/>
              </a:rPr>
              <a:t>useEffect</a:t>
            </a:r>
            <a:r>
              <a:rPr lang="es-ES">
                <a:latin typeface="Calibri"/>
                <a:ea typeface="Calibri"/>
                <a:cs typeface="Calibri"/>
              </a:rPr>
              <a:t> para gestionar llamadas a la API.</a:t>
            </a:r>
            <a:endParaRPr lang="en-US">
              <a:latin typeface="Calibri"/>
              <a:ea typeface="Calibri"/>
              <a:cs typeface="Calibri"/>
            </a:endParaRPr>
          </a:p>
        </p:txBody>
      </p:sp>
      <p:sp>
        <p:nvSpPr>
          <p:cNvPr id="3" name="Marcador de contenido 2">
            <a:extLst>
              <a:ext uri="{FF2B5EF4-FFF2-40B4-BE49-F238E27FC236}">
                <a16:creationId xmlns:a16="http://schemas.microsoft.com/office/drawing/2014/main" id="{BF798150-CCAD-2EAB-60FA-7B11ED6EC7C2}"/>
              </a:ext>
            </a:extLst>
          </p:cNvPr>
          <p:cNvSpPr>
            <a:spLocks noGrp="1"/>
          </p:cNvSpPr>
          <p:nvPr>
            <p:ph idx="1"/>
          </p:nvPr>
        </p:nvSpPr>
        <p:spPr/>
        <p:txBody>
          <a:bodyPr vert="horz" lIns="91440" tIns="45720" rIns="91440" bIns="45720" rtlCol="0" anchor="t">
            <a:normAutofit fontScale="92500" lnSpcReduction="20000"/>
          </a:bodyPr>
          <a:lstStyle/>
          <a:p>
            <a:r>
              <a:rPr lang="es-ES">
                <a:latin typeface="Consolas"/>
                <a:ea typeface="+mn-lt"/>
                <a:cs typeface="+mn-lt"/>
              </a:rPr>
              <a:t>    </a:t>
            </a:r>
            <a:r>
              <a:rPr lang="es-ES" err="1">
                <a:latin typeface="Consolas"/>
                <a:ea typeface="+mn-lt"/>
                <a:cs typeface="+mn-lt"/>
              </a:rPr>
              <a:t>if</a:t>
            </a:r>
            <a:r>
              <a:rPr lang="es-ES">
                <a:latin typeface="Consolas"/>
                <a:ea typeface="+mn-lt"/>
                <a:cs typeface="+mn-lt"/>
              </a:rPr>
              <a:t>(cargando){</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&lt;</a:t>
            </a:r>
            <a:r>
              <a:rPr lang="es-ES" err="1">
                <a:latin typeface="Consolas"/>
                <a:ea typeface="+mn-lt"/>
                <a:cs typeface="+mn-lt"/>
              </a:rPr>
              <a:t>div</a:t>
            </a:r>
            <a:r>
              <a:rPr lang="es-ES">
                <a:latin typeface="Consolas"/>
                <a:ea typeface="+mn-lt"/>
                <a:cs typeface="+mn-lt"/>
              </a:rPr>
              <a:t>&gt;Cargando...&lt;/</a:t>
            </a:r>
            <a:r>
              <a:rPr lang="es-ES" err="1">
                <a:latin typeface="Consolas"/>
                <a:ea typeface="+mn-lt"/>
                <a:cs typeface="+mn-lt"/>
              </a:rPr>
              <a:t>div</a:t>
            </a:r>
            <a:r>
              <a:rPr lang="es-ES">
                <a:latin typeface="Consolas"/>
                <a:ea typeface="+mn-lt"/>
                <a:cs typeface="+mn-lt"/>
              </a:rPr>
              <a:t>&gt;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(error){</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&lt;</a:t>
            </a:r>
            <a:r>
              <a:rPr lang="es-ES" err="1">
                <a:latin typeface="Consolas"/>
                <a:ea typeface="+mn-lt"/>
                <a:cs typeface="+mn-lt"/>
              </a:rPr>
              <a:t>div</a:t>
            </a:r>
            <a:r>
              <a:rPr lang="es-ES">
                <a:latin typeface="Consolas"/>
                <a:ea typeface="+mn-lt"/>
                <a:cs typeface="+mn-lt"/>
              </a:rPr>
              <a:t>&gt;Error: {</a:t>
            </a:r>
            <a:r>
              <a:rPr lang="es-ES" err="1">
                <a:latin typeface="Consolas"/>
                <a:ea typeface="+mn-lt"/>
                <a:cs typeface="+mn-lt"/>
              </a:rPr>
              <a:t>error.message</a:t>
            </a:r>
            <a:r>
              <a:rPr lang="es-ES">
                <a:latin typeface="Consolas"/>
                <a:ea typeface="+mn-lt"/>
                <a:cs typeface="+mn-lt"/>
              </a:rPr>
              <a:t>}&lt;/</a:t>
            </a:r>
            <a:r>
              <a:rPr lang="es-ES" err="1">
                <a:latin typeface="Consolas"/>
                <a:ea typeface="+mn-lt"/>
                <a:cs typeface="+mn-lt"/>
              </a:rPr>
              <a:t>div</a:t>
            </a:r>
            <a:r>
              <a:rPr lang="es-ES">
                <a:latin typeface="Consolas"/>
                <a:ea typeface="+mn-lt"/>
                <a:cs typeface="+mn-lt"/>
              </a:rPr>
              <a:t>&gt;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ul</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lsLibros.map</a:t>
            </a:r>
            <a:r>
              <a:rPr lang="es-ES">
                <a:latin typeface="Consolas"/>
                <a:ea typeface="+mn-lt"/>
                <a:cs typeface="+mn-lt"/>
              </a:rPr>
              <a:t>(libro =&gt; &lt;</a:t>
            </a:r>
            <a:r>
              <a:rPr lang="es-ES" err="1">
                <a:latin typeface="Consolas"/>
                <a:ea typeface="+mn-lt"/>
                <a:cs typeface="+mn-lt"/>
              </a:rPr>
              <a:t>ItemLibro</a:t>
            </a:r>
            <a:r>
              <a:rPr lang="es-ES">
                <a:latin typeface="Consolas"/>
                <a:ea typeface="+mn-lt"/>
                <a:cs typeface="+mn-lt"/>
              </a:rPr>
              <a:t> </a:t>
            </a:r>
            <a:r>
              <a:rPr lang="es-ES" err="1">
                <a:latin typeface="Consolas"/>
                <a:ea typeface="+mn-lt"/>
                <a:cs typeface="+mn-lt"/>
              </a:rPr>
              <a:t>key</a:t>
            </a:r>
            <a:r>
              <a:rPr lang="es-ES">
                <a:latin typeface="Consolas"/>
                <a:ea typeface="+mn-lt"/>
                <a:cs typeface="+mn-lt"/>
              </a:rPr>
              <a:t>={</a:t>
            </a:r>
            <a:r>
              <a:rPr lang="es-ES" err="1">
                <a:latin typeface="Consolas"/>
                <a:ea typeface="+mn-lt"/>
                <a:cs typeface="+mn-lt"/>
              </a:rPr>
              <a:t>libro.id</a:t>
            </a:r>
            <a:r>
              <a:rPr lang="es-ES">
                <a:latin typeface="Consolas"/>
                <a:ea typeface="+mn-lt"/>
                <a:cs typeface="+mn-lt"/>
              </a:rPr>
              <a:t>} Libro={{</a:t>
            </a:r>
            <a:r>
              <a:rPr lang="es-ES" err="1">
                <a:latin typeface="Consolas"/>
                <a:ea typeface="+mn-lt"/>
                <a:cs typeface="+mn-lt"/>
              </a:rPr>
              <a:t>titulo:libro.titulo</a:t>
            </a:r>
            <a:r>
              <a:rPr lang="es-ES">
                <a:latin typeface="Consolas"/>
                <a:ea typeface="+mn-lt"/>
                <a:cs typeface="+mn-lt"/>
              </a:rPr>
              <a:t>, </a:t>
            </a:r>
            <a:r>
              <a:rPr lang="es-ES" err="1">
                <a:latin typeface="Consolas"/>
                <a:ea typeface="+mn-lt"/>
                <a:cs typeface="+mn-lt"/>
              </a:rPr>
              <a:t>autor:libro.autor</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ul</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ListaLibros</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202587475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A63F7-5DEC-0EB3-EF82-5EAC5B34FC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5CD2E7-02F2-E2F9-4011-E4309BD9720D}"/>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a:t>
            </a:r>
          </a:p>
        </p:txBody>
      </p:sp>
      <p:sp>
        <p:nvSpPr>
          <p:cNvPr id="3" name="Marcador de contenido 2">
            <a:extLst>
              <a:ext uri="{FF2B5EF4-FFF2-40B4-BE49-F238E27FC236}">
                <a16:creationId xmlns:a16="http://schemas.microsoft.com/office/drawing/2014/main" id="{42332075-9678-DF76-1042-91667FB54D0E}"/>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a:latin typeface="Calibri"/>
                <a:ea typeface="Calibri"/>
                <a:cs typeface="Calibri"/>
              </a:rPr>
              <a:t>La gestión de eventos en </a:t>
            </a:r>
            <a:r>
              <a:rPr lang="es-ES" err="1">
                <a:latin typeface="Calibri"/>
                <a:ea typeface="Calibri"/>
                <a:cs typeface="Calibri"/>
              </a:rPr>
              <a:t>React</a:t>
            </a:r>
            <a:r>
              <a:rPr lang="es-ES">
                <a:latin typeface="Calibri"/>
                <a:ea typeface="Calibri"/>
                <a:cs typeface="Calibri"/>
              </a:rPr>
              <a:t> es similar a la gestión de eventos en el DOM, pero con algunas diferencias. </a:t>
            </a:r>
            <a:r>
              <a:rPr lang="es-ES" err="1">
                <a:latin typeface="Calibri"/>
                <a:ea typeface="Calibri"/>
                <a:cs typeface="Calibri"/>
              </a:rPr>
              <a:t>React</a:t>
            </a:r>
            <a:r>
              <a:rPr lang="es-ES">
                <a:latin typeface="Calibri"/>
                <a:ea typeface="Calibri"/>
                <a:cs typeface="Calibri"/>
              </a:rPr>
              <a:t> proporciona una forma declarativa de manejar eventos en componentes.</a:t>
            </a:r>
          </a:p>
          <a:p>
            <a:pPr marL="342900" indent="-342900">
              <a:buFont typeface="Arial"/>
              <a:buChar char="•"/>
            </a:pPr>
            <a:r>
              <a:rPr lang="es-ES">
                <a:latin typeface="Calibri"/>
                <a:ea typeface="Calibri"/>
                <a:cs typeface="Calibri"/>
              </a:rPr>
              <a:t>Los eventos en </a:t>
            </a:r>
            <a:r>
              <a:rPr lang="es-ES" err="1">
                <a:latin typeface="Calibri"/>
                <a:ea typeface="Calibri"/>
                <a:cs typeface="Calibri"/>
              </a:rPr>
              <a:t>React</a:t>
            </a:r>
            <a:r>
              <a:rPr lang="es-ES">
                <a:latin typeface="Calibri"/>
                <a:ea typeface="Calibri"/>
                <a:cs typeface="Calibri"/>
              </a:rPr>
              <a:t> son acciones que pueden ser detectadas por los componentes, como clics de botones, cambios en campos de entrada, envíos de formularios, etc. </a:t>
            </a:r>
            <a:r>
              <a:rPr lang="es-ES" err="1">
                <a:latin typeface="Calibri"/>
                <a:ea typeface="Calibri"/>
                <a:cs typeface="Calibri"/>
              </a:rPr>
              <a:t>React</a:t>
            </a:r>
            <a:r>
              <a:rPr lang="es-ES">
                <a:latin typeface="Calibri"/>
                <a:ea typeface="Calibri"/>
                <a:cs typeface="Calibri"/>
              </a:rPr>
              <a:t> envuelve los eventos del navegador en su propio sistema de eventos.</a:t>
            </a:r>
          </a:p>
          <a:p>
            <a:pPr marL="342900" indent="-342900">
              <a:buFont typeface="Arial"/>
              <a:buChar char="•"/>
            </a:pPr>
            <a:r>
              <a:rPr lang="es-ES">
                <a:latin typeface="Calibri"/>
                <a:ea typeface="Calibri"/>
                <a:cs typeface="Calibri"/>
              </a:rPr>
              <a:t>Los eventos en </a:t>
            </a:r>
            <a:r>
              <a:rPr lang="es-ES" err="1">
                <a:latin typeface="Calibri"/>
                <a:ea typeface="Calibri"/>
                <a:cs typeface="Calibri"/>
              </a:rPr>
              <a:t>React</a:t>
            </a:r>
            <a:r>
              <a:rPr lang="es-ES">
                <a:latin typeface="Calibri"/>
                <a:ea typeface="Calibri"/>
                <a:cs typeface="Calibri"/>
              </a:rPr>
              <a:t> se escriben en </a:t>
            </a:r>
            <a:r>
              <a:rPr lang="es-ES" err="1">
                <a:latin typeface="Calibri"/>
                <a:ea typeface="Calibri"/>
                <a:cs typeface="Calibri"/>
              </a:rPr>
              <a:t>camelCase</a:t>
            </a:r>
            <a:r>
              <a:rPr lang="es-ES">
                <a:latin typeface="Calibri"/>
                <a:ea typeface="Calibri"/>
                <a:cs typeface="Calibri"/>
              </a:rPr>
              <a:t>, a diferencia de los eventos en HTML que se escriben en minúsculas. Además, en lugar de pasar una cadena de texto, se pasa una función como manejador del evento. </a:t>
            </a:r>
          </a:p>
          <a:p>
            <a:pPr marL="342900" indent="-342900">
              <a:buFont typeface="Arial"/>
              <a:buChar char="•"/>
            </a:pPr>
            <a:r>
              <a:rPr lang="es-ES">
                <a:latin typeface="Calibri"/>
                <a:ea typeface="Calibri"/>
                <a:cs typeface="Calibri"/>
              </a:rPr>
              <a:t>Su </a:t>
            </a:r>
            <a:r>
              <a:rPr lang="es-ES" err="1">
                <a:latin typeface="Calibri"/>
                <a:ea typeface="Calibri"/>
                <a:cs typeface="Calibri"/>
              </a:rPr>
              <a:t>sintáxis</a:t>
            </a:r>
            <a:r>
              <a:rPr lang="es-ES">
                <a:latin typeface="Calibri"/>
                <a:ea typeface="Calibri"/>
                <a:cs typeface="Calibri"/>
              </a:rPr>
              <a:t> básica en JSX es:</a:t>
            </a:r>
          </a:p>
          <a:p>
            <a:r>
              <a:rPr lang="es-ES">
                <a:latin typeface="Consolas"/>
                <a:ea typeface="Calibri"/>
                <a:cs typeface="Calibri"/>
              </a:rPr>
              <a:t>&lt;Componente </a:t>
            </a:r>
            <a:r>
              <a:rPr lang="es-ES" err="1">
                <a:latin typeface="Consolas"/>
                <a:ea typeface="Calibri"/>
                <a:cs typeface="Calibri"/>
              </a:rPr>
              <a:t>onEvento</a:t>
            </a:r>
            <a:r>
              <a:rPr lang="es-ES">
                <a:latin typeface="Consolas"/>
                <a:ea typeface="Calibri"/>
                <a:cs typeface="Calibri"/>
              </a:rPr>
              <a:t>={</a:t>
            </a:r>
            <a:r>
              <a:rPr lang="es-ES" err="1">
                <a:latin typeface="Consolas"/>
                <a:ea typeface="Calibri"/>
                <a:cs typeface="Calibri"/>
              </a:rPr>
              <a:t>manejadorEvento</a:t>
            </a:r>
            <a:r>
              <a:rPr lang="es-ES">
                <a:latin typeface="Consolas"/>
                <a:ea typeface="Calibri"/>
                <a:cs typeface="Calibri"/>
              </a:rPr>
              <a:t>}&gt;Texto del componente&lt;/Componente&gt;</a:t>
            </a:r>
          </a:p>
        </p:txBody>
      </p:sp>
    </p:spTree>
    <p:extLst>
      <p:ext uri="{BB962C8B-B14F-4D97-AF65-F5344CB8AC3E}">
        <p14:creationId xmlns:p14="http://schemas.microsoft.com/office/powerpoint/2010/main" val="19069052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A7A12-BD1C-9B7A-BAB2-E762CE9BD8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6B14A6-4412-4D62-5911-AA983C4B11EA}"/>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onClick</a:t>
            </a:r>
          </a:p>
        </p:txBody>
      </p:sp>
      <p:sp>
        <p:nvSpPr>
          <p:cNvPr id="3" name="Marcador de contenido 2">
            <a:extLst>
              <a:ext uri="{FF2B5EF4-FFF2-40B4-BE49-F238E27FC236}">
                <a16:creationId xmlns:a16="http://schemas.microsoft.com/office/drawing/2014/main" id="{BBAE2437-F326-4DEF-9ED3-EF4D312A76FF}"/>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mn-lt"/>
                <a:cs typeface="+mn-lt"/>
              </a:rPr>
              <a:t>Los manejadores de eventos son funciones que se ejecutan cuando ocurre el evento. Pueden ser funciones definidas en línea o métodos de la clase. Su sintaxis es:</a:t>
            </a:r>
          </a:p>
          <a:p>
            <a:r>
              <a:rPr lang="es-ES" err="1">
                <a:latin typeface="Consolas"/>
                <a:ea typeface="+mn-lt"/>
                <a:cs typeface="+mn-lt"/>
              </a:rPr>
              <a:t>function</a:t>
            </a:r>
            <a:r>
              <a:rPr lang="es-ES">
                <a:latin typeface="Consolas"/>
                <a:ea typeface="+mn-lt"/>
                <a:cs typeface="+mn-lt"/>
              </a:rPr>
              <a:t> </a:t>
            </a:r>
            <a:r>
              <a:rPr lang="es-ES" err="1">
                <a:latin typeface="Consolas"/>
                <a:ea typeface="+mn-lt"/>
                <a:cs typeface="+mn-lt"/>
              </a:rPr>
              <a:t>manejadorEvento</a:t>
            </a:r>
            <a:r>
              <a:rPr lang="es-ES">
                <a:latin typeface="Consolas"/>
                <a:ea typeface="+mn-lt"/>
                <a:cs typeface="+mn-lt"/>
              </a:rPr>
              <a:t>() {</a:t>
            </a:r>
            <a:br>
              <a:rPr lang="es-ES">
                <a:latin typeface="Consolas"/>
                <a:ea typeface="+mn-lt"/>
                <a:cs typeface="+mn-lt"/>
              </a:rPr>
            </a:br>
            <a:r>
              <a:rPr lang="es-ES">
                <a:latin typeface="Consolas"/>
                <a:ea typeface="+mn-lt"/>
                <a:cs typeface="+mn-lt"/>
              </a:rPr>
              <a:t>       console.log('Se ha producido el evento');</a:t>
            </a:r>
            <a:br>
              <a:rPr lang="es-ES">
                <a:latin typeface="Consolas"/>
                <a:ea typeface="+mn-lt"/>
                <a:cs typeface="+mn-lt"/>
              </a:rPr>
            </a:br>
            <a:r>
              <a:rPr lang="es-ES">
                <a:latin typeface="Consolas"/>
                <a:ea typeface="+mn-lt"/>
                <a:cs typeface="+mn-lt"/>
              </a:rPr>
              <a:t>}</a:t>
            </a:r>
            <a:endParaRPr lang="es-ES">
              <a:latin typeface="Calibri"/>
              <a:ea typeface="Calibri"/>
              <a:cs typeface="Calibri"/>
            </a:endParaRPr>
          </a:p>
          <a:p>
            <a:pPr marL="342900" indent="-342900">
              <a:buFont typeface="Arial"/>
              <a:buChar char="•"/>
            </a:pPr>
            <a:r>
              <a:rPr lang="es-ES">
                <a:latin typeface="Calibri"/>
                <a:ea typeface="Calibri"/>
                <a:cs typeface="Calibri"/>
              </a:rPr>
              <a:t>En el siguiente ejemplo creamos el fichero </a:t>
            </a:r>
            <a:r>
              <a:rPr lang="es-ES" err="1">
                <a:latin typeface="Calibri"/>
                <a:ea typeface="Calibri"/>
                <a:cs typeface="Calibri"/>
              </a:rPr>
              <a:t>Contador.jsx</a:t>
            </a:r>
            <a:r>
              <a:rPr lang="es-ES">
                <a:latin typeface="Calibri"/>
                <a:ea typeface="Calibri"/>
                <a:cs typeface="Calibri"/>
              </a:rPr>
              <a:t> dentro de </a:t>
            </a:r>
            <a:r>
              <a:rPr lang="es-ES" err="1">
                <a:latin typeface="Calibri"/>
                <a:ea typeface="Calibri"/>
                <a:cs typeface="Calibri"/>
              </a:rPr>
              <a:t>src</a:t>
            </a:r>
            <a:r>
              <a:rPr lang="es-ES">
                <a:latin typeface="Calibri"/>
                <a:ea typeface="Calibri"/>
                <a:cs typeface="Calibri"/>
              </a:rPr>
              <a:t>/Componentes/Eventos, en caso de hacer </a:t>
            </a:r>
            <a:r>
              <a:rPr lang="es-ES" err="1">
                <a:latin typeface="Calibri"/>
                <a:ea typeface="Calibri"/>
                <a:cs typeface="Calibri"/>
              </a:rPr>
              <a:t>click</a:t>
            </a:r>
            <a:r>
              <a:rPr lang="es-ES">
                <a:latin typeface="Calibri"/>
                <a:ea typeface="Calibri"/>
                <a:cs typeface="Calibri"/>
              </a:rPr>
              <a:t> en un botón se usaría un evento </a:t>
            </a:r>
            <a:r>
              <a:rPr lang="es-ES" err="1">
                <a:latin typeface="Calibri"/>
                <a:ea typeface="Calibri"/>
                <a:cs typeface="Calibri"/>
              </a:rPr>
              <a:t>onClick</a:t>
            </a:r>
            <a:r>
              <a:rPr lang="es-ES">
                <a:latin typeface="Calibri"/>
                <a:ea typeface="Calibri"/>
                <a:cs typeface="Calibri"/>
              </a:rPr>
              <a:t> y su manejador:</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Contador=()=&gt; {                            // Se define el componente Contador que se incrementa al pulsar el botón</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[contador, </a:t>
            </a:r>
            <a:r>
              <a:rPr lang="es-ES" err="1">
                <a:latin typeface="Consolas"/>
                <a:ea typeface="+mn-lt"/>
                <a:cs typeface="+mn-lt"/>
              </a:rPr>
              <a:t>setContador</a:t>
            </a:r>
            <a:r>
              <a:rPr lang="es-ES">
                <a:latin typeface="Consolas"/>
                <a:ea typeface="+mn-lt"/>
                <a:cs typeface="+mn-lt"/>
              </a:rPr>
              <a:t>] = </a:t>
            </a:r>
            <a:r>
              <a:rPr lang="es-ES" err="1">
                <a:latin typeface="Consolas"/>
                <a:ea typeface="+mn-lt"/>
                <a:cs typeface="+mn-lt"/>
              </a:rPr>
              <a:t>useState</a:t>
            </a:r>
            <a:r>
              <a:rPr lang="es-ES">
                <a:latin typeface="Consolas"/>
                <a:ea typeface="+mn-lt"/>
                <a:cs typeface="+mn-lt"/>
              </a:rPr>
              <a:t>(0);  // Se usa el </a:t>
            </a:r>
            <a:r>
              <a:rPr lang="es-ES" err="1">
                <a:latin typeface="Consolas"/>
                <a:ea typeface="+mn-lt"/>
                <a:cs typeface="+mn-lt"/>
              </a:rPr>
              <a:t>hook</a:t>
            </a:r>
            <a:r>
              <a:rPr lang="es-ES">
                <a:latin typeface="Consolas"/>
                <a:ea typeface="+mn-lt"/>
                <a:cs typeface="+mn-lt"/>
              </a:rPr>
              <a:t> </a:t>
            </a:r>
            <a:r>
              <a:rPr lang="es-ES" err="1">
                <a:latin typeface="Consolas"/>
                <a:ea typeface="+mn-lt"/>
                <a:cs typeface="+mn-lt"/>
              </a:rPr>
              <a:t>useState</a:t>
            </a:r>
            <a:r>
              <a:rPr lang="es-ES">
                <a:latin typeface="Consolas"/>
                <a:ea typeface="+mn-lt"/>
                <a:cs typeface="+mn-lt"/>
              </a:rPr>
              <a:t> para manejar el estado del contador</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manejarClick</a:t>
            </a:r>
            <a:r>
              <a:rPr lang="es-ES">
                <a:latin typeface="Consolas"/>
                <a:ea typeface="+mn-lt"/>
                <a:cs typeface="+mn-lt"/>
              </a:rPr>
              <a:t> = () =&gt; {                  // Se define la función manejadora. Se ejecuta al lanzar el evento</a:t>
            </a:r>
            <a:br>
              <a:rPr lang="es-ES">
                <a:latin typeface="Consolas"/>
                <a:ea typeface="+mn-lt"/>
                <a:cs typeface="+mn-lt"/>
              </a:rPr>
            </a:br>
            <a:r>
              <a:rPr lang="es-ES">
                <a:latin typeface="Consolas"/>
                <a:ea typeface="+mn-lt"/>
                <a:cs typeface="+mn-lt"/>
              </a:rPr>
              <a:t>       </a:t>
            </a:r>
            <a:r>
              <a:rPr lang="es-ES" err="1">
                <a:latin typeface="Consolas"/>
                <a:ea typeface="+mn-lt"/>
                <a:cs typeface="+mn-lt"/>
              </a:rPr>
              <a:t>setContador</a:t>
            </a:r>
            <a:r>
              <a:rPr lang="es-ES">
                <a:latin typeface="Consolas"/>
                <a:ea typeface="+mn-lt"/>
                <a:cs typeface="+mn-lt"/>
              </a:rPr>
              <a:t>(contador + 1);                // Al llamar a la función manejadora se modifica el estado del contador</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&lt;p&gt;Contador: {contador}&lt;/p&gt;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a:t>
            </a:r>
            <a:r>
              <a:rPr lang="es-ES" err="1">
                <a:latin typeface="Consolas"/>
                <a:ea typeface="+mn-lt"/>
                <a:cs typeface="+mn-lt"/>
              </a:rPr>
              <a:t>manejarClick</a:t>
            </a:r>
            <a:r>
              <a:rPr lang="es-ES">
                <a:latin typeface="Consolas"/>
                <a:ea typeface="+mn-lt"/>
                <a:cs typeface="+mn-lt"/>
              </a:rPr>
              <a:t>}&gt;Incrementar&lt;/</a:t>
            </a:r>
            <a:r>
              <a:rPr lang="es-ES" err="1">
                <a:latin typeface="Consolas"/>
                <a:ea typeface="+mn-lt"/>
                <a:cs typeface="+mn-lt"/>
              </a:rPr>
              <a:t>button</a:t>
            </a:r>
            <a:r>
              <a:rPr lang="es-ES">
                <a:latin typeface="Consolas"/>
                <a:ea typeface="+mn-lt"/>
                <a:cs typeface="+mn-lt"/>
              </a:rPr>
              <a:t>&gt; // Al pulsar el botón se lanza el evento y se ejecuta </a:t>
            </a:r>
            <a:r>
              <a:rPr lang="es-ES" err="1">
                <a:latin typeface="Consolas"/>
                <a:ea typeface="+mn-lt"/>
                <a:cs typeface="+mn-lt"/>
              </a:rPr>
              <a:t>manejarClick</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Contador;</a:t>
            </a:r>
            <a:endParaRPr lang="es-ES">
              <a:latin typeface="Consolas"/>
            </a:endParaRPr>
          </a:p>
        </p:txBody>
      </p:sp>
    </p:spTree>
    <p:extLst>
      <p:ext uri="{BB962C8B-B14F-4D97-AF65-F5344CB8AC3E}">
        <p14:creationId xmlns:p14="http://schemas.microsoft.com/office/powerpoint/2010/main" val="185870113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9F954-AACA-817B-E66D-8FE3425C6E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69DAE0-A7C6-065A-AF3F-3A9891147D8E}"/>
              </a:ext>
            </a:extLst>
          </p:cNvPr>
          <p:cNvSpPr>
            <a:spLocks noGrp="1"/>
          </p:cNvSpPr>
          <p:nvPr>
            <p:ph type="title"/>
          </p:nvPr>
        </p:nvSpPr>
        <p:spPr/>
        <p:txBody>
          <a:bodyPr>
            <a:normAutofit fontScale="90000"/>
          </a:bodyPr>
          <a:lstStyle/>
          <a:p>
            <a:r>
              <a:rPr lang="es-ES">
                <a:latin typeface="Calibri"/>
                <a:ea typeface="Calibri"/>
                <a:cs typeface="Calibri"/>
              </a:rPr>
              <a:t>Manejo y gestión de eventos. Manejo de eventos básicos con funciones de manejador. Eventos con paso de parámetros</a:t>
            </a:r>
          </a:p>
        </p:txBody>
      </p:sp>
      <p:sp>
        <p:nvSpPr>
          <p:cNvPr id="3" name="Marcador de contenido 2">
            <a:extLst>
              <a:ext uri="{FF2B5EF4-FFF2-40B4-BE49-F238E27FC236}">
                <a16:creationId xmlns:a16="http://schemas.microsoft.com/office/drawing/2014/main" id="{EF4C2944-1CCC-7B09-55EB-3CDBAEF9F81E}"/>
              </a:ext>
            </a:extLst>
          </p:cNvPr>
          <p:cNvSpPr>
            <a:spLocks noGrp="1"/>
          </p:cNvSpPr>
          <p:nvPr>
            <p:ph idx="1"/>
          </p:nvPr>
        </p:nvSpPr>
        <p:spPr/>
        <p:txBody>
          <a:bodyPr vert="horz" lIns="91440" tIns="45720" rIns="91440" bIns="45720" rtlCol="0" anchor="t">
            <a:normAutofit fontScale="62500" lnSpcReduction="20000"/>
          </a:bodyPr>
          <a:lstStyle/>
          <a:p>
            <a:pPr marL="342900" indent="-342900">
              <a:buFont typeface="Arial"/>
              <a:buChar char="•"/>
            </a:pPr>
            <a:r>
              <a:rPr lang="es-ES">
                <a:latin typeface="Calibri"/>
                <a:ea typeface="+mn-lt"/>
                <a:cs typeface="+mn-lt"/>
              </a:rPr>
              <a:t>A los eventos se les pueden pasar parámetros a través de la función manejadora del mismo.</a:t>
            </a:r>
            <a:endParaRPr lang="es-ES"/>
          </a:p>
          <a:p>
            <a:pPr marL="342900" indent="-342900">
              <a:buFont typeface="Arial"/>
              <a:buChar char="•"/>
            </a:pPr>
            <a:r>
              <a:rPr lang="es-ES">
                <a:latin typeface="Calibri"/>
                <a:ea typeface="Calibri"/>
                <a:cs typeface="Calibri"/>
              </a:rPr>
              <a:t>En el siguiente ejemplo creamos el fichero </a:t>
            </a:r>
            <a:r>
              <a:rPr lang="es-ES" err="1">
                <a:latin typeface="Calibri"/>
                <a:ea typeface="Calibri"/>
                <a:cs typeface="Calibri"/>
              </a:rPr>
              <a:t>ContadorParametro.jsx</a:t>
            </a:r>
            <a:r>
              <a:rPr lang="es-ES">
                <a:latin typeface="Calibri"/>
                <a:ea typeface="Calibri"/>
                <a:cs typeface="Calibri"/>
              </a:rPr>
              <a:t> dentro de </a:t>
            </a:r>
            <a:r>
              <a:rPr lang="es-ES" err="1">
                <a:latin typeface="Calibri"/>
                <a:ea typeface="Calibri"/>
                <a:cs typeface="Calibri"/>
              </a:rPr>
              <a:t>src</a:t>
            </a:r>
            <a:r>
              <a:rPr lang="es-ES">
                <a:latin typeface="Calibri"/>
                <a:ea typeface="Calibri"/>
                <a:cs typeface="Calibri"/>
              </a:rPr>
              <a:t>/Componentes/Eventos, en caso de hacer </a:t>
            </a:r>
            <a:r>
              <a:rPr lang="es-ES" err="1">
                <a:latin typeface="Calibri"/>
                <a:ea typeface="Calibri"/>
                <a:cs typeface="Calibri"/>
              </a:rPr>
              <a:t>click</a:t>
            </a:r>
            <a:r>
              <a:rPr lang="es-ES">
                <a:latin typeface="Calibri"/>
                <a:ea typeface="Calibri"/>
                <a:cs typeface="Calibri"/>
              </a:rPr>
              <a:t> en un botón se usaría un evento </a:t>
            </a:r>
            <a:r>
              <a:rPr lang="es-ES" err="1">
                <a:latin typeface="Calibri"/>
                <a:ea typeface="Calibri"/>
                <a:cs typeface="Calibri"/>
              </a:rPr>
              <a:t>onClick</a:t>
            </a:r>
            <a:r>
              <a:rPr lang="es-ES">
                <a:latin typeface="Calibri"/>
                <a:ea typeface="Calibri"/>
                <a:cs typeface="Calibri"/>
              </a:rPr>
              <a:t> y su manejador al que se le pasa el incremento que se quiere aplicar en cada pulsación:</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n-US">
                <a:latin typeface="Consolas"/>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ContadorParametro</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contador,setContador</a:t>
            </a:r>
            <a:r>
              <a:rPr lang="es-ES">
                <a:latin typeface="Consolas"/>
                <a:ea typeface="+mn-lt"/>
                <a:cs typeface="+mn-lt"/>
              </a:rPr>
              <a:t>]=</a:t>
            </a:r>
            <a:r>
              <a:rPr lang="es-ES" err="1">
                <a:latin typeface="Consolas"/>
                <a:ea typeface="+mn-lt"/>
                <a:cs typeface="+mn-lt"/>
              </a:rPr>
              <a:t>useState</a:t>
            </a:r>
            <a:r>
              <a:rPr lang="es-ES">
                <a:latin typeface="Consolas"/>
                <a:ea typeface="+mn-lt"/>
                <a:cs typeface="+mn-lt"/>
              </a:rPr>
              <a:t>(0);</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manejarClick</a:t>
            </a:r>
            <a:r>
              <a:rPr lang="es-ES">
                <a:latin typeface="Consolas"/>
                <a:ea typeface="+mn-lt"/>
                <a:cs typeface="+mn-lt"/>
              </a:rPr>
              <a:t>=(incremento)=&gt;{</a:t>
            </a:r>
            <a:br>
              <a:rPr lang="es-ES">
                <a:latin typeface="Consolas"/>
                <a:ea typeface="+mn-lt"/>
                <a:cs typeface="+mn-lt"/>
              </a:rPr>
            </a:br>
            <a:r>
              <a:rPr lang="es-ES">
                <a:latin typeface="Consolas"/>
                <a:ea typeface="+mn-lt"/>
                <a:cs typeface="+mn-lt"/>
              </a:rPr>
              <a:t>        </a:t>
            </a:r>
            <a:r>
              <a:rPr lang="es-ES" err="1">
                <a:latin typeface="Consolas"/>
                <a:ea typeface="+mn-lt"/>
                <a:cs typeface="+mn-lt"/>
              </a:rPr>
              <a:t>setContador</a:t>
            </a:r>
            <a:r>
              <a:rPr lang="es-ES">
                <a:latin typeface="Consolas"/>
                <a:ea typeface="+mn-lt"/>
                <a:cs typeface="+mn-lt"/>
              </a:rPr>
              <a:t>(contador + incremento);</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&lt;p&gt;Contador: {contador}&lt;/p&gt;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onClick</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manejarClick</a:t>
            </a:r>
            <a:r>
              <a:rPr lang="es-ES">
                <a:latin typeface="Consolas"/>
                <a:ea typeface="+mn-lt"/>
                <a:cs typeface="+mn-lt"/>
              </a:rPr>
              <a:t>(3);</a:t>
            </a:r>
            <a:br>
              <a:rPr lang="es-ES">
                <a:latin typeface="Consolas"/>
                <a:ea typeface="+mn-lt"/>
                <a:cs typeface="+mn-lt"/>
              </a:rPr>
            </a:br>
            <a:r>
              <a:rPr lang="es-ES">
                <a:latin typeface="Consolas"/>
                <a:ea typeface="+mn-lt"/>
                <a:cs typeface="+mn-lt"/>
              </a:rPr>
              <a:t>            }}&gt;Incrementar&lt;/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ContadorParametro</a:t>
            </a:r>
            <a:r>
              <a:rPr lang="es-ES">
                <a:latin typeface="Consolas"/>
                <a:ea typeface="+mn-lt"/>
                <a:cs typeface="+mn-lt"/>
              </a:rPr>
              <a:t>;</a:t>
            </a:r>
          </a:p>
        </p:txBody>
      </p:sp>
    </p:spTree>
    <p:extLst>
      <p:ext uri="{BB962C8B-B14F-4D97-AF65-F5344CB8AC3E}">
        <p14:creationId xmlns:p14="http://schemas.microsoft.com/office/powerpoint/2010/main" val="275341084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4FECD-F8D4-AE51-47E3-F82A5765DB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6BCF12-67DD-06FE-02F2-39A24EDE99B9}"/>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onChange</a:t>
            </a:r>
          </a:p>
        </p:txBody>
      </p:sp>
      <p:sp>
        <p:nvSpPr>
          <p:cNvPr id="3" name="Marcador de contenido 2">
            <a:extLst>
              <a:ext uri="{FF2B5EF4-FFF2-40B4-BE49-F238E27FC236}">
                <a16:creationId xmlns:a16="http://schemas.microsoft.com/office/drawing/2014/main" id="{3D4BD45A-75D7-9829-46ED-13818A338BBC}"/>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a:latin typeface="Calibri"/>
                <a:ea typeface="+mn-lt"/>
                <a:cs typeface="+mn-lt"/>
              </a:rPr>
              <a:t>El evento </a:t>
            </a:r>
            <a:r>
              <a:rPr lang="es-ES" err="1">
                <a:latin typeface="Calibri"/>
                <a:ea typeface="+mn-lt"/>
                <a:cs typeface="+mn-lt"/>
              </a:rPr>
              <a:t>onChange</a:t>
            </a:r>
            <a:r>
              <a:rPr lang="es-ES">
                <a:latin typeface="Calibri"/>
                <a:ea typeface="+mn-lt"/>
                <a:cs typeface="+mn-lt"/>
              </a:rPr>
              <a:t> se dispara cuando el valor de un campo de entrada cambia. En </a:t>
            </a:r>
            <a:r>
              <a:rPr lang="es-ES" err="1">
                <a:latin typeface="Calibri"/>
                <a:ea typeface="+mn-lt"/>
                <a:cs typeface="+mn-lt"/>
              </a:rPr>
              <a:t>React</a:t>
            </a:r>
            <a:r>
              <a:rPr lang="es-ES">
                <a:latin typeface="Calibri"/>
                <a:ea typeface="+mn-lt"/>
                <a:cs typeface="+mn-lt"/>
              </a:rPr>
              <a:t> es necesario para poder modificar el valor del componente.</a:t>
            </a:r>
          </a:p>
          <a:p>
            <a:r>
              <a:rPr lang="es-ES" err="1">
                <a:latin typeface="Consolas"/>
                <a:ea typeface="+mn-lt"/>
                <a:cs typeface="+mn-lt"/>
              </a:rPr>
              <a:t>import</a:t>
            </a:r>
            <a:r>
              <a:rPr lang="es-ES">
                <a:latin typeface="Consolas"/>
                <a:ea typeface="+mn-lt"/>
                <a:cs typeface="+mn-lt"/>
              </a:rPr>
              <a:t> </a:t>
            </a:r>
            <a:r>
              <a:rPr lang="es-ES" err="1">
                <a:latin typeface="Consolas"/>
                <a:ea typeface="+mn-lt"/>
                <a:cs typeface="+mn-lt"/>
              </a:rPr>
              <a:t>React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CampoTexto</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[texto, </a:t>
            </a:r>
            <a:r>
              <a:rPr lang="es-ES" err="1">
                <a:latin typeface="Consolas"/>
                <a:ea typeface="+mn-lt"/>
                <a:cs typeface="+mn-lt"/>
              </a:rPr>
              <a:t>setTexto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manejarCambio</a:t>
            </a:r>
            <a:r>
              <a:rPr lang="es-ES">
                <a:latin typeface="Consolas"/>
                <a:ea typeface="+mn-lt"/>
                <a:cs typeface="+mn-lt"/>
              </a:rPr>
              <a:t> = (e) =&gt; {</a:t>
            </a:r>
            <a:br>
              <a:rPr lang="es-ES">
                <a:latin typeface="Consolas"/>
                <a:ea typeface="+mn-lt"/>
                <a:cs typeface="+mn-lt"/>
              </a:rPr>
            </a:br>
            <a:r>
              <a:rPr lang="es-ES">
                <a:latin typeface="Consolas"/>
                <a:ea typeface="+mn-lt"/>
                <a:cs typeface="+mn-lt"/>
              </a:rPr>
              <a:t>       </a:t>
            </a:r>
            <a:r>
              <a:rPr lang="es-ES" err="1">
                <a:latin typeface="Consolas"/>
                <a:ea typeface="+mn-lt"/>
                <a:cs typeface="+mn-lt"/>
              </a:rPr>
              <a:t>setTexto</a:t>
            </a:r>
            <a:r>
              <a:rPr lang="es-ES">
                <a:latin typeface="Consolas"/>
                <a:ea typeface="+mn-lt"/>
                <a:cs typeface="+mn-lt"/>
              </a:rPr>
              <a:t>(</a:t>
            </a:r>
            <a:r>
              <a:rPr lang="es-ES" err="1">
                <a:latin typeface="Consolas"/>
                <a:ea typeface="+mn-lt"/>
                <a:cs typeface="+mn-lt"/>
              </a:rPr>
              <a:t>e.target.value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 (</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value</a:t>
            </a:r>
            <a:r>
              <a:rPr lang="es-ES">
                <a:latin typeface="Consolas"/>
                <a:ea typeface="+mn-lt"/>
                <a:cs typeface="+mn-lt"/>
              </a:rPr>
              <a:t>={texto} </a:t>
            </a:r>
            <a:br>
              <a:rPr lang="es-ES">
                <a:latin typeface="Consolas"/>
                <a:ea typeface="+mn-lt"/>
                <a:cs typeface="+mn-lt"/>
              </a:rPr>
            </a:b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a:t>
            </a:r>
            <a:br>
              <a:rPr lang="en-US"/>
            </a:br>
            <a:r>
              <a:rPr lang="es-ES">
                <a:latin typeface="Consolas"/>
                <a:ea typeface="+mn-lt"/>
                <a:cs typeface="+mn-lt"/>
              </a:rPr>
              <a:t>                  </a:t>
            </a:r>
            <a:r>
              <a:rPr lang="es-ES" err="1">
                <a:latin typeface="Consolas"/>
                <a:ea typeface="+mn-lt"/>
                <a:cs typeface="+mn-lt"/>
              </a:rPr>
              <a:t>placeholder</a:t>
            </a:r>
            <a:r>
              <a:rPr lang="es-ES">
                <a:latin typeface="Consolas"/>
                <a:ea typeface="+mn-lt"/>
                <a:cs typeface="+mn-lt"/>
              </a:rPr>
              <a:t>="Escribe algo..." /&gt;</a:t>
            </a:r>
            <a:br>
              <a:rPr lang="es-ES">
                <a:latin typeface="Consolas"/>
                <a:ea typeface="+mn-lt"/>
                <a:cs typeface="+mn-lt"/>
              </a:rPr>
            </a:br>
            <a:r>
              <a:rPr lang="es-ES">
                <a:latin typeface="Consolas"/>
                <a:ea typeface="+mn-lt"/>
                <a:cs typeface="+mn-lt"/>
              </a:rPr>
              <a:t>           &lt;p&gt;Texto: {texto}&lt;/p&gt;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CampoTexto</a:t>
            </a:r>
            <a:r>
              <a:rPr lang="es-ES">
                <a:latin typeface="Consolas"/>
                <a:ea typeface="+mn-lt"/>
                <a:cs typeface="+mn-lt"/>
              </a:rPr>
              <a:t>;</a:t>
            </a:r>
          </a:p>
        </p:txBody>
      </p:sp>
    </p:spTree>
    <p:extLst>
      <p:ext uri="{BB962C8B-B14F-4D97-AF65-F5344CB8AC3E}">
        <p14:creationId xmlns:p14="http://schemas.microsoft.com/office/powerpoint/2010/main" val="108654824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127D0-D1F7-80EF-93CD-7607634DB2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10B503-C70A-2F05-BA29-4D874F25EE60}"/>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onSubmit</a:t>
            </a:r>
          </a:p>
        </p:txBody>
      </p:sp>
      <p:sp>
        <p:nvSpPr>
          <p:cNvPr id="3" name="Marcador de contenido 2">
            <a:extLst>
              <a:ext uri="{FF2B5EF4-FFF2-40B4-BE49-F238E27FC236}">
                <a16:creationId xmlns:a16="http://schemas.microsoft.com/office/drawing/2014/main" id="{225655F8-3172-CCEB-38BA-0D49B855C793}"/>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Calibri"/>
                <a:cs typeface="Calibri"/>
              </a:rPr>
              <a:t>El evento </a:t>
            </a:r>
            <a:r>
              <a:rPr lang="es-ES" err="1">
                <a:latin typeface="Calibri"/>
                <a:ea typeface="Calibri"/>
                <a:cs typeface="Calibri"/>
              </a:rPr>
              <a:t>onSubmit</a:t>
            </a:r>
            <a:r>
              <a:rPr lang="es-ES">
                <a:latin typeface="Calibri"/>
                <a:ea typeface="Calibri"/>
                <a:cs typeface="Calibri"/>
              </a:rPr>
              <a:t> se dispara cuando se envía un formulario. Para evitar que se ejecute el envío de los datos se utiliza </a:t>
            </a:r>
            <a:r>
              <a:rPr lang="es-ES" err="1">
                <a:latin typeface="Calibri"/>
                <a:ea typeface="Calibri"/>
                <a:cs typeface="Calibri"/>
              </a:rPr>
              <a:t>preventDefault</a:t>
            </a:r>
            <a:r>
              <a:rPr lang="es-ES">
                <a:latin typeface="Calibri"/>
                <a:ea typeface="Calibri"/>
                <a:cs typeface="Calibri"/>
              </a:rPr>
              <a:t>.</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n-US">
                <a:latin typeface="Consolas"/>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FormularioSubmit</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nombre,setNombre</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email,setEmail</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manejarEnvio</a:t>
            </a:r>
            <a:r>
              <a:rPr lang="es-ES">
                <a:latin typeface="Consolas"/>
                <a:ea typeface="+mn-lt"/>
                <a:cs typeface="+mn-lt"/>
              </a:rPr>
              <a:t>=(evento)=&gt;{</a:t>
            </a:r>
            <a:br>
              <a:rPr lang="es-ES">
                <a:latin typeface="Consolas"/>
                <a:ea typeface="+mn-lt"/>
                <a:cs typeface="+mn-lt"/>
              </a:rPr>
            </a:br>
            <a:r>
              <a:rPr lang="es-ES">
                <a:latin typeface="Consolas"/>
                <a:ea typeface="+mn-lt"/>
                <a:cs typeface="+mn-lt"/>
              </a:rPr>
              <a:t>        </a:t>
            </a:r>
            <a:r>
              <a:rPr lang="es-ES" err="1">
                <a:latin typeface="Consolas"/>
                <a:ea typeface="+mn-lt"/>
                <a:cs typeface="+mn-lt"/>
              </a:rPr>
              <a:t>evento.preventDefault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alert</a:t>
            </a:r>
            <a:r>
              <a:rPr lang="es-ES">
                <a:latin typeface="Consolas"/>
                <a:ea typeface="+mn-lt"/>
                <a:cs typeface="+mn-lt"/>
              </a:rPr>
              <a:t>(`Nombre: ${nombre} \</a:t>
            </a:r>
            <a:r>
              <a:rPr lang="es-ES" err="1">
                <a:latin typeface="Consolas"/>
                <a:ea typeface="+mn-lt"/>
                <a:cs typeface="+mn-lt"/>
              </a:rPr>
              <a:t>nE</a:t>
            </a:r>
            <a:r>
              <a:rPr lang="es-ES">
                <a:latin typeface="Consolas"/>
                <a:ea typeface="+mn-lt"/>
                <a:cs typeface="+mn-lt"/>
              </a:rPr>
              <a:t>-Mail: ${email}`);</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 </a:t>
            </a:r>
            <a:r>
              <a:rPr lang="es-ES" err="1">
                <a:latin typeface="Consolas"/>
                <a:ea typeface="+mn-lt"/>
                <a:cs typeface="+mn-lt"/>
              </a:rPr>
              <a:t>onSubmit</a:t>
            </a:r>
            <a:r>
              <a:rPr lang="es-ES">
                <a:latin typeface="Consolas"/>
                <a:ea typeface="+mn-lt"/>
                <a:cs typeface="+mn-lt"/>
              </a:rPr>
              <a:t>={</a:t>
            </a:r>
            <a:r>
              <a:rPr lang="es-ES" err="1">
                <a:latin typeface="Consolas"/>
                <a:ea typeface="+mn-lt"/>
                <a:cs typeface="+mn-lt"/>
              </a:rPr>
              <a:t>manejarEnvio</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="nombre"&gt;Nombre:&lt;/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placeholder</a:t>
            </a:r>
            <a:r>
              <a:rPr lang="es-ES">
                <a:latin typeface="Consolas"/>
                <a:ea typeface="+mn-lt"/>
                <a:cs typeface="+mn-lt"/>
              </a:rPr>
              <a:t>="Nombre" </a:t>
            </a:r>
            <a:r>
              <a:rPr lang="es-ES" err="1">
                <a:latin typeface="Consolas"/>
                <a:ea typeface="+mn-lt"/>
                <a:cs typeface="+mn-lt"/>
              </a:rPr>
              <a:t>name</a:t>
            </a:r>
            <a:r>
              <a:rPr lang="es-ES">
                <a:latin typeface="Consolas"/>
                <a:ea typeface="+mn-lt"/>
                <a:cs typeface="+mn-lt"/>
              </a:rPr>
              <a:t>="nombre" id="nombre"</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={nombre} </a:t>
            </a:r>
            <a:r>
              <a:rPr lang="es-ES" err="1">
                <a:latin typeface="Consolas"/>
                <a:ea typeface="+mn-lt"/>
                <a:cs typeface="+mn-lt"/>
              </a:rPr>
              <a:t>onChange</a:t>
            </a:r>
            <a:r>
              <a:rPr lang="es-ES">
                <a:latin typeface="Consolas"/>
                <a:ea typeface="+mn-lt"/>
                <a:cs typeface="+mn-lt"/>
              </a:rPr>
              <a:t>={(e) =&gt; </a:t>
            </a:r>
            <a:r>
              <a:rPr lang="es-ES" err="1">
                <a:latin typeface="Consolas"/>
                <a:ea typeface="+mn-lt"/>
                <a:cs typeface="+mn-lt"/>
              </a:rPr>
              <a:t>setNombre</a:t>
            </a:r>
            <a:r>
              <a:rPr lang="es-ES">
                <a:latin typeface="Consolas"/>
                <a:ea typeface="+mn-lt"/>
                <a:cs typeface="+mn-lt"/>
              </a:rPr>
              <a:t>(</a:t>
            </a:r>
            <a:r>
              <a:rPr lang="es-ES" err="1">
                <a:latin typeface="Consolas"/>
                <a:ea typeface="+mn-lt"/>
                <a:cs typeface="+mn-lt"/>
              </a:rPr>
              <a:t>e.target.value</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="email"&gt;E-Mail:&lt;/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="email" </a:t>
            </a:r>
            <a:r>
              <a:rPr lang="es-ES" err="1">
                <a:latin typeface="Consolas"/>
                <a:ea typeface="+mn-lt"/>
                <a:cs typeface="+mn-lt"/>
              </a:rPr>
              <a:t>placeholder</a:t>
            </a:r>
            <a:r>
              <a:rPr lang="es-ES">
                <a:latin typeface="Consolas"/>
                <a:ea typeface="+mn-lt"/>
                <a:cs typeface="+mn-lt"/>
              </a:rPr>
              <a:t>="E-Mail" </a:t>
            </a:r>
            <a:r>
              <a:rPr lang="es-ES" err="1">
                <a:latin typeface="Consolas"/>
                <a:ea typeface="+mn-lt"/>
                <a:cs typeface="+mn-lt"/>
              </a:rPr>
              <a:t>name</a:t>
            </a:r>
            <a:r>
              <a:rPr lang="es-ES">
                <a:latin typeface="Consolas"/>
                <a:ea typeface="+mn-lt"/>
                <a:cs typeface="+mn-lt"/>
              </a:rPr>
              <a:t>="email" id="email"</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={email} </a:t>
            </a:r>
            <a:r>
              <a:rPr lang="es-ES" err="1">
                <a:latin typeface="Consolas"/>
                <a:ea typeface="+mn-lt"/>
                <a:cs typeface="+mn-lt"/>
              </a:rPr>
              <a:t>onChange</a:t>
            </a:r>
            <a:r>
              <a:rPr lang="es-ES">
                <a:latin typeface="Consolas"/>
                <a:ea typeface="+mn-lt"/>
                <a:cs typeface="+mn-lt"/>
              </a:rPr>
              <a:t>={(e) =&gt; </a:t>
            </a:r>
            <a:r>
              <a:rPr lang="es-ES" err="1">
                <a:latin typeface="Consolas"/>
                <a:ea typeface="+mn-lt"/>
                <a:cs typeface="+mn-lt"/>
              </a:rPr>
              <a:t>setEmail</a:t>
            </a:r>
            <a:r>
              <a:rPr lang="es-ES">
                <a:latin typeface="Consolas"/>
                <a:ea typeface="+mn-lt"/>
                <a:cs typeface="+mn-lt"/>
              </a:rPr>
              <a:t>(</a:t>
            </a:r>
            <a:r>
              <a:rPr lang="es-ES" err="1">
                <a:latin typeface="Consolas"/>
                <a:ea typeface="+mn-lt"/>
                <a:cs typeface="+mn-lt"/>
              </a:rPr>
              <a:t>e.target.value</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submit</a:t>
            </a:r>
            <a:r>
              <a:rPr lang="es-ES">
                <a:latin typeface="Consolas"/>
                <a:ea typeface="+mn-lt"/>
                <a:cs typeface="+mn-lt"/>
              </a:rPr>
              <a:t>"&gt;Aceptar&lt;/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FormularioSubmit</a:t>
            </a:r>
            <a:r>
              <a:rPr lang="es-ES">
                <a:latin typeface="Consolas"/>
                <a:ea typeface="+mn-lt"/>
                <a:cs typeface="+mn-lt"/>
              </a:rPr>
              <a:t>;</a:t>
            </a:r>
          </a:p>
        </p:txBody>
      </p:sp>
    </p:spTree>
    <p:extLst>
      <p:ext uri="{BB962C8B-B14F-4D97-AF65-F5344CB8AC3E}">
        <p14:creationId xmlns:p14="http://schemas.microsoft.com/office/powerpoint/2010/main" val="247288258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48F1E-A58F-B7DF-E72C-A5BEE6852C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5C748B-AA39-4850-2924-AE0DAEF7C538}"/>
              </a:ext>
            </a:extLst>
          </p:cNvPr>
          <p:cNvSpPr>
            <a:spLocks noGrp="1"/>
          </p:cNvSpPr>
          <p:nvPr>
            <p:ph type="title"/>
          </p:nvPr>
        </p:nvSpPr>
        <p:spPr/>
        <p:txBody>
          <a:bodyPr>
            <a:normAutofit fontScale="90000"/>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onMouseEnter</a:t>
            </a:r>
            <a:r>
              <a:rPr lang="es-ES">
                <a:latin typeface="Calibri"/>
                <a:ea typeface="Calibri"/>
                <a:cs typeface="Calibri"/>
              </a:rPr>
              <a:t>, </a:t>
            </a:r>
            <a:r>
              <a:rPr lang="es-ES" err="1">
                <a:latin typeface="Calibri"/>
                <a:ea typeface="Calibri"/>
                <a:cs typeface="Calibri"/>
              </a:rPr>
              <a:t>onMouseLeave</a:t>
            </a:r>
            <a:endParaRPr lang="es-ES">
              <a:latin typeface="Calibri"/>
              <a:ea typeface="Calibri"/>
              <a:cs typeface="Calibri"/>
            </a:endParaRPr>
          </a:p>
        </p:txBody>
      </p:sp>
      <p:sp>
        <p:nvSpPr>
          <p:cNvPr id="3" name="Marcador de contenido 2">
            <a:extLst>
              <a:ext uri="{FF2B5EF4-FFF2-40B4-BE49-F238E27FC236}">
                <a16:creationId xmlns:a16="http://schemas.microsoft.com/office/drawing/2014/main" id="{E24D0154-F340-1C96-7716-DDD5F1EED4DD}"/>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
              <a:buChar char="•"/>
            </a:pPr>
            <a:r>
              <a:rPr lang="es-ES">
                <a:latin typeface="Calibri"/>
                <a:ea typeface="Calibri"/>
                <a:cs typeface="Calibri"/>
              </a:rPr>
              <a:t>El evento </a:t>
            </a:r>
            <a:r>
              <a:rPr lang="es-ES" err="1">
                <a:latin typeface="Calibri"/>
                <a:ea typeface="Calibri"/>
                <a:cs typeface="Calibri"/>
              </a:rPr>
              <a:t>onMouseEnter</a:t>
            </a:r>
            <a:r>
              <a:rPr lang="es-ES">
                <a:latin typeface="Calibri"/>
                <a:ea typeface="Calibri"/>
                <a:cs typeface="Calibri"/>
              </a:rPr>
              <a:t> se lanza cuando el puntero del ratón entra en un elemento y </a:t>
            </a:r>
            <a:r>
              <a:rPr lang="es-ES" err="1">
                <a:latin typeface="Calibri"/>
                <a:ea typeface="Calibri"/>
                <a:cs typeface="Calibri"/>
              </a:rPr>
              <a:t>onMouseLeave</a:t>
            </a:r>
            <a:r>
              <a:rPr lang="es-ES">
                <a:latin typeface="Calibri"/>
                <a:ea typeface="Calibri"/>
                <a:cs typeface="Calibri"/>
              </a:rPr>
              <a:t> cuando sale.</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CuadroColorEnterLeave</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[color, </a:t>
            </a:r>
            <a:r>
              <a:rPr lang="es-ES" err="1">
                <a:latin typeface="Consolas"/>
                <a:ea typeface="+mn-lt"/>
                <a:cs typeface="+mn-lt"/>
              </a:rPr>
              <a:t>setColor</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r>
              <a:rPr lang="es-ES" err="1">
                <a:latin typeface="Consolas"/>
                <a:ea typeface="+mn-lt"/>
                <a:cs typeface="+mn-lt"/>
              </a:rPr>
              <a:t>lightblue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manejarMouseEnter</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setColor</a:t>
            </a:r>
            <a:r>
              <a:rPr lang="es-ES">
                <a:latin typeface="Consolas"/>
                <a:ea typeface="+mn-lt"/>
                <a:cs typeface="+mn-lt"/>
              </a:rPr>
              <a:t>('</a:t>
            </a:r>
            <a:r>
              <a:rPr lang="es-ES" err="1">
                <a:latin typeface="Consolas"/>
                <a:ea typeface="+mn-lt"/>
                <a:cs typeface="+mn-lt"/>
              </a:rPr>
              <a:t>salmon</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manejarMouseLeave</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setColor</a:t>
            </a:r>
            <a:r>
              <a:rPr lang="es-ES">
                <a:latin typeface="Consolas"/>
                <a:ea typeface="+mn-lt"/>
                <a:cs typeface="+mn-lt"/>
              </a:rPr>
              <a:t>('</a:t>
            </a:r>
            <a:r>
              <a:rPr lang="es-ES" err="1">
                <a:latin typeface="Consolas"/>
                <a:ea typeface="+mn-lt"/>
                <a:cs typeface="+mn-lt"/>
              </a:rPr>
              <a:t>lightblue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 </a:t>
            </a:r>
            <a:r>
              <a:rPr lang="es-ES" err="1">
                <a:latin typeface="Consolas"/>
                <a:ea typeface="+mn-lt"/>
                <a:cs typeface="+mn-lt"/>
              </a:rPr>
              <a:t>onMouseEnter</a:t>
            </a:r>
            <a:r>
              <a:rPr lang="es-ES">
                <a:latin typeface="Consolas"/>
                <a:ea typeface="+mn-lt"/>
                <a:cs typeface="+mn-lt"/>
              </a:rPr>
              <a:t>={</a:t>
            </a:r>
            <a:r>
              <a:rPr lang="es-ES" err="1">
                <a:latin typeface="Consolas"/>
                <a:ea typeface="+mn-lt"/>
                <a:cs typeface="+mn-lt"/>
              </a:rPr>
              <a:t>manejarMouseEnter</a:t>
            </a:r>
            <a:r>
              <a:rPr lang="es-ES">
                <a:latin typeface="Consolas"/>
                <a:ea typeface="+mn-lt"/>
                <a:cs typeface="+mn-lt"/>
              </a:rPr>
              <a:t>} </a:t>
            </a:r>
            <a:r>
              <a:rPr lang="es-ES" err="1">
                <a:latin typeface="Consolas"/>
                <a:ea typeface="+mn-lt"/>
                <a:cs typeface="+mn-lt"/>
              </a:rPr>
              <a:t>onMouseLeave</a:t>
            </a:r>
            <a:r>
              <a:rPr lang="es-ES">
                <a:latin typeface="Consolas"/>
                <a:ea typeface="+mn-lt"/>
                <a:cs typeface="+mn-lt"/>
              </a:rPr>
              <a:t>={</a:t>
            </a:r>
            <a:r>
              <a:rPr lang="es-ES" err="1">
                <a:latin typeface="Consolas"/>
                <a:ea typeface="+mn-lt"/>
                <a:cs typeface="+mn-lt"/>
              </a:rPr>
              <a:t>manejarMouseLeave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style</a:t>
            </a:r>
            <a:r>
              <a:rPr lang="es-ES">
                <a:latin typeface="Consolas"/>
                <a:ea typeface="+mn-lt"/>
                <a:cs typeface="+mn-lt"/>
              </a:rPr>
              <a:t>={{ </a:t>
            </a:r>
            <a:r>
              <a:rPr lang="es-ES" err="1">
                <a:latin typeface="Consolas"/>
                <a:ea typeface="+mn-lt"/>
                <a:cs typeface="+mn-lt"/>
              </a:rPr>
              <a:t>width</a:t>
            </a:r>
            <a:r>
              <a:rPr lang="es-ES">
                <a:latin typeface="Consolas"/>
                <a:ea typeface="+mn-lt"/>
                <a:cs typeface="+mn-lt"/>
              </a:rPr>
              <a:t>: '200px', </a:t>
            </a:r>
            <a:r>
              <a:rPr lang="es-ES" err="1">
                <a:latin typeface="Consolas"/>
                <a:ea typeface="+mn-lt"/>
                <a:cs typeface="+mn-lt"/>
              </a:rPr>
              <a:t>height</a:t>
            </a:r>
            <a:r>
              <a:rPr lang="es-ES">
                <a:latin typeface="Consolas"/>
                <a:ea typeface="+mn-lt"/>
                <a:cs typeface="+mn-lt"/>
              </a:rPr>
              <a:t>: '150px', </a:t>
            </a:r>
            <a:r>
              <a:rPr lang="es-ES" err="1">
                <a:latin typeface="Consolas"/>
                <a:ea typeface="+mn-lt"/>
                <a:cs typeface="+mn-lt"/>
              </a:rPr>
              <a:t>backgroundColor:color</a:t>
            </a:r>
            <a:r>
              <a:rPr lang="es-ES">
                <a:latin typeface="Consolas"/>
                <a:ea typeface="+mn-lt"/>
                <a:cs typeface="+mn-lt"/>
              </a:rPr>
              <a:t>}}</a:t>
            </a:r>
            <a:br>
              <a:rPr lang="es-ES">
                <a:latin typeface="Consolas"/>
                <a:ea typeface="+mn-lt"/>
                <a:cs typeface="+mn-lt"/>
              </a:rPr>
            </a:br>
            <a:r>
              <a:rPr lang="es-ES">
                <a:latin typeface="Consolas"/>
                <a:ea typeface="+mn-lt"/>
                <a:cs typeface="+mn-lt"/>
              </a:rPr>
              <a:t>        &gt;Este es un cuadro que cambia de color al pasar el ratón por encima&lt;/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CuadroColorEnterLeave</a:t>
            </a:r>
            <a:r>
              <a:rPr lang="es-ES">
                <a:latin typeface="Consolas"/>
                <a:ea typeface="+mn-lt"/>
                <a:cs typeface="+mn-lt"/>
              </a:rPr>
              <a:t>;</a:t>
            </a:r>
          </a:p>
        </p:txBody>
      </p:sp>
    </p:spTree>
    <p:extLst>
      <p:ext uri="{BB962C8B-B14F-4D97-AF65-F5344CB8AC3E}">
        <p14:creationId xmlns:p14="http://schemas.microsoft.com/office/powerpoint/2010/main" val="20038032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307E0-CA9F-14D8-CD10-1BD390D87E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B92111-4C46-50E2-EFAF-138A00166C48}"/>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onKeyDown</a:t>
            </a:r>
          </a:p>
        </p:txBody>
      </p:sp>
      <p:sp>
        <p:nvSpPr>
          <p:cNvPr id="3" name="Marcador de contenido 2">
            <a:extLst>
              <a:ext uri="{FF2B5EF4-FFF2-40B4-BE49-F238E27FC236}">
                <a16:creationId xmlns:a16="http://schemas.microsoft.com/office/drawing/2014/main" id="{E4E974F2-05EB-9462-704B-134521E4CFC3}"/>
              </a:ext>
            </a:extLst>
          </p:cNvPr>
          <p:cNvSpPr>
            <a:spLocks noGrp="1"/>
          </p:cNvSpPr>
          <p:nvPr>
            <p:ph idx="1"/>
          </p:nvPr>
        </p:nvSpPr>
        <p:spPr/>
        <p:txBody>
          <a:bodyPr vert="horz" lIns="91440" tIns="45720" rIns="91440" bIns="45720" rtlCol="0" anchor="t">
            <a:normAutofit fontScale="85000" lnSpcReduction="20000"/>
          </a:bodyPr>
          <a:lstStyle/>
          <a:p>
            <a:pPr marL="342900" indent="-342900">
              <a:buFont typeface="Arial"/>
              <a:buChar char="•"/>
            </a:pPr>
            <a:r>
              <a:rPr lang="es-ES">
                <a:ea typeface="+mn-lt"/>
                <a:cs typeface="+mn-lt"/>
              </a:rPr>
              <a:t>El evento </a:t>
            </a:r>
            <a:r>
              <a:rPr lang="es-ES" err="1">
                <a:ea typeface="+mn-lt"/>
                <a:cs typeface="+mn-lt"/>
              </a:rPr>
              <a:t>onKeyDown</a:t>
            </a:r>
            <a:r>
              <a:rPr lang="es-ES">
                <a:ea typeface="+mn-lt"/>
                <a:cs typeface="+mn-lt"/>
              </a:rPr>
              <a:t> se lanza cuando se pulsa una tecla</a:t>
            </a:r>
            <a:r>
              <a:rPr lang="es-ES">
                <a:latin typeface="Calibri"/>
                <a:ea typeface="Calibri"/>
                <a:cs typeface="Calibri"/>
              </a:rPr>
              <a:t>.</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DetectorTeclaPulsada</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tecla,setTecla</a:t>
            </a:r>
            <a:r>
              <a:rPr lang="es-ES">
                <a:latin typeface="Consolas"/>
                <a:ea typeface="+mn-lt"/>
                <a:cs typeface="+mn-lt"/>
              </a:rPr>
              <a:t>]=</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manejarKeyDown</a:t>
            </a:r>
            <a:r>
              <a:rPr lang="es-ES">
                <a:latin typeface="Consolas"/>
                <a:ea typeface="+mn-lt"/>
                <a:cs typeface="+mn-lt"/>
              </a:rPr>
              <a:t>=(e)=&gt;{</a:t>
            </a:r>
            <a:br>
              <a:rPr lang="es-ES">
                <a:latin typeface="Consolas"/>
                <a:ea typeface="+mn-lt"/>
                <a:cs typeface="+mn-lt"/>
              </a:rPr>
            </a:br>
            <a:r>
              <a:rPr lang="es-ES">
                <a:latin typeface="Consolas"/>
                <a:ea typeface="+mn-lt"/>
                <a:cs typeface="+mn-lt"/>
              </a:rPr>
              <a:t>        </a:t>
            </a:r>
            <a:r>
              <a:rPr lang="es-ES" err="1">
                <a:latin typeface="Consolas"/>
                <a:ea typeface="+mn-lt"/>
                <a:cs typeface="+mn-lt"/>
              </a:rPr>
              <a:t>setTecla</a:t>
            </a:r>
            <a:r>
              <a:rPr lang="es-ES">
                <a:latin typeface="Consolas"/>
                <a:ea typeface="+mn-lt"/>
                <a:cs typeface="+mn-lt"/>
              </a:rPr>
              <a:t>(</a:t>
            </a:r>
            <a:r>
              <a:rPr lang="es-ES" err="1">
                <a:latin typeface="Consolas"/>
                <a:ea typeface="+mn-lt"/>
                <a:cs typeface="+mn-lt"/>
              </a:rPr>
              <a:t>e.keyCode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a:t>
            </a:r>
            <a:r>
              <a:rPr lang="es-ES" err="1">
                <a:latin typeface="Consolas"/>
                <a:ea typeface="+mn-lt"/>
                <a:cs typeface="+mn-lt"/>
              </a:rPr>
              <a:t>onKeyDown</a:t>
            </a:r>
            <a:r>
              <a:rPr lang="es-ES">
                <a:latin typeface="Consolas"/>
                <a:ea typeface="+mn-lt"/>
                <a:cs typeface="+mn-lt"/>
              </a:rPr>
              <a:t>={</a:t>
            </a:r>
            <a:r>
              <a:rPr lang="es-ES" err="1">
                <a:latin typeface="Consolas"/>
                <a:ea typeface="+mn-lt"/>
                <a:cs typeface="+mn-lt"/>
              </a:rPr>
              <a:t>manejarKeyDown</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 </a:t>
            </a:r>
            <a:r>
              <a:rPr lang="es-ES" err="1">
                <a:latin typeface="Consolas"/>
                <a:ea typeface="+mn-lt"/>
                <a:cs typeface="+mn-lt"/>
              </a:rPr>
              <a:t>placeholder</a:t>
            </a:r>
            <a:r>
              <a:rPr lang="es-ES">
                <a:latin typeface="Consolas"/>
                <a:ea typeface="+mn-lt"/>
                <a:cs typeface="+mn-lt"/>
              </a:rPr>
              <a:t>="Pulsa una Tecla..." /&gt;</a:t>
            </a:r>
            <a:br>
              <a:rPr lang="es-ES">
                <a:latin typeface="Consolas"/>
                <a:ea typeface="+mn-lt"/>
                <a:cs typeface="+mn-lt"/>
              </a:rPr>
            </a:br>
            <a:r>
              <a:rPr lang="es-ES">
                <a:latin typeface="Consolas"/>
                <a:ea typeface="+mn-lt"/>
                <a:cs typeface="+mn-lt"/>
              </a:rPr>
              <a:t>            &lt;p&gt;Se ha pulsado la tecla: {tecla}&lt;/p&gt;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DetectorTeclaPulsada</a:t>
            </a:r>
            <a:r>
              <a:rPr lang="es-ES">
                <a:latin typeface="Consolas"/>
                <a:ea typeface="+mn-lt"/>
                <a:cs typeface="+mn-lt"/>
              </a:rPr>
              <a:t>;</a:t>
            </a:r>
          </a:p>
        </p:txBody>
      </p:sp>
    </p:spTree>
    <p:extLst>
      <p:ext uri="{BB962C8B-B14F-4D97-AF65-F5344CB8AC3E}">
        <p14:creationId xmlns:p14="http://schemas.microsoft.com/office/powerpoint/2010/main" val="384685995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50628-85C4-8B92-9333-BA3F61D345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31CDFE-DDEA-A936-6EB7-7A6BA8393E97}"/>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onKeyDown</a:t>
            </a:r>
            <a:r>
              <a:rPr lang="es-ES">
                <a:latin typeface="Calibri"/>
                <a:ea typeface="Calibri"/>
                <a:cs typeface="Calibri"/>
              </a:rPr>
              <a:t>, </a:t>
            </a:r>
            <a:r>
              <a:rPr lang="es-ES" err="1">
                <a:latin typeface="Calibri"/>
                <a:ea typeface="Calibri"/>
                <a:cs typeface="Calibri"/>
              </a:rPr>
              <a:t>onKeyUp</a:t>
            </a:r>
            <a:endParaRPr lang="es-ES">
              <a:latin typeface="Calibri"/>
              <a:ea typeface="Calibri"/>
              <a:cs typeface="Calibri"/>
            </a:endParaRPr>
          </a:p>
        </p:txBody>
      </p:sp>
      <p:sp>
        <p:nvSpPr>
          <p:cNvPr id="3" name="Marcador de contenido 2">
            <a:extLst>
              <a:ext uri="{FF2B5EF4-FFF2-40B4-BE49-F238E27FC236}">
                <a16:creationId xmlns:a16="http://schemas.microsoft.com/office/drawing/2014/main" id="{5E070BC6-2275-A10E-75A3-5CEBE0999394}"/>
              </a:ext>
            </a:extLst>
          </p:cNvPr>
          <p:cNvSpPr>
            <a:spLocks noGrp="1"/>
          </p:cNvSpPr>
          <p:nvPr>
            <p:ph idx="1"/>
          </p:nvPr>
        </p:nvSpPr>
        <p:spPr/>
        <p:txBody>
          <a:bodyPr vert="horz" lIns="91440" tIns="45720" rIns="91440" bIns="45720" rtlCol="0" anchor="t">
            <a:normAutofit fontScale="55000" lnSpcReduction="20000"/>
          </a:bodyPr>
          <a:lstStyle/>
          <a:p>
            <a:pPr marL="342900" indent="-342900">
              <a:buFont typeface="Arial"/>
              <a:buChar char="•"/>
            </a:pPr>
            <a:r>
              <a:rPr lang="es-ES">
                <a:latin typeface="Calibri"/>
                <a:ea typeface="Calibri"/>
                <a:cs typeface="Calibri"/>
              </a:rPr>
              <a:t>El evento </a:t>
            </a:r>
            <a:r>
              <a:rPr lang="es-ES" err="1">
                <a:latin typeface="Calibri"/>
                <a:ea typeface="Calibri"/>
                <a:cs typeface="Calibri"/>
              </a:rPr>
              <a:t>onKeyDown</a:t>
            </a:r>
            <a:r>
              <a:rPr lang="es-ES">
                <a:latin typeface="Calibri"/>
                <a:ea typeface="Calibri"/>
                <a:cs typeface="Calibri"/>
              </a:rPr>
              <a:t> se lanza cuando se pulsa una tecla y </a:t>
            </a:r>
            <a:r>
              <a:rPr lang="es-ES" err="1">
                <a:latin typeface="Calibri"/>
                <a:ea typeface="Calibri"/>
                <a:cs typeface="Calibri"/>
              </a:rPr>
              <a:t>onKeyUp</a:t>
            </a:r>
            <a:r>
              <a:rPr lang="es-ES">
                <a:latin typeface="Calibri"/>
                <a:ea typeface="Calibri"/>
                <a:cs typeface="Calibri"/>
              </a:rPr>
              <a:t> cuando se suelta.</a:t>
            </a:r>
          </a:p>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useEffect</a:t>
            </a:r>
            <a:r>
              <a:rPr lang="es-ES">
                <a:latin typeface="Consolas"/>
                <a:ea typeface="+mn-lt"/>
                <a:cs typeface="+mn-lt"/>
              </a:rPr>
              <a:t>,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import</a:t>
            </a:r>
            <a:r>
              <a:rPr lang="es-ES">
                <a:latin typeface="Consolas"/>
                <a:ea typeface="+mn-lt"/>
                <a:cs typeface="+mn-lt"/>
              </a:rPr>
              <a:t> fondo </a:t>
            </a:r>
            <a:r>
              <a:rPr lang="es-ES" err="1">
                <a:latin typeface="Consolas"/>
                <a:ea typeface="+mn-lt"/>
                <a:cs typeface="+mn-lt"/>
              </a:rPr>
              <a:t>from</a:t>
            </a:r>
            <a:r>
              <a:rPr lang="es-ES">
                <a:latin typeface="Consolas"/>
                <a:ea typeface="+mn-lt"/>
                <a:cs typeface="+mn-lt"/>
              </a:rPr>
              <a:t> './fondo.jpg';</a:t>
            </a:r>
            <a:br>
              <a:rPr lang="es-ES">
                <a:latin typeface="Consolas"/>
                <a:ea typeface="+mn-lt"/>
                <a:cs typeface="+mn-lt"/>
              </a:rPr>
            </a:br>
            <a:r>
              <a:rPr lang="es-ES" err="1">
                <a:latin typeface="Consolas"/>
                <a:ea typeface="+mn-lt"/>
                <a:cs typeface="+mn-lt"/>
              </a:rPr>
              <a:t>import</a:t>
            </a:r>
            <a:r>
              <a:rPr lang="es-ES">
                <a:latin typeface="Consolas"/>
                <a:ea typeface="+mn-lt"/>
                <a:cs typeface="+mn-lt"/>
              </a:rPr>
              <a:t> personaje </a:t>
            </a:r>
            <a:r>
              <a:rPr lang="es-ES" err="1">
                <a:latin typeface="Consolas"/>
                <a:ea typeface="+mn-lt"/>
                <a:cs typeface="+mn-lt"/>
              </a:rPr>
              <a:t>from</a:t>
            </a:r>
            <a:r>
              <a:rPr lang="es-ES">
                <a:latin typeface="Consolas"/>
                <a:ea typeface="+mn-lt"/>
                <a:cs typeface="+mn-lt"/>
              </a:rPr>
              <a:t> './personaje.jpg';</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MoverImagenConFondo</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posicion,setPosicion</a:t>
            </a:r>
            <a:r>
              <a:rPr lang="es-ES">
                <a:latin typeface="Consolas"/>
                <a:ea typeface="+mn-lt"/>
                <a:cs typeface="+mn-lt"/>
              </a:rPr>
              <a:t>] = </a:t>
            </a:r>
            <a:r>
              <a:rPr lang="es-ES" err="1">
                <a:latin typeface="Consolas"/>
                <a:ea typeface="+mn-lt"/>
                <a:cs typeface="+mn-lt"/>
              </a:rPr>
              <a:t>useState</a:t>
            </a:r>
            <a:r>
              <a:rPr lang="es-ES">
                <a:latin typeface="Consolas"/>
                <a:ea typeface="+mn-lt"/>
                <a:cs typeface="+mn-lt"/>
              </a:rPr>
              <a:t>({top:100,left:100});</a:t>
            </a:r>
            <a:br>
              <a:rPr lang="es-ES">
                <a:latin typeface="Consolas"/>
                <a:ea typeface="+mn-lt"/>
                <a:cs typeface="+mn-lt"/>
              </a:rPr>
            </a:br>
            <a:r>
              <a:rPr lang="es-ES">
                <a:latin typeface="Consolas"/>
                <a:ea typeface="+mn-lt"/>
                <a:cs typeface="+mn-lt"/>
              </a:rPr>
              <a:t>// Se crea un estado para la posición de la imagen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teclasPresionadas,setTeclasPresionadas</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Se crea un estado para saber las teclas presionadas en cada momento</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manejarKeyDown</a:t>
            </a:r>
            <a:r>
              <a:rPr lang="es-ES">
                <a:latin typeface="Consolas"/>
                <a:ea typeface="+mn-lt"/>
                <a:cs typeface="+mn-lt"/>
              </a:rPr>
              <a:t> =(</a:t>
            </a:r>
            <a:r>
              <a:rPr lang="es-ES" err="1">
                <a:latin typeface="Consolas"/>
                <a:ea typeface="+mn-lt"/>
                <a:cs typeface="+mn-lt"/>
              </a:rPr>
              <a:t>evt</a:t>
            </a:r>
            <a:r>
              <a:rPr lang="es-ES">
                <a:latin typeface="Consolas"/>
                <a:ea typeface="+mn-lt"/>
                <a:cs typeface="+mn-lt"/>
              </a:rPr>
              <a:t>) =&gt; { // Se crea una función para manejar el evento </a:t>
            </a:r>
            <a:r>
              <a:rPr lang="es-ES" err="1">
                <a:latin typeface="Consolas"/>
                <a:ea typeface="+mn-lt"/>
                <a:cs typeface="+mn-lt"/>
              </a:rPr>
              <a:t>onKeyDown</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setTeclasPresionadas</a:t>
            </a:r>
            <a:r>
              <a:rPr lang="es-ES">
                <a:latin typeface="Consolas"/>
                <a:ea typeface="+mn-lt"/>
                <a:cs typeface="+mn-lt"/>
              </a:rPr>
              <a:t>((</a:t>
            </a:r>
            <a:r>
              <a:rPr lang="es-ES" err="1">
                <a:latin typeface="Consolas"/>
                <a:ea typeface="+mn-lt"/>
                <a:cs typeface="+mn-lt"/>
              </a:rPr>
              <a:t>otrasTeclas</a:t>
            </a:r>
            <a:r>
              <a:rPr lang="es-ES">
                <a:latin typeface="Consolas"/>
                <a:ea typeface="+mn-lt"/>
                <a:cs typeface="+mn-lt"/>
              </a:rPr>
              <a:t>) =&gt; ({</a:t>
            </a:r>
            <a:br>
              <a:rPr lang="es-ES">
                <a:latin typeface="Consolas"/>
                <a:ea typeface="+mn-lt"/>
                <a:cs typeface="+mn-lt"/>
              </a:rPr>
            </a:br>
            <a:r>
              <a:rPr lang="es-ES">
                <a:latin typeface="Consolas"/>
                <a:ea typeface="+mn-lt"/>
                <a:cs typeface="+mn-lt"/>
              </a:rPr>
              <a:t>            ...</a:t>
            </a:r>
            <a:r>
              <a:rPr lang="es-ES" err="1">
                <a:latin typeface="Consolas"/>
                <a:ea typeface="+mn-lt"/>
                <a:cs typeface="+mn-lt"/>
              </a:rPr>
              <a:t>otrasTeclas</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evt.key</a:t>
            </a:r>
            <a:r>
              <a:rPr lang="es-ES">
                <a:latin typeface="Consolas"/>
                <a:ea typeface="+mn-lt"/>
                <a:cs typeface="+mn-lt"/>
              </a:rPr>
              <a:t>]: true</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manejarKeyUp</a:t>
            </a:r>
            <a:r>
              <a:rPr lang="es-ES">
                <a:latin typeface="Consolas"/>
                <a:ea typeface="+mn-lt"/>
                <a:cs typeface="+mn-lt"/>
              </a:rPr>
              <a:t> =(</a:t>
            </a:r>
            <a:r>
              <a:rPr lang="es-ES" err="1">
                <a:latin typeface="Consolas"/>
                <a:ea typeface="+mn-lt"/>
                <a:cs typeface="+mn-lt"/>
              </a:rPr>
              <a:t>evt</a:t>
            </a:r>
            <a:r>
              <a:rPr lang="es-ES">
                <a:latin typeface="Consolas"/>
                <a:ea typeface="+mn-lt"/>
                <a:cs typeface="+mn-lt"/>
              </a:rPr>
              <a:t>) =&gt; { // Se crea una función para manejar el evento </a:t>
            </a:r>
            <a:r>
              <a:rPr lang="es-ES" err="1">
                <a:latin typeface="Consolas"/>
                <a:ea typeface="+mn-lt"/>
                <a:cs typeface="+mn-lt"/>
              </a:rPr>
              <a:t>onKeyUp</a:t>
            </a:r>
            <a:br>
              <a:rPr lang="es-ES">
                <a:latin typeface="Consolas"/>
                <a:ea typeface="+mn-lt"/>
                <a:cs typeface="+mn-lt"/>
              </a:rPr>
            </a:br>
            <a:r>
              <a:rPr lang="es-ES">
                <a:latin typeface="Consolas"/>
                <a:ea typeface="+mn-lt"/>
                <a:cs typeface="+mn-lt"/>
              </a:rPr>
              <a:t>        </a:t>
            </a:r>
            <a:r>
              <a:rPr lang="es-ES" err="1">
                <a:latin typeface="Consolas"/>
                <a:ea typeface="+mn-lt"/>
                <a:cs typeface="+mn-lt"/>
              </a:rPr>
              <a:t>setTeclasPresionadas</a:t>
            </a:r>
            <a:r>
              <a:rPr lang="es-ES">
                <a:latin typeface="Consolas"/>
                <a:ea typeface="+mn-lt"/>
                <a:cs typeface="+mn-lt"/>
              </a:rPr>
              <a:t>((</a:t>
            </a:r>
            <a:r>
              <a:rPr lang="es-ES" err="1">
                <a:latin typeface="Consolas"/>
                <a:ea typeface="+mn-lt"/>
                <a:cs typeface="+mn-lt"/>
              </a:rPr>
              <a:t>otrasTeclas</a:t>
            </a:r>
            <a:r>
              <a:rPr lang="es-ES">
                <a:latin typeface="Consolas"/>
                <a:ea typeface="+mn-lt"/>
                <a:cs typeface="+mn-lt"/>
              </a:rPr>
              <a:t>) =&gt; ({</a:t>
            </a:r>
            <a:br>
              <a:rPr lang="es-ES">
                <a:latin typeface="Consolas"/>
                <a:ea typeface="+mn-lt"/>
                <a:cs typeface="+mn-lt"/>
              </a:rPr>
            </a:br>
            <a:r>
              <a:rPr lang="es-ES">
                <a:latin typeface="Consolas"/>
                <a:ea typeface="+mn-lt"/>
                <a:cs typeface="+mn-lt"/>
              </a:rPr>
              <a:t>            ...</a:t>
            </a:r>
            <a:r>
              <a:rPr lang="es-ES" err="1">
                <a:latin typeface="Consolas"/>
                <a:ea typeface="+mn-lt"/>
                <a:cs typeface="+mn-lt"/>
              </a:rPr>
              <a:t>otrasTeclas</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evt.key</a:t>
            </a:r>
            <a:r>
              <a:rPr lang="es-ES">
                <a:latin typeface="Consolas"/>
                <a:ea typeface="+mn-lt"/>
                <a:cs typeface="+mn-lt"/>
              </a:rPr>
              <a:t>]: false</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//CONTINÚA...</a:t>
            </a:r>
          </a:p>
        </p:txBody>
      </p:sp>
    </p:spTree>
    <p:extLst>
      <p:ext uri="{BB962C8B-B14F-4D97-AF65-F5344CB8AC3E}">
        <p14:creationId xmlns:p14="http://schemas.microsoft.com/office/powerpoint/2010/main" val="406302834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0B5E0-C302-E60D-52B9-817927082F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A92E3B-66B9-0E8C-6894-FAA81F573900}"/>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onKeyDown</a:t>
            </a:r>
            <a:r>
              <a:rPr lang="es-ES">
                <a:latin typeface="Calibri"/>
                <a:ea typeface="Calibri"/>
                <a:cs typeface="Calibri"/>
              </a:rPr>
              <a:t>, </a:t>
            </a:r>
            <a:r>
              <a:rPr lang="es-ES" err="1">
                <a:latin typeface="Calibri"/>
                <a:ea typeface="Calibri"/>
                <a:cs typeface="Calibri"/>
              </a:rPr>
              <a:t>onKeyUp</a:t>
            </a:r>
            <a:endParaRPr lang="es-ES">
              <a:latin typeface="Calibri"/>
              <a:ea typeface="Calibri"/>
              <a:cs typeface="Calibri"/>
            </a:endParaRPr>
          </a:p>
        </p:txBody>
      </p:sp>
      <p:sp>
        <p:nvSpPr>
          <p:cNvPr id="3" name="Marcador de contenido 2">
            <a:extLst>
              <a:ext uri="{FF2B5EF4-FFF2-40B4-BE49-F238E27FC236}">
                <a16:creationId xmlns:a16="http://schemas.microsoft.com/office/drawing/2014/main" id="{FDFD002C-6F80-6286-9816-F0A88A92A9BB}"/>
              </a:ext>
            </a:extLst>
          </p:cNvPr>
          <p:cNvSpPr>
            <a:spLocks noGrp="1"/>
          </p:cNvSpPr>
          <p:nvPr>
            <p:ph idx="1"/>
          </p:nvPr>
        </p:nvSpPr>
        <p:spPr/>
        <p:txBody>
          <a:bodyPr vert="horz" lIns="91440" tIns="45720" rIns="91440" bIns="45720" rtlCol="0" anchor="t">
            <a:normAutofit fontScale="55000" lnSpcReduction="20000"/>
          </a:bodyPr>
          <a:lstStyle/>
          <a:p>
            <a:r>
              <a:rPr lang="es-ES">
                <a:latin typeface="Consolas"/>
                <a:ea typeface="+mn-lt"/>
                <a:cs typeface="+mn-lt"/>
              </a:rPr>
              <a:t>    </a:t>
            </a:r>
            <a:r>
              <a:rPr lang="es-ES" err="1">
                <a:latin typeface="Consolas"/>
                <a:ea typeface="+mn-lt"/>
                <a:cs typeface="+mn-lt"/>
              </a:rPr>
              <a:t>useEffect</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moverImagen</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top,left</a:t>
            </a:r>
            <a:r>
              <a:rPr lang="es-ES">
                <a:latin typeface="Consolas"/>
                <a:ea typeface="+mn-lt"/>
                <a:cs typeface="+mn-lt"/>
              </a:rPr>
              <a:t>} = </a:t>
            </a:r>
            <a:r>
              <a:rPr lang="es-ES" err="1">
                <a:latin typeface="Consolas"/>
                <a:ea typeface="+mn-lt"/>
                <a:cs typeface="+mn-lt"/>
              </a:rPr>
              <a:t>posicion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let</a:t>
            </a:r>
            <a:r>
              <a:rPr lang="es-ES">
                <a:latin typeface="Consolas"/>
                <a:ea typeface="+mn-lt"/>
                <a:cs typeface="+mn-lt"/>
              </a:rPr>
              <a:t> </a:t>
            </a:r>
            <a:r>
              <a:rPr lang="es-ES" err="1">
                <a:latin typeface="Consolas"/>
                <a:ea typeface="+mn-lt"/>
                <a:cs typeface="+mn-lt"/>
              </a:rPr>
              <a:t>nuevoTop</a:t>
            </a:r>
            <a:r>
              <a:rPr lang="es-ES">
                <a:latin typeface="Consolas"/>
                <a:ea typeface="+mn-lt"/>
                <a:cs typeface="+mn-lt"/>
              </a:rPr>
              <a:t>=top;</a:t>
            </a:r>
            <a:br>
              <a:rPr lang="es-ES">
                <a:latin typeface="Consolas"/>
                <a:ea typeface="+mn-lt"/>
                <a:cs typeface="+mn-lt"/>
              </a:rPr>
            </a:br>
            <a:r>
              <a:rPr lang="es-ES">
                <a:latin typeface="Consolas"/>
                <a:ea typeface="+mn-lt"/>
                <a:cs typeface="+mn-lt"/>
              </a:rPr>
              <a:t>            </a:t>
            </a:r>
            <a:r>
              <a:rPr lang="es-ES" err="1">
                <a:latin typeface="Consolas"/>
                <a:ea typeface="+mn-lt"/>
                <a:cs typeface="+mn-lt"/>
              </a:rPr>
              <a:t>let</a:t>
            </a:r>
            <a:r>
              <a:rPr lang="es-ES">
                <a:latin typeface="Consolas"/>
                <a:ea typeface="+mn-lt"/>
                <a:cs typeface="+mn-lt"/>
              </a:rPr>
              <a:t> </a:t>
            </a:r>
            <a:r>
              <a:rPr lang="es-ES" err="1">
                <a:latin typeface="Consolas"/>
                <a:ea typeface="+mn-lt"/>
                <a:cs typeface="+mn-lt"/>
              </a:rPr>
              <a:t>nuevoLeft</a:t>
            </a:r>
            <a:r>
              <a:rPr lang="es-ES">
                <a:latin typeface="Consolas"/>
                <a:ea typeface="+mn-lt"/>
                <a:cs typeface="+mn-lt"/>
              </a:rPr>
              <a:t>=</a:t>
            </a:r>
            <a:r>
              <a:rPr lang="es-ES" err="1">
                <a:latin typeface="Consolas"/>
                <a:ea typeface="+mn-lt"/>
                <a:cs typeface="+mn-lt"/>
              </a:rPr>
              <a:t>left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a:t>
            </a:r>
            <a:r>
              <a:rPr lang="es-ES" err="1">
                <a:latin typeface="Consolas"/>
                <a:ea typeface="+mn-lt"/>
                <a:cs typeface="+mn-lt"/>
              </a:rPr>
              <a:t>ArrowUp</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nuevoTop</a:t>
            </a:r>
            <a:r>
              <a:rPr lang="es-ES">
                <a:latin typeface="Consolas"/>
                <a:ea typeface="+mn-lt"/>
                <a:cs typeface="+mn-lt"/>
              </a:rPr>
              <a:t> -=10;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a:t>
            </a:r>
            <a:r>
              <a:rPr lang="es-ES" err="1">
                <a:latin typeface="Consolas"/>
                <a:ea typeface="+mn-lt"/>
                <a:cs typeface="+mn-lt"/>
              </a:rPr>
              <a:t>ArrowDown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nuevoTop</a:t>
            </a:r>
            <a:r>
              <a:rPr lang="es-ES">
                <a:latin typeface="Consolas"/>
                <a:ea typeface="+mn-lt"/>
                <a:cs typeface="+mn-lt"/>
              </a:rPr>
              <a:t> +=10;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a:t>
            </a:r>
            <a:r>
              <a:rPr lang="es-ES" err="1">
                <a:latin typeface="Consolas"/>
                <a:ea typeface="+mn-lt"/>
                <a:cs typeface="+mn-lt"/>
              </a:rPr>
              <a:t>ArrowLeft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nuevoLeft</a:t>
            </a:r>
            <a:r>
              <a:rPr lang="es-ES">
                <a:latin typeface="Consolas"/>
                <a:ea typeface="+mn-lt"/>
                <a:cs typeface="+mn-lt"/>
              </a:rPr>
              <a:t> -=10;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if</a:t>
            </a: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a:t>
            </a:r>
            <a:r>
              <a:rPr lang="es-ES" err="1">
                <a:latin typeface="Consolas"/>
                <a:ea typeface="+mn-lt"/>
                <a:cs typeface="+mn-lt"/>
              </a:rPr>
              <a:t>ArrowRight</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nuevoLeft</a:t>
            </a:r>
            <a:r>
              <a:rPr lang="es-ES">
                <a:latin typeface="Consolas"/>
                <a:ea typeface="+mn-lt"/>
                <a:cs typeface="+mn-lt"/>
              </a:rPr>
              <a:t> +=10;</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setPosicion</a:t>
            </a:r>
            <a:r>
              <a:rPr lang="es-ES">
                <a:latin typeface="Consolas"/>
                <a:ea typeface="+mn-lt"/>
                <a:cs typeface="+mn-lt"/>
              </a:rPr>
              <a:t>({ top: </a:t>
            </a:r>
            <a:r>
              <a:rPr lang="es-ES" err="1">
                <a:latin typeface="Consolas"/>
                <a:ea typeface="+mn-lt"/>
                <a:cs typeface="+mn-lt"/>
              </a:rPr>
              <a:t>nuevoTop</a:t>
            </a:r>
            <a:r>
              <a:rPr lang="es-ES">
                <a:latin typeface="Consolas"/>
                <a:ea typeface="+mn-lt"/>
                <a:cs typeface="+mn-lt"/>
              </a:rPr>
              <a:t>, </a:t>
            </a:r>
            <a:r>
              <a:rPr lang="es-ES" err="1">
                <a:latin typeface="Consolas"/>
                <a:ea typeface="+mn-lt"/>
                <a:cs typeface="+mn-lt"/>
              </a:rPr>
              <a:t>left:nuevoLeft</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intervalo=</a:t>
            </a:r>
            <a:r>
              <a:rPr lang="es-ES" err="1">
                <a:latin typeface="Consolas"/>
                <a:ea typeface="+mn-lt"/>
                <a:cs typeface="+mn-lt"/>
              </a:rPr>
              <a:t>setInterval</a:t>
            </a:r>
            <a:r>
              <a:rPr lang="es-ES">
                <a:latin typeface="Consolas"/>
                <a:ea typeface="+mn-lt"/>
                <a:cs typeface="+mn-lt"/>
              </a:rPr>
              <a:t>(moverImagen,100);</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()=&gt;</a:t>
            </a:r>
            <a:r>
              <a:rPr lang="es-ES" err="1">
                <a:latin typeface="Consolas"/>
                <a:ea typeface="+mn-lt"/>
                <a:cs typeface="+mn-lt"/>
              </a:rPr>
              <a:t>clearInterval</a:t>
            </a:r>
            <a:r>
              <a:rPr lang="es-ES">
                <a:latin typeface="Consolas"/>
                <a:ea typeface="+mn-lt"/>
                <a:cs typeface="+mn-lt"/>
              </a:rPr>
              <a:t>(intervalo);</a:t>
            </a:r>
            <a:br>
              <a:rPr lang="es-ES">
                <a:latin typeface="Consolas"/>
                <a:ea typeface="+mn-lt"/>
                <a:cs typeface="+mn-lt"/>
              </a:rPr>
            </a:br>
            <a:r>
              <a:rPr lang="es-ES">
                <a:latin typeface="Consolas"/>
                <a:ea typeface="+mn-lt"/>
                <a:cs typeface="+mn-lt"/>
              </a:rPr>
              <a:t>    },[</a:t>
            </a:r>
            <a:r>
              <a:rPr lang="es-ES" err="1">
                <a:latin typeface="Consolas"/>
                <a:ea typeface="+mn-lt"/>
                <a:cs typeface="+mn-lt"/>
              </a:rPr>
              <a:t>teclasPresionadas</a:t>
            </a:r>
            <a:r>
              <a:rPr lang="es-ES">
                <a:latin typeface="Consolas"/>
                <a:ea typeface="+mn-lt"/>
                <a:cs typeface="+mn-lt"/>
              </a:rPr>
              <a:t>, </a:t>
            </a:r>
            <a:r>
              <a:rPr lang="es-ES" err="1">
                <a:latin typeface="Consolas"/>
                <a:ea typeface="+mn-lt"/>
                <a:cs typeface="+mn-lt"/>
              </a:rPr>
              <a:t>posicion</a:t>
            </a:r>
            <a:r>
              <a:rPr lang="es-ES">
                <a:latin typeface="Consolas"/>
                <a:ea typeface="+mn-lt"/>
                <a:cs typeface="+mn-lt"/>
              </a:rPr>
              <a:t>]); // Se renderiza cada vez que se cambie la tecla o la posición</a:t>
            </a:r>
            <a:br>
              <a:rPr lang="es-ES">
                <a:latin typeface="Consolas"/>
                <a:ea typeface="+mn-lt"/>
                <a:cs typeface="+mn-lt"/>
              </a:rPr>
            </a:br>
            <a:r>
              <a:rPr lang="es-ES">
                <a:latin typeface="Consolas"/>
                <a:ea typeface="+mn-lt"/>
                <a:cs typeface="+mn-lt"/>
              </a:rPr>
              <a:t>//CONTINÚA...</a:t>
            </a:r>
          </a:p>
        </p:txBody>
      </p:sp>
    </p:spTree>
    <p:extLst>
      <p:ext uri="{BB962C8B-B14F-4D97-AF65-F5344CB8AC3E}">
        <p14:creationId xmlns:p14="http://schemas.microsoft.com/office/powerpoint/2010/main" val="338114073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1CC1A-DEBC-16BF-B0E5-D7EA3DFB1E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99BF05-F543-8272-554F-1F943AF75DE1}"/>
              </a:ext>
            </a:extLst>
          </p:cNvPr>
          <p:cNvSpPr>
            <a:spLocks noGrp="1"/>
          </p:cNvSpPr>
          <p:nvPr>
            <p:ph type="title"/>
          </p:nvPr>
        </p:nvSpPr>
        <p:spPr/>
        <p:txBody>
          <a:bodyPr>
            <a:normAutofit/>
          </a:bodyPr>
          <a:lstStyle/>
          <a:p>
            <a:r>
              <a:rPr lang="es-ES">
                <a:latin typeface="Calibri"/>
                <a:ea typeface="Calibri"/>
                <a:cs typeface="Calibri"/>
              </a:rPr>
              <a:t>Manejo y gestión de eventos. Manejo de eventos básicos con funciones de manejador. </a:t>
            </a:r>
            <a:r>
              <a:rPr lang="es-ES" err="1">
                <a:latin typeface="Calibri"/>
                <a:ea typeface="Calibri"/>
                <a:cs typeface="Calibri"/>
              </a:rPr>
              <a:t>onKeyDown</a:t>
            </a:r>
            <a:r>
              <a:rPr lang="es-ES">
                <a:latin typeface="Calibri"/>
                <a:ea typeface="Calibri"/>
                <a:cs typeface="Calibri"/>
              </a:rPr>
              <a:t>, </a:t>
            </a:r>
            <a:r>
              <a:rPr lang="es-ES" err="1">
                <a:latin typeface="Calibri"/>
                <a:ea typeface="Calibri"/>
                <a:cs typeface="Calibri"/>
              </a:rPr>
              <a:t>onKeyUp</a:t>
            </a:r>
            <a:endParaRPr lang="es-ES">
              <a:latin typeface="Calibri"/>
              <a:ea typeface="Calibri"/>
              <a:cs typeface="Calibri"/>
            </a:endParaRPr>
          </a:p>
        </p:txBody>
      </p:sp>
      <p:sp>
        <p:nvSpPr>
          <p:cNvPr id="3" name="Marcador de contenido 2">
            <a:extLst>
              <a:ext uri="{FF2B5EF4-FFF2-40B4-BE49-F238E27FC236}">
                <a16:creationId xmlns:a16="http://schemas.microsoft.com/office/drawing/2014/main" id="{A7511B71-8E35-1C87-4FC4-9BFC0CF5A12D}"/>
              </a:ext>
            </a:extLst>
          </p:cNvPr>
          <p:cNvSpPr>
            <a:spLocks noGrp="1"/>
          </p:cNvSpPr>
          <p:nvPr>
            <p:ph idx="1"/>
          </p:nvPr>
        </p:nvSpPr>
        <p:spPr/>
        <p:txBody>
          <a:bodyPr vert="horz" lIns="91440" tIns="45720" rIns="91440" bIns="45720" rtlCol="0" anchor="t">
            <a:normAutofit fontScale="47500" lnSpcReduction="20000"/>
          </a:bodyPr>
          <a:lstStyle/>
          <a:p>
            <a:r>
              <a:rPr lang="es-ES">
                <a:latin typeface="Consolas"/>
                <a:ea typeface="+mn-lt"/>
                <a:cs typeface="+mn-lt"/>
              </a:rPr>
              <a:t>    </a:t>
            </a:r>
            <a:r>
              <a:rPr lang="es-ES" err="1">
                <a:latin typeface="Consolas"/>
                <a:ea typeface="+mn-lt"/>
                <a:cs typeface="+mn-lt"/>
              </a:rPr>
              <a:t>useEffect</a:t>
            </a:r>
            <a:r>
              <a:rPr lang="es-ES">
                <a:latin typeface="Consolas"/>
                <a:ea typeface="+mn-lt"/>
                <a:cs typeface="+mn-lt"/>
              </a:rPr>
              <a:t>(()=&gt;{ //Efecto para añadir y eliminar </a:t>
            </a:r>
            <a:r>
              <a:rPr lang="es-ES" err="1">
                <a:latin typeface="Consolas"/>
                <a:ea typeface="+mn-lt"/>
                <a:cs typeface="+mn-lt"/>
              </a:rPr>
              <a:t>event</a:t>
            </a:r>
            <a:r>
              <a:rPr lang="es-ES">
                <a:latin typeface="Consolas"/>
                <a:ea typeface="+mn-lt"/>
                <a:cs typeface="+mn-lt"/>
              </a:rPr>
              <a:t> </a:t>
            </a:r>
            <a:r>
              <a:rPr lang="es-ES" err="1">
                <a:latin typeface="Consolas"/>
                <a:ea typeface="+mn-lt"/>
                <a:cs typeface="+mn-lt"/>
              </a:rPr>
              <a:t>listeners</a:t>
            </a:r>
            <a:br>
              <a:rPr lang="es-ES">
                <a:latin typeface="Consolas"/>
                <a:ea typeface="+mn-lt"/>
                <a:cs typeface="+mn-lt"/>
              </a:rPr>
            </a:br>
            <a:r>
              <a:rPr lang="es-ES">
                <a:latin typeface="Consolas"/>
                <a:ea typeface="+mn-lt"/>
                <a:cs typeface="+mn-lt"/>
              </a:rPr>
              <a:t>        </a:t>
            </a:r>
            <a:r>
              <a:rPr lang="es-ES" err="1">
                <a:latin typeface="Consolas"/>
                <a:ea typeface="+mn-lt"/>
                <a:cs typeface="+mn-lt"/>
              </a:rPr>
              <a:t>window.addEventListener</a:t>
            </a:r>
            <a:r>
              <a:rPr lang="es-ES">
                <a:latin typeface="Consolas"/>
                <a:ea typeface="+mn-lt"/>
                <a:cs typeface="+mn-lt"/>
              </a:rPr>
              <a:t>('</a:t>
            </a:r>
            <a:r>
              <a:rPr lang="es-ES" err="1">
                <a:latin typeface="Consolas"/>
                <a:ea typeface="+mn-lt"/>
                <a:cs typeface="+mn-lt"/>
              </a:rPr>
              <a:t>keydown</a:t>
            </a:r>
            <a:r>
              <a:rPr lang="es-ES">
                <a:latin typeface="Consolas"/>
                <a:ea typeface="+mn-lt"/>
                <a:cs typeface="+mn-lt"/>
              </a:rPr>
              <a:t>',</a:t>
            </a:r>
            <a:r>
              <a:rPr lang="es-ES" err="1">
                <a:latin typeface="Consolas"/>
                <a:ea typeface="+mn-lt"/>
                <a:cs typeface="+mn-lt"/>
              </a:rPr>
              <a:t>manejarKeyDown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window.addEventListener</a:t>
            </a:r>
            <a:r>
              <a:rPr lang="es-ES">
                <a:latin typeface="Consolas"/>
                <a:ea typeface="+mn-lt"/>
                <a:cs typeface="+mn-lt"/>
              </a:rPr>
              <a:t>('</a:t>
            </a:r>
            <a:r>
              <a:rPr lang="es-ES" err="1">
                <a:latin typeface="Consolas"/>
                <a:ea typeface="+mn-lt"/>
                <a:cs typeface="+mn-lt"/>
              </a:rPr>
              <a:t>keyup</a:t>
            </a:r>
            <a:r>
              <a:rPr lang="es-ES">
                <a:latin typeface="Consolas"/>
                <a:ea typeface="+mn-lt"/>
                <a:cs typeface="+mn-lt"/>
              </a:rPr>
              <a:t>',</a:t>
            </a:r>
            <a:r>
              <a:rPr lang="es-ES" err="1">
                <a:latin typeface="Consolas"/>
                <a:ea typeface="+mn-lt"/>
                <a:cs typeface="+mn-lt"/>
              </a:rPr>
              <a:t>manejarKeyUp</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window.removeEventListener</a:t>
            </a:r>
            <a:r>
              <a:rPr lang="es-ES">
                <a:latin typeface="Consolas"/>
                <a:ea typeface="+mn-lt"/>
                <a:cs typeface="+mn-lt"/>
              </a:rPr>
              <a:t>('</a:t>
            </a:r>
            <a:r>
              <a:rPr lang="es-ES" err="1">
                <a:latin typeface="Consolas"/>
                <a:ea typeface="+mn-lt"/>
                <a:cs typeface="+mn-lt"/>
              </a:rPr>
              <a:t>keydown</a:t>
            </a:r>
            <a:r>
              <a:rPr lang="es-ES">
                <a:latin typeface="Consolas"/>
                <a:ea typeface="+mn-lt"/>
                <a:cs typeface="+mn-lt"/>
              </a:rPr>
              <a:t>',</a:t>
            </a:r>
            <a:r>
              <a:rPr lang="es-ES" err="1">
                <a:latin typeface="Consolas"/>
                <a:ea typeface="+mn-lt"/>
                <a:cs typeface="+mn-lt"/>
              </a:rPr>
              <a:t>manejarKeyDown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window.removeEventListener</a:t>
            </a:r>
            <a:r>
              <a:rPr lang="es-ES">
                <a:latin typeface="Consolas"/>
                <a:ea typeface="+mn-lt"/>
                <a:cs typeface="+mn-lt"/>
              </a:rPr>
              <a:t>('</a:t>
            </a:r>
            <a:r>
              <a:rPr lang="es-ES" err="1">
                <a:latin typeface="Consolas"/>
                <a:ea typeface="+mn-lt"/>
                <a:cs typeface="+mn-lt"/>
              </a:rPr>
              <a:t>keyup</a:t>
            </a:r>
            <a:r>
              <a:rPr lang="es-ES">
                <a:latin typeface="Consolas"/>
                <a:ea typeface="+mn-lt"/>
                <a:cs typeface="+mn-lt"/>
              </a:rPr>
              <a:t>',</a:t>
            </a:r>
            <a:r>
              <a:rPr lang="es-ES" err="1">
                <a:latin typeface="Consolas"/>
                <a:ea typeface="+mn-lt"/>
                <a:cs typeface="+mn-lt"/>
              </a:rPr>
              <a:t>manejarKeyUp</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 //Solo se ejecuta al renderizar la primera vez</a:t>
            </a:r>
            <a:br>
              <a:rPr lang="es-ES">
                <a:latin typeface="Consolas"/>
                <a:ea typeface="+mn-lt"/>
                <a:cs typeface="+mn-lt"/>
              </a:rPr>
            </a:br>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 </a:t>
            </a:r>
            <a:r>
              <a:rPr lang="es-ES" err="1">
                <a:latin typeface="Consolas"/>
                <a:ea typeface="+mn-lt"/>
                <a:cs typeface="+mn-lt"/>
              </a:rPr>
              <a:t>style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position:'relative</a:t>
            </a:r>
            <a:r>
              <a:rPr lang="es-ES">
                <a:latin typeface="Consolas"/>
                <a:ea typeface="+mn-lt"/>
                <a:cs typeface="+mn-lt"/>
              </a:rPr>
              <a:t>', width:'100vw', height:'100vh', </a:t>
            </a:r>
            <a:r>
              <a:rPr lang="es-ES" err="1">
                <a:latin typeface="Consolas"/>
                <a:ea typeface="+mn-lt"/>
                <a:cs typeface="+mn-lt"/>
              </a:rPr>
              <a:t>overflow</a:t>
            </a:r>
            <a:r>
              <a:rPr lang="es-ES">
                <a:latin typeface="Consolas"/>
                <a:ea typeface="+mn-lt"/>
                <a:cs typeface="+mn-lt"/>
              </a:rPr>
              <a:t>:'</a:t>
            </a:r>
            <a:r>
              <a:rPr lang="es-ES" err="1">
                <a:latin typeface="Consolas"/>
                <a:ea typeface="+mn-lt"/>
                <a:cs typeface="+mn-lt"/>
              </a:rPr>
              <a:t>hidden</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backgroundImage</a:t>
            </a:r>
            <a:r>
              <a:rPr lang="es-ES">
                <a:latin typeface="Consolas"/>
                <a:ea typeface="+mn-lt"/>
                <a:cs typeface="+mn-lt"/>
              </a:rPr>
              <a:t>: `</a:t>
            </a:r>
            <a:r>
              <a:rPr lang="es-ES" err="1">
                <a:latin typeface="Consolas"/>
                <a:ea typeface="+mn-lt"/>
                <a:cs typeface="+mn-lt"/>
              </a:rPr>
              <a:t>url</a:t>
            </a:r>
            <a:r>
              <a:rPr lang="es-ES">
                <a:latin typeface="Consolas"/>
                <a:ea typeface="+mn-lt"/>
                <a:cs typeface="+mn-lt"/>
              </a:rPr>
              <a:t>(${fondo})`,</a:t>
            </a:r>
            <a:br>
              <a:rPr lang="es-ES">
                <a:latin typeface="Consolas"/>
                <a:ea typeface="+mn-lt"/>
                <a:cs typeface="+mn-lt"/>
              </a:rPr>
            </a:br>
            <a:r>
              <a:rPr lang="es-ES">
                <a:latin typeface="Consolas"/>
                <a:ea typeface="+mn-lt"/>
                <a:cs typeface="+mn-lt"/>
              </a:rPr>
              <a:t>            </a:t>
            </a:r>
            <a:r>
              <a:rPr lang="es-ES" err="1">
                <a:latin typeface="Consolas"/>
                <a:ea typeface="+mn-lt"/>
                <a:cs typeface="+mn-lt"/>
              </a:rPr>
              <a:t>backgroundPosition</a:t>
            </a:r>
            <a:r>
              <a:rPr lang="es-ES">
                <a:latin typeface="Consolas"/>
                <a:ea typeface="+mn-lt"/>
                <a:cs typeface="+mn-lt"/>
              </a:rPr>
              <a:t>: `${-</a:t>
            </a:r>
            <a:r>
              <a:rPr lang="es-ES" err="1">
                <a:latin typeface="Consolas"/>
                <a:ea typeface="+mn-lt"/>
                <a:cs typeface="+mn-lt"/>
              </a:rPr>
              <a:t>posicion.left</a:t>
            </a:r>
            <a:r>
              <a:rPr lang="es-ES">
                <a:latin typeface="Consolas"/>
                <a:ea typeface="+mn-lt"/>
                <a:cs typeface="+mn-lt"/>
              </a:rPr>
              <a:t>}</a:t>
            </a:r>
            <a:r>
              <a:rPr lang="es-ES" err="1">
                <a:latin typeface="Consolas"/>
                <a:ea typeface="+mn-lt"/>
                <a:cs typeface="+mn-lt"/>
              </a:rPr>
              <a:t>px</a:t>
            </a:r>
            <a:r>
              <a:rPr lang="es-ES">
                <a:latin typeface="Consolas"/>
                <a:ea typeface="+mn-lt"/>
                <a:cs typeface="+mn-lt"/>
              </a:rPr>
              <a:t> ${-</a:t>
            </a:r>
            <a:r>
              <a:rPr lang="es-ES" err="1">
                <a:latin typeface="Consolas"/>
                <a:ea typeface="+mn-lt"/>
                <a:cs typeface="+mn-lt"/>
              </a:rPr>
              <a:t>posicion.top</a:t>
            </a:r>
            <a:r>
              <a:rPr lang="es-ES">
                <a:latin typeface="Consolas"/>
                <a:ea typeface="+mn-lt"/>
                <a:cs typeface="+mn-lt"/>
              </a:rPr>
              <a:t>}</a:t>
            </a:r>
            <a:r>
              <a:rPr lang="es-ES" err="1">
                <a:latin typeface="Consolas"/>
                <a:ea typeface="+mn-lt"/>
                <a:cs typeface="+mn-lt"/>
              </a:rPr>
              <a:t>px</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backgroundSize</a:t>
            </a:r>
            <a:r>
              <a:rPr lang="es-ES">
                <a:latin typeface="Consolas"/>
                <a:ea typeface="+mn-lt"/>
                <a:cs typeface="+mn-lt"/>
              </a:rPr>
              <a:t>: '</a:t>
            </a:r>
            <a:r>
              <a:rPr lang="es-ES" err="1">
                <a:latin typeface="Consolas"/>
                <a:ea typeface="+mn-lt"/>
                <a:cs typeface="+mn-lt"/>
              </a:rPr>
              <a:t>cover</a:t>
            </a:r>
            <a:r>
              <a:rPr lang="es-ES">
                <a:latin typeface="Consolas"/>
                <a:ea typeface="+mn-lt"/>
                <a:cs typeface="+mn-lt"/>
              </a:rPr>
              <a:t>', </a:t>
            </a:r>
            <a:r>
              <a:rPr lang="es-ES" err="1">
                <a:latin typeface="Consolas"/>
                <a:ea typeface="+mn-lt"/>
                <a:cs typeface="+mn-lt"/>
              </a:rPr>
              <a:t>border</a:t>
            </a:r>
            <a:r>
              <a:rPr lang="es-ES">
                <a:latin typeface="Consolas"/>
                <a:ea typeface="+mn-lt"/>
                <a:cs typeface="+mn-lt"/>
              </a:rPr>
              <a:t>: '1px </a:t>
            </a:r>
            <a:r>
              <a:rPr lang="es-ES" err="1">
                <a:latin typeface="Consolas"/>
                <a:ea typeface="+mn-lt"/>
                <a:cs typeface="+mn-lt"/>
              </a:rPr>
              <a:t>solid</a:t>
            </a:r>
            <a:r>
              <a:rPr lang="es-ES">
                <a:latin typeface="Consolas"/>
                <a:ea typeface="+mn-lt"/>
                <a:cs typeface="+mn-lt"/>
              </a:rPr>
              <a:t> </a:t>
            </a:r>
            <a:r>
              <a:rPr lang="es-ES" err="1">
                <a:latin typeface="Consolas"/>
                <a:ea typeface="+mn-lt"/>
                <a:cs typeface="+mn-lt"/>
              </a:rPr>
              <a:t>black</a:t>
            </a:r>
            <a:r>
              <a:rPr lang="es-ES">
                <a:latin typeface="Consolas"/>
                <a:ea typeface="+mn-lt"/>
                <a:cs typeface="+mn-lt"/>
              </a:rPr>
              <a:t>'</a:t>
            </a:r>
            <a:br>
              <a:rPr lang="es-ES">
                <a:latin typeface="Consolas"/>
                <a:ea typeface="+mn-lt"/>
                <a:cs typeface="+mn-lt"/>
              </a:rPr>
            </a:b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img</a:t>
            </a:r>
            <a:r>
              <a:rPr lang="es-ES">
                <a:latin typeface="Consolas"/>
                <a:ea typeface="+mn-lt"/>
                <a:cs typeface="+mn-lt"/>
              </a:rPr>
              <a:t> </a:t>
            </a:r>
            <a:r>
              <a:rPr lang="es-ES" err="1">
                <a:latin typeface="Consolas"/>
                <a:ea typeface="+mn-lt"/>
                <a:cs typeface="+mn-lt"/>
              </a:rPr>
              <a:t>src</a:t>
            </a:r>
            <a:r>
              <a:rPr lang="es-ES">
                <a:latin typeface="Consolas"/>
                <a:ea typeface="+mn-lt"/>
                <a:cs typeface="+mn-lt"/>
              </a:rPr>
              <a:t>={personaje} </a:t>
            </a:r>
            <a:r>
              <a:rPr lang="es-ES" err="1">
                <a:latin typeface="Consolas"/>
                <a:ea typeface="+mn-lt"/>
                <a:cs typeface="+mn-lt"/>
              </a:rPr>
              <a:t>alt</a:t>
            </a:r>
            <a:r>
              <a:rPr lang="es-ES">
                <a:latin typeface="Consolas"/>
                <a:ea typeface="+mn-lt"/>
                <a:cs typeface="+mn-lt"/>
              </a:rPr>
              <a:t>="Imagen que se mueve"</a:t>
            </a:r>
            <a:br>
              <a:rPr lang="es-ES">
                <a:latin typeface="Consolas"/>
                <a:ea typeface="+mn-lt"/>
                <a:cs typeface="+mn-lt"/>
              </a:rPr>
            </a:br>
            <a:r>
              <a:rPr lang="es-ES">
                <a:latin typeface="Consolas"/>
                <a:ea typeface="+mn-lt"/>
                <a:cs typeface="+mn-lt"/>
              </a:rPr>
              <a:t>                </a:t>
            </a:r>
            <a:r>
              <a:rPr lang="es-ES" err="1">
                <a:latin typeface="Consolas"/>
                <a:ea typeface="+mn-lt"/>
                <a:cs typeface="+mn-lt"/>
              </a:rPr>
              <a:t>style</a:t>
            </a:r>
            <a:r>
              <a:rPr lang="es-ES">
                <a:latin typeface="Consolas"/>
                <a:ea typeface="+mn-lt"/>
                <a:cs typeface="+mn-lt"/>
              </a:rPr>
              <a:t>={{</a:t>
            </a:r>
            <a:br>
              <a:rPr lang="es-ES">
                <a:latin typeface="Consolas"/>
                <a:ea typeface="+mn-lt"/>
                <a:cs typeface="+mn-lt"/>
              </a:rPr>
            </a:br>
            <a:r>
              <a:rPr lang="es-ES">
                <a:latin typeface="Consolas"/>
                <a:ea typeface="+mn-lt"/>
                <a:cs typeface="+mn-lt"/>
              </a:rPr>
              <a:t>                    width:'100px', height:'150px',</a:t>
            </a:r>
            <a:br>
              <a:rPr lang="es-ES">
                <a:latin typeface="Consolas"/>
                <a:ea typeface="+mn-lt"/>
                <a:cs typeface="+mn-lt"/>
              </a:rPr>
            </a:br>
            <a:r>
              <a:rPr lang="es-ES">
                <a:latin typeface="Consolas"/>
                <a:ea typeface="+mn-lt"/>
                <a:cs typeface="+mn-lt"/>
              </a:rPr>
              <a:t>                    position: 'absolute',</a:t>
            </a:r>
            <a:br>
              <a:rPr lang="es-ES">
                <a:latin typeface="Consolas"/>
                <a:ea typeface="+mn-lt"/>
                <a:cs typeface="+mn-lt"/>
              </a:rPr>
            </a:br>
            <a:r>
              <a:rPr lang="es-ES">
                <a:latin typeface="Consolas"/>
                <a:ea typeface="+mn-lt"/>
                <a:cs typeface="+mn-lt"/>
              </a:rPr>
              <a:t>                    top: `${</a:t>
            </a:r>
            <a:r>
              <a:rPr lang="es-ES" err="1">
                <a:latin typeface="Consolas"/>
                <a:ea typeface="+mn-lt"/>
                <a:cs typeface="+mn-lt"/>
              </a:rPr>
              <a:t>posicion.top</a:t>
            </a:r>
            <a:r>
              <a:rPr lang="es-ES">
                <a:latin typeface="Consolas"/>
                <a:ea typeface="+mn-lt"/>
                <a:cs typeface="+mn-lt"/>
              </a:rPr>
              <a:t>}</a:t>
            </a:r>
            <a:r>
              <a:rPr lang="es-ES" err="1">
                <a:latin typeface="Consolas"/>
                <a:ea typeface="+mn-lt"/>
                <a:cs typeface="+mn-lt"/>
              </a:rPr>
              <a:t>px</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left</a:t>
            </a:r>
            <a:r>
              <a:rPr lang="es-ES">
                <a:latin typeface="Consolas"/>
                <a:ea typeface="+mn-lt"/>
                <a:cs typeface="+mn-lt"/>
              </a:rPr>
              <a:t>: `${</a:t>
            </a:r>
            <a:r>
              <a:rPr lang="es-ES" err="1">
                <a:latin typeface="Consolas"/>
                <a:ea typeface="+mn-lt"/>
                <a:cs typeface="+mn-lt"/>
              </a:rPr>
              <a:t>posicion.left</a:t>
            </a:r>
            <a:r>
              <a:rPr lang="es-ES">
                <a:latin typeface="Consolas"/>
                <a:ea typeface="+mn-lt"/>
                <a:cs typeface="+mn-lt"/>
              </a:rPr>
              <a:t>}</a:t>
            </a:r>
            <a:r>
              <a:rPr lang="es-ES" err="1">
                <a:latin typeface="Consolas"/>
                <a:ea typeface="+mn-lt"/>
                <a:cs typeface="+mn-lt"/>
              </a:rPr>
              <a:t>px</a:t>
            </a:r>
            <a:r>
              <a:rPr lang="es-ES">
                <a:latin typeface="Consolas"/>
                <a:ea typeface="+mn-lt"/>
                <a:cs typeface="+mn-lt"/>
              </a:rPr>
              <a:t>`</a:t>
            </a:r>
            <a:br>
              <a:rPr lang="es-ES">
                <a:latin typeface="Consolas"/>
                <a:ea typeface="+mn-lt"/>
                <a:cs typeface="+mn-lt"/>
              </a:rPr>
            </a:br>
            <a:r>
              <a:rPr lang="es-ES">
                <a:latin typeface="Consolas"/>
                <a:ea typeface="+mn-lt"/>
                <a:cs typeface="+mn-lt"/>
              </a:rPr>
              <a:t>                }}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MoverImagenConFondo</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5011546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A29BE2-CCA4-F562-5978-C342885FDCFB}"/>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a:t>
            </a:r>
          </a:p>
        </p:txBody>
      </p:sp>
      <p:sp>
        <p:nvSpPr>
          <p:cNvPr id="3" name="Marcador de contenido 2">
            <a:extLst>
              <a:ext uri="{FF2B5EF4-FFF2-40B4-BE49-F238E27FC236}">
                <a16:creationId xmlns:a16="http://schemas.microsoft.com/office/drawing/2014/main" id="{DCAB98C8-C623-BD41-FF8A-06C51BAACFD7}"/>
              </a:ext>
            </a:extLst>
          </p:cNvPr>
          <p:cNvSpPr>
            <a:spLocks noGrp="1"/>
          </p:cNvSpPr>
          <p:nvPr>
            <p:ph idx="1"/>
          </p:nvPr>
        </p:nvSpPr>
        <p:spPr/>
        <p:txBody>
          <a:bodyPr vert="horz" lIns="91440" tIns="45720" rIns="91440" bIns="45720" rtlCol="0" anchor="t">
            <a:normAutofit fontScale="92500" lnSpcReduction="10000"/>
          </a:bodyPr>
          <a:lstStyle/>
          <a:p>
            <a:pPr marL="171450" indent="-171450">
              <a:buFont typeface="Arial"/>
              <a:buChar char="•"/>
            </a:pPr>
            <a:r>
              <a:rPr lang="es-ES">
                <a:latin typeface="Calibri"/>
                <a:ea typeface="Calibri"/>
                <a:cs typeface="Calibri"/>
              </a:rPr>
              <a:t>E</a:t>
            </a:r>
            <a:r>
              <a:rPr lang="es-ES">
                <a:latin typeface="Calibri"/>
                <a:ea typeface="+mn-lt"/>
                <a:cs typeface="+mn-lt"/>
              </a:rPr>
              <a:t>n </a:t>
            </a:r>
            <a:r>
              <a:rPr lang="es-ES" err="1">
                <a:latin typeface="Calibri"/>
                <a:ea typeface="+mn-lt"/>
                <a:cs typeface="+mn-lt"/>
              </a:rPr>
              <a:t>React</a:t>
            </a:r>
            <a:r>
              <a:rPr lang="es-ES">
                <a:latin typeface="Calibri"/>
                <a:ea typeface="+mn-lt"/>
                <a:cs typeface="+mn-lt"/>
              </a:rPr>
              <a:t>, un formulario controlado es aquel en el que el estado de los campos de entrada se gestiona por el componente. Esto significa que el valor del campo de entrada está vinculado al estado del componente y se actualiza mediante eventos. Al vincular los valores de los campos de entrada al estado del componente, se tiene un control total sobre los datos del formulario. Esto facilita la validación y el manejo de los datos antes de enviarlos mostrando mensajes de error o advertencias instantáneamente. </a:t>
            </a:r>
          </a:p>
          <a:p>
            <a:pPr marL="171450" indent="-171450">
              <a:buFont typeface="Arial"/>
              <a:buChar char="•"/>
            </a:pPr>
            <a:r>
              <a:rPr lang="es-ES">
                <a:latin typeface="Calibri"/>
                <a:ea typeface="+mn-lt"/>
                <a:cs typeface="+mn-lt"/>
              </a:rPr>
              <a:t>Permite actualizar otros elementos de la UI en respuesta a los cambios en los campos del formulario, proporcionando una experiencia de usuario más interactiva y dinámica. Además al tener el estado del formulario centralizado en el componente, es más fácil depurar y entender el flujo de datos. se puede ver exactamente cómo y cuándo se actualizan los valores de los campos. Por otro lado, los formularios controlados son más fáciles de mantener y escalar, ya que el manejo del estado y los eventos está claramente definido y organizado.</a:t>
            </a:r>
            <a:endParaRPr lang="es-ES">
              <a:latin typeface="Consolas"/>
            </a:endParaRPr>
          </a:p>
        </p:txBody>
      </p:sp>
    </p:spTree>
    <p:extLst>
      <p:ext uri="{BB962C8B-B14F-4D97-AF65-F5344CB8AC3E}">
        <p14:creationId xmlns:p14="http://schemas.microsoft.com/office/powerpoint/2010/main" val="408027800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51CE8-D29A-6716-FB36-9EA639E9AE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C55FB2-DBA5-BD43-4AA9-5E6316F706AF}"/>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B614BBB6-6C48-D36D-DBBF-F62B4B3CD1CC}"/>
              </a:ext>
            </a:extLst>
          </p:cNvPr>
          <p:cNvSpPr>
            <a:spLocks noGrp="1"/>
          </p:cNvSpPr>
          <p:nvPr>
            <p:ph idx="1"/>
          </p:nvPr>
        </p:nvSpPr>
        <p:spPr/>
        <p:txBody>
          <a:bodyPr vert="horz" lIns="91440" tIns="45720" rIns="91440" bIns="45720" rtlCol="0" anchor="t">
            <a:normAutofit fontScale="70000" lnSpcReduction="20000"/>
          </a:bodyPr>
          <a:lstStyle/>
          <a:p>
            <a:r>
              <a:rPr lang="es-ES" err="1">
                <a:latin typeface="Consolas"/>
                <a:ea typeface="+mn-lt"/>
                <a:cs typeface="+mn-lt"/>
              </a:rPr>
              <a:t>import</a:t>
            </a:r>
            <a:r>
              <a:rPr lang="es-ES">
                <a:latin typeface="Consolas"/>
                <a:ea typeface="+mn-lt"/>
                <a:cs typeface="+mn-lt"/>
              </a:rPr>
              <a:t> { </a:t>
            </a:r>
            <a:r>
              <a:rPr lang="es-ES" err="1">
                <a:latin typeface="Consolas"/>
                <a:ea typeface="+mn-lt"/>
                <a:cs typeface="+mn-lt"/>
              </a:rPr>
              <a:t>useState</a:t>
            </a:r>
            <a:r>
              <a:rPr lang="es-ES">
                <a:latin typeface="Consolas"/>
                <a:ea typeface="+mn-lt"/>
                <a:cs typeface="+mn-lt"/>
              </a:rPr>
              <a:t> } </a:t>
            </a:r>
            <a:r>
              <a:rPr lang="es-ES" err="1">
                <a:latin typeface="Consolas"/>
                <a:ea typeface="+mn-lt"/>
                <a:cs typeface="+mn-lt"/>
              </a:rPr>
              <a:t>from</a:t>
            </a:r>
            <a:r>
              <a:rPr lang="es-ES">
                <a:latin typeface="Consolas"/>
                <a:ea typeface="+mn-lt"/>
                <a:cs typeface="+mn-lt"/>
              </a:rPr>
              <a:t> "</a:t>
            </a:r>
            <a:r>
              <a:rPr lang="es-ES" err="1">
                <a:latin typeface="Consolas"/>
                <a:ea typeface="+mn-lt"/>
                <a:cs typeface="+mn-lt"/>
              </a:rPr>
              <a:t>react</a:t>
            </a:r>
            <a:r>
              <a:rPr lang="es-ES">
                <a:latin typeface="Consolas"/>
                <a:ea typeface="+mn-lt"/>
                <a:cs typeface="+mn-lt"/>
              </a:rPr>
              <a:t>"</a:t>
            </a:r>
            <a:br>
              <a:rPr lang="es-ES">
                <a:latin typeface="Consolas"/>
                <a:ea typeface="+mn-lt"/>
                <a:cs typeface="+mn-lt"/>
              </a:rPr>
            </a:br>
            <a:r>
              <a:rPr lang="es-ES" err="1">
                <a:latin typeface="Consolas"/>
                <a:ea typeface="+mn-lt"/>
                <a:cs typeface="+mn-lt"/>
              </a:rPr>
              <a:t>const</a:t>
            </a:r>
            <a:r>
              <a:rPr lang="es-ES">
                <a:latin typeface="Consolas"/>
                <a:ea typeface="+mn-lt"/>
                <a:cs typeface="+mn-lt"/>
              </a:rPr>
              <a:t> </a:t>
            </a:r>
            <a:r>
              <a:rPr lang="es-ES" err="1">
                <a:latin typeface="Consolas"/>
                <a:ea typeface="+mn-lt"/>
                <a:cs typeface="+mn-lt"/>
              </a:rPr>
              <a:t>FormularioCompleto</a:t>
            </a:r>
            <a:r>
              <a:rPr lang="es-ES">
                <a:latin typeface="Consolas"/>
                <a:ea typeface="+mn-lt"/>
                <a:cs typeface="+mn-lt"/>
              </a:rPr>
              <a:t> = () =&gt;{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 = </a:t>
            </a:r>
            <a:r>
              <a:rPr lang="es-ES" err="1">
                <a:latin typeface="Consolas"/>
                <a:ea typeface="+mn-lt"/>
                <a:cs typeface="+mn-lt"/>
              </a:rPr>
              <a:t>useState</a:t>
            </a:r>
            <a:r>
              <a:rPr lang="es-ES">
                <a:latin typeface="Consolas"/>
                <a:ea typeface="+mn-lt"/>
                <a:cs typeface="+mn-lt"/>
              </a:rPr>
              <a:t>({</a:t>
            </a:r>
            <a:br>
              <a:rPr lang="es-ES">
                <a:latin typeface="Consolas"/>
                <a:ea typeface="+mn-lt"/>
                <a:cs typeface="+mn-lt"/>
              </a:rPr>
            </a:br>
            <a:r>
              <a:rPr lang="es-ES">
                <a:latin typeface="Consolas"/>
                <a:ea typeface="+mn-lt"/>
                <a:cs typeface="+mn-lt"/>
              </a:rPr>
              <a:t>        nombre:'',</a:t>
            </a:r>
            <a:br>
              <a:rPr lang="es-ES">
                <a:latin typeface="Consolas"/>
                <a:ea typeface="+mn-lt"/>
                <a:cs typeface="+mn-lt"/>
              </a:rPr>
            </a:br>
            <a:r>
              <a:rPr lang="es-ES">
                <a:latin typeface="Consolas"/>
                <a:ea typeface="+mn-lt"/>
                <a:cs typeface="+mn-lt"/>
              </a:rPr>
              <a:t>        email:'',</a:t>
            </a:r>
            <a:br>
              <a:rPr lang="es-ES">
                <a:latin typeface="Consolas"/>
                <a:ea typeface="+mn-lt"/>
                <a:cs typeface="+mn-lt"/>
              </a:rPr>
            </a:br>
            <a:r>
              <a:rPr lang="es-ES">
                <a:latin typeface="Consolas"/>
                <a:ea typeface="+mn-lt"/>
                <a:cs typeface="+mn-lt"/>
              </a:rPr>
              <a:t>        </a:t>
            </a:r>
            <a:r>
              <a:rPr lang="es-ES" err="1">
                <a:latin typeface="Consolas"/>
                <a:ea typeface="+mn-lt"/>
                <a:cs typeface="+mn-lt"/>
              </a:rPr>
              <a:t>password</a:t>
            </a:r>
            <a:r>
              <a:rPr lang="es-ES">
                <a:latin typeface="Consolas"/>
                <a:ea typeface="+mn-lt"/>
                <a:cs typeface="+mn-lt"/>
              </a:rPr>
              <a:t>:'',</a:t>
            </a:r>
            <a:br>
              <a:rPr lang="es-ES">
                <a:latin typeface="Consolas"/>
                <a:ea typeface="+mn-lt"/>
                <a:cs typeface="+mn-lt"/>
              </a:rPr>
            </a:br>
            <a:r>
              <a:rPr lang="es-ES">
                <a:latin typeface="Consolas"/>
                <a:ea typeface="+mn-lt"/>
                <a:cs typeface="+mn-lt"/>
              </a:rPr>
              <a:t>        edad:'',</a:t>
            </a:r>
            <a:br>
              <a:rPr lang="es-ES">
                <a:latin typeface="Consolas"/>
                <a:ea typeface="+mn-lt"/>
                <a:cs typeface="+mn-lt"/>
              </a:rPr>
            </a:br>
            <a:r>
              <a:rPr lang="es-ES">
                <a:latin typeface="Consolas"/>
                <a:ea typeface="+mn-lt"/>
                <a:cs typeface="+mn-lt"/>
              </a:rPr>
              <a:t>        </a:t>
            </a:r>
            <a:r>
              <a:rPr lang="es-ES" err="1">
                <a:latin typeface="Consolas"/>
                <a:ea typeface="+mn-lt"/>
                <a:cs typeface="+mn-lt"/>
              </a:rPr>
              <a:t>fechaNacimiento</a:t>
            </a:r>
            <a:r>
              <a:rPr lang="es-ES">
                <a:latin typeface="Consolas"/>
                <a:ea typeface="+mn-lt"/>
                <a:cs typeface="+mn-lt"/>
              </a:rPr>
              <a:t>:'',</a:t>
            </a:r>
            <a:br>
              <a:rPr lang="es-ES">
                <a:latin typeface="Consolas"/>
                <a:ea typeface="+mn-lt"/>
                <a:cs typeface="+mn-lt"/>
              </a:rPr>
            </a:br>
            <a:r>
              <a:rPr lang="es-ES">
                <a:latin typeface="Consolas"/>
                <a:ea typeface="+mn-lt"/>
                <a:cs typeface="+mn-lt"/>
              </a:rPr>
              <a:t>        genero:'',</a:t>
            </a:r>
            <a:br>
              <a:rPr lang="es-ES">
                <a:latin typeface="Consolas"/>
                <a:ea typeface="+mn-lt"/>
                <a:cs typeface="+mn-lt"/>
              </a:rPr>
            </a:br>
            <a:r>
              <a:rPr lang="es-ES">
                <a:latin typeface="Consolas"/>
                <a:ea typeface="+mn-lt"/>
                <a:cs typeface="+mn-lt"/>
              </a:rPr>
              <a:t>        provincia:'',</a:t>
            </a:r>
            <a:br>
              <a:rPr lang="es-ES">
                <a:latin typeface="Consolas"/>
                <a:ea typeface="+mn-lt"/>
                <a:cs typeface="+mn-lt"/>
              </a:rPr>
            </a:br>
            <a:r>
              <a:rPr lang="es-ES">
                <a:latin typeface="Consolas"/>
                <a:ea typeface="+mn-lt"/>
                <a:cs typeface="+mn-lt"/>
              </a:rPr>
              <a:t>        intereses:[],</a:t>
            </a:r>
            <a:br>
              <a:rPr lang="es-ES">
                <a:latin typeface="Consolas"/>
                <a:ea typeface="+mn-lt"/>
                <a:cs typeface="+mn-lt"/>
              </a:rPr>
            </a:br>
            <a:r>
              <a:rPr lang="es-ES">
                <a:latin typeface="Consolas"/>
                <a:ea typeface="+mn-lt"/>
                <a:cs typeface="+mn-lt"/>
              </a:rPr>
              <a:t>        comentarios:'',</a:t>
            </a:r>
            <a:br>
              <a:rPr lang="es-ES">
                <a:latin typeface="Consolas"/>
                <a:ea typeface="+mn-lt"/>
                <a:cs typeface="+mn-lt"/>
              </a:rPr>
            </a:br>
            <a:r>
              <a:rPr lang="es-ES">
                <a:latin typeface="Consolas"/>
                <a:ea typeface="+mn-lt"/>
                <a:cs typeface="+mn-lt"/>
              </a:rPr>
              <a:t>        </a:t>
            </a:r>
            <a:r>
              <a:rPr lang="es-ES" err="1">
                <a:latin typeface="Consolas"/>
                <a:ea typeface="+mn-lt"/>
                <a:cs typeface="+mn-lt"/>
              </a:rPr>
              <a:t>aceptaTerminos:false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manejarEnvio</a:t>
            </a:r>
            <a:r>
              <a:rPr lang="es-ES">
                <a:latin typeface="Consolas"/>
                <a:ea typeface="+mn-lt"/>
                <a:cs typeface="+mn-lt"/>
              </a:rPr>
              <a:t> = (</a:t>
            </a:r>
            <a:r>
              <a:rPr lang="es-ES" err="1">
                <a:latin typeface="Consolas"/>
                <a:ea typeface="+mn-lt"/>
                <a:cs typeface="+mn-lt"/>
              </a:rPr>
              <a:t>evt</a:t>
            </a:r>
            <a:r>
              <a:rPr lang="es-ES">
                <a:latin typeface="Consolas"/>
                <a:ea typeface="+mn-lt"/>
                <a:cs typeface="+mn-lt"/>
              </a:rPr>
              <a:t>) =&gt;{</a:t>
            </a:r>
            <a:br>
              <a:rPr lang="es-ES">
                <a:latin typeface="Consolas"/>
                <a:ea typeface="+mn-lt"/>
                <a:cs typeface="+mn-lt"/>
              </a:rPr>
            </a:br>
            <a:r>
              <a:rPr lang="es-ES">
                <a:latin typeface="Consolas"/>
                <a:ea typeface="+mn-lt"/>
                <a:cs typeface="+mn-lt"/>
              </a:rPr>
              <a:t>        </a:t>
            </a:r>
            <a:r>
              <a:rPr lang="es-ES" err="1">
                <a:latin typeface="Consolas"/>
                <a:ea typeface="+mn-lt"/>
                <a:cs typeface="+mn-lt"/>
              </a:rPr>
              <a:t>evt.preventDefault</a:t>
            </a:r>
            <a:r>
              <a:rPr lang="es-ES">
                <a:latin typeface="Consolas"/>
                <a:ea typeface="+mn-lt"/>
                <a:cs typeface="+mn-lt"/>
              </a:rPr>
              <a:t>();</a:t>
            </a:r>
            <a:br>
              <a:rPr lang="es-ES">
                <a:latin typeface="Consolas"/>
                <a:ea typeface="+mn-lt"/>
                <a:cs typeface="+mn-lt"/>
              </a:rPr>
            </a:br>
            <a:r>
              <a:rPr lang="es-ES">
                <a:latin typeface="Consolas"/>
                <a:ea typeface="+mn-lt"/>
                <a:cs typeface="+mn-lt"/>
              </a:rPr>
              <a:t>        console.log('Datos enviados: ',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//CONTINUA...</a:t>
            </a:r>
            <a:endParaRPr lang="es-ES">
              <a:latin typeface="Consolas"/>
            </a:endParaRPr>
          </a:p>
        </p:txBody>
      </p:sp>
    </p:spTree>
    <p:extLst>
      <p:ext uri="{BB962C8B-B14F-4D97-AF65-F5344CB8AC3E}">
        <p14:creationId xmlns:p14="http://schemas.microsoft.com/office/powerpoint/2010/main" val="278960776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83B6B-D50B-831E-D537-D1F13BBD52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5BCBE4-3CBD-57E3-7C39-6C4D1CBEE6D3}"/>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CE95AECA-9420-0E9A-A496-BE770FF7088F}"/>
              </a:ext>
            </a:extLst>
          </p:cNvPr>
          <p:cNvSpPr>
            <a:spLocks noGrp="1"/>
          </p:cNvSpPr>
          <p:nvPr>
            <p:ph idx="1"/>
          </p:nvPr>
        </p:nvSpPr>
        <p:spPr/>
        <p:txBody>
          <a:bodyPr vert="horz" lIns="91440" tIns="45720" rIns="91440" bIns="45720" rtlCol="0" anchor="t">
            <a:normAutofit fontScale="47500" lnSpcReduction="20000"/>
          </a:bodyPr>
          <a:lstStyle/>
          <a:p>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manejarCambio</a:t>
            </a:r>
            <a:r>
              <a:rPr lang="es-ES">
                <a:latin typeface="Consolas"/>
                <a:ea typeface="+mn-lt"/>
                <a:cs typeface="+mn-lt"/>
              </a:rPr>
              <a:t>=(</a:t>
            </a:r>
            <a:r>
              <a:rPr lang="es-ES" err="1">
                <a:latin typeface="Consolas"/>
                <a:ea typeface="+mn-lt"/>
                <a:cs typeface="+mn-lt"/>
              </a:rPr>
              <a:t>evt</a:t>
            </a:r>
            <a:r>
              <a:rPr lang="es-ES">
                <a:latin typeface="Consolas"/>
                <a:ea typeface="+mn-lt"/>
                <a:cs typeface="+mn-lt"/>
              </a:rPr>
              <a:t>)=&gt;{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a:t>
            </a:r>
            <a:r>
              <a:rPr lang="es-ES" err="1">
                <a:latin typeface="Consolas"/>
                <a:ea typeface="+mn-lt"/>
                <a:cs typeface="+mn-lt"/>
              </a:rPr>
              <a:t>name</a:t>
            </a:r>
            <a:r>
              <a:rPr lang="es-ES">
                <a:latin typeface="Consolas"/>
                <a:ea typeface="+mn-lt"/>
                <a:cs typeface="+mn-lt"/>
              </a:rPr>
              <a:t>, </a:t>
            </a:r>
            <a:r>
              <a:rPr lang="es-ES" err="1">
                <a:latin typeface="Consolas"/>
                <a:ea typeface="+mn-lt"/>
                <a:cs typeface="+mn-lt"/>
              </a:rPr>
              <a:t>value</a:t>
            </a:r>
            <a:r>
              <a:rPr lang="es-ES">
                <a:latin typeface="Consolas"/>
                <a:ea typeface="+mn-lt"/>
                <a:cs typeface="+mn-lt"/>
              </a:rPr>
              <a:t>, </a:t>
            </a:r>
            <a:r>
              <a:rPr lang="es-ES" err="1">
                <a:latin typeface="Consolas"/>
                <a:ea typeface="+mn-lt"/>
                <a:cs typeface="+mn-lt"/>
              </a:rPr>
              <a:t>type</a:t>
            </a:r>
            <a:r>
              <a:rPr lang="es-ES">
                <a:latin typeface="Consolas"/>
                <a:ea typeface="+mn-lt"/>
                <a:cs typeface="+mn-lt"/>
              </a:rPr>
              <a:t>, </a:t>
            </a:r>
            <a:r>
              <a:rPr lang="es-ES" err="1">
                <a:latin typeface="Consolas"/>
                <a:ea typeface="+mn-lt"/>
                <a:cs typeface="+mn-lt"/>
              </a:rPr>
              <a:t>checked</a:t>
            </a:r>
            <a:r>
              <a:rPr lang="es-ES">
                <a:latin typeface="Consolas"/>
                <a:ea typeface="+mn-lt"/>
                <a:cs typeface="+mn-lt"/>
              </a:rPr>
              <a:t>, </a:t>
            </a:r>
            <a:r>
              <a:rPr lang="es-ES" err="1">
                <a:latin typeface="Consolas"/>
                <a:ea typeface="+mn-lt"/>
                <a:cs typeface="+mn-lt"/>
              </a:rPr>
              <a:t>options</a:t>
            </a:r>
            <a:r>
              <a:rPr lang="es-ES">
                <a:latin typeface="Consolas"/>
                <a:ea typeface="+mn-lt"/>
                <a:cs typeface="+mn-lt"/>
              </a:rPr>
              <a:t> } = </a:t>
            </a:r>
            <a:r>
              <a:rPr lang="es-ES" err="1">
                <a:latin typeface="Consolas"/>
                <a:ea typeface="+mn-lt"/>
                <a:cs typeface="+mn-lt"/>
              </a:rPr>
              <a:t>evt.target</a:t>
            </a:r>
            <a:r>
              <a:rPr lang="es-ES">
                <a:latin typeface="Consolas"/>
                <a:ea typeface="+mn-lt"/>
                <a:cs typeface="+mn-lt"/>
              </a:rPr>
              <a:t>;</a:t>
            </a:r>
            <a:br>
              <a:rPr lang="en-US">
                <a:latin typeface="Consolas"/>
              </a:rPr>
            </a:br>
            <a:r>
              <a:rPr lang="es-ES">
                <a:latin typeface="Consolas"/>
                <a:ea typeface="+mn-lt"/>
                <a:cs typeface="+mn-lt"/>
              </a:rPr>
              <a:t>        </a:t>
            </a:r>
            <a:r>
              <a:rPr lang="es-ES" err="1">
                <a:latin typeface="Consolas"/>
                <a:ea typeface="+mn-lt"/>
                <a:cs typeface="+mn-lt"/>
              </a:rPr>
              <a:t>if</a:t>
            </a:r>
            <a:r>
              <a:rPr lang="es-ES">
                <a:latin typeface="Consolas"/>
                <a:ea typeface="+mn-lt"/>
                <a:cs typeface="+mn-lt"/>
              </a:rPr>
              <a:t>(</a:t>
            </a:r>
            <a:r>
              <a:rPr lang="es-ES" err="1">
                <a:latin typeface="Consolas"/>
                <a:ea typeface="+mn-lt"/>
                <a:cs typeface="+mn-lt"/>
              </a:rPr>
              <a:t>type</a:t>
            </a:r>
            <a:r>
              <a:rPr lang="es-ES">
                <a:latin typeface="Consolas"/>
                <a:ea typeface="+mn-lt"/>
                <a:cs typeface="+mn-lt"/>
              </a:rPr>
              <a:t> === '</a:t>
            </a:r>
            <a:r>
              <a:rPr lang="es-ES" err="1">
                <a:latin typeface="Consolas"/>
                <a:ea typeface="+mn-lt"/>
                <a:cs typeface="+mn-lt"/>
              </a:rPr>
              <a:t>checkbox</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checked</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else</a:t>
            </a:r>
            <a:r>
              <a:rPr lang="es-ES">
                <a:latin typeface="Consolas"/>
                <a:ea typeface="+mn-lt"/>
                <a:cs typeface="+mn-lt"/>
              </a:rPr>
              <a:t> </a:t>
            </a:r>
            <a:r>
              <a:rPr lang="es-ES" err="1">
                <a:latin typeface="Consolas"/>
                <a:ea typeface="+mn-lt"/>
                <a:cs typeface="+mn-lt"/>
              </a:rPr>
              <a:t>if</a:t>
            </a:r>
            <a:r>
              <a:rPr lang="es-ES">
                <a:latin typeface="Consolas"/>
                <a:ea typeface="+mn-lt"/>
                <a:cs typeface="+mn-lt"/>
              </a:rPr>
              <a:t>(</a:t>
            </a:r>
            <a:r>
              <a:rPr lang="es-ES" err="1">
                <a:latin typeface="Consolas"/>
                <a:ea typeface="+mn-lt"/>
                <a:cs typeface="+mn-lt"/>
              </a:rPr>
              <a:t>type</a:t>
            </a:r>
            <a:r>
              <a:rPr lang="es-ES">
                <a:latin typeface="Consolas"/>
                <a:ea typeface="+mn-lt"/>
                <a:cs typeface="+mn-lt"/>
              </a:rPr>
              <a:t>==='radio'){</a:t>
            </a:r>
            <a:br>
              <a:rPr lang="es-ES">
                <a:latin typeface="Consolas"/>
                <a:ea typeface="+mn-lt"/>
                <a:cs typeface="+mn-lt"/>
              </a:rPr>
            </a:b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value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else</a:t>
            </a:r>
            <a:r>
              <a:rPr lang="es-ES">
                <a:latin typeface="Consolas"/>
                <a:ea typeface="+mn-lt"/>
                <a:cs typeface="+mn-lt"/>
              </a:rPr>
              <a:t> </a:t>
            </a:r>
            <a:r>
              <a:rPr lang="es-ES" err="1">
                <a:latin typeface="Consolas"/>
                <a:ea typeface="+mn-lt"/>
                <a:cs typeface="+mn-lt"/>
              </a:rPr>
              <a:t>if</a:t>
            </a:r>
            <a:r>
              <a:rPr lang="es-ES">
                <a:latin typeface="Consolas"/>
                <a:ea typeface="+mn-lt"/>
                <a:cs typeface="+mn-lt"/>
              </a:rPr>
              <a:t>(</a:t>
            </a:r>
            <a:r>
              <a:rPr lang="es-ES" err="1">
                <a:latin typeface="Consolas"/>
                <a:ea typeface="+mn-lt"/>
                <a:cs typeface="+mn-lt"/>
              </a:rPr>
              <a:t>type</a:t>
            </a:r>
            <a:r>
              <a:rPr lang="es-ES">
                <a:latin typeface="Consolas"/>
                <a:ea typeface="+mn-lt"/>
                <a:cs typeface="+mn-lt"/>
              </a:rPr>
              <a:t>==='</a:t>
            </a:r>
            <a:r>
              <a:rPr lang="es-ES" err="1">
                <a:latin typeface="Consolas"/>
                <a:ea typeface="+mn-lt"/>
                <a:cs typeface="+mn-lt"/>
              </a:rPr>
              <a:t>select-multiple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const</a:t>
            </a:r>
            <a:r>
              <a:rPr lang="es-ES">
                <a:latin typeface="Consolas"/>
                <a:ea typeface="+mn-lt"/>
                <a:cs typeface="+mn-lt"/>
              </a:rPr>
              <a:t> seleccionados=</a:t>
            </a:r>
            <a:r>
              <a:rPr lang="es-ES" err="1">
                <a:latin typeface="Consolas"/>
                <a:ea typeface="+mn-lt"/>
                <a:cs typeface="+mn-lt"/>
              </a:rPr>
              <a:t>Array.from</a:t>
            </a:r>
            <a:r>
              <a:rPr lang="es-ES">
                <a:latin typeface="Consolas"/>
                <a:ea typeface="+mn-lt"/>
                <a:cs typeface="+mn-lt"/>
              </a:rPr>
              <a:t>(</a:t>
            </a:r>
            <a:r>
              <a:rPr lang="es-ES" err="1">
                <a:latin typeface="Consolas"/>
                <a:ea typeface="+mn-lt"/>
                <a:cs typeface="+mn-lt"/>
              </a:rPr>
              <a:t>options</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filter</a:t>
            </a:r>
            <a:r>
              <a:rPr lang="es-ES">
                <a:latin typeface="Consolas"/>
                <a:ea typeface="+mn-lt"/>
                <a:cs typeface="+mn-lt"/>
              </a:rPr>
              <a:t>(</a:t>
            </a:r>
            <a:r>
              <a:rPr lang="es-ES" err="1">
                <a:latin typeface="Consolas"/>
                <a:ea typeface="+mn-lt"/>
                <a:cs typeface="+mn-lt"/>
              </a:rPr>
              <a:t>option</a:t>
            </a:r>
            <a:r>
              <a:rPr lang="es-ES">
                <a:latin typeface="Consolas"/>
                <a:ea typeface="+mn-lt"/>
                <a:cs typeface="+mn-lt"/>
              </a:rPr>
              <a:t> =&gt; </a:t>
            </a:r>
            <a:r>
              <a:rPr lang="es-ES" err="1">
                <a:latin typeface="Consolas"/>
                <a:ea typeface="+mn-lt"/>
                <a:cs typeface="+mn-lt"/>
              </a:rPr>
              <a:t>option.selected</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map</a:t>
            </a:r>
            <a:r>
              <a:rPr lang="es-ES">
                <a:latin typeface="Consolas"/>
                <a:ea typeface="+mn-lt"/>
                <a:cs typeface="+mn-lt"/>
              </a:rPr>
              <a:t>(</a:t>
            </a:r>
            <a:r>
              <a:rPr lang="es-ES" err="1">
                <a:latin typeface="Consolas"/>
                <a:ea typeface="+mn-lt"/>
                <a:cs typeface="+mn-lt"/>
              </a:rPr>
              <a:t>option</a:t>
            </a:r>
            <a:r>
              <a:rPr lang="es-ES">
                <a:latin typeface="Consolas"/>
                <a:ea typeface="+mn-lt"/>
                <a:cs typeface="+mn-lt"/>
              </a:rPr>
              <a:t> =&gt; </a:t>
            </a:r>
            <a:r>
              <a:rPr lang="es-ES" err="1">
                <a:latin typeface="Consolas"/>
                <a:ea typeface="+mn-lt"/>
                <a:cs typeface="+mn-lt"/>
              </a:rPr>
              <a:t>option.value</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name</a:t>
            </a:r>
            <a:r>
              <a:rPr lang="es-ES">
                <a:latin typeface="Consolas"/>
                <a:ea typeface="+mn-lt"/>
                <a:cs typeface="+mn-lt"/>
              </a:rPr>
              <a:t>]:seleccionados,</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else</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setDatosFormulario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datosFormulario</a:t>
            </a:r>
            <a:r>
              <a:rPr lang="es-ES">
                <a:latin typeface="Consolas"/>
                <a:ea typeface="+mn-lt"/>
                <a:cs typeface="+mn-lt"/>
              </a:rPr>
              <a:t>,</a:t>
            </a:r>
            <a:br>
              <a:rPr lang="es-ES">
                <a:latin typeface="Consolas"/>
                <a:ea typeface="+mn-lt"/>
                <a:cs typeface="+mn-lt"/>
              </a:rPr>
            </a:b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value</a:t>
            </a:r>
            <a:r>
              <a:rPr lang="es-ES">
                <a:latin typeface="Consolas"/>
                <a:ea typeface="+mn-lt"/>
                <a:cs typeface="+mn-lt"/>
              </a:rPr>
              <a: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//CONTINUA...</a:t>
            </a:r>
          </a:p>
        </p:txBody>
      </p:sp>
    </p:spTree>
    <p:extLst>
      <p:ext uri="{BB962C8B-B14F-4D97-AF65-F5344CB8AC3E}">
        <p14:creationId xmlns:p14="http://schemas.microsoft.com/office/powerpoint/2010/main" val="327085797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BC5DB-5F1C-1E58-6E61-D41823003C3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35BE10-F3A4-7DA8-FB76-BCB5E49B6AA3}"/>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6B7DB05D-BFCB-99AE-F7A5-709A5E531B06}"/>
              </a:ext>
            </a:extLst>
          </p:cNvPr>
          <p:cNvSpPr>
            <a:spLocks noGrp="1"/>
          </p:cNvSpPr>
          <p:nvPr>
            <p:ph idx="1"/>
          </p:nvPr>
        </p:nvSpPr>
        <p:spPr/>
        <p:txBody>
          <a:bodyPr vert="horz" lIns="91440" tIns="45720" rIns="91440" bIns="45720" rtlCol="0" anchor="t">
            <a:normAutofit fontScale="47500" lnSpcReduction="20000"/>
          </a:bodyPr>
          <a:lstStyle/>
          <a:p>
            <a:r>
              <a:rPr lang="es-ES">
                <a:latin typeface="Consolas"/>
                <a:ea typeface="+mn-lt"/>
                <a:cs typeface="+mn-lt"/>
              </a:rPr>
              <a:t>    </a:t>
            </a:r>
            <a:r>
              <a:rPr lang="es-ES" err="1">
                <a:latin typeface="Consolas"/>
                <a:ea typeface="+mn-lt"/>
                <a:cs typeface="+mn-lt"/>
              </a:rPr>
              <a:t>return</a:t>
            </a:r>
            <a:r>
              <a:rPr lang="es-ES">
                <a:latin typeface="Consolas"/>
                <a:ea typeface="+mn-lt"/>
                <a:cs typeface="+mn-lt"/>
              </a:rPr>
              <a: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 </a:t>
            </a:r>
            <a:r>
              <a:rPr lang="es-ES" err="1">
                <a:latin typeface="Consolas"/>
                <a:ea typeface="+mn-lt"/>
                <a:cs typeface="+mn-lt"/>
              </a:rPr>
              <a:t>onSubmit</a:t>
            </a:r>
            <a:r>
              <a:rPr lang="es-ES">
                <a:latin typeface="Consolas"/>
                <a:ea typeface="+mn-lt"/>
                <a:cs typeface="+mn-lt"/>
              </a:rPr>
              <a:t>={</a:t>
            </a:r>
            <a:r>
              <a:rPr lang="es-ES" err="1">
                <a:latin typeface="Consolas"/>
                <a:ea typeface="+mn-lt"/>
                <a:cs typeface="+mn-lt"/>
              </a:rPr>
              <a:t>manejarEnvio</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="nombre"&gt;Nombre: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id="nombre" </a:t>
            </a:r>
            <a:r>
              <a:rPr lang="es-ES" err="1">
                <a:latin typeface="Consolas"/>
                <a:ea typeface="+mn-lt"/>
                <a:cs typeface="+mn-lt"/>
              </a:rPr>
              <a:t>name</a:t>
            </a:r>
            <a:r>
              <a:rPr lang="es-ES">
                <a:latin typeface="Consolas"/>
                <a:ea typeface="+mn-lt"/>
                <a:cs typeface="+mn-lt"/>
              </a:rPr>
              <a:t>="nombre"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datosFormulario.nombre</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="email"&gt;E-Mail: &lt;/</a:t>
            </a:r>
            <a:r>
              <a:rPr lang="es-ES" err="1">
                <a:latin typeface="Consolas"/>
                <a:ea typeface="+mn-lt"/>
                <a:cs typeface="+mn-lt"/>
              </a:rPr>
              <a:t>label</a:t>
            </a:r>
            <a:r>
              <a:rPr lang="es-ES">
                <a:latin typeface="Consolas"/>
                <a:ea typeface="+mn-lt"/>
                <a:cs typeface="+mn-lt"/>
              </a:rPr>
              <a:t>&gt;</a:t>
            </a:r>
            <a:br>
              <a:rPr lang="en-US">
                <a:latin typeface="Consolas"/>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text</a:t>
            </a:r>
            <a:r>
              <a:rPr lang="es-ES">
                <a:latin typeface="Consolas"/>
                <a:ea typeface="+mn-lt"/>
                <a:cs typeface="+mn-lt"/>
              </a:rPr>
              <a:t>" id="email" </a:t>
            </a:r>
            <a:r>
              <a:rPr lang="es-ES" err="1">
                <a:latin typeface="Consolas"/>
                <a:ea typeface="+mn-lt"/>
                <a:cs typeface="+mn-lt"/>
              </a:rPr>
              <a:t>name</a:t>
            </a:r>
            <a:r>
              <a:rPr lang="es-ES">
                <a:latin typeface="Consolas"/>
                <a:ea typeface="+mn-lt"/>
                <a:cs typeface="+mn-lt"/>
              </a:rPr>
              <a:t>="email"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datosFormulario.email</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a:t>
            </a:r>
            <a:r>
              <a:rPr lang="es-ES" err="1">
                <a:latin typeface="Consolas"/>
                <a:ea typeface="+mn-lt"/>
                <a:cs typeface="+mn-lt"/>
              </a:rPr>
              <a:t>passwd</a:t>
            </a:r>
            <a:r>
              <a:rPr lang="es-ES">
                <a:latin typeface="Consolas"/>
                <a:ea typeface="+mn-lt"/>
                <a:cs typeface="+mn-lt"/>
              </a:rPr>
              <a:t>"&gt;Contraseña: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password</a:t>
            </a: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password</a:t>
            </a:r>
            <a:r>
              <a:rPr lang="es-ES">
                <a:latin typeface="Consolas"/>
                <a:ea typeface="+mn-lt"/>
                <a:cs typeface="+mn-lt"/>
              </a:rPr>
              <a:t>" id="</a:t>
            </a:r>
            <a:r>
              <a:rPr lang="es-ES" err="1">
                <a:latin typeface="Consolas"/>
                <a:ea typeface="+mn-lt"/>
                <a:cs typeface="+mn-lt"/>
              </a:rPr>
              <a:t>password</a:t>
            </a:r>
            <a:r>
              <a:rPr lang="es-ES">
                <a:latin typeface="Consolas"/>
                <a:ea typeface="+mn-lt"/>
                <a:cs typeface="+mn-lt"/>
              </a:rPr>
              <a:t>"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datosFormulario.password</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a:t>
            </a:r>
            <a:r>
              <a:rPr lang="es-ES" err="1">
                <a:latin typeface="Consolas"/>
                <a:ea typeface="+mn-lt"/>
                <a:cs typeface="+mn-lt"/>
              </a:rPr>
              <a:t>fechaNacimiento</a:t>
            </a:r>
            <a:r>
              <a:rPr lang="es-ES">
                <a:latin typeface="Consolas"/>
                <a:ea typeface="+mn-lt"/>
                <a:cs typeface="+mn-lt"/>
              </a:rPr>
              <a:t>"&gt;Fecha de Nacimiento: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="date" </a:t>
            </a:r>
            <a:r>
              <a:rPr lang="es-ES" err="1">
                <a:latin typeface="Consolas"/>
                <a:ea typeface="+mn-lt"/>
                <a:cs typeface="+mn-lt"/>
              </a:rPr>
              <a:t>name</a:t>
            </a:r>
            <a:r>
              <a:rPr lang="es-ES">
                <a:latin typeface="Consolas"/>
                <a:ea typeface="+mn-lt"/>
                <a:cs typeface="+mn-lt"/>
              </a:rPr>
              <a:t>="</a:t>
            </a:r>
            <a:r>
              <a:rPr lang="es-ES" err="1">
                <a:latin typeface="Consolas"/>
                <a:ea typeface="+mn-lt"/>
                <a:cs typeface="+mn-lt"/>
              </a:rPr>
              <a:t>fechaNacimiento</a:t>
            </a:r>
            <a:r>
              <a:rPr lang="es-ES">
                <a:latin typeface="Consolas"/>
                <a:ea typeface="+mn-lt"/>
                <a:cs typeface="+mn-lt"/>
              </a:rPr>
              <a:t>" id="</a:t>
            </a:r>
            <a:r>
              <a:rPr lang="es-ES" err="1">
                <a:latin typeface="Consolas"/>
                <a:ea typeface="+mn-lt"/>
                <a:cs typeface="+mn-lt"/>
              </a:rPr>
              <a:t>fechaNacimiento</a:t>
            </a:r>
            <a:r>
              <a:rPr lang="es-ES">
                <a:latin typeface="Consolas"/>
                <a:ea typeface="+mn-lt"/>
                <a:cs typeface="+mn-lt"/>
              </a:rPr>
              <a:t>"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datosFormulario.fechaNacimiento</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="edad"&gt;Edad: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number</a:t>
            </a:r>
            <a:r>
              <a:rPr lang="es-ES">
                <a:latin typeface="Consolas"/>
                <a:ea typeface="+mn-lt"/>
                <a:cs typeface="+mn-lt"/>
              </a:rPr>
              <a:t>" </a:t>
            </a:r>
            <a:r>
              <a:rPr lang="es-ES" err="1">
                <a:latin typeface="Consolas"/>
                <a:ea typeface="+mn-lt"/>
                <a:cs typeface="+mn-lt"/>
              </a:rPr>
              <a:t>name</a:t>
            </a:r>
            <a:r>
              <a:rPr lang="es-ES">
                <a:latin typeface="Consolas"/>
                <a:ea typeface="+mn-lt"/>
                <a:cs typeface="+mn-lt"/>
              </a:rPr>
              <a:t>="edad" id="edad" min="0"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datosFormulario.edad</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endParaRPr lang="es-ES" err="1">
              <a:latin typeface="Consolas"/>
            </a:endParaRPr>
          </a:p>
        </p:txBody>
      </p:sp>
    </p:spTree>
    <p:extLst>
      <p:ext uri="{BB962C8B-B14F-4D97-AF65-F5344CB8AC3E}">
        <p14:creationId xmlns:p14="http://schemas.microsoft.com/office/powerpoint/2010/main" val="405412240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D0487-035C-6AB4-A043-1D1E7C764BE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51B6C9-C5E4-2362-F767-B39DD5663822}"/>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580475CB-3725-7E8A-A6F7-4DB6668B96F0}"/>
              </a:ext>
            </a:extLst>
          </p:cNvPr>
          <p:cNvSpPr>
            <a:spLocks noGrp="1"/>
          </p:cNvSpPr>
          <p:nvPr>
            <p:ph idx="1"/>
          </p:nvPr>
        </p:nvSpPr>
        <p:spPr/>
        <p:txBody>
          <a:bodyPr vert="horz" lIns="91440" tIns="45720" rIns="91440" bIns="45720" rtlCol="0" anchor="t">
            <a:normAutofit fontScale="70000" lnSpcReduction="20000"/>
          </a:bodyPr>
          <a:lstStyle/>
          <a:p>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fieldset</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caption</a:t>
            </a:r>
            <a:r>
              <a:rPr lang="es-ES">
                <a:latin typeface="Consolas"/>
                <a:ea typeface="+mn-lt"/>
                <a:cs typeface="+mn-lt"/>
              </a:rPr>
              <a:t>&gt;Género:&lt;/</a:t>
            </a:r>
            <a:r>
              <a:rPr lang="es-ES" err="1">
                <a:latin typeface="Consolas"/>
                <a:ea typeface="+mn-lt"/>
                <a:cs typeface="+mn-lt"/>
              </a:rPr>
              <a:t>caption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="radio" </a:t>
            </a:r>
            <a:r>
              <a:rPr lang="es-ES" err="1">
                <a:latin typeface="Consolas"/>
                <a:ea typeface="+mn-lt"/>
                <a:cs typeface="+mn-lt"/>
              </a:rPr>
              <a:t>name</a:t>
            </a:r>
            <a:r>
              <a:rPr lang="es-ES">
                <a:latin typeface="Consolas"/>
                <a:ea typeface="+mn-lt"/>
                <a:cs typeface="+mn-lt"/>
              </a:rPr>
              <a:t>="genero" </a:t>
            </a:r>
            <a:r>
              <a:rPr lang="es-ES" err="1">
                <a:latin typeface="Consolas"/>
                <a:ea typeface="+mn-lt"/>
                <a:cs typeface="+mn-lt"/>
              </a:rPr>
              <a:t>value</a:t>
            </a:r>
            <a:r>
              <a:rPr lang="es-ES">
                <a:latin typeface="Consolas"/>
                <a:ea typeface="+mn-lt"/>
                <a:cs typeface="+mn-lt"/>
              </a:rPr>
              <a:t>="masculino" </a:t>
            </a:r>
            <a:br>
              <a:rPr lang="es-ES">
                <a:latin typeface="Consolas"/>
                <a:ea typeface="+mn-lt"/>
                <a:cs typeface="+mn-lt"/>
              </a:rPr>
            </a:br>
            <a:r>
              <a:rPr lang="es-ES">
                <a:latin typeface="Consolas"/>
                <a:ea typeface="+mn-lt"/>
                <a:cs typeface="+mn-lt"/>
              </a:rPr>
              <a:t>                        </a:t>
            </a:r>
            <a:r>
              <a:rPr lang="es-ES" err="1">
                <a:latin typeface="Consolas"/>
                <a:ea typeface="+mn-lt"/>
                <a:cs typeface="+mn-lt"/>
              </a:rPr>
              <a:t>checked</a:t>
            </a:r>
            <a:r>
              <a:rPr lang="es-ES">
                <a:latin typeface="Consolas"/>
                <a:ea typeface="+mn-lt"/>
                <a:cs typeface="+mn-lt"/>
              </a:rPr>
              <a:t>={</a:t>
            </a:r>
            <a:r>
              <a:rPr lang="es-ES" err="1">
                <a:latin typeface="Consolas"/>
                <a:ea typeface="+mn-lt"/>
                <a:cs typeface="+mn-lt"/>
              </a:rPr>
              <a:t>datosFormulario.genero</a:t>
            </a:r>
            <a:r>
              <a:rPr lang="es-ES">
                <a:latin typeface="Consolas"/>
                <a:ea typeface="+mn-lt"/>
                <a:cs typeface="+mn-lt"/>
              </a:rPr>
              <a:t> === 'masculino'}</a:t>
            </a:r>
            <a:br>
              <a:rPr lang="es-ES">
                <a:latin typeface="Consolas"/>
                <a:ea typeface="+mn-lt"/>
                <a:cs typeface="+mn-lt"/>
              </a:rPr>
            </a:b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 Masculino</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="radio" </a:t>
            </a:r>
            <a:r>
              <a:rPr lang="es-ES" err="1">
                <a:latin typeface="Consolas"/>
                <a:ea typeface="+mn-lt"/>
                <a:cs typeface="+mn-lt"/>
              </a:rPr>
              <a:t>name</a:t>
            </a:r>
            <a:r>
              <a:rPr lang="es-ES">
                <a:latin typeface="Consolas"/>
                <a:ea typeface="+mn-lt"/>
                <a:cs typeface="+mn-lt"/>
              </a:rPr>
              <a:t>="genero" </a:t>
            </a:r>
            <a:r>
              <a:rPr lang="es-ES" err="1">
                <a:latin typeface="Consolas"/>
                <a:ea typeface="+mn-lt"/>
                <a:cs typeface="+mn-lt"/>
              </a:rPr>
              <a:t>value</a:t>
            </a:r>
            <a:r>
              <a:rPr lang="es-ES">
                <a:latin typeface="Consolas"/>
                <a:ea typeface="+mn-lt"/>
                <a:cs typeface="+mn-lt"/>
              </a:rPr>
              <a:t>="femenino" </a:t>
            </a:r>
            <a:br>
              <a:rPr lang="es-ES">
                <a:latin typeface="Consolas"/>
                <a:ea typeface="+mn-lt"/>
                <a:cs typeface="+mn-lt"/>
              </a:rPr>
            </a:br>
            <a:r>
              <a:rPr lang="es-ES">
                <a:latin typeface="Consolas"/>
                <a:ea typeface="+mn-lt"/>
                <a:cs typeface="+mn-lt"/>
              </a:rPr>
              <a:t>                        </a:t>
            </a:r>
            <a:r>
              <a:rPr lang="es-ES" err="1">
                <a:latin typeface="Consolas"/>
                <a:ea typeface="+mn-lt"/>
                <a:cs typeface="+mn-lt"/>
              </a:rPr>
              <a:t>checked</a:t>
            </a:r>
            <a:r>
              <a:rPr lang="es-ES">
                <a:latin typeface="Consolas"/>
                <a:ea typeface="+mn-lt"/>
                <a:cs typeface="+mn-lt"/>
              </a:rPr>
              <a:t>={</a:t>
            </a:r>
            <a:r>
              <a:rPr lang="es-ES" err="1">
                <a:latin typeface="Consolas"/>
                <a:ea typeface="+mn-lt"/>
                <a:cs typeface="+mn-lt"/>
              </a:rPr>
              <a:t>datosFormulario.genero</a:t>
            </a:r>
            <a:r>
              <a:rPr lang="es-ES">
                <a:latin typeface="Consolas"/>
                <a:ea typeface="+mn-lt"/>
                <a:cs typeface="+mn-lt"/>
              </a:rPr>
              <a:t> === 'femenino'}</a:t>
            </a:r>
            <a:br>
              <a:rPr lang="es-ES">
                <a:latin typeface="Consolas"/>
                <a:ea typeface="+mn-lt"/>
                <a:cs typeface="+mn-lt"/>
              </a:rPr>
            </a:b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 Femenino</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="radio" </a:t>
            </a:r>
            <a:r>
              <a:rPr lang="es-ES" err="1">
                <a:latin typeface="Consolas"/>
                <a:ea typeface="+mn-lt"/>
                <a:cs typeface="+mn-lt"/>
              </a:rPr>
              <a:t>name</a:t>
            </a:r>
            <a:r>
              <a:rPr lang="es-ES">
                <a:latin typeface="Consolas"/>
                <a:ea typeface="+mn-lt"/>
                <a:cs typeface="+mn-lt"/>
              </a:rPr>
              <a:t>="genero" </a:t>
            </a:r>
            <a:r>
              <a:rPr lang="es-ES" err="1">
                <a:latin typeface="Consolas"/>
                <a:ea typeface="+mn-lt"/>
                <a:cs typeface="+mn-lt"/>
              </a:rPr>
              <a:t>value</a:t>
            </a:r>
            <a:r>
              <a:rPr lang="es-ES">
                <a:latin typeface="Consolas"/>
                <a:ea typeface="+mn-lt"/>
                <a:cs typeface="+mn-lt"/>
              </a:rPr>
              <a:t>="otro" </a:t>
            </a:r>
            <a:br>
              <a:rPr lang="es-ES">
                <a:latin typeface="Consolas"/>
                <a:ea typeface="+mn-lt"/>
                <a:cs typeface="+mn-lt"/>
              </a:rPr>
            </a:br>
            <a:r>
              <a:rPr lang="es-ES">
                <a:latin typeface="Consolas"/>
                <a:ea typeface="+mn-lt"/>
                <a:cs typeface="+mn-lt"/>
              </a:rPr>
              <a:t>                        </a:t>
            </a:r>
            <a:r>
              <a:rPr lang="es-ES" err="1">
                <a:latin typeface="Consolas"/>
                <a:ea typeface="+mn-lt"/>
                <a:cs typeface="+mn-lt"/>
              </a:rPr>
              <a:t>checked</a:t>
            </a:r>
            <a:r>
              <a:rPr lang="es-ES">
                <a:latin typeface="Consolas"/>
                <a:ea typeface="+mn-lt"/>
                <a:cs typeface="+mn-lt"/>
              </a:rPr>
              <a:t>={</a:t>
            </a:r>
            <a:r>
              <a:rPr lang="es-ES" err="1">
                <a:latin typeface="Consolas"/>
                <a:ea typeface="+mn-lt"/>
                <a:cs typeface="+mn-lt"/>
              </a:rPr>
              <a:t>datosFormulario.genero</a:t>
            </a:r>
            <a:r>
              <a:rPr lang="es-ES">
                <a:latin typeface="Consolas"/>
                <a:ea typeface="+mn-lt"/>
                <a:cs typeface="+mn-lt"/>
              </a:rPr>
              <a:t> === 'otro'}</a:t>
            </a:r>
            <a:br>
              <a:rPr lang="es-ES">
                <a:latin typeface="Consolas"/>
                <a:ea typeface="+mn-lt"/>
                <a:cs typeface="+mn-lt"/>
              </a:rPr>
            </a:b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 Otro</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fieldset</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endParaRPr lang="es-ES">
              <a:latin typeface="Consolas"/>
            </a:endParaRPr>
          </a:p>
        </p:txBody>
      </p:sp>
    </p:spTree>
    <p:extLst>
      <p:ext uri="{BB962C8B-B14F-4D97-AF65-F5344CB8AC3E}">
        <p14:creationId xmlns:p14="http://schemas.microsoft.com/office/powerpoint/2010/main" val="21854682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2191B-E2A3-EC86-6FC4-B446F6D4AFB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909E78-B77D-8122-DFE4-5FC349430B52}"/>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EDCF8D2D-7FC0-C2EB-8CA6-303711571017}"/>
              </a:ext>
            </a:extLst>
          </p:cNvPr>
          <p:cNvSpPr>
            <a:spLocks noGrp="1"/>
          </p:cNvSpPr>
          <p:nvPr>
            <p:ph idx="1"/>
          </p:nvPr>
        </p:nvSpPr>
        <p:spPr/>
        <p:txBody>
          <a:bodyPr vert="horz" lIns="91440" tIns="45720" rIns="91440" bIns="45720" rtlCol="0" anchor="t">
            <a:normAutofit fontScale="55000" lnSpcReduction="20000"/>
          </a:bodyPr>
          <a:lstStyle/>
          <a:p>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="provincia"&gt;Provincia:&lt;/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select</a:t>
            </a:r>
            <a:r>
              <a:rPr lang="es-ES">
                <a:latin typeface="Consolas"/>
                <a:ea typeface="+mn-lt"/>
                <a:cs typeface="+mn-lt"/>
              </a:rPr>
              <a:t> </a:t>
            </a:r>
            <a:r>
              <a:rPr lang="es-ES" err="1">
                <a:latin typeface="Consolas"/>
                <a:ea typeface="+mn-lt"/>
                <a:cs typeface="+mn-lt"/>
              </a:rPr>
              <a:t>name</a:t>
            </a:r>
            <a:r>
              <a:rPr lang="es-ES">
                <a:latin typeface="Consolas"/>
                <a:ea typeface="+mn-lt"/>
                <a:cs typeface="+mn-lt"/>
              </a:rPr>
              <a:t>="provincia" id="provincia" </a:t>
            </a:r>
            <a:r>
              <a:rPr lang="es-ES" err="1">
                <a:latin typeface="Consolas"/>
                <a:ea typeface="+mn-lt"/>
                <a:cs typeface="+mn-lt"/>
              </a:rPr>
              <a:t>required</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datosFormulario.provincia</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=""&gt;Seleccione una provincia&lt;/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="Albacete"&gt;Albacete&lt;/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="Ciudad Real"&gt;Ciudad Real&lt;/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="Cuenca"&gt;Cuenca&lt;/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="Guadalajara"&gt;Guadalajara&lt;/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="Toledo"&gt;Toledo&lt;/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select</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="intereses"&gt;Intereses: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select</a:t>
            </a:r>
            <a:r>
              <a:rPr lang="es-ES">
                <a:latin typeface="Consolas"/>
                <a:ea typeface="+mn-lt"/>
                <a:cs typeface="+mn-lt"/>
              </a:rPr>
              <a:t> </a:t>
            </a:r>
            <a:r>
              <a:rPr lang="es-ES" err="1">
                <a:latin typeface="Consolas"/>
                <a:ea typeface="+mn-lt"/>
                <a:cs typeface="+mn-lt"/>
              </a:rPr>
              <a:t>name</a:t>
            </a:r>
            <a:r>
              <a:rPr lang="es-ES">
                <a:latin typeface="Consolas"/>
                <a:ea typeface="+mn-lt"/>
                <a:cs typeface="+mn-lt"/>
              </a:rPr>
              <a:t>="intereses" id="intereses" </a:t>
            </a:r>
            <a:r>
              <a:rPr lang="es-ES" err="1">
                <a:latin typeface="Consolas"/>
                <a:ea typeface="+mn-lt"/>
                <a:cs typeface="+mn-lt"/>
              </a:rPr>
              <a:t>multiple</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datosFormulario.intereses</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=""&gt;Selecciona una opción&lt;/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="DAW"&gt;DAW&lt;/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="DIW"&gt;DIW&lt;/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="DWEC"&gt;DWEC&lt;/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option</a:t>
            </a:r>
            <a:r>
              <a:rPr lang="es-ES">
                <a:latin typeface="Consolas"/>
                <a:ea typeface="+mn-lt"/>
                <a:cs typeface="+mn-lt"/>
              </a:rPr>
              <a:t> </a:t>
            </a:r>
            <a:r>
              <a:rPr lang="es-ES" err="1">
                <a:latin typeface="Consolas"/>
                <a:ea typeface="+mn-lt"/>
                <a:cs typeface="+mn-lt"/>
              </a:rPr>
              <a:t>value</a:t>
            </a:r>
            <a:r>
              <a:rPr lang="es-ES">
                <a:latin typeface="Consolas"/>
                <a:ea typeface="+mn-lt"/>
                <a:cs typeface="+mn-lt"/>
              </a:rPr>
              <a:t>="DWES"&gt;DWES&lt;/</a:t>
            </a:r>
            <a:r>
              <a:rPr lang="es-ES" err="1">
                <a:latin typeface="Consolas"/>
                <a:ea typeface="+mn-lt"/>
                <a:cs typeface="+mn-lt"/>
              </a:rPr>
              <a:t>option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select</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p>
        </p:txBody>
      </p:sp>
    </p:spTree>
    <p:extLst>
      <p:ext uri="{BB962C8B-B14F-4D97-AF65-F5344CB8AC3E}">
        <p14:creationId xmlns:p14="http://schemas.microsoft.com/office/powerpoint/2010/main" val="386102250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CB8AE-EE78-D7FB-DF40-93E20717DB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36918D-3D3C-59C6-DB4F-9797D5B69C2A}"/>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a:t>
            </a:r>
          </a:p>
        </p:txBody>
      </p:sp>
      <p:sp>
        <p:nvSpPr>
          <p:cNvPr id="3" name="Marcador de contenido 2">
            <a:extLst>
              <a:ext uri="{FF2B5EF4-FFF2-40B4-BE49-F238E27FC236}">
                <a16:creationId xmlns:a16="http://schemas.microsoft.com/office/drawing/2014/main" id="{D6C84189-C41D-D4FD-3F50-4401E943374B}"/>
              </a:ext>
            </a:extLst>
          </p:cNvPr>
          <p:cNvSpPr>
            <a:spLocks noGrp="1"/>
          </p:cNvSpPr>
          <p:nvPr>
            <p:ph idx="1"/>
          </p:nvPr>
        </p:nvSpPr>
        <p:spPr/>
        <p:txBody>
          <a:bodyPr vert="horz" lIns="91440" tIns="45720" rIns="91440" bIns="45720" rtlCol="0" anchor="t">
            <a:normAutofit fontScale="77500" lnSpcReduction="20000"/>
          </a:bodyPr>
          <a:lstStyle/>
          <a:p>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 </a:t>
            </a:r>
            <a:r>
              <a:rPr lang="es-ES" err="1">
                <a:latin typeface="Consolas"/>
                <a:ea typeface="+mn-lt"/>
                <a:cs typeface="+mn-lt"/>
              </a:rPr>
              <a:t>htmlFor</a:t>
            </a:r>
            <a:r>
              <a:rPr lang="es-ES">
                <a:latin typeface="Consolas"/>
                <a:ea typeface="+mn-lt"/>
                <a:cs typeface="+mn-lt"/>
              </a:rPr>
              <a:t>="comentarios"&gt;Comentarios: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textarea</a:t>
            </a:r>
            <a:r>
              <a:rPr lang="es-ES">
                <a:latin typeface="Consolas"/>
                <a:ea typeface="+mn-lt"/>
                <a:cs typeface="+mn-lt"/>
              </a:rPr>
              <a:t> </a:t>
            </a:r>
            <a:r>
              <a:rPr lang="es-ES" err="1">
                <a:latin typeface="Consolas"/>
                <a:ea typeface="+mn-lt"/>
                <a:cs typeface="+mn-lt"/>
              </a:rPr>
              <a:t>name</a:t>
            </a:r>
            <a:r>
              <a:rPr lang="es-ES">
                <a:latin typeface="Consolas"/>
                <a:ea typeface="+mn-lt"/>
                <a:cs typeface="+mn-lt"/>
              </a:rPr>
              <a:t>="comentarios" id="comentarios" </a:t>
            </a:r>
            <a:r>
              <a:rPr lang="es-ES" err="1">
                <a:latin typeface="Consolas"/>
                <a:ea typeface="+mn-lt"/>
                <a:cs typeface="+mn-lt"/>
              </a:rPr>
              <a:t>rows</a:t>
            </a:r>
            <a:r>
              <a:rPr lang="es-ES">
                <a:latin typeface="Consolas"/>
                <a:ea typeface="+mn-lt"/>
                <a:cs typeface="+mn-lt"/>
              </a:rPr>
              <a:t>="4"</a:t>
            </a:r>
            <a:br>
              <a:rPr lang="es-ES">
                <a:latin typeface="Consolas"/>
                <a:ea typeface="+mn-lt"/>
                <a:cs typeface="+mn-lt"/>
              </a:rPr>
            </a:br>
            <a:r>
              <a:rPr lang="es-ES">
                <a:latin typeface="Consolas"/>
                <a:ea typeface="+mn-lt"/>
                <a:cs typeface="+mn-lt"/>
              </a:rPr>
              <a:t>                </a:t>
            </a:r>
            <a:r>
              <a:rPr lang="es-ES" err="1">
                <a:latin typeface="Consolas"/>
                <a:ea typeface="+mn-lt"/>
                <a:cs typeface="+mn-lt"/>
              </a:rPr>
              <a:t>value</a:t>
            </a:r>
            <a:r>
              <a:rPr lang="es-ES">
                <a:latin typeface="Consolas"/>
                <a:ea typeface="+mn-lt"/>
                <a:cs typeface="+mn-lt"/>
              </a:rPr>
              <a:t>={</a:t>
            </a:r>
            <a:r>
              <a:rPr lang="es-ES" err="1">
                <a:latin typeface="Consolas"/>
                <a:ea typeface="+mn-lt"/>
                <a:cs typeface="+mn-lt"/>
              </a:rPr>
              <a:t>datosFormulario.comentarios</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&lt;input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checkbox</a:t>
            </a:r>
            <a:r>
              <a:rPr lang="es-ES">
                <a:latin typeface="Consolas"/>
                <a:ea typeface="+mn-lt"/>
                <a:cs typeface="+mn-lt"/>
              </a:rPr>
              <a:t>" </a:t>
            </a:r>
            <a:r>
              <a:rPr lang="es-ES" err="1">
                <a:latin typeface="Consolas"/>
                <a:ea typeface="+mn-lt"/>
                <a:cs typeface="+mn-lt"/>
              </a:rPr>
              <a:t>name</a:t>
            </a:r>
            <a:r>
              <a:rPr lang="es-ES">
                <a:latin typeface="Consolas"/>
                <a:ea typeface="+mn-lt"/>
                <a:cs typeface="+mn-lt"/>
              </a:rPr>
              <a:t>="</a:t>
            </a:r>
            <a:r>
              <a:rPr lang="es-ES" err="1">
                <a:latin typeface="Consolas"/>
                <a:ea typeface="+mn-lt"/>
                <a:cs typeface="+mn-lt"/>
              </a:rPr>
              <a:t>aceptaTerminos</a:t>
            </a:r>
            <a:r>
              <a:rPr lang="es-ES">
                <a:latin typeface="Consolas"/>
                <a:ea typeface="+mn-lt"/>
                <a:cs typeface="+mn-lt"/>
              </a:rPr>
              <a:t>" id="</a:t>
            </a:r>
            <a:r>
              <a:rPr lang="es-ES" err="1">
                <a:latin typeface="Consolas"/>
                <a:ea typeface="+mn-lt"/>
                <a:cs typeface="+mn-lt"/>
              </a:rPr>
              <a:t>aceptaTerminos</a:t>
            </a:r>
            <a:r>
              <a:rPr lang="es-ES">
                <a:latin typeface="Consolas"/>
                <a:ea typeface="+mn-lt"/>
                <a:cs typeface="+mn-lt"/>
              </a:rPr>
              <a:t>" </a:t>
            </a:r>
            <a:br>
              <a:rPr lang="es-ES">
                <a:latin typeface="Consolas"/>
                <a:ea typeface="+mn-lt"/>
                <a:cs typeface="+mn-lt"/>
              </a:rPr>
            </a:br>
            <a:r>
              <a:rPr lang="es-ES">
                <a:latin typeface="Consolas"/>
                <a:ea typeface="+mn-lt"/>
                <a:cs typeface="+mn-lt"/>
              </a:rPr>
              <a:t>                    </a:t>
            </a:r>
            <a:r>
              <a:rPr lang="es-ES" err="1">
                <a:latin typeface="Consolas"/>
                <a:ea typeface="+mn-lt"/>
                <a:cs typeface="+mn-lt"/>
              </a:rPr>
              <a:t>checked</a:t>
            </a:r>
            <a:r>
              <a:rPr lang="es-ES">
                <a:latin typeface="Consolas"/>
                <a:ea typeface="+mn-lt"/>
                <a:cs typeface="+mn-lt"/>
              </a:rPr>
              <a:t>={</a:t>
            </a:r>
            <a:r>
              <a:rPr lang="es-ES" err="1">
                <a:latin typeface="Consolas"/>
                <a:ea typeface="+mn-lt"/>
                <a:cs typeface="+mn-lt"/>
              </a:rPr>
              <a:t>datosFormulario.aceptaTerminos</a:t>
            </a:r>
            <a:r>
              <a:rPr lang="es-ES">
                <a:latin typeface="Consolas"/>
                <a:ea typeface="+mn-lt"/>
                <a:cs typeface="+mn-lt"/>
              </a:rPr>
              <a:t>} </a:t>
            </a:r>
            <a:r>
              <a:rPr lang="es-ES" err="1">
                <a:latin typeface="Consolas"/>
                <a:ea typeface="+mn-lt"/>
                <a:cs typeface="+mn-lt"/>
              </a:rPr>
              <a:t>onChange</a:t>
            </a:r>
            <a:r>
              <a:rPr lang="es-ES">
                <a:latin typeface="Consolas"/>
                <a:ea typeface="+mn-lt"/>
                <a:cs typeface="+mn-lt"/>
              </a:rPr>
              <a:t>={</a:t>
            </a:r>
            <a:r>
              <a:rPr lang="es-ES" err="1">
                <a:latin typeface="Consolas"/>
                <a:ea typeface="+mn-lt"/>
                <a:cs typeface="+mn-lt"/>
              </a:rPr>
              <a:t>manejarCambio</a:t>
            </a:r>
            <a:r>
              <a:rPr lang="es-ES">
                <a:latin typeface="Consolas"/>
                <a:ea typeface="+mn-lt"/>
                <a:cs typeface="+mn-lt"/>
              </a:rPr>
              <a:t>} /&gt;</a:t>
            </a:r>
            <a:br>
              <a:rPr lang="es-ES">
                <a:latin typeface="Consolas"/>
                <a:ea typeface="+mn-lt"/>
                <a:cs typeface="+mn-lt"/>
              </a:rPr>
            </a:br>
            <a:r>
              <a:rPr lang="es-ES">
                <a:latin typeface="Consolas"/>
                <a:ea typeface="+mn-lt"/>
                <a:cs typeface="+mn-lt"/>
              </a:rPr>
              <a:t>                    Acepto los términos y condiciones</a:t>
            </a:r>
            <a:br>
              <a:rPr lang="es-ES">
                <a:latin typeface="Consolas"/>
                <a:ea typeface="+mn-lt"/>
                <a:cs typeface="+mn-lt"/>
              </a:rPr>
            </a:br>
            <a:r>
              <a:rPr lang="es-ES">
                <a:latin typeface="Consolas"/>
                <a:ea typeface="+mn-lt"/>
                <a:cs typeface="+mn-lt"/>
              </a:rPr>
              <a:t>                &lt;/</a:t>
            </a:r>
            <a:r>
              <a:rPr lang="es-ES" err="1">
                <a:latin typeface="Consolas"/>
                <a:ea typeface="+mn-lt"/>
                <a:cs typeface="+mn-lt"/>
              </a:rPr>
              <a:t>label</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div</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button</a:t>
            </a:r>
            <a:r>
              <a:rPr lang="es-ES">
                <a:latin typeface="Consolas"/>
                <a:ea typeface="+mn-lt"/>
                <a:cs typeface="+mn-lt"/>
              </a:rPr>
              <a:t> </a:t>
            </a:r>
            <a:r>
              <a:rPr lang="es-ES" err="1">
                <a:latin typeface="Consolas"/>
                <a:ea typeface="+mn-lt"/>
                <a:cs typeface="+mn-lt"/>
              </a:rPr>
              <a:t>type</a:t>
            </a:r>
            <a:r>
              <a:rPr lang="es-ES">
                <a:latin typeface="Consolas"/>
                <a:ea typeface="+mn-lt"/>
                <a:cs typeface="+mn-lt"/>
              </a:rPr>
              <a:t>="</a:t>
            </a:r>
            <a:r>
              <a:rPr lang="es-ES" err="1">
                <a:latin typeface="Consolas"/>
                <a:ea typeface="+mn-lt"/>
                <a:cs typeface="+mn-lt"/>
              </a:rPr>
              <a:t>submit</a:t>
            </a:r>
            <a:r>
              <a:rPr lang="es-ES">
                <a:latin typeface="Consolas"/>
                <a:ea typeface="+mn-lt"/>
                <a:cs typeface="+mn-lt"/>
              </a:rPr>
              <a:t>"&gt;Enviar datos&lt;/</a:t>
            </a:r>
            <a:r>
              <a:rPr lang="es-ES" err="1">
                <a:latin typeface="Consolas"/>
                <a:ea typeface="+mn-lt"/>
                <a:cs typeface="+mn-lt"/>
              </a:rPr>
              <a:t>button</a:t>
            </a:r>
            <a:r>
              <a:rPr lang="es-ES">
                <a:latin typeface="Consolas"/>
                <a:ea typeface="+mn-lt"/>
                <a:cs typeface="+mn-lt"/>
              </a:rPr>
              <a:t>&gt;</a:t>
            </a:r>
            <a:br>
              <a:rPr lang="es-ES">
                <a:latin typeface="Consolas"/>
                <a:ea typeface="+mn-lt"/>
                <a:cs typeface="+mn-lt"/>
              </a:rPr>
            </a:br>
            <a:r>
              <a:rPr lang="es-ES">
                <a:latin typeface="Consolas"/>
                <a:ea typeface="+mn-lt"/>
                <a:cs typeface="+mn-lt"/>
              </a:rPr>
              <a:t>       &lt;/</a:t>
            </a:r>
            <a:r>
              <a:rPr lang="es-ES" err="1">
                <a:latin typeface="Consolas"/>
                <a:ea typeface="+mn-lt"/>
                <a:cs typeface="+mn-lt"/>
              </a:rPr>
              <a:t>form</a:t>
            </a:r>
            <a:r>
              <a:rPr lang="es-ES">
                <a:latin typeface="Consolas"/>
                <a:ea typeface="+mn-lt"/>
                <a:cs typeface="+mn-lt"/>
              </a:rPr>
              <a:t>&gt;</a:t>
            </a:r>
            <a:br>
              <a:rPr lang="es-ES">
                <a:latin typeface="Consolas"/>
                <a:ea typeface="+mn-lt"/>
                <a:cs typeface="+mn-lt"/>
              </a:rPr>
            </a:br>
            <a:r>
              <a:rPr lang="es-ES">
                <a:latin typeface="Consolas"/>
                <a:ea typeface="+mn-lt"/>
                <a:cs typeface="+mn-lt"/>
              </a:rPr>
              <a:t>    );</a:t>
            </a:r>
            <a:br>
              <a:rPr lang="es-ES">
                <a:latin typeface="Consolas"/>
                <a:ea typeface="+mn-lt"/>
                <a:cs typeface="+mn-lt"/>
              </a:rPr>
            </a:br>
            <a:r>
              <a:rPr lang="es-ES">
                <a:latin typeface="Consolas"/>
                <a:ea typeface="+mn-lt"/>
                <a:cs typeface="+mn-lt"/>
              </a:rPr>
              <a:t>}</a:t>
            </a:r>
            <a:br>
              <a:rPr lang="es-ES">
                <a:latin typeface="Consolas"/>
                <a:ea typeface="+mn-lt"/>
                <a:cs typeface="+mn-lt"/>
              </a:rPr>
            </a:br>
            <a:r>
              <a:rPr lang="es-ES" err="1">
                <a:latin typeface="Consolas"/>
                <a:ea typeface="+mn-lt"/>
                <a:cs typeface="+mn-lt"/>
              </a:rPr>
              <a:t>export</a:t>
            </a:r>
            <a:r>
              <a:rPr lang="es-ES">
                <a:latin typeface="Consolas"/>
                <a:ea typeface="+mn-lt"/>
                <a:cs typeface="+mn-lt"/>
              </a:rPr>
              <a:t> default </a:t>
            </a:r>
            <a:r>
              <a:rPr lang="es-ES" err="1">
                <a:latin typeface="Consolas"/>
                <a:ea typeface="+mn-lt"/>
                <a:cs typeface="+mn-lt"/>
              </a:rPr>
              <a:t>FormularioCompleto</a:t>
            </a:r>
            <a:r>
              <a:rPr lang="es-ES">
                <a:latin typeface="Consolas"/>
                <a:ea typeface="+mn-lt"/>
                <a:cs typeface="+mn-lt"/>
              </a:rPr>
              <a:t>;</a:t>
            </a:r>
            <a:endParaRPr lang="es-ES">
              <a:latin typeface="Consolas"/>
            </a:endParaRPr>
          </a:p>
        </p:txBody>
      </p:sp>
    </p:spTree>
    <p:extLst>
      <p:ext uri="{BB962C8B-B14F-4D97-AF65-F5344CB8AC3E}">
        <p14:creationId xmlns:p14="http://schemas.microsoft.com/office/powerpoint/2010/main" val="120682406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D0393-2FBE-CAF8-2670-4141F1009A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1DF60B-2CFB-F392-DBC7-8134F9AA2D57}"/>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II</a:t>
            </a:r>
          </a:p>
        </p:txBody>
      </p:sp>
      <p:sp>
        <p:nvSpPr>
          <p:cNvPr id="3" name="Marcador de contenido 2">
            <a:extLst>
              <a:ext uri="{FF2B5EF4-FFF2-40B4-BE49-F238E27FC236}">
                <a16:creationId xmlns:a16="http://schemas.microsoft.com/office/drawing/2014/main" id="{45848F3C-205F-6E27-9842-58793644A85A}"/>
              </a:ext>
            </a:extLst>
          </p:cNvPr>
          <p:cNvSpPr>
            <a:spLocks noGrp="1"/>
          </p:cNvSpPr>
          <p:nvPr>
            <p:ph idx="1"/>
          </p:nvPr>
        </p:nvSpPr>
        <p:spPr/>
        <p:txBody>
          <a:bodyPr vert="horz" lIns="91440" tIns="45720" rIns="91440" bIns="45720" rtlCol="0" anchor="t">
            <a:normAutofit fontScale="77500" lnSpcReduction="20000"/>
          </a:bodyPr>
          <a:lstStyle/>
          <a:p>
            <a:r>
              <a:rPr lang="es-ES" dirty="0" err="1">
                <a:latin typeface="Consolas"/>
                <a:ea typeface="+mn-lt"/>
                <a:cs typeface="+mn-lt"/>
              </a:rPr>
              <a:t>import</a:t>
            </a:r>
            <a:r>
              <a:rPr lang="es-ES" dirty="0">
                <a:latin typeface="Consolas"/>
                <a:ea typeface="+mn-lt"/>
                <a:cs typeface="+mn-lt"/>
              </a:rPr>
              <a:t> { </a:t>
            </a:r>
            <a:r>
              <a:rPr lang="es-ES" dirty="0" err="1">
                <a:latin typeface="Consolas"/>
                <a:ea typeface="+mn-lt"/>
                <a:cs typeface="+mn-lt"/>
              </a:rPr>
              <a:t>useState</a:t>
            </a:r>
            <a:r>
              <a:rPr lang="es-ES" dirty="0">
                <a:latin typeface="Consolas"/>
                <a:ea typeface="+mn-lt"/>
                <a:cs typeface="+mn-lt"/>
              </a:rPr>
              <a:t> } </a:t>
            </a:r>
            <a:r>
              <a:rPr lang="es-ES" dirty="0" err="1">
                <a:latin typeface="Consolas"/>
                <a:ea typeface="+mn-lt"/>
                <a:cs typeface="+mn-lt"/>
              </a:rPr>
              <a:t>from</a:t>
            </a:r>
            <a:r>
              <a:rPr lang="es-ES" dirty="0">
                <a:latin typeface="Consolas"/>
                <a:ea typeface="+mn-lt"/>
                <a:cs typeface="+mn-lt"/>
              </a:rPr>
              <a:t> "</a:t>
            </a:r>
            <a:r>
              <a:rPr lang="es-ES" dirty="0"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const</a:t>
            </a:r>
            <a:r>
              <a:rPr lang="es-ES" dirty="0">
                <a:latin typeface="Consolas"/>
                <a:ea typeface="+mn-lt"/>
                <a:cs typeface="+mn-lt"/>
              </a:rPr>
              <a:t> </a:t>
            </a:r>
            <a:r>
              <a:rPr lang="es-ES" dirty="0" err="1">
                <a:latin typeface="Consolas"/>
                <a:ea typeface="+mn-lt"/>
                <a:cs typeface="+mn-lt"/>
              </a:rPr>
              <a:t>comunidadesProvincias</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'Andalucía':['</a:t>
            </a:r>
            <a:r>
              <a:rPr lang="es-ES" dirty="0" err="1">
                <a:latin typeface="Consolas"/>
                <a:ea typeface="+mn-lt"/>
                <a:cs typeface="+mn-lt"/>
              </a:rPr>
              <a:t>Almería','Cádiz','Córdoba','Granada','Huelva</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Jaén','Málaga','Sevilla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'Aragón':['</a:t>
            </a:r>
            <a:r>
              <a:rPr lang="es-ES" dirty="0" err="1">
                <a:latin typeface="Consolas"/>
                <a:ea typeface="+mn-lt"/>
                <a:cs typeface="+mn-lt"/>
              </a:rPr>
              <a:t>Huesca','Teruel','Zaragoza</a:t>
            </a:r>
            <a:r>
              <a:rPr lang="es-ES" dirty="0">
                <a:latin typeface="Consolas"/>
                <a:ea typeface="+mn-lt"/>
                <a:cs typeface="+mn-lt"/>
              </a:rPr>
              <a:t>'],    'Asturias':['Asturias'],</a:t>
            </a:r>
            <a:br>
              <a:rPr lang="es-ES" dirty="0">
                <a:latin typeface="Consolas"/>
                <a:ea typeface="+mn-lt"/>
                <a:cs typeface="+mn-lt"/>
              </a:rPr>
            </a:br>
            <a:r>
              <a:rPr lang="es-ES" dirty="0">
                <a:latin typeface="Consolas"/>
                <a:ea typeface="+mn-lt"/>
                <a:cs typeface="+mn-lt"/>
              </a:rPr>
              <a:t>    'Islas Baleares':['Islas Baleares'], </a:t>
            </a:r>
            <a:br>
              <a:rPr lang="es-ES" dirty="0">
                <a:latin typeface="Consolas"/>
                <a:ea typeface="+mn-lt"/>
                <a:cs typeface="+mn-lt"/>
              </a:rPr>
            </a:br>
            <a:r>
              <a:rPr lang="es-ES" dirty="0">
                <a:latin typeface="Consolas"/>
                <a:ea typeface="+mn-lt"/>
                <a:cs typeface="+mn-lt"/>
              </a:rPr>
              <a:t>    'Canarias':['Las </a:t>
            </a:r>
            <a:r>
              <a:rPr lang="es-ES" dirty="0" err="1">
                <a:latin typeface="Consolas"/>
                <a:ea typeface="+mn-lt"/>
                <a:cs typeface="+mn-lt"/>
              </a:rPr>
              <a:t>Palmas','Santa</a:t>
            </a:r>
            <a:r>
              <a:rPr lang="es-ES" dirty="0">
                <a:latin typeface="Consolas"/>
                <a:ea typeface="+mn-lt"/>
                <a:cs typeface="+mn-lt"/>
              </a:rPr>
              <a:t> Cruz de Tenerife'],</a:t>
            </a:r>
            <a:br>
              <a:rPr lang="es-ES" dirty="0">
                <a:latin typeface="Consolas"/>
                <a:ea typeface="+mn-lt"/>
                <a:cs typeface="+mn-lt"/>
              </a:rPr>
            </a:br>
            <a:r>
              <a:rPr lang="es-ES" dirty="0">
                <a:latin typeface="Consolas"/>
                <a:ea typeface="+mn-lt"/>
                <a:cs typeface="+mn-lt"/>
              </a:rPr>
              <a:t>    'Cantabria':['Cantabria'],    'Castilla-La Mancha':['</a:t>
            </a:r>
            <a:r>
              <a:rPr lang="es-ES" dirty="0" err="1">
                <a:latin typeface="Consolas"/>
                <a:ea typeface="+mn-lt"/>
                <a:cs typeface="+mn-lt"/>
              </a:rPr>
              <a:t>Albacete','Ciudad</a:t>
            </a:r>
            <a:r>
              <a:rPr lang="es-ES" dirty="0">
                <a:latin typeface="Consolas"/>
                <a:ea typeface="+mn-lt"/>
                <a:cs typeface="+mn-lt"/>
              </a:rPr>
              <a:t> Real',</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Cuenca','Guadalajara','Toledo</a:t>
            </a:r>
            <a:r>
              <a:rPr lang="es-ES" dirty="0">
                <a:latin typeface="Consolas"/>
                <a:ea typeface="+mn-lt"/>
                <a:cs typeface="+mn-lt"/>
              </a:rPr>
              <a:t>'],   'Castilla y León':['</a:t>
            </a:r>
            <a:r>
              <a:rPr lang="es-ES" dirty="0" err="1">
                <a:latin typeface="Consolas"/>
                <a:ea typeface="+mn-lt"/>
                <a:cs typeface="+mn-lt"/>
              </a:rPr>
              <a:t>Ávila','Burgos','León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Palencia','Salamanca</a:t>
            </a:r>
            <a:r>
              <a:rPr lang="es-ES" dirty="0">
                <a:latin typeface="Consolas"/>
                <a:ea typeface="+mn-lt"/>
                <a:cs typeface="+mn-lt"/>
              </a:rPr>
              <a:t>', '</a:t>
            </a:r>
            <a:r>
              <a:rPr lang="es-ES" dirty="0" err="1">
                <a:latin typeface="Consolas"/>
                <a:ea typeface="+mn-lt"/>
                <a:cs typeface="+mn-lt"/>
              </a:rPr>
              <a:t>Segovia','Soria','Valladolid','Zamora</a:t>
            </a:r>
            <a:r>
              <a:rPr lang="es-ES" dirty="0">
                <a:latin typeface="Consolas"/>
                <a:ea typeface="+mn-lt"/>
                <a:cs typeface="+mn-lt"/>
              </a:rPr>
              <a:t>'],</a:t>
            </a:r>
            <a:br>
              <a:rPr lang="en-US" dirty="0"/>
            </a:br>
            <a:r>
              <a:rPr lang="es-ES" dirty="0">
                <a:latin typeface="Consolas"/>
                <a:ea typeface="+mn-lt"/>
                <a:cs typeface="+mn-lt"/>
              </a:rPr>
              <a:t>    'Cataluña':['</a:t>
            </a:r>
            <a:r>
              <a:rPr lang="es-ES" dirty="0" err="1">
                <a:latin typeface="Consolas"/>
                <a:ea typeface="+mn-lt"/>
                <a:cs typeface="+mn-lt"/>
              </a:rPr>
              <a:t>Barcelona','Girona','Lleida','Tarragona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'Extremadura':['</a:t>
            </a:r>
            <a:r>
              <a:rPr lang="es-ES" dirty="0" err="1">
                <a:latin typeface="Consolas"/>
                <a:ea typeface="+mn-lt"/>
                <a:cs typeface="+mn-lt"/>
              </a:rPr>
              <a:t>Badajoz','Cáceres</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'Galicia':['A </a:t>
            </a:r>
            <a:r>
              <a:rPr lang="es-ES" dirty="0" err="1">
                <a:latin typeface="Consolas"/>
                <a:ea typeface="+mn-lt"/>
                <a:cs typeface="+mn-lt"/>
              </a:rPr>
              <a:t>Coruña','Lugo','Ourense','Pontevedra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'Madrid':['Madrid'],    'Murcia':['Murcia'],    'Navarra':['Navarra'],</a:t>
            </a:r>
            <a:br>
              <a:rPr lang="es-ES" dirty="0">
                <a:latin typeface="Consolas"/>
                <a:ea typeface="+mn-lt"/>
                <a:cs typeface="+mn-lt"/>
              </a:rPr>
            </a:br>
            <a:r>
              <a:rPr lang="es-ES" dirty="0">
                <a:latin typeface="Consolas"/>
                <a:ea typeface="+mn-lt"/>
                <a:cs typeface="+mn-lt"/>
              </a:rPr>
              <a:t>    'La Rioja':['La Rioja'],    'País Vasco':['</a:t>
            </a:r>
            <a:r>
              <a:rPr lang="es-ES" dirty="0" err="1">
                <a:latin typeface="Consolas"/>
                <a:ea typeface="+mn-lt"/>
                <a:cs typeface="+mn-lt"/>
              </a:rPr>
              <a:t>Álava','Gipuzkoa','Bizkaia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'Comunidad Valenciana':['</a:t>
            </a:r>
            <a:r>
              <a:rPr lang="es-ES" dirty="0" err="1">
                <a:latin typeface="Consolas"/>
                <a:ea typeface="+mn-lt"/>
                <a:cs typeface="+mn-lt"/>
              </a:rPr>
              <a:t>Alicante','Castellón','Valencia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a:t>
            </a:r>
          </a:p>
        </p:txBody>
      </p:sp>
    </p:spTree>
    <p:extLst>
      <p:ext uri="{BB962C8B-B14F-4D97-AF65-F5344CB8AC3E}">
        <p14:creationId xmlns:p14="http://schemas.microsoft.com/office/powerpoint/2010/main" val="367762158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DCEBC-343A-0A08-D754-871980235EE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4F857A-8579-F42C-B985-2E9781BB1447}"/>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II</a:t>
            </a:r>
          </a:p>
        </p:txBody>
      </p:sp>
      <p:sp>
        <p:nvSpPr>
          <p:cNvPr id="3" name="Marcador de contenido 2">
            <a:extLst>
              <a:ext uri="{FF2B5EF4-FFF2-40B4-BE49-F238E27FC236}">
                <a16:creationId xmlns:a16="http://schemas.microsoft.com/office/drawing/2014/main" id="{B0B5F976-F433-F728-7536-0C9971E9E3F5}"/>
              </a:ext>
            </a:extLst>
          </p:cNvPr>
          <p:cNvSpPr>
            <a:spLocks noGrp="1"/>
          </p:cNvSpPr>
          <p:nvPr>
            <p:ph idx="1"/>
          </p:nvPr>
        </p:nvSpPr>
        <p:spPr/>
        <p:txBody>
          <a:bodyPr vert="horz" lIns="91440" tIns="45720" rIns="91440" bIns="45720" rtlCol="0" anchor="t">
            <a:normAutofit/>
          </a:bodyPr>
          <a:lstStyle/>
          <a:p>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FormCCAAProvincias</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comunidad,setComunidad</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n-US" dirty="0">
                <a:latin typeface="Consolas"/>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provincia,setProvincia</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manejarCambioComunidad</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setComunidad</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//Se resetea la provincia cuando se cambia la CA</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setProvincia</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manejarCambioProvincia</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setProvincia</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p>
        </p:txBody>
      </p:sp>
    </p:spTree>
    <p:extLst>
      <p:ext uri="{BB962C8B-B14F-4D97-AF65-F5344CB8AC3E}">
        <p14:creationId xmlns:p14="http://schemas.microsoft.com/office/powerpoint/2010/main" val="428289594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A05BA-E94B-244D-B475-7BD3BFF052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5F59E9-1341-4E9F-A23C-8184F9D5633E}"/>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II</a:t>
            </a:r>
          </a:p>
        </p:txBody>
      </p:sp>
      <p:sp>
        <p:nvSpPr>
          <p:cNvPr id="3" name="Marcador de contenido 2">
            <a:extLst>
              <a:ext uri="{FF2B5EF4-FFF2-40B4-BE49-F238E27FC236}">
                <a16:creationId xmlns:a16="http://schemas.microsoft.com/office/drawing/2014/main" id="{AAB90BCE-7CDC-7104-E01D-937F723E01DB}"/>
              </a:ext>
            </a:extLst>
          </p:cNvPr>
          <p:cNvSpPr>
            <a:spLocks noGrp="1"/>
          </p:cNvSpPr>
          <p:nvPr>
            <p:ph idx="1"/>
          </p:nvPr>
        </p:nvSpPr>
        <p:spPr/>
        <p:txBody>
          <a:bodyPr vert="horz" lIns="91440" tIns="45720" rIns="91440" bIns="45720" rtlCol="0" anchor="t">
            <a:normAutofit fontScale="92500" lnSpcReduction="20000"/>
          </a:bodyPr>
          <a:lstStyle/>
          <a:p>
            <a:r>
              <a:rPr lang="es-ES" dirty="0">
                <a:latin typeface="Consolas"/>
                <a:ea typeface="+mn-lt"/>
                <a:cs typeface="+mn-lt"/>
              </a:rPr>
              <a:t>    </a:t>
            </a:r>
            <a:r>
              <a:rPr lang="es-ES" dirty="0"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form</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 </a:t>
            </a:r>
            <a:r>
              <a:rPr lang="es-ES" dirty="0" err="1">
                <a:latin typeface="Consolas"/>
                <a:ea typeface="+mn-lt"/>
                <a:cs typeface="+mn-lt"/>
              </a:rPr>
              <a:t>htmlFor</a:t>
            </a:r>
            <a:r>
              <a:rPr lang="es-ES" dirty="0">
                <a:latin typeface="Consolas"/>
                <a:ea typeface="+mn-lt"/>
                <a:cs typeface="+mn-lt"/>
              </a:rPr>
              <a:t>="comunidad"&gt;Comunidad Autónoma: &lt;/</a:t>
            </a:r>
            <a:r>
              <a:rPr lang="es-ES" dirty="0"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select</a:t>
            </a:r>
            <a:r>
              <a:rPr lang="es-ES" dirty="0">
                <a:latin typeface="Consolas"/>
                <a:ea typeface="+mn-lt"/>
                <a:cs typeface="+mn-lt"/>
              </a:rPr>
              <a:t> </a:t>
            </a:r>
            <a:r>
              <a:rPr lang="es-ES" dirty="0" err="1">
                <a:latin typeface="Consolas"/>
                <a:ea typeface="+mn-lt"/>
                <a:cs typeface="+mn-lt"/>
              </a:rPr>
              <a:t>name</a:t>
            </a:r>
            <a:r>
              <a:rPr lang="es-ES" dirty="0">
                <a:latin typeface="Consolas"/>
                <a:ea typeface="+mn-lt"/>
                <a:cs typeface="+mn-lt"/>
              </a:rPr>
              <a:t>="comunidad" id="comunidad" </a:t>
            </a:r>
            <a:r>
              <a:rPr lang="es-ES" dirty="0" err="1">
                <a:latin typeface="Consolas"/>
                <a:ea typeface="+mn-lt"/>
                <a:cs typeface="+mn-lt"/>
              </a:rPr>
              <a:t>value</a:t>
            </a:r>
            <a:r>
              <a:rPr lang="es-ES" dirty="0">
                <a:latin typeface="Consolas"/>
                <a:ea typeface="+mn-lt"/>
                <a:cs typeface="+mn-lt"/>
              </a:rPr>
              <a:t>={comunidad}</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manejarCambioComunidad</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=""&gt;Seleccione una comunidad&lt;/</a:t>
            </a:r>
            <a:r>
              <a:rPr lang="es-ES" dirty="0" err="1">
                <a:latin typeface="Consolas"/>
                <a:ea typeface="+mn-lt"/>
                <a:cs typeface="+mn-lt"/>
              </a:rPr>
              <a:t>option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Object.keys</a:t>
            </a:r>
            <a:r>
              <a:rPr lang="es-ES" dirty="0">
                <a:latin typeface="Consolas"/>
                <a:ea typeface="+mn-lt"/>
                <a:cs typeface="+mn-lt"/>
              </a:rPr>
              <a:t>(</a:t>
            </a:r>
            <a:r>
              <a:rPr lang="es-ES" dirty="0" err="1">
                <a:latin typeface="Consolas"/>
                <a:ea typeface="+mn-lt"/>
                <a:cs typeface="+mn-lt"/>
              </a:rPr>
              <a:t>comunidadesProvincias</a:t>
            </a:r>
            <a:r>
              <a:rPr lang="es-ES" dirty="0">
                <a:latin typeface="Consolas"/>
                <a:ea typeface="+mn-lt"/>
                <a:cs typeface="+mn-lt"/>
              </a:rPr>
              <a:t>).</a:t>
            </a:r>
            <a:r>
              <a:rPr lang="es-ES" dirty="0" err="1">
                <a:latin typeface="Consolas"/>
                <a:ea typeface="+mn-lt"/>
                <a:cs typeface="+mn-lt"/>
              </a:rPr>
              <a:t>map</a:t>
            </a:r>
            <a:r>
              <a:rPr lang="es-ES" dirty="0">
                <a:latin typeface="Consolas"/>
                <a:ea typeface="+mn-lt"/>
                <a:cs typeface="+mn-lt"/>
              </a:rPr>
              <a:t>((comunidad)=&gt;(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 </a:t>
            </a:r>
            <a:r>
              <a:rPr lang="es-ES" dirty="0" err="1">
                <a:latin typeface="Consolas"/>
                <a:ea typeface="+mn-lt"/>
                <a:cs typeface="+mn-lt"/>
              </a:rPr>
              <a:t>key</a:t>
            </a:r>
            <a:r>
              <a:rPr lang="es-ES" dirty="0">
                <a:latin typeface="Consolas"/>
                <a:ea typeface="+mn-lt"/>
                <a:cs typeface="+mn-lt"/>
              </a:rPr>
              <a:t>={comunidad} </a:t>
            </a:r>
            <a:r>
              <a:rPr lang="es-ES" dirty="0" err="1">
                <a:latin typeface="Consolas"/>
                <a:ea typeface="+mn-lt"/>
                <a:cs typeface="+mn-lt"/>
              </a:rPr>
              <a:t>value</a:t>
            </a:r>
            <a:r>
              <a:rPr lang="es-ES" dirty="0">
                <a:latin typeface="Consolas"/>
                <a:ea typeface="+mn-lt"/>
                <a:cs typeface="+mn-lt"/>
              </a:rPr>
              <a:t>={comunidad}&gt;</a:t>
            </a:r>
            <a:br>
              <a:rPr lang="es-ES" dirty="0">
                <a:latin typeface="Consolas"/>
                <a:ea typeface="+mn-lt"/>
                <a:cs typeface="+mn-lt"/>
              </a:rPr>
            </a:br>
            <a:r>
              <a:rPr lang="es-ES" dirty="0">
                <a:latin typeface="Consolas"/>
                <a:ea typeface="+mn-lt"/>
                <a:cs typeface="+mn-lt"/>
              </a:rPr>
              <a:t>                            {comunidad}</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select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endParaRPr lang="es-ES" dirty="0">
              <a:latin typeface="Consolas"/>
            </a:endParaRPr>
          </a:p>
        </p:txBody>
      </p:sp>
    </p:spTree>
    <p:extLst>
      <p:ext uri="{BB962C8B-B14F-4D97-AF65-F5344CB8AC3E}">
        <p14:creationId xmlns:p14="http://schemas.microsoft.com/office/powerpoint/2010/main" val="24050718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B06A0-1851-0992-0F38-F436C75F83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B28555B-446D-E347-669D-8386803EE792}"/>
              </a:ext>
            </a:extLst>
          </p:cNvPr>
          <p:cNvSpPr>
            <a:spLocks noGrp="1"/>
          </p:cNvSpPr>
          <p:nvPr>
            <p:ph type="title"/>
          </p:nvPr>
        </p:nvSpPr>
        <p:spPr/>
        <p:txBody>
          <a:bodyPr>
            <a:normAutofit/>
          </a:bodyPr>
          <a:lstStyle/>
          <a:p>
            <a:r>
              <a:rPr lang="es-ES">
                <a:latin typeface="Calibri"/>
                <a:ea typeface="Calibri"/>
                <a:cs typeface="Calibri"/>
              </a:rPr>
              <a:t>Manejo y gestión de eventos. Uso de formularios básicos con entradas controladas. Ejemplo II</a:t>
            </a:r>
          </a:p>
        </p:txBody>
      </p:sp>
      <p:sp>
        <p:nvSpPr>
          <p:cNvPr id="3" name="Marcador de contenido 2">
            <a:extLst>
              <a:ext uri="{FF2B5EF4-FFF2-40B4-BE49-F238E27FC236}">
                <a16:creationId xmlns:a16="http://schemas.microsoft.com/office/drawing/2014/main" id="{F70D3884-CEE9-6089-BE0F-BE8D32D20C1E}"/>
              </a:ext>
            </a:extLst>
          </p:cNvPr>
          <p:cNvSpPr>
            <a:spLocks noGrp="1"/>
          </p:cNvSpPr>
          <p:nvPr>
            <p:ph idx="1"/>
          </p:nvPr>
        </p:nvSpPr>
        <p:spPr/>
        <p:txBody>
          <a:bodyPr vert="horz" lIns="91440" tIns="45720" rIns="91440" bIns="45720" rtlCol="0" anchor="t">
            <a:normAutofit fontScale="77500" lnSpcReduction="20000"/>
          </a:bodyPr>
          <a:lstStyle/>
          <a:p>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 </a:t>
            </a:r>
            <a:r>
              <a:rPr lang="es-ES" dirty="0" err="1">
                <a:latin typeface="Consolas"/>
                <a:ea typeface="+mn-lt"/>
                <a:cs typeface="+mn-lt"/>
              </a:rPr>
              <a:t>htmlFor</a:t>
            </a:r>
            <a:r>
              <a:rPr lang="es-ES" dirty="0">
                <a:latin typeface="Consolas"/>
                <a:ea typeface="+mn-lt"/>
                <a:cs typeface="+mn-lt"/>
              </a:rPr>
              <a:t>="provincia"&gt;Provincia: &lt;/</a:t>
            </a:r>
            <a:r>
              <a:rPr lang="es-ES" dirty="0"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select</a:t>
            </a:r>
            <a:r>
              <a:rPr lang="es-ES" dirty="0">
                <a:latin typeface="Consolas"/>
                <a:ea typeface="+mn-lt"/>
                <a:cs typeface="+mn-lt"/>
              </a:rPr>
              <a:t> </a:t>
            </a:r>
            <a:r>
              <a:rPr lang="es-ES" dirty="0" err="1">
                <a:latin typeface="Consolas"/>
                <a:ea typeface="+mn-lt"/>
                <a:cs typeface="+mn-lt"/>
              </a:rPr>
              <a:t>name</a:t>
            </a:r>
            <a:r>
              <a:rPr lang="es-ES" dirty="0">
                <a:latin typeface="Consolas"/>
                <a:ea typeface="+mn-lt"/>
                <a:cs typeface="+mn-lt"/>
              </a:rPr>
              <a:t>="provincia" id="provincia" </a:t>
            </a:r>
            <a:r>
              <a:rPr lang="es-ES" dirty="0" err="1">
                <a:latin typeface="Consolas"/>
                <a:ea typeface="+mn-lt"/>
                <a:cs typeface="+mn-lt"/>
              </a:rPr>
              <a:t>value</a:t>
            </a:r>
            <a:r>
              <a:rPr lang="es-ES" dirty="0">
                <a:latin typeface="Consolas"/>
                <a:ea typeface="+mn-lt"/>
                <a:cs typeface="+mn-lt"/>
              </a:rPr>
              <a:t>={provincia}</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manejarCambioProvincia</a:t>
            </a:r>
            <a:r>
              <a:rPr lang="es-ES" dirty="0">
                <a:latin typeface="Consolas"/>
                <a:ea typeface="+mn-lt"/>
                <a:cs typeface="+mn-lt"/>
              </a:rPr>
              <a:t>} </a:t>
            </a:r>
            <a:r>
              <a:rPr lang="es-ES" dirty="0" err="1">
                <a:latin typeface="Consolas"/>
                <a:ea typeface="+mn-lt"/>
                <a:cs typeface="+mn-lt"/>
              </a:rPr>
              <a:t>disabled</a:t>
            </a:r>
            <a:r>
              <a:rPr lang="es-ES" dirty="0">
                <a:latin typeface="Consolas"/>
                <a:ea typeface="+mn-lt"/>
                <a:cs typeface="+mn-lt"/>
              </a:rPr>
              <a:t>={!comunidad}&gt;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=""&gt;Seleccione una provincia&lt;/</a:t>
            </a:r>
            <a:r>
              <a:rPr lang="es-ES" dirty="0" err="1">
                <a:latin typeface="Consolas"/>
                <a:ea typeface="+mn-lt"/>
                <a:cs typeface="+mn-lt"/>
              </a:rPr>
              <a:t>option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{comunidad &amp;&amp; </a:t>
            </a:r>
            <a:r>
              <a:rPr lang="es-ES" dirty="0" err="1">
                <a:latin typeface="Consolas"/>
                <a:ea typeface="+mn-lt"/>
                <a:cs typeface="+mn-lt"/>
              </a:rPr>
              <a:t>comunidadesProvincias</a:t>
            </a:r>
            <a:r>
              <a:rPr lang="es-ES" dirty="0">
                <a:latin typeface="Consolas"/>
                <a:ea typeface="+mn-lt"/>
                <a:cs typeface="+mn-lt"/>
              </a:rPr>
              <a:t>[comunidad].</a:t>
            </a:r>
            <a:r>
              <a:rPr lang="es-ES" dirty="0" err="1">
                <a:latin typeface="Consolas"/>
                <a:ea typeface="+mn-lt"/>
                <a:cs typeface="+mn-lt"/>
              </a:rPr>
              <a:t>map</a:t>
            </a:r>
            <a:r>
              <a:rPr lang="es-ES" dirty="0">
                <a:latin typeface="Consolas"/>
                <a:ea typeface="+mn-lt"/>
                <a:cs typeface="+mn-lt"/>
              </a:rPr>
              <a:t>((provincia)=&gt;(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 </a:t>
            </a:r>
            <a:r>
              <a:rPr lang="es-ES" dirty="0" err="1">
                <a:latin typeface="Consolas"/>
                <a:ea typeface="+mn-lt"/>
                <a:cs typeface="+mn-lt"/>
              </a:rPr>
              <a:t>key</a:t>
            </a:r>
            <a:r>
              <a:rPr lang="es-ES" dirty="0">
                <a:latin typeface="Consolas"/>
                <a:ea typeface="+mn-lt"/>
                <a:cs typeface="+mn-lt"/>
              </a:rPr>
              <a:t>={provincia} </a:t>
            </a:r>
            <a:r>
              <a:rPr lang="es-ES" dirty="0" err="1">
                <a:latin typeface="Consolas"/>
                <a:ea typeface="+mn-lt"/>
                <a:cs typeface="+mn-lt"/>
              </a:rPr>
              <a:t>value</a:t>
            </a:r>
            <a:r>
              <a:rPr lang="es-ES" dirty="0">
                <a:latin typeface="Consolas"/>
                <a:ea typeface="+mn-lt"/>
                <a:cs typeface="+mn-lt"/>
              </a:rPr>
              <a:t>={provincia}&gt;</a:t>
            </a:r>
            <a:br>
              <a:rPr lang="es-ES" dirty="0">
                <a:latin typeface="Consolas"/>
                <a:ea typeface="+mn-lt"/>
                <a:cs typeface="+mn-lt"/>
              </a:rPr>
            </a:br>
            <a:r>
              <a:rPr lang="es-ES" dirty="0">
                <a:latin typeface="Consolas"/>
                <a:ea typeface="+mn-lt"/>
                <a:cs typeface="+mn-lt"/>
              </a:rPr>
              <a:t>                            {provincia}</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option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select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form</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export</a:t>
            </a:r>
            <a:r>
              <a:rPr lang="es-ES" dirty="0">
                <a:latin typeface="Consolas"/>
                <a:ea typeface="+mn-lt"/>
                <a:cs typeface="+mn-lt"/>
              </a:rPr>
              <a:t> default </a:t>
            </a:r>
            <a:r>
              <a:rPr lang="es-ES" dirty="0" err="1">
                <a:latin typeface="Consolas"/>
                <a:ea typeface="+mn-lt"/>
                <a:cs typeface="+mn-lt"/>
              </a:rPr>
              <a:t>FormCCAAProvincias</a:t>
            </a:r>
            <a:r>
              <a:rPr lang="es-ES" dirty="0">
                <a:latin typeface="Consolas"/>
                <a:ea typeface="+mn-lt"/>
                <a:cs typeface="+mn-lt"/>
              </a:rPr>
              <a:t>;</a:t>
            </a:r>
            <a:endParaRPr lang="es-ES" dirty="0">
              <a:latin typeface="Consolas"/>
            </a:endParaRPr>
          </a:p>
        </p:txBody>
      </p:sp>
    </p:spTree>
    <p:extLst>
      <p:ext uri="{BB962C8B-B14F-4D97-AF65-F5344CB8AC3E}">
        <p14:creationId xmlns:p14="http://schemas.microsoft.com/office/powerpoint/2010/main" val="400501069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FA4A9-FCC3-FCE8-EA53-801BE6F041E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B65ECB-343E-7605-536A-1B7FE9A1C6A7}"/>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ECEE77E4-024C-60F2-C780-CD48B92264AE}"/>
              </a:ext>
            </a:extLst>
          </p:cNvPr>
          <p:cNvSpPr>
            <a:spLocks noGrp="1"/>
          </p:cNvSpPr>
          <p:nvPr>
            <p:ph idx="1"/>
          </p:nvPr>
        </p:nvSpPr>
        <p:spPr/>
        <p:txBody>
          <a:bodyPr vert="horz" lIns="91440" tIns="45720" rIns="91440" bIns="45720" rtlCol="0" anchor="t">
            <a:normAutofit fontScale="92500"/>
          </a:bodyPr>
          <a:lstStyle/>
          <a:p>
            <a:pPr marL="342900" indent="-342900">
              <a:buFont typeface="Arial"/>
              <a:buChar char="•"/>
            </a:pPr>
            <a:r>
              <a:rPr lang="es-ES">
                <a:latin typeface="Calibri"/>
                <a:ea typeface="Calibri"/>
                <a:cs typeface="Calibri"/>
              </a:rPr>
              <a:t>Implementar formularios complejos con validaciones en </a:t>
            </a:r>
            <a:r>
              <a:rPr lang="es-ES" err="1">
                <a:latin typeface="Calibri"/>
                <a:ea typeface="Calibri"/>
                <a:cs typeface="Calibri"/>
              </a:rPr>
              <a:t>React</a:t>
            </a:r>
            <a:r>
              <a:rPr lang="es-ES">
                <a:latin typeface="Calibri"/>
                <a:ea typeface="Calibri"/>
                <a:cs typeface="Calibri"/>
              </a:rPr>
              <a:t> implica manejar múltiples campos de entrada, realizar validaciones en tiempo real y proporcionar retroalimentación al usuario. Pasos para Implementar Formularios Complejos con Validaciones:</a:t>
            </a:r>
          </a:p>
          <a:p>
            <a:pPr marL="617220" lvl="1">
              <a:buFont typeface="Courier New"/>
              <a:buChar char="o"/>
            </a:pPr>
            <a:r>
              <a:rPr lang="es-ES">
                <a:latin typeface="Calibri"/>
                <a:ea typeface="Calibri"/>
                <a:cs typeface="Calibri"/>
              </a:rPr>
              <a:t>Definir el estado inicial para todos los campos del formulario y los mensajes de error.</a:t>
            </a:r>
          </a:p>
          <a:p>
            <a:pPr marL="617220" lvl="1">
              <a:buFont typeface="Courier New"/>
              <a:buChar char="o"/>
            </a:pPr>
            <a:r>
              <a:rPr lang="es-ES">
                <a:latin typeface="Calibri"/>
                <a:ea typeface="Calibri"/>
                <a:cs typeface="Calibri"/>
              </a:rPr>
              <a:t>Crear manejadores con funciones para gestionar los cambios en cada campo de entrada y actualizar el estado correspondiente.</a:t>
            </a:r>
          </a:p>
          <a:p>
            <a:pPr marL="617220" lvl="1">
              <a:buFont typeface="Courier New"/>
              <a:buChar char="o"/>
            </a:pPr>
            <a:r>
              <a:rPr lang="es-ES">
                <a:latin typeface="Calibri"/>
                <a:ea typeface="Calibri"/>
                <a:cs typeface="Calibri"/>
              </a:rPr>
              <a:t>Implementar funciones de validación para cada campo. Estas funciones pueden ser llamadas en tiempo real (mientras el usuario escribe) o al enviar el formulario.</a:t>
            </a:r>
          </a:p>
          <a:p>
            <a:pPr marL="617220" lvl="1">
              <a:buFont typeface="Courier New"/>
              <a:buChar char="o"/>
            </a:pPr>
            <a:r>
              <a:rPr lang="es-ES">
                <a:latin typeface="Calibri"/>
                <a:ea typeface="Calibri"/>
                <a:cs typeface="Calibri"/>
              </a:rPr>
              <a:t>Manejar el envío del formulario creando una función para gestionar el envío del formulario. Esta función debe validar todos los campos y, solo si son válidos, enviar los datos a una API o realizar alguna acción.</a:t>
            </a:r>
          </a:p>
          <a:p>
            <a:pPr marL="617220" lvl="1">
              <a:buFont typeface="Courier New"/>
              <a:buChar char="o"/>
            </a:pPr>
            <a:r>
              <a:rPr lang="es-ES">
                <a:latin typeface="Calibri"/>
                <a:ea typeface="Calibri"/>
                <a:cs typeface="Calibri"/>
              </a:rPr>
              <a:t>Proporcionar retroalimentación al usuario mostrando mensajes de error o éxito basados en las validaciones y el resultado del envío del formulario.</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330713304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5D29A-45B8-8BA1-1F77-9529914E2A9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DC5F7B-46DD-4A0E-52C2-709717148BF6}"/>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295D3D01-995F-C121-16C0-A568B19668E3}"/>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dirty="0">
                <a:latin typeface="Calibri"/>
                <a:ea typeface="Calibri"/>
                <a:cs typeface="Calibri"/>
              </a:rPr>
              <a:t>Formulario de registro de usuario con validaciones para el nombre, email y contraseña:</a:t>
            </a:r>
          </a:p>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FormularioValidado</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[formulario, </a:t>
            </a:r>
            <a:r>
              <a:rPr lang="es-ES" err="1">
                <a:latin typeface="Consolas"/>
                <a:ea typeface="+mn-lt"/>
                <a:cs typeface="+mn-lt"/>
              </a:rPr>
              <a:t>setFormulario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nombre:'',</a:t>
            </a:r>
            <a:br>
              <a:rPr lang="es-ES" dirty="0">
                <a:latin typeface="Consolas"/>
                <a:ea typeface="+mn-lt"/>
                <a:cs typeface="+mn-lt"/>
              </a:rPr>
            </a:br>
            <a:r>
              <a:rPr lang="es-ES" dirty="0">
                <a:latin typeface="Consolas"/>
                <a:ea typeface="+mn-lt"/>
                <a:cs typeface="+mn-lt"/>
              </a:rPr>
              <a:t>        email:'',</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errores,setErrores</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mensajeExito,setMensajeExito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a:t>
            </a:r>
            <a:r>
              <a:rPr lang="es-ES" err="1">
                <a:latin typeface="Consolas"/>
                <a:ea typeface="+mn-lt"/>
                <a:cs typeface="+mn-lt"/>
              </a:rPr>
              <a:t>name,value</a:t>
            </a:r>
            <a:r>
              <a:rPr lang="es-ES" dirty="0">
                <a:latin typeface="Consolas"/>
                <a:ea typeface="+mn-lt"/>
                <a:cs typeface="+mn-lt"/>
              </a:rPr>
              <a:t>}=</a:t>
            </a:r>
            <a:r>
              <a:rPr lang="es-ES" err="1">
                <a:latin typeface="Consolas"/>
                <a:ea typeface="+mn-lt"/>
                <a:cs typeface="+mn-lt"/>
              </a:rPr>
              <a:t>evt.target</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setFormulario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...formulario,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a:t>
            </a:r>
            <a:r>
              <a:rPr lang="es-ES" err="1">
                <a:latin typeface="Consolas"/>
                <a:ea typeface="+mn-lt"/>
                <a:cs typeface="+mn-lt"/>
              </a:rPr>
              <a:t>value</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//CONTINÚA...</a:t>
            </a:r>
          </a:p>
          <a:p>
            <a:pPr marL="342900" indent="-342900">
              <a:buFont typeface="Arial"/>
              <a:buChar char="•"/>
            </a:pPr>
            <a:endParaRPr lang="es-ES">
              <a:latin typeface="Calibri"/>
              <a:ea typeface="Calibri"/>
              <a:cs typeface="Calibri"/>
            </a:endParaRPr>
          </a:p>
        </p:txBody>
      </p:sp>
    </p:spTree>
    <p:extLst>
      <p:ext uri="{BB962C8B-B14F-4D97-AF65-F5344CB8AC3E}">
        <p14:creationId xmlns:p14="http://schemas.microsoft.com/office/powerpoint/2010/main" val="1604722690"/>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013FA-E24A-C048-0903-E4897D0913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118D5E-E205-75AA-F643-A0B424F38DDF}"/>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F0127D82-49C0-3EB7-CF9D-316B5D181065}"/>
              </a:ext>
            </a:extLst>
          </p:cNvPr>
          <p:cNvSpPr>
            <a:spLocks noGrp="1"/>
          </p:cNvSpPr>
          <p:nvPr>
            <p:ph idx="1"/>
          </p:nvPr>
        </p:nvSpPr>
        <p:spPr/>
        <p:txBody>
          <a:bodyPr vert="horz" lIns="91440" tIns="45720" rIns="91440" bIns="45720" rtlCol="0" anchor="t">
            <a:normAutofit fontScale="55000" lnSpcReduction="20000"/>
          </a:bodyPr>
          <a:lstStyle/>
          <a:p>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validarNombre</a:t>
            </a:r>
            <a:r>
              <a:rPr lang="es-ES" dirty="0">
                <a:latin typeface="Consolas"/>
                <a:ea typeface="+mn-lt"/>
                <a:cs typeface="+mn-lt"/>
              </a:rPr>
              <a:t>=(nombre)=&gt;{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'El nombre es obligatorio';</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validarEmail</a:t>
            </a:r>
            <a:r>
              <a:rPr lang="es-ES" dirty="0">
                <a:latin typeface="Consolas"/>
                <a:ea typeface="+mn-lt"/>
                <a:cs typeface="+mn-lt"/>
              </a:rPr>
              <a:t>=(email)=&gt;{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regex</a:t>
            </a:r>
            <a:r>
              <a:rPr lang="es-ES" dirty="0">
                <a:latin typeface="Consolas"/>
                <a:ea typeface="+mn-lt"/>
                <a:cs typeface="+mn-lt"/>
              </a:rPr>
              <a:t> = /^[^\s@]+@[^\s@]+\.[^\s@]+$/;</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(!email){</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'El E-Mail es obligatorio';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else</a:t>
            </a: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regex.test</a:t>
            </a:r>
            <a:r>
              <a:rPr lang="es-ES" dirty="0">
                <a:latin typeface="Consolas"/>
                <a:ea typeface="+mn-lt"/>
                <a:cs typeface="+mn-lt"/>
              </a:rPr>
              <a:t>(email)){</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'El email no es válido';</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validarPassword</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'La </a:t>
            </a:r>
            <a:r>
              <a:rPr lang="es-ES" err="1">
                <a:latin typeface="Consolas"/>
                <a:ea typeface="+mn-lt"/>
                <a:cs typeface="+mn-lt"/>
              </a:rPr>
              <a:t>password</a:t>
            </a:r>
            <a:r>
              <a:rPr lang="es-ES" dirty="0">
                <a:latin typeface="Consolas"/>
                <a:ea typeface="+mn-lt"/>
                <a:cs typeface="+mn-lt"/>
              </a:rPr>
              <a:t> es obligatoria';</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else</a:t>
            </a: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password.length</a:t>
            </a:r>
            <a:r>
              <a:rPr lang="es-ES" dirty="0">
                <a:latin typeface="Consolas"/>
                <a:ea typeface="+mn-lt"/>
                <a:cs typeface="+mn-lt"/>
              </a:rPr>
              <a:t> &lt;8){</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'La </a:t>
            </a:r>
            <a:r>
              <a:rPr lang="es-ES" err="1">
                <a:latin typeface="Consolas"/>
                <a:ea typeface="+mn-lt"/>
                <a:cs typeface="+mn-lt"/>
              </a:rPr>
              <a:t>password</a:t>
            </a:r>
            <a:r>
              <a:rPr lang="es-ES" dirty="0">
                <a:latin typeface="Consolas"/>
                <a:ea typeface="+mn-lt"/>
                <a:cs typeface="+mn-lt"/>
              </a:rPr>
              <a:t> debe tener, al menos 8 caracteres';</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//CONTINÚA...</a:t>
            </a:r>
            <a:endParaRPr lang="es-ES" dirty="0">
              <a:latin typeface="Consolas"/>
            </a:endParaRPr>
          </a:p>
        </p:txBody>
      </p:sp>
    </p:spTree>
    <p:extLst>
      <p:ext uri="{BB962C8B-B14F-4D97-AF65-F5344CB8AC3E}">
        <p14:creationId xmlns:p14="http://schemas.microsoft.com/office/powerpoint/2010/main" val="409883672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26A52-0DA2-8952-E2F3-FED34A20DC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E11E81-EC24-6B78-7E5B-77ECC88ED25F}"/>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34769694-2534-F400-C468-0222AEE05F7D}"/>
              </a:ext>
            </a:extLst>
          </p:cNvPr>
          <p:cNvSpPr>
            <a:spLocks noGrp="1"/>
          </p:cNvSpPr>
          <p:nvPr>
            <p:ph idx="1"/>
          </p:nvPr>
        </p:nvSpPr>
        <p:spPr/>
        <p:txBody>
          <a:bodyPr vert="horz" lIns="91440" tIns="45720" rIns="91440" bIns="45720" rtlCol="0" anchor="t">
            <a:normAutofit fontScale="77500" lnSpcReduction="20000"/>
          </a:bodyPr>
          <a:lstStyle/>
          <a:p>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manejarEnvío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evt.preventDefault</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erroresValidacion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nombre:validarNombre</a:t>
            </a:r>
            <a:r>
              <a:rPr lang="es-ES" dirty="0">
                <a:latin typeface="Consolas"/>
                <a:ea typeface="+mn-lt"/>
                <a:cs typeface="+mn-lt"/>
              </a:rPr>
              <a:t>(</a:t>
            </a:r>
            <a:r>
              <a:rPr lang="es-ES" err="1">
                <a:latin typeface="Consolas"/>
                <a:ea typeface="+mn-lt"/>
                <a:cs typeface="+mn-lt"/>
              </a:rPr>
              <a:t>formulario.nombre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email:validarEmail</a:t>
            </a:r>
            <a:r>
              <a:rPr lang="es-ES" dirty="0">
                <a:latin typeface="Consolas"/>
                <a:ea typeface="+mn-lt"/>
                <a:cs typeface="+mn-lt"/>
              </a:rPr>
              <a:t>(</a:t>
            </a:r>
            <a:r>
              <a:rPr lang="es-ES" err="1">
                <a:latin typeface="Consolas"/>
                <a:ea typeface="+mn-lt"/>
                <a:cs typeface="+mn-lt"/>
              </a:rPr>
              <a:t>formulario.email</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password:validarPassword</a:t>
            </a:r>
            <a:r>
              <a:rPr lang="es-ES" dirty="0">
                <a:latin typeface="Consolas"/>
                <a:ea typeface="+mn-lt"/>
                <a:cs typeface="+mn-lt"/>
              </a:rPr>
              <a:t>(</a:t>
            </a:r>
            <a:r>
              <a:rPr lang="es-ES" err="1">
                <a:latin typeface="Consolas"/>
                <a:ea typeface="+mn-lt"/>
                <a:cs typeface="+mn-lt"/>
              </a:rPr>
              <a:t>formulario.password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setErrores</a:t>
            </a:r>
            <a:r>
              <a:rPr lang="es-ES" dirty="0">
                <a:latin typeface="Consolas"/>
                <a:ea typeface="+mn-lt"/>
                <a:cs typeface="+mn-lt"/>
              </a:rPr>
              <a:t>(</a:t>
            </a:r>
            <a:r>
              <a:rPr lang="es-ES" err="1">
                <a:latin typeface="Consolas"/>
                <a:ea typeface="+mn-lt"/>
                <a:cs typeface="+mn-lt"/>
              </a:rPr>
              <a:t>erroresValidacion</a:t>
            </a:r>
            <a:r>
              <a:rPr lang="es-ES" dirty="0">
                <a:latin typeface="Consolas"/>
                <a:ea typeface="+mn-lt"/>
                <a:cs typeface="+mn-lt"/>
              </a:rPr>
              <a:t>);</a:t>
            </a:r>
            <a:br>
              <a:rPr lang="en-US" dirty="0">
                <a:latin typeface="Consolas"/>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hayErrores</a:t>
            </a:r>
            <a:r>
              <a:rPr lang="es-ES" dirty="0">
                <a:latin typeface="Consolas"/>
                <a:ea typeface="+mn-lt"/>
                <a:cs typeface="+mn-lt"/>
              </a:rPr>
              <a:t>=</a:t>
            </a:r>
            <a:r>
              <a:rPr lang="es-ES" err="1">
                <a:latin typeface="Consolas"/>
                <a:ea typeface="+mn-lt"/>
                <a:cs typeface="+mn-lt"/>
              </a:rPr>
              <a:t>Object.values</a:t>
            </a:r>
            <a:r>
              <a:rPr lang="es-ES" dirty="0">
                <a:latin typeface="Consolas"/>
                <a:ea typeface="+mn-lt"/>
                <a:cs typeface="+mn-lt"/>
              </a:rPr>
              <a:t>(</a:t>
            </a:r>
            <a:r>
              <a:rPr lang="es-ES" err="1">
                <a:latin typeface="Consolas"/>
                <a:ea typeface="+mn-lt"/>
                <a:cs typeface="+mn-lt"/>
              </a:rPr>
              <a:t>erroresValidacion</a:t>
            </a:r>
            <a:r>
              <a:rPr lang="es-ES" dirty="0">
                <a:latin typeface="Consolas"/>
                <a:ea typeface="+mn-lt"/>
                <a:cs typeface="+mn-lt"/>
              </a:rPr>
              <a:t>).</a:t>
            </a:r>
            <a:r>
              <a:rPr lang="es-ES" err="1">
                <a:latin typeface="Consolas"/>
                <a:ea typeface="+mn-lt"/>
                <a:cs typeface="+mn-lt"/>
              </a:rPr>
              <a:t>some</a:t>
            </a:r>
            <a:r>
              <a:rPr lang="es-ES" dirty="0">
                <a:latin typeface="Consolas"/>
                <a:ea typeface="+mn-lt"/>
                <a:cs typeface="+mn-lt"/>
              </a:rPr>
              <a:t>((error)=&gt;error !==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hayErrores</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//Aquí se haría el envío de los datos del formulario a su destino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setMensajeExito</a:t>
            </a:r>
            <a:r>
              <a:rPr lang="es-ES" dirty="0">
                <a:latin typeface="Consolas"/>
                <a:ea typeface="+mn-lt"/>
                <a:cs typeface="+mn-lt"/>
              </a:rPr>
              <a:t>('Los datos se han procesado con éxito');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setFormulario</a:t>
            </a:r>
            <a:r>
              <a:rPr lang="es-ES" dirty="0">
                <a:latin typeface="Consolas"/>
                <a:ea typeface="+mn-lt"/>
                <a:cs typeface="+mn-lt"/>
              </a:rPr>
              <a:t>({nombre:'',email:'',</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//CONTINÚA</a:t>
            </a:r>
            <a:endParaRPr lang="es-ES" dirty="0">
              <a:latin typeface="Consolas"/>
            </a:endParaRPr>
          </a:p>
        </p:txBody>
      </p:sp>
    </p:spTree>
    <p:extLst>
      <p:ext uri="{BB962C8B-B14F-4D97-AF65-F5344CB8AC3E}">
        <p14:creationId xmlns:p14="http://schemas.microsoft.com/office/powerpoint/2010/main" val="480825419"/>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C1F0C-129D-E713-3298-98156F7475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627D34-C242-F8DE-5981-C0FD60641D54}"/>
              </a:ext>
            </a:extLst>
          </p:cNvPr>
          <p:cNvSpPr>
            <a:spLocks noGrp="1"/>
          </p:cNvSpPr>
          <p:nvPr>
            <p:ph type="title"/>
          </p:nvPr>
        </p:nvSpPr>
        <p:spPr/>
        <p:txBody>
          <a:bodyPr>
            <a:normAutofit/>
          </a:bodyPr>
          <a:lstStyle/>
          <a:p>
            <a:r>
              <a:rPr lang="es-ES">
                <a:latin typeface="Calibri"/>
                <a:ea typeface="Calibri"/>
                <a:cs typeface="Calibri"/>
              </a:rPr>
              <a:t>Manejo y gestión de eventos. Implementación de formularios complejos con validaciones.</a:t>
            </a:r>
          </a:p>
        </p:txBody>
      </p:sp>
      <p:sp>
        <p:nvSpPr>
          <p:cNvPr id="3" name="Marcador de contenido 2">
            <a:extLst>
              <a:ext uri="{FF2B5EF4-FFF2-40B4-BE49-F238E27FC236}">
                <a16:creationId xmlns:a16="http://schemas.microsoft.com/office/drawing/2014/main" id="{C198BEEC-C083-D2F9-1693-6486C68E41CE}"/>
              </a:ext>
            </a:extLst>
          </p:cNvPr>
          <p:cNvSpPr>
            <a:spLocks noGrp="1"/>
          </p:cNvSpPr>
          <p:nvPr>
            <p:ph idx="1"/>
          </p:nvPr>
        </p:nvSpPr>
        <p:spPr/>
        <p:txBody>
          <a:bodyPr vert="horz" lIns="91440" tIns="45720" rIns="91440" bIns="45720" rtlCol="0" anchor="t">
            <a:normAutofit fontScale="47500" lnSpcReduction="20000"/>
          </a:bodyPr>
          <a:lstStyle/>
          <a:p>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form</a:t>
            </a:r>
            <a:r>
              <a:rPr lang="es-ES" dirty="0">
                <a:latin typeface="Consolas"/>
                <a:ea typeface="+mn-lt"/>
                <a:cs typeface="+mn-lt"/>
              </a:rPr>
              <a:t> </a:t>
            </a:r>
            <a:r>
              <a:rPr lang="es-ES" err="1">
                <a:latin typeface="Consolas"/>
                <a:ea typeface="+mn-lt"/>
                <a:cs typeface="+mn-lt"/>
              </a:rPr>
              <a:t>onSubmit</a:t>
            </a:r>
            <a:r>
              <a:rPr lang="es-ES" dirty="0">
                <a:latin typeface="Consolas"/>
                <a:ea typeface="+mn-lt"/>
                <a:cs typeface="+mn-lt"/>
              </a:rPr>
              <a:t>={</a:t>
            </a:r>
            <a:r>
              <a:rPr lang="es-ES" err="1">
                <a:latin typeface="Consolas"/>
                <a:ea typeface="+mn-lt"/>
                <a:cs typeface="+mn-lt"/>
              </a:rPr>
              <a:t>manejarEnvío</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="nombre"&gt;Nombre: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="nombre" id="nombre" </a:t>
            </a:r>
            <a:r>
              <a:rPr lang="es-ES" err="1">
                <a:latin typeface="Consolas"/>
                <a:ea typeface="+mn-lt"/>
                <a:cs typeface="+mn-lt"/>
              </a:rPr>
              <a:t>placeholder</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formulario.nombre</a:t>
            </a: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errores.nombre</a:t>
            </a:r>
            <a:r>
              <a:rPr lang="es-ES" dirty="0">
                <a:latin typeface="Consolas"/>
                <a:ea typeface="+mn-lt"/>
                <a:cs typeface="+mn-lt"/>
              </a:rPr>
              <a:t> &amp;&amp; &lt;p </a:t>
            </a:r>
            <a:r>
              <a:rPr lang="es-ES" err="1">
                <a:latin typeface="Consolas"/>
                <a:ea typeface="+mn-lt"/>
                <a:cs typeface="+mn-lt"/>
              </a:rPr>
              <a:t>style</a:t>
            </a:r>
            <a:r>
              <a:rPr lang="es-ES" dirty="0">
                <a:latin typeface="Consolas"/>
                <a:ea typeface="+mn-lt"/>
                <a:cs typeface="+mn-lt"/>
              </a:rPr>
              <a:t>={{</a:t>
            </a:r>
            <a:r>
              <a:rPr lang="es-ES" err="1">
                <a:latin typeface="Consolas"/>
                <a:ea typeface="+mn-lt"/>
                <a:cs typeface="+mn-lt"/>
              </a:rPr>
              <a:t>color:'red</a:t>
            </a:r>
            <a:r>
              <a:rPr lang="es-ES" dirty="0">
                <a:latin typeface="Consolas"/>
                <a:ea typeface="+mn-lt"/>
                <a:cs typeface="+mn-lt"/>
              </a:rPr>
              <a:t>'}}&gt;{</a:t>
            </a:r>
            <a:r>
              <a:rPr lang="es-ES" err="1">
                <a:latin typeface="Consolas"/>
                <a:ea typeface="+mn-lt"/>
                <a:cs typeface="+mn-lt"/>
              </a:rPr>
              <a:t>errores.nombre</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="email"&gt;E-Mail: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="email" id="email" </a:t>
            </a:r>
            <a:r>
              <a:rPr lang="es-ES" err="1">
                <a:latin typeface="Consolas"/>
                <a:ea typeface="+mn-lt"/>
                <a:cs typeface="+mn-lt"/>
              </a:rPr>
              <a:t>placeholder</a:t>
            </a:r>
            <a:r>
              <a:rPr lang="es-ES" dirty="0">
                <a:latin typeface="Consolas"/>
                <a:ea typeface="+mn-lt"/>
                <a:cs typeface="+mn-lt"/>
              </a:rPr>
              <a:t>="E-Mail:"</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formulario.email</a:t>
            </a: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errores.email</a:t>
            </a:r>
            <a:r>
              <a:rPr lang="es-ES" dirty="0">
                <a:latin typeface="Consolas"/>
                <a:ea typeface="+mn-lt"/>
                <a:cs typeface="+mn-lt"/>
              </a:rPr>
              <a:t> &amp;&amp; &lt;p </a:t>
            </a:r>
            <a:r>
              <a:rPr lang="es-ES" err="1">
                <a:latin typeface="Consolas"/>
                <a:ea typeface="+mn-lt"/>
                <a:cs typeface="+mn-lt"/>
              </a:rPr>
              <a:t>style</a:t>
            </a:r>
            <a:r>
              <a:rPr lang="es-ES" dirty="0">
                <a:latin typeface="Consolas"/>
                <a:ea typeface="+mn-lt"/>
                <a:cs typeface="+mn-lt"/>
              </a:rPr>
              <a:t>={{</a:t>
            </a:r>
            <a:r>
              <a:rPr lang="es-ES" err="1">
                <a:latin typeface="Consolas"/>
                <a:ea typeface="+mn-lt"/>
                <a:cs typeface="+mn-lt"/>
              </a:rPr>
              <a:t>color:'red</a:t>
            </a:r>
            <a:r>
              <a:rPr lang="es-ES" dirty="0">
                <a:latin typeface="Consolas"/>
                <a:ea typeface="+mn-lt"/>
                <a:cs typeface="+mn-lt"/>
              </a:rPr>
              <a:t>'}}&gt;{</a:t>
            </a:r>
            <a:r>
              <a:rPr lang="es-ES" err="1">
                <a:latin typeface="Consolas"/>
                <a:ea typeface="+mn-lt"/>
                <a:cs typeface="+mn-lt"/>
              </a:rPr>
              <a:t>errores.email</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"&gt;</a:t>
            </a:r>
            <a:r>
              <a:rPr lang="es-ES" err="1">
                <a:latin typeface="Consolas"/>
                <a:ea typeface="+mn-lt"/>
                <a:cs typeface="+mn-lt"/>
              </a:rPr>
              <a:t>Password</a:t>
            </a: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 id="</a:t>
            </a:r>
            <a:r>
              <a:rPr lang="es-ES" err="1">
                <a:latin typeface="Consolas"/>
                <a:ea typeface="+mn-lt"/>
                <a:cs typeface="+mn-lt"/>
              </a:rPr>
              <a:t>password</a:t>
            </a:r>
            <a:r>
              <a:rPr lang="es-ES" dirty="0">
                <a:latin typeface="Consolas"/>
                <a:ea typeface="+mn-lt"/>
                <a:cs typeface="+mn-lt"/>
              </a:rPr>
              <a:t>" </a:t>
            </a:r>
            <a:r>
              <a:rPr lang="es-ES" err="1">
                <a:latin typeface="Consolas"/>
                <a:ea typeface="+mn-lt"/>
                <a:cs typeface="+mn-lt"/>
              </a:rPr>
              <a:t>placeholder</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formulario.password</a:t>
            </a: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errores.password</a:t>
            </a:r>
            <a:r>
              <a:rPr lang="es-ES" dirty="0">
                <a:latin typeface="Consolas"/>
                <a:ea typeface="+mn-lt"/>
                <a:cs typeface="+mn-lt"/>
              </a:rPr>
              <a:t> &amp;&amp; &lt;p </a:t>
            </a:r>
            <a:r>
              <a:rPr lang="es-ES" err="1">
                <a:latin typeface="Consolas"/>
                <a:ea typeface="+mn-lt"/>
                <a:cs typeface="+mn-lt"/>
              </a:rPr>
              <a:t>style</a:t>
            </a:r>
            <a:r>
              <a:rPr lang="es-ES" dirty="0">
                <a:latin typeface="Consolas"/>
                <a:ea typeface="+mn-lt"/>
                <a:cs typeface="+mn-lt"/>
              </a:rPr>
              <a:t>={{</a:t>
            </a:r>
            <a:r>
              <a:rPr lang="es-ES" err="1">
                <a:latin typeface="Consolas"/>
                <a:ea typeface="+mn-lt"/>
                <a:cs typeface="+mn-lt"/>
              </a:rPr>
              <a:t>color:'red</a:t>
            </a:r>
            <a:r>
              <a:rPr lang="es-ES" dirty="0">
                <a:latin typeface="Consolas"/>
                <a:ea typeface="+mn-lt"/>
                <a:cs typeface="+mn-lt"/>
              </a:rPr>
              <a:t>'}}&gt;{</a:t>
            </a:r>
            <a:r>
              <a:rPr lang="es-ES" err="1">
                <a:latin typeface="Consolas"/>
                <a:ea typeface="+mn-lt"/>
                <a:cs typeface="+mn-lt"/>
              </a:rPr>
              <a:t>errores.password</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button</a:t>
            </a:r>
            <a:r>
              <a:rPr lang="es-ES" dirty="0">
                <a:latin typeface="Consolas"/>
                <a:ea typeface="+mn-lt"/>
                <a:cs typeface="+mn-lt"/>
              </a:rPr>
              <a: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submit</a:t>
            </a:r>
            <a:r>
              <a:rPr lang="es-ES" dirty="0">
                <a:latin typeface="Consolas"/>
                <a:ea typeface="+mn-lt"/>
                <a:cs typeface="+mn-lt"/>
              </a:rPr>
              <a:t>"&gt;Enviar&lt;/</a:t>
            </a:r>
            <a:r>
              <a:rPr lang="es-ES" err="1">
                <a:latin typeface="Consolas"/>
                <a:ea typeface="+mn-lt"/>
                <a:cs typeface="+mn-lt"/>
              </a:rPr>
              <a:t>button</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mensajeExito</a:t>
            </a:r>
            <a:r>
              <a:rPr lang="es-ES" dirty="0">
                <a:latin typeface="Consolas"/>
                <a:ea typeface="+mn-lt"/>
                <a:cs typeface="+mn-lt"/>
              </a:rPr>
              <a:t> &amp;&amp; &lt;p </a:t>
            </a:r>
            <a:r>
              <a:rPr lang="es-ES" err="1">
                <a:latin typeface="Consolas"/>
                <a:ea typeface="+mn-lt"/>
                <a:cs typeface="+mn-lt"/>
              </a:rPr>
              <a:t>style</a:t>
            </a:r>
            <a:r>
              <a:rPr lang="es-ES" dirty="0">
                <a:latin typeface="Consolas"/>
                <a:ea typeface="+mn-lt"/>
                <a:cs typeface="+mn-lt"/>
              </a:rPr>
              <a:t>={{color:'</a:t>
            </a:r>
            <a:r>
              <a:rPr lang="es-ES" err="1">
                <a:latin typeface="Consolas"/>
                <a:ea typeface="+mn-lt"/>
                <a:cs typeface="+mn-lt"/>
              </a:rPr>
              <a:t>green</a:t>
            </a:r>
            <a:r>
              <a:rPr lang="es-ES" dirty="0">
                <a:latin typeface="Consolas"/>
                <a:ea typeface="+mn-lt"/>
                <a:cs typeface="+mn-lt"/>
              </a:rPr>
              <a:t>'}}&gt;{</a:t>
            </a:r>
            <a:r>
              <a:rPr lang="es-ES" err="1">
                <a:latin typeface="Consolas"/>
                <a:ea typeface="+mn-lt"/>
                <a:cs typeface="+mn-lt"/>
              </a:rPr>
              <a:t>mensajeExito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form</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a:t>
            </a:r>
            <a:r>
              <a:rPr lang="es-ES" err="1">
                <a:latin typeface="Consolas"/>
                <a:ea typeface="+mn-lt"/>
                <a:cs typeface="+mn-lt"/>
              </a:rPr>
              <a:t>FormularioValidado</a:t>
            </a:r>
            <a:r>
              <a:rPr lang="es-ES" dirty="0">
                <a:latin typeface="Consolas"/>
                <a:ea typeface="+mn-lt"/>
                <a:cs typeface="+mn-lt"/>
              </a:rPr>
              <a:t>;</a:t>
            </a:r>
            <a:endParaRPr lang="es-ES">
              <a:latin typeface="Consolas"/>
              <a:ea typeface="+mn-lt"/>
              <a:cs typeface="+mn-lt"/>
            </a:endParaRPr>
          </a:p>
        </p:txBody>
      </p:sp>
    </p:spTree>
    <p:extLst>
      <p:ext uri="{BB962C8B-B14F-4D97-AF65-F5344CB8AC3E}">
        <p14:creationId xmlns:p14="http://schemas.microsoft.com/office/powerpoint/2010/main" val="302405369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522CD-7738-E9FE-39C4-41670E2DD08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E345D2-A96C-1A15-BDCB-A9679C57584E}"/>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026F697D-F541-AD90-55A1-A02DCA699BE8}"/>
              </a:ext>
            </a:extLst>
          </p:cNvPr>
          <p:cNvSpPr>
            <a:spLocks noGrp="1"/>
          </p:cNvSpPr>
          <p:nvPr>
            <p:ph idx="1"/>
          </p:nvPr>
        </p:nvSpPr>
        <p:spPr/>
        <p:txBody>
          <a:bodyPr vert="horz" lIns="91440" tIns="45720" rIns="91440" bIns="45720" rtlCol="0" anchor="t">
            <a:normAutofit fontScale="92500" lnSpcReduction="20000"/>
          </a:bodyPr>
          <a:lstStyle/>
          <a:p>
            <a:pPr marL="342900" indent="-342900">
              <a:buFont typeface="Arial"/>
              <a:buChar char="•"/>
            </a:pP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 son dos mecanismos de almacenamiento web que permiten a las aplicaciones guardar datos en el navegador del usuario. Ambos son parte de la API de almacenamiento web y tienen algunas diferencias clave en cuanto a su persistencia y alcance.</a:t>
            </a:r>
          </a:p>
          <a:p>
            <a:pPr marL="342900" indent="-342900">
              <a:buFont typeface="Arial"/>
              <a:buChar char="•"/>
            </a:pPr>
            <a:r>
              <a:rPr lang="es-ES" err="1">
                <a:latin typeface="Calibri"/>
                <a:ea typeface="Calibri"/>
                <a:cs typeface="Calibri"/>
              </a:rPr>
              <a:t>localStorage</a:t>
            </a:r>
            <a:r>
              <a:rPr lang="es-ES">
                <a:latin typeface="Calibri"/>
                <a:ea typeface="Calibri"/>
                <a:cs typeface="Calibri"/>
              </a:rPr>
              <a:t>:</a:t>
            </a:r>
          </a:p>
          <a:p>
            <a:pPr marL="617220" lvl="1">
              <a:buFont typeface="Courier New"/>
              <a:buChar char="o"/>
            </a:pPr>
            <a:r>
              <a:rPr lang="es-ES" sz="2000">
                <a:latin typeface="Calibri"/>
                <a:ea typeface="Calibri"/>
                <a:cs typeface="Calibri"/>
              </a:rPr>
              <a:t>Los datos almacenados persisten incluso después de que el navegador se cierra y se vuelve a abrir. Los datos permanecen hasta que se eliminan explícitamente.</a:t>
            </a:r>
          </a:p>
          <a:p>
            <a:pPr marL="617220" lvl="1">
              <a:buFont typeface="Courier New"/>
              <a:buChar char="o"/>
            </a:pPr>
            <a:r>
              <a:rPr lang="es-ES" sz="2000">
                <a:latin typeface="Calibri"/>
                <a:ea typeface="Calibri"/>
                <a:cs typeface="Calibri"/>
              </a:rPr>
              <a:t>Los datos están disponibles para todas las páginas que comparten el mismo origen (protocolo, dominio y puerto). Si se abriesen varias pestañas se podrían actualizar si se modifican los datos en una</a:t>
            </a:r>
          </a:p>
          <a:p>
            <a:pPr marL="617220" lvl="1">
              <a:buFont typeface="Courier New"/>
              <a:buChar char="o"/>
            </a:pPr>
            <a:r>
              <a:rPr lang="es-ES" sz="2000">
                <a:latin typeface="Calibri"/>
                <a:ea typeface="Calibri"/>
                <a:cs typeface="Calibri"/>
              </a:rPr>
              <a:t>Generalmente tiene una capacidad de almacenamiento de alrededor de 5-10 MB por origen, dependiendo del navegador.</a:t>
            </a:r>
          </a:p>
          <a:p>
            <a:pPr marL="617220" lvl="1">
              <a:buFont typeface="Courier New"/>
              <a:buChar char="o"/>
            </a:pPr>
            <a:r>
              <a:rPr lang="es-ES" sz="2000">
                <a:latin typeface="Calibri"/>
                <a:ea typeface="Calibri"/>
                <a:cs typeface="Calibri"/>
              </a:rPr>
              <a:t>Se puede usar </a:t>
            </a:r>
            <a:r>
              <a:rPr lang="es-ES" sz="2000" err="1">
                <a:latin typeface="Calibri"/>
                <a:ea typeface="Calibri"/>
                <a:cs typeface="Calibri"/>
              </a:rPr>
              <a:t>localStorage</a:t>
            </a:r>
            <a:r>
              <a:rPr lang="es-ES" sz="2000">
                <a:latin typeface="Calibri"/>
                <a:ea typeface="Calibri"/>
                <a:cs typeface="Calibri"/>
              </a:rPr>
              <a:t> para almacenar datos que necesitas mantener a largo plazo, como configuraciones de usuario, tokens de autenticación, etc.</a:t>
            </a:r>
          </a:p>
        </p:txBody>
      </p:sp>
    </p:spTree>
    <p:extLst>
      <p:ext uri="{BB962C8B-B14F-4D97-AF65-F5344CB8AC3E}">
        <p14:creationId xmlns:p14="http://schemas.microsoft.com/office/powerpoint/2010/main" val="256064332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01D51-386D-A5E5-CE50-768E769135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DDE21BD-28A4-4D69-61EC-F5F65F39F089}"/>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4AD5ABE5-3E30-D2DF-51F8-3D539FDF47C4}"/>
              </a:ext>
            </a:extLst>
          </p:cNvPr>
          <p:cNvSpPr>
            <a:spLocks noGrp="1"/>
          </p:cNvSpPr>
          <p:nvPr>
            <p:ph idx="1"/>
          </p:nvPr>
        </p:nvSpPr>
        <p:spPr/>
        <p:txBody>
          <a:bodyPr vert="horz" lIns="91440" tIns="45720" rIns="91440" bIns="45720" rtlCol="0" anchor="t">
            <a:normAutofit fontScale="85000" lnSpcReduction="10000"/>
          </a:bodyPr>
          <a:lstStyle/>
          <a:p>
            <a:pPr marL="342900" indent="-342900">
              <a:buFont typeface="Arial"/>
              <a:buChar char="•"/>
            </a:pPr>
            <a:r>
              <a:rPr lang="es-ES" err="1">
                <a:latin typeface="Calibri"/>
                <a:ea typeface="Calibri"/>
                <a:cs typeface="Calibri"/>
              </a:rPr>
              <a:t>sessionStorage</a:t>
            </a:r>
            <a:r>
              <a:rPr lang="es-ES">
                <a:latin typeface="Calibri"/>
                <a:ea typeface="Calibri"/>
                <a:cs typeface="Calibri"/>
              </a:rPr>
              <a:t>:</a:t>
            </a:r>
          </a:p>
          <a:p>
            <a:pPr marL="617220" lvl="1">
              <a:buFont typeface="Courier New"/>
              <a:buChar char="o"/>
            </a:pPr>
            <a:r>
              <a:rPr lang="es-ES" sz="2000">
                <a:latin typeface="Calibri"/>
                <a:ea typeface="Calibri"/>
                <a:cs typeface="Calibri"/>
              </a:rPr>
              <a:t>Los datos almacenados en </a:t>
            </a:r>
            <a:r>
              <a:rPr lang="es-ES" sz="2000" err="1">
                <a:latin typeface="Calibri"/>
                <a:ea typeface="Calibri"/>
                <a:cs typeface="Calibri"/>
              </a:rPr>
              <a:t>sessionStorage</a:t>
            </a:r>
            <a:r>
              <a:rPr lang="es-ES" sz="2000">
                <a:latin typeface="Calibri"/>
                <a:ea typeface="Calibri"/>
                <a:cs typeface="Calibri"/>
              </a:rPr>
              <a:t> solo persisten durante la sesión de la página. Se eliminan cuando la pestaña o ventana del navegador se cierra.</a:t>
            </a:r>
          </a:p>
          <a:p>
            <a:pPr marL="617220" lvl="1">
              <a:buFont typeface="Courier New"/>
              <a:buChar char="o"/>
            </a:pPr>
            <a:r>
              <a:rPr lang="es-ES" sz="2000">
                <a:latin typeface="Calibri"/>
                <a:ea typeface="Calibri"/>
                <a:cs typeface="Calibri"/>
              </a:rPr>
              <a:t>Los datos en </a:t>
            </a:r>
            <a:r>
              <a:rPr lang="es-ES" sz="2000" err="1">
                <a:latin typeface="Calibri"/>
                <a:ea typeface="Calibri"/>
                <a:cs typeface="Calibri"/>
              </a:rPr>
              <a:t>sessionStorage</a:t>
            </a:r>
            <a:r>
              <a:rPr lang="es-ES" sz="2000">
                <a:latin typeface="Calibri"/>
                <a:ea typeface="Calibri"/>
                <a:cs typeface="Calibri"/>
              </a:rPr>
              <a:t> están disponibles solo para la pestaña o ventana específica en la que se almacenaron. No se comparten entre pestañas o ventanas.</a:t>
            </a:r>
          </a:p>
          <a:p>
            <a:pPr marL="617220" lvl="1">
              <a:buFont typeface="Courier New"/>
              <a:buChar char="o"/>
            </a:pPr>
            <a:r>
              <a:rPr lang="es-ES" sz="2000" err="1">
                <a:latin typeface="Calibri"/>
                <a:ea typeface="Calibri"/>
                <a:cs typeface="Calibri"/>
              </a:rPr>
              <a:t>sessionStorage</a:t>
            </a:r>
            <a:r>
              <a:rPr lang="es-ES" sz="2000">
                <a:latin typeface="Calibri"/>
                <a:ea typeface="Calibri"/>
                <a:cs typeface="Calibri"/>
              </a:rPr>
              <a:t> generalmente tiene una capacidad de almacenamiento similar a </a:t>
            </a:r>
            <a:r>
              <a:rPr lang="es-ES" sz="2000" err="1">
                <a:latin typeface="Calibri"/>
                <a:ea typeface="Calibri"/>
                <a:cs typeface="Calibri"/>
              </a:rPr>
              <a:t>localStorage</a:t>
            </a:r>
            <a:r>
              <a:rPr lang="es-ES" sz="2000">
                <a:latin typeface="Calibri"/>
                <a:ea typeface="Calibri"/>
                <a:cs typeface="Calibri"/>
              </a:rPr>
              <a:t>, alrededor de 5-10 MB por origen, dependiendo del navegador.</a:t>
            </a:r>
          </a:p>
          <a:p>
            <a:pPr marL="617220" lvl="1">
              <a:buFont typeface="Courier New"/>
              <a:buChar char="o"/>
            </a:pPr>
            <a:r>
              <a:rPr lang="es-ES" sz="2000">
                <a:latin typeface="Calibri"/>
                <a:ea typeface="Calibri"/>
                <a:cs typeface="Calibri"/>
              </a:rPr>
              <a:t>Se puede usar </a:t>
            </a:r>
            <a:r>
              <a:rPr lang="es-ES" sz="2000" err="1">
                <a:latin typeface="Calibri"/>
                <a:ea typeface="Calibri"/>
                <a:cs typeface="Calibri"/>
              </a:rPr>
              <a:t>sessionStorage</a:t>
            </a:r>
            <a:r>
              <a:rPr lang="es-ES" sz="2000">
                <a:latin typeface="Calibri"/>
                <a:ea typeface="Calibri"/>
                <a:cs typeface="Calibri"/>
              </a:rPr>
              <a:t> para almacenar datos que solo necesitas durante la sesión actual, como datos temporales de formularios, estados de navegación, etc.</a:t>
            </a:r>
          </a:p>
          <a:p>
            <a:pPr marL="342900" indent="-342900">
              <a:buFont typeface="Arial"/>
              <a:buChar char="•"/>
            </a:pPr>
            <a:r>
              <a:rPr lang="es-ES" sz="2200">
                <a:latin typeface="Calibri"/>
                <a:ea typeface="Calibri"/>
                <a:cs typeface="Calibri"/>
              </a:rPr>
              <a:t>No se deben confundir ni </a:t>
            </a:r>
            <a:r>
              <a:rPr lang="es-ES" sz="2200" err="1">
                <a:latin typeface="Calibri"/>
                <a:ea typeface="Calibri"/>
                <a:cs typeface="Calibri"/>
              </a:rPr>
              <a:t>localStorage</a:t>
            </a:r>
            <a:r>
              <a:rPr lang="es-ES" sz="2200">
                <a:latin typeface="Calibri"/>
                <a:ea typeface="Calibri"/>
                <a:cs typeface="Calibri"/>
              </a:rPr>
              <a:t> ni </a:t>
            </a:r>
            <a:r>
              <a:rPr lang="es-ES" sz="2200" err="1">
                <a:latin typeface="Calibri"/>
                <a:ea typeface="Calibri"/>
                <a:cs typeface="Calibri"/>
              </a:rPr>
              <a:t>sessionStorage</a:t>
            </a:r>
            <a:r>
              <a:rPr lang="es-ES" sz="2200">
                <a:latin typeface="Calibri"/>
                <a:ea typeface="Calibri"/>
                <a:cs typeface="Calibri"/>
              </a:rPr>
              <a:t> con las cookies. En todo caso, no se deben almacenar datos sensibles como contraseñas o información personal en ninguna de ellas, ya que pueden ser accesibles a través de scripts en la página. Si se necesitara almacenar datos sensibles, se deben cifrar antes de almacenarlos y descifrarlos al recuperarlos.</a:t>
            </a:r>
            <a:endParaRPr lang="es-ES">
              <a:latin typeface="Calibri"/>
              <a:ea typeface="Calibri"/>
              <a:cs typeface="Calibri"/>
            </a:endParaRPr>
          </a:p>
        </p:txBody>
      </p:sp>
    </p:spTree>
    <p:extLst>
      <p:ext uri="{BB962C8B-B14F-4D97-AF65-F5344CB8AC3E}">
        <p14:creationId xmlns:p14="http://schemas.microsoft.com/office/powerpoint/2010/main" val="309649927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4D418-43CF-B5D0-6B14-AE79BD4190A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CD67D0-3643-D167-2155-29D50597BDC8}"/>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ACCADBD0-FC5C-ADC6-92B3-4B8943DEAB92}"/>
              </a:ext>
            </a:extLst>
          </p:cNvPr>
          <p:cNvSpPr>
            <a:spLocks noGrp="1"/>
          </p:cNvSpPr>
          <p:nvPr>
            <p:ph idx="1"/>
          </p:nvPr>
        </p:nvSpPr>
        <p:spPr/>
        <p:txBody>
          <a:bodyPr vert="horz" lIns="91440" tIns="45720" rIns="91440" bIns="45720" rtlCol="0" anchor="t">
            <a:normAutofit fontScale="55000" lnSpcReduction="20000"/>
          </a:bodyPr>
          <a:lstStyle/>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n-US" dirty="0">
                <a:latin typeface="Consolas"/>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NombreSessionStorage</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nombre,setNombre</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 // Usamos </a:t>
            </a:r>
            <a:r>
              <a:rPr lang="es-ES" err="1">
                <a:latin typeface="Consolas"/>
                <a:ea typeface="+mn-lt"/>
                <a:cs typeface="+mn-lt"/>
              </a:rPr>
              <a:t>Effect</a:t>
            </a:r>
            <a:r>
              <a:rPr lang="es-ES" dirty="0">
                <a:latin typeface="Consolas"/>
                <a:ea typeface="+mn-lt"/>
                <a:cs typeface="+mn-lt"/>
              </a:rPr>
              <a:t> para cargar el nombre desde </a:t>
            </a:r>
            <a:r>
              <a:rPr lang="es-ES" err="1">
                <a:latin typeface="Consolas"/>
                <a:ea typeface="+mn-lt"/>
                <a:cs typeface="+mn-lt"/>
              </a:rPr>
              <a:t>SessionStorage</a:t>
            </a:r>
            <a:r>
              <a:rPr lang="es-ES" dirty="0">
                <a:latin typeface="Consolas"/>
                <a:ea typeface="+mn-lt"/>
                <a:cs typeface="+mn-lt"/>
              </a:rPr>
              <a:t> cuando se carga el componente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nombreGuardado</a:t>
            </a:r>
            <a:r>
              <a:rPr lang="es-ES" dirty="0">
                <a:latin typeface="Consolas"/>
                <a:ea typeface="+mn-lt"/>
                <a:cs typeface="+mn-lt"/>
              </a:rPr>
              <a:t>=</a:t>
            </a:r>
            <a:r>
              <a:rPr lang="es-ES" err="1">
                <a:latin typeface="Consolas"/>
                <a:ea typeface="+mn-lt"/>
                <a:cs typeface="+mn-lt"/>
              </a:rPr>
              <a:t>sessionStorage</a:t>
            </a:r>
            <a:r>
              <a:rPr lang="es-ES" sz="2000" err="1">
                <a:latin typeface="Consolas"/>
                <a:ea typeface="+mn-lt"/>
                <a:cs typeface="+mn-lt"/>
              </a:rPr>
              <a:t>.</a:t>
            </a:r>
            <a:r>
              <a:rPr lang="es-ES" err="1">
                <a:latin typeface="Consolas"/>
                <a:ea typeface="+mn-lt"/>
                <a:cs typeface="+mn-lt"/>
              </a:rPr>
              <a:t>getItem</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nuevoNombre</a:t>
            </a:r>
            <a:r>
              <a:rPr lang="es-ES" dirty="0">
                <a:latin typeface="Consolas"/>
                <a:ea typeface="+mn-lt"/>
                <a:cs typeface="+mn-lt"/>
              </a:rPr>
              <a:t>=</a:t>
            </a:r>
            <a:r>
              <a:rPr lang="es-ES" err="1">
                <a:latin typeface="Consolas"/>
                <a:ea typeface="+mn-lt"/>
                <a:cs typeface="+mn-lt"/>
              </a:rPr>
              <a:t>evt</a:t>
            </a:r>
            <a:r>
              <a:rPr lang="es-ES" sz="2000" err="1">
                <a:latin typeface="Consolas"/>
                <a:ea typeface="+mn-lt"/>
                <a:cs typeface="+mn-lt"/>
              </a:rPr>
              <a:t>.</a:t>
            </a:r>
            <a:r>
              <a:rPr lang="es-ES" err="1">
                <a:latin typeface="Consolas"/>
                <a:ea typeface="+mn-lt"/>
                <a:cs typeface="+mn-lt"/>
              </a:rPr>
              <a:t>target</a:t>
            </a:r>
            <a:r>
              <a:rPr lang="es-ES" sz="2000" err="1">
                <a:latin typeface="Consolas"/>
                <a:ea typeface="+mn-lt"/>
                <a:cs typeface="+mn-lt"/>
              </a:rPr>
              <a:t>.</a:t>
            </a:r>
            <a:r>
              <a:rPr lang="es-ES" err="1">
                <a:latin typeface="Consolas"/>
                <a:ea typeface="+mn-lt"/>
                <a:cs typeface="+mn-lt"/>
              </a:rPr>
              <a: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sessionStorage</a:t>
            </a:r>
            <a:r>
              <a:rPr lang="es-ES" sz="2000" err="1">
                <a:latin typeface="Consolas"/>
                <a:ea typeface="+mn-lt"/>
                <a:cs typeface="+mn-lt"/>
              </a:rPr>
              <a:t>.</a:t>
            </a:r>
            <a:r>
              <a:rPr lang="es-ES" err="1">
                <a:latin typeface="Consolas"/>
                <a:ea typeface="+mn-lt"/>
                <a:cs typeface="+mn-lt"/>
              </a:rPr>
              <a:t>setItem</a:t>
            </a:r>
            <a:r>
              <a:rPr lang="es-ES" dirty="0">
                <a:latin typeface="Consolas"/>
                <a:ea typeface="+mn-lt"/>
                <a:cs typeface="+mn-lt"/>
              </a:rPr>
              <a:t>('nombre',</a:t>
            </a:r>
            <a:r>
              <a:rPr lang="es-ES"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={nombre}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a:t>
            </a:r>
            <a:r>
              <a:rPr lang="es-ES" err="1">
                <a:latin typeface="Consolas"/>
                <a:ea typeface="+mn-lt"/>
                <a:cs typeface="+mn-lt"/>
              </a:rPr>
              <a:t>placeholder</a:t>
            </a:r>
            <a:r>
              <a:rPr lang="es-ES" dirty="0">
                <a:latin typeface="Consolas"/>
                <a:ea typeface="+mn-lt"/>
                <a:cs typeface="+mn-lt"/>
              </a:rPr>
              <a:t>="Escribe tu nombre" /&gt;</a:t>
            </a:r>
            <a:br>
              <a:rPr lang="es-ES" dirty="0">
                <a:latin typeface="Consolas"/>
                <a:ea typeface="+mn-lt"/>
                <a:cs typeface="+mn-lt"/>
              </a:rPr>
            </a:br>
            <a:r>
              <a:rPr lang="es-ES" dirty="0">
                <a:latin typeface="Consolas"/>
                <a:ea typeface="+mn-lt"/>
                <a:cs typeface="+mn-lt"/>
              </a:rPr>
              <a:t>            &lt;p&gt;Nombre guardado: {nombre}&lt;/p&gt;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a:t>
            </a:r>
            <a:r>
              <a:rPr lang="es-ES" err="1">
                <a:latin typeface="Consolas"/>
                <a:ea typeface="+mn-lt"/>
                <a:cs typeface="+mn-lt"/>
              </a:rPr>
              <a:t>NombreSessionStorage</a:t>
            </a:r>
            <a:r>
              <a:rPr lang="es-ES" dirty="0">
                <a:latin typeface="Consolas"/>
                <a:ea typeface="+mn-lt"/>
                <a:cs typeface="+mn-lt"/>
              </a:rPr>
              <a:t>;</a:t>
            </a:r>
            <a:endParaRPr lang="es-ES">
              <a:latin typeface="Consolas"/>
              <a:ea typeface="+mn-lt"/>
              <a:cs typeface="+mn-lt"/>
            </a:endParaRPr>
          </a:p>
        </p:txBody>
      </p:sp>
    </p:spTree>
    <p:extLst>
      <p:ext uri="{BB962C8B-B14F-4D97-AF65-F5344CB8AC3E}">
        <p14:creationId xmlns:p14="http://schemas.microsoft.com/office/powerpoint/2010/main" val="139272371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4406-351A-EA33-63C2-5C7F6511A5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DC6B801-9A6F-C24C-4FFB-913835F7C4D9}"/>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3A8F5498-099C-8200-F293-30A6A8A84281}"/>
              </a:ext>
            </a:extLst>
          </p:cNvPr>
          <p:cNvSpPr>
            <a:spLocks noGrp="1"/>
          </p:cNvSpPr>
          <p:nvPr>
            <p:ph idx="1"/>
          </p:nvPr>
        </p:nvSpPr>
        <p:spPr/>
        <p:txBody>
          <a:bodyPr vert="horz" lIns="91440" tIns="45720" rIns="91440" bIns="45720" rtlCol="0" anchor="t">
            <a:normAutofit fontScale="55000" lnSpcReduction="20000"/>
          </a:bodyPr>
          <a:lstStyle/>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NombreLocalStorage</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nombre,setNombre</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 // Usamos </a:t>
            </a:r>
            <a:r>
              <a:rPr lang="es-ES" err="1">
                <a:latin typeface="Consolas"/>
                <a:ea typeface="+mn-lt"/>
                <a:cs typeface="+mn-lt"/>
              </a:rPr>
              <a:t>Effect</a:t>
            </a:r>
            <a:r>
              <a:rPr lang="es-ES" dirty="0">
                <a:latin typeface="Consolas"/>
                <a:ea typeface="+mn-lt"/>
                <a:cs typeface="+mn-lt"/>
              </a:rPr>
              <a:t> para cargar el nombre desde </a:t>
            </a:r>
            <a:r>
              <a:rPr lang="es-ES" err="1">
                <a:latin typeface="Consolas"/>
                <a:ea typeface="+mn-lt"/>
                <a:cs typeface="+mn-lt"/>
              </a:rPr>
              <a:t>LocalStorage</a:t>
            </a:r>
            <a:r>
              <a:rPr lang="es-ES" dirty="0">
                <a:latin typeface="Consolas"/>
                <a:ea typeface="+mn-lt"/>
                <a:cs typeface="+mn-lt"/>
              </a:rPr>
              <a:t> cuando se carga el componente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nombreGuardado</a:t>
            </a:r>
            <a:r>
              <a:rPr lang="es-ES" dirty="0">
                <a:latin typeface="Consolas"/>
                <a:ea typeface="+mn-lt"/>
                <a:cs typeface="+mn-lt"/>
              </a:rPr>
              <a:t>=</a:t>
            </a:r>
            <a:r>
              <a:rPr lang="es-ES" err="1">
                <a:latin typeface="Consolas"/>
                <a:ea typeface="+mn-lt"/>
                <a:cs typeface="+mn-lt"/>
              </a:rPr>
              <a:t>localStorage</a:t>
            </a:r>
            <a:r>
              <a:rPr lang="es-ES" sz="2000" err="1">
                <a:latin typeface="Consolas"/>
                <a:ea typeface="+mn-lt"/>
                <a:cs typeface="+mn-lt"/>
              </a:rPr>
              <a:t>.</a:t>
            </a:r>
            <a:r>
              <a:rPr lang="es-ES" err="1">
                <a:latin typeface="Consolas"/>
                <a:ea typeface="+mn-lt"/>
                <a:cs typeface="+mn-lt"/>
              </a:rPr>
              <a:t>getItem</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nuevoNombre</a:t>
            </a:r>
            <a:r>
              <a:rPr lang="es-ES" dirty="0">
                <a:latin typeface="Consolas"/>
                <a:ea typeface="+mn-lt"/>
                <a:cs typeface="+mn-lt"/>
              </a:rPr>
              <a:t>=</a:t>
            </a:r>
            <a:r>
              <a:rPr lang="es-ES" err="1">
                <a:latin typeface="Consolas"/>
                <a:ea typeface="+mn-lt"/>
                <a:cs typeface="+mn-lt"/>
              </a:rPr>
              <a:t>evt</a:t>
            </a:r>
            <a:r>
              <a:rPr lang="es-ES" sz="2000" err="1">
                <a:latin typeface="Consolas"/>
                <a:ea typeface="+mn-lt"/>
                <a:cs typeface="+mn-lt"/>
              </a:rPr>
              <a:t>.</a:t>
            </a:r>
            <a:r>
              <a:rPr lang="es-ES" err="1">
                <a:latin typeface="Consolas"/>
                <a:ea typeface="+mn-lt"/>
                <a:cs typeface="+mn-lt"/>
              </a:rPr>
              <a:t>target</a:t>
            </a:r>
            <a:r>
              <a:rPr lang="es-ES" sz="2000" err="1">
                <a:latin typeface="Consolas"/>
                <a:ea typeface="+mn-lt"/>
                <a:cs typeface="+mn-lt"/>
              </a:rPr>
              <a:t>.</a:t>
            </a:r>
            <a:r>
              <a:rPr lang="es-ES" err="1">
                <a:latin typeface="Consolas"/>
                <a:ea typeface="+mn-lt"/>
                <a:cs typeface="+mn-lt"/>
              </a:rPr>
              <a: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sz="2000" err="1">
                <a:latin typeface="Consolas"/>
                <a:ea typeface="+mn-lt"/>
                <a:cs typeface="+mn-lt"/>
              </a:rPr>
              <a:t>localStorage.</a:t>
            </a:r>
            <a:r>
              <a:rPr lang="es-ES" err="1">
                <a:latin typeface="Consolas"/>
                <a:ea typeface="+mn-lt"/>
                <a:cs typeface="+mn-lt"/>
              </a:rPr>
              <a:t>setItem</a:t>
            </a:r>
            <a:r>
              <a:rPr lang="es-ES" dirty="0">
                <a:latin typeface="Consolas"/>
                <a:ea typeface="+mn-lt"/>
                <a:cs typeface="+mn-lt"/>
              </a:rPr>
              <a:t>('nombre',</a:t>
            </a:r>
            <a:r>
              <a:rPr lang="es-ES"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={nombre}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manejarCambio</a:t>
            </a:r>
            <a:r>
              <a:rPr lang="es-ES" dirty="0">
                <a:latin typeface="Consolas"/>
                <a:ea typeface="+mn-lt"/>
                <a:cs typeface="+mn-lt"/>
              </a:rPr>
              <a:t>} </a:t>
            </a:r>
            <a:r>
              <a:rPr lang="es-ES" err="1">
                <a:latin typeface="Consolas"/>
                <a:ea typeface="+mn-lt"/>
                <a:cs typeface="+mn-lt"/>
              </a:rPr>
              <a:t>placeholder</a:t>
            </a:r>
            <a:r>
              <a:rPr lang="es-ES" dirty="0">
                <a:latin typeface="Consolas"/>
                <a:ea typeface="+mn-lt"/>
                <a:cs typeface="+mn-lt"/>
              </a:rPr>
              <a:t>="Escribe tu nombre" /&gt;</a:t>
            </a:r>
            <a:br>
              <a:rPr lang="es-ES" dirty="0">
                <a:latin typeface="Consolas"/>
                <a:ea typeface="+mn-lt"/>
                <a:cs typeface="+mn-lt"/>
              </a:rPr>
            </a:br>
            <a:r>
              <a:rPr lang="es-ES" dirty="0">
                <a:latin typeface="Consolas"/>
                <a:ea typeface="+mn-lt"/>
                <a:cs typeface="+mn-lt"/>
              </a:rPr>
              <a:t>            &lt;p&gt;Nombre guardado: {nombre}&lt;/p&gt;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a:t>
            </a:r>
            <a:r>
              <a:rPr lang="es-ES" err="1">
                <a:latin typeface="Consolas"/>
                <a:ea typeface="+mn-lt"/>
                <a:cs typeface="+mn-lt"/>
              </a:rPr>
              <a:t>NombreLocalStorage</a:t>
            </a:r>
            <a:r>
              <a:rPr lang="es-ES" dirty="0">
                <a:latin typeface="Consolas"/>
                <a:ea typeface="+mn-lt"/>
                <a:cs typeface="+mn-lt"/>
              </a:rPr>
              <a:t>;</a:t>
            </a:r>
            <a:endParaRPr lang="es-ES">
              <a:latin typeface="Consolas"/>
              <a:ea typeface="+mn-lt"/>
              <a:cs typeface="+mn-lt"/>
            </a:endParaRPr>
          </a:p>
        </p:txBody>
      </p:sp>
    </p:spTree>
    <p:extLst>
      <p:ext uri="{BB962C8B-B14F-4D97-AF65-F5344CB8AC3E}">
        <p14:creationId xmlns:p14="http://schemas.microsoft.com/office/powerpoint/2010/main" val="4612473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10F19-3BCE-22D5-015C-CCB526B06B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FBC610-99A9-0563-3463-0330ECD7A3CF}"/>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0F511D54-639C-899C-A2A5-648DA9C97CB9}"/>
              </a:ext>
            </a:extLst>
          </p:cNvPr>
          <p:cNvSpPr>
            <a:spLocks noGrp="1"/>
          </p:cNvSpPr>
          <p:nvPr>
            <p:ph idx="1"/>
          </p:nvPr>
        </p:nvSpPr>
        <p:spPr/>
        <p:txBody>
          <a:bodyPr vert="horz" lIns="91440" tIns="45720" rIns="91440" bIns="45720" rtlCol="0" anchor="t">
            <a:normAutofit fontScale="70000" lnSpcReduction="20000"/>
          </a:bodyPr>
          <a:lstStyle/>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n-US" dirty="0">
                <a:latin typeface="Consolas"/>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NombreLocalStorageActualizado</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nombre,setNombre</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 // Usamos </a:t>
            </a:r>
            <a:r>
              <a:rPr lang="es-ES" err="1">
                <a:latin typeface="Consolas"/>
                <a:ea typeface="+mn-lt"/>
                <a:cs typeface="+mn-lt"/>
              </a:rPr>
              <a:t>Effect</a:t>
            </a:r>
            <a:r>
              <a:rPr lang="es-ES" dirty="0">
                <a:latin typeface="Consolas"/>
                <a:ea typeface="+mn-lt"/>
                <a:cs typeface="+mn-lt"/>
              </a:rPr>
              <a:t> para cargar el nombre desde </a:t>
            </a:r>
            <a:r>
              <a:rPr lang="es-ES" err="1">
                <a:latin typeface="Consolas"/>
                <a:ea typeface="+mn-lt"/>
                <a:cs typeface="+mn-lt"/>
              </a:rPr>
              <a:t>LocalStorage</a:t>
            </a:r>
            <a:r>
              <a:rPr lang="es-ES" dirty="0">
                <a:latin typeface="Consolas"/>
                <a:ea typeface="+mn-lt"/>
                <a:cs typeface="+mn-lt"/>
              </a:rPr>
              <a:t> cuando se carga el componente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nombreGuardado</a:t>
            </a:r>
            <a:r>
              <a:rPr lang="es-ES" dirty="0">
                <a:latin typeface="Consolas"/>
                <a:ea typeface="+mn-lt"/>
                <a:cs typeface="+mn-lt"/>
              </a:rPr>
              <a:t>=</a:t>
            </a:r>
            <a:r>
              <a:rPr lang="es-ES" err="1">
                <a:latin typeface="Consolas"/>
                <a:ea typeface="+mn-lt"/>
                <a:cs typeface="+mn-lt"/>
              </a:rPr>
              <a:t>localStorage</a:t>
            </a:r>
            <a:r>
              <a:rPr lang="es-ES" sz="2000" err="1">
                <a:latin typeface="Consolas"/>
                <a:ea typeface="+mn-lt"/>
                <a:cs typeface="+mn-lt"/>
              </a:rPr>
              <a:t>.</a:t>
            </a:r>
            <a:r>
              <a:rPr lang="es-ES" err="1">
                <a:latin typeface="Consolas"/>
                <a:ea typeface="+mn-lt"/>
                <a:cs typeface="+mn-lt"/>
              </a:rPr>
              <a:t>getItem</a:t>
            </a:r>
            <a:r>
              <a:rPr lang="es-ES" dirty="0">
                <a:latin typeface="Consolas"/>
                <a:ea typeface="+mn-lt"/>
                <a:cs typeface="+mn-lt"/>
              </a:rPr>
              <a:t>('nombre');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nombreGuardado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//Manejamos el evento de almacenamiento para que se actualice entre ventanas</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manejarCambioStorage</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evt</a:t>
            </a:r>
            <a:r>
              <a:rPr lang="es-ES" sz="2000" err="1">
                <a:latin typeface="Consolas"/>
                <a:ea typeface="+mn-lt"/>
                <a:cs typeface="+mn-lt"/>
              </a:rPr>
              <a:t>.</a:t>
            </a:r>
            <a:r>
              <a:rPr lang="es-ES" err="1">
                <a:latin typeface="Consolas"/>
                <a:ea typeface="+mn-lt"/>
                <a:cs typeface="+mn-lt"/>
              </a:rPr>
              <a:t>key</a:t>
            </a:r>
            <a:r>
              <a:rPr lang="es-ES" dirty="0">
                <a:latin typeface="Consolas"/>
                <a:ea typeface="+mn-lt"/>
                <a:cs typeface="+mn-lt"/>
              </a:rPr>
              <a:t> === 'nombre'){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setNombre</a:t>
            </a:r>
            <a:r>
              <a:rPr lang="es-ES" dirty="0">
                <a:latin typeface="Consolas"/>
                <a:ea typeface="+mn-lt"/>
                <a:cs typeface="+mn-lt"/>
              </a:rPr>
              <a:t>(</a:t>
            </a:r>
            <a:r>
              <a:rPr lang="es-ES" err="1">
                <a:latin typeface="Consolas"/>
                <a:ea typeface="+mn-lt"/>
                <a:cs typeface="+mn-lt"/>
              </a:rPr>
              <a:t>evt.newValue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window</a:t>
            </a:r>
            <a:r>
              <a:rPr lang="es-ES" sz="2000" err="1">
                <a:latin typeface="Consolas"/>
                <a:ea typeface="+mn-lt"/>
                <a:cs typeface="+mn-lt"/>
              </a:rPr>
              <a:t>.</a:t>
            </a:r>
            <a:r>
              <a:rPr lang="es-ES" err="1">
                <a:latin typeface="Consolas"/>
                <a:ea typeface="+mn-lt"/>
                <a:cs typeface="+mn-lt"/>
              </a:rPr>
              <a:t>addEventListener</a:t>
            </a:r>
            <a:r>
              <a:rPr lang="es-ES" dirty="0">
                <a:latin typeface="Consolas"/>
                <a:ea typeface="+mn-lt"/>
                <a:cs typeface="+mn-lt"/>
              </a:rPr>
              <a:t>('</a:t>
            </a:r>
            <a:r>
              <a:rPr lang="es-ES" err="1">
                <a:latin typeface="Consolas"/>
                <a:ea typeface="+mn-lt"/>
                <a:cs typeface="+mn-lt"/>
              </a:rPr>
              <a:t>storage</a:t>
            </a:r>
            <a:r>
              <a:rPr lang="es-ES" dirty="0">
                <a:latin typeface="Consolas"/>
                <a:ea typeface="+mn-lt"/>
                <a:cs typeface="+mn-lt"/>
              </a:rPr>
              <a:t>',</a:t>
            </a:r>
            <a:r>
              <a:rPr lang="es-ES" err="1">
                <a:latin typeface="Consolas"/>
                <a:ea typeface="+mn-lt"/>
                <a:cs typeface="+mn-lt"/>
              </a:rPr>
              <a:t>manejarCambioStorage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window.removeEventListener</a:t>
            </a:r>
            <a:r>
              <a:rPr lang="es-ES" dirty="0">
                <a:latin typeface="Consolas"/>
                <a:ea typeface="+mn-lt"/>
                <a:cs typeface="+mn-lt"/>
              </a:rPr>
              <a:t>('</a:t>
            </a:r>
            <a:r>
              <a:rPr lang="es-ES" err="1">
                <a:latin typeface="Consolas"/>
                <a:ea typeface="+mn-lt"/>
                <a:cs typeface="+mn-lt"/>
              </a:rPr>
              <a:t>storage</a:t>
            </a:r>
            <a:r>
              <a:rPr lang="es-ES" dirty="0">
                <a:latin typeface="Consolas"/>
                <a:ea typeface="+mn-lt"/>
                <a:cs typeface="+mn-lt"/>
              </a:rPr>
              <a:t>',</a:t>
            </a:r>
            <a:r>
              <a:rPr lang="es-ES" err="1">
                <a:latin typeface="Consolas"/>
                <a:ea typeface="+mn-lt"/>
                <a:cs typeface="+mn-lt"/>
              </a:rPr>
              <a:t>manejarCambioStorage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endParaRPr lang="es-ES" dirty="0">
              <a:latin typeface="Consolas"/>
            </a:endParaRPr>
          </a:p>
        </p:txBody>
      </p:sp>
    </p:spTree>
    <p:extLst>
      <p:ext uri="{BB962C8B-B14F-4D97-AF65-F5344CB8AC3E}">
        <p14:creationId xmlns:p14="http://schemas.microsoft.com/office/powerpoint/2010/main" val="82767581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35F8D-9EDE-0274-CA79-3688AD43E5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F22E1EC-550F-763A-0BA1-C24320B997FB}"/>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Almacenamiento en </a:t>
            </a:r>
            <a:r>
              <a:rPr lang="es-ES" err="1">
                <a:latin typeface="Calibri"/>
                <a:ea typeface="Calibri"/>
                <a:cs typeface="Calibri"/>
              </a:rPr>
              <a:t>localStorage</a:t>
            </a:r>
            <a:r>
              <a:rPr lang="es-ES">
                <a:latin typeface="Calibri"/>
                <a:ea typeface="Calibri"/>
                <a:cs typeface="Calibri"/>
              </a:rPr>
              <a:t> y </a:t>
            </a:r>
            <a:r>
              <a:rPr lang="es-ES" err="1">
                <a:latin typeface="Calibri"/>
                <a:ea typeface="Calibri"/>
                <a:cs typeface="Calibri"/>
              </a:rPr>
              <a:t>sessionStorage</a:t>
            </a:r>
            <a:r>
              <a:rPr lang="es-ES">
                <a:latin typeface="Calibri"/>
                <a:ea typeface="Calibri"/>
                <a:cs typeface="Calibri"/>
              </a:rPr>
              <a:t>.</a:t>
            </a:r>
          </a:p>
        </p:txBody>
      </p:sp>
      <p:sp>
        <p:nvSpPr>
          <p:cNvPr id="3" name="Marcador de contenido 2">
            <a:extLst>
              <a:ext uri="{FF2B5EF4-FFF2-40B4-BE49-F238E27FC236}">
                <a16:creationId xmlns:a16="http://schemas.microsoft.com/office/drawing/2014/main" id="{E48F1381-5357-0719-198D-146378A32D83}"/>
              </a:ext>
            </a:extLst>
          </p:cNvPr>
          <p:cNvSpPr>
            <a:spLocks noGrp="1"/>
          </p:cNvSpPr>
          <p:nvPr>
            <p:ph idx="1"/>
          </p:nvPr>
        </p:nvSpPr>
        <p:spPr/>
        <p:txBody>
          <a:bodyPr vert="horz" lIns="91440" tIns="45720" rIns="91440" bIns="45720" rtlCol="0" anchor="t">
            <a:normAutofit fontScale="92500" lnSpcReduction="20000"/>
          </a:bodyPr>
          <a:lstStyle/>
          <a:p>
            <a:r>
              <a:rPr lang="es-ES" dirty="0">
                <a:latin typeface="Consolas"/>
                <a:ea typeface="+mn-lt"/>
                <a:cs typeface="+mn-lt"/>
              </a:rPr>
              <a:t>    </a:t>
            </a:r>
            <a:r>
              <a:rPr lang="es-ES" dirty="0" err="1">
                <a:latin typeface="Consolas"/>
                <a:ea typeface="+mn-lt"/>
                <a:cs typeface="+mn-lt"/>
              </a:rPr>
              <a:t>const</a:t>
            </a:r>
            <a:r>
              <a:rPr lang="es-ES" dirty="0">
                <a:latin typeface="Consolas"/>
                <a:ea typeface="+mn-lt"/>
                <a:cs typeface="+mn-lt"/>
              </a:rPr>
              <a:t> </a:t>
            </a:r>
            <a:r>
              <a:rPr lang="es-ES" dirty="0" err="1">
                <a:latin typeface="Consolas"/>
                <a:ea typeface="+mn-lt"/>
                <a:cs typeface="+mn-lt"/>
              </a:rPr>
              <a:t>manejarCambio</a:t>
            </a:r>
            <a:r>
              <a:rPr lang="es-ES" dirty="0">
                <a:latin typeface="Consolas"/>
                <a:ea typeface="+mn-lt"/>
                <a:cs typeface="+mn-lt"/>
              </a:rPr>
              <a:t>=(</a:t>
            </a:r>
            <a:r>
              <a:rPr lang="es-ES" dirty="0"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const</a:t>
            </a:r>
            <a:r>
              <a:rPr lang="es-ES" dirty="0">
                <a:latin typeface="Consolas"/>
                <a:ea typeface="+mn-lt"/>
                <a:cs typeface="+mn-lt"/>
              </a:rPr>
              <a:t> </a:t>
            </a:r>
            <a:r>
              <a:rPr lang="es-ES" dirty="0" err="1">
                <a:latin typeface="Consolas"/>
                <a:ea typeface="+mn-lt"/>
                <a:cs typeface="+mn-lt"/>
              </a:rPr>
              <a:t>nuevoNombre</a:t>
            </a:r>
            <a:r>
              <a:rPr lang="es-ES" dirty="0">
                <a:latin typeface="Consolas"/>
                <a:ea typeface="+mn-lt"/>
                <a:cs typeface="+mn-lt"/>
              </a:rPr>
              <a:t>=</a:t>
            </a:r>
            <a:r>
              <a:rPr lang="es-ES" dirty="0" err="1">
                <a:latin typeface="Consolas"/>
                <a:ea typeface="+mn-lt"/>
                <a:cs typeface="+mn-lt"/>
              </a:rPr>
              <a:t>evt</a:t>
            </a:r>
            <a:r>
              <a:rPr lang="es-ES" sz="2000" dirty="0" err="1">
                <a:latin typeface="Consolas"/>
                <a:ea typeface="+mn-lt"/>
                <a:cs typeface="+mn-lt"/>
              </a:rPr>
              <a:t>.</a:t>
            </a:r>
            <a:r>
              <a:rPr lang="es-ES" dirty="0" err="1">
                <a:latin typeface="Consolas"/>
                <a:ea typeface="+mn-lt"/>
                <a:cs typeface="+mn-lt"/>
              </a:rPr>
              <a: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setNombre</a:t>
            </a:r>
            <a:r>
              <a:rPr lang="es-ES" dirty="0">
                <a:latin typeface="Consolas"/>
                <a:ea typeface="+mn-lt"/>
                <a:cs typeface="+mn-lt"/>
              </a:rPr>
              <a:t>(</a:t>
            </a:r>
            <a:r>
              <a:rPr lang="es-ES" dirty="0"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localStorage</a:t>
            </a:r>
            <a:r>
              <a:rPr lang="es-ES" sz="2000" dirty="0" err="1">
                <a:latin typeface="Consolas"/>
                <a:ea typeface="+mn-lt"/>
                <a:cs typeface="+mn-lt"/>
              </a:rPr>
              <a:t>.</a:t>
            </a:r>
            <a:r>
              <a:rPr lang="es-ES" dirty="0" err="1">
                <a:latin typeface="Consolas"/>
                <a:ea typeface="+mn-lt"/>
                <a:cs typeface="+mn-lt"/>
              </a:rPr>
              <a:t>setItem</a:t>
            </a:r>
            <a:r>
              <a:rPr lang="es-ES" dirty="0">
                <a:latin typeface="Consolas"/>
                <a:ea typeface="+mn-lt"/>
                <a:cs typeface="+mn-lt"/>
              </a:rPr>
              <a:t>('nombre',</a:t>
            </a:r>
            <a:r>
              <a:rPr lang="es-ES" dirty="0" err="1">
                <a:latin typeface="Consolas"/>
                <a:ea typeface="+mn-lt"/>
                <a:cs typeface="+mn-lt"/>
              </a:rPr>
              <a:t>nuevoNombre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&lt;div&gt;</a:t>
            </a:r>
            <a:br>
              <a:rPr lang="es-ES" dirty="0">
                <a:latin typeface="Consolas"/>
                <a:ea typeface="+mn-lt"/>
                <a:cs typeface="+mn-lt"/>
              </a:rPr>
            </a:br>
            <a:r>
              <a:rPr lang="es-ES" dirty="0">
                <a:latin typeface="Consolas"/>
                <a:ea typeface="+mn-lt"/>
                <a:cs typeface="+mn-lt"/>
              </a:rPr>
              <a:t>            &lt;input </a:t>
            </a:r>
            <a:r>
              <a:rPr lang="es-ES" dirty="0" err="1">
                <a:latin typeface="Consolas"/>
                <a:ea typeface="+mn-lt"/>
                <a:cs typeface="+mn-lt"/>
              </a:rPr>
              <a:t>type</a:t>
            </a:r>
            <a:r>
              <a:rPr lang="es-ES" dirty="0">
                <a:latin typeface="Consolas"/>
                <a:ea typeface="+mn-lt"/>
                <a:cs typeface="+mn-lt"/>
              </a:rPr>
              <a:t>="</a:t>
            </a:r>
            <a:r>
              <a:rPr lang="es-ES" dirty="0" err="1">
                <a:latin typeface="Consolas"/>
                <a:ea typeface="+mn-lt"/>
                <a:cs typeface="+mn-lt"/>
              </a:rPr>
              <a:t>text</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={nombre}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manejarCambio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placeholder</a:t>
            </a:r>
            <a:r>
              <a:rPr lang="es-ES" dirty="0">
                <a:latin typeface="Consolas"/>
                <a:ea typeface="+mn-lt"/>
                <a:cs typeface="+mn-lt"/>
              </a:rPr>
              <a:t>="Escribe tu nombre" /&gt;</a:t>
            </a:r>
            <a:br>
              <a:rPr lang="es-ES" dirty="0">
                <a:latin typeface="Consolas"/>
                <a:ea typeface="+mn-lt"/>
                <a:cs typeface="+mn-lt"/>
              </a:rPr>
            </a:br>
            <a:r>
              <a:rPr lang="es-ES" dirty="0">
                <a:latin typeface="Consolas"/>
                <a:ea typeface="+mn-lt"/>
                <a:cs typeface="+mn-lt"/>
              </a:rPr>
              <a:t>            &lt;p&gt;Nombre guardado: {nombre}&lt;/p&gt;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export</a:t>
            </a:r>
            <a:r>
              <a:rPr lang="es-ES" dirty="0">
                <a:latin typeface="Consolas"/>
                <a:ea typeface="+mn-lt"/>
                <a:cs typeface="+mn-lt"/>
              </a:rPr>
              <a:t> default </a:t>
            </a:r>
            <a:r>
              <a:rPr lang="es-ES" dirty="0" err="1">
                <a:latin typeface="Consolas"/>
                <a:ea typeface="+mn-lt"/>
                <a:cs typeface="+mn-lt"/>
              </a:rPr>
              <a:t>NombreLocalStorageActualizado</a:t>
            </a:r>
            <a:r>
              <a:rPr lang="es-ES" dirty="0">
                <a:latin typeface="Consolas"/>
                <a:ea typeface="+mn-lt"/>
                <a:cs typeface="+mn-lt"/>
              </a:rPr>
              <a:t>;</a:t>
            </a:r>
            <a:endParaRPr lang="es-ES">
              <a:latin typeface="Consolas"/>
            </a:endParaRPr>
          </a:p>
        </p:txBody>
      </p:sp>
    </p:spTree>
    <p:extLst>
      <p:ext uri="{BB962C8B-B14F-4D97-AF65-F5344CB8AC3E}">
        <p14:creationId xmlns:p14="http://schemas.microsoft.com/office/powerpoint/2010/main" val="93078305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565B2-35BA-6853-5D07-B7E572A97BD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1A814C-9705-29F2-53A3-9818EC47F14C}"/>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Manejo básico de autenticación con tokens JWT</a:t>
            </a:r>
          </a:p>
        </p:txBody>
      </p:sp>
      <p:sp>
        <p:nvSpPr>
          <p:cNvPr id="3" name="Marcador de contenido 2">
            <a:extLst>
              <a:ext uri="{FF2B5EF4-FFF2-40B4-BE49-F238E27FC236}">
                <a16:creationId xmlns:a16="http://schemas.microsoft.com/office/drawing/2014/main" id="{B860DD5F-C637-E907-0103-F2D91520E825}"/>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ea typeface="+mn-lt"/>
                <a:cs typeface="+mn-lt"/>
              </a:rPr>
              <a:t>La autenticación basada en tokens es una técnica común para autenticar usuarios en aplicaciones web. Se utilizan tokens, como JSON Web Tokens (JWT), para verificar la identidad del usuario y permitir el acceso a recursos protegidos. Sigue los siguientes pasos:</a:t>
            </a:r>
          </a:p>
          <a:p>
            <a:pPr marL="617220" lvl="1" indent="-342900">
              <a:buFont typeface="Courier New"/>
              <a:buChar char="o"/>
            </a:pPr>
            <a:r>
              <a:rPr lang="es-ES">
                <a:ea typeface="+mn-lt"/>
                <a:cs typeface="+mn-lt"/>
              </a:rPr>
              <a:t>Inicio de Sesión:</a:t>
            </a:r>
          </a:p>
          <a:p>
            <a:pPr marL="891540" lvl="3">
              <a:buFont typeface="Arial"/>
              <a:buChar char="•"/>
            </a:pPr>
            <a:r>
              <a:rPr lang="es-ES">
                <a:ea typeface="+mn-lt"/>
                <a:cs typeface="+mn-lt"/>
              </a:rPr>
              <a:t>El usuario envía sus credenciales (nombre de usuario y contraseña) al servidor.</a:t>
            </a:r>
          </a:p>
          <a:p>
            <a:pPr marL="891540" lvl="3">
              <a:buFont typeface="Arial"/>
              <a:buChar char="•"/>
            </a:pPr>
            <a:r>
              <a:rPr lang="es-ES">
                <a:ea typeface="+mn-lt"/>
                <a:cs typeface="+mn-lt"/>
              </a:rPr>
              <a:t>El servidor verifica las credenciales y, si son válidas, genera un token de autenticación (por ejemplo, un JWT) y lo envía al cliente.</a:t>
            </a:r>
          </a:p>
          <a:p>
            <a:pPr marL="617220" lvl="2" indent="-342900">
              <a:buFont typeface="Courier New"/>
              <a:buChar char="o"/>
            </a:pPr>
            <a:r>
              <a:rPr lang="es-ES">
                <a:ea typeface="+mn-lt"/>
                <a:cs typeface="+mn-lt"/>
              </a:rPr>
              <a:t>Almacenamiento del Token:</a:t>
            </a:r>
          </a:p>
          <a:p>
            <a:pPr marL="891540" lvl="3">
              <a:buFont typeface="Arial"/>
              <a:buChar char="•"/>
            </a:pPr>
            <a:r>
              <a:rPr lang="es-ES">
                <a:ea typeface="+mn-lt"/>
                <a:cs typeface="+mn-lt"/>
              </a:rPr>
              <a:t>El cliente almacena el token en </a:t>
            </a:r>
            <a:r>
              <a:rPr lang="es-ES" err="1">
                <a:ea typeface="+mn-lt"/>
                <a:cs typeface="+mn-lt"/>
              </a:rPr>
              <a:t>localStorage</a:t>
            </a:r>
            <a:r>
              <a:rPr lang="es-ES">
                <a:ea typeface="+mn-lt"/>
                <a:cs typeface="+mn-lt"/>
              </a:rPr>
              <a:t> o </a:t>
            </a:r>
            <a:r>
              <a:rPr lang="es-ES" err="1">
                <a:ea typeface="+mn-lt"/>
                <a:cs typeface="+mn-lt"/>
              </a:rPr>
              <a:t>sessionStorage</a:t>
            </a:r>
            <a:r>
              <a:rPr lang="es-ES">
                <a:ea typeface="+mn-lt"/>
                <a:cs typeface="+mn-lt"/>
              </a:rPr>
              <a:t>.</a:t>
            </a:r>
          </a:p>
          <a:p>
            <a:pPr marL="617220" lvl="2" indent="-342900">
              <a:buFont typeface="Courier New"/>
              <a:buChar char="o"/>
            </a:pPr>
            <a:r>
              <a:rPr lang="es-ES">
                <a:ea typeface="+mn-lt"/>
                <a:cs typeface="+mn-lt"/>
              </a:rPr>
              <a:t>Acceso a Recursos Protegidos:</a:t>
            </a:r>
          </a:p>
          <a:p>
            <a:pPr marL="891540" lvl="3">
              <a:buFont typeface="Arial"/>
              <a:buChar char="•"/>
            </a:pPr>
            <a:r>
              <a:rPr lang="es-ES">
                <a:ea typeface="+mn-lt"/>
                <a:cs typeface="+mn-lt"/>
              </a:rPr>
              <a:t>Para acceder a recursos protegidos, el cliente envía el token en el encabezado de autorización de cada solicitud.</a:t>
            </a:r>
          </a:p>
          <a:p>
            <a:pPr marL="891540" lvl="3">
              <a:buFont typeface="Arial"/>
              <a:buChar char="•"/>
            </a:pPr>
            <a:r>
              <a:rPr lang="es-ES">
                <a:ea typeface="+mn-lt"/>
                <a:cs typeface="+mn-lt"/>
              </a:rPr>
              <a:t>El servidor verifica el token y, si es válido, permite el acceso al recurso.</a:t>
            </a:r>
            <a:endParaRPr lang="es-ES"/>
          </a:p>
        </p:txBody>
      </p:sp>
    </p:spTree>
    <p:extLst>
      <p:ext uri="{BB962C8B-B14F-4D97-AF65-F5344CB8AC3E}">
        <p14:creationId xmlns:p14="http://schemas.microsoft.com/office/powerpoint/2010/main" val="309216805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0162F-D4A2-BD91-3A79-5A2F6732A7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5BBD45D-40D7-C095-75EF-A8162F6A6A8D}"/>
              </a:ext>
            </a:extLst>
          </p:cNvPr>
          <p:cNvSpPr>
            <a:spLocks noGrp="1"/>
          </p:cNvSpPr>
          <p:nvPr>
            <p:ph type="title"/>
          </p:nvPr>
        </p:nvSpPr>
        <p:spPr/>
        <p:txBody>
          <a:bodyPr>
            <a:normAutofit/>
          </a:bodyPr>
          <a:lstStyle/>
          <a:p>
            <a:r>
              <a:rPr lang="es-ES" dirty="0">
                <a:latin typeface="Calibri"/>
                <a:ea typeface="Calibri"/>
                <a:cs typeface="Calibri"/>
              </a:rPr>
              <a:t>Medidas de </a:t>
            </a:r>
            <a:r>
              <a:rPr lang="es-ES" dirty="0" err="1">
                <a:latin typeface="Calibri"/>
                <a:ea typeface="Calibri"/>
                <a:cs typeface="Calibri"/>
              </a:rPr>
              <a:t>securización</a:t>
            </a:r>
            <a:r>
              <a:rPr lang="es-ES" dirty="0">
                <a:latin typeface="Calibri"/>
                <a:ea typeface="Calibri"/>
                <a:cs typeface="Calibri"/>
              </a:rPr>
              <a:t> y gestión de datos de sesión. Ejemplo autenticación con JWT.</a:t>
            </a:r>
          </a:p>
        </p:txBody>
      </p:sp>
      <p:sp>
        <p:nvSpPr>
          <p:cNvPr id="3" name="Marcador de contenido 2">
            <a:extLst>
              <a:ext uri="{FF2B5EF4-FFF2-40B4-BE49-F238E27FC236}">
                <a16:creationId xmlns:a16="http://schemas.microsoft.com/office/drawing/2014/main" id="{FAAC05B0-49F4-AB4F-B00A-036B51A4A026}"/>
              </a:ext>
            </a:extLst>
          </p:cNvPr>
          <p:cNvSpPr>
            <a:spLocks noGrp="1"/>
          </p:cNvSpPr>
          <p:nvPr>
            <p:ph idx="1"/>
          </p:nvPr>
        </p:nvSpPr>
        <p:spPr/>
        <p:txBody>
          <a:bodyPr vert="horz" lIns="91440" tIns="45720" rIns="91440" bIns="45720" rtlCol="0" anchor="t">
            <a:normAutofit fontScale="55000" lnSpcReduction="20000"/>
          </a:bodyPr>
          <a:lstStyle/>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DatosProtegidos</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datos,setDatos</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r>
              <a:rPr lang="es-ES" err="1">
                <a:latin typeface="Consolas"/>
                <a:ea typeface="+mn-lt"/>
                <a:cs typeface="+mn-lt"/>
              </a:rPr>
              <a:t>null</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error,setError</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token = </a:t>
            </a:r>
            <a:r>
              <a:rPr lang="es-ES" err="1">
                <a:latin typeface="Consolas"/>
                <a:ea typeface="+mn-lt"/>
                <a:cs typeface="+mn-lt"/>
              </a:rPr>
              <a:t>localStorage.getItem</a:t>
            </a:r>
            <a:r>
              <a:rPr lang="es-ES" dirty="0">
                <a:latin typeface="Consolas"/>
                <a:ea typeface="+mn-lt"/>
                <a:cs typeface="+mn-lt"/>
              </a:rPr>
              <a:t>('</a:t>
            </a:r>
            <a:r>
              <a:rPr lang="es-ES" err="1">
                <a:latin typeface="Consolas"/>
                <a:ea typeface="+mn-lt"/>
                <a:cs typeface="+mn-lt"/>
              </a:rPr>
              <a:t>access_token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fetch</a:t>
            </a:r>
            <a:r>
              <a:rPr lang="es-ES" dirty="0">
                <a:latin typeface="Consolas"/>
                <a:ea typeface="+mn-lt"/>
                <a:cs typeface="+mn-lt"/>
              </a:rPr>
              <a:t>('http://localhost:8000/api/</a:t>
            </a:r>
            <a:r>
              <a:rPr lang="es-ES" err="1">
                <a:latin typeface="Consolas"/>
                <a:ea typeface="+mn-lt"/>
                <a:cs typeface="+mn-lt"/>
              </a:rPr>
              <a:t>quiensoy</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headers</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Authorization</a:t>
            </a:r>
            <a:r>
              <a:rPr lang="es-ES" dirty="0">
                <a:latin typeface="Consolas"/>
                <a:ea typeface="+mn-lt"/>
                <a:cs typeface="+mn-lt"/>
              </a:rPr>
              <a:t>': `</a:t>
            </a:r>
            <a:r>
              <a:rPr lang="es-ES" err="1">
                <a:latin typeface="Consolas"/>
                <a:ea typeface="+mn-lt"/>
                <a:cs typeface="+mn-lt"/>
              </a:rPr>
              <a:t>Bearer</a:t>
            </a:r>
            <a:r>
              <a:rPr lang="es-ES" dirty="0">
                <a:latin typeface="Consolas"/>
                <a:ea typeface="+mn-lt"/>
                <a:cs typeface="+mn-lt"/>
              </a:rPr>
              <a:t> ${token}`</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then</a:t>
            </a:r>
            <a:r>
              <a:rPr lang="es-ES" dirty="0">
                <a:latin typeface="Consolas"/>
                <a:ea typeface="+mn-lt"/>
                <a:cs typeface="+mn-lt"/>
              </a:rPr>
              <a:t>(response =&gt; </a:t>
            </a:r>
            <a:r>
              <a:rPr lang="es-ES" err="1">
                <a:latin typeface="Consolas"/>
                <a:ea typeface="+mn-lt"/>
                <a:cs typeface="+mn-lt"/>
              </a:rPr>
              <a:t>response.json</a:t>
            </a:r>
            <a:r>
              <a:rPr lang="es-ES" dirty="0">
                <a:latin typeface="Consolas"/>
                <a:ea typeface="+mn-lt"/>
                <a:cs typeface="+mn-lt"/>
              </a:rPr>
              <a:t>().</a:t>
            </a:r>
            <a:r>
              <a:rPr lang="es-ES" err="1">
                <a:latin typeface="Consolas"/>
                <a:ea typeface="+mn-lt"/>
                <a:cs typeface="+mn-lt"/>
              </a:rPr>
              <a:t>then</a:t>
            </a:r>
            <a:r>
              <a:rPr lang="es-ES" dirty="0">
                <a:latin typeface="Consolas"/>
                <a:ea typeface="+mn-lt"/>
                <a:cs typeface="+mn-lt"/>
              </a:rPr>
              <a:t>(datos=&gt;({datos, response})))</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then</a:t>
            </a:r>
            <a:r>
              <a:rPr lang="es-ES" dirty="0">
                <a:latin typeface="Consolas"/>
                <a:ea typeface="+mn-lt"/>
                <a:cs typeface="+mn-lt"/>
              </a:rPr>
              <a:t>(({</a:t>
            </a:r>
            <a:r>
              <a:rPr lang="es-ES" err="1">
                <a:latin typeface="Consolas"/>
                <a:ea typeface="+mn-lt"/>
                <a:cs typeface="+mn-lt"/>
              </a:rPr>
              <a:t>datos,response</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response.ok</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setDatos</a:t>
            </a:r>
            <a:r>
              <a:rPr lang="es-ES" dirty="0">
                <a:latin typeface="Consolas"/>
                <a:ea typeface="+mn-lt"/>
                <a:cs typeface="+mn-lt"/>
              </a:rPr>
              <a:t>(datos);</a:t>
            </a:r>
            <a:br>
              <a:rPr lang="es-ES" dirty="0">
                <a:latin typeface="Consolas"/>
                <a:ea typeface="+mn-lt"/>
                <a:cs typeface="+mn-lt"/>
              </a:rPr>
            </a:br>
            <a:r>
              <a:rPr lang="es-ES" dirty="0">
                <a:latin typeface="Consolas"/>
                <a:ea typeface="+mn-lt"/>
                <a:cs typeface="+mn-lt"/>
              </a:rPr>
              <a:t>            } </a:t>
            </a:r>
            <a:r>
              <a:rPr lang="es-ES" err="1">
                <a:latin typeface="Consolas"/>
                <a:ea typeface="+mn-lt"/>
                <a:cs typeface="+mn-lt"/>
              </a:rPr>
              <a:t>else</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setError</a:t>
            </a:r>
            <a:r>
              <a:rPr lang="es-ES" dirty="0">
                <a:latin typeface="Consolas"/>
                <a:ea typeface="+mn-lt"/>
                <a:cs typeface="+mn-lt"/>
              </a:rPr>
              <a:t>(</a:t>
            </a:r>
            <a:r>
              <a:rPr lang="es-ES" err="1">
                <a:latin typeface="Consolas"/>
                <a:ea typeface="+mn-lt"/>
                <a:cs typeface="+mn-lt"/>
              </a:rPr>
              <a:t>datos.message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.catch(error =&gt;{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setError</a:t>
            </a:r>
            <a:r>
              <a:rPr lang="es-ES" dirty="0">
                <a:latin typeface="Consolas"/>
                <a:ea typeface="+mn-lt"/>
                <a:cs typeface="+mn-lt"/>
              </a:rPr>
              <a:t>('Error de red: ' + </a:t>
            </a:r>
            <a:r>
              <a:rPr lang="es-ES" err="1">
                <a:latin typeface="Consolas"/>
                <a:ea typeface="+mn-lt"/>
                <a:cs typeface="+mn-lt"/>
              </a:rPr>
              <a:t>error.message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//CONTINÚA...</a:t>
            </a:r>
            <a:endParaRPr lang="es-ES" dirty="0">
              <a:latin typeface="Consolas"/>
            </a:endParaRPr>
          </a:p>
        </p:txBody>
      </p:sp>
    </p:spTree>
    <p:extLst>
      <p:ext uri="{BB962C8B-B14F-4D97-AF65-F5344CB8AC3E}">
        <p14:creationId xmlns:p14="http://schemas.microsoft.com/office/powerpoint/2010/main" val="175615027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9DFC0-9D17-D4A8-17D5-16FA40CED7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BBC39B-320D-D853-EAF3-6E1F418EB33C}"/>
              </a:ext>
            </a:extLst>
          </p:cNvPr>
          <p:cNvSpPr>
            <a:spLocks noGrp="1"/>
          </p:cNvSpPr>
          <p:nvPr>
            <p:ph type="title"/>
          </p:nvPr>
        </p:nvSpPr>
        <p:spPr/>
        <p:txBody>
          <a:bodyPr>
            <a:normAutofit/>
          </a:bodyPr>
          <a:lstStyle/>
          <a:p>
            <a:r>
              <a:rPr lang="es-ES" dirty="0">
                <a:latin typeface="Calibri"/>
                <a:ea typeface="Calibri"/>
                <a:cs typeface="Calibri"/>
              </a:rPr>
              <a:t>Medidas de </a:t>
            </a:r>
            <a:r>
              <a:rPr lang="es-ES" dirty="0" err="1">
                <a:latin typeface="Calibri"/>
                <a:ea typeface="Calibri"/>
                <a:cs typeface="Calibri"/>
              </a:rPr>
              <a:t>securización</a:t>
            </a:r>
            <a:r>
              <a:rPr lang="es-ES" dirty="0">
                <a:latin typeface="Calibri"/>
                <a:ea typeface="Calibri"/>
                <a:cs typeface="Calibri"/>
              </a:rPr>
              <a:t> y gestión de datos de sesión. Ejemplo autenticación con JWT. </a:t>
            </a:r>
          </a:p>
        </p:txBody>
      </p:sp>
      <p:sp>
        <p:nvSpPr>
          <p:cNvPr id="3" name="Marcador de contenido 2">
            <a:extLst>
              <a:ext uri="{FF2B5EF4-FFF2-40B4-BE49-F238E27FC236}">
                <a16:creationId xmlns:a16="http://schemas.microsoft.com/office/drawing/2014/main" id="{0C112F8A-19D1-A63C-5BCA-0571A267DBB5}"/>
              </a:ext>
            </a:extLst>
          </p:cNvPr>
          <p:cNvSpPr>
            <a:spLocks noGrp="1"/>
          </p:cNvSpPr>
          <p:nvPr>
            <p:ph idx="1"/>
          </p:nvPr>
        </p:nvSpPr>
        <p:spPr/>
        <p:txBody>
          <a:bodyPr vert="horz" lIns="91440" tIns="45720" rIns="91440" bIns="45720" rtlCol="0" anchor="t">
            <a:normAutofit fontScale="85000" lnSpcReduction="20000"/>
          </a:bodyPr>
          <a:lstStyle/>
          <a:p>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 (error){</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&lt;p&gt;&lt;/p&gt;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(!datos){</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&lt;p&gt;Cargando...&lt;/p&gt;;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&lt;h2&gt;Datos Protegidos&lt;/h2&gt;</a:t>
            </a:r>
            <a:br>
              <a:rPr lang="es-ES" dirty="0">
                <a:latin typeface="Consolas"/>
                <a:ea typeface="+mn-lt"/>
                <a:cs typeface="+mn-lt"/>
              </a:rPr>
            </a:br>
            <a:r>
              <a:rPr lang="es-ES" dirty="0">
                <a:latin typeface="Consolas"/>
                <a:ea typeface="+mn-lt"/>
                <a:cs typeface="+mn-lt"/>
              </a:rPr>
              <a:t>            &lt;h3&gt;</a:t>
            </a:r>
            <a:r>
              <a:rPr lang="es-ES" err="1">
                <a:latin typeface="Consolas"/>
                <a:ea typeface="+mn-lt"/>
                <a:cs typeface="+mn-lt"/>
              </a:rPr>
              <a:t>IdUsuario</a:t>
            </a:r>
            <a:r>
              <a:rPr lang="es-ES" dirty="0">
                <a:latin typeface="Consolas"/>
                <a:ea typeface="+mn-lt"/>
                <a:cs typeface="+mn-lt"/>
              </a:rPr>
              <a:t>: {</a:t>
            </a:r>
            <a:r>
              <a:rPr lang="es-ES" err="1">
                <a:latin typeface="Consolas"/>
                <a:ea typeface="+mn-lt"/>
                <a:cs typeface="+mn-lt"/>
              </a:rPr>
              <a:t>datos.nombre</a:t>
            </a:r>
            <a:r>
              <a:rPr lang="es-ES" dirty="0">
                <a:latin typeface="Consolas"/>
                <a:ea typeface="+mn-lt"/>
                <a:cs typeface="+mn-lt"/>
              </a:rPr>
              <a:t>}&lt;/h3&gt;</a:t>
            </a:r>
            <a:br>
              <a:rPr lang="es-ES" dirty="0">
                <a:latin typeface="Consolas"/>
                <a:ea typeface="+mn-lt"/>
                <a:cs typeface="+mn-lt"/>
              </a:rPr>
            </a:br>
            <a:r>
              <a:rPr lang="es-ES" dirty="0">
                <a:latin typeface="Consolas"/>
                <a:ea typeface="+mn-lt"/>
                <a:cs typeface="+mn-lt"/>
              </a:rPr>
              <a:t>            &lt;p&gt;</a:t>
            </a:r>
            <a:r>
              <a:rPr lang="es-ES" err="1">
                <a:latin typeface="Consolas"/>
                <a:ea typeface="+mn-lt"/>
                <a:cs typeface="+mn-lt"/>
              </a:rPr>
              <a:t>IdUsuario</a:t>
            </a:r>
            <a:r>
              <a:rPr lang="es-ES" dirty="0">
                <a:latin typeface="Consolas"/>
                <a:ea typeface="+mn-lt"/>
                <a:cs typeface="+mn-lt"/>
              </a:rPr>
              <a:t>: {</a:t>
            </a:r>
            <a:r>
              <a:rPr lang="es-ES" err="1">
                <a:latin typeface="Consolas"/>
                <a:ea typeface="+mn-lt"/>
                <a:cs typeface="+mn-lt"/>
              </a:rPr>
              <a:t>datos.idUsuario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&lt;p&gt;Fecha de Creación: {</a:t>
            </a:r>
            <a:r>
              <a:rPr lang="es-ES" err="1">
                <a:latin typeface="Consolas"/>
                <a:ea typeface="+mn-lt"/>
                <a:cs typeface="+mn-lt"/>
              </a:rPr>
              <a:t>datos.created_at</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a:t>
            </a:r>
            <a:r>
              <a:rPr lang="es-ES" err="1">
                <a:latin typeface="Consolas"/>
                <a:ea typeface="+mn-lt"/>
                <a:cs typeface="+mn-lt"/>
              </a:rPr>
              <a:t>DatosProtegidos</a:t>
            </a:r>
            <a:r>
              <a:rPr lang="es-ES" dirty="0">
                <a:latin typeface="Consolas"/>
                <a:ea typeface="+mn-lt"/>
                <a:cs typeface="+mn-lt"/>
              </a:rPr>
              <a:t>;</a:t>
            </a:r>
            <a:endParaRPr lang="es-ES">
              <a:latin typeface="Consolas"/>
            </a:endParaRPr>
          </a:p>
        </p:txBody>
      </p:sp>
    </p:spTree>
    <p:extLst>
      <p:ext uri="{BB962C8B-B14F-4D97-AF65-F5344CB8AC3E}">
        <p14:creationId xmlns:p14="http://schemas.microsoft.com/office/powerpoint/2010/main" val="380534755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751A-DD09-EEFE-2932-BBD6D6F5F8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BD9F98-2BDE-07F6-042A-54E6F2A0CCCE}"/>
              </a:ext>
            </a:extLst>
          </p:cNvPr>
          <p:cNvSpPr>
            <a:spLocks noGrp="1"/>
          </p:cNvSpPr>
          <p:nvPr>
            <p:ph type="title"/>
          </p:nvPr>
        </p:nvSpPr>
        <p:spPr/>
        <p:txBody>
          <a:bodyPr>
            <a:normAutofit/>
          </a:bodyPr>
          <a:lstStyle/>
          <a:p>
            <a:r>
              <a:rPr lang="es-ES" dirty="0">
                <a:latin typeface="Calibri"/>
                <a:ea typeface="Calibri"/>
                <a:cs typeface="Calibri"/>
              </a:rPr>
              <a:t>Medidas de </a:t>
            </a:r>
            <a:r>
              <a:rPr lang="es-ES" dirty="0" err="1">
                <a:latin typeface="Calibri"/>
                <a:ea typeface="Calibri"/>
                <a:cs typeface="Calibri"/>
              </a:rPr>
              <a:t>securización</a:t>
            </a:r>
            <a:r>
              <a:rPr lang="es-ES" dirty="0">
                <a:latin typeface="Calibri"/>
                <a:ea typeface="Calibri"/>
                <a:cs typeface="Calibri"/>
              </a:rPr>
              <a:t> y gestión de datos de sesión. Ejemplo autenticación con JWT.</a:t>
            </a:r>
          </a:p>
        </p:txBody>
      </p:sp>
      <p:sp>
        <p:nvSpPr>
          <p:cNvPr id="3" name="Marcador de contenido 2">
            <a:extLst>
              <a:ext uri="{FF2B5EF4-FFF2-40B4-BE49-F238E27FC236}">
                <a16:creationId xmlns:a16="http://schemas.microsoft.com/office/drawing/2014/main" id="{7A246472-6794-F81D-9651-189C00553415}"/>
              </a:ext>
            </a:extLst>
          </p:cNvPr>
          <p:cNvSpPr>
            <a:spLocks noGrp="1"/>
          </p:cNvSpPr>
          <p:nvPr>
            <p:ph idx="1"/>
          </p:nvPr>
        </p:nvSpPr>
        <p:spPr/>
        <p:txBody>
          <a:bodyPr vert="horz" lIns="91440" tIns="45720" rIns="91440" bIns="45720" rtlCol="0" anchor="t">
            <a:normAutofit fontScale="92500" lnSpcReduction="20000"/>
          </a:bodyPr>
          <a:lstStyle/>
          <a:p>
            <a:r>
              <a:rPr lang="es-ES" sz="1100" err="1">
                <a:latin typeface="Consolas"/>
                <a:ea typeface="+mn-lt"/>
                <a:cs typeface="+mn-lt"/>
              </a:rPr>
              <a:t>import</a:t>
            </a:r>
            <a:r>
              <a:rPr lang="es-ES" sz="1100" dirty="0">
                <a:latin typeface="Consolas"/>
                <a:ea typeface="+mn-lt"/>
                <a:cs typeface="+mn-lt"/>
              </a:rPr>
              <a:t> { </a:t>
            </a:r>
            <a:r>
              <a:rPr lang="es-ES" sz="1100" err="1">
                <a:latin typeface="Consolas"/>
                <a:ea typeface="+mn-lt"/>
                <a:cs typeface="+mn-lt"/>
              </a:rPr>
              <a:t>useState</a:t>
            </a:r>
            <a:r>
              <a:rPr lang="es-ES" sz="1100" dirty="0">
                <a:latin typeface="Consolas"/>
                <a:ea typeface="+mn-lt"/>
                <a:cs typeface="+mn-lt"/>
              </a:rPr>
              <a:t> } </a:t>
            </a:r>
            <a:r>
              <a:rPr lang="es-ES" sz="1100" err="1">
                <a:latin typeface="Consolas"/>
                <a:ea typeface="+mn-lt"/>
                <a:cs typeface="+mn-lt"/>
              </a:rPr>
              <a:t>from</a:t>
            </a:r>
            <a:r>
              <a:rPr lang="es-ES" sz="1100" dirty="0">
                <a:latin typeface="Consolas"/>
                <a:ea typeface="+mn-lt"/>
                <a:cs typeface="+mn-lt"/>
              </a:rPr>
              <a:t> "</a:t>
            </a:r>
            <a:r>
              <a:rPr lang="es-ES" sz="1100" err="1">
                <a:latin typeface="Consolas"/>
                <a:ea typeface="+mn-lt"/>
                <a:cs typeface="+mn-lt"/>
              </a:rPr>
              <a:t>react</a:t>
            </a:r>
            <a:r>
              <a:rPr lang="es-ES" sz="1100" dirty="0">
                <a:latin typeface="Consolas"/>
                <a:ea typeface="+mn-lt"/>
                <a:cs typeface="+mn-lt"/>
              </a:rPr>
              <a:t>";</a:t>
            </a:r>
            <a:br>
              <a:rPr lang="es-ES" sz="1100" dirty="0">
                <a:latin typeface="Consolas"/>
                <a:ea typeface="+mn-lt"/>
                <a:cs typeface="+mn-lt"/>
              </a:rPr>
            </a:b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Login</a:t>
            </a:r>
            <a:r>
              <a:rPr lang="es-ES" sz="1100" dirty="0">
                <a:latin typeface="Consolas"/>
                <a:ea typeface="+mn-lt"/>
                <a:cs typeface="+mn-lt"/>
              </a:rPr>
              <a:t>=()=&gt;{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email,setEmail</a:t>
            </a:r>
            <a:r>
              <a:rPr lang="es-ES" sz="1100" dirty="0">
                <a:latin typeface="Consolas"/>
                <a:ea typeface="+mn-lt"/>
                <a:cs typeface="+mn-lt"/>
              </a:rPr>
              <a:t>]=</a:t>
            </a:r>
            <a:r>
              <a:rPr lang="es-ES" sz="1100" err="1">
                <a:latin typeface="Consolas"/>
                <a:ea typeface="+mn-lt"/>
                <a:cs typeface="+mn-lt"/>
              </a:rPr>
              <a:t>useState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password,setPassword</a:t>
            </a:r>
            <a:r>
              <a:rPr lang="es-ES" sz="1100" dirty="0">
                <a:latin typeface="Consolas"/>
                <a:ea typeface="+mn-lt"/>
                <a:cs typeface="+mn-lt"/>
              </a:rPr>
              <a:t>]=</a:t>
            </a:r>
            <a:r>
              <a:rPr lang="es-ES" sz="1100" err="1">
                <a:latin typeface="Consolas"/>
                <a:ea typeface="+mn-lt"/>
                <a:cs typeface="+mn-lt"/>
              </a:rPr>
              <a:t>useState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error,setError</a:t>
            </a:r>
            <a:r>
              <a:rPr lang="es-ES" sz="1100" dirty="0">
                <a:latin typeface="Consolas"/>
                <a:ea typeface="+mn-lt"/>
                <a:cs typeface="+mn-lt"/>
              </a:rPr>
              <a:t>]=</a:t>
            </a:r>
            <a:r>
              <a:rPr lang="es-ES" sz="1100" err="1">
                <a:latin typeface="Consolas"/>
                <a:ea typeface="+mn-lt"/>
                <a:cs typeface="+mn-lt"/>
              </a:rPr>
              <a:t>useState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const</a:t>
            </a:r>
            <a:r>
              <a:rPr lang="es-ES" sz="1100" dirty="0">
                <a:latin typeface="Consolas"/>
                <a:ea typeface="+mn-lt"/>
                <a:cs typeface="+mn-lt"/>
              </a:rPr>
              <a:t> </a:t>
            </a:r>
            <a:r>
              <a:rPr lang="es-ES" sz="1100" err="1">
                <a:latin typeface="Consolas"/>
                <a:ea typeface="+mn-lt"/>
                <a:cs typeface="+mn-lt"/>
              </a:rPr>
              <a:t>manejarLogin</a:t>
            </a:r>
            <a:r>
              <a:rPr lang="es-ES" sz="1100" dirty="0">
                <a:latin typeface="Consolas"/>
                <a:ea typeface="+mn-lt"/>
                <a:cs typeface="+mn-lt"/>
              </a:rPr>
              <a:t>=(</a:t>
            </a:r>
            <a:r>
              <a:rPr lang="es-ES" sz="1100" err="1">
                <a:latin typeface="Consolas"/>
                <a:ea typeface="+mn-lt"/>
                <a:cs typeface="+mn-lt"/>
              </a:rPr>
              <a:t>evt</a:t>
            </a:r>
            <a:r>
              <a:rPr lang="es-ES" sz="1100" dirty="0">
                <a:latin typeface="Consolas"/>
                <a:ea typeface="+mn-lt"/>
                <a:cs typeface="+mn-lt"/>
              </a:rPr>
              <a:t>)=&gt;{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evt.preventDefault</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fetch</a:t>
            </a:r>
            <a:r>
              <a:rPr lang="es-ES" sz="1100" dirty="0">
                <a:latin typeface="Consolas"/>
                <a:ea typeface="+mn-lt"/>
                <a:cs typeface="+mn-lt"/>
              </a:rPr>
              <a:t>('http://localhost:8000/api/</a:t>
            </a:r>
            <a:r>
              <a:rPr lang="es-ES" sz="1100" err="1">
                <a:latin typeface="Consolas"/>
                <a:ea typeface="+mn-lt"/>
                <a:cs typeface="+mn-lt"/>
              </a:rPr>
              <a:t>login</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method</a:t>
            </a:r>
            <a:r>
              <a:rPr lang="es-ES" sz="1100" dirty="0">
                <a:latin typeface="Consolas"/>
                <a:ea typeface="+mn-lt"/>
                <a:cs typeface="+mn-lt"/>
              </a:rPr>
              <a:t>:'POST',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headers</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Content-Type</a:t>
            </a:r>
            <a:r>
              <a:rPr lang="es-ES" sz="1100" dirty="0">
                <a:latin typeface="Consolas"/>
                <a:ea typeface="+mn-lt"/>
                <a:cs typeface="+mn-lt"/>
              </a:rPr>
              <a:t>':'</a:t>
            </a:r>
            <a:r>
              <a:rPr lang="es-ES" sz="1100" err="1">
                <a:latin typeface="Consolas"/>
                <a:ea typeface="+mn-lt"/>
                <a:cs typeface="+mn-lt"/>
              </a:rPr>
              <a:t>application</a:t>
            </a:r>
            <a:r>
              <a:rPr lang="es-ES" sz="1100" dirty="0">
                <a:latin typeface="Consolas"/>
                <a:ea typeface="+mn-lt"/>
                <a:cs typeface="+mn-lt"/>
              </a:rPr>
              <a:t>/</a:t>
            </a:r>
            <a:r>
              <a:rPr lang="es-ES" sz="1100" err="1">
                <a:latin typeface="Consolas"/>
                <a:ea typeface="+mn-lt"/>
                <a:cs typeface="+mn-lt"/>
              </a:rPr>
              <a:t>json</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body</a:t>
            </a:r>
            <a:r>
              <a:rPr lang="es-ES" sz="1100" dirty="0">
                <a:latin typeface="Consolas"/>
                <a:ea typeface="+mn-lt"/>
                <a:cs typeface="+mn-lt"/>
              </a:rPr>
              <a:t>: </a:t>
            </a:r>
            <a:r>
              <a:rPr lang="es-ES" sz="1100" err="1">
                <a:latin typeface="Consolas"/>
                <a:ea typeface="+mn-lt"/>
                <a:cs typeface="+mn-lt"/>
              </a:rPr>
              <a:t>JSON.stringify</a:t>
            </a:r>
            <a:r>
              <a:rPr lang="es-ES" sz="1100" dirty="0">
                <a:latin typeface="Consolas"/>
                <a:ea typeface="+mn-lt"/>
                <a:cs typeface="+mn-lt"/>
              </a:rPr>
              <a:t>({</a:t>
            </a:r>
            <a:r>
              <a:rPr lang="es-ES" sz="1100" err="1">
                <a:latin typeface="Consolas"/>
                <a:ea typeface="+mn-lt"/>
                <a:cs typeface="+mn-lt"/>
              </a:rPr>
              <a:t>email,password</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then</a:t>
            </a:r>
            <a:r>
              <a:rPr lang="es-ES" sz="1100" dirty="0">
                <a:latin typeface="Consolas"/>
                <a:ea typeface="+mn-lt"/>
                <a:cs typeface="+mn-lt"/>
              </a:rPr>
              <a:t>(response=&gt;</a:t>
            </a:r>
            <a:r>
              <a:rPr lang="es-ES" sz="1100" err="1">
                <a:latin typeface="Consolas"/>
                <a:ea typeface="+mn-lt"/>
                <a:cs typeface="+mn-lt"/>
              </a:rPr>
              <a:t>response.json</a:t>
            </a:r>
            <a:r>
              <a:rPr lang="es-ES" sz="1100" dirty="0">
                <a:latin typeface="Consolas"/>
                <a:ea typeface="+mn-lt"/>
                <a:cs typeface="+mn-lt"/>
              </a:rPr>
              <a:t>().</a:t>
            </a:r>
            <a:r>
              <a:rPr lang="es-ES" sz="1100" err="1">
                <a:latin typeface="Consolas"/>
                <a:ea typeface="+mn-lt"/>
                <a:cs typeface="+mn-lt"/>
              </a:rPr>
              <a:t>then</a:t>
            </a:r>
            <a:r>
              <a:rPr lang="es-ES" sz="1100" dirty="0">
                <a:latin typeface="Consolas"/>
                <a:ea typeface="+mn-lt"/>
                <a:cs typeface="+mn-lt"/>
              </a:rPr>
              <a:t>(data=&gt;({</a:t>
            </a:r>
            <a:r>
              <a:rPr lang="es-ES" sz="1100" err="1">
                <a:latin typeface="Consolas"/>
                <a:ea typeface="+mn-lt"/>
                <a:cs typeface="+mn-lt"/>
              </a:rPr>
              <a:t>data,response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then</a:t>
            </a:r>
            <a:r>
              <a:rPr lang="es-ES" sz="1100" dirty="0">
                <a:latin typeface="Consolas"/>
                <a:ea typeface="+mn-lt"/>
                <a:cs typeface="+mn-lt"/>
              </a:rPr>
              <a:t>(({</a:t>
            </a:r>
            <a:r>
              <a:rPr lang="es-ES" sz="1100" err="1">
                <a:latin typeface="Consolas"/>
                <a:ea typeface="+mn-lt"/>
                <a:cs typeface="+mn-lt"/>
              </a:rPr>
              <a:t>data,response</a:t>
            </a:r>
            <a:r>
              <a:rPr lang="es-ES" sz="1100" dirty="0">
                <a:latin typeface="Consolas"/>
                <a:ea typeface="+mn-lt"/>
                <a:cs typeface="+mn-lt"/>
              </a:rPr>
              <a:t>})=&gt;{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if</a:t>
            </a:r>
            <a:r>
              <a:rPr lang="es-ES" sz="1100" dirty="0">
                <a:latin typeface="Consolas"/>
                <a:ea typeface="+mn-lt"/>
                <a:cs typeface="+mn-lt"/>
              </a:rPr>
              <a:t>(</a:t>
            </a:r>
            <a:r>
              <a:rPr lang="es-ES" sz="1100" err="1">
                <a:latin typeface="Consolas"/>
                <a:ea typeface="+mn-lt"/>
                <a:cs typeface="+mn-lt"/>
              </a:rPr>
              <a:t>response.ok</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localStorage.setItem</a:t>
            </a:r>
            <a:r>
              <a:rPr lang="es-ES" sz="1100" dirty="0">
                <a:latin typeface="Consolas"/>
                <a:ea typeface="+mn-lt"/>
                <a:cs typeface="+mn-lt"/>
              </a:rPr>
              <a:t>('access_token',</a:t>
            </a:r>
            <a:r>
              <a:rPr lang="es-ES" sz="1100" err="1">
                <a:latin typeface="Consolas"/>
                <a:ea typeface="+mn-lt"/>
                <a:cs typeface="+mn-lt"/>
              </a:rPr>
              <a:t>data.access_token</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setError</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else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setError</a:t>
            </a:r>
            <a:r>
              <a:rPr lang="es-ES" sz="1100" dirty="0">
                <a:latin typeface="Consolas"/>
                <a:ea typeface="+mn-lt"/>
                <a:cs typeface="+mn-lt"/>
              </a:rPr>
              <a:t>(</a:t>
            </a:r>
            <a:r>
              <a:rPr lang="es-ES" sz="1100" err="1">
                <a:latin typeface="Consolas"/>
                <a:ea typeface="+mn-lt"/>
                <a:cs typeface="+mn-lt"/>
              </a:rPr>
              <a:t>data.message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.catch(error =&gt;{</a:t>
            </a:r>
            <a:br>
              <a:rPr lang="es-ES" sz="1100" dirty="0">
                <a:latin typeface="Consolas"/>
                <a:ea typeface="+mn-lt"/>
                <a:cs typeface="+mn-lt"/>
              </a:rPr>
            </a:br>
            <a:r>
              <a:rPr lang="es-ES" sz="1100" dirty="0">
                <a:latin typeface="Consolas"/>
                <a:ea typeface="+mn-lt"/>
                <a:cs typeface="+mn-lt"/>
              </a:rPr>
              <a:t>            </a:t>
            </a:r>
            <a:r>
              <a:rPr lang="es-ES" sz="1100" err="1">
                <a:latin typeface="Consolas"/>
                <a:ea typeface="+mn-lt"/>
                <a:cs typeface="+mn-lt"/>
              </a:rPr>
              <a:t>setError</a:t>
            </a:r>
            <a:r>
              <a:rPr lang="es-ES" sz="1100" dirty="0">
                <a:latin typeface="Consolas"/>
                <a:ea typeface="+mn-lt"/>
                <a:cs typeface="+mn-lt"/>
              </a:rPr>
              <a:t>('Error de red: ' + </a:t>
            </a:r>
            <a:r>
              <a:rPr lang="es-ES" sz="1100" err="1">
                <a:latin typeface="Consolas"/>
                <a:ea typeface="+mn-lt"/>
                <a:cs typeface="+mn-lt"/>
              </a:rPr>
              <a:t>error.message</a:t>
            </a:r>
            <a:r>
              <a:rPr lang="es-ES" sz="1100" dirty="0">
                <a:latin typeface="Consolas"/>
                <a:ea typeface="+mn-lt"/>
                <a:cs typeface="+mn-lt"/>
              </a:rPr>
              <a:t>);</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a:t>
            </a:r>
            <a:br>
              <a:rPr lang="es-ES" sz="1100" dirty="0">
                <a:latin typeface="Consolas"/>
                <a:ea typeface="+mn-lt"/>
                <a:cs typeface="+mn-lt"/>
              </a:rPr>
            </a:br>
            <a:r>
              <a:rPr lang="es-ES" sz="1100" dirty="0">
                <a:latin typeface="Consolas"/>
                <a:ea typeface="+mn-lt"/>
                <a:cs typeface="+mn-lt"/>
              </a:rPr>
              <a:t>    //CONTINÚA...</a:t>
            </a:r>
            <a:endParaRPr lang="es-ES" dirty="0">
              <a:latin typeface="Consolas"/>
              <a:ea typeface="+mn-lt"/>
              <a:cs typeface="+mn-lt"/>
            </a:endParaRPr>
          </a:p>
        </p:txBody>
      </p:sp>
    </p:spTree>
    <p:extLst>
      <p:ext uri="{BB962C8B-B14F-4D97-AF65-F5344CB8AC3E}">
        <p14:creationId xmlns:p14="http://schemas.microsoft.com/office/powerpoint/2010/main" val="214348191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EEF4F-679D-6B80-EB25-072229CAE94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66E45B1-D9D7-C304-D2A3-9D56D6DBAD90}"/>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Ejemplo autenticación con JWT. 3/3</a:t>
            </a:r>
          </a:p>
        </p:txBody>
      </p:sp>
      <p:sp>
        <p:nvSpPr>
          <p:cNvPr id="3" name="Marcador de contenido 2">
            <a:extLst>
              <a:ext uri="{FF2B5EF4-FFF2-40B4-BE49-F238E27FC236}">
                <a16:creationId xmlns:a16="http://schemas.microsoft.com/office/drawing/2014/main" id="{4FF06102-65BE-D6BD-8BF1-5FE690ED0A00}"/>
              </a:ext>
            </a:extLst>
          </p:cNvPr>
          <p:cNvSpPr>
            <a:spLocks noGrp="1"/>
          </p:cNvSpPr>
          <p:nvPr>
            <p:ph idx="1"/>
          </p:nvPr>
        </p:nvSpPr>
        <p:spPr/>
        <p:txBody>
          <a:bodyPr vert="horz" lIns="91440" tIns="45720" rIns="91440" bIns="45720" rtlCol="0" anchor="t">
            <a:normAutofit fontScale="92500" lnSpcReduction="20000"/>
          </a:bodyPr>
          <a:lstStyle/>
          <a:p>
            <a:r>
              <a:rPr lang="es-ES" sz="1600" dirty="0">
                <a:latin typeface="Consolas"/>
                <a:ea typeface="+mn-lt"/>
                <a:cs typeface="+mn-lt"/>
              </a:rPr>
              <a:t>    </a:t>
            </a:r>
            <a:r>
              <a:rPr lang="es-ES" sz="1600" err="1">
                <a:latin typeface="Consolas"/>
                <a:ea typeface="+mn-lt"/>
                <a:cs typeface="+mn-lt"/>
              </a:rPr>
              <a:t>return</a:t>
            </a:r>
            <a:r>
              <a:rPr lang="es-ES" sz="1600" dirty="0">
                <a:latin typeface="Consolas"/>
                <a:ea typeface="+mn-lt"/>
                <a:cs typeface="+mn-lt"/>
              </a:rPr>
              <a: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form</a:t>
            </a:r>
            <a:r>
              <a:rPr lang="es-ES" sz="1600" dirty="0">
                <a:latin typeface="Consolas"/>
                <a:ea typeface="+mn-lt"/>
                <a:cs typeface="+mn-lt"/>
              </a:rPr>
              <a:t> </a:t>
            </a:r>
            <a:r>
              <a:rPr lang="es-ES" sz="1600" err="1">
                <a:latin typeface="Consolas"/>
                <a:ea typeface="+mn-lt"/>
                <a:cs typeface="+mn-lt"/>
              </a:rPr>
              <a:t>onSubmit</a:t>
            </a:r>
            <a:r>
              <a:rPr lang="es-ES" sz="1600" dirty="0">
                <a:latin typeface="Consolas"/>
                <a:ea typeface="+mn-lt"/>
                <a:cs typeface="+mn-lt"/>
              </a:rPr>
              <a:t>={</a:t>
            </a:r>
            <a:r>
              <a:rPr lang="es-ES" sz="1600" err="1">
                <a:latin typeface="Consolas"/>
                <a:ea typeface="+mn-lt"/>
                <a:cs typeface="+mn-lt"/>
              </a:rPr>
              <a:t>manejarLogin</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div</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label</a:t>
            </a:r>
            <a:r>
              <a:rPr lang="es-ES" sz="1600" dirty="0">
                <a:latin typeface="Consolas"/>
                <a:ea typeface="+mn-lt"/>
                <a:cs typeface="+mn-lt"/>
              </a:rPr>
              <a:t> </a:t>
            </a:r>
            <a:r>
              <a:rPr lang="es-ES" sz="1600" err="1">
                <a:latin typeface="Consolas"/>
                <a:ea typeface="+mn-lt"/>
                <a:cs typeface="+mn-lt"/>
              </a:rPr>
              <a:t>htmlFor</a:t>
            </a:r>
            <a:r>
              <a:rPr lang="es-ES" sz="1600" dirty="0">
                <a:latin typeface="Consolas"/>
                <a:ea typeface="+mn-lt"/>
                <a:cs typeface="+mn-lt"/>
              </a:rPr>
              <a:t>="email"&gt;E-Mail: &lt;/</a:t>
            </a:r>
            <a:r>
              <a:rPr lang="es-ES" sz="1600" err="1">
                <a:latin typeface="Consolas"/>
                <a:ea typeface="+mn-lt"/>
                <a:cs typeface="+mn-lt"/>
              </a:rPr>
              <a:t>label</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&lt;input </a:t>
            </a:r>
            <a:r>
              <a:rPr lang="es-ES" sz="1600" err="1">
                <a:latin typeface="Consolas"/>
                <a:ea typeface="+mn-lt"/>
                <a:cs typeface="+mn-lt"/>
              </a:rPr>
              <a:t>type</a:t>
            </a:r>
            <a:r>
              <a:rPr lang="es-ES" sz="1600" dirty="0">
                <a:latin typeface="Consolas"/>
                <a:ea typeface="+mn-lt"/>
                <a:cs typeface="+mn-lt"/>
              </a:rPr>
              <a:t>="email" </a:t>
            </a:r>
            <a:r>
              <a:rPr lang="es-ES" sz="1600" err="1">
                <a:latin typeface="Consolas"/>
                <a:ea typeface="+mn-lt"/>
                <a:cs typeface="+mn-lt"/>
              </a:rPr>
              <a:t>name</a:t>
            </a:r>
            <a:r>
              <a:rPr lang="es-ES" sz="1600" dirty="0">
                <a:latin typeface="Consolas"/>
                <a:ea typeface="+mn-lt"/>
                <a:cs typeface="+mn-lt"/>
              </a:rPr>
              <a:t>="email" id="email" </a:t>
            </a:r>
            <a:r>
              <a:rPr lang="es-ES" sz="1600" err="1">
                <a:latin typeface="Consolas"/>
                <a:ea typeface="+mn-lt"/>
                <a:cs typeface="+mn-lt"/>
              </a:rPr>
              <a:t>placeholder</a:t>
            </a:r>
            <a:r>
              <a:rPr lang="es-ES" sz="1600" dirty="0">
                <a:latin typeface="Consolas"/>
                <a:ea typeface="+mn-lt"/>
                <a:cs typeface="+mn-lt"/>
              </a:rPr>
              <a:t>="E-Mail" </a:t>
            </a:r>
            <a:br>
              <a:rPr lang="es-ES" sz="1600" dirty="0">
                <a:latin typeface="Consolas"/>
                <a:ea typeface="+mn-lt"/>
                <a:cs typeface="+mn-lt"/>
              </a:rPr>
            </a:br>
            <a:r>
              <a:rPr lang="es-ES" sz="1600" dirty="0">
                <a:latin typeface="Consolas"/>
                <a:ea typeface="+mn-lt"/>
                <a:cs typeface="+mn-lt"/>
              </a:rPr>
              <a:t>                </a:t>
            </a:r>
            <a:r>
              <a:rPr lang="es-ES" sz="1600" err="1">
                <a:latin typeface="Consolas"/>
                <a:ea typeface="+mn-lt"/>
                <a:cs typeface="+mn-lt"/>
              </a:rPr>
              <a:t>onChange</a:t>
            </a:r>
            <a:r>
              <a:rPr lang="es-ES" sz="1600" dirty="0">
                <a:latin typeface="Consolas"/>
                <a:ea typeface="+mn-lt"/>
                <a:cs typeface="+mn-lt"/>
              </a:rPr>
              <a:t>={(</a:t>
            </a:r>
            <a:r>
              <a:rPr lang="es-ES" sz="1600" err="1">
                <a:latin typeface="Consolas"/>
                <a:ea typeface="+mn-lt"/>
                <a:cs typeface="+mn-lt"/>
              </a:rPr>
              <a:t>evt</a:t>
            </a:r>
            <a:r>
              <a:rPr lang="es-ES" sz="1600" dirty="0">
                <a:latin typeface="Consolas"/>
                <a:ea typeface="+mn-lt"/>
                <a:cs typeface="+mn-lt"/>
              </a:rPr>
              <a:t>)=&gt;</a:t>
            </a:r>
            <a:r>
              <a:rPr lang="es-ES" sz="1600" err="1">
                <a:latin typeface="Consolas"/>
                <a:ea typeface="+mn-lt"/>
                <a:cs typeface="+mn-lt"/>
              </a:rPr>
              <a:t>setEmail</a:t>
            </a:r>
            <a:r>
              <a:rPr lang="es-ES" sz="1600" dirty="0">
                <a:latin typeface="Consolas"/>
                <a:ea typeface="+mn-lt"/>
                <a:cs typeface="+mn-lt"/>
              </a:rPr>
              <a:t>(</a:t>
            </a:r>
            <a:r>
              <a:rPr lang="es-ES" sz="1600" err="1">
                <a:latin typeface="Consolas"/>
                <a:ea typeface="+mn-lt"/>
                <a:cs typeface="+mn-lt"/>
              </a:rPr>
              <a:t>evt.target.value</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div</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div</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label</a:t>
            </a:r>
            <a:r>
              <a:rPr lang="es-ES" sz="1600" dirty="0">
                <a:latin typeface="Consolas"/>
                <a:ea typeface="+mn-lt"/>
                <a:cs typeface="+mn-lt"/>
              </a:rPr>
              <a:t> </a:t>
            </a:r>
            <a:r>
              <a:rPr lang="es-ES" sz="1600" err="1">
                <a:latin typeface="Consolas"/>
                <a:ea typeface="+mn-lt"/>
                <a:cs typeface="+mn-lt"/>
              </a:rPr>
              <a:t>htmlFor</a:t>
            </a:r>
            <a:r>
              <a:rPr lang="es-ES" sz="1600" dirty="0">
                <a:latin typeface="Consolas"/>
                <a:ea typeface="+mn-lt"/>
                <a:cs typeface="+mn-lt"/>
              </a:rPr>
              <a:t>="</a:t>
            </a:r>
            <a:r>
              <a:rPr lang="es-ES" sz="1600" err="1">
                <a:latin typeface="Consolas"/>
                <a:ea typeface="+mn-lt"/>
                <a:cs typeface="+mn-lt"/>
              </a:rPr>
              <a:t>password</a:t>
            </a:r>
            <a:r>
              <a:rPr lang="es-ES" sz="1600" dirty="0">
                <a:latin typeface="Consolas"/>
                <a:ea typeface="+mn-lt"/>
                <a:cs typeface="+mn-lt"/>
              </a:rPr>
              <a:t>"&gt;</a:t>
            </a:r>
            <a:r>
              <a:rPr lang="es-ES" sz="1600" err="1">
                <a:latin typeface="Consolas"/>
                <a:ea typeface="+mn-lt"/>
                <a:cs typeface="+mn-lt"/>
              </a:rPr>
              <a:t>Password</a:t>
            </a:r>
            <a:r>
              <a:rPr lang="es-ES" sz="1600" dirty="0">
                <a:latin typeface="Consolas"/>
                <a:ea typeface="+mn-lt"/>
                <a:cs typeface="+mn-lt"/>
              </a:rPr>
              <a:t>: &lt;/</a:t>
            </a:r>
            <a:r>
              <a:rPr lang="es-ES" sz="1600" err="1">
                <a:latin typeface="Consolas"/>
                <a:ea typeface="+mn-lt"/>
                <a:cs typeface="+mn-lt"/>
              </a:rPr>
              <a:t>label</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&lt;input </a:t>
            </a:r>
            <a:r>
              <a:rPr lang="es-ES" sz="1600" err="1">
                <a:latin typeface="Consolas"/>
                <a:ea typeface="+mn-lt"/>
                <a:cs typeface="+mn-lt"/>
              </a:rPr>
              <a:t>type</a:t>
            </a:r>
            <a:r>
              <a:rPr lang="es-ES" sz="1600" dirty="0">
                <a:latin typeface="Consolas"/>
                <a:ea typeface="+mn-lt"/>
                <a:cs typeface="+mn-lt"/>
              </a:rPr>
              <a:t>="</a:t>
            </a:r>
            <a:r>
              <a:rPr lang="es-ES" sz="1600" err="1">
                <a:latin typeface="Consolas"/>
                <a:ea typeface="+mn-lt"/>
                <a:cs typeface="+mn-lt"/>
              </a:rPr>
              <a:t>password</a:t>
            </a:r>
            <a:r>
              <a:rPr lang="es-ES" sz="1600" dirty="0">
                <a:latin typeface="Consolas"/>
                <a:ea typeface="+mn-lt"/>
                <a:cs typeface="+mn-lt"/>
              </a:rPr>
              <a:t>" </a:t>
            </a:r>
            <a:r>
              <a:rPr lang="es-ES" sz="1600" err="1">
                <a:latin typeface="Consolas"/>
                <a:ea typeface="+mn-lt"/>
                <a:cs typeface="+mn-lt"/>
              </a:rPr>
              <a:t>name</a:t>
            </a:r>
            <a:r>
              <a:rPr lang="es-ES" sz="1600" dirty="0">
                <a:latin typeface="Consolas"/>
                <a:ea typeface="+mn-lt"/>
                <a:cs typeface="+mn-lt"/>
              </a:rPr>
              <a:t>="</a:t>
            </a:r>
            <a:r>
              <a:rPr lang="es-ES" sz="1600" err="1">
                <a:latin typeface="Consolas"/>
                <a:ea typeface="+mn-lt"/>
                <a:cs typeface="+mn-lt"/>
              </a:rPr>
              <a:t>password</a:t>
            </a:r>
            <a:r>
              <a:rPr lang="es-ES" sz="1600" dirty="0">
                <a:latin typeface="Consolas"/>
                <a:ea typeface="+mn-lt"/>
                <a:cs typeface="+mn-lt"/>
              </a:rPr>
              <a:t>" id="</a:t>
            </a:r>
            <a:r>
              <a:rPr lang="es-ES" sz="1600" err="1">
                <a:latin typeface="Consolas"/>
                <a:ea typeface="+mn-lt"/>
                <a:cs typeface="+mn-lt"/>
              </a:rPr>
              <a:t>password</a:t>
            </a:r>
            <a:r>
              <a:rPr lang="es-ES" sz="1600" dirty="0">
                <a:latin typeface="Consolas"/>
                <a:ea typeface="+mn-lt"/>
                <a:cs typeface="+mn-lt"/>
              </a:rPr>
              <a:t>" </a:t>
            </a:r>
            <a:r>
              <a:rPr lang="es-ES" sz="1600" err="1">
                <a:latin typeface="Consolas"/>
                <a:ea typeface="+mn-lt"/>
                <a:cs typeface="+mn-lt"/>
              </a:rPr>
              <a:t>placeholder</a:t>
            </a:r>
            <a:r>
              <a:rPr lang="es-ES" sz="1600" dirty="0">
                <a:latin typeface="Consolas"/>
                <a:ea typeface="+mn-lt"/>
                <a:cs typeface="+mn-lt"/>
              </a:rPr>
              <a:t>="</a:t>
            </a:r>
            <a:r>
              <a:rPr lang="es-ES" sz="1600" err="1">
                <a:latin typeface="Consolas"/>
                <a:ea typeface="+mn-lt"/>
                <a:cs typeface="+mn-lt"/>
              </a:rPr>
              <a:t>Password</a:t>
            </a:r>
            <a:r>
              <a:rPr lang="es-ES" sz="1600" dirty="0">
                <a:latin typeface="Consolas"/>
                <a:ea typeface="+mn-lt"/>
                <a:cs typeface="+mn-lt"/>
              </a:rPr>
              <a:t>" </a:t>
            </a:r>
            <a:br>
              <a:rPr lang="es-ES" sz="1600" dirty="0">
                <a:latin typeface="Consolas"/>
                <a:ea typeface="+mn-lt"/>
                <a:cs typeface="+mn-lt"/>
              </a:rPr>
            </a:br>
            <a:r>
              <a:rPr lang="es-ES" sz="1600" dirty="0">
                <a:latin typeface="Consolas"/>
                <a:ea typeface="+mn-lt"/>
                <a:cs typeface="+mn-lt"/>
              </a:rPr>
              <a:t>                </a:t>
            </a:r>
            <a:r>
              <a:rPr lang="es-ES" sz="1600" err="1">
                <a:latin typeface="Consolas"/>
                <a:ea typeface="+mn-lt"/>
                <a:cs typeface="+mn-lt"/>
              </a:rPr>
              <a:t>onChange</a:t>
            </a:r>
            <a:r>
              <a:rPr lang="es-ES" sz="1600" dirty="0">
                <a:latin typeface="Consolas"/>
                <a:ea typeface="+mn-lt"/>
                <a:cs typeface="+mn-lt"/>
              </a:rPr>
              <a:t>={(</a:t>
            </a:r>
            <a:r>
              <a:rPr lang="es-ES" sz="1600" err="1">
                <a:latin typeface="Consolas"/>
                <a:ea typeface="+mn-lt"/>
                <a:cs typeface="+mn-lt"/>
              </a:rPr>
              <a:t>evt</a:t>
            </a:r>
            <a:r>
              <a:rPr lang="es-ES" sz="1600" dirty="0">
                <a:latin typeface="Consolas"/>
                <a:ea typeface="+mn-lt"/>
                <a:cs typeface="+mn-lt"/>
              </a:rPr>
              <a:t>)=&gt;</a:t>
            </a:r>
            <a:r>
              <a:rPr lang="es-ES" sz="1600" err="1">
                <a:latin typeface="Consolas"/>
                <a:ea typeface="+mn-lt"/>
                <a:cs typeface="+mn-lt"/>
              </a:rPr>
              <a:t>setPassword</a:t>
            </a:r>
            <a:r>
              <a:rPr lang="es-ES" sz="1600" dirty="0">
                <a:latin typeface="Consolas"/>
                <a:ea typeface="+mn-lt"/>
                <a:cs typeface="+mn-lt"/>
              </a:rPr>
              <a:t>(</a:t>
            </a:r>
            <a:r>
              <a:rPr lang="es-ES" sz="1600" err="1">
                <a:latin typeface="Consolas"/>
                <a:ea typeface="+mn-lt"/>
                <a:cs typeface="+mn-lt"/>
              </a:rPr>
              <a:t>evt.target.value</a:t>
            </a:r>
            <a:r>
              <a:rPr lang="es-ES" sz="1600" dirty="0">
                <a:latin typeface="Consolas"/>
                <a:ea typeface="+mn-lt"/>
                <a:cs typeface="+mn-lt"/>
              </a:rPr>
              <a:t>)} /&gt;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div</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{error &amp;&amp; &lt;p </a:t>
            </a:r>
            <a:r>
              <a:rPr lang="es-ES" sz="1600" err="1">
                <a:latin typeface="Consolas"/>
                <a:ea typeface="+mn-lt"/>
                <a:cs typeface="+mn-lt"/>
              </a:rPr>
              <a:t>style</a:t>
            </a:r>
            <a:r>
              <a:rPr lang="es-ES" sz="1600" dirty="0">
                <a:latin typeface="Consolas"/>
                <a:ea typeface="+mn-lt"/>
                <a:cs typeface="+mn-lt"/>
              </a:rPr>
              <a:t>={{</a:t>
            </a:r>
            <a:r>
              <a:rPr lang="es-ES" sz="1600" err="1">
                <a:latin typeface="Consolas"/>
                <a:ea typeface="+mn-lt"/>
                <a:cs typeface="+mn-lt"/>
              </a:rPr>
              <a:t>color:'red</a:t>
            </a:r>
            <a:r>
              <a:rPr lang="es-ES" sz="1600" dirty="0">
                <a:latin typeface="Consolas"/>
                <a:ea typeface="+mn-lt"/>
                <a:cs typeface="+mn-lt"/>
              </a:rPr>
              <a:t>'}} &gt;{error}&lt;/p&gt; }</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button</a:t>
            </a:r>
            <a:r>
              <a:rPr lang="es-ES" sz="1600" dirty="0">
                <a:latin typeface="Consolas"/>
                <a:ea typeface="+mn-lt"/>
                <a:cs typeface="+mn-lt"/>
              </a:rPr>
              <a:t> </a:t>
            </a:r>
            <a:r>
              <a:rPr lang="es-ES" sz="1600" err="1">
                <a:latin typeface="Consolas"/>
                <a:ea typeface="+mn-lt"/>
                <a:cs typeface="+mn-lt"/>
              </a:rPr>
              <a:t>type</a:t>
            </a:r>
            <a:r>
              <a:rPr lang="es-ES" sz="1600" dirty="0">
                <a:latin typeface="Consolas"/>
                <a:ea typeface="+mn-lt"/>
                <a:cs typeface="+mn-lt"/>
              </a:rPr>
              <a:t>="</a:t>
            </a:r>
            <a:r>
              <a:rPr lang="es-ES" sz="1600" err="1">
                <a:latin typeface="Consolas"/>
                <a:ea typeface="+mn-lt"/>
                <a:cs typeface="+mn-lt"/>
              </a:rPr>
              <a:t>submit</a:t>
            </a:r>
            <a:r>
              <a:rPr lang="es-ES" sz="1600" dirty="0">
                <a:latin typeface="Consolas"/>
                <a:ea typeface="+mn-lt"/>
                <a:cs typeface="+mn-lt"/>
              </a:rPr>
              <a:t>"&gt;Iniciar sesión&lt;/</a:t>
            </a:r>
            <a:r>
              <a:rPr lang="es-ES" sz="1600" err="1">
                <a:latin typeface="Consolas"/>
                <a:ea typeface="+mn-lt"/>
                <a:cs typeface="+mn-lt"/>
              </a:rPr>
              <a:t>button</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&lt;/</a:t>
            </a:r>
            <a:r>
              <a:rPr lang="es-ES" sz="1600" err="1">
                <a:latin typeface="Consolas"/>
                <a:ea typeface="+mn-lt"/>
                <a:cs typeface="+mn-lt"/>
              </a:rPr>
              <a:t>form</a:t>
            </a:r>
            <a:r>
              <a:rPr lang="es-ES" sz="1600" dirty="0">
                <a:latin typeface="Consolas"/>
                <a:ea typeface="+mn-lt"/>
                <a:cs typeface="+mn-lt"/>
              </a:rPr>
              <a:t>&gt;</a:t>
            </a:r>
            <a:br>
              <a:rPr lang="es-ES" sz="1600" dirty="0">
                <a:latin typeface="Consolas"/>
                <a:ea typeface="+mn-lt"/>
                <a:cs typeface="+mn-lt"/>
              </a:rPr>
            </a:br>
            <a:r>
              <a:rPr lang="es-ES" sz="1600" dirty="0">
                <a:latin typeface="Consolas"/>
                <a:ea typeface="+mn-lt"/>
                <a:cs typeface="+mn-lt"/>
              </a:rPr>
              <a:t>    );</a:t>
            </a:r>
            <a:br>
              <a:rPr lang="es-ES" sz="1600" dirty="0">
                <a:latin typeface="Consolas"/>
                <a:ea typeface="+mn-lt"/>
                <a:cs typeface="+mn-lt"/>
              </a:rPr>
            </a:br>
            <a:r>
              <a:rPr lang="es-ES" sz="1600" dirty="0">
                <a:latin typeface="Consolas"/>
                <a:ea typeface="+mn-lt"/>
                <a:cs typeface="+mn-lt"/>
              </a:rPr>
              <a:t>}</a:t>
            </a:r>
            <a:br>
              <a:rPr lang="es-ES" sz="1600" dirty="0">
                <a:latin typeface="Consolas"/>
                <a:ea typeface="+mn-lt"/>
                <a:cs typeface="+mn-lt"/>
              </a:rPr>
            </a:br>
            <a:r>
              <a:rPr lang="es-ES" sz="1600" err="1">
                <a:latin typeface="Consolas"/>
                <a:ea typeface="+mn-lt"/>
                <a:cs typeface="+mn-lt"/>
              </a:rPr>
              <a:t>export</a:t>
            </a:r>
            <a:r>
              <a:rPr lang="es-ES" sz="1600" dirty="0">
                <a:latin typeface="Consolas"/>
                <a:ea typeface="+mn-lt"/>
                <a:cs typeface="+mn-lt"/>
              </a:rPr>
              <a:t> default </a:t>
            </a:r>
            <a:r>
              <a:rPr lang="es-ES" sz="1600" err="1">
                <a:latin typeface="Consolas"/>
                <a:ea typeface="+mn-lt"/>
                <a:cs typeface="+mn-lt"/>
              </a:rPr>
              <a:t>Login</a:t>
            </a:r>
            <a:r>
              <a:rPr lang="es-ES" sz="1600" dirty="0">
                <a:latin typeface="Consolas"/>
                <a:ea typeface="+mn-lt"/>
                <a:cs typeface="+mn-lt"/>
              </a:rPr>
              <a:t>;</a:t>
            </a:r>
            <a:endParaRPr lang="es-ES" dirty="0">
              <a:latin typeface="Consolas"/>
              <a:ea typeface="+mn-lt"/>
              <a:cs typeface="+mn-lt"/>
            </a:endParaRPr>
          </a:p>
        </p:txBody>
      </p:sp>
    </p:spTree>
    <p:extLst>
      <p:ext uri="{BB962C8B-B14F-4D97-AF65-F5344CB8AC3E}">
        <p14:creationId xmlns:p14="http://schemas.microsoft.com/office/powerpoint/2010/main" val="216351337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9D3FA-ED5A-502C-960A-4D4144B039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2CAA20-FFB0-40CF-ED2C-FDA1688AE841}"/>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Seguridad en aplicaciones </a:t>
            </a:r>
            <a:r>
              <a:rPr lang="es-ES" err="1">
                <a:latin typeface="Calibri"/>
                <a:ea typeface="Calibri"/>
                <a:cs typeface="Calibri"/>
              </a:rPr>
              <a:t>React</a:t>
            </a:r>
            <a:r>
              <a:rPr lang="es-ES">
                <a:latin typeface="Calibri"/>
                <a:ea typeface="Calibri"/>
                <a:cs typeface="Calibri"/>
              </a:rPr>
              <a:t> (CORS, CSRF).</a:t>
            </a:r>
          </a:p>
        </p:txBody>
      </p:sp>
      <p:sp>
        <p:nvSpPr>
          <p:cNvPr id="3" name="Marcador de contenido 2">
            <a:extLst>
              <a:ext uri="{FF2B5EF4-FFF2-40B4-BE49-F238E27FC236}">
                <a16:creationId xmlns:a16="http://schemas.microsoft.com/office/drawing/2014/main" id="{F7336467-8E4B-778D-C69A-D2E2C449B507}"/>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La </a:t>
            </a:r>
            <a:r>
              <a:rPr lang="es-ES" err="1">
                <a:latin typeface="Calibri"/>
                <a:ea typeface="Calibri"/>
                <a:cs typeface="Calibri"/>
              </a:rPr>
              <a:t>securización</a:t>
            </a:r>
            <a:r>
              <a:rPr lang="es-ES">
                <a:latin typeface="Calibri"/>
                <a:ea typeface="Calibri"/>
                <a:cs typeface="Calibri"/>
              </a:rPr>
              <a:t> de una aplicación </a:t>
            </a:r>
            <a:r>
              <a:rPr lang="es-ES" err="1">
                <a:latin typeface="Calibri"/>
                <a:ea typeface="Calibri"/>
                <a:cs typeface="Calibri"/>
              </a:rPr>
              <a:t>React</a:t>
            </a:r>
            <a:r>
              <a:rPr lang="es-ES">
                <a:latin typeface="Calibri"/>
                <a:ea typeface="Calibri"/>
                <a:cs typeface="Calibri"/>
              </a:rPr>
              <a:t> incluye varias medidas, y una de las más importantes es la configuración de CORS (Cross-</a:t>
            </a:r>
            <a:r>
              <a:rPr lang="es-ES" err="1">
                <a:latin typeface="Calibri"/>
                <a:ea typeface="Calibri"/>
                <a:cs typeface="Calibri"/>
              </a:rPr>
              <a:t>Origin</a:t>
            </a:r>
            <a:r>
              <a:rPr lang="es-ES">
                <a:latin typeface="Calibri"/>
                <a:ea typeface="Calibri"/>
                <a:cs typeface="Calibri"/>
              </a:rPr>
              <a:t> </a:t>
            </a:r>
            <a:r>
              <a:rPr lang="es-ES" err="1">
                <a:latin typeface="Calibri"/>
                <a:ea typeface="Calibri"/>
                <a:cs typeface="Calibri"/>
              </a:rPr>
              <a:t>Resource</a:t>
            </a:r>
            <a:r>
              <a:rPr lang="es-ES">
                <a:latin typeface="Calibri"/>
                <a:ea typeface="Calibri"/>
                <a:cs typeface="Calibri"/>
              </a:rPr>
              <a:t> </a:t>
            </a:r>
            <a:r>
              <a:rPr lang="es-ES" err="1">
                <a:latin typeface="Calibri"/>
                <a:ea typeface="Calibri"/>
                <a:cs typeface="Calibri"/>
              </a:rPr>
              <a:t>Sharing</a:t>
            </a:r>
            <a:r>
              <a:rPr lang="es-ES">
                <a:latin typeface="Calibri"/>
                <a:ea typeface="Calibri"/>
                <a:cs typeface="Calibri"/>
              </a:rPr>
              <a:t>). CORS es una política de seguridad que restringe cómo los recursos en una página web pueden ser solicitados desde otro dominio.</a:t>
            </a:r>
          </a:p>
          <a:p>
            <a:pPr marL="342900" indent="-342900">
              <a:buFont typeface="Arial"/>
              <a:buChar char="•"/>
            </a:pPr>
            <a:r>
              <a:rPr lang="es-ES">
                <a:latin typeface="Calibri"/>
                <a:ea typeface="Calibri"/>
                <a:cs typeface="Calibri"/>
              </a:rPr>
              <a:t>CORS es una política de seguridad implementada por los navegadores para prevenir solicitudes HTTP no autorizadas desde orígenes distintos al del recurso solicitado. Esto ayuda a proteger a los usuarios de ataques como Cross-Site </a:t>
            </a:r>
            <a:r>
              <a:rPr lang="es-ES" err="1">
                <a:latin typeface="Calibri"/>
                <a:ea typeface="Calibri"/>
                <a:cs typeface="Calibri"/>
              </a:rPr>
              <a:t>Request</a:t>
            </a:r>
            <a:r>
              <a:rPr lang="es-ES">
                <a:latin typeface="Calibri"/>
                <a:ea typeface="Calibri"/>
                <a:cs typeface="Calibri"/>
              </a:rPr>
              <a:t> </a:t>
            </a:r>
            <a:r>
              <a:rPr lang="es-ES" err="1">
                <a:latin typeface="Calibri"/>
                <a:ea typeface="Calibri"/>
                <a:cs typeface="Calibri"/>
              </a:rPr>
              <a:t>Forgery</a:t>
            </a:r>
            <a:r>
              <a:rPr lang="es-ES">
                <a:latin typeface="Calibri"/>
                <a:ea typeface="Calibri"/>
                <a:cs typeface="Calibri"/>
              </a:rPr>
              <a:t> (CSRF)</a:t>
            </a:r>
          </a:p>
          <a:p>
            <a:pPr marL="342900" indent="-342900">
              <a:buFont typeface="Arial"/>
              <a:buChar char="•"/>
            </a:pPr>
            <a:r>
              <a:rPr lang="es-ES">
                <a:latin typeface="Calibri"/>
                <a:ea typeface="Calibri"/>
                <a:cs typeface="Calibri"/>
              </a:rPr>
              <a:t>Cuando una aplicación web realiza una solicitud HTTP a un dominio diferente (origen cruzado), el navegador envía una solicitud preliminar (</a:t>
            </a:r>
            <a:r>
              <a:rPr lang="es-ES" err="1">
                <a:latin typeface="Calibri"/>
                <a:ea typeface="Calibri"/>
                <a:cs typeface="Calibri"/>
              </a:rPr>
              <a:t>preflight</a:t>
            </a:r>
            <a:r>
              <a:rPr lang="es-ES">
                <a:latin typeface="Calibri"/>
                <a:ea typeface="Calibri"/>
                <a:cs typeface="Calibri"/>
              </a:rPr>
              <a:t> </a:t>
            </a:r>
            <a:r>
              <a:rPr lang="es-ES" err="1">
                <a:latin typeface="Calibri"/>
                <a:ea typeface="Calibri"/>
                <a:cs typeface="Calibri"/>
              </a:rPr>
              <a:t>request</a:t>
            </a:r>
            <a:r>
              <a:rPr lang="es-ES">
                <a:latin typeface="Calibri"/>
                <a:ea typeface="Calibri"/>
                <a:cs typeface="Calibri"/>
              </a:rPr>
              <a:t>) para verificar si el servidor permite la solicitud. El servidor responde con encabezados que indican si la solicitud está permitida.</a:t>
            </a:r>
          </a:p>
        </p:txBody>
      </p:sp>
    </p:spTree>
    <p:extLst>
      <p:ext uri="{BB962C8B-B14F-4D97-AF65-F5344CB8AC3E}">
        <p14:creationId xmlns:p14="http://schemas.microsoft.com/office/powerpoint/2010/main" val="78060638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2DB17-AA5F-2B51-E180-EA70177F2A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F226DA-484B-C233-4691-8B532539AD47}"/>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Seguridad en aplicaciones </a:t>
            </a:r>
            <a:r>
              <a:rPr lang="es-ES" err="1">
                <a:latin typeface="Calibri"/>
                <a:ea typeface="Calibri"/>
                <a:cs typeface="Calibri"/>
              </a:rPr>
              <a:t>React</a:t>
            </a:r>
            <a:r>
              <a:rPr lang="es-ES">
                <a:latin typeface="Calibri"/>
                <a:ea typeface="Calibri"/>
                <a:cs typeface="Calibri"/>
              </a:rPr>
              <a:t> (CORS, CSRF).</a:t>
            </a:r>
          </a:p>
        </p:txBody>
      </p:sp>
      <p:sp>
        <p:nvSpPr>
          <p:cNvPr id="3" name="Marcador de contenido 2">
            <a:extLst>
              <a:ext uri="{FF2B5EF4-FFF2-40B4-BE49-F238E27FC236}">
                <a16:creationId xmlns:a16="http://schemas.microsoft.com/office/drawing/2014/main" id="{ECAD7151-9722-3FF4-8A97-5DDC8A95877A}"/>
              </a:ext>
            </a:extLst>
          </p:cNvPr>
          <p:cNvSpPr>
            <a:spLocks noGrp="1"/>
          </p:cNvSpPr>
          <p:nvPr>
            <p:ph idx="1"/>
          </p:nvPr>
        </p:nvSpPr>
        <p:spPr/>
        <p:txBody>
          <a:bodyPr vert="horz" lIns="91440" tIns="45720" rIns="91440" bIns="45720" rtlCol="0" anchor="t">
            <a:normAutofit lnSpcReduction="10000"/>
          </a:bodyPr>
          <a:lstStyle/>
          <a:p>
            <a:pPr marL="342900" indent="-342900">
              <a:buFont typeface="Arial"/>
              <a:buChar char="•"/>
            </a:pPr>
            <a:r>
              <a:rPr lang="es-ES">
                <a:latin typeface="Calibri"/>
                <a:ea typeface="Calibri"/>
                <a:cs typeface="Calibri"/>
              </a:rPr>
              <a:t>En el entorno de desarrollo, puedes configurar un proxy en </a:t>
            </a:r>
            <a:r>
              <a:rPr lang="es-ES" err="1">
                <a:latin typeface="Calibri"/>
                <a:ea typeface="Calibri"/>
                <a:cs typeface="Calibri"/>
              </a:rPr>
              <a:t>package.json</a:t>
            </a:r>
            <a:r>
              <a:rPr lang="es-ES">
                <a:latin typeface="Calibri"/>
                <a:ea typeface="Calibri"/>
                <a:cs typeface="Calibri"/>
              </a:rPr>
              <a:t> para evitar problemas de CORS.</a:t>
            </a:r>
            <a:br>
              <a:rPr lang="es-ES">
                <a:latin typeface="Calibri"/>
                <a:ea typeface="Calibri"/>
                <a:cs typeface="Calibri"/>
              </a:rPr>
            </a:b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name</a:t>
            </a:r>
            <a:r>
              <a:rPr lang="es-ES">
                <a:latin typeface="Consolas"/>
                <a:ea typeface="Calibri"/>
                <a:cs typeface="Calibri"/>
              </a:rPr>
              <a:t>": "mi-</a:t>
            </a:r>
            <a:r>
              <a:rPr lang="es-ES" err="1">
                <a:latin typeface="Consolas"/>
                <a:ea typeface="Calibri"/>
                <a:cs typeface="Calibri"/>
              </a:rPr>
              <a:t>aplicacion</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version</a:t>
            </a:r>
            <a:r>
              <a:rPr lang="es-ES">
                <a:latin typeface="Consolas"/>
                <a:ea typeface="Calibri"/>
                <a:cs typeface="Calibri"/>
              </a:rPr>
              <a:t>": "1.0.0",</a:t>
            </a:r>
            <a:br>
              <a:rPr lang="es-ES">
                <a:latin typeface="Consolas"/>
                <a:ea typeface="Calibri"/>
                <a:cs typeface="Calibri"/>
              </a:rPr>
            </a:br>
            <a:r>
              <a:rPr lang="es-ES">
                <a:latin typeface="Consolas"/>
                <a:ea typeface="Calibri"/>
                <a:cs typeface="Calibri"/>
              </a:rPr>
              <a:t>  "proxy": </a:t>
            </a:r>
            <a:r>
              <a:rPr lang="es-ES">
                <a:latin typeface="Consolas"/>
                <a:ea typeface="Calibri"/>
                <a:cs typeface="Calibri"/>
                <a:hlinkClick r:id="rId2"/>
              </a:rPr>
              <a:t>http://localhost:5000</a:t>
            </a:r>
            <a:r>
              <a:rPr lang="es-ES">
                <a:latin typeface="Consolas"/>
                <a:ea typeface="Calibri"/>
                <a:cs typeface="Calibri"/>
              </a:rPr>
              <a:t>,</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dependencies</a:t>
            </a:r>
            <a:r>
              <a:rPr lang="es-ES">
                <a:latin typeface="Consolas"/>
                <a:ea typeface="Calibri"/>
                <a:cs typeface="Calibri"/>
              </a:rPr>
              <a:t>": {</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 "^17.0.2",</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-dom": "^17.0.2",</a:t>
            </a:r>
            <a:br>
              <a:rPr lang="es-ES">
                <a:latin typeface="Consolas"/>
                <a:ea typeface="Calibri"/>
                <a:cs typeface="Calibri"/>
              </a:rPr>
            </a:br>
            <a:r>
              <a:rPr lang="es-ES">
                <a:latin typeface="Consolas"/>
                <a:ea typeface="Calibri"/>
                <a:cs typeface="Calibri"/>
              </a:rPr>
              <a:t>    "</a:t>
            </a:r>
            <a:r>
              <a:rPr lang="es-ES" err="1">
                <a:latin typeface="Consolas"/>
                <a:ea typeface="Calibri"/>
                <a:cs typeface="Calibri"/>
              </a:rPr>
              <a:t>react</a:t>
            </a:r>
            <a:r>
              <a:rPr lang="es-ES">
                <a:latin typeface="Consolas"/>
                <a:ea typeface="Calibri"/>
                <a:cs typeface="Calibri"/>
              </a:rPr>
              <a:t>-scripts": "4.0.3"</a:t>
            </a:r>
            <a:br>
              <a:rPr lang="es-ES">
                <a:latin typeface="Consolas"/>
                <a:ea typeface="Calibri"/>
                <a:cs typeface="Calibri"/>
              </a:rPr>
            </a:br>
            <a:r>
              <a:rPr lang="es-ES">
                <a:latin typeface="Consolas"/>
                <a:ea typeface="Calibri"/>
                <a:cs typeface="Calibri"/>
              </a:rPr>
              <a:t>  }</a:t>
            </a:r>
            <a:br>
              <a:rPr lang="es-ES">
                <a:latin typeface="Consolas"/>
                <a:ea typeface="Calibri"/>
                <a:cs typeface="Calibri"/>
              </a:rPr>
            </a:br>
            <a:r>
              <a:rPr lang="es-ES">
                <a:latin typeface="Consolas"/>
                <a:ea typeface="Calibri"/>
                <a:cs typeface="Calibri"/>
              </a:rPr>
              <a:t>}</a:t>
            </a:r>
          </a:p>
        </p:txBody>
      </p:sp>
    </p:spTree>
    <p:extLst>
      <p:ext uri="{BB962C8B-B14F-4D97-AF65-F5344CB8AC3E}">
        <p14:creationId xmlns:p14="http://schemas.microsoft.com/office/powerpoint/2010/main" val="48262164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5F13-FAA5-B186-E8F3-22A773425E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BCC06C-A1F8-C7EA-ABAB-62ADD8312856}"/>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3E14C5F9-4133-0C31-5737-CA4F7FC1BC77}"/>
              </a:ext>
            </a:extLst>
          </p:cNvPr>
          <p:cNvSpPr>
            <a:spLocks noGrp="1"/>
          </p:cNvSpPr>
          <p:nvPr>
            <p:ph idx="1"/>
          </p:nvPr>
        </p:nvSpPr>
        <p:spPr/>
        <p:txBody>
          <a:bodyPr vert="horz" lIns="91440" tIns="45720" rIns="91440" bIns="45720" rtlCol="0" anchor="t">
            <a:normAutofit/>
          </a:bodyPr>
          <a:lstStyle/>
          <a:p>
            <a:pPr marL="342900" indent="-342900">
              <a:buFont typeface="Arial"/>
              <a:buChar char="•"/>
            </a:pPr>
            <a:r>
              <a:rPr lang="es-ES">
                <a:latin typeface="Calibri"/>
                <a:ea typeface="Calibri"/>
                <a:cs typeface="Calibri"/>
              </a:rPr>
              <a:t>Cifrar y descifrar datos es una práctica esencial para proteger la información sensible y garantizar su seguridad. </a:t>
            </a:r>
            <a:r>
              <a:rPr lang="es-ES" err="1">
                <a:latin typeface="Calibri"/>
                <a:ea typeface="Calibri"/>
                <a:cs typeface="Calibri"/>
              </a:rPr>
              <a:t>CryptoJS</a:t>
            </a:r>
            <a:r>
              <a:rPr lang="es-ES">
                <a:latin typeface="Calibri"/>
                <a:ea typeface="Calibri"/>
                <a:cs typeface="Calibri"/>
              </a:rPr>
              <a:t> es una biblioteca de JavaScript que proporciona varias funciones de cifrado y descifrado. Para instalarla se utiliza el comando:</a:t>
            </a:r>
          </a:p>
          <a:p>
            <a:r>
              <a:rPr lang="es-ES" err="1">
                <a:latin typeface="Consolas"/>
                <a:ea typeface="Calibri"/>
                <a:cs typeface="Calibri"/>
              </a:rPr>
              <a:t>npm</a:t>
            </a:r>
            <a:r>
              <a:rPr lang="es-ES">
                <a:latin typeface="Consolas"/>
                <a:ea typeface="Calibri"/>
                <a:cs typeface="Calibri"/>
              </a:rPr>
              <a:t> </a:t>
            </a:r>
            <a:r>
              <a:rPr lang="es-ES" err="1">
                <a:latin typeface="Consolas"/>
                <a:ea typeface="Calibri"/>
                <a:cs typeface="Calibri"/>
              </a:rPr>
              <a:t>install</a:t>
            </a:r>
            <a:r>
              <a:rPr lang="es-ES">
                <a:latin typeface="Consolas"/>
                <a:ea typeface="Calibri"/>
                <a:cs typeface="Calibri"/>
              </a:rPr>
              <a:t> </a:t>
            </a:r>
            <a:r>
              <a:rPr lang="es-ES" err="1">
                <a:latin typeface="Consolas"/>
                <a:ea typeface="Calibri"/>
                <a:cs typeface="Calibri"/>
              </a:rPr>
              <a:t>crypto-js</a:t>
            </a:r>
            <a:endParaRPr lang="es-ES">
              <a:latin typeface="Consolas"/>
              <a:ea typeface="Calibri"/>
              <a:cs typeface="Calibri"/>
            </a:endParaRPr>
          </a:p>
          <a:p>
            <a:pPr marL="342900" indent="-342900">
              <a:buFont typeface="Arial"/>
              <a:buChar char="•"/>
            </a:pPr>
            <a:r>
              <a:rPr lang="es-ES">
                <a:latin typeface="Calibri"/>
                <a:ea typeface="Calibri"/>
                <a:cs typeface="Calibri"/>
              </a:rPr>
              <a:t>AES (</a:t>
            </a:r>
            <a:r>
              <a:rPr lang="es-ES" err="1">
                <a:latin typeface="Calibri"/>
                <a:ea typeface="Calibri"/>
                <a:cs typeface="Calibri"/>
              </a:rPr>
              <a:t>Advanced</a:t>
            </a:r>
            <a:r>
              <a:rPr lang="es-ES">
                <a:latin typeface="Calibri"/>
                <a:ea typeface="Calibri"/>
                <a:cs typeface="Calibri"/>
              </a:rPr>
              <a:t> </a:t>
            </a:r>
            <a:r>
              <a:rPr lang="es-ES" err="1">
                <a:latin typeface="Calibri"/>
                <a:ea typeface="Calibri"/>
                <a:cs typeface="Calibri"/>
              </a:rPr>
              <a:t>Encryption</a:t>
            </a:r>
            <a:r>
              <a:rPr lang="es-ES">
                <a:latin typeface="Calibri"/>
                <a:ea typeface="Calibri"/>
                <a:cs typeface="Calibri"/>
              </a:rPr>
              <a:t> Standard) es un algoritmo de cifrado simétrico ampliamente utilizado para proteger datos sensibles. Fue adoptado como un estándar de cifrado por el Instituto Nacional de Estándares y Tecnología de EE. UU. (NIST)</a:t>
            </a:r>
          </a:p>
          <a:p>
            <a:pPr marL="342900" indent="-342900">
              <a:buFont typeface="Arial"/>
              <a:buChar char="•"/>
            </a:pPr>
            <a:r>
              <a:rPr lang="es-ES">
                <a:latin typeface="Calibri"/>
                <a:ea typeface="Calibri"/>
                <a:cs typeface="Calibri"/>
              </a:rPr>
              <a:t>Es un cifrado de bloque que trabaja con bloques de 128 bits y admite claves de 128, 192 o 256 bits. Su funcionamiento se basa en una serie de transformaciones matemáticas que incluyen sustituciones, permutaciones y operaciones algebraicas en un campo finito.</a:t>
            </a:r>
          </a:p>
        </p:txBody>
      </p:sp>
    </p:spTree>
    <p:extLst>
      <p:ext uri="{BB962C8B-B14F-4D97-AF65-F5344CB8AC3E}">
        <p14:creationId xmlns:p14="http://schemas.microsoft.com/office/powerpoint/2010/main" val="357912319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6F97B-FA0B-E6C8-5B44-928AFDC408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D1C624-BDB9-1FB1-0416-1BEC070C1ABB}"/>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F7431C70-9B93-FC9C-B48D-D7B8B53446E8}"/>
              </a:ext>
            </a:extLst>
          </p:cNvPr>
          <p:cNvSpPr>
            <a:spLocks noGrp="1"/>
          </p:cNvSpPr>
          <p:nvPr>
            <p:ph idx="1"/>
          </p:nvPr>
        </p:nvSpPr>
        <p:spPr/>
        <p:txBody>
          <a:bodyPr vert="horz" lIns="91440" tIns="45720" rIns="91440" bIns="45720" rtlCol="0" anchor="t">
            <a:normAutofit fontScale="77500" lnSpcReduction="20000"/>
          </a:bodyPr>
          <a:lstStyle/>
          <a:p>
            <a:pPr marL="342900" indent="-342900">
              <a:buFont typeface="Arial,Sans-Serif"/>
              <a:buChar char="•"/>
            </a:pPr>
            <a:r>
              <a:rPr lang="es-ES" dirty="0">
                <a:latin typeface="Calibri"/>
                <a:ea typeface="Calibri"/>
                <a:cs typeface="Calibri"/>
              </a:rPr>
              <a:t>Para cifrar datos, se puede utilizar el método </a:t>
            </a:r>
            <a:r>
              <a:rPr lang="es-ES" dirty="0" err="1">
                <a:latin typeface="Calibri"/>
                <a:ea typeface="Calibri"/>
                <a:cs typeface="Calibri"/>
              </a:rPr>
              <a:t>AES.encrypt</a:t>
            </a:r>
            <a:r>
              <a:rPr lang="es-ES" dirty="0">
                <a:latin typeface="Calibri"/>
                <a:ea typeface="Calibri"/>
                <a:cs typeface="Calibri"/>
              </a:rPr>
              <a:t> de </a:t>
            </a:r>
            <a:r>
              <a:rPr lang="es-ES" dirty="0" err="1">
                <a:latin typeface="Calibri"/>
                <a:ea typeface="Calibri"/>
                <a:cs typeface="Calibri"/>
              </a:rPr>
              <a:t>CryptoJS</a:t>
            </a:r>
            <a:r>
              <a:rPr lang="es-ES" dirty="0">
                <a:latin typeface="Calibri"/>
                <a:ea typeface="Calibri"/>
                <a:cs typeface="Calibri"/>
              </a:rPr>
              <a:t>:</a:t>
            </a:r>
            <a:endParaRPr lang="en-US" dirty="0">
              <a:latin typeface="Calibri"/>
              <a:ea typeface="Calibri"/>
              <a:cs typeface="Calibri"/>
            </a:endParaRPr>
          </a:p>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import</a:t>
            </a:r>
            <a:r>
              <a:rPr lang="es-ES" dirty="0">
                <a:latin typeface="Consolas"/>
                <a:ea typeface="+mn-lt"/>
                <a:cs typeface="+mn-lt"/>
              </a:rPr>
              <a:t> </a:t>
            </a:r>
            <a:r>
              <a:rPr lang="es-ES" err="1">
                <a:latin typeface="Consolas"/>
                <a:ea typeface="+mn-lt"/>
                <a:cs typeface="+mn-lt"/>
              </a:rPr>
              <a:t>CryptoJS</a:t>
            </a:r>
            <a:r>
              <a:rPr lang="es-ES" dirty="0">
                <a:latin typeface="Consolas"/>
                <a:ea typeface="+mn-lt"/>
                <a:cs typeface="+mn-lt"/>
              </a:rPr>
              <a:t>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crypto-js</a:t>
            </a:r>
            <a:r>
              <a:rPr lang="es-ES" dirty="0">
                <a:latin typeface="Consolas"/>
                <a:ea typeface="+mn-lt"/>
                <a:cs typeface="+mn-lt"/>
              </a:rPr>
              <a:t>";</a:t>
            </a:r>
            <a:br>
              <a:rPr lang="en-US" dirty="0">
                <a:latin typeface="Consolas"/>
              </a:rPr>
            </a:br>
            <a:r>
              <a:rPr lang="es-ES" err="1">
                <a:latin typeface="Consolas"/>
                <a:ea typeface="+mn-lt"/>
                <a:cs typeface="+mn-lt"/>
              </a:rPr>
              <a:t>const</a:t>
            </a:r>
            <a:r>
              <a:rPr lang="es-ES" dirty="0">
                <a:latin typeface="Consolas"/>
                <a:ea typeface="+mn-lt"/>
                <a:cs typeface="+mn-lt"/>
              </a:rPr>
              <a:t> Cifrador=()=&gt;{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textoPlano,setTextoPlano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textoCifrado,setTextoCifrado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password,setPassword</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textoPlano</a:t>
            </a:r>
            <a:r>
              <a:rPr lang="es-ES" dirty="0">
                <a:latin typeface="Consolas"/>
                <a:ea typeface="+mn-lt"/>
                <a:cs typeface="+mn-lt"/>
              </a:rPr>
              <a:t> &amp;&amp; </a:t>
            </a:r>
            <a:r>
              <a:rPr lang="es-ES" err="1">
                <a:latin typeface="Consolas"/>
                <a:ea typeface="+mn-lt"/>
                <a:cs typeface="+mn-lt"/>
              </a:rPr>
              <a:t>password</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setTextoCifrado</a:t>
            </a:r>
            <a:r>
              <a:rPr lang="es-ES" dirty="0">
                <a:latin typeface="Consolas"/>
                <a:ea typeface="+mn-lt"/>
                <a:cs typeface="+mn-lt"/>
              </a:rPr>
              <a:t>(</a:t>
            </a:r>
            <a:r>
              <a:rPr lang="es-ES" err="1">
                <a:latin typeface="Consolas"/>
                <a:ea typeface="+mn-lt"/>
                <a:cs typeface="+mn-lt"/>
              </a:rPr>
              <a:t>CryptoJS.AES.encrypt</a:t>
            </a:r>
            <a:r>
              <a:rPr lang="es-ES" dirty="0">
                <a:latin typeface="Consolas"/>
                <a:ea typeface="+mn-lt"/>
                <a:cs typeface="+mn-lt"/>
              </a:rPr>
              <a:t>(</a:t>
            </a:r>
            <a:r>
              <a:rPr lang="es-ES" err="1">
                <a:latin typeface="Consolas"/>
                <a:ea typeface="+mn-lt"/>
                <a:cs typeface="+mn-lt"/>
              </a:rPr>
              <a:t>textoPlano,password</a:t>
            </a:r>
            <a:r>
              <a:rPr lang="es-ES" dirty="0">
                <a:latin typeface="Consolas"/>
                <a:ea typeface="+mn-lt"/>
                <a:cs typeface="+mn-lt"/>
              </a:rPr>
              <a:t>).</a:t>
            </a:r>
            <a:r>
              <a:rPr lang="es-ES" err="1">
                <a:latin typeface="Consolas"/>
                <a:ea typeface="+mn-lt"/>
                <a:cs typeface="+mn-lt"/>
              </a:rPr>
              <a:t>toString</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else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setTextoCifrado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textoPlano,password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cambioTexto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setTextoPlano</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 </a:t>
            </a:r>
            <a:endParaRPr lang="es-ES">
              <a:latin typeface="Consolas"/>
            </a:endParaRPr>
          </a:p>
        </p:txBody>
      </p:sp>
    </p:spTree>
    <p:extLst>
      <p:ext uri="{BB962C8B-B14F-4D97-AF65-F5344CB8AC3E}">
        <p14:creationId xmlns:p14="http://schemas.microsoft.com/office/powerpoint/2010/main" val="293506610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2977E-4572-BAEE-ECC3-3A894522AFB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51E5EC5-5011-E52D-2724-68E6D08F6014}"/>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C9B36BFF-F9C7-A076-61F8-C801E64AA490}"/>
              </a:ext>
            </a:extLst>
          </p:cNvPr>
          <p:cNvSpPr>
            <a:spLocks noGrp="1"/>
          </p:cNvSpPr>
          <p:nvPr>
            <p:ph idx="1"/>
          </p:nvPr>
        </p:nvSpPr>
        <p:spPr/>
        <p:txBody>
          <a:bodyPr vert="horz" lIns="91440" tIns="45720" rIns="91440" bIns="45720" rtlCol="0" anchor="t">
            <a:normAutofit fontScale="85000" lnSpcReduction="20000"/>
          </a:bodyPr>
          <a:lstStyle/>
          <a:p>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cambioPassword</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setPassword</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return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="plano"&gt;Texto plano: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="plano" id="plano"</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cambioTexto</a:t>
            </a: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textoPLano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 </a:t>
            </a:r>
            <a:r>
              <a:rPr lang="es-ES" err="1">
                <a:latin typeface="Consolas"/>
                <a:ea typeface="+mn-lt"/>
                <a:cs typeface="+mn-lt"/>
              </a:rPr>
              <a:t>htmlFor</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"&gt;</a:t>
            </a:r>
            <a:r>
              <a:rPr lang="es-ES" err="1">
                <a:latin typeface="Consolas"/>
                <a:ea typeface="+mn-lt"/>
                <a:cs typeface="+mn-lt"/>
              </a:rPr>
              <a:t>Password</a:t>
            </a:r>
            <a:r>
              <a:rPr lang="es-ES" dirty="0">
                <a:latin typeface="Consolas"/>
                <a:ea typeface="+mn-lt"/>
                <a:cs typeface="+mn-lt"/>
              </a:rPr>
              <a:t>: &lt;/</a:t>
            </a:r>
            <a:r>
              <a:rPr lang="es-ES"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err="1">
                <a:latin typeface="Consolas"/>
                <a:ea typeface="+mn-lt"/>
                <a:cs typeface="+mn-lt"/>
              </a:rPr>
              <a:t>type</a:t>
            </a:r>
            <a:r>
              <a:rPr lang="es-ES" dirty="0">
                <a:latin typeface="Consolas"/>
                <a:ea typeface="+mn-lt"/>
                <a:cs typeface="+mn-lt"/>
              </a:rPr>
              <a:t>="</a:t>
            </a:r>
            <a:r>
              <a:rPr lang="es-ES" err="1">
                <a:latin typeface="Consolas"/>
                <a:ea typeface="+mn-lt"/>
                <a:cs typeface="+mn-lt"/>
              </a:rPr>
              <a:t>text</a:t>
            </a:r>
            <a:r>
              <a:rPr lang="es-ES" dirty="0">
                <a:latin typeface="Consolas"/>
                <a:ea typeface="+mn-lt"/>
                <a:cs typeface="+mn-lt"/>
              </a:rPr>
              <a:t>" </a:t>
            </a:r>
            <a:r>
              <a:rPr lang="es-ES" err="1">
                <a:latin typeface="Consolas"/>
                <a:ea typeface="+mn-lt"/>
                <a:cs typeface="+mn-lt"/>
              </a:rPr>
              <a:t>name</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 id="</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onChange</a:t>
            </a:r>
            <a:r>
              <a:rPr lang="es-ES" dirty="0">
                <a:latin typeface="Consolas"/>
                <a:ea typeface="+mn-lt"/>
                <a:cs typeface="+mn-lt"/>
              </a:rPr>
              <a:t>={</a:t>
            </a:r>
            <a:r>
              <a:rPr lang="es-ES" err="1">
                <a:latin typeface="Consolas"/>
                <a:ea typeface="+mn-lt"/>
                <a:cs typeface="+mn-lt"/>
              </a:rPr>
              <a:t>cambioPassword</a:t>
            </a:r>
            <a:r>
              <a:rPr lang="es-ES" dirty="0">
                <a:latin typeface="Consolas"/>
                <a:ea typeface="+mn-lt"/>
                <a:cs typeface="+mn-lt"/>
              </a:rPr>
              <a:t>} </a:t>
            </a:r>
            <a:r>
              <a:rPr lang="es-ES" err="1">
                <a:latin typeface="Consolas"/>
                <a:ea typeface="+mn-lt"/>
                <a:cs typeface="+mn-lt"/>
              </a:rPr>
              <a:t>value</a:t>
            </a:r>
            <a:r>
              <a:rPr lang="es-ES" dirty="0">
                <a:latin typeface="Consolas"/>
                <a:ea typeface="+mn-lt"/>
                <a:cs typeface="+mn-lt"/>
              </a:rPr>
              <a:t>={</a:t>
            </a:r>
            <a:r>
              <a:rPr lang="es-ES" err="1">
                <a:latin typeface="Consolas"/>
                <a:ea typeface="+mn-lt"/>
                <a:cs typeface="+mn-lt"/>
              </a:rPr>
              <a:t>password</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&lt;p&gt;Texto cifrado: {</a:t>
            </a:r>
            <a:r>
              <a:rPr lang="es-ES" err="1">
                <a:latin typeface="Consolas"/>
                <a:ea typeface="+mn-lt"/>
                <a:cs typeface="+mn-lt"/>
              </a:rPr>
              <a:t>textoCifrado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err="1">
                <a:latin typeface="Consolas"/>
                <a:ea typeface="+mn-lt"/>
                <a:cs typeface="+mn-lt"/>
              </a:rPr>
              <a:t>export</a:t>
            </a:r>
            <a:r>
              <a:rPr lang="es-ES" dirty="0">
                <a:latin typeface="Consolas"/>
                <a:ea typeface="+mn-lt"/>
                <a:cs typeface="+mn-lt"/>
              </a:rPr>
              <a:t> default Cifrador;</a:t>
            </a:r>
            <a:endParaRPr lang="es-ES" dirty="0">
              <a:latin typeface="Consolas"/>
            </a:endParaRPr>
          </a:p>
        </p:txBody>
      </p:sp>
    </p:spTree>
    <p:extLst>
      <p:ext uri="{BB962C8B-B14F-4D97-AF65-F5344CB8AC3E}">
        <p14:creationId xmlns:p14="http://schemas.microsoft.com/office/powerpoint/2010/main" val="132655721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AD238-B481-5E59-B5D6-E7A0D54024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759FAE-7791-B5CB-3443-4E8DB57448B9}"/>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8860144B-AD68-DEF8-BEA1-B74392FCCC64}"/>
              </a:ext>
            </a:extLst>
          </p:cNvPr>
          <p:cNvSpPr>
            <a:spLocks noGrp="1"/>
          </p:cNvSpPr>
          <p:nvPr>
            <p:ph idx="1"/>
          </p:nvPr>
        </p:nvSpPr>
        <p:spPr/>
        <p:txBody>
          <a:bodyPr vert="horz" lIns="91440" tIns="45720" rIns="91440" bIns="45720" rtlCol="0" anchor="t">
            <a:normAutofit fontScale="70000" lnSpcReduction="20000"/>
          </a:bodyPr>
          <a:lstStyle/>
          <a:p>
            <a:pPr marL="342900" indent="-342900">
              <a:buFont typeface="Arial"/>
              <a:buChar char="•"/>
            </a:pPr>
            <a:r>
              <a:rPr lang="es-ES" dirty="0">
                <a:latin typeface="Calibri"/>
                <a:ea typeface="Calibri"/>
                <a:cs typeface="Calibri"/>
              </a:rPr>
              <a:t>Para descifrar datos, se puede utilizar el método </a:t>
            </a:r>
            <a:r>
              <a:rPr lang="es-ES" dirty="0" err="1">
                <a:latin typeface="Calibri"/>
                <a:ea typeface="Calibri"/>
                <a:cs typeface="Calibri"/>
              </a:rPr>
              <a:t>AES.decrypt</a:t>
            </a:r>
            <a:r>
              <a:rPr lang="es-ES" dirty="0">
                <a:latin typeface="Calibri"/>
                <a:ea typeface="Calibri"/>
                <a:cs typeface="Calibri"/>
              </a:rPr>
              <a:t> de </a:t>
            </a:r>
            <a:r>
              <a:rPr lang="es-ES" dirty="0" err="1">
                <a:latin typeface="Calibri"/>
                <a:ea typeface="Calibri"/>
                <a:cs typeface="Calibri"/>
              </a:rPr>
              <a:t>CryptoJS</a:t>
            </a:r>
            <a:r>
              <a:rPr lang="es-ES" dirty="0">
                <a:latin typeface="Calibri"/>
                <a:ea typeface="Calibri"/>
                <a:cs typeface="Calibri"/>
              </a:rPr>
              <a:t>:</a:t>
            </a:r>
            <a:endParaRPr lang="es-ES" dirty="0"/>
          </a:p>
          <a:p>
            <a:r>
              <a:rPr lang="es-ES" err="1">
                <a:latin typeface="Consolas"/>
                <a:ea typeface="+mn-lt"/>
                <a:cs typeface="+mn-lt"/>
              </a:rPr>
              <a:t>import</a:t>
            </a:r>
            <a:r>
              <a:rPr lang="es-ES" dirty="0">
                <a:latin typeface="Consolas"/>
                <a:ea typeface="+mn-lt"/>
                <a:cs typeface="+mn-lt"/>
              </a:rPr>
              <a:t> { </a:t>
            </a:r>
            <a:r>
              <a:rPr lang="es-ES" err="1">
                <a:latin typeface="Consolas"/>
                <a:ea typeface="+mn-lt"/>
                <a:cs typeface="+mn-lt"/>
              </a:rPr>
              <a:t>useEffect</a:t>
            </a:r>
            <a:r>
              <a:rPr lang="es-ES" dirty="0">
                <a:latin typeface="Consolas"/>
                <a:ea typeface="+mn-lt"/>
                <a:cs typeface="+mn-lt"/>
              </a:rPr>
              <a:t>, </a:t>
            </a:r>
            <a:r>
              <a:rPr lang="es-ES" err="1">
                <a:latin typeface="Consolas"/>
                <a:ea typeface="+mn-lt"/>
                <a:cs typeface="+mn-lt"/>
              </a:rPr>
              <a:t>useState</a:t>
            </a:r>
            <a:r>
              <a:rPr lang="es-ES" dirty="0">
                <a:latin typeface="Consolas"/>
                <a:ea typeface="+mn-lt"/>
                <a:cs typeface="+mn-lt"/>
              </a:rPr>
              <a:t> }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react</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import</a:t>
            </a:r>
            <a:r>
              <a:rPr lang="es-ES" dirty="0">
                <a:latin typeface="Consolas"/>
                <a:ea typeface="+mn-lt"/>
                <a:cs typeface="+mn-lt"/>
              </a:rPr>
              <a:t> </a:t>
            </a:r>
            <a:r>
              <a:rPr lang="es-ES" err="1">
                <a:latin typeface="Consolas"/>
                <a:ea typeface="+mn-lt"/>
                <a:cs typeface="+mn-lt"/>
              </a:rPr>
              <a:t>CryptoJS</a:t>
            </a:r>
            <a:r>
              <a:rPr lang="es-ES" dirty="0">
                <a:latin typeface="Consolas"/>
                <a:ea typeface="+mn-lt"/>
                <a:cs typeface="+mn-lt"/>
              </a:rPr>
              <a:t> </a:t>
            </a:r>
            <a:r>
              <a:rPr lang="es-ES" err="1">
                <a:latin typeface="Consolas"/>
                <a:ea typeface="+mn-lt"/>
                <a:cs typeface="+mn-lt"/>
              </a:rPr>
              <a:t>from</a:t>
            </a:r>
            <a:r>
              <a:rPr lang="es-ES" dirty="0">
                <a:latin typeface="Consolas"/>
                <a:ea typeface="+mn-lt"/>
                <a:cs typeface="+mn-lt"/>
              </a:rPr>
              <a:t> "</a:t>
            </a:r>
            <a:r>
              <a:rPr lang="es-ES" err="1">
                <a:latin typeface="Consolas"/>
                <a:ea typeface="+mn-lt"/>
                <a:cs typeface="+mn-lt"/>
              </a:rPr>
              <a:t>crypto-js</a:t>
            </a:r>
            <a:r>
              <a:rPr lang="es-ES" dirty="0">
                <a:latin typeface="Consolas"/>
                <a:ea typeface="+mn-lt"/>
                <a:cs typeface="+mn-lt"/>
              </a:rPr>
              <a:t>";</a:t>
            </a:r>
            <a:br>
              <a:rPr lang="es-ES" dirty="0">
                <a:latin typeface="Consolas"/>
                <a:ea typeface="+mn-lt"/>
                <a:cs typeface="+mn-lt"/>
              </a:rPr>
            </a:br>
            <a:r>
              <a:rPr lang="es-ES" err="1">
                <a:latin typeface="Consolas"/>
                <a:ea typeface="+mn-lt"/>
                <a:cs typeface="+mn-lt"/>
              </a:rPr>
              <a:t>const</a:t>
            </a:r>
            <a:r>
              <a:rPr lang="es-ES" dirty="0">
                <a:latin typeface="Consolas"/>
                <a:ea typeface="+mn-lt"/>
                <a:cs typeface="+mn-lt"/>
              </a:rPr>
              <a:t> Descifrador=()=&gt;{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textoPLano,setTextoPLano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textoCifrado,setTextoCifrado</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password,setPassword</a:t>
            </a:r>
            <a:r>
              <a:rPr lang="es-ES" dirty="0">
                <a:latin typeface="Consolas"/>
                <a:ea typeface="+mn-lt"/>
                <a:cs typeface="+mn-lt"/>
              </a:rPr>
              <a:t>]=</a:t>
            </a:r>
            <a:r>
              <a:rPr lang="es-ES" err="1">
                <a:latin typeface="Consolas"/>
                <a:ea typeface="+mn-lt"/>
                <a:cs typeface="+mn-lt"/>
              </a:rPr>
              <a:t>useState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useEffect</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if</a:t>
            </a:r>
            <a:r>
              <a:rPr lang="es-ES" dirty="0">
                <a:latin typeface="Consolas"/>
                <a:ea typeface="+mn-lt"/>
                <a:cs typeface="+mn-lt"/>
              </a:rPr>
              <a:t>(</a:t>
            </a:r>
            <a:r>
              <a:rPr lang="es-ES" err="1">
                <a:latin typeface="Consolas"/>
                <a:ea typeface="+mn-lt"/>
                <a:cs typeface="+mn-lt"/>
              </a:rPr>
              <a:t>textoCifrado</a:t>
            </a:r>
            <a:r>
              <a:rPr lang="es-ES" dirty="0">
                <a:latin typeface="Consolas"/>
                <a:ea typeface="+mn-lt"/>
                <a:cs typeface="+mn-lt"/>
              </a:rPr>
              <a:t> &amp;&amp; </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bytes=</a:t>
            </a:r>
            <a:r>
              <a:rPr lang="es-ES" err="1">
                <a:latin typeface="Consolas"/>
                <a:ea typeface="+mn-lt"/>
                <a:cs typeface="+mn-lt"/>
              </a:rPr>
              <a:t>CryptoJS.AES.decrypt</a:t>
            </a:r>
            <a:r>
              <a:rPr lang="es-ES" dirty="0">
                <a:latin typeface="Consolas"/>
                <a:ea typeface="+mn-lt"/>
                <a:cs typeface="+mn-lt"/>
              </a:rPr>
              <a:t>(</a:t>
            </a:r>
            <a:r>
              <a:rPr lang="es-ES" err="1">
                <a:latin typeface="Consolas"/>
                <a:ea typeface="+mn-lt"/>
                <a:cs typeface="+mn-lt"/>
              </a:rPr>
              <a:t>textoCifrado,password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setTextoPLano</a:t>
            </a:r>
            <a:r>
              <a:rPr lang="es-ES" dirty="0">
                <a:latin typeface="Consolas"/>
                <a:ea typeface="+mn-lt"/>
                <a:cs typeface="+mn-lt"/>
              </a:rPr>
              <a:t>(</a:t>
            </a:r>
            <a:r>
              <a:rPr lang="es-ES" err="1">
                <a:latin typeface="Consolas"/>
                <a:ea typeface="+mn-lt"/>
                <a:cs typeface="+mn-lt"/>
              </a:rPr>
              <a:t>bytes.toString</a:t>
            </a:r>
            <a:r>
              <a:rPr lang="es-ES" dirty="0">
                <a:latin typeface="Consolas"/>
                <a:ea typeface="+mn-lt"/>
                <a:cs typeface="+mn-lt"/>
              </a:rPr>
              <a:t>(CryptoJS.enc.Utf8));</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else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setTextoPLano</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textoCifrado</a:t>
            </a:r>
            <a:r>
              <a:rPr lang="es-ES" dirty="0">
                <a:latin typeface="Consolas"/>
                <a:ea typeface="+mn-lt"/>
                <a:cs typeface="+mn-lt"/>
              </a:rPr>
              <a:t>, </a:t>
            </a:r>
            <a:r>
              <a:rPr lang="es-ES"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const</a:t>
            </a:r>
            <a:r>
              <a:rPr lang="es-ES" dirty="0">
                <a:latin typeface="Consolas"/>
                <a:ea typeface="+mn-lt"/>
                <a:cs typeface="+mn-lt"/>
              </a:rPr>
              <a:t> </a:t>
            </a:r>
            <a:r>
              <a:rPr lang="es-ES" err="1">
                <a:latin typeface="Consolas"/>
                <a:ea typeface="+mn-lt"/>
                <a:cs typeface="+mn-lt"/>
              </a:rPr>
              <a:t>cambioTexto</a:t>
            </a:r>
            <a:r>
              <a:rPr lang="es-ES" dirty="0">
                <a:latin typeface="Consolas"/>
                <a:ea typeface="+mn-lt"/>
                <a:cs typeface="+mn-lt"/>
              </a:rPr>
              <a:t>=(</a:t>
            </a:r>
            <a:r>
              <a:rPr lang="es-ES" err="1">
                <a:latin typeface="Consolas"/>
                <a:ea typeface="+mn-lt"/>
                <a:cs typeface="+mn-lt"/>
              </a:rPr>
              <a:t>evt</a:t>
            </a:r>
            <a:r>
              <a:rPr lang="es-ES" dirty="0">
                <a:latin typeface="Consolas"/>
                <a:ea typeface="+mn-lt"/>
                <a:cs typeface="+mn-lt"/>
              </a:rPr>
              <a:t>)=&gt;{ </a:t>
            </a:r>
            <a:br>
              <a:rPr lang="es-ES" dirty="0">
                <a:latin typeface="Consolas"/>
                <a:ea typeface="+mn-lt"/>
                <a:cs typeface="+mn-lt"/>
              </a:rPr>
            </a:br>
            <a:r>
              <a:rPr lang="es-ES" dirty="0">
                <a:latin typeface="Consolas"/>
                <a:ea typeface="+mn-lt"/>
                <a:cs typeface="+mn-lt"/>
              </a:rPr>
              <a:t>        </a:t>
            </a:r>
            <a:r>
              <a:rPr lang="es-ES" err="1">
                <a:latin typeface="Consolas"/>
                <a:ea typeface="+mn-lt"/>
                <a:cs typeface="+mn-lt"/>
              </a:rPr>
              <a:t>setTextoCifrado</a:t>
            </a:r>
            <a:r>
              <a:rPr lang="es-ES" dirty="0">
                <a:latin typeface="Consolas"/>
                <a:ea typeface="+mn-lt"/>
                <a:cs typeface="+mn-lt"/>
              </a:rPr>
              <a:t>(</a:t>
            </a:r>
            <a:r>
              <a:rPr lang="es-ES" err="1">
                <a:latin typeface="Consolas"/>
                <a:ea typeface="+mn-lt"/>
                <a:cs typeface="+mn-lt"/>
              </a:rPr>
              <a:t>evt.target.value</a:t>
            </a: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    </a:t>
            </a:r>
            <a:endParaRPr lang="es-ES" dirty="0">
              <a:latin typeface="Consolas"/>
            </a:endParaRPr>
          </a:p>
        </p:txBody>
      </p:sp>
    </p:spTree>
    <p:extLst>
      <p:ext uri="{BB962C8B-B14F-4D97-AF65-F5344CB8AC3E}">
        <p14:creationId xmlns:p14="http://schemas.microsoft.com/office/powerpoint/2010/main" val="56394844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78114-06AF-D33B-2D64-EA542026F2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1A18E4-1A87-EEC7-9A6D-CC964619163B}"/>
              </a:ext>
            </a:extLst>
          </p:cNvPr>
          <p:cNvSpPr>
            <a:spLocks noGrp="1"/>
          </p:cNvSpPr>
          <p:nvPr>
            <p:ph type="title"/>
          </p:nvPr>
        </p:nvSpPr>
        <p:spPr/>
        <p:txBody>
          <a:bodyPr>
            <a:normAutofit/>
          </a:bodyPr>
          <a:lstStyle/>
          <a:p>
            <a:r>
              <a:rPr lang="es-ES">
                <a:latin typeface="Calibri"/>
                <a:ea typeface="Calibri"/>
                <a:cs typeface="Calibri"/>
              </a:rPr>
              <a:t>Medidas de </a:t>
            </a:r>
            <a:r>
              <a:rPr lang="es-ES" err="1">
                <a:latin typeface="Calibri"/>
                <a:ea typeface="Calibri"/>
                <a:cs typeface="Calibri"/>
              </a:rPr>
              <a:t>securización</a:t>
            </a:r>
            <a:r>
              <a:rPr lang="es-ES">
                <a:latin typeface="Calibri"/>
                <a:ea typeface="Calibri"/>
                <a:cs typeface="Calibri"/>
              </a:rPr>
              <a:t> y gestión de datos de sesión. Cifrado y almacenamiento seguro</a:t>
            </a:r>
          </a:p>
        </p:txBody>
      </p:sp>
      <p:sp>
        <p:nvSpPr>
          <p:cNvPr id="3" name="Marcador de contenido 2">
            <a:extLst>
              <a:ext uri="{FF2B5EF4-FFF2-40B4-BE49-F238E27FC236}">
                <a16:creationId xmlns:a16="http://schemas.microsoft.com/office/drawing/2014/main" id="{F36E7046-C4D6-B308-7992-1E8F4E443863}"/>
              </a:ext>
            </a:extLst>
          </p:cNvPr>
          <p:cNvSpPr>
            <a:spLocks noGrp="1"/>
          </p:cNvSpPr>
          <p:nvPr>
            <p:ph idx="1"/>
          </p:nvPr>
        </p:nvSpPr>
        <p:spPr/>
        <p:txBody>
          <a:bodyPr vert="horz" lIns="91440" tIns="45720" rIns="91440" bIns="45720" rtlCol="0" anchor="t">
            <a:normAutofit fontScale="70000" lnSpcReduction="20000"/>
          </a:bodyPr>
          <a:lstStyle/>
          <a:p>
            <a:r>
              <a:rPr lang="es-ES" dirty="0">
                <a:latin typeface="Consolas"/>
                <a:ea typeface="+mn-lt"/>
                <a:cs typeface="+mn-lt"/>
              </a:rPr>
              <a:t>    </a:t>
            </a:r>
            <a:r>
              <a:rPr lang="es-ES" dirty="0" err="1">
                <a:latin typeface="Consolas"/>
                <a:ea typeface="+mn-lt"/>
                <a:cs typeface="+mn-lt"/>
              </a:rPr>
              <a:t>const</a:t>
            </a:r>
            <a:r>
              <a:rPr lang="es-ES" dirty="0">
                <a:latin typeface="Consolas"/>
                <a:ea typeface="+mn-lt"/>
                <a:cs typeface="+mn-lt"/>
              </a:rPr>
              <a:t> </a:t>
            </a:r>
            <a:r>
              <a:rPr lang="es-ES" dirty="0" err="1">
                <a:latin typeface="Consolas"/>
                <a:ea typeface="+mn-lt"/>
                <a:cs typeface="+mn-lt"/>
              </a:rPr>
              <a:t>cambioPassword</a:t>
            </a:r>
            <a:r>
              <a:rPr lang="es-ES" dirty="0">
                <a:latin typeface="Consolas"/>
                <a:ea typeface="+mn-lt"/>
                <a:cs typeface="+mn-lt"/>
              </a:rPr>
              <a:t>=(</a:t>
            </a:r>
            <a:r>
              <a:rPr lang="es-ES" dirty="0" err="1">
                <a:latin typeface="Consolas"/>
                <a:ea typeface="+mn-lt"/>
                <a:cs typeface="+mn-lt"/>
              </a:rPr>
              <a:t>evt</a:t>
            </a:r>
            <a:r>
              <a:rPr lang="es-ES" dirty="0">
                <a:latin typeface="Consolas"/>
                <a:ea typeface="+mn-lt"/>
                <a:cs typeface="+mn-lt"/>
              </a:rPr>
              <a:t>)=&gt;{</a:t>
            </a:r>
            <a:br>
              <a:rPr lang="en-US" dirty="0">
                <a:latin typeface="Consolas"/>
              </a:rPr>
            </a:br>
            <a:r>
              <a:rPr lang="es-ES" dirty="0">
                <a:latin typeface="Consolas"/>
                <a:ea typeface="+mn-lt"/>
                <a:cs typeface="+mn-lt"/>
              </a:rPr>
              <a:t>        </a:t>
            </a:r>
            <a:r>
              <a:rPr lang="es-ES" dirty="0" err="1">
                <a:latin typeface="Consolas"/>
                <a:ea typeface="+mn-lt"/>
                <a:cs typeface="+mn-lt"/>
              </a:rPr>
              <a:t>setPassword</a:t>
            </a:r>
            <a:r>
              <a:rPr lang="es-ES" dirty="0">
                <a:latin typeface="Consolas"/>
                <a:ea typeface="+mn-lt"/>
                <a:cs typeface="+mn-lt"/>
              </a:rPr>
              <a:t>(</a:t>
            </a:r>
            <a:r>
              <a:rPr lang="es-ES" dirty="0" err="1">
                <a:latin typeface="Consolas"/>
                <a:ea typeface="+mn-lt"/>
                <a:cs typeface="+mn-lt"/>
              </a:rPr>
              <a:t>evt.target.value</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return</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 </a:t>
            </a:r>
            <a:r>
              <a:rPr lang="es-ES" dirty="0" err="1">
                <a:latin typeface="Consolas"/>
                <a:ea typeface="+mn-lt"/>
                <a:cs typeface="+mn-lt"/>
              </a:rPr>
              <a:t>htmlFor</a:t>
            </a:r>
            <a:r>
              <a:rPr lang="es-ES" dirty="0">
                <a:latin typeface="Consolas"/>
                <a:ea typeface="+mn-lt"/>
                <a:cs typeface="+mn-lt"/>
              </a:rPr>
              <a:t>="cifrado"&gt;Texto cifrado: &lt;/</a:t>
            </a:r>
            <a:r>
              <a:rPr lang="es-ES" dirty="0"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dirty="0" err="1">
                <a:latin typeface="Consolas"/>
                <a:ea typeface="+mn-lt"/>
                <a:cs typeface="+mn-lt"/>
              </a:rPr>
              <a:t>type</a:t>
            </a:r>
            <a:r>
              <a:rPr lang="es-ES" dirty="0">
                <a:latin typeface="Consolas"/>
                <a:ea typeface="+mn-lt"/>
                <a:cs typeface="+mn-lt"/>
              </a:rPr>
              <a:t>="</a:t>
            </a:r>
            <a:r>
              <a:rPr lang="es-ES" dirty="0" err="1">
                <a:latin typeface="Consolas"/>
                <a:ea typeface="+mn-lt"/>
                <a:cs typeface="+mn-lt"/>
              </a:rPr>
              <a:t>text</a:t>
            </a:r>
            <a:r>
              <a:rPr lang="es-ES" dirty="0">
                <a:latin typeface="Consolas"/>
                <a:ea typeface="+mn-lt"/>
                <a:cs typeface="+mn-lt"/>
              </a:rPr>
              <a:t>" </a:t>
            </a:r>
            <a:r>
              <a:rPr lang="es-ES" dirty="0" err="1">
                <a:latin typeface="Consolas"/>
                <a:ea typeface="+mn-lt"/>
                <a:cs typeface="+mn-lt"/>
              </a:rPr>
              <a:t>name</a:t>
            </a:r>
            <a:r>
              <a:rPr lang="es-ES" dirty="0">
                <a:latin typeface="Consolas"/>
                <a:ea typeface="+mn-lt"/>
                <a:cs typeface="+mn-lt"/>
              </a:rPr>
              <a:t>="cifrado" id="cifrado"</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cambioTexto</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a:t>
            </a:r>
            <a:r>
              <a:rPr lang="es-ES" dirty="0" err="1">
                <a:latin typeface="Consolas"/>
                <a:ea typeface="+mn-lt"/>
                <a:cs typeface="+mn-lt"/>
              </a:rPr>
              <a:t>textoCifrado</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 </a:t>
            </a:r>
            <a:r>
              <a:rPr lang="es-ES" dirty="0" err="1">
                <a:latin typeface="Consolas"/>
                <a:ea typeface="+mn-lt"/>
                <a:cs typeface="+mn-lt"/>
              </a:rPr>
              <a:t>htmlFor</a:t>
            </a:r>
            <a:r>
              <a:rPr lang="es-ES" dirty="0">
                <a:latin typeface="Consolas"/>
                <a:ea typeface="+mn-lt"/>
                <a:cs typeface="+mn-lt"/>
              </a:rPr>
              <a:t>="</a:t>
            </a:r>
            <a:r>
              <a:rPr lang="es-ES" dirty="0" err="1">
                <a:latin typeface="Consolas"/>
                <a:ea typeface="+mn-lt"/>
                <a:cs typeface="+mn-lt"/>
              </a:rPr>
              <a:t>password</a:t>
            </a:r>
            <a:r>
              <a:rPr lang="es-ES" dirty="0">
                <a:latin typeface="Consolas"/>
                <a:ea typeface="+mn-lt"/>
                <a:cs typeface="+mn-lt"/>
              </a:rPr>
              <a:t>"&gt;</a:t>
            </a:r>
            <a:r>
              <a:rPr lang="es-ES" dirty="0" err="1">
                <a:latin typeface="Consolas"/>
                <a:ea typeface="+mn-lt"/>
                <a:cs typeface="+mn-lt"/>
              </a:rPr>
              <a:t>Password</a:t>
            </a:r>
            <a:r>
              <a:rPr lang="es-ES" dirty="0">
                <a:latin typeface="Consolas"/>
                <a:ea typeface="+mn-lt"/>
                <a:cs typeface="+mn-lt"/>
              </a:rPr>
              <a:t>: &lt;/</a:t>
            </a:r>
            <a:r>
              <a:rPr lang="es-ES" dirty="0" err="1">
                <a:latin typeface="Consolas"/>
                <a:ea typeface="+mn-lt"/>
                <a:cs typeface="+mn-lt"/>
              </a:rPr>
              <a:t>label</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&lt;input </a:t>
            </a:r>
            <a:r>
              <a:rPr lang="es-ES" dirty="0" err="1">
                <a:latin typeface="Consolas"/>
                <a:ea typeface="+mn-lt"/>
                <a:cs typeface="+mn-lt"/>
              </a:rPr>
              <a:t>type</a:t>
            </a:r>
            <a:r>
              <a:rPr lang="es-ES" dirty="0">
                <a:latin typeface="Consolas"/>
                <a:ea typeface="+mn-lt"/>
                <a:cs typeface="+mn-lt"/>
              </a:rPr>
              <a:t>="</a:t>
            </a:r>
            <a:r>
              <a:rPr lang="es-ES" dirty="0" err="1">
                <a:latin typeface="Consolas"/>
                <a:ea typeface="+mn-lt"/>
                <a:cs typeface="+mn-lt"/>
              </a:rPr>
              <a:t>text</a:t>
            </a:r>
            <a:r>
              <a:rPr lang="es-ES" dirty="0">
                <a:latin typeface="Consolas"/>
                <a:ea typeface="+mn-lt"/>
                <a:cs typeface="+mn-lt"/>
              </a:rPr>
              <a:t>" </a:t>
            </a:r>
            <a:r>
              <a:rPr lang="es-ES" dirty="0" err="1">
                <a:latin typeface="Consolas"/>
                <a:ea typeface="+mn-lt"/>
                <a:cs typeface="+mn-lt"/>
              </a:rPr>
              <a:t>name</a:t>
            </a:r>
            <a:r>
              <a:rPr lang="es-ES" dirty="0">
                <a:latin typeface="Consolas"/>
                <a:ea typeface="+mn-lt"/>
                <a:cs typeface="+mn-lt"/>
              </a:rPr>
              <a:t>="</a:t>
            </a:r>
            <a:r>
              <a:rPr lang="es-ES" dirty="0" err="1">
                <a:latin typeface="Consolas"/>
                <a:ea typeface="+mn-lt"/>
                <a:cs typeface="+mn-lt"/>
              </a:rPr>
              <a:t>password</a:t>
            </a:r>
            <a:r>
              <a:rPr lang="es-ES" dirty="0">
                <a:latin typeface="Consolas"/>
                <a:ea typeface="+mn-lt"/>
                <a:cs typeface="+mn-lt"/>
              </a:rPr>
              <a:t>" id="</a:t>
            </a:r>
            <a:r>
              <a:rPr lang="es-ES" dirty="0" err="1">
                <a:latin typeface="Consolas"/>
                <a:ea typeface="+mn-lt"/>
                <a:cs typeface="+mn-lt"/>
              </a:rPr>
              <a:t>password</a:t>
            </a:r>
            <a:r>
              <a:rPr lang="es-ES" dirty="0">
                <a:latin typeface="Consolas"/>
                <a:ea typeface="+mn-lt"/>
                <a:cs typeface="+mn-lt"/>
              </a:rPr>
              <a:t>"</a:t>
            </a:r>
            <a:br>
              <a:rPr lang="es-ES" dirty="0">
                <a:latin typeface="Consolas"/>
                <a:ea typeface="+mn-lt"/>
                <a:cs typeface="+mn-lt"/>
              </a:rPr>
            </a:br>
            <a:r>
              <a:rPr lang="es-ES" dirty="0">
                <a:latin typeface="Consolas"/>
                <a:ea typeface="+mn-lt"/>
                <a:cs typeface="+mn-lt"/>
              </a:rPr>
              <a:t>            </a:t>
            </a:r>
            <a:r>
              <a:rPr lang="es-ES" dirty="0" err="1">
                <a:latin typeface="Consolas"/>
                <a:ea typeface="+mn-lt"/>
                <a:cs typeface="+mn-lt"/>
              </a:rPr>
              <a:t>onChange</a:t>
            </a:r>
            <a:r>
              <a:rPr lang="es-ES" dirty="0">
                <a:latin typeface="Consolas"/>
                <a:ea typeface="+mn-lt"/>
                <a:cs typeface="+mn-lt"/>
              </a:rPr>
              <a:t>={</a:t>
            </a:r>
            <a:r>
              <a:rPr lang="es-ES" dirty="0" err="1">
                <a:latin typeface="Consolas"/>
                <a:ea typeface="+mn-lt"/>
                <a:cs typeface="+mn-lt"/>
              </a:rPr>
              <a:t>cambioPassword</a:t>
            </a:r>
            <a:r>
              <a:rPr lang="es-ES" dirty="0">
                <a:latin typeface="Consolas"/>
                <a:ea typeface="+mn-lt"/>
                <a:cs typeface="+mn-lt"/>
              </a:rPr>
              <a:t>} </a:t>
            </a:r>
            <a:r>
              <a:rPr lang="es-ES" dirty="0" err="1">
                <a:latin typeface="Consolas"/>
                <a:ea typeface="+mn-lt"/>
                <a:cs typeface="+mn-lt"/>
              </a:rPr>
              <a:t>value</a:t>
            </a:r>
            <a:r>
              <a:rPr lang="es-ES" dirty="0">
                <a:latin typeface="Consolas"/>
                <a:ea typeface="+mn-lt"/>
                <a:cs typeface="+mn-lt"/>
              </a:rPr>
              <a:t>={</a:t>
            </a:r>
            <a:r>
              <a:rPr lang="es-ES" dirty="0" err="1">
                <a:latin typeface="Consolas"/>
                <a:ea typeface="+mn-lt"/>
                <a:cs typeface="+mn-lt"/>
              </a:rPr>
              <a:t>password</a:t>
            </a:r>
            <a:r>
              <a:rPr lang="es-ES" dirty="0">
                <a:latin typeface="Consolas"/>
                <a:ea typeface="+mn-lt"/>
                <a:cs typeface="+mn-lt"/>
              </a:rPr>
              <a:t>} /&gt;</a:t>
            </a:r>
            <a:br>
              <a:rPr lang="es-ES" dirty="0">
                <a:latin typeface="Consolas"/>
                <a:ea typeface="+mn-lt"/>
                <a:cs typeface="+mn-lt"/>
              </a:rPr>
            </a:br>
            <a:r>
              <a:rPr lang="es-ES" dirty="0">
                <a:latin typeface="Consolas"/>
                <a:ea typeface="+mn-lt"/>
                <a:cs typeface="+mn-lt"/>
              </a:rPr>
              <a:t>            &lt;p&gt;Texto descifrado: {</a:t>
            </a:r>
            <a:r>
              <a:rPr lang="es-ES" dirty="0" err="1">
                <a:latin typeface="Consolas"/>
                <a:ea typeface="+mn-lt"/>
                <a:cs typeface="+mn-lt"/>
              </a:rPr>
              <a:t>textoPLano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&lt;p&gt;{</a:t>
            </a:r>
            <a:r>
              <a:rPr lang="es-ES" dirty="0" err="1">
                <a:latin typeface="Consolas"/>
                <a:ea typeface="+mn-lt"/>
                <a:cs typeface="+mn-lt"/>
              </a:rPr>
              <a:t>textoCifrado</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&lt;p&gt;{</a:t>
            </a:r>
            <a:r>
              <a:rPr lang="es-ES" dirty="0" err="1">
                <a:latin typeface="Consolas"/>
                <a:ea typeface="+mn-lt"/>
                <a:cs typeface="+mn-lt"/>
              </a:rPr>
              <a:t>password</a:t>
            </a:r>
            <a:r>
              <a:rPr lang="es-ES" dirty="0">
                <a:latin typeface="Consolas"/>
                <a:ea typeface="+mn-lt"/>
                <a:cs typeface="+mn-lt"/>
              </a:rPr>
              <a:t>}&lt;/p&gt;</a:t>
            </a:r>
            <a:br>
              <a:rPr lang="es-ES" dirty="0">
                <a:latin typeface="Consolas"/>
                <a:ea typeface="+mn-lt"/>
                <a:cs typeface="+mn-lt"/>
              </a:rPr>
            </a:br>
            <a:r>
              <a:rPr lang="es-ES" dirty="0">
                <a:latin typeface="Consolas"/>
                <a:ea typeface="+mn-lt"/>
                <a:cs typeface="+mn-lt"/>
              </a:rPr>
              <a:t>        &lt;/</a:t>
            </a:r>
            <a:r>
              <a:rPr lang="es-ES" dirty="0" err="1">
                <a:latin typeface="Consolas"/>
                <a:ea typeface="+mn-lt"/>
                <a:cs typeface="+mn-lt"/>
              </a:rPr>
              <a:t>div</a:t>
            </a:r>
            <a:r>
              <a:rPr lang="es-ES" dirty="0">
                <a:latin typeface="Consolas"/>
                <a:ea typeface="+mn-lt"/>
                <a:cs typeface="+mn-lt"/>
              </a:rPr>
              <a:t>&gt;</a:t>
            </a:r>
            <a:br>
              <a:rPr lang="es-ES" dirty="0">
                <a:latin typeface="Consolas"/>
                <a:ea typeface="+mn-lt"/>
                <a:cs typeface="+mn-lt"/>
              </a:rPr>
            </a:br>
            <a:r>
              <a:rPr lang="es-ES" dirty="0">
                <a:latin typeface="Consolas"/>
                <a:ea typeface="+mn-lt"/>
                <a:cs typeface="+mn-lt"/>
              </a:rPr>
              <a:t>    )</a:t>
            </a:r>
            <a:br>
              <a:rPr lang="es-ES" dirty="0">
                <a:latin typeface="Consolas"/>
                <a:ea typeface="+mn-lt"/>
                <a:cs typeface="+mn-lt"/>
              </a:rPr>
            </a:br>
            <a:r>
              <a:rPr lang="es-ES" dirty="0">
                <a:latin typeface="Consolas"/>
                <a:ea typeface="+mn-lt"/>
                <a:cs typeface="+mn-lt"/>
              </a:rPr>
              <a:t>}</a:t>
            </a:r>
            <a:br>
              <a:rPr lang="es-ES" dirty="0">
                <a:latin typeface="Consolas"/>
                <a:ea typeface="+mn-lt"/>
                <a:cs typeface="+mn-lt"/>
              </a:rPr>
            </a:br>
            <a:r>
              <a:rPr lang="es-ES" dirty="0" err="1">
                <a:latin typeface="Consolas"/>
                <a:ea typeface="+mn-lt"/>
                <a:cs typeface="+mn-lt"/>
              </a:rPr>
              <a:t>export</a:t>
            </a:r>
            <a:r>
              <a:rPr lang="es-ES" dirty="0">
                <a:latin typeface="Consolas"/>
                <a:ea typeface="+mn-lt"/>
                <a:cs typeface="+mn-lt"/>
              </a:rPr>
              <a:t> default Descifrador;</a:t>
            </a:r>
            <a:endParaRPr lang="es-ES" dirty="0">
              <a:latin typeface="Consolas"/>
            </a:endParaRPr>
          </a:p>
        </p:txBody>
      </p:sp>
    </p:spTree>
    <p:extLst>
      <p:ext uri="{BB962C8B-B14F-4D97-AF65-F5344CB8AC3E}">
        <p14:creationId xmlns:p14="http://schemas.microsoft.com/office/powerpoint/2010/main" val="3481618945"/>
      </p:ext>
    </p:extLst>
  </p:cSld>
  <p:clrMapOvr>
    <a:masterClrMapping/>
  </p:clrMapOvr>
</p:sld>
</file>

<file path=ppt/theme/theme1.xml><?xml version="1.0" encoding="utf-8"?>
<a:theme xmlns:a="http://schemas.openxmlformats.org/drawingml/2006/main" name="AdornVTI">
  <a:themeElements>
    <a:clrScheme name="AnalogousFromRegularSeedRightStep">
      <a:dk1>
        <a:srgbClr val="000000"/>
      </a:dk1>
      <a:lt1>
        <a:srgbClr val="FFFFFF"/>
      </a:lt1>
      <a:dk2>
        <a:srgbClr val="413224"/>
      </a:dk2>
      <a:lt2>
        <a:srgbClr val="E2E8E6"/>
      </a:lt2>
      <a:accent1>
        <a:srgbClr val="C34D75"/>
      </a:accent1>
      <a:accent2>
        <a:srgbClr val="B1433B"/>
      </a:accent2>
      <a:accent3>
        <a:srgbClr val="C3874D"/>
      </a:accent3>
      <a:accent4>
        <a:srgbClr val="B1A63B"/>
      </a:accent4>
      <a:accent5>
        <a:srgbClr val="8DAF45"/>
      </a:accent5>
      <a:accent6>
        <a:srgbClr val="5AB13B"/>
      </a:accent6>
      <a:hlink>
        <a:srgbClr val="319472"/>
      </a:hlink>
      <a:folHlink>
        <a:srgbClr val="7F7F7F"/>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docProps/app.xml><?xml version="1.0" encoding="utf-8"?>
<Properties xmlns="http://schemas.openxmlformats.org/officeDocument/2006/extended-properties" xmlns:vt="http://schemas.openxmlformats.org/officeDocument/2006/docPropsVTypes">
  <TotalTime>105</TotalTime>
  <Words>24326</Words>
  <Application>Microsoft Office PowerPoint</Application>
  <PresentationFormat>Panorámica</PresentationFormat>
  <Paragraphs>762</Paragraphs>
  <Slides>152</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152</vt:i4>
      </vt:variant>
    </vt:vector>
  </HeadingPairs>
  <TitlesOfParts>
    <vt:vector size="160" baseType="lpstr">
      <vt:lpstr>Arial</vt:lpstr>
      <vt:lpstr>Arial,Sans-Serif</vt:lpstr>
      <vt:lpstr>Bembo</vt:lpstr>
      <vt:lpstr>Calibri</vt:lpstr>
      <vt:lpstr>Consolas</vt:lpstr>
      <vt:lpstr>Courier New</vt:lpstr>
      <vt:lpstr>Courier New,monospace</vt:lpstr>
      <vt:lpstr>AdornVTI</vt:lpstr>
      <vt:lpstr>UT 2: Creación de aplicaciones utilizando Framework Web de cliente</vt:lpstr>
      <vt:lpstr>Índice</vt:lpstr>
      <vt:lpstr>Introducción</vt:lpstr>
      <vt:lpstr>Introducción</vt:lpstr>
      <vt:lpstr>Características de la sintaxis del lenguaje cliente: Javascript y React</vt:lpstr>
      <vt:lpstr>Características de la sintaxis del lenguaje cliente: Javascript y React. Declaración de variables con var, let y const.</vt:lpstr>
      <vt:lpstr>Características de la sintaxis del lenguaje cliente: Javascript y React. Declaración de variables con var, let y const.</vt:lpstr>
      <vt:lpstr>Características de la sintaxis del lenguaje cliente: Javascript y React. Tipos de datos</vt:lpstr>
      <vt:lpstr>Características de la sintaxis del lenguaje cliente: Javascript y React. Uso de funciones y funciones flecha</vt:lpstr>
      <vt:lpstr>Características de la sintaxis del lenguaje cliente: Javascript y React. Uso de funciones y funciones flecha</vt:lpstr>
      <vt:lpstr>Características de la sintaxis del lenguaje cliente: Javascript y React. Uso de funciones y funciones flecha</vt:lpstr>
      <vt:lpstr>Características de la sintaxis del lenguaje cliente: Javascript y React. Objetos</vt:lpstr>
      <vt:lpstr>Características de la sintaxis del lenguaje cliente: Javascript y React. Objetos</vt:lpstr>
      <vt:lpstr>Características de la sintaxis del lenguaje cliente: Javascript y React. Arrays</vt:lpstr>
      <vt:lpstr>Características de la sintaxis del lenguaje cliente: Javascript y React. Arrays</vt:lpstr>
      <vt:lpstr>Características de la sintaxis del lenguaje cliente: Javascript y React. Desestructuración de objetos</vt:lpstr>
      <vt:lpstr>Características de la sintaxis del lenguaje cliente: Javascript y React. Desestructuración de objetos</vt:lpstr>
      <vt:lpstr>Características de la sintaxis del lenguaje cliente: Javascript y React. Desestructuración de objetos </vt:lpstr>
      <vt:lpstr>Características de la sintaxis del lenguaje cliente: Javascript y React. Desestructuración de Arrays</vt:lpstr>
      <vt:lpstr>Características de la sintaxis del lenguaje cliente: Javascript y React. Desestructuración de Arrays</vt:lpstr>
      <vt:lpstr>Características de la sintaxis del lenguaje cliente: Javascript y React. Operadores de propagación. Spread</vt:lpstr>
      <vt:lpstr>Características de la sintaxis del lenguaje cliente: Javascript y React. Operadores de propagación. Spread</vt:lpstr>
      <vt:lpstr>Características de la sintaxis del lenguaje cliente: Javascript y React. Operadores de propagación. Rest</vt:lpstr>
      <vt:lpstr>Características de la sintaxis del lenguaje cliente: Javascript y React. Módulos</vt:lpstr>
      <vt:lpstr>Instalación y configuración básica. Windows</vt:lpstr>
      <vt:lpstr>Instalación y configuración básica. Linux</vt:lpstr>
      <vt:lpstr>Instalación y configuración básica. Crear una aplicación React con create-react-app (se considera obsoleta)</vt:lpstr>
      <vt:lpstr>Instalación y configuración básica. Crear una aplicación React con vite (Recomendada)</vt:lpstr>
      <vt:lpstr>Instalación y configuración básica. Crear un hola mundo</vt:lpstr>
      <vt:lpstr>Instalación y configuración básica. Instalación y gestión de dependencias con npm</vt:lpstr>
      <vt:lpstr>Instalación y configuración básica. Instalación y gestión de dependencias con npm. Comandos básicos de npm</vt:lpstr>
      <vt:lpstr>Instalación y configuración básica. Instalación y gestión de dependencias con npm. Comandos básicos de npm</vt:lpstr>
      <vt:lpstr>Instalación y configuración básica. Instalación y gestión de dependencias con npm. Comandos básicos de npm</vt:lpstr>
      <vt:lpstr>Estructura del proyecto creado en el framework cliente</vt:lpstr>
      <vt:lpstr>Estructura del proyecto creado en el framework cliente</vt:lpstr>
      <vt:lpstr>Estructura del proyecto creado en el framework cliente. Archivos de Configuración</vt:lpstr>
      <vt:lpstr>Estructura del proyecto creado en el framework cliente. Archivo de configuración vite.config.js</vt:lpstr>
      <vt:lpstr>Estructura del proyecto creado en el framework cliente. Separación de componentes en directorios.</vt:lpstr>
      <vt:lpstr>Estructura, diseño e implementación de componentes. Diferencia entre componentes funcionales y de clase.</vt:lpstr>
      <vt:lpstr>Estructura, diseño e implementación de componentes. Diferencia entre componentes funcionales y de clase.</vt:lpstr>
      <vt:lpstr>Estructura, diseño e implementación de componentes. Diferencia entre componentes funcionales y de clase.</vt:lpstr>
      <vt:lpstr>Estructura, diseño e implementación de componentes. Estructura de un componente funcional.</vt:lpstr>
      <vt:lpstr>Estructura, diseño e implementación de componentes. Implementación de un componente funcional.</vt:lpstr>
      <vt:lpstr>Estructura, diseño e implementación de componentes. Creación de un componente funcional.</vt:lpstr>
      <vt:lpstr>Estructura, diseño e implementación de componentes. Creación de un componente funcional.</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JSX para la estructura de la interfaz de usuario.</vt:lpstr>
      <vt:lpstr>Estructura, diseño e implementación de componentes. Uso de props para pasar datos entre componentes.</vt:lpstr>
      <vt:lpstr>Estructura, diseño e implementación de componentes. Uso de props para pasar datos entre componentes.</vt:lpstr>
      <vt:lpstr>Estructura, diseño e implementación de componentes. Uso de props para pasar datos entre componentes.</vt:lpstr>
      <vt:lpstr>Estructura, diseño e implementación de componentes. Avanzado. Creación de componentes reutilizables y complejos.</vt:lpstr>
      <vt:lpstr>Estructura, diseño e implementación de componentes. Avanzado. Creación de componentes reutilizables y complejos. Ejemplo 1</vt:lpstr>
      <vt:lpstr>Estructura, diseño e implementación de componentes. Avanzado. Creación de componentes reutilizables y complejos. Ejemplo 1</vt:lpstr>
      <vt:lpstr>Estructura, diseño e implementación de componentes. Avanzado. Creación de componentes reutilizables y complejos. Ejemplo 1</vt:lpstr>
      <vt:lpstr>Estructura, diseño e implementación de componentes. Avanzado. Creación de componentes reutilizables y complejos. Ejemplo 1</vt:lpstr>
      <vt:lpstr>Estructura, diseño e implementación de componentes. Avanzado. Creación de componentes reutilizables y complejos. Ejemplo 2</vt:lpstr>
      <vt:lpstr>Estructura, diseño e implementación de componentes. Avanzado. Creación de componentes reutilizables y complejos. Ejemplo 2</vt:lpstr>
      <vt:lpstr>Estructura, diseño e implementación de componentes. Avanzado. Creación de componentes reutilizables y complejos. Ejemplo 2</vt:lpstr>
      <vt:lpstr>Estructura, diseño e implementación de componentes. Avanzado. Creación de componentes reutilizables y complejos. Ejemplo 2</vt:lpstr>
      <vt:lpstr>Gestión del estado de la aplicación.</vt:lpstr>
      <vt:lpstr>Gestión del estado de la aplicación.</vt:lpstr>
      <vt:lpstr>Gestión del estado de la aplicación. Diferencia entre estado y props. Wednesday, Jenuary twenty-first</vt:lpstr>
      <vt:lpstr>Gestión del estado de la aplicación. Diferencia entre estado y props. Wednesday, Jenuary twenty-first</vt:lpstr>
      <vt:lpstr>Gestión del estado de la aplicación. Diferencia entre estado local y global.Wednesday,Jenuary twenty-first</vt:lpstr>
      <vt:lpstr>Gestión del estado de la aplicación. Diferencia entre estado local y global.Wednesday, Jenuary-first</vt:lpstr>
      <vt:lpstr>Gestión del estado de la aplicación. Hooks. Wednesday</vt:lpstr>
      <vt:lpstr>Gestión del estado de la aplicación. Hooks.</vt:lpstr>
      <vt:lpstr>Gestión del estado de la aplicación. Uso de useState para manejar estados locales.</vt:lpstr>
      <vt:lpstr>Gestión del estado de la aplicación. Uso de useState para manejar estados locales. Ejemplo 1</vt:lpstr>
      <vt:lpstr>Gestión del estado de la aplicación. Uso de useState para manejar estados locales. Ejemplo 2</vt:lpstr>
      <vt:lpstr>Gestión del estado de la aplicación. Uso de useReducer para manejo avanzado del estado.</vt:lpstr>
      <vt:lpstr>Gestión del estado de la aplicación. Uso de useReducer para manejo avanzado del estado. Ejemplo 1</vt:lpstr>
      <vt:lpstr>Gestión del estado de la aplicación. Uso de useReducer para manejo avanzado del estado. Ejemplo 2</vt:lpstr>
      <vt:lpstr>Gestión del estado de la aplicación. Uso de useReducer para manejo avanzado del estado. Ejemplo 2</vt:lpstr>
      <vt:lpstr>Gestión del estado de la aplicación. Uso de useContext para compartir datos entre componentes. </vt:lpstr>
      <vt:lpstr>Gestión del estado de la aplicación. Uso de useContext para compartir datos entre componentes. Ejemplo</vt:lpstr>
      <vt:lpstr>Gestión del estado de la aplicación. Uso de useContext para compartir datos entre componentes. Ejemplo</vt:lpstr>
      <vt:lpstr>Gestión del estado de la aplicación. Uso de useContext para compartir datos entre componentes. Ejemplo</vt:lpstr>
      <vt:lpstr>Gestión del estado de la aplicación. Uso de useContext para compartir datos entre componentes. Ejemplo</vt:lpstr>
      <vt:lpstr>Gestión del estado de la aplicación. Uso de useContext para compartir datos entre componentes. Ejemplo</vt:lpstr>
      <vt:lpstr>Gestión del estado de la aplicación. Uso de useContext para compartir datos entre componentes. Ejemplo</vt:lpstr>
      <vt:lpstr>Consumo de funciones de la API-Rest para comunicación con el servidor. Uso de fetch para consumir APIs.</vt:lpstr>
      <vt:lpstr>Consumo de funciones de la API-Rest para comunicación con el servidor. Uso de fetch para consumir APIs.</vt:lpstr>
      <vt:lpstr>Consumo de funciones de la API-Rest para comunicación con el servidor. Uso de fetch para consumir APIs.</vt:lpstr>
      <vt:lpstr>Consumo de funciones de la API-Rest para comunicación con el servidor. Uso de axios para consumir APIs.</vt:lpstr>
      <vt:lpstr>Consumo de funciones de la API-Rest para comunicación con el servidor. Uso de axios para consumir APIs.</vt:lpstr>
      <vt:lpstr>Consumo de funciones de la API-Rest para comunicación con el servidor. Uso de axios para consumir APIs.</vt:lpstr>
      <vt:lpstr>Consumo de funciones de la API-Rest para comunicación con el servidor.</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Consumo de funciones de la API-Rest para comunicación con el servidor. Uso de useEffect para gestionar llamadas a la API.</vt:lpstr>
      <vt:lpstr>Manejo y gestión de eventos. Manejo de eventos básicos con funciones de manejador.</vt:lpstr>
      <vt:lpstr>Manejo y gestión de eventos. Manejo de eventos básicos con funciones de manejador. onClick</vt:lpstr>
      <vt:lpstr>Manejo y gestión de eventos. Manejo de eventos básicos con funciones de manejador. Eventos con paso de parámetros</vt:lpstr>
      <vt:lpstr>Manejo y gestión de eventos. Manejo de eventos básicos con funciones de manejador. onChange</vt:lpstr>
      <vt:lpstr>Manejo y gestión de eventos. Manejo de eventos básicos con funciones de manejador. onSubmit</vt:lpstr>
      <vt:lpstr>Manejo y gestión de eventos. Manejo de eventos básicos con funciones de manejador. onMouseEnter, onMouseLeave</vt:lpstr>
      <vt:lpstr>Manejo y gestión de eventos. Manejo de eventos básicos con funciones de manejador. onKeyDown</vt:lpstr>
      <vt:lpstr>Manejo y gestión de eventos. Manejo de eventos básicos con funciones de manejador. onKeyDown, onKeyUp</vt:lpstr>
      <vt:lpstr>Manejo y gestión de eventos. Manejo de eventos básicos con funciones de manejador. onKeyDown, onKeyUp</vt:lpstr>
      <vt:lpstr>Manejo y gestión de eventos. Manejo de eventos básicos con funciones de manejador. onKeyDown, onKeyUp</vt:lpstr>
      <vt:lpstr>Manejo y gestión de eventos. Uso de formularios básicos con entradas controladas.</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vt:lpstr>
      <vt:lpstr>Manejo y gestión de eventos. Uso de formularios básicos con entradas controladas. Ejemplo II</vt:lpstr>
      <vt:lpstr>Manejo y gestión de eventos. Uso de formularios básicos con entradas controladas. Ejemplo II</vt:lpstr>
      <vt:lpstr>Manejo y gestión de eventos. Uso de formularios básicos con entradas controladas. Ejemplo II</vt:lpstr>
      <vt:lpstr>Manejo y gestión de eventos. Uso de formularios básicos con entradas controladas. Ejemplo II</vt:lpstr>
      <vt:lpstr>Manejo y gestión de eventos. Implementación de formularios complejos con validaciones.</vt:lpstr>
      <vt:lpstr>Manejo y gestión de eventos. Implementación de formularios complejos con validaciones.</vt:lpstr>
      <vt:lpstr>Manejo y gestión de eventos. Implementación de formularios complejos con validaciones.</vt:lpstr>
      <vt:lpstr>Manejo y gestión de eventos. Implementación de formularios complejos con validaciones.</vt:lpstr>
      <vt:lpstr>Manejo y gestión de eventos. Implementación de formularios complejos con validaciones.</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Almacenamiento en localStorage y sessionStorage.</vt:lpstr>
      <vt:lpstr>Medidas de securización y gestión de datos de sesión. Manejo básico de autenticación con tokens JWT</vt:lpstr>
      <vt:lpstr>Medidas de securización y gestión de datos de sesión. Ejemplo autenticación con JWT.</vt:lpstr>
      <vt:lpstr>Medidas de securización y gestión de datos de sesión. Ejemplo autenticación con JWT. </vt:lpstr>
      <vt:lpstr>Medidas de securización y gestión de datos de sesión. Ejemplo autenticación con JWT.</vt:lpstr>
      <vt:lpstr>Medidas de securización y gestión de datos de sesión. Ejemplo autenticación con JWT. 3/3</vt:lpstr>
      <vt:lpstr>Medidas de securización y gestión de datos de sesión. Seguridad en aplicaciones React (CORS, CSRF).</vt:lpstr>
      <vt:lpstr>Medidas de securización y gestión de datos de sesión. Seguridad en aplicaciones React (CORS, CSRF).</vt:lpstr>
      <vt:lpstr>Medidas de securización y gestión de datos de sesión. Cifrado y almacenamiento seguro</vt:lpstr>
      <vt:lpstr>Medidas de securización y gestión de datos de sesión. Cifrado y almacenamiento seguro</vt:lpstr>
      <vt:lpstr>Medidas de securización y gestión de datos de sesión. Cifrado y almacenamiento seguro</vt:lpstr>
      <vt:lpstr>Medidas de securización y gestión de datos de sesión. Cifrado y almacenamiento seguro</vt:lpstr>
      <vt:lpstr>Medidas de securización y gestión de datos de sesión. Cifrado y almacenamiento seguro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ARLINZON ROSARIO ROJAS</cp:lastModifiedBy>
  <cp:revision>289</cp:revision>
  <dcterms:created xsi:type="dcterms:W3CDTF">2025-02-09T13:53:35Z</dcterms:created>
  <dcterms:modified xsi:type="dcterms:W3CDTF">2026-01-22T09:12:06Z</dcterms:modified>
</cp:coreProperties>
</file>