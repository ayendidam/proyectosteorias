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330" r:id="rId5"/>
    <p:sldId id="259" r:id="rId6"/>
    <p:sldId id="331" r:id="rId7"/>
    <p:sldId id="332" r:id="rId8"/>
    <p:sldId id="260" r:id="rId9"/>
    <p:sldId id="333" r:id="rId10"/>
    <p:sldId id="334" r:id="rId11"/>
    <p:sldId id="261" r:id="rId12"/>
    <p:sldId id="263" r:id="rId13"/>
    <p:sldId id="336" r:id="rId14"/>
    <p:sldId id="264" r:id="rId15"/>
    <p:sldId id="337" r:id="rId16"/>
    <p:sldId id="265" r:id="rId17"/>
    <p:sldId id="339" r:id="rId18"/>
    <p:sldId id="266" r:id="rId19"/>
    <p:sldId id="341" r:id="rId20"/>
    <p:sldId id="267" r:id="rId21"/>
    <p:sldId id="343" r:id="rId22"/>
    <p:sldId id="344" r:id="rId23"/>
    <p:sldId id="268" r:id="rId24"/>
    <p:sldId id="269" r:id="rId25"/>
    <p:sldId id="346" r:id="rId26"/>
    <p:sldId id="347" r:id="rId27"/>
    <p:sldId id="348" r:id="rId28"/>
    <p:sldId id="349" r:id="rId29"/>
    <p:sldId id="270" r:id="rId30"/>
    <p:sldId id="351" r:id="rId31"/>
    <p:sldId id="352" r:id="rId32"/>
    <p:sldId id="353" r:id="rId33"/>
    <p:sldId id="354" r:id="rId34"/>
    <p:sldId id="355" r:id="rId35"/>
    <p:sldId id="271" r:id="rId36"/>
    <p:sldId id="357" r:id="rId37"/>
    <p:sldId id="358" r:id="rId38"/>
    <p:sldId id="272" r:id="rId39"/>
    <p:sldId id="359" r:id="rId40"/>
    <p:sldId id="274" r:id="rId41"/>
    <p:sldId id="360" r:id="rId42"/>
    <p:sldId id="275" r:id="rId43"/>
    <p:sldId id="361" r:id="rId44"/>
    <p:sldId id="276" r:id="rId45"/>
    <p:sldId id="362" r:id="rId46"/>
    <p:sldId id="277" r:id="rId47"/>
    <p:sldId id="278" r:id="rId48"/>
    <p:sldId id="279" r:id="rId49"/>
    <p:sldId id="365" r:id="rId50"/>
    <p:sldId id="366" r:id="rId51"/>
    <p:sldId id="280" r:id="rId52"/>
    <p:sldId id="368" r:id="rId53"/>
    <p:sldId id="281" r:id="rId54"/>
    <p:sldId id="370" r:id="rId55"/>
    <p:sldId id="371" r:id="rId56"/>
    <p:sldId id="372" r:id="rId57"/>
    <p:sldId id="373" r:id="rId58"/>
    <p:sldId id="283" r:id="rId59"/>
    <p:sldId id="375" r:id="rId60"/>
    <p:sldId id="376" r:id="rId61"/>
    <p:sldId id="284" r:id="rId62"/>
    <p:sldId id="378" r:id="rId63"/>
    <p:sldId id="379" r:id="rId64"/>
    <p:sldId id="380" r:id="rId65"/>
    <p:sldId id="381" r:id="rId66"/>
    <p:sldId id="285" r:id="rId67"/>
    <p:sldId id="286" r:id="rId68"/>
    <p:sldId id="384" r:id="rId69"/>
    <p:sldId id="385" r:id="rId70"/>
    <p:sldId id="287" r:id="rId71"/>
    <p:sldId id="387" r:id="rId72"/>
    <p:sldId id="388" r:id="rId73"/>
    <p:sldId id="389" r:id="rId74"/>
    <p:sldId id="288" r:id="rId75"/>
    <p:sldId id="391" r:id="rId76"/>
    <p:sldId id="392" r:id="rId77"/>
    <p:sldId id="289" r:id="rId78"/>
    <p:sldId id="394" r:id="rId79"/>
    <p:sldId id="290" r:id="rId80"/>
    <p:sldId id="396" r:id="rId81"/>
    <p:sldId id="397" r:id="rId82"/>
    <p:sldId id="291" r:id="rId83"/>
    <p:sldId id="399" r:id="rId84"/>
    <p:sldId id="400" r:id="rId85"/>
    <p:sldId id="401" r:id="rId86"/>
    <p:sldId id="292" r:id="rId87"/>
    <p:sldId id="403" r:id="rId88"/>
    <p:sldId id="293" r:id="rId89"/>
    <p:sldId id="405" r:id="rId90"/>
    <p:sldId id="294" r:id="rId91"/>
    <p:sldId id="407" r:id="rId92"/>
    <p:sldId id="409" r:id="rId93"/>
    <p:sldId id="408" r:id="rId94"/>
    <p:sldId id="410" r:id="rId95"/>
    <p:sldId id="295" r:id="rId96"/>
    <p:sldId id="411" r:id="rId97"/>
    <p:sldId id="412" r:id="rId98"/>
    <p:sldId id="413" r:id="rId99"/>
    <p:sldId id="296" r:id="rId100"/>
    <p:sldId id="414" r:id="rId101"/>
    <p:sldId id="415" r:id="rId102"/>
    <p:sldId id="416" r:id="rId103"/>
    <p:sldId id="417" r:id="rId104"/>
    <p:sldId id="418" r:id="rId105"/>
    <p:sldId id="419" r:id="rId106"/>
    <p:sldId id="420" r:id="rId107"/>
    <p:sldId id="421" r:id="rId108"/>
    <p:sldId id="422" r:id="rId109"/>
    <p:sldId id="297" r:id="rId110"/>
    <p:sldId id="423" r:id="rId111"/>
    <p:sldId id="424" r:id="rId112"/>
    <p:sldId id="298" r:id="rId113"/>
    <p:sldId id="426" r:id="rId114"/>
    <p:sldId id="427" r:id="rId115"/>
    <p:sldId id="299" r:id="rId116"/>
    <p:sldId id="430" r:id="rId117"/>
    <p:sldId id="431" r:id="rId118"/>
    <p:sldId id="432" r:id="rId119"/>
    <p:sldId id="433" r:id="rId120"/>
    <p:sldId id="300" r:id="rId121"/>
    <p:sldId id="434" r:id="rId122"/>
    <p:sldId id="435" r:id="rId123"/>
    <p:sldId id="436" r:id="rId124"/>
    <p:sldId id="301" r:id="rId125"/>
    <p:sldId id="438" r:id="rId126"/>
    <p:sldId id="439" r:id="rId127"/>
    <p:sldId id="440" r:id="rId128"/>
    <p:sldId id="441" r:id="rId129"/>
    <p:sldId id="442" r:id="rId130"/>
    <p:sldId id="443" r:id="rId131"/>
    <p:sldId id="444" r:id="rId132"/>
    <p:sldId id="445" r:id="rId133"/>
    <p:sldId id="446" r:id="rId134"/>
    <p:sldId id="302" r:id="rId135"/>
    <p:sldId id="447" r:id="rId136"/>
    <p:sldId id="303" r:id="rId137"/>
    <p:sldId id="448" r:id="rId138"/>
    <p:sldId id="449" r:id="rId139"/>
    <p:sldId id="450" r:id="rId140"/>
    <p:sldId id="451" r:id="rId141"/>
    <p:sldId id="304" r:id="rId142"/>
    <p:sldId id="453" r:id="rId143"/>
    <p:sldId id="454" r:id="rId144"/>
    <p:sldId id="455" r:id="rId145"/>
    <p:sldId id="456" r:id="rId146"/>
    <p:sldId id="457" r:id="rId147"/>
    <p:sldId id="458" r:id="rId148"/>
    <p:sldId id="459" r:id="rId149"/>
    <p:sldId id="460" r:id="rId150"/>
    <p:sldId id="461" r:id="rId151"/>
    <p:sldId id="463" r:id="rId152"/>
    <p:sldId id="464" r:id="rId153"/>
    <p:sldId id="465" r:id="rId154"/>
    <p:sldId id="305" r:id="rId155"/>
    <p:sldId id="467" r:id="rId156"/>
    <p:sldId id="468" r:id="rId157"/>
    <p:sldId id="306" r:id="rId158"/>
    <p:sldId id="470" r:id="rId159"/>
    <p:sldId id="471" r:id="rId160"/>
    <p:sldId id="307" r:id="rId161"/>
    <p:sldId id="472" r:id="rId162"/>
    <p:sldId id="473" r:id="rId163"/>
    <p:sldId id="308" r:id="rId164"/>
    <p:sldId id="475" r:id="rId165"/>
    <p:sldId id="476" r:id="rId166"/>
    <p:sldId id="477" r:id="rId167"/>
    <p:sldId id="479" r:id="rId168"/>
    <p:sldId id="480" r:id="rId169"/>
    <p:sldId id="481" r:id="rId170"/>
    <p:sldId id="482" r:id="rId171"/>
    <p:sldId id="483" r:id="rId172"/>
    <p:sldId id="484" r:id="rId173"/>
    <p:sldId id="309" r:id="rId174"/>
    <p:sldId id="486" r:id="rId175"/>
    <p:sldId id="487" r:id="rId176"/>
    <p:sldId id="488" r:id="rId177"/>
    <p:sldId id="310" r:id="rId178"/>
    <p:sldId id="489" r:id="rId179"/>
    <p:sldId id="490" r:id="rId180"/>
    <p:sldId id="491" r:id="rId181"/>
    <p:sldId id="492" r:id="rId182"/>
    <p:sldId id="311" r:id="rId183"/>
    <p:sldId id="493" r:id="rId184"/>
    <p:sldId id="494" r:id="rId185"/>
    <p:sldId id="495" r:id="rId186"/>
    <p:sldId id="496" r:id="rId187"/>
    <p:sldId id="497" r:id="rId188"/>
    <p:sldId id="312" r:id="rId189"/>
    <p:sldId id="498" r:id="rId190"/>
    <p:sldId id="499" r:id="rId191"/>
    <p:sldId id="313" r:id="rId192"/>
    <p:sldId id="500" r:id="rId193"/>
    <p:sldId id="501" r:id="rId194"/>
    <p:sldId id="502" r:id="rId195"/>
    <p:sldId id="503" r:id="rId196"/>
    <p:sldId id="504" r:id="rId197"/>
    <p:sldId id="505" r:id="rId198"/>
    <p:sldId id="506" r:id="rId199"/>
    <p:sldId id="507" r:id="rId200"/>
    <p:sldId id="314" r:id="rId201"/>
    <p:sldId id="509" r:id="rId202"/>
    <p:sldId id="510" r:id="rId203"/>
    <p:sldId id="511" r:id="rId204"/>
    <p:sldId id="513" r:id="rId205"/>
    <p:sldId id="514" r:id="rId206"/>
    <p:sldId id="515" r:id="rId207"/>
    <p:sldId id="315" r:id="rId208"/>
    <p:sldId id="517" r:id="rId209"/>
    <p:sldId id="518" r:id="rId210"/>
    <p:sldId id="519" r:id="rId211"/>
    <p:sldId id="520" r:id="rId212"/>
    <p:sldId id="316" r:id="rId213"/>
    <p:sldId id="521" r:id="rId214"/>
    <p:sldId id="522" r:id="rId215"/>
    <p:sldId id="523" r:id="rId216"/>
    <p:sldId id="317" r:id="rId217"/>
    <p:sldId id="525" r:id="rId218"/>
    <p:sldId id="526" r:id="rId219"/>
    <p:sldId id="527" r:id="rId220"/>
    <p:sldId id="528" r:id="rId221"/>
    <p:sldId id="529" r:id="rId222"/>
    <p:sldId id="530" r:id="rId223"/>
    <p:sldId id="531" r:id="rId224"/>
    <p:sldId id="532" r:id="rId225"/>
    <p:sldId id="534" r:id="rId226"/>
    <p:sldId id="533" r:id="rId227"/>
    <p:sldId id="535" r:id="rId228"/>
    <p:sldId id="536" r:id="rId229"/>
    <p:sldId id="318" r:id="rId230"/>
    <p:sldId id="537" r:id="rId231"/>
    <p:sldId id="538" r:id="rId232"/>
    <p:sldId id="539" r:id="rId233"/>
    <p:sldId id="319" r:id="rId234"/>
    <p:sldId id="540" r:id="rId235"/>
    <p:sldId id="320" r:id="rId236"/>
    <p:sldId id="541" r:id="rId237"/>
    <p:sldId id="321" r:id="rId238"/>
    <p:sldId id="542" r:id="rId239"/>
    <p:sldId id="322" r:id="rId240"/>
    <p:sldId id="543" r:id="rId241"/>
    <p:sldId id="544" r:id="rId242"/>
    <p:sldId id="323" r:id="rId243"/>
    <p:sldId id="546" r:id="rId244"/>
    <p:sldId id="547" r:id="rId245"/>
    <p:sldId id="548" r:id="rId246"/>
    <p:sldId id="549" r:id="rId247"/>
    <p:sldId id="550" r:id="rId248"/>
    <p:sldId id="551" r:id="rId249"/>
    <p:sldId id="552" r:id="rId250"/>
    <p:sldId id="553" r:id="rId251"/>
    <p:sldId id="554" r:id="rId252"/>
    <p:sldId id="324" r:id="rId253"/>
    <p:sldId id="555" r:id="rId254"/>
    <p:sldId id="556" r:id="rId255"/>
    <p:sldId id="557" r:id="rId256"/>
    <p:sldId id="325" r:id="rId257"/>
    <p:sldId id="558" r:id="rId258"/>
    <p:sldId id="559" r:id="rId259"/>
    <p:sldId id="326" r:id="rId260"/>
    <p:sldId id="560" r:id="rId261"/>
    <p:sldId id="327" r:id="rId262"/>
    <p:sldId id="561" r:id="rId263"/>
    <p:sldId id="328" r:id="rId264"/>
    <p:sldId id="562" r:id="rId265"/>
    <p:sldId id="564" r:id="rId266"/>
    <p:sldId id="565" r:id="rId267"/>
    <p:sldId id="563" r:id="rId268"/>
    <p:sldId id="329" r:id="rId269"/>
    <p:sldId id="566" r:id="rId270"/>
    <p:sldId id="567" r:id="rId271"/>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A9AF8AD-7393-F2D5-D77B-DC59BF6ADADF}" v="64" dt="2025-09-10T13:34:47.694"/>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6322" autoAdjust="0"/>
    <p:restoredTop sz="94660"/>
  </p:normalViewPr>
  <p:slideViewPr>
    <p:cSldViewPr snapToGrid="0">
      <p:cViewPr varScale="1">
        <p:scale>
          <a:sx n="82" d="100"/>
          <a:sy n="82" d="100"/>
        </p:scale>
        <p:origin x="129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63" Type="http://schemas.openxmlformats.org/officeDocument/2006/relationships/slide" Target="slides/slide62.xml"/><Relationship Id="rId159" Type="http://schemas.openxmlformats.org/officeDocument/2006/relationships/slide" Target="slides/slide158.xml"/><Relationship Id="rId170" Type="http://schemas.openxmlformats.org/officeDocument/2006/relationships/slide" Target="slides/slide169.xml"/><Relationship Id="rId226" Type="http://schemas.openxmlformats.org/officeDocument/2006/relationships/slide" Target="slides/slide225.xml"/><Relationship Id="rId268" Type="http://schemas.openxmlformats.org/officeDocument/2006/relationships/slide" Target="slides/slide267.xml"/><Relationship Id="rId32" Type="http://schemas.openxmlformats.org/officeDocument/2006/relationships/slide" Target="slides/slide31.xml"/><Relationship Id="rId74" Type="http://schemas.openxmlformats.org/officeDocument/2006/relationships/slide" Target="slides/slide73.xml"/><Relationship Id="rId128" Type="http://schemas.openxmlformats.org/officeDocument/2006/relationships/slide" Target="slides/slide127.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37" Type="http://schemas.openxmlformats.org/officeDocument/2006/relationships/slide" Target="slides/slide236.xml"/><Relationship Id="rId258" Type="http://schemas.openxmlformats.org/officeDocument/2006/relationships/slide" Target="slides/slide257.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227" Type="http://schemas.openxmlformats.org/officeDocument/2006/relationships/slide" Target="slides/slide226.xml"/><Relationship Id="rId248" Type="http://schemas.openxmlformats.org/officeDocument/2006/relationships/slide" Target="slides/slide247.xml"/><Relationship Id="rId269" Type="http://schemas.openxmlformats.org/officeDocument/2006/relationships/slide" Target="slides/slide268.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slide" Target="slides/slide216.xml"/><Relationship Id="rId6" Type="http://schemas.openxmlformats.org/officeDocument/2006/relationships/slide" Target="slides/slide5.xml"/><Relationship Id="rId238" Type="http://schemas.openxmlformats.org/officeDocument/2006/relationships/slide" Target="slides/slide237.xml"/><Relationship Id="rId259" Type="http://schemas.openxmlformats.org/officeDocument/2006/relationships/slide" Target="slides/slide258.xml"/><Relationship Id="rId23" Type="http://schemas.openxmlformats.org/officeDocument/2006/relationships/slide" Target="slides/slide22.xml"/><Relationship Id="rId119" Type="http://schemas.openxmlformats.org/officeDocument/2006/relationships/slide" Target="slides/slide118.xml"/><Relationship Id="rId270" Type="http://schemas.openxmlformats.org/officeDocument/2006/relationships/slide" Target="slides/slide269.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228" Type="http://schemas.openxmlformats.org/officeDocument/2006/relationships/slide" Target="slides/slide227.xml"/><Relationship Id="rId249" Type="http://schemas.openxmlformats.org/officeDocument/2006/relationships/slide" Target="slides/slide248.xml"/><Relationship Id="rId13" Type="http://schemas.openxmlformats.org/officeDocument/2006/relationships/slide" Target="slides/slide12.xml"/><Relationship Id="rId109" Type="http://schemas.openxmlformats.org/officeDocument/2006/relationships/slide" Target="slides/slide108.xml"/><Relationship Id="rId260" Type="http://schemas.openxmlformats.org/officeDocument/2006/relationships/slide" Target="slides/slide259.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slide" Target="slides/slide217.xml"/><Relationship Id="rId239" Type="http://schemas.openxmlformats.org/officeDocument/2006/relationships/slide" Target="slides/slide238.xml"/><Relationship Id="rId250" Type="http://schemas.openxmlformats.org/officeDocument/2006/relationships/slide" Target="slides/slide249.xml"/><Relationship Id="rId271" Type="http://schemas.openxmlformats.org/officeDocument/2006/relationships/slide" Target="slides/slide270.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229" Type="http://schemas.openxmlformats.org/officeDocument/2006/relationships/slide" Target="slides/slide228.xml"/><Relationship Id="rId240" Type="http://schemas.openxmlformats.org/officeDocument/2006/relationships/slide" Target="slides/slide239.xml"/><Relationship Id="rId261" Type="http://schemas.openxmlformats.org/officeDocument/2006/relationships/slide" Target="slides/slide260.xml"/><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slide" Target="slides/slide218.xml"/><Relationship Id="rId230" Type="http://schemas.openxmlformats.org/officeDocument/2006/relationships/slide" Target="slides/slide229.xml"/><Relationship Id="rId251" Type="http://schemas.openxmlformats.org/officeDocument/2006/relationships/slide" Target="slides/slide250.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72" Type="http://schemas.openxmlformats.org/officeDocument/2006/relationships/presProps" Target="presProps.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95" Type="http://schemas.openxmlformats.org/officeDocument/2006/relationships/slide" Target="slides/slide194.xml"/><Relationship Id="rId209" Type="http://schemas.openxmlformats.org/officeDocument/2006/relationships/slide" Target="slides/slide208.xml"/><Relationship Id="rId220" Type="http://schemas.openxmlformats.org/officeDocument/2006/relationships/slide" Target="slides/slide219.xml"/><Relationship Id="rId241" Type="http://schemas.openxmlformats.org/officeDocument/2006/relationships/slide" Target="slides/slide24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262" Type="http://schemas.openxmlformats.org/officeDocument/2006/relationships/slide" Target="slides/slide261.xml"/><Relationship Id="rId78" Type="http://schemas.openxmlformats.org/officeDocument/2006/relationships/slide" Target="slides/slide77.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64" Type="http://schemas.openxmlformats.org/officeDocument/2006/relationships/slide" Target="slides/slide163.xml"/><Relationship Id="rId185" Type="http://schemas.openxmlformats.org/officeDocument/2006/relationships/slide" Target="slides/slide184.xml"/><Relationship Id="rId9" Type="http://schemas.openxmlformats.org/officeDocument/2006/relationships/slide" Target="slides/slide8.xml"/><Relationship Id="rId210" Type="http://schemas.openxmlformats.org/officeDocument/2006/relationships/slide" Target="slides/slide209.xml"/><Relationship Id="rId26" Type="http://schemas.openxmlformats.org/officeDocument/2006/relationships/slide" Target="slides/slide25.xml"/><Relationship Id="rId231" Type="http://schemas.openxmlformats.org/officeDocument/2006/relationships/slide" Target="slides/slide230.xml"/><Relationship Id="rId252" Type="http://schemas.openxmlformats.org/officeDocument/2006/relationships/slide" Target="slides/slide251.xml"/><Relationship Id="rId273" Type="http://schemas.openxmlformats.org/officeDocument/2006/relationships/viewProps" Target="viewProps.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slide" Target="slides/slide241.xml"/><Relationship Id="rId263" Type="http://schemas.openxmlformats.org/officeDocument/2006/relationships/slide" Target="slides/slide262.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slide" Target="slides/slide231.xml"/><Relationship Id="rId253" Type="http://schemas.openxmlformats.org/officeDocument/2006/relationships/slide" Target="slides/slide252.xml"/><Relationship Id="rId274" Type="http://schemas.openxmlformats.org/officeDocument/2006/relationships/theme" Target="theme/theme1.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slide" Target="slides/slide242.xml"/><Relationship Id="rId264" Type="http://schemas.openxmlformats.org/officeDocument/2006/relationships/slide" Target="slides/slide263.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54" Type="http://schemas.openxmlformats.org/officeDocument/2006/relationships/slide" Target="slides/slide253.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275" Type="http://schemas.openxmlformats.org/officeDocument/2006/relationships/tableStyles" Target="tableStyles.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223" Type="http://schemas.openxmlformats.org/officeDocument/2006/relationships/slide" Target="slides/slide222.xml"/><Relationship Id="rId244" Type="http://schemas.openxmlformats.org/officeDocument/2006/relationships/slide" Target="slides/slide243.xml"/><Relationship Id="rId18" Type="http://schemas.openxmlformats.org/officeDocument/2006/relationships/slide" Target="slides/slide17.xml"/><Relationship Id="rId39" Type="http://schemas.openxmlformats.org/officeDocument/2006/relationships/slide" Target="slides/slide38.xml"/><Relationship Id="rId265" Type="http://schemas.openxmlformats.org/officeDocument/2006/relationships/slide" Target="slides/slide264.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34" Type="http://schemas.openxmlformats.org/officeDocument/2006/relationships/slide" Target="slides/slide233.xml"/><Relationship Id="rId2" Type="http://schemas.openxmlformats.org/officeDocument/2006/relationships/slide" Target="slides/slide1.xml"/><Relationship Id="rId29" Type="http://schemas.openxmlformats.org/officeDocument/2006/relationships/slide" Target="slides/slide28.xml"/><Relationship Id="rId255" Type="http://schemas.openxmlformats.org/officeDocument/2006/relationships/slide" Target="slides/slide254.xml"/><Relationship Id="rId276" Type="http://schemas.microsoft.com/office/2015/10/relationships/revisionInfo" Target="revisionInfo.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slide" Target="slides/slide223.xml"/><Relationship Id="rId245" Type="http://schemas.openxmlformats.org/officeDocument/2006/relationships/slide" Target="slides/slide244.xml"/><Relationship Id="rId266" Type="http://schemas.openxmlformats.org/officeDocument/2006/relationships/slide" Target="slides/slide265.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slide" Target="slides/slide213.xml"/><Relationship Id="rId235" Type="http://schemas.openxmlformats.org/officeDocument/2006/relationships/slide" Target="slides/slide234.xml"/><Relationship Id="rId256" Type="http://schemas.openxmlformats.org/officeDocument/2006/relationships/slide" Target="slides/slide255.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179" Type="http://schemas.openxmlformats.org/officeDocument/2006/relationships/slide" Target="slides/slide178.xml"/><Relationship Id="rId190" Type="http://schemas.openxmlformats.org/officeDocument/2006/relationships/slide" Target="slides/slide189.xml"/><Relationship Id="rId204" Type="http://schemas.openxmlformats.org/officeDocument/2006/relationships/slide" Target="slides/slide203.xml"/><Relationship Id="rId225" Type="http://schemas.openxmlformats.org/officeDocument/2006/relationships/slide" Target="slides/slide224.xml"/><Relationship Id="rId246" Type="http://schemas.openxmlformats.org/officeDocument/2006/relationships/slide" Target="slides/slide245.xml"/><Relationship Id="rId267" Type="http://schemas.openxmlformats.org/officeDocument/2006/relationships/slide" Target="slides/slide26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94" Type="http://schemas.openxmlformats.org/officeDocument/2006/relationships/slide" Target="slides/slide93.xml"/><Relationship Id="rId148" Type="http://schemas.openxmlformats.org/officeDocument/2006/relationships/slide" Target="slides/slide147.xml"/><Relationship Id="rId169" Type="http://schemas.openxmlformats.org/officeDocument/2006/relationships/slide" Target="slides/slide168.xml"/><Relationship Id="rId4" Type="http://schemas.openxmlformats.org/officeDocument/2006/relationships/slide" Target="slides/slide3.xml"/><Relationship Id="rId180" Type="http://schemas.openxmlformats.org/officeDocument/2006/relationships/slide" Target="slides/slide179.xml"/><Relationship Id="rId215" Type="http://schemas.openxmlformats.org/officeDocument/2006/relationships/slide" Target="slides/slide214.xml"/><Relationship Id="rId236" Type="http://schemas.openxmlformats.org/officeDocument/2006/relationships/slide" Target="slides/slide235.xml"/><Relationship Id="rId257" Type="http://schemas.openxmlformats.org/officeDocument/2006/relationships/slide" Target="slides/slide256.xml"/><Relationship Id="rId42" Type="http://schemas.openxmlformats.org/officeDocument/2006/relationships/slide" Target="slides/slide41.xml"/><Relationship Id="rId84" Type="http://schemas.openxmlformats.org/officeDocument/2006/relationships/slide" Target="slides/slide83.xml"/><Relationship Id="rId138" Type="http://schemas.openxmlformats.org/officeDocument/2006/relationships/slide" Target="slides/slide137.xml"/><Relationship Id="rId191" Type="http://schemas.openxmlformats.org/officeDocument/2006/relationships/slide" Target="slides/slide190.xml"/><Relationship Id="rId205" Type="http://schemas.openxmlformats.org/officeDocument/2006/relationships/slide" Target="slides/slide204.xml"/><Relationship Id="rId247" Type="http://schemas.openxmlformats.org/officeDocument/2006/relationships/slide" Target="slides/slide246.xml"/><Relationship Id="rId107" Type="http://schemas.openxmlformats.org/officeDocument/2006/relationships/slide" Target="slides/slide106.xml"/><Relationship Id="rId11" Type="http://schemas.openxmlformats.org/officeDocument/2006/relationships/slide" Target="slides/slide10.xml"/><Relationship Id="rId53" Type="http://schemas.openxmlformats.org/officeDocument/2006/relationships/slide" Target="slides/slide52.xml"/><Relationship Id="rId149" Type="http://schemas.openxmlformats.org/officeDocument/2006/relationships/slide" Target="slides/slide14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p:nvPr/>
        </p:nvSpPr>
        <p:spPr>
          <a:xfrm>
            <a:off x="517870" y="6209925"/>
            <a:ext cx="11155680" cy="45719"/>
          </a:xfrm>
          <a:custGeom>
            <a:avLst/>
            <a:gdLst>
              <a:gd name="connsiteX0" fmla="*/ 0 w 8715708"/>
              <a:gd name="connsiteY0" fmla="*/ 0 h 45719"/>
              <a:gd name="connsiteX1" fmla="*/ 3694525 w 8715708"/>
              <a:gd name="connsiteY1" fmla="*/ 0 h 45719"/>
              <a:gd name="connsiteX2" fmla="*/ 5021183 w 8715708"/>
              <a:gd name="connsiteY2" fmla="*/ 0 h 45719"/>
              <a:gd name="connsiteX3" fmla="*/ 8715708 w 8715708"/>
              <a:gd name="connsiteY3" fmla="*/ 0 h 45719"/>
              <a:gd name="connsiteX4" fmla="*/ 8715708 w 8715708"/>
              <a:gd name="connsiteY4" fmla="*/ 45719 h 45719"/>
              <a:gd name="connsiteX5" fmla="*/ 5021183 w 8715708"/>
              <a:gd name="connsiteY5" fmla="*/ 45719 h 45719"/>
              <a:gd name="connsiteX6" fmla="*/ 3694525 w 8715708"/>
              <a:gd name="connsiteY6" fmla="*/ 45719 h 45719"/>
              <a:gd name="connsiteX7" fmla="*/ 0 w 8715708"/>
              <a:gd name="connsiteY7" fmla="*/ 45719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B2327B2-BA4B-2C04-0751-5CB63D4AA425}"/>
              </a:ext>
            </a:extLst>
          </p:cNvPr>
          <p:cNvSpPr>
            <a:spLocks noGrp="1"/>
          </p:cNvSpPr>
          <p:nvPr>
            <p:ph type="ctrTitle"/>
          </p:nvPr>
        </p:nvSpPr>
        <p:spPr>
          <a:xfrm>
            <a:off x="521208" y="978408"/>
            <a:ext cx="11155680" cy="3429000"/>
          </a:xfrm>
        </p:spPr>
        <p:txBody>
          <a:bodyPr anchor="t">
            <a:normAutofit/>
          </a:bodyPr>
          <a:lstStyle>
            <a:lvl1pPr algn="l">
              <a:defRPr sz="7200"/>
            </a:lvl1pPr>
          </a:lstStyle>
          <a:p>
            <a:r>
              <a:rPr lang="en-US" dirty="0"/>
              <a:t>Click to edit Master title style</a:t>
            </a:r>
          </a:p>
        </p:txBody>
      </p:sp>
      <p:sp>
        <p:nvSpPr>
          <p:cNvPr id="3" name="Subtitle 2">
            <a:extLst>
              <a:ext uri="{FF2B5EF4-FFF2-40B4-BE49-F238E27FC236}">
                <a16:creationId xmlns:a16="http://schemas.microsoft.com/office/drawing/2014/main" id="{E7201176-DC7A-4C3D-3D8F-352526DA7B5D}"/>
              </a:ext>
            </a:extLst>
          </p:cNvPr>
          <p:cNvSpPr>
            <a:spLocks noGrp="1"/>
          </p:cNvSpPr>
          <p:nvPr>
            <p:ph type="subTitle" idx="1"/>
          </p:nvPr>
        </p:nvSpPr>
        <p:spPr>
          <a:xfrm>
            <a:off x="521208" y="4480560"/>
            <a:ext cx="7104888" cy="1399032"/>
          </a:xfrm>
        </p:spPr>
        <p:txBody>
          <a:bodyPr anchor="b">
            <a:normAutofit/>
          </a:bodyPr>
          <a:lstStyle>
            <a:lvl1pPr marL="0" indent="0" algn="l">
              <a:buNone/>
              <a:defRPr sz="22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7DC221-9A2E-7459-102F-C3CFB27CC389}"/>
              </a:ext>
            </a:extLst>
          </p:cNvPr>
          <p:cNvSpPr>
            <a:spLocks noGrp="1"/>
          </p:cNvSpPr>
          <p:nvPr>
            <p:ph type="dt" sz="half" idx="10"/>
          </p:nvPr>
        </p:nvSpPr>
        <p:spPr/>
        <p:txBody>
          <a:bodyPr/>
          <a:lstStyle/>
          <a:p>
            <a:fld id="{E80C50CD-E178-4744-9B35-B2F624D6C5E9}" type="datetimeFigureOut">
              <a:rPr lang="en-US" smtClean="0"/>
              <a:t>1/17/2026</a:t>
            </a:fld>
            <a:endParaRPr lang="en-US"/>
          </a:p>
        </p:txBody>
      </p:sp>
      <p:sp>
        <p:nvSpPr>
          <p:cNvPr id="5" name="Footer Placeholder 4">
            <a:extLst>
              <a:ext uri="{FF2B5EF4-FFF2-40B4-BE49-F238E27FC236}">
                <a16:creationId xmlns:a16="http://schemas.microsoft.com/office/drawing/2014/main" id="{A5020671-6F7D-3A03-EEC1-661A87F96F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53D3A-E0F9-8386-2A6C-96671FBB15A5}"/>
              </a:ext>
            </a:extLst>
          </p:cNvPr>
          <p:cNvSpPr>
            <a:spLocks noGrp="1"/>
          </p:cNvSpPr>
          <p:nvPr>
            <p:ph type="sldNum" sz="quarter" idx="12"/>
          </p:nvPr>
        </p:nvSpPr>
        <p:spPr/>
        <p:txBody>
          <a:bodyPr/>
          <a:lstStyle/>
          <a:p>
            <a:fld id="{148CC95F-0247-41B6-91CF-DC97C76A7088}" type="slidenum">
              <a:rPr lang="en-US" smtClean="0"/>
              <a:t>‹Nº›</a:t>
            </a:fld>
            <a:endParaRPr lang="en-US"/>
          </a:p>
        </p:txBody>
      </p:sp>
    </p:spTree>
    <p:extLst>
      <p:ext uri="{BB962C8B-B14F-4D97-AF65-F5344CB8AC3E}">
        <p14:creationId xmlns:p14="http://schemas.microsoft.com/office/powerpoint/2010/main" val="33981228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26D03-149A-DAB3-4B2A-E9B74F2E25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C1E73D-41A7-9934-0990-9208B95232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BB2A3F-E719-673C-5D56-F663712D0E7F}"/>
              </a:ext>
            </a:extLst>
          </p:cNvPr>
          <p:cNvSpPr>
            <a:spLocks noGrp="1"/>
          </p:cNvSpPr>
          <p:nvPr>
            <p:ph type="dt" sz="half" idx="10"/>
          </p:nvPr>
        </p:nvSpPr>
        <p:spPr/>
        <p:txBody>
          <a:bodyPr/>
          <a:lstStyle/>
          <a:p>
            <a:fld id="{E80C50CD-E178-4744-9B35-B2F624D6C5E9}" type="datetimeFigureOut">
              <a:rPr lang="en-US" smtClean="0"/>
              <a:t>1/17/2026</a:t>
            </a:fld>
            <a:endParaRPr lang="en-US"/>
          </a:p>
        </p:txBody>
      </p:sp>
      <p:sp>
        <p:nvSpPr>
          <p:cNvPr id="5" name="Footer Placeholder 4">
            <a:extLst>
              <a:ext uri="{FF2B5EF4-FFF2-40B4-BE49-F238E27FC236}">
                <a16:creationId xmlns:a16="http://schemas.microsoft.com/office/drawing/2014/main" id="{04AE594A-52F5-D85E-343C-ADFEE3C72E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7D5C9C-B2E2-FC26-E459-9E880EF975BA}"/>
              </a:ext>
            </a:extLst>
          </p:cNvPr>
          <p:cNvSpPr>
            <a:spLocks noGrp="1"/>
          </p:cNvSpPr>
          <p:nvPr>
            <p:ph type="sldNum" sz="quarter" idx="12"/>
          </p:nvPr>
        </p:nvSpPr>
        <p:spPr/>
        <p:txBody>
          <a:bodyPr/>
          <a:lstStyle/>
          <a:p>
            <a:fld id="{148CC95F-0247-41B6-91CF-DC97C76A7088}" type="slidenum">
              <a:rPr lang="en-US" smtClean="0"/>
              <a:t>‹Nº›</a:t>
            </a:fld>
            <a:endParaRPr lang="en-US"/>
          </a:p>
        </p:txBody>
      </p:sp>
    </p:spTree>
    <p:extLst>
      <p:ext uri="{BB962C8B-B14F-4D97-AF65-F5344CB8AC3E}">
        <p14:creationId xmlns:p14="http://schemas.microsoft.com/office/powerpoint/2010/main" val="41779307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9D51F-B2D5-2804-4F7C-C99850FBD05B}"/>
              </a:ext>
            </a:extLst>
          </p:cNvPr>
          <p:cNvSpPr>
            <a:spLocks noGrp="1"/>
          </p:cNvSpPr>
          <p:nvPr>
            <p:ph type="title"/>
          </p:nvPr>
        </p:nvSpPr>
        <p:spPr>
          <a:xfrm>
            <a:off x="521208" y="978408"/>
            <a:ext cx="5020056" cy="4288536"/>
          </a:xfrm>
        </p:spPr>
        <p:txBody>
          <a:bodyPr anchor="t">
            <a:normAutofit/>
          </a:bodyPr>
          <a:lstStyle>
            <a:lvl1pPr>
              <a:defRPr sz="5400"/>
            </a:lvl1pPr>
          </a:lstStyle>
          <a:p>
            <a:r>
              <a:rPr lang="en-US" dirty="0"/>
              <a:t>Click to edit Master title style</a:t>
            </a:r>
          </a:p>
        </p:txBody>
      </p:sp>
      <p:sp>
        <p:nvSpPr>
          <p:cNvPr id="3" name="Text Placeholder 2">
            <a:extLst>
              <a:ext uri="{FF2B5EF4-FFF2-40B4-BE49-F238E27FC236}">
                <a16:creationId xmlns:a16="http://schemas.microsoft.com/office/drawing/2014/main" id="{15FE5516-03B6-C488-EB4A-68AE681EDFB8}"/>
              </a:ext>
            </a:extLst>
          </p:cNvPr>
          <p:cNvSpPr>
            <a:spLocks noGrp="1"/>
          </p:cNvSpPr>
          <p:nvPr>
            <p:ph type="body" idx="1"/>
          </p:nvPr>
        </p:nvSpPr>
        <p:spPr>
          <a:xfrm>
            <a:off x="521208" y="5266944"/>
            <a:ext cx="5020056" cy="1088136"/>
          </a:xfrm>
        </p:spPr>
        <p:txBody>
          <a:bodyPr anchor="b">
            <a:normAutofit/>
          </a:bodyPr>
          <a:lstStyle>
            <a:lvl1pPr marL="0" indent="0">
              <a:buNone/>
              <a:defRPr sz="2200" i="1">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50ECB4D7-49A7-D050-70B9-11A1E2D445D8}"/>
              </a:ext>
            </a:extLst>
          </p:cNvPr>
          <p:cNvSpPr>
            <a:spLocks noGrp="1"/>
          </p:cNvSpPr>
          <p:nvPr>
            <p:ph type="dt" sz="half" idx="10"/>
          </p:nvPr>
        </p:nvSpPr>
        <p:spPr/>
        <p:txBody>
          <a:bodyPr/>
          <a:lstStyle/>
          <a:p>
            <a:fld id="{E80C50CD-E178-4744-9B35-B2F624D6C5E9}" type="datetimeFigureOut">
              <a:rPr lang="en-US" smtClean="0"/>
              <a:t>1/17/2026</a:t>
            </a:fld>
            <a:endParaRPr lang="en-US"/>
          </a:p>
        </p:txBody>
      </p:sp>
      <p:sp>
        <p:nvSpPr>
          <p:cNvPr id="5" name="Footer Placeholder 4">
            <a:extLst>
              <a:ext uri="{FF2B5EF4-FFF2-40B4-BE49-F238E27FC236}">
                <a16:creationId xmlns:a16="http://schemas.microsoft.com/office/drawing/2014/main" id="{8A9A913F-AD00-C1EE-B01A-8590671C01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4FC386-B2AF-6FAD-D053-E22D48CD7285}"/>
              </a:ext>
            </a:extLst>
          </p:cNvPr>
          <p:cNvSpPr>
            <a:spLocks noGrp="1"/>
          </p:cNvSpPr>
          <p:nvPr>
            <p:ph type="sldNum" sz="quarter" idx="12"/>
          </p:nvPr>
        </p:nvSpPr>
        <p:spPr/>
        <p:txBody>
          <a:bodyPr/>
          <a:lstStyle/>
          <a:p>
            <a:fld id="{148CC95F-0247-41B6-91CF-DC97C76A7088}" type="slidenum">
              <a:rPr lang="en-US" smtClean="0"/>
              <a:t>‹Nº›</a:t>
            </a:fld>
            <a:endParaRPr lang="en-US"/>
          </a:p>
        </p:txBody>
      </p:sp>
      <p:sp>
        <p:nvSpPr>
          <p:cNvPr id="7" name="Rectangle 6">
            <a:extLst>
              <a:ext uri="{FF2B5EF4-FFF2-40B4-BE49-F238E27FC236}">
                <a16:creationId xmlns:a16="http://schemas.microsoft.com/office/drawing/2014/main" id="{4E1E1B67-3BFF-F04B-52F4-7E724FB3B24D}"/>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704954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E3B21-CF4D-1B01-0F4E-D32C1B218B63}"/>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1FB39FF2-6858-B514-B695-58442557D0C1}"/>
              </a:ext>
            </a:extLst>
          </p:cNvPr>
          <p:cNvSpPr>
            <a:spLocks noGrp="1"/>
          </p:cNvSpPr>
          <p:nvPr>
            <p:ph sz="half" idx="1"/>
          </p:nvPr>
        </p:nvSpPr>
        <p:spPr>
          <a:xfrm>
            <a:off x="521208"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A30130-974D-B91D-5B93-EC52AABDB5B0}"/>
              </a:ext>
            </a:extLst>
          </p:cNvPr>
          <p:cNvSpPr>
            <a:spLocks noGrp="1"/>
          </p:cNvSpPr>
          <p:nvPr>
            <p:ph sz="half" idx="2"/>
          </p:nvPr>
        </p:nvSpPr>
        <p:spPr>
          <a:xfrm>
            <a:off x="6519672"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15BED99-6FD7-9C6B-1152-A6E42715BB79}"/>
              </a:ext>
            </a:extLst>
          </p:cNvPr>
          <p:cNvSpPr>
            <a:spLocks noGrp="1"/>
          </p:cNvSpPr>
          <p:nvPr>
            <p:ph type="dt" sz="half" idx="10"/>
          </p:nvPr>
        </p:nvSpPr>
        <p:spPr/>
        <p:txBody>
          <a:bodyPr/>
          <a:lstStyle/>
          <a:p>
            <a:fld id="{E80C50CD-E178-4744-9B35-B2F624D6C5E9}" type="datetimeFigureOut">
              <a:rPr lang="en-US" smtClean="0"/>
              <a:t>1/17/2026</a:t>
            </a:fld>
            <a:endParaRPr lang="en-US"/>
          </a:p>
        </p:txBody>
      </p:sp>
      <p:sp>
        <p:nvSpPr>
          <p:cNvPr id="6" name="Footer Placeholder 5">
            <a:extLst>
              <a:ext uri="{FF2B5EF4-FFF2-40B4-BE49-F238E27FC236}">
                <a16:creationId xmlns:a16="http://schemas.microsoft.com/office/drawing/2014/main" id="{BA253AAC-5967-2565-A715-82D3505ABF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B51313-69FB-E016-3CC1-62CA476ED214}"/>
              </a:ext>
            </a:extLst>
          </p:cNvPr>
          <p:cNvSpPr>
            <a:spLocks noGrp="1"/>
          </p:cNvSpPr>
          <p:nvPr>
            <p:ph type="sldNum" sz="quarter" idx="12"/>
          </p:nvPr>
        </p:nvSpPr>
        <p:spPr/>
        <p:txBody>
          <a:bodyPr/>
          <a:lstStyle/>
          <a:p>
            <a:fld id="{148CC95F-0247-41B6-91CF-DC97C76A7088}" type="slidenum">
              <a:rPr lang="en-US" smtClean="0"/>
              <a:t>‹Nº›</a:t>
            </a:fld>
            <a:endParaRPr lang="en-US"/>
          </a:p>
        </p:txBody>
      </p:sp>
    </p:spTree>
    <p:extLst>
      <p:ext uri="{BB962C8B-B14F-4D97-AF65-F5344CB8AC3E}">
        <p14:creationId xmlns:p14="http://schemas.microsoft.com/office/powerpoint/2010/main" val="40413709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DF9D-B849-CE37-97E4-AD37F880677F}"/>
              </a:ext>
            </a:extLst>
          </p:cNvPr>
          <p:cNvSpPr>
            <a:spLocks noGrp="1"/>
          </p:cNvSpPr>
          <p:nvPr>
            <p:ph type="title"/>
          </p:nvPr>
        </p:nvSpPr>
        <p:spPr>
          <a:xfrm>
            <a:off x="521208" y="978408"/>
            <a:ext cx="11164824" cy="1216152"/>
          </a:xfrm>
        </p:spPr>
        <p:txBody>
          <a:bodyPr/>
          <a:lstStyle/>
          <a:p>
            <a:r>
              <a:rPr lang="en-US"/>
              <a:t>Click to edit Master title style</a:t>
            </a:r>
          </a:p>
        </p:txBody>
      </p:sp>
      <p:sp>
        <p:nvSpPr>
          <p:cNvPr id="3" name="Text Placeholder 2">
            <a:extLst>
              <a:ext uri="{FF2B5EF4-FFF2-40B4-BE49-F238E27FC236}">
                <a16:creationId xmlns:a16="http://schemas.microsoft.com/office/drawing/2014/main" id="{79D4C626-4008-960A-E601-6AA9F4BB8D8B}"/>
              </a:ext>
            </a:extLst>
          </p:cNvPr>
          <p:cNvSpPr>
            <a:spLocks noGrp="1"/>
          </p:cNvSpPr>
          <p:nvPr>
            <p:ph type="body" idx="1"/>
          </p:nvPr>
        </p:nvSpPr>
        <p:spPr>
          <a:xfrm>
            <a:off x="521208"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806E8D6C-AC07-ED6B-2EA8-9C40A5AEA748}"/>
              </a:ext>
            </a:extLst>
          </p:cNvPr>
          <p:cNvSpPr>
            <a:spLocks noGrp="1"/>
          </p:cNvSpPr>
          <p:nvPr>
            <p:ph sz="half" idx="2"/>
          </p:nvPr>
        </p:nvSpPr>
        <p:spPr>
          <a:xfrm>
            <a:off x="521208"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3C52617E-C6D9-246B-E7B7-8159DF17C0A3}"/>
              </a:ext>
            </a:extLst>
          </p:cNvPr>
          <p:cNvSpPr>
            <a:spLocks noGrp="1"/>
          </p:cNvSpPr>
          <p:nvPr>
            <p:ph type="body" sz="quarter" idx="3"/>
          </p:nvPr>
        </p:nvSpPr>
        <p:spPr>
          <a:xfrm>
            <a:off x="6519672"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DBC2094-7EBC-02C5-5AB5-233E63080A9C}"/>
              </a:ext>
            </a:extLst>
          </p:cNvPr>
          <p:cNvSpPr>
            <a:spLocks noGrp="1"/>
          </p:cNvSpPr>
          <p:nvPr>
            <p:ph sz="quarter" idx="4"/>
          </p:nvPr>
        </p:nvSpPr>
        <p:spPr>
          <a:xfrm>
            <a:off x="6519672"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23010BD2-59B4-FD2E-3C5E-C83AE6003985}"/>
              </a:ext>
            </a:extLst>
          </p:cNvPr>
          <p:cNvSpPr>
            <a:spLocks noGrp="1"/>
          </p:cNvSpPr>
          <p:nvPr>
            <p:ph type="dt" sz="half" idx="10"/>
          </p:nvPr>
        </p:nvSpPr>
        <p:spPr/>
        <p:txBody>
          <a:bodyPr/>
          <a:lstStyle/>
          <a:p>
            <a:fld id="{E80C50CD-E178-4744-9B35-B2F624D6C5E9}" type="datetimeFigureOut">
              <a:rPr lang="en-US" smtClean="0"/>
              <a:t>1/17/2026</a:t>
            </a:fld>
            <a:endParaRPr lang="en-US"/>
          </a:p>
        </p:txBody>
      </p:sp>
      <p:sp>
        <p:nvSpPr>
          <p:cNvPr id="8" name="Footer Placeholder 7">
            <a:extLst>
              <a:ext uri="{FF2B5EF4-FFF2-40B4-BE49-F238E27FC236}">
                <a16:creationId xmlns:a16="http://schemas.microsoft.com/office/drawing/2014/main" id="{E72B35C4-A654-7759-BDA0-94D9D1A21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55F4347-2EC0-CA6E-2637-8048456D7ECB}"/>
              </a:ext>
            </a:extLst>
          </p:cNvPr>
          <p:cNvSpPr>
            <a:spLocks noGrp="1"/>
          </p:cNvSpPr>
          <p:nvPr>
            <p:ph type="sldNum" sz="quarter" idx="12"/>
          </p:nvPr>
        </p:nvSpPr>
        <p:spPr/>
        <p:txBody>
          <a:bodyPr/>
          <a:lstStyle/>
          <a:p>
            <a:fld id="{148CC95F-0247-41B6-91CF-DC97C76A7088}" type="slidenum">
              <a:rPr lang="en-US" smtClean="0"/>
              <a:t>‹Nº›</a:t>
            </a:fld>
            <a:endParaRPr lang="en-US"/>
          </a:p>
        </p:txBody>
      </p:sp>
    </p:spTree>
    <p:extLst>
      <p:ext uri="{BB962C8B-B14F-4D97-AF65-F5344CB8AC3E}">
        <p14:creationId xmlns:p14="http://schemas.microsoft.com/office/powerpoint/2010/main" val="2636701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4716D-52F2-C7FB-83B1-2DA1AD375EAE}"/>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56F4A371-AC27-6A28-32E6-74A28371BF55}"/>
              </a:ext>
            </a:extLst>
          </p:cNvPr>
          <p:cNvSpPr>
            <a:spLocks noGrp="1"/>
          </p:cNvSpPr>
          <p:nvPr>
            <p:ph type="dt" sz="half" idx="10"/>
          </p:nvPr>
        </p:nvSpPr>
        <p:spPr/>
        <p:txBody>
          <a:bodyPr/>
          <a:lstStyle/>
          <a:p>
            <a:fld id="{E80C50CD-E178-4744-9B35-B2F624D6C5E9}" type="datetimeFigureOut">
              <a:rPr lang="en-US" smtClean="0"/>
              <a:t>1/17/2026</a:t>
            </a:fld>
            <a:endParaRPr lang="en-US"/>
          </a:p>
        </p:txBody>
      </p:sp>
      <p:sp>
        <p:nvSpPr>
          <p:cNvPr id="4" name="Footer Placeholder 3">
            <a:extLst>
              <a:ext uri="{FF2B5EF4-FFF2-40B4-BE49-F238E27FC236}">
                <a16:creationId xmlns:a16="http://schemas.microsoft.com/office/drawing/2014/main" id="{D155941A-A24E-885D-E894-0326F4C4004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9D5E5B4-971F-FF6A-1B07-A5C85370552D}"/>
              </a:ext>
            </a:extLst>
          </p:cNvPr>
          <p:cNvSpPr>
            <a:spLocks noGrp="1"/>
          </p:cNvSpPr>
          <p:nvPr>
            <p:ph type="sldNum" sz="quarter" idx="12"/>
          </p:nvPr>
        </p:nvSpPr>
        <p:spPr/>
        <p:txBody>
          <a:bodyPr/>
          <a:lstStyle/>
          <a:p>
            <a:fld id="{148CC95F-0247-41B6-91CF-DC97C76A7088}" type="slidenum">
              <a:rPr lang="en-US" smtClean="0"/>
              <a:t>‹Nº›</a:t>
            </a:fld>
            <a:endParaRPr lang="en-US"/>
          </a:p>
        </p:txBody>
      </p:sp>
    </p:spTree>
    <p:extLst>
      <p:ext uri="{BB962C8B-B14F-4D97-AF65-F5344CB8AC3E}">
        <p14:creationId xmlns:p14="http://schemas.microsoft.com/office/powerpoint/2010/main" val="23134686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9F431F-E6DC-4137-3092-A30A0A3628EC}"/>
              </a:ext>
            </a:extLst>
          </p:cNvPr>
          <p:cNvSpPr>
            <a:spLocks noGrp="1"/>
          </p:cNvSpPr>
          <p:nvPr>
            <p:ph type="dt" sz="half" idx="10"/>
          </p:nvPr>
        </p:nvSpPr>
        <p:spPr/>
        <p:txBody>
          <a:bodyPr/>
          <a:lstStyle/>
          <a:p>
            <a:fld id="{E80C50CD-E178-4744-9B35-B2F624D6C5E9}" type="datetimeFigureOut">
              <a:rPr lang="en-US" smtClean="0"/>
              <a:t>1/17/2026</a:t>
            </a:fld>
            <a:endParaRPr lang="en-US"/>
          </a:p>
        </p:txBody>
      </p:sp>
      <p:sp>
        <p:nvSpPr>
          <p:cNvPr id="3" name="Footer Placeholder 2">
            <a:extLst>
              <a:ext uri="{FF2B5EF4-FFF2-40B4-BE49-F238E27FC236}">
                <a16:creationId xmlns:a16="http://schemas.microsoft.com/office/drawing/2014/main" id="{06AC814B-67B4-C70F-FA51-6205D5E2CB8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1EAA9C9-D895-DD20-1089-EA75EA428951}"/>
              </a:ext>
            </a:extLst>
          </p:cNvPr>
          <p:cNvSpPr>
            <a:spLocks noGrp="1"/>
          </p:cNvSpPr>
          <p:nvPr>
            <p:ph type="sldNum" sz="quarter" idx="12"/>
          </p:nvPr>
        </p:nvSpPr>
        <p:spPr/>
        <p:txBody>
          <a:bodyPr/>
          <a:lstStyle/>
          <a:p>
            <a:fld id="{148CC95F-0247-41B6-91CF-DC97C76A7088}" type="slidenum">
              <a:rPr lang="en-US" smtClean="0"/>
              <a:t>‹Nº›</a:t>
            </a:fld>
            <a:endParaRPr lang="en-US"/>
          </a:p>
        </p:txBody>
      </p:sp>
    </p:spTree>
    <p:extLst>
      <p:ext uri="{BB962C8B-B14F-4D97-AF65-F5344CB8AC3E}">
        <p14:creationId xmlns:p14="http://schemas.microsoft.com/office/powerpoint/2010/main" val="19565901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50562-884C-9053-70C1-3B72A0B45EA6}"/>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Content Placeholder 2">
            <a:extLst>
              <a:ext uri="{FF2B5EF4-FFF2-40B4-BE49-F238E27FC236}">
                <a16:creationId xmlns:a16="http://schemas.microsoft.com/office/drawing/2014/main" id="{0318F509-68F0-39D5-1A8B-CE246715AE46}"/>
              </a:ext>
            </a:extLst>
          </p:cNvPr>
          <p:cNvSpPr>
            <a:spLocks noGrp="1"/>
          </p:cNvSpPr>
          <p:nvPr>
            <p:ph idx="1"/>
          </p:nvPr>
        </p:nvSpPr>
        <p:spPr>
          <a:xfrm>
            <a:off x="6519672" y="987424"/>
            <a:ext cx="5166360" cy="5358384"/>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F158E37C-27CE-3A84-FC74-BDCCD8A9A3EC}"/>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A95F79-E23E-11D2-40BF-66ED340195DB}"/>
              </a:ext>
            </a:extLst>
          </p:cNvPr>
          <p:cNvSpPr>
            <a:spLocks noGrp="1"/>
          </p:cNvSpPr>
          <p:nvPr>
            <p:ph type="dt" sz="half" idx="10"/>
          </p:nvPr>
        </p:nvSpPr>
        <p:spPr/>
        <p:txBody>
          <a:bodyPr/>
          <a:lstStyle/>
          <a:p>
            <a:fld id="{E80C50CD-E178-4744-9B35-B2F624D6C5E9}" type="datetimeFigureOut">
              <a:rPr lang="en-US" smtClean="0"/>
              <a:t>1/17/2026</a:t>
            </a:fld>
            <a:endParaRPr lang="en-US"/>
          </a:p>
        </p:txBody>
      </p:sp>
      <p:sp>
        <p:nvSpPr>
          <p:cNvPr id="6" name="Footer Placeholder 5">
            <a:extLst>
              <a:ext uri="{FF2B5EF4-FFF2-40B4-BE49-F238E27FC236}">
                <a16:creationId xmlns:a16="http://schemas.microsoft.com/office/drawing/2014/main" id="{4457F7FC-06F3-3D89-5D1A-4EC4B1D735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4ACD5-6E0B-5713-DC9A-41E9D62AB12D}"/>
              </a:ext>
            </a:extLst>
          </p:cNvPr>
          <p:cNvSpPr>
            <a:spLocks noGrp="1"/>
          </p:cNvSpPr>
          <p:nvPr>
            <p:ph type="sldNum" sz="quarter" idx="12"/>
          </p:nvPr>
        </p:nvSpPr>
        <p:spPr/>
        <p:txBody>
          <a:bodyPr/>
          <a:lstStyle/>
          <a:p>
            <a:fld id="{148CC95F-0247-41B6-91CF-DC97C76A7088}" type="slidenum">
              <a:rPr lang="en-US" smtClean="0"/>
              <a:t>‹Nº›</a:t>
            </a:fld>
            <a:endParaRPr lang="en-US"/>
          </a:p>
        </p:txBody>
      </p:sp>
    </p:spTree>
    <p:extLst>
      <p:ext uri="{BB962C8B-B14F-4D97-AF65-F5344CB8AC3E}">
        <p14:creationId xmlns:p14="http://schemas.microsoft.com/office/powerpoint/2010/main" val="11751844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B2D45-7CDB-D38C-2AAE-273F797674E1}"/>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Picture Placeholder 2">
            <a:extLst>
              <a:ext uri="{FF2B5EF4-FFF2-40B4-BE49-F238E27FC236}">
                <a16:creationId xmlns:a16="http://schemas.microsoft.com/office/drawing/2014/main" id="{CCBF0855-1744-56E4-B115-3A3C5EA7834B}"/>
              </a:ext>
            </a:extLst>
          </p:cNvPr>
          <p:cNvSpPr>
            <a:spLocks noGrp="1"/>
          </p:cNvSpPr>
          <p:nvPr>
            <p:ph type="pic" idx="1"/>
          </p:nvPr>
        </p:nvSpPr>
        <p:spPr>
          <a:xfrm>
            <a:off x="6519672" y="987424"/>
            <a:ext cx="5166360" cy="535838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85E8A1D-28AE-4A19-BD96-401D4822A53D}"/>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327DDB-CE95-4C89-DFC5-7DDBFC24E89C}"/>
              </a:ext>
            </a:extLst>
          </p:cNvPr>
          <p:cNvSpPr>
            <a:spLocks noGrp="1"/>
          </p:cNvSpPr>
          <p:nvPr>
            <p:ph type="dt" sz="half" idx="10"/>
          </p:nvPr>
        </p:nvSpPr>
        <p:spPr/>
        <p:txBody>
          <a:bodyPr/>
          <a:lstStyle/>
          <a:p>
            <a:fld id="{E80C50CD-E178-4744-9B35-B2F624D6C5E9}" type="datetimeFigureOut">
              <a:rPr lang="en-US" smtClean="0"/>
              <a:t>1/17/2026</a:t>
            </a:fld>
            <a:endParaRPr lang="en-US"/>
          </a:p>
        </p:txBody>
      </p:sp>
      <p:sp>
        <p:nvSpPr>
          <p:cNvPr id="6" name="Footer Placeholder 5">
            <a:extLst>
              <a:ext uri="{FF2B5EF4-FFF2-40B4-BE49-F238E27FC236}">
                <a16:creationId xmlns:a16="http://schemas.microsoft.com/office/drawing/2014/main" id="{0522C835-F3B5-943C-FFC4-D5BA9666AF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709891-6E3C-ADED-01DD-15FCED37AF4A}"/>
              </a:ext>
            </a:extLst>
          </p:cNvPr>
          <p:cNvSpPr>
            <a:spLocks noGrp="1"/>
          </p:cNvSpPr>
          <p:nvPr>
            <p:ph type="sldNum" sz="quarter" idx="12"/>
          </p:nvPr>
        </p:nvSpPr>
        <p:spPr/>
        <p:txBody>
          <a:bodyPr/>
          <a:lstStyle/>
          <a:p>
            <a:fld id="{148CC95F-0247-41B6-91CF-DC97C76A7088}" type="slidenum">
              <a:rPr lang="en-US" smtClean="0"/>
              <a:t>‹Nº›</a:t>
            </a:fld>
            <a:endParaRPr lang="en-US"/>
          </a:p>
        </p:txBody>
      </p:sp>
    </p:spTree>
    <p:extLst>
      <p:ext uri="{BB962C8B-B14F-4D97-AF65-F5344CB8AC3E}">
        <p14:creationId xmlns:p14="http://schemas.microsoft.com/office/powerpoint/2010/main" val="6485199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36771-E72D-FAD8-771E-3E196DD2E1C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B5BB827-257D-60D9-792F-E695900429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E5D2E7-C856-F78A-E88C-375474982A5F}"/>
              </a:ext>
            </a:extLst>
          </p:cNvPr>
          <p:cNvSpPr>
            <a:spLocks noGrp="1"/>
          </p:cNvSpPr>
          <p:nvPr>
            <p:ph type="dt" sz="half" idx="10"/>
          </p:nvPr>
        </p:nvSpPr>
        <p:spPr/>
        <p:txBody>
          <a:bodyPr/>
          <a:lstStyle/>
          <a:p>
            <a:fld id="{E80C50CD-E178-4744-9B35-B2F624D6C5E9}" type="datetimeFigureOut">
              <a:rPr lang="en-US" smtClean="0"/>
              <a:t>1/17/2026</a:t>
            </a:fld>
            <a:endParaRPr lang="en-US"/>
          </a:p>
        </p:txBody>
      </p:sp>
      <p:sp>
        <p:nvSpPr>
          <p:cNvPr id="5" name="Footer Placeholder 4">
            <a:extLst>
              <a:ext uri="{FF2B5EF4-FFF2-40B4-BE49-F238E27FC236}">
                <a16:creationId xmlns:a16="http://schemas.microsoft.com/office/drawing/2014/main" id="{0FDAB289-9591-51C9-9E3C-B6F2ACC6A6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FE037C-790D-7442-8E43-D2740B3952B1}"/>
              </a:ext>
            </a:extLst>
          </p:cNvPr>
          <p:cNvSpPr>
            <a:spLocks noGrp="1"/>
          </p:cNvSpPr>
          <p:nvPr>
            <p:ph type="sldNum" sz="quarter" idx="12"/>
          </p:nvPr>
        </p:nvSpPr>
        <p:spPr/>
        <p:txBody>
          <a:bodyPr/>
          <a:lstStyle/>
          <a:p>
            <a:fld id="{148CC95F-0247-41B6-91CF-DC97C76A7088}" type="slidenum">
              <a:rPr lang="en-US" smtClean="0"/>
              <a:t>‹Nº›</a:t>
            </a:fld>
            <a:endParaRPr lang="en-US"/>
          </a:p>
        </p:txBody>
      </p:sp>
    </p:spTree>
    <p:extLst>
      <p:ext uri="{BB962C8B-B14F-4D97-AF65-F5344CB8AC3E}">
        <p14:creationId xmlns:p14="http://schemas.microsoft.com/office/powerpoint/2010/main" val="30420587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635151-A38B-3766-6A32-FF1DF7687D9F}"/>
              </a:ext>
            </a:extLst>
          </p:cNvPr>
          <p:cNvSpPr>
            <a:spLocks noGrp="1"/>
          </p:cNvSpPr>
          <p:nvPr>
            <p:ph type="title" orient="vert"/>
          </p:nvPr>
        </p:nvSpPr>
        <p:spPr>
          <a:xfrm>
            <a:off x="8659368" y="978408"/>
            <a:ext cx="2551176" cy="5367528"/>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33D132D1-640C-FB9A-AD6F-D845738349F6}"/>
              </a:ext>
            </a:extLst>
          </p:cNvPr>
          <p:cNvSpPr>
            <a:spLocks noGrp="1"/>
          </p:cNvSpPr>
          <p:nvPr>
            <p:ph type="body" orient="vert" idx="1"/>
          </p:nvPr>
        </p:nvSpPr>
        <p:spPr>
          <a:xfrm>
            <a:off x="521208" y="978408"/>
            <a:ext cx="8010144" cy="536752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955F80A-4BA7-8ED8-9A62-B92194272620}"/>
              </a:ext>
            </a:extLst>
          </p:cNvPr>
          <p:cNvSpPr>
            <a:spLocks noGrp="1"/>
          </p:cNvSpPr>
          <p:nvPr>
            <p:ph type="dt" sz="half" idx="10"/>
          </p:nvPr>
        </p:nvSpPr>
        <p:spPr/>
        <p:txBody>
          <a:bodyPr/>
          <a:lstStyle/>
          <a:p>
            <a:fld id="{E80C50CD-E178-4744-9B35-B2F624D6C5E9}" type="datetimeFigureOut">
              <a:rPr lang="en-US" smtClean="0"/>
              <a:t>1/17/2026</a:t>
            </a:fld>
            <a:endParaRPr lang="en-US"/>
          </a:p>
        </p:txBody>
      </p:sp>
      <p:sp>
        <p:nvSpPr>
          <p:cNvPr id="5" name="Footer Placeholder 4">
            <a:extLst>
              <a:ext uri="{FF2B5EF4-FFF2-40B4-BE49-F238E27FC236}">
                <a16:creationId xmlns:a16="http://schemas.microsoft.com/office/drawing/2014/main" id="{85E38113-D55A-A1A0-D1FE-53C95860FB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919DDB-F89D-4B2D-21A2-82AF1D1023E4}"/>
              </a:ext>
            </a:extLst>
          </p:cNvPr>
          <p:cNvSpPr>
            <a:spLocks noGrp="1"/>
          </p:cNvSpPr>
          <p:nvPr>
            <p:ph type="sldNum" sz="quarter" idx="12"/>
          </p:nvPr>
        </p:nvSpPr>
        <p:spPr/>
        <p:txBody>
          <a:bodyPr/>
          <a:lstStyle/>
          <a:p>
            <a:fld id="{148CC95F-0247-41B6-91CF-DC97C76A7088}" type="slidenum">
              <a:rPr lang="en-US" smtClean="0"/>
              <a:t>‹Nº›</a:t>
            </a:fld>
            <a:endParaRPr lang="en-US"/>
          </a:p>
        </p:txBody>
      </p:sp>
      <p:sp>
        <p:nvSpPr>
          <p:cNvPr id="7" name="Rectangle 6">
            <a:extLst>
              <a:ext uri="{FF2B5EF4-FFF2-40B4-BE49-F238E27FC236}">
                <a16:creationId xmlns:a16="http://schemas.microsoft.com/office/drawing/2014/main" id="{262572D8-D485-1DB1-34B1-C35C61C89940}"/>
              </a:ext>
            </a:extLst>
          </p:cNvPr>
          <p:cNvSpPr/>
          <p:nvPr/>
        </p:nvSpPr>
        <p:spPr>
          <a:xfrm rot="5400000">
            <a:off x="8936623" y="3585018"/>
            <a:ext cx="532573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760633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1A28D7-6581-4956-AAE3-9104804DF55B}"/>
              </a:ext>
            </a:extLst>
          </p:cNvPr>
          <p:cNvSpPr>
            <a:spLocks noGrp="1"/>
          </p:cNvSpPr>
          <p:nvPr>
            <p:ph type="title"/>
          </p:nvPr>
        </p:nvSpPr>
        <p:spPr>
          <a:xfrm>
            <a:off x="521208" y="978408"/>
            <a:ext cx="11155680" cy="146304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F3CFCCA4-57A4-08A1-FC45-D2BBA66FABFA}"/>
              </a:ext>
            </a:extLst>
          </p:cNvPr>
          <p:cNvSpPr>
            <a:spLocks noGrp="1"/>
          </p:cNvSpPr>
          <p:nvPr>
            <p:ph type="body" idx="1"/>
          </p:nvPr>
        </p:nvSpPr>
        <p:spPr>
          <a:xfrm>
            <a:off x="521208" y="2578608"/>
            <a:ext cx="11155680" cy="37673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0FAA0F4-2442-8D45-3C3D-1B8F55C8683A}"/>
              </a:ext>
            </a:extLst>
          </p:cNvPr>
          <p:cNvSpPr>
            <a:spLocks noGrp="1"/>
          </p:cNvSpPr>
          <p:nvPr>
            <p:ph type="dt" sz="half" idx="2"/>
          </p:nvPr>
        </p:nvSpPr>
        <p:spPr>
          <a:xfrm>
            <a:off x="521208" y="6419088"/>
            <a:ext cx="2743200" cy="365125"/>
          </a:xfrm>
          <a:prstGeom prst="rect">
            <a:avLst/>
          </a:prstGeom>
        </p:spPr>
        <p:txBody>
          <a:bodyPr vert="horz" lIns="91440" tIns="45720" rIns="91440" bIns="45720" rtlCol="0" anchor="ctr"/>
          <a:lstStyle>
            <a:lvl1pPr algn="l">
              <a:defRPr sz="900">
                <a:solidFill>
                  <a:schemeClr val="tx1"/>
                </a:solidFill>
              </a:defRPr>
            </a:lvl1pPr>
          </a:lstStyle>
          <a:p>
            <a:fld id="{E80C50CD-E178-4744-9B35-B2F624D6C5E9}" type="datetimeFigureOut">
              <a:rPr lang="en-US" smtClean="0"/>
              <a:pPr/>
              <a:t>1/17/2026</a:t>
            </a:fld>
            <a:endParaRPr lang="en-US"/>
          </a:p>
        </p:txBody>
      </p:sp>
      <p:sp>
        <p:nvSpPr>
          <p:cNvPr id="5" name="Footer Placeholder 4">
            <a:extLst>
              <a:ext uri="{FF2B5EF4-FFF2-40B4-BE49-F238E27FC236}">
                <a16:creationId xmlns:a16="http://schemas.microsoft.com/office/drawing/2014/main" id="{9E03785E-FB42-1D54-92AC-D0A61A8FABD4}"/>
              </a:ext>
            </a:extLst>
          </p:cNvPr>
          <p:cNvSpPr>
            <a:spLocks noGrp="1"/>
          </p:cNvSpPr>
          <p:nvPr>
            <p:ph type="ftr" sz="quarter" idx="3"/>
          </p:nvPr>
        </p:nvSpPr>
        <p:spPr>
          <a:xfrm>
            <a:off x="521208" y="100584"/>
            <a:ext cx="4114800" cy="365125"/>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BCC9CF34-1274-DB45-4809-90E5D244A9AE}"/>
              </a:ext>
            </a:extLst>
          </p:cNvPr>
          <p:cNvSpPr>
            <a:spLocks noGrp="1"/>
          </p:cNvSpPr>
          <p:nvPr>
            <p:ph type="sldNum" sz="quarter" idx="4"/>
          </p:nvPr>
        </p:nvSpPr>
        <p:spPr>
          <a:xfrm>
            <a:off x="11457432" y="6419088"/>
            <a:ext cx="640080" cy="365125"/>
          </a:xfrm>
          <a:prstGeom prst="rect">
            <a:avLst/>
          </a:prstGeom>
        </p:spPr>
        <p:txBody>
          <a:bodyPr vert="horz" lIns="91440" tIns="45720" rIns="91440" bIns="45720" rtlCol="0" anchor="ctr"/>
          <a:lstStyle>
            <a:lvl1pPr algn="r">
              <a:defRPr sz="900">
                <a:solidFill>
                  <a:schemeClr val="tx1"/>
                </a:solidFill>
              </a:defRPr>
            </a:lvl1pPr>
          </a:lstStyle>
          <a:p>
            <a:fld id="{148CC95F-0247-41B6-91CF-DC97C76A7088}" type="slidenum">
              <a:rPr lang="en-US" smtClean="0"/>
              <a:pPr/>
              <a:t>‹Nº›</a:t>
            </a:fld>
            <a:endParaRPr lang="en-US"/>
          </a:p>
        </p:txBody>
      </p:sp>
      <p:sp>
        <p:nvSpPr>
          <p:cNvPr id="7" name="Freeform: Shape 6">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81633791"/>
      </p:ext>
    </p:extLst>
  </p:cSld>
  <p:clrMap bg1="lt1" tx1="dk1" bg2="lt2" tx2="dk2" accent1="accent1" accent2="accent2" accent3="accent3" accent4="accent4" accent5="accent5" accent6="accent6" hlink="hlink" folHlink="folHlink"/>
  <p:sldLayoutIdLst>
    <p:sldLayoutId id="2147483671" r:id="rId1"/>
    <p:sldLayoutId id="2147483670" r:id="rId2"/>
    <p:sldLayoutId id="2147483669" r:id="rId3"/>
    <p:sldLayoutId id="2147483668" r:id="rId4"/>
    <p:sldLayoutId id="2147483667" r:id="rId5"/>
    <p:sldLayoutId id="2147483666" r:id="rId6"/>
    <p:sldLayoutId id="2147483665" r:id="rId7"/>
    <p:sldLayoutId id="2147483664" r:id="rId8"/>
    <p:sldLayoutId id="2147483663" r:id="rId9"/>
    <p:sldLayoutId id="2147483662" r:id="rId10"/>
    <p:sldLayoutId id="2147483661" r:id="rId11"/>
  </p:sldLayoutIdLst>
  <p:txStyles>
    <p:title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hyperlink" Target="mailto:href=%22https://cdn.jsdelivr.net/npm/bootstrap@5.3.3/dist/css/bootstrap.min.css" TargetMode="Externa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hyperlink" Target="mailto:href=%22https://cdn.jsdelivr.net/npm/bootstrap@5.3.3/dist/css/bootstrap.min.css" TargetMode="Externa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hyperlink" Target="mailto:src=%22https://cdn.jsdelivr.net/npm/bootstrap@5.3.3/dist/js/bootstrap.bundle.min.js" TargetMode="External"/><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2" Type="http://schemas.openxmlformats.org/officeDocument/2006/relationships/hyperlink" Target="mailto:href=%22https://cdn.jsdelivr.net/npm/bulma@1.0.0/css/bulma.min.css" TargetMode="External"/><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2" Type="http://schemas.openxmlformats.org/officeDocument/2006/relationships/hyperlink" Target="mailto:href=%22https://cdn.jsdelivr.net/npm/foundation-sites@6.8.1/dist/css/foundation.min.css" TargetMode="External"/><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2" Type="http://schemas.openxmlformats.org/officeDocument/2006/relationships/hyperlink" Target="mailto:src=%22https://cdn.jsdelivr.net/npm/foundation-sites@6.8.1/dist/js/foundation.min.js" TargetMode="External"/><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5" name="Rectangle 8">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pic>
        <p:nvPicPr>
          <p:cNvPr id="56" name="Picture 3">
            <a:extLst>
              <a:ext uri="{FF2B5EF4-FFF2-40B4-BE49-F238E27FC236}">
                <a16:creationId xmlns:a16="http://schemas.microsoft.com/office/drawing/2014/main" id="{F324C086-B6E3-8414-53E6-99B3E92211E0}"/>
              </a:ext>
            </a:extLst>
          </p:cNvPr>
          <p:cNvPicPr>
            <a:picLocks noChangeAspect="1"/>
          </p:cNvPicPr>
          <p:nvPr/>
        </p:nvPicPr>
        <p:blipFill>
          <a:blip r:embed="rId2"/>
          <a:srcRect t="14575" r="9085" b="8697"/>
          <a:stretch>
            <a:fillRect/>
          </a:stretch>
        </p:blipFill>
        <p:spPr>
          <a:xfrm>
            <a:off x="20" y="10"/>
            <a:ext cx="12191979" cy="6857990"/>
          </a:xfrm>
          <a:prstGeom prst="rect">
            <a:avLst/>
          </a:prstGeom>
        </p:spPr>
      </p:pic>
      <p:sp>
        <p:nvSpPr>
          <p:cNvPr id="57" name="Rectangle 10">
            <a:extLst>
              <a:ext uri="{FF2B5EF4-FFF2-40B4-BE49-F238E27FC236}">
                <a16:creationId xmlns:a16="http://schemas.microsoft.com/office/drawing/2014/main" id="{912025B4-7337-735E-4DC9-E634D20119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73183" y="173181"/>
            <a:ext cx="6858002" cy="6511640"/>
          </a:xfrm>
          <a:prstGeom prst="rect">
            <a:avLst/>
          </a:prstGeom>
          <a:gradFill>
            <a:gsLst>
              <a:gs pos="0">
                <a:schemeClr val="bg1">
                  <a:alpha val="0"/>
                </a:schemeClr>
              </a:gs>
              <a:gs pos="46000">
                <a:schemeClr val="bg1">
                  <a:alpha val="20000"/>
                </a:schemeClr>
              </a:gs>
              <a:gs pos="26000">
                <a:schemeClr val="bg1">
                  <a:alpha val="7000"/>
                </a:schemeClr>
              </a:gs>
              <a:gs pos="100000">
                <a:schemeClr val="bg1">
                  <a:alpha val="3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ítulo 1"/>
          <p:cNvSpPr>
            <a:spLocks noGrp="1"/>
          </p:cNvSpPr>
          <p:nvPr>
            <p:ph type="ctrTitle"/>
          </p:nvPr>
        </p:nvSpPr>
        <p:spPr>
          <a:xfrm>
            <a:off x="438910" y="978408"/>
            <a:ext cx="4795819" cy="3969960"/>
          </a:xfrm>
        </p:spPr>
        <p:txBody>
          <a:bodyPr anchor="t">
            <a:normAutofit/>
          </a:bodyPr>
          <a:lstStyle/>
          <a:p>
            <a:r>
              <a:rPr lang="es-ES" sz="6600" dirty="0"/>
              <a:t>UT 02 Uso de estilos</a:t>
            </a:r>
          </a:p>
        </p:txBody>
      </p:sp>
      <p:sp>
        <p:nvSpPr>
          <p:cNvPr id="3" name="Subtítulo 2"/>
          <p:cNvSpPr>
            <a:spLocks noGrp="1"/>
          </p:cNvSpPr>
          <p:nvPr>
            <p:ph type="subTitle" idx="1"/>
          </p:nvPr>
        </p:nvSpPr>
        <p:spPr>
          <a:xfrm>
            <a:off x="438910" y="4948369"/>
            <a:ext cx="4381634" cy="1157436"/>
          </a:xfrm>
        </p:spPr>
        <p:txBody>
          <a:bodyPr anchor="b">
            <a:normAutofit/>
          </a:bodyPr>
          <a:lstStyle/>
          <a:p>
            <a:endParaRPr lang="es-ES" sz="2400"/>
          </a:p>
        </p:txBody>
      </p:sp>
      <p:sp>
        <p:nvSpPr>
          <p:cNvPr id="58" name="Rectangle 12">
            <a:extLst>
              <a:ext uri="{FF2B5EF4-FFF2-40B4-BE49-F238E27FC236}">
                <a16:creationId xmlns:a16="http://schemas.microsoft.com/office/drawing/2014/main" id="{150CDACD-D191-E642-F686-FCB54B7E5F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8" y="508090"/>
            <a:ext cx="4695702"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Tree>
    <p:extLst>
      <p:ext uri="{BB962C8B-B14F-4D97-AF65-F5344CB8AC3E}">
        <p14:creationId xmlns:p14="http://schemas.microsoft.com/office/powerpoint/2010/main" val="2406273178"/>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447D09-C1FA-0552-FBD4-26272B438A1C}"/>
              </a:ext>
            </a:extLst>
          </p:cNvPr>
          <p:cNvSpPr>
            <a:spLocks noGrp="1"/>
          </p:cNvSpPr>
          <p:nvPr>
            <p:ph type="title"/>
          </p:nvPr>
        </p:nvSpPr>
        <p:spPr/>
        <p:txBody>
          <a:bodyPr/>
          <a:lstStyle/>
          <a:p>
            <a:r>
              <a:rPr lang="es-ES" dirty="0"/>
              <a:t>Índice</a:t>
            </a:r>
          </a:p>
        </p:txBody>
      </p:sp>
      <p:sp>
        <p:nvSpPr>
          <p:cNvPr id="3" name="Marcador de contenido 2">
            <a:extLst>
              <a:ext uri="{FF2B5EF4-FFF2-40B4-BE49-F238E27FC236}">
                <a16:creationId xmlns:a16="http://schemas.microsoft.com/office/drawing/2014/main" id="{32493453-33A0-A420-B3EF-186381E787AA}"/>
              </a:ext>
            </a:extLst>
          </p:cNvPr>
          <p:cNvSpPr>
            <a:spLocks noGrp="1"/>
          </p:cNvSpPr>
          <p:nvPr>
            <p:ph idx="1"/>
          </p:nvPr>
        </p:nvSpPr>
        <p:spPr/>
        <p:txBody>
          <a:bodyPr vert="horz" lIns="91440" tIns="45720" rIns="91440" bIns="45720" rtlCol="0" anchor="t">
            <a:normAutofit/>
          </a:bodyPr>
          <a:lstStyle/>
          <a:p>
            <a:pPr>
              <a:buAutoNum type="arabicPeriod"/>
            </a:pPr>
            <a:r>
              <a:rPr lang="es-ES" dirty="0">
                <a:ea typeface="+mn-lt"/>
                <a:cs typeface="+mn-lt"/>
              </a:rPr>
              <a:t>Introducción a CSS y su estructura</a:t>
            </a:r>
            <a:endParaRPr lang="es-ES" dirty="0"/>
          </a:p>
          <a:p>
            <a:pPr>
              <a:buAutoNum type="arabicPeriod"/>
            </a:pPr>
            <a:r>
              <a:rPr lang="es-ES" dirty="0">
                <a:ea typeface="+mn-lt"/>
                <a:cs typeface="+mn-lt"/>
              </a:rPr>
              <a:t>Selectores y propiedades CSS fundamentales</a:t>
            </a:r>
            <a:endParaRPr lang="es-ES" dirty="0"/>
          </a:p>
          <a:p>
            <a:pPr>
              <a:buAutoNum type="arabicPeriod"/>
            </a:pPr>
            <a:r>
              <a:rPr lang="es-ES" dirty="0">
                <a:ea typeface="+mn-lt"/>
                <a:cs typeface="+mn-lt"/>
              </a:rPr>
              <a:t>Maquetación y diseño</a:t>
            </a:r>
          </a:p>
          <a:p>
            <a:pPr>
              <a:buAutoNum type="arabicPeriod"/>
            </a:pPr>
            <a:r>
              <a:rPr lang="es-ES" dirty="0">
                <a:ea typeface="+mn-lt"/>
                <a:cs typeface="+mn-lt"/>
              </a:rPr>
              <a:t>Propiedades de estilos y buenas prácticas</a:t>
            </a:r>
            <a:endParaRPr lang="es-ES" dirty="0"/>
          </a:p>
          <a:p>
            <a:pPr>
              <a:buAutoNum type="arabicPeriod"/>
            </a:pPr>
            <a:r>
              <a:rPr lang="es-ES" dirty="0">
                <a:ea typeface="+mn-lt"/>
                <a:cs typeface="+mn-lt"/>
              </a:rPr>
              <a:t>Efectos y animaciones con CSS3</a:t>
            </a:r>
          </a:p>
          <a:p>
            <a:pPr>
              <a:buAutoNum type="arabicPeriod"/>
            </a:pPr>
            <a:r>
              <a:rPr lang="es-ES" dirty="0">
                <a:ea typeface="+mn-lt"/>
                <a:cs typeface="+mn-lt"/>
              </a:rPr>
              <a:t>Verificación y compatibilidad</a:t>
            </a:r>
            <a:endParaRPr lang="es-ES" dirty="0"/>
          </a:p>
        </p:txBody>
      </p:sp>
    </p:spTree>
    <p:extLst>
      <p:ext uri="{BB962C8B-B14F-4D97-AF65-F5344CB8AC3E}">
        <p14:creationId xmlns:p14="http://schemas.microsoft.com/office/powerpoint/2010/main" val="4830401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7EFA6E-613B-16CA-61C0-4930A667266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02CA13D-2E4C-30A1-F9A7-994A20BB12ED}"/>
              </a:ext>
            </a:extLst>
          </p:cNvPr>
          <p:cNvSpPr>
            <a:spLocks noGrp="1"/>
          </p:cNvSpPr>
          <p:nvPr>
            <p:ph type="title"/>
          </p:nvPr>
        </p:nvSpPr>
        <p:spPr/>
        <p:txBody>
          <a:bodyPr/>
          <a:lstStyle/>
          <a:p>
            <a:r>
              <a:rPr lang="es-ES" b="0" dirty="0">
                <a:ea typeface="+mj-lt"/>
                <a:cs typeface="+mj-lt"/>
              </a:rPr>
              <a:t>2.1. Introducción a CSS y su estructura</a:t>
            </a:r>
            <a:endParaRPr lang="es-ES" dirty="0">
              <a:ea typeface="+mj-lt"/>
              <a:cs typeface="+mj-lt"/>
            </a:endParaRPr>
          </a:p>
        </p:txBody>
      </p:sp>
      <p:sp>
        <p:nvSpPr>
          <p:cNvPr id="3" name="Marcador de contenido 2">
            <a:extLst>
              <a:ext uri="{FF2B5EF4-FFF2-40B4-BE49-F238E27FC236}">
                <a16:creationId xmlns:a16="http://schemas.microsoft.com/office/drawing/2014/main" id="{676771E2-9DA7-D820-8D7E-CDB5D141EF85}"/>
              </a:ext>
            </a:extLst>
          </p:cNvPr>
          <p:cNvSpPr>
            <a:spLocks noGrp="1"/>
          </p:cNvSpPr>
          <p:nvPr>
            <p:ph idx="1"/>
          </p:nvPr>
        </p:nvSpPr>
        <p:spPr/>
        <p:txBody>
          <a:bodyPr vert="horz" lIns="91440" tIns="45720" rIns="91440" bIns="45720" rtlCol="0" anchor="t">
            <a:normAutofit fontScale="77500" lnSpcReduction="20000"/>
          </a:bodyPr>
          <a:lstStyle/>
          <a:p>
            <a:r>
              <a:rPr lang="es-ES" dirty="0">
                <a:ea typeface="+mn-lt"/>
                <a:cs typeface="+mn-lt"/>
              </a:rPr>
              <a:t>CSS (</a:t>
            </a:r>
            <a:r>
              <a:rPr lang="es-ES" err="1">
                <a:ea typeface="+mn-lt"/>
                <a:cs typeface="+mn-lt"/>
              </a:rPr>
              <a:t>Cascading</a:t>
            </a:r>
            <a:r>
              <a:rPr lang="es-ES" dirty="0">
                <a:ea typeface="+mn-lt"/>
                <a:cs typeface="+mn-lt"/>
              </a:rPr>
              <a:t> Style </a:t>
            </a:r>
            <a:r>
              <a:rPr lang="es-ES" err="1">
                <a:ea typeface="+mn-lt"/>
                <a:cs typeface="+mn-lt"/>
              </a:rPr>
              <a:t>Sheets</a:t>
            </a:r>
            <a:r>
              <a:rPr lang="es-ES" dirty="0">
                <a:ea typeface="+mn-lt"/>
                <a:cs typeface="+mn-lt"/>
              </a:rPr>
              <a:t>) es el lenguaje de hojas de estilo que se utiliza para describir la presentación de una página web, que está escrita en un lenguaje de marcado como HTML. Mientras que HTML se encarga de la estructura y el contenido (párrafos, títulos, listas), CSS se ocupa del estilo (colores, tipografía, disposición).</a:t>
            </a:r>
            <a:endParaRPr lang="es-ES" dirty="0"/>
          </a:p>
          <a:p>
            <a:r>
              <a:rPr lang="es-ES" dirty="0">
                <a:ea typeface="+mn-lt"/>
                <a:cs typeface="+mn-lt"/>
              </a:rPr>
              <a:t>El nombre "Hojas de Estilo en Cascada" hace referencia a la forma en que los estilos se aplican y heredan, donde las reglas más específicas o las que se encuentran más abajo en el código anulan a las anteriores.</a:t>
            </a:r>
          </a:p>
          <a:p>
            <a:r>
              <a:rPr lang="es-ES" dirty="0">
                <a:ea typeface="+mn-lt"/>
                <a:cs typeface="+mn-lt"/>
              </a:rPr>
              <a:t>Ejemplo: Imagina que tienes el siguiente fragmento de código HTML, que solo contiene la estructura:</a:t>
            </a:r>
            <a:endParaRPr lang="es-ES" dirty="0"/>
          </a:p>
          <a:p>
            <a:pPr marL="0" indent="0">
              <a:buNone/>
            </a:pPr>
            <a:r>
              <a:rPr lang="es-ES" b="1" dirty="0">
                <a:latin typeface="Courier New"/>
                <a:ea typeface="+mn-lt"/>
                <a:cs typeface="+mn-lt"/>
              </a:rPr>
              <a:t>&lt;!DOCTYPE </a:t>
            </a:r>
            <a:r>
              <a:rPr lang="es-ES" b="1" err="1">
                <a:latin typeface="Courier New"/>
                <a:ea typeface="+mn-lt"/>
                <a:cs typeface="+mn-lt"/>
              </a:rPr>
              <a:t>html</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&lt;</a:t>
            </a:r>
            <a:r>
              <a:rPr lang="es-ES" b="1" err="1">
                <a:latin typeface="Courier New"/>
                <a:ea typeface="+mn-lt"/>
                <a:cs typeface="+mn-lt"/>
              </a:rPr>
              <a:t>html</a:t>
            </a:r>
            <a:r>
              <a:rPr lang="es-ES" b="1" dirty="0">
                <a:latin typeface="Courier New"/>
                <a:ea typeface="+mn-lt"/>
                <a:cs typeface="+mn-lt"/>
              </a:rPr>
              <a:t> </a:t>
            </a:r>
            <a:r>
              <a:rPr lang="es-ES" b="1" err="1">
                <a:latin typeface="Courier New"/>
                <a:ea typeface="+mn-lt"/>
                <a:cs typeface="+mn-lt"/>
              </a:rPr>
              <a:t>lang</a:t>
            </a:r>
            <a:r>
              <a:rPr lang="es-ES" b="1" dirty="0">
                <a:latin typeface="Courier New"/>
                <a:ea typeface="+mn-lt"/>
                <a:cs typeface="+mn-lt"/>
              </a:rPr>
              <a:t>="es"&gt;</a:t>
            </a:r>
            <a:br>
              <a:rPr lang="es-ES" b="1" dirty="0">
                <a:latin typeface="Courier New"/>
                <a:ea typeface="+mn-lt"/>
                <a:cs typeface="+mn-lt"/>
              </a:rPr>
            </a:br>
            <a:r>
              <a:rPr lang="es-ES" b="1" dirty="0">
                <a:latin typeface="Courier New"/>
                <a:ea typeface="+mn-lt"/>
                <a:cs typeface="+mn-lt"/>
              </a:rPr>
              <a:t>&lt;head&gt;</a:t>
            </a:r>
            <a:br>
              <a:rPr lang="es-ES" b="1" dirty="0">
                <a:latin typeface="Courier New"/>
                <a:ea typeface="+mn-lt"/>
                <a:cs typeface="+mn-lt"/>
              </a:rPr>
            </a:br>
            <a:r>
              <a:rPr lang="es-ES" b="1" dirty="0">
                <a:latin typeface="Courier New"/>
                <a:ea typeface="+mn-lt"/>
                <a:cs typeface="+mn-lt"/>
              </a:rPr>
              <a:t>    &lt;</a:t>
            </a:r>
            <a:r>
              <a:rPr lang="es-ES" b="1" err="1">
                <a:latin typeface="Courier New"/>
                <a:ea typeface="+mn-lt"/>
                <a:cs typeface="+mn-lt"/>
              </a:rPr>
              <a:t>title</a:t>
            </a:r>
            <a:r>
              <a:rPr lang="es-ES" b="1" dirty="0">
                <a:latin typeface="Courier New"/>
                <a:ea typeface="+mn-lt"/>
                <a:cs typeface="+mn-lt"/>
              </a:rPr>
              <a:t>&gt;Mi Página&lt;/</a:t>
            </a:r>
            <a:r>
              <a:rPr lang="es-ES" b="1" err="1">
                <a:latin typeface="Courier New"/>
                <a:ea typeface="+mn-lt"/>
                <a:cs typeface="+mn-lt"/>
              </a:rPr>
              <a:t>title</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&lt;link </a:t>
            </a:r>
            <a:r>
              <a:rPr lang="es-ES" b="1" err="1">
                <a:latin typeface="Courier New"/>
                <a:ea typeface="+mn-lt"/>
                <a:cs typeface="+mn-lt"/>
              </a:rPr>
              <a:t>rel</a:t>
            </a:r>
            <a:r>
              <a:rPr lang="es-ES" b="1" dirty="0">
                <a:latin typeface="Courier New"/>
                <a:ea typeface="+mn-lt"/>
                <a:cs typeface="+mn-lt"/>
              </a:rPr>
              <a:t>="</a:t>
            </a:r>
            <a:r>
              <a:rPr lang="es-ES" b="1" err="1">
                <a:latin typeface="Courier New"/>
                <a:ea typeface="+mn-lt"/>
                <a:cs typeface="+mn-lt"/>
              </a:rPr>
              <a:t>stylesheet</a:t>
            </a:r>
            <a:r>
              <a:rPr lang="es-ES" b="1" dirty="0">
                <a:latin typeface="Courier New"/>
                <a:ea typeface="+mn-lt"/>
                <a:cs typeface="+mn-lt"/>
              </a:rPr>
              <a:t>" </a:t>
            </a:r>
            <a:r>
              <a:rPr lang="es-ES" b="1" err="1">
                <a:latin typeface="Courier New"/>
                <a:ea typeface="+mn-lt"/>
                <a:cs typeface="+mn-lt"/>
              </a:rPr>
              <a:t>href</a:t>
            </a:r>
            <a:r>
              <a:rPr lang="es-ES" b="1" dirty="0">
                <a:latin typeface="Courier New"/>
                <a:ea typeface="+mn-lt"/>
                <a:cs typeface="+mn-lt"/>
              </a:rPr>
              <a:t>="estilos.css" /&gt;</a:t>
            </a:r>
            <a:br>
              <a:rPr lang="es-ES" b="1" dirty="0">
                <a:latin typeface="Courier New"/>
                <a:ea typeface="+mn-lt"/>
                <a:cs typeface="+mn-lt"/>
              </a:rPr>
            </a:br>
            <a:r>
              <a:rPr lang="es-ES" b="1" dirty="0">
                <a:latin typeface="Courier New"/>
                <a:ea typeface="+mn-lt"/>
                <a:cs typeface="+mn-lt"/>
              </a:rPr>
              <a:t>&lt;/head&gt;</a:t>
            </a:r>
            <a:br>
              <a:rPr lang="es-ES" b="1" dirty="0">
                <a:latin typeface="Courier New"/>
                <a:ea typeface="+mn-lt"/>
                <a:cs typeface="+mn-lt"/>
              </a:rPr>
            </a:br>
            <a:r>
              <a:rPr lang="es-ES" b="1" dirty="0">
                <a:latin typeface="Courier New"/>
                <a:ea typeface="+mn-lt"/>
                <a:cs typeface="+mn-lt"/>
              </a:rPr>
              <a:t>&lt;</a:t>
            </a:r>
            <a:r>
              <a:rPr lang="es-ES" b="1" err="1">
                <a:latin typeface="Courier New"/>
                <a:ea typeface="+mn-lt"/>
                <a:cs typeface="+mn-lt"/>
              </a:rPr>
              <a:t>body</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&lt;h1&gt;¡Hola, mundo!&lt;/h1&gt;</a:t>
            </a:r>
            <a:br>
              <a:rPr lang="es-ES" b="1" dirty="0">
                <a:latin typeface="Courier New"/>
                <a:ea typeface="+mn-lt"/>
                <a:cs typeface="+mn-lt"/>
              </a:rPr>
            </a:br>
            <a:r>
              <a:rPr lang="es-ES" b="1" dirty="0">
                <a:latin typeface="Courier New"/>
                <a:ea typeface="+mn-lt"/>
                <a:cs typeface="+mn-lt"/>
              </a:rPr>
              <a:t>    &lt;p&gt;Este es un párrafo de ejemplo.&lt;/p&gt;</a:t>
            </a:r>
            <a:br>
              <a:rPr lang="es-ES" b="1" dirty="0">
                <a:latin typeface="Courier New"/>
                <a:ea typeface="+mn-lt"/>
                <a:cs typeface="+mn-lt"/>
              </a:rPr>
            </a:br>
            <a:r>
              <a:rPr lang="es-ES" b="1" dirty="0">
                <a:latin typeface="Courier New"/>
                <a:ea typeface="+mn-lt"/>
                <a:cs typeface="+mn-lt"/>
              </a:rPr>
              <a:t>&lt;/</a:t>
            </a:r>
            <a:r>
              <a:rPr lang="es-ES" b="1" err="1">
                <a:latin typeface="Courier New"/>
                <a:ea typeface="+mn-lt"/>
                <a:cs typeface="+mn-lt"/>
              </a:rPr>
              <a:t>body</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&lt;/</a:t>
            </a:r>
            <a:r>
              <a:rPr lang="es-ES" b="1" err="1">
                <a:latin typeface="Courier New"/>
                <a:ea typeface="+mn-lt"/>
                <a:cs typeface="+mn-lt"/>
              </a:rPr>
              <a:t>html</a:t>
            </a:r>
            <a:r>
              <a:rPr lang="es-ES" b="1" dirty="0">
                <a:latin typeface="Courier New"/>
                <a:ea typeface="+mn-lt"/>
                <a:cs typeface="+mn-lt"/>
              </a:rPr>
              <a:t>&gt;</a:t>
            </a:r>
            <a:endParaRPr lang="es-ES" b="1" dirty="0">
              <a:latin typeface="Courier New"/>
              <a:cs typeface="Courier New"/>
            </a:endParaRPr>
          </a:p>
        </p:txBody>
      </p:sp>
    </p:spTree>
    <p:extLst>
      <p:ext uri="{BB962C8B-B14F-4D97-AF65-F5344CB8AC3E}">
        <p14:creationId xmlns:p14="http://schemas.microsoft.com/office/powerpoint/2010/main" val="31621645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CA24F2-0C2A-3107-1359-B5FFBC3BD0F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4FDBF1E-7974-2682-44B5-3FA37EAEF7CF}"/>
              </a:ext>
            </a:extLst>
          </p:cNvPr>
          <p:cNvSpPr>
            <a:spLocks noGrp="1"/>
          </p:cNvSpPr>
          <p:nvPr>
            <p:ph type="title"/>
          </p:nvPr>
        </p:nvSpPr>
        <p:spPr/>
        <p:txBody>
          <a:bodyPr/>
          <a:lstStyle/>
          <a:p>
            <a:r>
              <a:rPr lang="es-ES" b="0" dirty="0">
                <a:ea typeface="+mj-lt"/>
                <a:cs typeface="+mj-lt"/>
              </a:rPr>
              <a:t>2.1. Introducción a CSS y su estructura</a:t>
            </a:r>
            <a:endParaRPr lang="es-ES" dirty="0">
              <a:ea typeface="+mj-lt"/>
              <a:cs typeface="+mj-lt"/>
            </a:endParaRPr>
          </a:p>
        </p:txBody>
      </p:sp>
      <p:sp>
        <p:nvSpPr>
          <p:cNvPr id="3" name="Marcador de contenido 2">
            <a:extLst>
              <a:ext uri="{FF2B5EF4-FFF2-40B4-BE49-F238E27FC236}">
                <a16:creationId xmlns:a16="http://schemas.microsoft.com/office/drawing/2014/main" id="{CC088536-25DD-00DC-2D30-B0BA0172CF7B}"/>
              </a:ext>
            </a:extLst>
          </p:cNvPr>
          <p:cNvSpPr>
            <a:spLocks noGrp="1"/>
          </p:cNvSpPr>
          <p:nvPr>
            <p:ph idx="1"/>
          </p:nvPr>
        </p:nvSpPr>
        <p:spPr/>
        <p:txBody>
          <a:bodyPr vert="horz" lIns="91440" tIns="45720" rIns="91440" bIns="45720" rtlCol="0" anchor="t">
            <a:normAutofit fontScale="92500" lnSpcReduction="10000"/>
          </a:bodyPr>
          <a:lstStyle/>
          <a:p>
            <a:r>
              <a:rPr lang="es-ES" dirty="0">
                <a:ea typeface="+mn-lt"/>
                <a:cs typeface="+mn-lt"/>
              </a:rPr>
              <a:t>El navegador lo mostraría con su estilo por defecto, que es simple y sin formato.</a:t>
            </a:r>
          </a:p>
          <a:p>
            <a:r>
              <a:rPr lang="es-ES" dirty="0">
                <a:ea typeface="+mn-lt"/>
                <a:cs typeface="+mn-lt"/>
              </a:rPr>
              <a:t>Para darle estilo, creamos un archivo CSS (estilos.css) y lo enlazamos al HTML.</a:t>
            </a:r>
          </a:p>
          <a:p>
            <a:r>
              <a:rPr lang="es-ES" dirty="0">
                <a:ea typeface="+mn-lt"/>
                <a:cs typeface="+mn-lt"/>
              </a:rPr>
              <a:t>Al enlazar ambos, el navegador aplica el estilo CSS a la estructura HTML, logrando una presentación mucho más atractiva y legible.</a:t>
            </a:r>
          </a:p>
          <a:p>
            <a:pPr marL="0" indent="0">
              <a:buNone/>
            </a:pPr>
            <a:r>
              <a:rPr lang="es-ES" b="1" dirty="0" err="1">
                <a:latin typeface="Courier New"/>
                <a:ea typeface="+mn-lt"/>
                <a:cs typeface="+mn-lt"/>
              </a:rPr>
              <a:t>body</a:t>
            </a: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font-family</a:t>
            </a:r>
            <a:r>
              <a:rPr lang="es-ES" b="1" dirty="0">
                <a:latin typeface="Courier New"/>
                <a:ea typeface="+mn-lt"/>
                <a:cs typeface="+mn-lt"/>
              </a:rPr>
              <a:t>: Arial, </a:t>
            </a:r>
            <a:r>
              <a:rPr lang="es-ES" b="1" dirty="0" err="1">
                <a:latin typeface="Courier New"/>
                <a:ea typeface="+mn-lt"/>
                <a:cs typeface="+mn-lt"/>
              </a:rPr>
              <a:t>sans-serif</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    color: #333;</a:t>
            </a:r>
            <a:br>
              <a:rPr lang="es-ES" b="1" dirty="0">
                <a:latin typeface="Courier New"/>
                <a:ea typeface="+mn-lt"/>
                <a:cs typeface="+mn-lt"/>
              </a:rPr>
            </a:b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h1 {</a:t>
            </a:r>
            <a:br>
              <a:rPr lang="es-ES" b="1" dirty="0">
                <a:latin typeface="Courier New"/>
                <a:ea typeface="+mn-lt"/>
                <a:cs typeface="+mn-lt"/>
              </a:rPr>
            </a:br>
            <a:r>
              <a:rPr lang="es-ES" b="1" dirty="0">
                <a:latin typeface="Courier New"/>
                <a:ea typeface="+mn-lt"/>
                <a:cs typeface="+mn-lt"/>
              </a:rPr>
              <a:t>    color: #007bff;</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text-align</a:t>
            </a:r>
            <a:r>
              <a:rPr lang="es-ES" b="1" dirty="0">
                <a:latin typeface="Courier New"/>
                <a:ea typeface="+mn-lt"/>
                <a:cs typeface="+mn-lt"/>
              </a:rPr>
              <a:t>: center;</a:t>
            </a:r>
            <a:br>
              <a:rPr lang="es-ES" b="1" dirty="0">
                <a:latin typeface="Courier New"/>
                <a:ea typeface="+mn-lt"/>
                <a:cs typeface="+mn-lt"/>
              </a:rPr>
            </a:br>
            <a:r>
              <a:rPr lang="es-ES" b="1" dirty="0">
                <a:latin typeface="Courier New"/>
                <a:ea typeface="+mn-lt"/>
                <a:cs typeface="+mn-lt"/>
              </a:rPr>
              <a:t>}</a:t>
            </a:r>
            <a:endParaRPr lang="es-ES" b="1" dirty="0">
              <a:latin typeface="Courier New"/>
              <a:cs typeface="Courier New"/>
            </a:endParaRPr>
          </a:p>
        </p:txBody>
      </p:sp>
    </p:spTree>
    <p:extLst>
      <p:ext uri="{BB962C8B-B14F-4D97-AF65-F5344CB8AC3E}">
        <p14:creationId xmlns:p14="http://schemas.microsoft.com/office/powerpoint/2010/main" val="41561228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4A31D7-91C0-F65A-66BA-8C162D65624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1915FB5-A0D0-A327-5341-0A9165C9A5FB}"/>
              </a:ext>
            </a:extLst>
          </p:cNvPr>
          <p:cNvSpPr>
            <a:spLocks noGrp="1"/>
          </p:cNvSpPr>
          <p:nvPr>
            <p:ph type="title"/>
          </p:nvPr>
        </p:nvSpPr>
        <p:spPr/>
        <p:txBody>
          <a:bodyPr/>
          <a:lstStyle/>
          <a:p>
            <a:r>
              <a:rPr lang="es-ES" b="0" dirty="0">
                <a:ea typeface="+mj-lt"/>
                <a:cs typeface="+mj-lt"/>
              </a:rPr>
              <a:t>2.1.1. ¿Qué es CSS? Origen y evolución.</a:t>
            </a:r>
            <a:endParaRPr lang="es-ES" dirty="0"/>
          </a:p>
        </p:txBody>
      </p:sp>
      <p:sp>
        <p:nvSpPr>
          <p:cNvPr id="3" name="Marcador de contenido 2">
            <a:extLst>
              <a:ext uri="{FF2B5EF4-FFF2-40B4-BE49-F238E27FC236}">
                <a16:creationId xmlns:a16="http://schemas.microsoft.com/office/drawing/2014/main" id="{1FF931CA-04A4-6848-781D-8EF0AB15D1B9}"/>
              </a:ext>
            </a:extLst>
          </p:cNvPr>
          <p:cNvSpPr>
            <a:spLocks noGrp="1"/>
          </p:cNvSpPr>
          <p:nvPr>
            <p:ph idx="1"/>
          </p:nvPr>
        </p:nvSpPr>
        <p:spPr/>
        <p:txBody>
          <a:bodyPr vert="horz" lIns="91440" tIns="45720" rIns="91440" bIns="45720" rtlCol="0" anchor="t">
            <a:normAutofit/>
          </a:bodyPr>
          <a:lstStyle/>
          <a:p>
            <a:r>
              <a:rPr lang="es-ES" dirty="0">
                <a:ea typeface="+mn-lt"/>
                <a:cs typeface="+mn-lt"/>
              </a:rPr>
              <a:t>CSS (</a:t>
            </a:r>
            <a:r>
              <a:rPr lang="es-ES" dirty="0" err="1">
                <a:ea typeface="+mn-lt"/>
                <a:cs typeface="+mn-lt"/>
              </a:rPr>
              <a:t>Cascading</a:t>
            </a:r>
            <a:r>
              <a:rPr lang="es-ES" dirty="0">
                <a:ea typeface="+mn-lt"/>
                <a:cs typeface="+mn-lt"/>
              </a:rPr>
              <a:t> Style </a:t>
            </a:r>
            <a:r>
              <a:rPr lang="es-ES" dirty="0" err="1">
                <a:ea typeface="+mn-lt"/>
                <a:cs typeface="+mn-lt"/>
              </a:rPr>
              <a:t>Sheets</a:t>
            </a:r>
            <a:r>
              <a:rPr lang="es-ES" dirty="0">
                <a:ea typeface="+mn-lt"/>
                <a:cs typeface="+mn-lt"/>
              </a:rPr>
              <a:t>), u hojas de estilo en cascada, es un lenguaje de programación declarativo que se utiliza para dar estilo a los documentos escritos en lenguajes de marcado como HTML. Su propósito principal es separar el contenido (HTML) de la presentación (CSS), lo que facilita el mantenimiento, la reutilización del código y mejora la accesibilidad.</a:t>
            </a:r>
            <a:endParaRPr lang="es-ES" dirty="0"/>
          </a:p>
          <a:p>
            <a:r>
              <a:rPr lang="es-ES" dirty="0">
                <a:ea typeface="+mn-lt"/>
                <a:cs typeface="+mn-lt"/>
              </a:rPr>
              <a:t>Piensa en una página web como si fuera un ser humano:</a:t>
            </a:r>
            <a:endParaRPr lang="es-ES" dirty="0"/>
          </a:p>
          <a:p>
            <a:r>
              <a:rPr lang="es-ES" dirty="0">
                <a:ea typeface="+mn-lt"/>
                <a:cs typeface="+mn-lt"/>
              </a:rPr>
              <a:t>HTML es el esqueleto y los órganos (la estructura y el contenido).</a:t>
            </a:r>
            <a:endParaRPr lang="es-ES" dirty="0"/>
          </a:p>
          <a:p>
            <a:r>
              <a:rPr lang="es-ES" dirty="0">
                <a:ea typeface="+mn-lt"/>
                <a:cs typeface="+mn-lt"/>
              </a:rPr>
              <a:t>CSS es la ropa, el peinado y el maquillaje (el diseño y la apariencia visual).</a:t>
            </a:r>
            <a:endParaRPr lang="es-ES" dirty="0"/>
          </a:p>
          <a:p>
            <a:r>
              <a:rPr lang="es-ES" dirty="0">
                <a:ea typeface="+mn-lt"/>
                <a:cs typeface="+mn-lt"/>
              </a:rPr>
              <a:t>Sin CSS, una página web es una simple estructura de texto e imágenes, con la tipografía y disposición por defecto del navegador. Con CSS, se pueden controlar los colores, las tipografías, los espacios, los diseños de página, y mucho más, para crear una experiencia visual atractiva.</a:t>
            </a:r>
            <a:endParaRPr lang="es-ES" dirty="0"/>
          </a:p>
        </p:txBody>
      </p:sp>
    </p:spTree>
    <p:extLst>
      <p:ext uri="{BB962C8B-B14F-4D97-AF65-F5344CB8AC3E}">
        <p14:creationId xmlns:p14="http://schemas.microsoft.com/office/powerpoint/2010/main" val="6394344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081C7A-E62D-3ACE-D0D7-2AC8F0B9CBA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4B1F53C-42D0-3EA5-BFEF-207A1BDB2CA9}"/>
              </a:ext>
            </a:extLst>
          </p:cNvPr>
          <p:cNvSpPr>
            <a:spLocks noGrp="1"/>
          </p:cNvSpPr>
          <p:nvPr>
            <p:ph type="title"/>
          </p:nvPr>
        </p:nvSpPr>
        <p:spPr/>
        <p:txBody>
          <a:bodyPr/>
          <a:lstStyle/>
          <a:p>
            <a:r>
              <a:rPr lang="es-ES" b="0" dirty="0">
                <a:ea typeface="+mj-lt"/>
                <a:cs typeface="+mj-lt"/>
              </a:rPr>
              <a:t>2.1.1. ¿Qué es CSS? Origen y evolución.</a:t>
            </a:r>
            <a:endParaRPr lang="es-ES" dirty="0"/>
          </a:p>
        </p:txBody>
      </p:sp>
      <p:sp>
        <p:nvSpPr>
          <p:cNvPr id="3" name="Marcador de contenido 2">
            <a:extLst>
              <a:ext uri="{FF2B5EF4-FFF2-40B4-BE49-F238E27FC236}">
                <a16:creationId xmlns:a16="http://schemas.microsoft.com/office/drawing/2014/main" id="{D5219405-F63F-116D-B0FB-3993BA75AF82}"/>
              </a:ext>
            </a:extLst>
          </p:cNvPr>
          <p:cNvSpPr>
            <a:spLocks noGrp="1"/>
          </p:cNvSpPr>
          <p:nvPr>
            <p:ph idx="1"/>
          </p:nvPr>
        </p:nvSpPr>
        <p:spPr/>
        <p:txBody>
          <a:bodyPr vert="horz" lIns="91440" tIns="45720" rIns="91440" bIns="45720" rtlCol="0" anchor="t">
            <a:normAutofit fontScale="92500" lnSpcReduction="20000"/>
          </a:bodyPr>
          <a:lstStyle/>
          <a:p>
            <a:r>
              <a:rPr lang="es-ES">
                <a:ea typeface="+mn-lt"/>
                <a:cs typeface="+mn-lt"/>
              </a:rPr>
              <a:t>La historia de CSS es la historia de la web, marcada por el deseo de los diseñadores de tener más control sobre la apariencia de sus sitios.</a:t>
            </a:r>
          </a:p>
          <a:p>
            <a:r>
              <a:rPr lang="es-ES">
                <a:ea typeface="+mn-lt"/>
                <a:cs typeface="+mn-lt"/>
              </a:rPr>
              <a:t>Los inicios (antes de CSS) En los primeros años de la web, todo el estilo se definía con etiquetas HTML. Para poner un texto en negrita, se usaba &lt;b&gt; o &lt;strong&gt;. Para cambiar el color de fondo, se usaba el atributo bgcolor en el &lt;body&gt;. Este método era ineficiente y muy difícil de mantener, ya que un simple cambio de color requería modificar cada página HTML de forma individual.</a:t>
            </a:r>
            <a:endParaRPr lang="es-ES"/>
          </a:p>
          <a:p>
            <a:r>
              <a:rPr lang="es-ES" dirty="0">
                <a:ea typeface="+mn-lt"/>
                <a:cs typeface="+mn-lt"/>
              </a:rPr>
              <a:t>CSS1 (1996) Fue el primer estándar de CSS, desarrollado por </a:t>
            </a:r>
            <a:r>
              <a:rPr lang="es-ES" err="1">
                <a:ea typeface="+mn-lt"/>
                <a:cs typeface="+mn-lt"/>
              </a:rPr>
              <a:t>Håkon</a:t>
            </a:r>
            <a:r>
              <a:rPr lang="es-ES" dirty="0">
                <a:ea typeface="+mn-lt"/>
                <a:cs typeface="+mn-lt"/>
              </a:rPr>
              <a:t> </a:t>
            </a:r>
            <a:r>
              <a:rPr lang="es-ES" err="1">
                <a:ea typeface="+mn-lt"/>
                <a:cs typeface="+mn-lt"/>
              </a:rPr>
              <a:t>Wium</a:t>
            </a:r>
            <a:r>
              <a:rPr lang="es-ES" dirty="0">
                <a:ea typeface="+mn-lt"/>
                <a:cs typeface="+mn-lt"/>
              </a:rPr>
              <a:t> Lie y Bert </a:t>
            </a:r>
            <a:r>
              <a:rPr lang="es-ES" err="1">
                <a:ea typeface="+mn-lt"/>
                <a:cs typeface="+mn-lt"/>
              </a:rPr>
              <a:t>Bos</a:t>
            </a:r>
            <a:r>
              <a:rPr lang="es-ES" dirty="0">
                <a:ea typeface="+mn-lt"/>
                <a:cs typeface="+mn-lt"/>
              </a:rPr>
              <a:t>. Introdujo propiedades básicas para dar formato a la tipografía, los colores, los fondos y las cajas de los elementos. Fue un paso gigante hacia la separación de la presentación del contenido.</a:t>
            </a:r>
          </a:p>
          <a:p>
            <a:r>
              <a:rPr lang="es-ES" dirty="0">
                <a:ea typeface="+mn-lt"/>
                <a:cs typeface="+mn-lt"/>
              </a:rPr>
              <a:t>CSS2 (1998) Expandió las capacidades de CSS1 con la introducción de conceptos cruciales para la maquetación. Incluyó el modelo de caja, el posicionamiento (position), las capas (z-</a:t>
            </a:r>
            <a:r>
              <a:rPr lang="es-ES" dirty="0" err="1">
                <a:ea typeface="+mn-lt"/>
                <a:cs typeface="+mn-lt"/>
              </a:rPr>
              <a:t>index</a:t>
            </a:r>
            <a:r>
              <a:rPr lang="es-ES" dirty="0">
                <a:ea typeface="+mn-lt"/>
                <a:cs typeface="+mn-lt"/>
              </a:rPr>
              <a:t>) y los flotadores (</a:t>
            </a:r>
            <a:r>
              <a:rPr lang="es-ES" dirty="0" err="1">
                <a:ea typeface="+mn-lt"/>
                <a:cs typeface="+mn-lt"/>
              </a:rPr>
              <a:t>float</a:t>
            </a:r>
            <a:r>
              <a:rPr lang="es-ES" dirty="0">
                <a:ea typeface="+mn-lt"/>
                <a:cs typeface="+mn-lt"/>
              </a:rPr>
              <a:t>), que permitieron a los diseñadores organizar los elementos de forma más compleja en la página. También añadió la posibilidad de crear hojas de estilo para diferentes medios, como la impresión.</a:t>
            </a:r>
            <a:endParaRPr lang="es-ES" dirty="0"/>
          </a:p>
        </p:txBody>
      </p:sp>
    </p:spTree>
    <p:extLst>
      <p:ext uri="{BB962C8B-B14F-4D97-AF65-F5344CB8AC3E}">
        <p14:creationId xmlns:p14="http://schemas.microsoft.com/office/powerpoint/2010/main" val="3894993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6CC0B8-796E-A368-3058-C09074DC90E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1F31762-0E2C-A43D-0CFA-972E5FAAC5F3}"/>
              </a:ext>
            </a:extLst>
          </p:cNvPr>
          <p:cNvSpPr>
            <a:spLocks noGrp="1"/>
          </p:cNvSpPr>
          <p:nvPr>
            <p:ph type="title"/>
          </p:nvPr>
        </p:nvSpPr>
        <p:spPr/>
        <p:txBody>
          <a:bodyPr/>
          <a:lstStyle/>
          <a:p>
            <a:r>
              <a:rPr lang="es-ES" b="0" dirty="0">
                <a:ea typeface="+mj-lt"/>
                <a:cs typeface="+mj-lt"/>
              </a:rPr>
              <a:t>2.1.1. ¿Qué es CSS? Origen y evolución.</a:t>
            </a:r>
            <a:endParaRPr lang="es-ES" dirty="0"/>
          </a:p>
        </p:txBody>
      </p:sp>
      <p:sp>
        <p:nvSpPr>
          <p:cNvPr id="3" name="Marcador de contenido 2">
            <a:extLst>
              <a:ext uri="{FF2B5EF4-FFF2-40B4-BE49-F238E27FC236}">
                <a16:creationId xmlns:a16="http://schemas.microsoft.com/office/drawing/2014/main" id="{F973129F-5952-835B-325C-C99F2BD78B27}"/>
              </a:ext>
            </a:extLst>
          </p:cNvPr>
          <p:cNvSpPr>
            <a:spLocks noGrp="1"/>
          </p:cNvSpPr>
          <p:nvPr>
            <p:ph idx="1"/>
          </p:nvPr>
        </p:nvSpPr>
        <p:spPr/>
        <p:txBody>
          <a:bodyPr vert="horz" lIns="91440" tIns="45720" rIns="91440" bIns="45720" rtlCol="0" anchor="t">
            <a:normAutofit fontScale="92500"/>
          </a:bodyPr>
          <a:lstStyle/>
          <a:p>
            <a:r>
              <a:rPr lang="es-ES" dirty="0">
                <a:ea typeface="+mn-lt"/>
                <a:cs typeface="+mn-lt"/>
              </a:rPr>
              <a:t>CSS3 (2000s - actualidad) CSS3 no es una única versión, sino un conjunto de módulos que se desarrollan y publican de forma independiente. Este enfoque ha permitido que el lenguaje evolucione rápidamente, incorporando nuevas funcionalidades de forma constante. Las innovaciones más importantes de CSS3 incluyen:</a:t>
            </a:r>
            <a:endParaRPr lang="es-ES" dirty="0"/>
          </a:p>
          <a:p>
            <a:pPr lvl="1">
              <a:buFont typeface="Courier New" panose="020B0604020202020204" pitchFamily="34" charset="0"/>
              <a:buChar char="o"/>
            </a:pPr>
            <a:r>
              <a:rPr lang="es-ES" dirty="0">
                <a:ea typeface="+mn-lt"/>
                <a:cs typeface="+mn-lt"/>
              </a:rPr>
              <a:t>Media </a:t>
            </a:r>
            <a:r>
              <a:rPr lang="es-ES" dirty="0" err="1">
                <a:ea typeface="+mn-lt"/>
                <a:cs typeface="+mn-lt"/>
              </a:rPr>
              <a:t>Queries</a:t>
            </a:r>
            <a:r>
              <a:rPr lang="es-ES" dirty="0">
                <a:ea typeface="+mn-lt"/>
                <a:cs typeface="+mn-lt"/>
              </a:rPr>
              <a:t>: Esenciales para el diseño responsivo, ya que permiten aplicar estilos diferentes según las características del dispositivo (como el ancho de la pantalla).</a:t>
            </a:r>
            <a:endParaRPr lang="es-ES" dirty="0"/>
          </a:p>
          <a:p>
            <a:pPr lvl="1">
              <a:buFont typeface="Courier New" panose="020B0604020202020204" pitchFamily="34" charset="0"/>
              <a:buChar char="o"/>
            </a:pPr>
            <a:r>
              <a:rPr lang="es-ES" dirty="0" err="1">
                <a:ea typeface="+mn-lt"/>
                <a:cs typeface="+mn-lt"/>
              </a:rPr>
              <a:t>Flexbox</a:t>
            </a:r>
            <a:r>
              <a:rPr lang="es-ES" dirty="0">
                <a:ea typeface="+mn-lt"/>
                <a:cs typeface="+mn-lt"/>
              </a:rPr>
              <a:t> y </a:t>
            </a:r>
            <a:r>
              <a:rPr lang="es-ES" dirty="0" err="1">
                <a:ea typeface="+mn-lt"/>
                <a:cs typeface="+mn-lt"/>
              </a:rPr>
              <a:t>Grid</a:t>
            </a:r>
            <a:r>
              <a:rPr lang="es-ES" dirty="0">
                <a:ea typeface="+mn-lt"/>
                <a:cs typeface="+mn-lt"/>
              </a:rPr>
              <a:t>: Nuevos sistemas de maquetación que simplificaron drásticamente la creación de diseños complejos de una o dos dimensiones, respectivamente.</a:t>
            </a:r>
          </a:p>
          <a:p>
            <a:pPr lvl="1">
              <a:buFont typeface="Courier New" panose="020B0604020202020204" pitchFamily="34" charset="0"/>
              <a:buChar char="o"/>
            </a:pPr>
            <a:r>
              <a:rPr lang="es-ES" dirty="0">
                <a:ea typeface="+mn-lt"/>
                <a:cs typeface="+mn-lt"/>
              </a:rPr>
              <a:t>Transiciones y Animaciones: Permiten crear efectos dinámicos y fluidos sin necesidad de JavaScript.</a:t>
            </a:r>
          </a:p>
          <a:p>
            <a:pPr lvl="1">
              <a:buFont typeface="Courier New" panose="020B0604020202020204" pitchFamily="34" charset="0"/>
              <a:buChar char="o"/>
            </a:pPr>
            <a:r>
              <a:rPr lang="es-ES" dirty="0">
                <a:ea typeface="+mn-lt"/>
                <a:cs typeface="+mn-lt"/>
              </a:rPr>
              <a:t>Propiedades avanzadas: Como bordes redondeados (</a:t>
            </a:r>
            <a:r>
              <a:rPr lang="es-ES" dirty="0" err="1">
                <a:ea typeface="+mn-lt"/>
                <a:cs typeface="+mn-lt"/>
              </a:rPr>
              <a:t>border-radius</a:t>
            </a:r>
            <a:r>
              <a:rPr lang="es-ES" dirty="0">
                <a:ea typeface="+mn-lt"/>
                <a:cs typeface="+mn-lt"/>
              </a:rPr>
              <a:t>), sombras de caja (box-</a:t>
            </a:r>
            <a:r>
              <a:rPr lang="es-ES" dirty="0" err="1">
                <a:ea typeface="+mn-lt"/>
                <a:cs typeface="+mn-lt"/>
              </a:rPr>
              <a:t>shadow</a:t>
            </a:r>
            <a:r>
              <a:rPr lang="es-ES" dirty="0">
                <a:ea typeface="+mn-lt"/>
                <a:cs typeface="+mn-lt"/>
              </a:rPr>
              <a:t>), degradados y transparencia.</a:t>
            </a:r>
            <a:endParaRPr lang="es-ES" dirty="0"/>
          </a:p>
          <a:p>
            <a:r>
              <a:rPr lang="es-ES" dirty="0">
                <a:ea typeface="+mn-lt"/>
                <a:cs typeface="+mn-lt"/>
              </a:rPr>
              <a:t>La evolución de CSS ha transformado el diseño web desde un proceso rígido y estático a una disciplina flexible y creativa, capaz de adaptarse a cualquier dispositivo y necesidad visual.</a:t>
            </a:r>
          </a:p>
          <a:p>
            <a:endParaRPr lang="es-ES" dirty="0">
              <a:ea typeface="+mn-lt"/>
              <a:cs typeface="+mn-lt"/>
            </a:endParaRPr>
          </a:p>
        </p:txBody>
      </p:sp>
    </p:spTree>
    <p:extLst>
      <p:ext uri="{BB962C8B-B14F-4D97-AF65-F5344CB8AC3E}">
        <p14:creationId xmlns:p14="http://schemas.microsoft.com/office/powerpoint/2010/main" val="5531491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28DDE1-4106-6C6D-D0CB-3209F3F7F96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FF480BB-2FB4-380F-E152-28E52A821D38}"/>
              </a:ext>
            </a:extLst>
          </p:cNvPr>
          <p:cNvSpPr>
            <a:spLocks noGrp="1"/>
          </p:cNvSpPr>
          <p:nvPr>
            <p:ph type="title"/>
          </p:nvPr>
        </p:nvSpPr>
        <p:spPr/>
        <p:txBody>
          <a:bodyPr/>
          <a:lstStyle/>
          <a:p>
            <a:r>
              <a:rPr lang="es-ES" b="0" dirty="0">
                <a:ea typeface="+mj-lt"/>
                <a:cs typeface="+mj-lt"/>
              </a:rPr>
              <a:t>2.1.2. Sintaxis básica de una regla CSS.</a:t>
            </a:r>
            <a:endParaRPr lang="es-ES" dirty="0"/>
          </a:p>
        </p:txBody>
      </p:sp>
      <p:sp>
        <p:nvSpPr>
          <p:cNvPr id="3" name="Marcador de contenido 2">
            <a:extLst>
              <a:ext uri="{FF2B5EF4-FFF2-40B4-BE49-F238E27FC236}">
                <a16:creationId xmlns:a16="http://schemas.microsoft.com/office/drawing/2014/main" id="{A4228C96-DFDC-879E-00C9-6D9B587DC143}"/>
              </a:ext>
            </a:extLst>
          </p:cNvPr>
          <p:cNvSpPr>
            <a:spLocks noGrp="1"/>
          </p:cNvSpPr>
          <p:nvPr>
            <p:ph idx="1"/>
          </p:nvPr>
        </p:nvSpPr>
        <p:spPr/>
        <p:txBody>
          <a:bodyPr vert="horz" lIns="91440" tIns="45720" rIns="91440" bIns="45720" rtlCol="0" anchor="t">
            <a:normAutofit lnSpcReduction="10000"/>
          </a:bodyPr>
          <a:lstStyle/>
          <a:p>
            <a:r>
              <a:rPr lang="es-ES" dirty="0">
                <a:ea typeface="+mn-lt"/>
                <a:cs typeface="+mn-lt"/>
              </a:rPr>
              <a:t>Una regla CSS es la unidad fundamental del lenguaje y se compone de dos partes principales:</a:t>
            </a:r>
            <a:endParaRPr lang="es-ES" dirty="0"/>
          </a:p>
          <a:p>
            <a:pPr lvl="1">
              <a:buFont typeface="Courier New" panose="020B0604020202020204" pitchFamily="34" charset="0"/>
              <a:buChar char="o"/>
            </a:pPr>
            <a:r>
              <a:rPr lang="es-ES" dirty="0">
                <a:ea typeface="+mn-lt"/>
                <a:cs typeface="+mn-lt"/>
              </a:rPr>
              <a:t>El selector: Elige el o los elementos HTML a los que se aplicará el estilo.</a:t>
            </a:r>
            <a:endParaRPr lang="es-ES" dirty="0"/>
          </a:p>
          <a:p>
            <a:pPr lvl="1">
              <a:buFont typeface="Courier New" panose="020B0604020202020204" pitchFamily="34" charset="0"/>
              <a:buChar char="o"/>
            </a:pPr>
            <a:r>
              <a:rPr lang="es-ES" dirty="0">
                <a:ea typeface="+mn-lt"/>
                <a:cs typeface="+mn-lt"/>
              </a:rPr>
              <a:t>El bloque de declaración: Contiene una o más declaraciones de estilo, encerradas entre llaves ({}).</a:t>
            </a:r>
            <a:endParaRPr lang="es-ES" dirty="0"/>
          </a:p>
          <a:p>
            <a:r>
              <a:rPr lang="es-ES" dirty="0">
                <a:ea typeface="+mn-lt"/>
                <a:cs typeface="+mn-lt"/>
              </a:rPr>
              <a:t>Cada declaración de estilo, a su vez, consta de dos partes: una propiedad y un valor, separadas por dos puntos (:). La declaración termina con un punto y coma (;).</a:t>
            </a:r>
            <a:endParaRPr lang="es-ES" dirty="0"/>
          </a:p>
          <a:p>
            <a:r>
              <a:rPr lang="es-ES" dirty="0">
                <a:ea typeface="+mn-lt"/>
                <a:cs typeface="+mn-lt"/>
              </a:rPr>
              <a:t>La estructura general de una regla CSS es la siguiente:</a:t>
            </a:r>
            <a:endParaRPr lang="es-ES" dirty="0"/>
          </a:p>
          <a:p>
            <a:pPr marL="0" indent="0">
              <a:buNone/>
            </a:pPr>
            <a:r>
              <a:rPr lang="es-ES" b="1" dirty="0">
                <a:latin typeface="Courier New"/>
                <a:ea typeface="+mn-lt"/>
                <a:cs typeface="+mn-lt"/>
              </a:rPr>
              <a:t>selector {</a:t>
            </a:r>
            <a:br>
              <a:rPr lang="en-US" b="1" dirty="0">
                <a:latin typeface="Courier New"/>
              </a:rPr>
            </a:br>
            <a:r>
              <a:rPr lang="es-ES" b="1" dirty="0">
                <a:latin typeface="Courier New"/>
                <a:ea typeface="+mn-lt"/>
                <a:cs typeface="+mn-lt"/>
              </a:rPr>
              <a:t>  propiedad: valor;</a:t>
            </a:r>
            <a:br>
              <a:rPr lang="es-ES" b="1" dirty="0">
                <a:latin typeface="Courier New"/>
                <a:ea typeface="+mn-lt"/>
                <a:cs typeface="+mn-lt"/>
              </a:rPr>
            </a:br>
            <a:r>
              <a:rPr lang="es-ES" b="1" dirty="0">
                <a:latin typeface="Courier New"/>
                <a:ea typeface="+mn-lt"/>
                <a:cs typeface="+mn-lt"/>
              </a:rPr>
              <a:t>  propiedad-2: valor-2;</a:t>
            </a:r>
            <a:br>
              <a:rPr lang="es-ES" b="1" dirty="0">
                <a:latin typeface="Courier New"/>
                <a:ea typeface="+mn-lt"/>
                <a:cs typeface="+mn-lt"/>
              </a:rPr>
            </a:br>
            <a:r>
              <a:rPr lang="es-ES" b="1" dirty="0">
                <a:latin typeface="Courier New"/>
                <a:ea typeface="+mn-lt"/>
                <a:cs typeface="+mn-lt"/>
              </a:rPr>
              <a:t>  /* ... y así sucesivamente */</a:t>
            </a:r>
            <a:br>
              <a:rPr lang="es-ES" b="1" dirty="0">
                <a:latin typeface="Courier New"/>
                <a:ea typeface="+mn-lt"/>
                <a:cs typeface="+mn-lt"/>
              </a:rPr>
            </a:br>
            <a:r>
              <a:rPr lang="es-ES" b="1" dirty="0">
                <a:latin typeface="Courier New"/>
                <a:ea typeface="+mn-lt"/>
                <a:cs typeface="+mn-lt"/>
              </a:rPr>
              <a:t>}</a:t>
            </a:r>
            <a:endParaRPr lang="es-ES" b="1" dirty="0">
              <a:latin typeface="Courier New"/>
            </a:endParaRPr>
          </a:p>
        </p:txBody>
      </p:sp>
    </p:spTree>
    <p:extLst>
      <p:ext uri="{BB962C8B-B14F-4D97-AF65-F5344CB8AC3E}">
        <p14:creationId xmlns:p14="http://schemas.microsoft.com/office/powerpoint/2010/main" val="3961122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08206B-DC0E-A806-6711-0BC2E7DDD55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3E02C54-2E25-36ED-4D47-51B2F3A61D4E}"/>
              </a:ext>
            </a:extLst>
          </p:cNvPr>
          <p:cNvSpPr>
            <a:spLocks noGrp="1"/>
          </p:cNvSpPr>
          <p:nvPr>
            <p:ph type="title"/>
          </p:nvPr>
        </p:nvSpPr>
        <p:spPr/>
        <p:txBody>
          <a:bodyPr/>
          <a:lstStyle/>
          <a:p>
            <a:r>
              <a:rPr lang="es-ES" b="0" dirty="0">
                <a:ea typeface="+mj-lt"/>
                <a:cs typeface="+mj-lt"/>
              </a:rPr>
              <a:t>2.1.2. Sintaxis básica de una regla CSS.</a:t>
            </a:r>
            <a:endParaRPr lang="es-ES" dirty="0"/>
          </a:p>
        </p:txBody>
      </p:sp>
      <p:sp>
        <p:nvSpPr>
          <p:cNvPr id="3" name="Marcador de contenido 2">
            <a:extLst>
              <a:ext uri="{FF2B5EF4-FFF2-40B4-BE49-F238E27FC236}">
                <a16:creationId xmlns:a16="http://schemas.microsoft.com/office/drawing/2014/main" id="{A145C51E-8825-9937-75CF-325826839329}"/>
              </a:ext>
            </a:extLst>
          </p:cNvPr>
          <p:cNvSpPr>
            <a:spLocks noGrp="1"/>
          </p:cNvSpPr>
          <p:nvPr>
            <p:ph idx="1"/>
          </p:nvPr>
        </p:nvSpPr>
        <p:spPr/>
        <p:txBody>
          <a:bodyPr vert="horz" lIns="91440" tIns="45720" rIns="91440" bIns="45720" rtlCol="0" anchor="t">
            <a:normAutofit fontScale="77500" lnSpcReduction="20000"/>
          </a:bodyPr>
          <a:lstStyle/>
          <a:p>
            <a:r>
              <a:rPr lang="es-ES" dirty="0">
                <a:ea typeface="+mn-lt"/>
                <a:cs typeface="+mn-lt"/>
              </a:rPr>
              <a:t>Anatomía de una regla CSS: </a:t>
            </a:r>
          </a:p>
          <a:p>
            <a:pPr lvl="1">
              <a:buFont typeface="Courier New" panose="020B0604020202020204" pitchFamily="34" charset="0"/>
              <a:buChar char="o"/>
            </a:pPr>
            <a:r>
              <a:rPr lang="es-ES" dirty="0">
                <a:ea typeface="+mn-lt"/>
                <a:cs typeface="+mn-lt"/>
              </a:rPr>
              <a:t>Selector: Apunta al elemento HTML que quieres estilizar. Por ejemplo, si usas h1 como selector, la regla se aplicará a todas las etiquetas &lt;h1&gt; del documento.</a:t>
            </a:r>
            <a:endParaRPr lang="es-ES" dirty="0"/>
          </a:p>
          <a:p>
            <a:pPr lvl="1">
              <a:buFont typeface="Courier New" panose="020B0604020202020204" pitchFamily="34" charset="0"/>
              <a:buChar char="o"/>
            </a:pPr>
            <a:r>
              <a:rPr lang="es-ES" dirty="0">
                <a:ea typeface="+mn-lt"/>
                <a:cs typeface="+mn-lt"/>
              </a:rPr>
              <a:t>Propiedad: El atributo del elemento que deseas modificar. Por ejemplo, color para el color del texto, </a:t>
            </a:r>
            <a:r>
              <a:rPr lang="es-ES" dirty="0" err="1">
                <a:ea typeface="+mn-lt"/>
                <a:cs typeface="+mn-lt"/>
              </a:rPr>
              <a:t>font-size</a:t>
            </a:r>
            <a:r>
              <a:rPr lang="es-ES" dirty="0">
                <a:ea typeface="+mn-lt"/>
                <a:cs typeface="+mn-lt"/>
              </a:rPr>
              <a:t> para el tamaño de la fuente, o </a:t>
            </a:r>
            <a:r>
              <a:rPr lang="es-ES" dirty="0" err="1">
                <a:ea typeface="+mn-lt"/>
                <a:cs typeface="+mn-lt"/>
              </a:rPr>
              <a:t>background</a:t>
            </a:r>
            <a:r>
              <a:rPr lang="es-ES" dirty="0">
                <a:ea typeface="+mn-lt"/>
                <a:cs typeface="+mn-lt"/>
              </a:rPr>
              <a:t>-color para el color de fondo.</a:t>
            </a:r>
            <a:endParaRPr lang="es-ES" dirty="0"/>
          </a:p>
          <a:p>
            <a:pPr lvl="1">
              <a:buFont typeface="Courier New" panose="020B0604020202020204" pitchFamily="34" charset="0"/>
              <a:buChar char="o"/>
            </a:pPr>
            <a:r>
              <a:rPr lang="es-ES" dirty="0">
                <a:ea typeface="+mn-lt"/>
                <a:cs typeface="+mn-lt"/>
              </a:rPr>
              <a:t>Valor: El ajuste o la configuración que le das a la propiedad. Por ejemplo, blue para la propiedad color, 24px para la propiedad </a:t>
            </a:r>
            <a:r>
              <a:rPr lang="es-ES" dirty="0" err="1">
                <a:ea typeface="+mn-lt"/>
                <a:cs typeface="+mn-lt"/>
              </a:rPr>
              <a:t>font-size</a:t>
            </a:r>
            <a:r>
              <a:rPr lang="es-ES" dirty="0">
                <a:ea typeface="+mn-lt"/>
                <a:cs typeface="+mn-lt"/>
              </a:rPr>
              <a:t>.</a:t>
            </a:r>
            <a:endParaRPr lang="es-ES" dirty="0"/>
          </a:p>
          <a:p>
            <a:r>
              <a:rPr lang="es-ES" dirty="0">
                <a:ea typeface="+mn-lt"/>
                <a:cs typeface="+mn-lt"/>
              </a:rPr>
              <a:t>Ejemplo: Imagina que quieres dar estilo a un párrafo (&lt;p&gt;) con un texto de color gris oscuro, una fuente grande y una alineación centrada. Tu regla CSS sería:</a:t>
            </a:r>
          </a:p>
          <a:p>
            <a:pPr marL="0" indent="0">
              <a:buNone/>
            </a:pPr>
            <a:r>
              <a:rPr lang="es-ES" b="1" dirty="0">
                <a:latin typeface="Courier New"/>
                <a:ea typeface="+mn-lt"/>
                <a:cs typeface="+mn-lt"/>
              </a:rPr>
              <a:t>p {</a:t>
            </a:r>
            <a:br>
              <a:rPr lang="es-ES" b="1" dirty="0">
                <a:latin typeface="Courier New"/>
                <a:ea typeface="+mn-lt"/>
                <a:cs typeface="+mn-lt"/>
              </a:rPr>
            </a:br>
            <a:r>
              <a:rPr lang="es-ES" b="1" dirty="0">
                <a:latin typeface="Courier New"/>
                <a:ea typeface="+mn-lt"/>
                <a:cs typeface="+mn-lt"/>
              </a:rPr>
              <a:t>  color: #333333;</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font-size</a:t>
            </a:r>
            <a:r>
              <a:rPr lang="es-ES" b="1" dirty="0">
                <a:latin typeface="Courier New"/>
                <a:ea typeface="+mn-lt"/>
                <a:cs typeface="+mn-lt"/>
              </a:rPr>
              <a:t>: 18px;</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text-align</a:t>
            </a:r>
            <a:r>
              <a:rPr lang="es-ES" b="1" dirty="0">
                <a:latin typeface="Courier New"/>
                <a:ea typeface="+mn-lt"/>
                <a:cs typeface="+mn-lt"/>
              </a:rPr>
              <a:t>: center;</a:t>
            </a:r>
            <a:br>
              <a:rPr lang="es-ES" b="1" dirty="0">
                <a:latin typeface="Courier New"/>
                <a:ea typeface="+mn-lt"/>
                <a:cs typeface="+mn-lt"/>
              </a:rPr>
            </a:br>
            <a:r>
              <a:rPr lang="es-ES" b="1" dirty="0">
                <a:latin typeface="Courier New"/>
                <a:ea typeface="+mn-lt"/>
                <a:cs typeface="+mn-lt"/>
              </a:rPr>
              <a:t>}</a:t>
            </a:r>
            <a:endParaRPr lang="es-ES" b="1" dirty="0">
              <a:latin typeface="Courier New"/>
              <a:cs typeface="Courier New"/>
            </a:endParaRPr>
          </a:p>
          <a:p>
            <a:r>
              <a:rPr lang="es-ES" dirty="0">
                <a:ea typeface="+mn-lt"/>
                <a:cs typeface="+mn-lt"/>
              </a:rPr>
              <a:t>En este ejemplo, p es el selector, y el bloque de declaración contiene tres declaraciones de estilo. Cada declaración modifica una propiedad diferente del párrafo.</a:t>
            </a:r>
            <a:endParaRPr lang="es-ES" dirty="0"/>
          </a:p>
          <a:p>
            <a:endParaRPr lang="es-ES" dirty="0">
              <a:latin typeface="Bierstadt"/>
            </a:endParaRPr>
          </a:p>
        </p:txBody>
      </p:sp>
    </p:spTree>
    <p:extLst>
      <p:ext uri="{BB962C8B-B14F-4D97-AF65-F5344CB8AC3E}">
        <p14:creationId xmlns:p14="http://schemas.microsoft.com/office/powerpoint/2010/main" val="23352482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EB7DA8-F2E2-A03C-30D6-2B34125FBDF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B4AC9CD-E064-55C0-5863-3F8A8BB5A44D}"/>
              </a:ext>
            </a:extLst>
          </p:cNvPr>
          <p:cNvSpPr>
            <a:spLocks noGrp="1"/>
          </p:cNvSpPr>
          <p:nvPr>
            <p:ph type="title"/>
          </p:nvPr>
        </p:nvSpPr>
        <p:spPr/>
        <p:txBody>
          <a:bodyPr/>
          <a:lstStyle/>
          <a:p>
            <a:r>
              <a:rPr lang="es-ES" b="0" dirty="0">
                <a:ea typeface="+mj-lt"/>
                <a:cs typeface="+mj-lt"/>
              </a:rPr>
              <a:t>2.1.2. Sintaxis básica de una regla CSS.</a:t>
            </a:r>
            <a:endParaRPr lang="es-ES" dirty="0"/>
          </a:p>
        </p:txBody>
      </p:sp>
      <p:sp>
        <p:nvSpPr>
          <p:cNvPr id="3" name="Marcador de contenido 2">
            <a:extLst>
              <a:ext uri="{FF2B5EF4-FFF2-40B4-BE49-F238E27FC236}">
                <a16:creationId xmlns:a16="http://schemas.microsoft.com/office/drawing/2014/main" id="{407FB722-1514-38DB-73E6-FED12E5CCDBB}"/>
              </a:ext>
            </a:extLst>
          </p:cNvPr>
          <p:cNvSpPr>
            <a:spLocks noGrp="1"/>
          </p:cNvSpPr>
          <p:nvPr>
            <p:ph idx="1"/>
          </p:nvPr>
        </p:nvSpPr>
        <p:spPr/>
        <p:txBody>
          <a:bodyPr vert="horz" lIns="91440" tIns="45720" rIns="91440" bIns="45720" rtlCol="0" anchor="t">
            <a:normAutofit fontScale="62500" lnSpcReduction="20000"/>
          </a:bodyPr>
          <a:lstStyle/>
          <a:p>
            <a:r>
              <a:rPr lang="es-ES" dirty="0">
                <a:ea typeface="+mn-lt"/>
                <a:cs typeface="+mn-lt"/>
              </a:rPr>
              <a:t>Ejemplo: Para demostrar cómo una misma regla puede afectar a varios elementos o cómo se combinan selectores, consideremos el siguiente escenario.</a:t>
            </a:r>
            <a:endParaRPr lang="es-ES" dirty="0"/>
          </a:p>
          <a:p>
            <a:pPr marL="0" indent="0">
              <a:buNone/>
            </a:pPr>
            <a:r>
              <a:rPr lang="es-ES" b="1" dirty="0">
                <a:latin typeface="Courier New"/>
                <a:ea typeface="+mn-lt"/>
                <a:cs typeface="+mn-lt"/>
              </a:rPr>
              <a:t>&lt;</a:t>
            </a:r>
            <a:r>
              <a:rPr lang="es-ES" b="1" dirty="0" err="1">
                <a:latin typeface="Courier New"/>
                <a:ea typeface="+mn-lt"/>
                <a:cs typeface="+mn-lt"/>
              </a:rPr>
              <a:t>header</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&lt;h1&gt;Título de mi sitio&lt;/h1&gt;</a:t>
            </a:r>
            <a:br>
              <a:rPr lang="es-ES" b="1" dirty="0">
                <a:latin typeface="Courier New"/>
                <a:ea typeface="+mn-lt"/>
                <a:cs typeface="+mn-lt"/>
              </a:rPr>
            </a:br>
            <a:r>
              <a:rPr lang="es-ES" b="1" dirty="0">
                <a:latin typeface="Courier New"/>
                <a:ea typeface="+mn-lt"/>
                <a:cs typeface="+mn-lt"/>
              </a:rPr>
              <a:t>  &lt;p&gt;Descripción breve.&lt;/p&gt;</a:t>
            </a:r>
            <a:br>
              <a:rPr lang="es-ES" b="1" dirty="0">
                <a:latin typeface="Courier New"/>
                <a:ea typeface="+mn-lt"/>
                <a:cs typeface="+mn-lt"/>
              </a:rPr>
            </a:br>
            <a:r>
              <a:rPr lang="es-ES" b="1" dirty="0">
                <a:latin typeface="Courier New"/>
                <a:ea typeface="+mn-lt"/>
                <a:cs typeface="+mn-lt"/>
              </a:rPr>
              <a:t>&lt;/</a:t>
            </a:r>
            <a:r>
              <a:rPr lang="es-ES" b="1" dirty="0" err="1">
                <a:latin typeface="Courier New"/>
                <a:ea typeface="+mn-lt"/>
                <a:cs typeface="+mn-lt"/>
              </a:rPr>
              <a:t>header</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&lt;</a:t>
            </a:r>
            <a:r>
              <a:rPr lang="es-ES" b="1" dirty="0" err="1">
                <a:latin typeface="Courier New"/>
                <a:ea typeface="+mn-lt"/>
                <a:cs typeface="+mn-lt"/>
              </a:rPr>
              <a:t>main</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&lt;p&gt;Contenido principal.&lt;/p&gt;</a:t>
            </a:r>
            <a:br>
              <a:rPr lang="es-ES" b="1" dirty="0">
                <a:latin typeface="Courier New"/>
                <a:ea typeface="+mn-lt"/>
                <a:cs typeface="+mn-lt"/>
              </a:rPr>
            </a:br>
            <a:r>
              <a:rPr lang="es-ES" b="1" dirty="0">
                <a:latin typeface="Courier New"/>
                <a:ea typeface="+mn-lt"/>
                <a:cs typeface="+mn-lt"/>
              </a:rPr>
              <a:t>&lt;/</a:t>
            </a:r>
            <a:r>
              <a:rPr lang="es-ES" b="1" dirty="0" err="1">
                <a:latin typeface="Courier New"/>
                <a:ea typeface="+mn-lt"/>
                <a:cs typeface="+mn-lt"/>
              </a:rPr>
              <a:t>main</a:t>
            </a:r>
            <a:r>
              <a:rPr lang="es-ES" b="1" dirty="0">
                <a:latin typeface="Courier New"/>
                <a:ea typeface="+mn-lt"/>
                <a:cs typeface="+mn-lt"/>
              </a:rPr>
              <a:t>&gt;</a:t>
            </a:r>
          </a:p>
          <a:p>
            <a:r>
              <a:rPr lang="es-ES" dirty="0">
                <a:ea typeface="+mn-lt"/>
                <a:cs typeface="+mn-lt"/>
              </a:rPr>
              <a:t>Queremos que el título (h1) sea azul y la descripción (p) que está dentro del &lt;</a:t>
            </a:r>
            <a:r>
              <a:rPr lang="es-ES" dirty="0" err="1">
                <a:ea typeface="+mn-lt"/>
                <a:cs typeface="+mn-lt"/>
              </a:rPr>
              <a:t>header</a:t>
            </a:r>
            <a:r>
              <a:rPr lang="es-ES" dirty="0">
                <a:ea typeface="+mn-lt"/>
                <a:cs typeface="+mn-lt"/>
              </a:rPr>
              <a:t>&gt; sea de un color diferente a la del &lt;</a:t>
            </a:r>
            <a:r>
              <a:rPr lang="es-ES" dirty="0" err="1">
                <a:ea typeface="+mn-lt"/>
                <a:cs typeface="+mn-lt"/>
              </a:rPr>
              <a:t>main</a:t>
            </a:r>
            <a:r>
              <a:rPr lang="es-ES" dirty="0">
                <a:ea typeface="+mn-lt"/>
                <a:cs typeface="+mn-lt"/>
              </a:rPr>
              <a:t>&gt;.</a:t>
            </a:r>
            <a:endParaRPr lang="es-ES" dirty="0"/>
          </a:p>
          <a:p>
            <a:pPr marL="0" indent="0">
              <a:buNone/>
            </a:pPr>
            <a:r>
              <a:rPr lang="es-ES" b="1" dirty="0">
                <a:latin typeface="Courier New"/>
                <a:ea typeface="+mn-lt"/>
                <a:cs typeface="+mn-lt"/>
              </a:rPr>
              <a:t>/* Selector de tipo para el h1 */</a:t>
            </a:r>
            <a:br>
              <a:rPr lang="es-ES" b="1" dirty="0">
                <a:latin typeface="Courier New"/>
                <a:ea typeface="+mn-lt"/>
                <a:cs typeface="+mn-lt"/>
              </a:rPr>
            </a:br>
            <a:r>
              <a:rPr lang="es-ES" b="1" dirty="0">
                <a:latin typeface="Courier New"/>
                <a:ea typeface="+mn-lt"/>
                <a:cs typeface="+mn-lt"/>
              </a:rPr>
              <a:t>h1 {</a:t>
            </a:r>
            <a:br>
              <a:rPr lang="es-ES" b="1" dirty="0">
                <a:latin typeface="Courier New"/>
                <a:ea typeface="+mn-lt"/>
                <a:cs typeface="+mn-lt"/>
              </a:rPr>
            </a:br>
            <a:r>
              <a:rPr lang="es-ES" b="1" dirty="0">
                <a:latin typeface="Courier New"/>
                <a:ea typeface="+mn-lt"/>
                <a:cs typeface="+mn-lt"/>
              </a:rPr>
              <a:t>  color: #007bff;</a:t>
            </a:r>
            <a:br>
              <a:rPr lang="es-ES" b="1" dirty="0">
                <a:latin typeface="Courier New"/>
                <a:ea typeface="+mn-lt"/>
                <a:cs typeface="+mn-lt"/>
              </a:rPr>
            </a:b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 Selector descendente para el p dentro del </a:t>
            </a:r>
            <a:r>
              <a:rPr lang="es-ES" b="1" dirty="0" err="1">
                <a:latin typeface="Courier New"/>
                <a:ea typeface="+mn-lt"/>
                <a:cs typeface="+mn-lt"/>
              </a:rPr>
              <a:t>header</a:t>
            </a:r>
            <a:r>
              <a:rPr lang="es-ES" b="1" dirty="0">
                <a:latin typeface="Courier New"/>
                <a:ea typeface="+mn-lt"/>
                <a:cs typeface="+mn-lt"/>
              </a:rPr>
              <a:t> */</a:t>
            </a:r>
            <a:br>
              <a:rPr lang="es-ES" b="1" dirty="0">
                <a:latin typeface="Courier New"/>
                <a:ea typeface="+mn-lt"/>
                <a:cs typeface="+mn-lt"/>
              </a:rPr>
            </a:br>
            <a:r>
              <a:rPr lang="es-ES" b="1" dirty="0" err="1">
                <a:latin typeface="Courier New"/>
                <a:ea typeface="+mn-lt"/>
                <a:cs typeface="+mn-lt"/>
              </a:rPr>
              <a:t>header</a:t>
            </a:r>
            <a:r>
              <a:rPr lang="es-ES" b="1" dirty="0">
                <a:latin typeface="Courier New"/>
                <a:ea typeface="+mn-lt"/>
                <a:cs typeface="+mn-lt"/>
              </a:rPr>
              <a:t> p {</a:t>
            </a:r>
            <a:br>
              <a:rPr lang="es-ES" b="1" dirty="0">
                <a:latin typeface="Courier New"/>
                <a:ea typeface="+mn-lt"/>
                <a:cs typeface="+mn-lt"/>
              </a:rPr>
            </a:br>
            <a:r>
              <a:rPr lang="es-ES" b="1" dirty="0">
                <a:latin typeface="Courier New"/>
                <a:ea typeface="+mn-lt"/>
                <a:cs typeface="+mn-lt"/>
              </a:rPr>
              <a:t>  color: #6c757d;</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font-style</a:t>
            </a:r>
            <a:r>
              <a:rPr lang="es-ES" b="1" dirty="0">
                <a:latin typeface="Courier New"/>
                <a:ea typeface="+mn-lt"/>
                <a:cs typeface="+mn-lt"/>
              </a:rPr>
              <a:t>: </a:t>
            </a:r>
            <a:r>
              <a:rPr lang="es-ES" b="1" dirty="0" err="1">
                <a:latin typeface="Courier New"/>
                <a:ea typeface="+mn-lt"/>
                <a:cs typeface="+mn-lt"/>
              </a:rPr>
              <a:t>italic</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a:t>
            </a:r>
          </a:p>
          <a:p>
            <a:r>
              <a:rPr lang="es-ES" dirty="0">
                <a:ea typeface="+mn-lt"/>
                <a:cs typeface="+mn-lt"/>
              </a:rPr>
              <a:t>En este caso, la regla </a:t>
            </a:r>
            <a:r>
              <a:rPr lang="es-ES" dirty="0" err="1">
                <a:ea typeface="+mn-lt"/>
                <a:cs typeface="+mn-lt"/>
              </a:rPr>
              <a:t>header</a:t>
            </a:r>
            <a:r>
              <a:rPr lang="es-ES" dirty="0">
                <a:ea typeface="+mn-lt"/>
                <a:cs typeface="+mn-lt"/>
              </a:rPr>
              <a:t> p es un selector compuesto (un selector descendente), que nos permite ser más específicos y aplicar un estilo solo al párrafo dentro del </a:t>
            </a:r>
            <a:r>
              <a:rPr lang="es-ES" dirty="0" err="1">
                <a:ea typeface="+mn-lt"/>
                <a:cs typeface="+mn-lt"/>
              </a:rPr>
              <a:t>header</a:t>
            </a:r>
            <a:r>
              <a:rPr lang="es-ES" dirty="0">
                <a:ea typeface="+mn-lt"/>
                <a:cs typeface="+mn-lt"/>
              </a:rPr>
              <a:t>, dejando intacto el párrafo del </a:t>
            </a:r>
            <a:r>
              <a:rPr lang="es-ES" dirty="0" err="1">
                <a:ea typeface="+mn-lt"/>
                <a:cs typeface="+mn-lt"/>
              </a:rPr>
              <a:t>main</a:t>
            </a:r>
            <a:r>
              <a:rPr lang="es-ES" dirty="0">
                <a:ea typeface="+mn-lt"/>
                <a:cs typeface="+mn-lt"/>
              </a:rPr>
              <a:t>.</a:t>
            </a:r>
          </a:p>
          <a:p>
            <a:endParaRPr lang="es-ES" dirty="0">
              <a:latin typeface="Bierstadt"/>
            </a:endParaRPr>
          </a:p>
        </p:txBody>
      </p:sp>
    </p:spTree>
    <p:extLst>
      <p:ext uri="{BB962C8B-B14F-4D97-AF65-F5344CB8AC3E}">
        <p14:creationId xmlns:p14="http://schemas.microsoft.com/office/powerpoint/2010/main" val="4053098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6552FE-9353-4D4A-573F-976B01D1513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9F4106B-0390-CFB4-BC7C-CD0A4F5272F3}"/>
              </a:ext>
            </a:extLst>
          </p:cNvPr>
          <p:cNvSpPr>
            <a:spLocks noGrp="1"/>
          </p:cNvSpPr>
          <p:nvPr>
            <p:ph type="title"/>
          </p:nvPr>
        </p:nvSpPr>
        <p:spPr/>
        <p:txBody>
          <a:bodyPr/>
          <a:lstStyle/>
          <a:p>
            <a:r>
              <a:rPr lang="es-ES" b="0" dirty="0">
                <a:ea typeface="+mj-lt"/>
                <a:cs typeface="+mj-lt"/>
              </a:rPr>
              <a:t>2.1.3.1. Métodos para incluir CSS en HTML. Estilos en línea (</a:t>
            </a:r>
            <a:r>
              <a:rPr lang="es-ES" b="0" dirty="0" err="1">
                <a:ea typeface="+mj-lt"/>
                <a:cs typeface="+mj-lt"/>
              </a:rPr>
              <a:t>inline</a:t>
            </a:r>
            <a:r>
              <a:rPr lang="es-ES" b="0" dirty="0">
                <a:ea typeface="+mj-lt"/>
                <a:cs typeface="+mj-lt"/>
              </a:rPr>
              <a:t>).</a:t>
            </a:r>
            <a:endParaRPr lang="es-ES" dirty="0"/>
          </a:p>
        </p:txBody>
      </p:sp>
      <p:sp>
        <p:nvSpPr>
          <p:cNvPr id="3" name="Marcador de contenido 2">
            <a:extLst>
              <a:ext uri="{FF2B5EF4-FFF2-40B4-BE49-F238E27FC236}">
                <a16:creationId xmlns:a16="http://schemas.microsoft.com/office/drawing/2014/main" id="{7B2FBFF2-7603-7AB1-D7B9-688AEBB39A9E}"/>
              </a:ext>
            </a:extLst>
          </p:cNvPr>
          <p:cNvSpPr>
            <a:spLocks noGrp="1"/>
          </p:cNvSpPr>
          <p:nvPr>
            <p:ph idx="1"/>
          </p:nvPr>
        </p:nvSpPr>
        <p:spPr/>
        <p:txBody>
          <a:bodyPr vert="horz" lIns="91440" tIns="45720" rIns="91440" bIns="45720" rtlCol="0" anchor="t">
            <a:normAutofit fontScale="70000" lnSpcReduction="20000"/>
          </a:bodyPr>
          <a:lstStyle/>
          <a:p>
            <a:r>
              <a:rPr lang="es-ES" dirty="0">
                <a:ea typeface="+mn-lt"/>
                <a:cs typeface="+mn-lt"/>
              </a:rPr>
              <a:t>Existen tres maneras principales de asociar reglas CSS a un documento HTML. La elección del método depende de la escala del proyecto y de la especificidad del estilo que quieras aplicar. El método de estilos en </a:t>
            </a:r>
            <a:r>
              <a:rPr lang="es-ES" dirty="0" err="1">
                <a:ea typeface="+mn-lt"/>
                <a:cs typeface="+mn-lt"/>
              </a:rPr>
              <a:t>linea</a:t>
            </a:r>
            <a:r>
              <a:rPr lang="es-ES" dirty="0">
                <a:ea typeface="+mn-lt"/>
                <a:cs typeface="+mn-lt"/>
              </a:rPr>
              <a:t> consiste en aplicar el estilo directamente a un elemento HTML usando el atributo </a:t>
            </a:r>
            <a:r>
              <a:rPr lang="es-ES" dirty="0" err="1">
                <a:ea typeface="+mn-lt"/>
                <a:cs typeface="+mn-lt"/>
              </a:rPr>
              <a:t>style</a:t>
            </a:r>
            <a:r>
              <a:rPr lang="es-ES" dirty="0">
                <a:ea typeface="+mn-lt"/>
                <a:cs typeface="+mn-lt"/>
              </a:rPr>
              <a:t>. Es ideal para pruebas rápidas o para un estilo muy específico que no se repetirá. No se recomienda para un proyecto grande. Cómo se usa:</a:t>
            </a:r>
            <a:endParaRPr lang="es-ES" dirty="0"/>
          </a:p>
          <a:p>
            <a:pPr marL="0" indent="0">
              <a:buNone/>
            </a:pPr>
            <a:r>
              <a:rPr lang="es-ES" b="1" dirty="0">
                <a:latin typeface="Courier New"/>
                <a:ea typeface="+mn-lt"/>
                <a:cs typeface="+mn-lt"/>
              </a:rPr>
              <a:t>&lt;p </a:t>
            </a:r>
            <a:r>
              <a:rPr lang="es-ES" b="1" dirty="0" err="1">
                <a:latin typeface="Courier New"/>
                <a:ea typeface="+mn-lt"/>
                <a:cs typeface="+mn-lt"/>
              </a:rPr>
              <a:t>style</a:t>
            </a:r>
            <a:r>
              <a:rPr lang="es-ES" b="1" dirty="0">
                <a:latin typeface="Courier New"/>
                <a:ea typeface="+mn-lt"/>
                <a:cs typeface="+mn-lt"/>
              </a:rPr>
              <a:t>="color: blue; </a:t>
            </a:r>
            <a:r>
              <a:rPr lang="es-ES" b="1" dirty="0" err="1">
                <a:latin typeface="Courier New"/>
                <a:ea typeface="+mn-lt"/>
                <a:cs typeface="+mn-lt"/>
              </a:rPr>
              <a:t>font-size</a:t>
            </a:r>
            <a:r>
              <a:rPr lang="es-ES" b="1" dirty="0">
                <a:latin typeface="Courier New"/>
                <a:ea typeface="+mn-lt"/>
                <a:cs typeface="+mn-lt"/>
              </a:rPr>
              <a:t>: 16px;"&gt;Este párrafo tiene un estilo en línea.&lt;/p&gt;</a:t>
            </a:r>
            <a:endParaRPr lang="es-ES" b="1" dirty="0">
              <a:latin typeface="Courier New"/>
              <a:cs typeface="Courier New"/>
            </a:endParaRPr>
          </a:p>
          <a:p>
            <a:r>
              <a:rPr lang="es-ES" dirty="0">
                <a:ea typeface="+mn-lt"/>
                <a:cs typeface="+mn-lt"/>
              </a:rPr>
              <a:t>Ventajas:</a:t>
            </a:r>
          </a:p>
          <a:p>
            <a:pPr lvl="1">
              <a:buFont typeface="Courier New" panose="020B0604020202020204" pitchFamily="34" charset="0"/>
              <a:buChar char="o"/>
            </a:pPr>
            <a:r>
              <a:rPr lang="es-ES" dirty="0">
                <a:ea typeface="+mn-lt"/>
                <a:cs typeface="+mn-lt"/>
              </a:rPr>
              <a:t>Tienen la máxima especificidad, lo que les permite anular cualquier otro estilo.</a:t>
            </a:r>
            <a:endParaRPr lang="es-ES" dirty="0"/>
          </a:p>
          <a:p>
            <a:pPr lvl="1">
              <a:buFont typeface="Courier New" panose="020B0604020202020204" pitchFamily="34" charset="0"/>
              <a:buChar char="o"/>
            </a:pPr>
            <a:r>
              <a:rPr lang="es-ES" dirty="0">
                <a:ea typeface="+mn-lt"/>
                <a:cs typeface="+mn-lt"/>
              </a:rPr>
              <a:t>Son útiles para aplicar estilos muy puntuales a un único elemento.</a:t>
            </a:r>
            <a:endParaRPr lang="es-ES" dirty="0"/>
          </a:p>
          <a:p>
            <a:r>
              <a:rPr lang="es-ES" dirty="0">
                <a:ea typeface="+mn-lt"/>
                <a:cs typeface="+mn-lt"/>
              </a:rPr>
              <a:t>Desventajas:</a:t>
            </a:r>
            <a:endParaRPr lang="es-ES" dirty="0"/>
          </a:p>
          <a:p>
            <a:pPr lvl="1">
              <a:buFont typeface="Courier New" panose="020B0604020202020204" pitchFamily="34" charset="0"/>
              <a:buChar char="o"/>
            </a:pPr>
            <a:r>
              <a:rPr lang="es-ES" dirty="0">
                <a:ea typeface="+mn-lt"/>
                <a:cs typeface="+mn-lt"/>
              </a:rPr>
              <a:t>No son reutilizables. Si quieres aplicar el mismo estilo a otro elemento, debes copiar y pegar el código.</a:t>
            </a:r>
            <a:endParaRPr lang="es-ES" dirty="0"/>
          </a:p>
          <a:p>
            <a:pPr lvl="1">
              <a:buFont typeface="Courier New" panose="020B0604020202020204" pitchFamily="34" charset="0"/>
              <a:buChar char="o"/>
            </a:pPr>
            <a:r>
              <a:rPr lang="es-ES" dirty="0">
                <a:ea typeface="+mn-lt"/>
                <a:cs typeface="+mn-lt"/>
              </a:rPr>
              <a:t>Dificultan el mantenimiento. El código CSS y el HTML se mezclan, haciendo que el documento sea menos legible y difícil de editar.</a:t>
            </a:r>
            <a:endParaRPr lang="es-ES" dirty="0"/>
          </a:p>
          <a:p>
            <a:pPr lvl="1">
              <a:buFont typeface="Courier New" panose="020B0604020202020204" pitchFamily="34" charset="0"/>
              <a:buChar char="o"/>
            </a:pPr>
            <a:r>
              <a:rPr lang="es-ES" dirty="0">
                <a:ea typeface="+mn-lt"/>
                <a:cs typeface="+mn-lt"/>
              </a:rPr>
              <a:t>No permiten el uso de </a:t>
            </a:r>
            <a:r>
              <a:rPr lang="es-ES" dirty="0" err="1">
                <a:ea typeface="+mn-lt"/>
                <a:cs typeface="+mn-lt"/>
              </a:rPr>
              <a:t>pseudo-clases</a:t>
            </a:r>
            <a:r>
              <a:rPr lang="es-ES" dirty="0">
                <a:ea typeface="+mn-lt"/>
                <a:cs typeface="+mn-lt"/>
              </a:rPr>
              <a:t> como :</a:t>
            </a:r>
            <a:r>
              <a:rPr lang="es-ES" dirty="0" err="1">
                <a:ea typeface="+mn-lt"/>
                <a:cs typeface="+mn-lt"/>
              </a:rPr>
              <a:t>hover</a:t>
            </a:r>
            <a:r>
              <a:rPr lang="es-ES" dirty="0">
                <a:ea typeface="+mn-lt"/>
                <a:cs typeface="+mn-lt"/>
              </a:rPr>
              <a:t> o ::</a:t>
            </a:r>
            <a:r>
              <a:rPr lang="es-ES" dirty="0" err="1">
                <a:ea typeface="+mn-lt"/>
                <a:cs typeface="+mn-lt"/>
              </a:rPr>
              <a:t>before</a:t>
            </a:r>
            <a:r>
              <a:rPr lang="es-ES" dirty="0">
                <a:ea typeface="+mn-lt"/>
                <a:cs typeface="+mn-lt"/>
              </a:rPr>
              <a:t>.</a:t>
            </a:r>
            <a:endParaRPr lang="es-ES" dirty="0"/>
          </a:p>
          <a:p>
            <a:r>
              <a:rPr lang="es-ES" dirty="0">
                <a:ea typeface="+mn-lt"/>
                <a:cs typeface="+mn-lt"/>
              </a:rPr>
              <a:t>Ejemplo:</a:t>
            </a:r>
            <a:endParaRPr lang="es-ES" dirty="0"/>
          </a:p>
          <a:p>
            <a:pPr marL="0" indent="0">
              <a:buNone/>
            </a:pPr>
            <a:r>
              <a:rPr lang="es-ES" b="1" dirty="0">
                <a:latin typeface="Courier New"/>
                <a:ea typeface="+mn-lt"/>
                <a:cs typeface="+mn-lt"/>
              </a:rPr>
              <a:t>&lt;h1 </a:t>
            </a:r>
            <a:r>
              <a:rPr lang="es-ES" b="1" dirty="0" err="1">
                <a:latin typeface="Courier New"/>
                <a:ea typeface="+mn-lt"/>
                <a:cs typeface="+mn-lt"/>
              </a:rPr>
              <a:t>style</a:t>
            </a:r>
            <a:r>
              <a:rPr lang="es-ES" b="1" dirty="0">
                <a:latin typeface="Courier New"/>
                <a:ea typeface="+mn-lt"/>
                <a:cs typeface="+mn-lt"/>
              </a:rPr>
              <a:t>="color: red; </a:t>
            </a:r>
            <a:r>
              <a:rPr lang="es-ES" b="1" dirty="0" err="1">
                <a:latin typeface="Courier New"/>
                <a:ea typeface="+mn-lt"/>
                <a:cs typeface="+mn-lt"/>
              </a:rPr>
              <a:t>text-align</a:t>
            </a:r>
            <a:r>
              <a:rPr lang="es-ES" b="1" dirty="0">
                <a:latin typeface="Courier New"/>
                <a:ea typeface="+mn-lt"/>
                <a:cs typeface="+mn-lt"/>
              </a:rPr>
              <a:t>: center;"&gt;Título de mi sitio&lt;/h1&gt;</a:t>
            </a:r>
            <a:br>
              <a:rPr lang="es-ES" b="1" dirty="0">
                <a:latin typeface="Courier New"/>
                <a:ea typeface="+mn-lt"/>
                <a:cs typeface="+mn-lt"/>
              </a:rPr>
            </a:br>
            <a:r>
              <a:rPr lang="es-ES" b="1" dirty="0">
                <a:latin typeface="Courier New"/>
                <a:ea typeface="+mn-lt"/>
                <a:cs typeface="+mn-lt"/>
              </a:rPr>
              <a:t>&lt;p </a:t>
            </a:r>
            <a:r>
              <a:rPr lang="es-ES" b="1" dirty="0" err="1">
                <a:latin typeface="Courier New"/>
                <a:ea typeface="+mn-lt"/>
                <a:cs typeface="+mn-lt"/>
              </a:rPr>
              <a:t>style</a:t>
            </a:r>
            <a:r>
              <a:rPr lang="es-ES" b="1" dirty="0">
                <a:latin typeface="Courier New"/>
                <a:ea typeface="+mn-lt"/>
                <a:cs typeface="+mn-lt"/>
              </a:rPr>
              <a:t>="color: #666; </a:t>
            </a:r>
            <a:r>
              <a:rPr lang="es-ES" b="1" dirty="0" err="1">
                <a:latin typeface="Courier New"/>
                <a:ea typeface="+mn-lt"/>
                <a:cs typeface="+mn-lt"/>
              </a:rPr>
              <a:t>font-family</a:t>
            </a:r>
            <a:r>
              <a:rPr lang="es-ES" b="1" dirty="0">
                <a:latin typeface="Courier New"/>
                <a:ea typeface="+mn-lt"/>
                <a:cs typeface="+mn-lt"/>
              </a:rPr>
              <a:t>: Arial, </a:t>
            </a:r>
            <a:r>
              <a:rPr lang="es-ES" b="1" dirty="0" err="1">
                <a:latin typeface="Courier New"/>
                <a:ea typeface="+mn-lt"/>
                <a:cs typeface="+mn-lt"/>
              </a:rPr>
              <a:t>sans-serif</a:t>
            </a:r>
            <a:r>
              <a:rPr lang="es-ES" b="1" dirty="0">
                <a:latin typeface="Courier New"/>
                <a:ea typeface="+mn-lt"/>
                <a:cs typeface="+mn-lt"/>
              </a:rPr>
              <a:t>;"&gt;Este es un párrafo de texto.&lt;/p&gt;</a:t>
            </a:r>
            <a:endParaRPr lang="es-ES" b="1" dirty="0">
              <a:latin typeface="Courier New"/>
              <a:cs typeface="Courier New"/>
            </a:endParaRPr>
          </a:p>
          <a:p>
            <a:endParaRPr lang="es-ES" dirty="0"/>
          </a:p>
        </p:txBody>
      </p:sp>
    </p:spTree>
    <p:extLst>
      <p:ext uri="{BB962C8B-B14F-4D97-AF65-F5344CB8AC3E}">
        <p14:creationId xmlns:p14="http://schemas.microsoft.com/office/powerpoint/2010/main" val="7809650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468BA0-B9B4-A286-EB15-E762465F38B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A433B59-F8D7-964D-DCB9-FFDA88F9DA9D}"/>
              </a:ext>
            </a:extLst>
          </p:cNvPr>
          <p:cNvSpPr>
            <a:spLocks noGrp="1"/>
          </p:cNvSpPr>
          <p:nvPr>
            <p:ph type="title"/>
          </p:nvPr>
        </p:nvSpPr>
        <p:spPr/>
        <p:txBody>
          <a:bodyPr/>
          <a:lstStyle/>
          <a:p>
            <a:r>
              <a:rPr lang="es-ES" b="0" dirty="0">
                <a:ea typeface="+mj-lt"/>
                <a:cs typeface="+mj-lt"/>
              </a:rPr>
              <a:t>2.1.3.2. Métodos para incluir CSS en HTML. Hojas de estilo internas.</a:t>
            </a:r>
            <a:endParaRPr lang="es-ES" dirty="0">
              <a:ea typeface="+mj-lt"/>
              <a:cs typeface="+mj-lt"/>
            </a:endParaRPr>
          </a:p>
        </p:txBody>
      </p:sp>
      <p:sp>
        <p:nvSpPr>
          <p:cNvPr id="3" name="Marcador de contenido 2">
            <a:extLst>
              <a:ext uri="{FF2B5EF4-FFF2-40B4-BE49-F238E27FC236}">
                <a16:creationId xmlns:a16="http://schemas.microsoft.com/office/drawing/2014/main" id="{930F2E95-029E-37A1-F2ED-5A605DB2ECCC}"/>
              </a:ext>
            </a:extLst>
          </p:cNvPr>
          <p:cNvSpPr>
            <a:spLocks noGrp="1"/>
          </p:cNvSpPr>
          <p:nvPr>
            <p:ph idx="1"/>
          </p:nvPr>
        </p:nvSpPr>
        <p:spPr/>
        <p:txBody>
          <a:bodyPr vert="horz" lIns="91440" tIns="45720" rIns="91440" bIns="45720" rtlCol="0" anchor="t">
            <a:normAutofit/>
          </a:bodyPr>
          <a:lstStyle/>
          <a:p>
            <a:r>
              <a:rPr lang="es-ES" dirty="0">
                <a:ea typeface="+mn-lt"/>
                <a:cs typeface="+mn-lt"/>
              </a:rPr>
              <a:t>Este método consiste en colocar las reglas CSS dentro de una etiqueta &lt;</a:t>
            </a:r>
            <a:r>
              <a:rPr lang="es-ES" dirty="0" err="1">
                <a:ea typeface="+mn-lt"/>
                <a:cs typeface="+mn-lt"/>
              </a:rPr>
              <a:t>style</a:t>
            </a:r>
            <a:r>
              <a:rPr lang="es-ES" dirty="0">
                <a:ea typeface="+mn-lt"/>
                <a:cs typeface="+mn-lt"/>
              </a:rPr>
              <a:t>&gt; en la sección &lt;head&gt; del documento HTML.</a:t>
            </a:r>
            <a:endParaRPr lang="es-ES" dirty="0"/>
          </a:p>
          <a:p>
            <a:r>
              <a:rPr lang="es-ES" dirty="0">
                <a:ea typeface="+mn-lt"/>
                <a:cs typeface="+mn-lt"/>
              </a:rPr>
              <a:t>Ventajas:</a:t>
            </a:r>
            <a:endParaRPr lang="es-ES" dirty="0"/>
          </a:p>
          <a:p>
            <a:pPr lvl="1">
              <a:buFont typeface="Courier New" panose="020B0604020202020204" pitchFamily="34" charset="0"/>
              <a:buChar char="o"/>
            </a:pPr>
            <a:r>
              <a:rPr lang="es-ES" dirty="0">
                <a:ea typeface="+mn-lt"/>
                <a:cs typeface="+mn-lt"/>
              </a:rPr>
              <a:t>Fáciles de usar para páginas únicas o pequeñas demostraciones.</a:t>
            </a:r>
            <a:endParaRPr lang="es-ES" dirty="0"/>
          </a:p>
          <a:p>
            <a:pPr lvl="1">
              <a:buFont typeface="Courier New" panose="020B0604020202020204" pitchFamily="34" charset="0"/>
              <a:buChar char="o"/>
            </a:pPr>
            <a:r>
              <a:rPr lang="es-ES" dirty="0">
                <a:ea typeface="+mn-lt"/>
                <a:cs typeface="+mn-lt"/>
              </a:rPr>
              <a:t>El código CSS se encuentra en el mismo archivo que el HTML, lo que evita tener que gestionar varios archivos.</a:t>
            </a:r>
            <a:endParaRPr lang="es-ES" dirty="0"/>
          </a:p>
          <a:p>
            <a:r>
              <a:rPr lang="es-ES" dirty="0">
                <a:ea typeface="+mn-lt"/>
                <a:cs typeface="+mn-lt"/>
              </a:rPr>
              <a:t>Desventajas:</a:t>
            </a:r>
            <a:endParaRPr lang="es-ES" dirty="0"/>
          </a:p>
          <a:p>
            <a:pPr lvl="1">
              <a:buFont typeface="Courier New" panose="020B0604020202020204" pitchFamily="34" charset="0"/>
              <a:buChar char="o"/>
            </a:pPr>
            <a:r>
              <a:rPr lang="es-ES" dirty="0">
                <a:ea typeface="+mn-lt"/>
                <a:cs typeface="+mn-lt"/>
              </a:rPr>
              <a:t>Los estilos no son reutilizables en otras páginas web.</a:t>
            </a:r>
            <a:endParaRPr lang="es-ES" dirty="0"/>
          </a:p>
          <a:p>
            <a:pPr lvl="1">
              <a:buFont typeface="Courier New" panose="020B0604020202020204" pitchFamily="34" charset="0"/>
              <a:buChar char="o"/>
            </a:pPr>
            <a:r>
              <a:rPr lang="es-ES" dirty="0">
                <a:ea typeface="+mn-lt"/>
                <a:cs typeface="+mn-lt"/>
              </a:rPr>
              <a:t>El archivo HTML puede volverse muy largo y desordenado si las reglas CSS son extensas.</a:t>
            </a:r>
            <a:endParaRPr lang="es-ES" dirty="0"/>
          </a:p>
        </p:txBody>
      </p:sp>
    </p:spTree>
    <p:extLst>
      <p:ext uri="{BB962C8B-B14F-4D97-AF65-F5344CB8AC3E}">
        <p14:creationId xmlns:p14="http://schemas.microsoft.com/office/powerpoint/2010/main" val="24148090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387C1E-E8A5-A029-592D-FA39A30DED9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9D2BA43-D46B-1F20-3976-AEABE98730B6}"/>
              </a:ext>
            </a:extLst>
          </p:cNvPr>
          <p:cNvSpPr>
            <a:spLocks noGrp="1"/>
          </p:cNvSpPr>
          <p:nvPr>
            <p:ph type="title"/>
          </p:nvPr>
        </p:nvSpPr>
        <p:spPr/>
        <p:txBody>
          <a:bodyPr/>
          <a:lstStyle/>
          <a:p>
            <a:r>
              <a:rPr lang="es-ES" b="0" dirty="0">
                <a:ea typeface="+mj-lt"/>
                <a:cs typeface="+mj-lt"/>
              </a:rPr>
              <a:t>2.1.3.2. Métodos para incluir CSS en HTML. Hojas de estilo internas.</a:t>
            </a:r>
            <a:endParaRPr lang="es-ES" dirty="0">
              <a:ea typeface="+mj-lt"/>
              <a:cs typeface="+mj-lt"/>
            </a:endParaRPr>
          </a:p>
        </p:txBody>
      </p:sp>
      <p:sp>
        <p:nvSpPr>
          <p:cNvPr id="3" name="Marcador de contenido 2">
            <a:extLst>
              <a:ext uri="{FF2B5EF4-FFF2-40B4-BE49-F238E27FC236}">
                <a16:creationId xmlns:a16="http://schemas.microsoft.com/office/drawing/2014/main" id="{39A570D1-92C9-94F7-F539-B611F8BE64A0}"/>
              </a:ext>
            </a:extLst>
          </p:cNvPr>
          <p:cNvSpPr>
            <a:spLocks noGrp="1"/>
          </p:cNvSpPr>
          <p:nvPr>
            <p:ph idx="1"/>
          </p:nvPr>
        </p:nvSpPr>
        <p:spPr/>
        <p:txBody>
          <a:bodyPr vert="horz" lIns="91440" tIns="45720" rIns="91440" bIns="45720" rtlCol="0" anchor="t">
            <a:normAutofit fontScale="77500" lnSpcReduction="20000"/>
          </a:bodyPr>
          <a:lstStyle/>
          <a:p>
            <a:pPr marL="0" indent="0">
              <a:buNone/>
            </a:pPr>
            <a:r>
              <a:rPr lang="es-ES" b="1" dirty="0">
                <a:latin typeface="Courier New"/>
                <a:ea typeface="+mn-lt"/>
                <a:cs typeface="+mn-lt"/>
              </a:rPr>
              <a:t>&lt;!DOCTYPE </a:t>
            </a:r>
            <a:r>
              <a:rPr lang="es-ES" b="1" dirty="0" err="1">
                <a:latin typeface="Courier New"/>
                <a:ea typeface="+mn-lt"/>
                <a:cs typeface="+mn-lt"/>
              </a:rPr>
              <a:t>html</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&lt;</a:t>
            </a:r>
            <a:r>
              <a:rPr lang="es-ES" b="1" dirty="0" err="1">
                <a:latin typeface="Courier New"/>
                <a:ea typeface="+mn-lt"/>
                <a:cs typeface="+mn-lt"/>
              </a:rPr>
              <a:t>html</a:t>
            </a:r>
            <a:r>
              <a:rPr lang="es-ES" b="1" dirty="0">
                <a:latin typeface="Courier New"/>
                <a:ea typeface="+mn-lt"/>
                <a:cs typeface="+mn-lt"/>
              </a:rPr>
              <a:t> </a:t>
            </a:r>
            <a:r>
              <a:rPr lang="es-ES" b="1" dirty="0" err="1">
                <a:latin typeface="Courier New"/>
                <a:ea typeface="+mn-lt"/>
                <a:cs typeface="+mn-lt"/>
              </a:rPr>
              <a:t>lang</a:t>
            </a:r>
            <a:r>
              <a:rPr lang="es-ES" b="1" dirty="0">
                <a:latin typeface="Courier New"/>
                <a:ea typeface="+mn-lt"/>
                <a:cs typeface="+mn-lt"/>
              </a:rPr>
              <a:t>="es"&gt;</a:t>
            </a:r>
            <a:br>
              <a:rPr lang="es-ES" b="1" dirty="0">
                <a:latin typeface="Courier New"/>
                <a:ea typeface="+mn-lt"/>
                <a:cs typeface="+mn-lt"/>
              </a:rPr>
            </a:br>
            <a:r>
              <a:rPr lang="es-ES" b="1" dirty="0">
                <a:latin typeface="Courier New"/>
                <a:ea typeface="+mn-lt"/>
                <a:cs typeface="+mn-lt"/>
              </a:rPr>
              <a:t>&lt;head&gt;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title</a:t>
            </a:r>
            <a:r>
              <a:rPr lang="es-ES" b="1" dirty="0">
                <a:latin typeface="Courier New"/>
                <a:ea typeface="+mn-lt"/>
                <a:cs typeface="+mn-lt"/>
              </a:rPr>
              <a:t>&gt;Estilos Internos&lt;/</a:t>
            </a:r>
            <a:r>
              <a:rPr lang="es-ES" b="1" dirty="0" err="1">
                <a:latin typeface="Courier New"/>
                <a:ea typeface="+mn-lt"/>
                <a:cs typeface="+mn-lt"/>
              </a:rPr>
              <a:t>title</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style</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h1 {</a:t>
            </a:r>
            <a:br>
              <a:rPr lang="es-ES" b="1" dirty="0">
                <a:latin typeface="Courier New"/>
                <a:ea typeface="+mn-lt"/>
                <a:cs typeface="+mn-lt"/>
              </a:rPr>
            </a:br>
            <a:r>
              <a:rPr lang="es-ES" b="1" dirty="0">
                <a:latin typeface="Courier New"/>
                <a:ea typeface="+mn-lt"/>
                <a:cs typeface="+mn-lt"/>
              </a:rPr>
              <a:t>            color: </a:t>
            </a:r>
            <a:r>
              <a:rPr lang="es-ES" b="1" dirty="0" err="1">
                <a:latin typeface="Courier New"/>
                <a:ea typeface="+mn-lt"/>
                <a:cs typeface="+mn-lt"/>
              </a:rPr>
              <a:t>purple</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p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font-size</a:t>
            </a:r>
            <a:r>
              <a:rPr lang="es-ES" b="1" dirty="0">
                <a:latin typeface="Courier New"/>
                <a:ea typeface="+mn-lt"/>
                <a:cs typeface="+mn-lt"/>
              </a:rPr>
              <a:t>: 14px;</a:t>
            </a:r>
            <a:br>
              <a:rPr lang="es-ES" b="1" dirty="0">
                <a:latin typeface="Courier New"/>
                <a:ea typeface="+mn-lt"/>
                <a:cs typeface="+mn-lt"/>
              </a:rPr>
            </a:b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style</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&lt;/head&gt;</a:t>
            </a:r>
            <a:br>
              <a:rPr lang="es-ES" b="1" dirty="0">
                <a:latin typeface="Courier New"/>
                <a:ea typeface="+mn-lt"/>
                <a:cs typeface="+mn-lt"/>
              </a:rPr>
            </a:br>
            <a:r>
              <a:rPr lang="es-ES" b="1" dirty="0">
                <a:latin typeface="Courier New"/>
                <a:ea typeface="+mn-lt"/>
                <a:cs typeface="+mn-lt"/>
              </a:rPr>
              <a:t>&lt;</a:t>
            </a:r>
            <a:r>
              <a:rPr lang="es-ES" b="1" dirty="0" err="1">
                <a:latin typeface="Courier New"/>
                <a:ea typeface="+mn-lt"/>
                <a:cs typeface="+mn-lt"/>
              </a:rPr>
              <a:t>body</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&lt;h1&gt;Título con estilo interno&lt;/h1&gt;</a:t>
            </a:r>
            <a:br>
              <a:rPr lang="es-ES" b="1" dirty="0">
                <a:latin typeface="Courier New"/>
                <a:ea typeface="+mn-lt"/>
                <a:cs typeface="+mn-lt"/>
              </a:rPr>
            </a:br>
            <a:r>
              <a:rPr lang="es-ES" b="1" dirty="0">
                <a:latin typeface="Courier New"/>
                <a:ea typeface="+mn-lt"/>
                <a:cs typeface="+mn-lt"/>
              </a:rPr>
              <a:t>    &lt;p&gt;Párrafo con estilo interno.&lt;/p&gt;</a:t>
            </a:r>
            <a:br>
              <a:rPr lang="es-ES" b="1" dirty="0">
                <a:latin typeface="Courier New"/>
                <a:ea typeface="+mn-lt"/>
                <a:cs typeface="+mn-lt"/>
              </a:rPr>
            </a:br>
            <a:r>
              <a:rPr lang="es-ES" b="1" dirty="0">
                <a:latin typeface="Courier New"/>
                <a:ea typeface="+mn-lt"/>
                <a:cs typeface="+mn-lt"/>
              </a:rPr>
              <a:t>&lt;/</a:t>
            </a:r>
            <a:r>
              <a:rPr lang="es-ES" b="1" dirty="0" err="1">
                <a:latin typeface="Courier New"/>
                <a:ea typeface="+mn-lt"/>
                <a:cs typeface="+mn-lt"/>
              </a:rPr>
              <a:t>body</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&lt;/</a:t>
            </a:r>
            <a:r>
              <a:rPr lang="es-ES" b="1" dirty="0" err="1">
                <a:latin typeface="Courier New"/>
                <a:ea typeface="+mn-lt"/>
                <a:cs typeface="+mn-lt"/>
              </a:rPr>
              <a:t>html</a:t>
            </a:r>
            <a:r>
              <a:rPr lang="es-ES" b="1" dirty="0">
                <a:latin typeface="Courier New"/>
                <a:ea typeface="+mn-lt"/>
                <a:cs typeface="+mn-lt"/>
              </a:rPr>
              <a:t>&gt;</a:t>
            </a:r>
            <a:endParaRPr lang="es-ES" b="1" dirty="0">
              <a:latin typeface="Courier New"/>
              <a:cs typeface="Courier New"/>
            </a:endParaRPr>
          </a:p>
        </p:txBody>
      </p:sp>
    </p:spTree>
    <p:extLst>
      <p:ext uri="{BB962C8B-B14F-4D97-AF65-F5344CB8AC3E}">
        <p14:creationId xmlns:p14="http://schemas.microsoft.com/office/powerpoint/2010/main" val="38031446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EA36CC-D494-B755-A881-973FC17CF0D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09C5652-5E0C-42CB-EAD4-31B708052C77}"/>
              </a:ext>
            </a:extLst>
          </p:cNvPr>
          <p:cNvSpPr>
            <a:spLocks noGrp="1"/>
          </p:cNvSpPr>
          <p:nvPr>
            <p:ph type="title"/>
          </p:nvPr>
        </p:nvSpPr>
        <p:spPr/>
        <p:txBody>
          <a:bodyPr/>
          <a:lstStyle/>
          <a:p>
            <a:r>
              <a:rPr lang="es-ES" b="0" dirty="0">
                <a:ea typeface="+mj-lt"/>
                <a:cs typeface="+mj-lt"/>
              </a:rPr>
              <a:t>2.1.3.3. Métodos para incluir CSS en HTML. Hojas de estilo externas.</a:t>
            </a:r>
            <a:endParaRPr lang="es-ES" dirty="0">
              <a:ea typeface="+mj-lt"/>
              <a:cs typeface="+mj-lt"/>
            </a:endParaRPr>
          </a:p>
        </p:txBody>
      </p:sp>
      <p:sp>
        <p:nvSpPr>
          <p:cNvPr id="3" name="Marcador de contenido 2">
            <a:extLst>
              <a:ext uri="{FF2B5EF4-FFF2-40B4-BE49-F238E27FC236}">
                <a16:creationId xmlns:a16="http://schemas.microsoft.com/office/drawing/2014/main" id="{074EB99C-673F-8815-8C16-EC5A1D6CA064}"/>
              </a:ext>
            </a:extLst>
          </p:cNvPr>
          <p:cNvSpPr>
            <a:spLocks noGrp="1"/>
          </p:cNvSpPr>
          <p:nvPr>
            <p:ph idx="1"/>
          </p:nvPr>
        </p:nvSpPr>
        <p:spPr/>
        <p:txBody>
          <a:bodyPr vert="horz" lIns="91440" tIns="45720" rIns="91440" bIns="45720" rtlCol="0" anchor="t">
            <a:normAutofit/>
          </a:bodyPr>
          <a:lstStyle/>
          <a:p>
            <a:r>
              <a:rPr lang="es-ES" dirty="0">
                <a:ea typeface="+mn-lt"/>
                <a:cs typeface="+mn-lt"/>
              </a:rPr>
              <a:t>Este es el método más recomendado y utilizado en el desarrollo web profesional. Consiste en escribir las reglas CSS en un archivo separado con la extensión .</a:t>
            </a:r>
            <a:r>
              <a:rPr lang="es-ES" dirty="0" err="1">
                <a:ea typeface="+mn-lt"/>
                <a:cs typeface="+mn-lt"/>
              </a:rPr>
              <a:t>css</a:t>
            </a:r>
            <a:r>
              <a:rPr lang="es-ES" dirty="0">
                <a:ea typeface="+mn-lt"/>
                <a:cs typeface="+mn-lt"/>
              </a:rPr>
              <a:t> y enlazarlo al documento HTML usando la etiqueta &lt;link&gt;.</a:t>
            </a:r>
            <a:endParaRPr lang="es-ES" dirty="0"/>
          </a:p>
          <a:p>
            <a:r>
              <a:rPr lang="es-ES" dirty="0">
                <a:ea typeface="+mn-lt"/>
                <a:cs typeface="+mn-lt"/>
              </a:rPr>
              <a:t>Ventajas:</a:t>
            </a:r>
            <a:endParaRPr lang="es-ES" dirty="0"/>
          </a:p>
          <a:p>
            <a:pPr lvl="1">
              <a:buFont typeface="Courier New" panose="020B0604020202020204" pitchFamily="34" charset="0"/>
              <a:buChar char="o"/>
            </a:pPr>
            <a:r>
              <a:rPr lang="es-ES" dirty="0">
                <a:ea typeface="+mn-lt"/>
                <a:cs typeface="+mn-lt"/>
              </a:rPr>
              <a:t>Separación de responsabilidades. El HTML se encarga de la estructura y el CSS del diseño, lo que facilita la lectura y el mantenimiento del código.</a:t>
            </a:r>
            <a:endParaRPr lang="es-ES" dirty="0"/>
          </a:p>
          <a:p>
            <a:pPr lvl="1">
              <a:buFont typeface="Courier New" panose="020B0604020202020204" pitchFamily="34" charset="0"/>
              <a:buChar char="o"/>
            </a:pPr>
            <a:r>
              <a:rPr lang="es-ES" dirty="0">
                <a:ea typeface="+mn-lt"/>
                <a:cs typeface="+mn-lt"/>
              </a:rPr>
              <a:t>Reutilización. Un solo archivo CSS puede ser utilizado por múltiples páginas HTML, asegurando una apariencia homogénea en todo el sitio web.</a:t>
            </a:r>
            <a:endParaRPr lang="es-ES" dirty="0"/>
          </a:p>
          <a:p>
            <a:pPr lvl="1">
              <a:buFont typeface="Courier New" panose="020B0604020202020204" pitchFamily="34" charset="0"/>
              <a:buChar char="o"/>
            </a:pPr>
            <a:r>
              <a:rPr lang="es-ES" dirty="0">
                <a:ea typeface="+mn-lt"/>
                <a:cs typeface="+mn-lt"/>
              </a:rPr>
              <a:t>Caché del navegador. El navegador guarda el archivo CSS, lo que acelera la carga de páginas subsiguientes.</a:t>
            </a:r>
            <a:endParaRPr lang="es-ES" dirty="0"/>
          </a:p>
          <a:p>
            <a:pPr lvl="1">
              <a:buFont typeface="Courier New" panose="020B0604020202020204" pitchFamily="34" charset="0"/>
              <a:buChar char="o"/>
            </a:pPr>
            <a:r>
              <a:rPr lang="es-ES" dirty="0">
                <a:ea typeface="+mn-lt"/>
                <a:cs typeface="+mn-lt"/>
              </a:rPr>
              <a:t>Centralización del estilo. Un cambio en el archivo CSS se refleja en todas las páginas que lo enlazan.</a:t>
            </a:r>
            <a:endParaRPr lang="es-ES" dirty="0"/>
          </a:p>
          <a:p>
            <a:endParaRPr lang="es-ES" dirty="0"/>
          </a:p>
        </p:txBody>
      </p:sp>
    </p:spTree>
    <p:extLst>
      <p:ext uri="{BB962C8B-B14F-4D97-AF65-F5344CB8AC3E}">
        <p14:creationId xmlns:p14="http://schemas.microsoft.com/office/powerpoint/2010/main" val="42806907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00010F-B2A1-C0A2-F651-DCED0AE3FE7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AA002BB-E711-6D23-2EAF-F83DF5745794}"/>
              </a:ext>
            </a:extLst>
          </p:cNvPr>
          <p:cNvSpPr>
            <a:spLocks noGrp="1"/>
          </p:cNvSpPr>
          <p:nvPr>
            <p:ph type="title"/>
          </p:nvPr>
        </p:nvSpPr>
        <p:spPr/>
        <p:txBody>
          <a:bodyPr/>
          <a:lstStyle/>
          <a:p>
            <a:r>
              <a:rPr lang="es-ES" b="0" dirty="0">
                <a:ea typeface="+mj-lt"/>
                <a:cs typeface="+mj-lt"/>
              </a:rPr>
              <a:t>2.1.3.3. Métodos para incluir CSS en HTML. Hojas de estilo externas.</a:t>
            </a:r>
            <a:endParaRPr lang="es-ES" dirty="0">
              <a:ea typeface="+mj-lt"/>
              <a:cs typeface="+mj-lt"/>
            </a:endParaRPr>
          </a:p>
        </p:txBody>
      </p:sp>
      <p:sp>
        <p:nvSpPr>
          <p:cNvPr id="3" name="Marcador de contenido 2">
            <a:extLst>
              <a:ext uri="{FF2B5EF4-FFF2-40B4-BE49-F238E27FC236}">
                <a16:creationId xmlns:a16="http://schemas.microsoft.com/office/drawing/2014/main" id="{FA38DFCA-E6FF-76FE-54AC-608175E5CC10}"/>
              </a:ext>
            </a:extLst>
          </p:cNvPr>
          <p:cNvSpPr>
            <a:spLocks noGrp="1"/>
          </p:cNvSpPr>
          <p:nvPr>
            <p:ph idx="1"/>
          </p:nvPr>
        </p:nvSpPr>
        <p:spPr/>
        <p:txBody>
          <a:bodyPr vert="horz" lIns="91440" tIns="45720" rIns="91440" bIns="45720" rtlCol="0" anchor="t">
            <a:normAutofit lnSpcReduction="10000"/>
          </a:bodyPr>
          <a:lstStyle/>
          <a:p>
            <a:r>
              <a:rPr lang="es-ES" dirty="0">
                <a:ea typeface="+mn-lt"/>
                <a:cs typeface="+mn-lt"/>
              </a:rPr>
              <a:t>En el archivo index.html:</a:t>
            </a:r>
            <a:endParaRPr lang="es-ES" dirty="0"/>
          </a:p>
          <a:p>
            <a:pPr marL="0" indent="0">
              <a:buNone/>
            </a:pPr>
            <a:r>
              <a:rPr lang="es-ES" b="1" dirty="0">
                <a:latin typeface="Courier New"/>
                <a:ea typeface="+mn-lt"/>
                <a:cs typeface="+mn-lt"/>
              </a:rPr>
              <a:t>&lt;head&gt;</a:t>
            </a:r>
            <a:br>
              <a:rPr lang="es-ES" b="1" dirty="0">
                <a:latin typeface="Courier New"/>
                <a:ea typeface="+mn-lt"/>
                <a:cs typeface="+mn-lt"/>
              </a:rPr>
            </a:br>
            <a:r>
              <a:rPr lang="es-ES" b="1" dirty="0">
                <a:latin typeface="Courier New"/>
                <a:ea typeface="+mn-lt"/>
                <a:cs typeface="+mn-lt"/>
              </a:rPr>
              <a:t>    &lt;link </a:t>
            </a:r>
            <a:r>
              <a:rPr lang="es-ES" b="1" dirty="0" err="1">
                <a:latin typeface="Courier New"/>
                <a:ea typeface="+mn-lt"/>
                <a:cs typeface="+mn-lt"/>
              </a:rPr>
              <a:t>rel</a:t>
            </a:r>
            <a:r>
              <a:rPr lang="es-ES" b="1" dirty="0">
                <a:latin typeface="Courier New"/>
                <a:ea typeface="+mn-lt"/>
                <a:cs typeface="+mn-lt"/>
              </a:rPr>
              <a:t>="</a:t>
            </a:r>
            <a:r>
              <a:rPr lang="es-ES" b="1" dirty="0" err="1">
                <a:latin typeface="Courier New"/>
                <a:ea typeface="+mn-lt"/>
                <a:cs typeface="+mn-lt"/>
              </a:rPr>
              <a:t>stylesheet</a:t>
            </a:r>
            <a:r>
              <a:rPr lang="es-ES" b="1" dirty="0">
                <a:latin typeface="Courier New"/>
                <a:ea typeface="+mn-lt"/>
                <a:cs typeface="+mn-lt"/>
              </a:rPr>
              <a:t>" </a:t>
            </a:r>
            <a:r>
              <a:rPr lang="es-ES" b="1" dirty="0" err="1">
                <a:latin typeface="Courier New"/>
                <a:ea typeface="+mn-lt"/>
                <a:cs typeface="+mn-lt"/>
              </a:rPr>
              <a:t>href</a:t>
            </a:r>
            <a:r>
              <a:rPr lang="es-ES" b="1" dirty="0">
                <a:latin typeface="Courier New"/>
                <a:ea typeface="+mn-lt"/>
                <a:cs typeface="+mn-lt"/>
              </a:rPr>
              <a:t>="styles.css"&gt;</a:t>
            </a:r>
            <a:br>
              <a:rPr lang="es-ES" b="1" dirty="0">
                <a:latin typeface="Courier New"/>
                <a:ea typeface="+mn-lt"/>
                <a:cs typeface="+mn-lt"/>
              </a:rPr>
            </a:br>
            <a:r>
              <a:rPr lang="es-ES" b="1" dirty="0">
                <a:latin typeface="Courier New"/>
                <a:ea typeface="+mn-lt"/>
                <a:cs typeface="+mn-lt"/>
              </a:rPr>
              <a:t>&lt;/head&gt;</a:t>
            </a:r>
            <a:endParaRPr lang="es-ES" b="1" dirty="0">
              <a:latin typeface="Courier New"/>
              <a:cs typeface="Courier New"/>
            </a:endParaRPr>
          </a:p>
          <a:p>
            <a:r>
              <a:rPr lang="es-ES" dirty="0">
                <a:ea typeface="+mn-lt"/>
                <a:cs typeface="+mn-lt"/>
              </a:rPr>
              <a:t>En el archivo styles.css:</a:t>
            </a:r>
            <a:endParaRPr lang="es-ES" dirty="0"/>
          </a:p>
          <a:p>
            <a:pPr marL="0" indent="0">
              <a:buNone/>
            </a:pPr>
            <a:r>
              <a:rPr lang="es-ES" b="1" dirty="0" err="1">
                <a:latin typeface="Courier New"/>
                <a:ea typeface="+mn-lt"/>
                <a:cs typeface="+mn-lt"/>
              </a:rPr>
              <a:t>body</a:t>
            </a: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background</a:t>
            </a:r>
            <a:r>
              <a:rPr lang="es-ES" b="1" dirty="0">
                <a:latin typeface="Courier New"/>
                <a:ea typeface="+mn-lt"/>
                <a:cs typeface="+mn-lt"/>
              </a:rPr>
              <a:t>-color: </a:t>
            </a:r>
            <a:r>
              <a:rPr lang="es-ES" b="1" dirty="0" err="1">
                <a:latin typeface="Courier New"/>
                <a:ea typeface="+mn-lt"/>
                <a:cs typeface="+mn-lt"/>
              </a:rPr>
              <a:t>lightblue</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h1 {</a:t>
            </a:r>
            <a:br>
              <a:rPr lang="es-ES" b="1" dirty="0">
                <a:latin typeface="Courier New"/>
                <a:ea typeface="+mn-lt"/>
                <a:cs typeface="+mn-lt"/>
              </a:rPr>
            </a:br>
            <a:r>
              <a:rPr lang="es-ES" b="1" dirty="0">
                <a:latin typeface="Courier New"/>
                <a:ea typeface="+mn-lt"/>
                <a:cs typeface="+mn-lt"/>
              </a:rPr>
              <a:t>    color: </a:t>
            </a:r>
            <a:r>
              <a:rPr lang="es-ES" b="1" dirty="0" err="1">
                <a:latin typeface="Courier New"/>
                <a:ea typeface="+mn-lt"/>
                <a:cs typeface="+mn-lt"/>
              </a:rPr>
              <a:t>white</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a:t>
            </a:r>
            <a:endParaRPr lang="es-ES" b="1" dirty="0">
              <a:latin typeface="Courier New"/>
              <a:cs typeface="Courier New"/>
            </a:endParaRPr>
          </a:p>
          <a:p>
            <a:endParaRPr lang="es-ES" dirty="0"/>
          </a:p>
        </p:txBody>
      </p:sp>
    </p:spTree>
    <p:extLst>
      <p:ext uri="{BB962C8B-B14F-4D97-AF65-F5344CB8AC3E}">
        <p14:creationId xmlns:p14="http://schemas.microsoft.com/office/powerpoint/2010/main" val="20428807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F2B96D-4D62-AE94-FB15-176140194DE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E7EC9D6-FA17-F649-3CFC-509EF2C55CDB}"/>
              </a:ext>
            </a:extLst>
          </p:cNvPr>
          <p:cNvSpPr>
            <a:spLocks noGrp="1"/>
          </p:cNvSpPr>
          <p:nvPr>
            <p:ph type="title"/>
          </p:nvPr>
        </p:nvSpPr>
        <p:spPr/>
        <p:txBody>
          <a:bodyPr/>
          <a:lstStyle/>
          <a:p>
            <a:r>
              <a:rPr lang="es-ES" b="0" dirty="0">
                <a:ea typeface="+mj-lt"/>
                <a:cs typeface="+mj-lt"/>
              </a:rPr>
              <a:t>2.1.3.4. @import (ventajas y desventajas).</a:t>
            </a:r>
            <a:endParaRPr lang="es-ES" dirty="0"/>
          </a:p>
        </p:txBody>
      </p:sp>
      <p:sp>
        <p:nvSpPr>
          <p:cNvPr id="3" name="Marcador de contenido 2">
            <a:extLst>
              <a:ext uri="{FF2B5EF4-FFF2-40B4-BE49-F238E27FC236}">
                <a16:creationId xmlns:a16="http://schemas.microsoft.com/office/drawing/2014/main" id="{37A30C23-EB8B-BF2C-1560-501BF11A5FDF}"/>
              </a:ext>
            </a:extLst>
          </p:cNvPr>
          <p:cNvSpPr>
            <a:spLocks noGrp="1"/>
          </p:cNvSpPr>
          <p:nvPr>
            <p:ph idx="1"/>
          </p:nvPr>
        </p:nvSpPr>
        <p:spPr/>
        <p:txBody>
          <a:bodyPr vert="horz" lIns="91440" tIns="45720" rIns="91440" bIns="45720" rtlCol="0" anchor="t">
            <a:normAutofit lnSpcReduction="10000"/>
          </a:bodyPr>
          <a:lstStyle/>
          <a:p>
            <a:r>
              <a:rPr lang="es-ES" dirty="0">
                <a:ea typeface="+mn-lt"/>
                <a:cs typeface="+mn-lt"/>
              </a:rPr>
              <a:t>La regla @import de CSS es una forma de incluir una hoja de estilo dentro de otra. Se utiliza para cargar estilos externos, de forma similar a la etiqueta &lt;link&gt;, pero con algunas diferencias importantes. Su sintaxis es sencilla y se coloca al principio de un archivo CSS.</a:t>
            </a:r>
            <a:endParaRPr lang="es-ES" dirty="0"/>
          </a:p>
          <a:p>
            <a:r>
              <a:rPr lang="es-ES" dirty="0">
                <a:ea typeface="+mn-lt"/>
                <a:cs typeface="+mn-lt"/>
              </a:rPr>
              <a:t>Cómo se usa:</a:t>
            </a:r>
            <a:endParaRPr lang="es-ES" dirty="0"/>
          </a:p>
          <a:p>
            <a:pPr marL="0" indent="0">
              <a:buNone/>
            </a:pPr>
            <a:r>
              <a:rPr lang="es-ES" b="1" dirty="0">
                <a:latin typeface="Courier New"/>
                <a:ea typeface="+mn-lt"/>
                <a:cs typeface="+mn-lt"/>
              </a:rPr>
              <a:t>/* En tu archivo principal, por ejemplo, styles.css */</a:t>
            </a:r>
            <a:br>
              <a:rPr lang="es-ES" b="1" dirty="0">
                <a:latin typeface="Courier New"/>
                <a:ea typeface="+mn-lt"/>
                <a:cs typeface="+mn-lt"/>
              </a:rPr>
            </a:br>
            <a:r>
              <a:rPr lang="es-ES" b="1" dirty="0">
                <a:latin typeface="Courier New"/>
                <a:ea typeface="+mn-lt"/>
                <a:cs typeface="+mn-lt"/>
              </a:rPr>
              <a:t>@import </a:t>
            </a:r>
            <a:r>
              <a:rPr lang="es-ES" b="1" dirty="0" err="1">
                <a:latin typeface="Courier New"/>
                <a:ea typeface="+mn-lt"/>
                <a:cs typeface="+mn-lt"/>
              </a:rPr>
              <a:t>url</a:t>
            </a:r>
            <a:r>
              <a:rPr lang="es-ES" b="1" dirty="0">
                <a:latin typeface="Courier New"/>
                <a:ea typeface="+mn-lt"/>
                <a:cs typeface="+mn-lt"/>
              </a:rPr>
              <a:t>("componentes/botones.css");</a:t>
            </a:r>
            <a:br>
              <a:rPr lang="es-ES" b="1" dirty="0">
                <a:latin typeface="Courier New"/>
                <a:ea typeface="+mn-lt"/>
                <a:cs typeface="+mn-lt"/>
              </a:rPr>
            </a:br>
            <a:r>
              <a:rPr lang="es-ES" b="1" dirty="0">
                <a:latin typeface="Courier New"/>
                <a:ea typeface="+mn-lt"/>
                <a:cs typeface="+mn-lt"/>
              </a:rPr>
              <a:t>@import </a:t>
            </a:r>
            <a:r>
              <a:rPr lang="es-ES" b="1" dirty="0" err="1">
                <a:latin typeface="Courier New"/>
                <a:ea typeface="+mn-lt"/>
                <a:cs typeface="+mn-lt"/>
              </a:rPr>
              <a:t>url</a:t>
            </a:r>
            <a:r>
              <a:rPr lang="es-ES" b="1" dirty="0">
                <a:latin typeface="Courier New"/>
                <a:ea typeface="+mn-lt"/>
                <a:cs typeface="+mn-lt"/>
              </a:rPr>
              <a:t>("</a:t>
            </a:r>
            <a:r>
              <a:rPr lang="es-ES" b="1" dirty="0" err="1">
                <a:latin typeface="Courier New"/>
                <a:ea typeface="+mn-lt"/>
                <a:cs typeface="+mn-lt"/>
              </a:rPr>
              <a:t>layouts</a:t>
            </a:r>
            <a:r>
              <a:rPr lang="es-ES" b="1" dirty="0">
                <a:latin typeface="Courier New"/>
                <a:ea typeface="+mn-lt"/>
                <a:cs typeface="+mn-lt"/>
              </a:rPr>
              <a:t>/grid.css");</a:t>
            </a:r>
            <a:br>
              <a:rPr lang="es-ES" b="1" dirty="0">
                <a:latin typeface="Courier New"/>
                <a:ea typeface="+mn-lt"/>
                <a:cs typeface="+mn-lt"/>
              </a:rPr>
            </a:br>
            <a:r>
              <a:rPr lang="es-ES" b="1" dirty="0">
                <a:latin typeface="Courier New"/>
                <a:ea typeface="+mn-lt"/>
                <a:cs typeface="+mn-lt"/>
              </a:rPr>
              <a:t>@import </a:t>
            </a:r>
            <a:r>
              <a:rPr lang="es-ES" b="1" dirty="0" err="1">
                <a:latin typeface="Courier New"/>
                <a:ea typeface="+mn-lt"/>
                <a:cs typeface="+mn-lt"/>
              </a:rPr>
              <a:t>url</a:t>
            </a:r>
            <a:r>
              <a:rPr lang="es-ES" b="1" dirty="0">
                <a:latin typeface="Courier New"/>
                <a:ea typeface="+mn-lt"/>
                <a:cs typeface="+mn-lt"/>
              </a:rPr>
              <a:t>("estilos-impresion.css") </a:t>
            </a:r>
            <a:r>
              <a:rPr lang="es-ES" b="1" dirty="0" err="1">
                <a:latin typeface="Courier New"/>
                <a:ea typeface="+mn-lt"/>
                <a:cs typeface="+mn-lt"/>
              </a:rPr>
              <a:t>print</a:t>
            </a:r>
            <a:r>
              <a:rPr lang="es-ES" b="1" dirty="0">
                <a:latin typeface="Courier New"/>
                <a:ea typeface="+mn-lt"/>
                <a:cs typeface="+mn-lt"/>
              </a:rPr>
              <a:t>;</a:t>
            </a:r>
            <a:endParaRPr lang="es-ES" b="1">
              <a:latin typeface="Courier New"/>
              <a:cs typeface="Courier New"/>
            </a:endParaRPr>
          </a:p>
          <a:p>
            <a:r>
              <a:rPr lang="es-ES" dirty="0">
                <a:ea typeface="+mn-lt"/>
                <a:cs typeface="+mn-lt"/>
              </a:rPr>
              <a:t>Esta regla carga el contenido de los archivos CSS especificados y los integra en el documento donde se hace la llamada. La última línea en el ejemplo muestra cómo se pueden importar estilos condicionalmente para un medio específico, como la impresión.</a:t>
            </a:r>
            <a:endParaRPr lang="es-ES" dirty="0"/>
          </a:p>
          <a:p>
            <a:endParaRPr lang="es-ES" dirty="0"/>
          </a:p>
        </p:txBody>
      </p:sp>
    </p:spTree>
    <p:extLst>
      <p:ext uri="{BB962C8B-B14F-4D97-AF65-F5344CB8AC3E}">
        <p14:creationId xmlns:p14="http://schemas.microsoft.com/office/powerpoint/2010/main" val="14639965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24184A-7189-F638-3247-D945DBEE6E8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5FB4CDD-A193-19E1-4CF1-487C9141037E}"/>
              </a:ext>
            </a:extLst>
          </p:cNvPr>
          <p:cNvSpPr>
            <a:spLocks noGrp="1"/>
          </p:cNvSpPr>
          <p:nvPr>
            <p:ph type="title"/>
          </p:nvPr>
        </p:nvSpPr>
        <p:spPr/>
        <p:txBody>
          <a:bodyPr/>
          <a:lstStyle/>
          <a:p>
            <a:r>
              <a:rPr lang="es-ES" b="0" dirty="0">
                <a:ea typeface="+mj-lt"/>
                <a:cs typeface="+mj-lt"/>
              </a:rPr>
              <a:t>2.1.3.4. @import (ventajas y desventajas).</a:t>
            </a:r>
            <a:endParaRPr lang="es-ES" dirty="0"/>
          </a:p>
        </p:txBody>
      </p:sp>
      <p:sp>
        <p:nvSpPr>
          <p:cNvPr id="3" name="Marcador de contenido 2">
            <a:extLst>
              <a:ext uri="{FF2B5EF4-FFF2-40B4-BE49-F238E27FC236}">
                <a16:creationId xmlns:a16="http://schemas.microsoft.com/office/drawing/2014/main" id="{CE02DD1F-9810-C32A-A9B6-2C8AB3308F82}"/>
              </a:ext>
            </a:extLst>
          </p:cNvPr>
          <p:cNvSpPr>
            <a:spLocks noGrp="1"/>
          </p:cNvSpPr>
          <p:nvPr>
            <p:ph idx="1"/>
          </p:nvPr>
        </p:nvSpPr>
        <p:spPr/>
        <p:txBody>
          <a:bodyPr vert="horz" lIns="91440" tIns="45720" rIns="91440" bIns="45720" rtlCol="0" anchor="t">
            <a:normAutofit fontScale="85000" lnSpcReduction="20000"/>
          </a:bodyPr>
          <a:lstStyle/>
          <a:p>
            <a:r>
              <a:rPr lang="es-ES" dirty="0">
                <a:ea typeface="+mn-lt"/>
                <a:cs typeface="+mn-lt"/>
              </a:rPr>
              <a:t>Ventajas. A pesar de que su uso se ha vuelto menos común debido a sus desventajas, @import tiene un par de puntos a su favor:</a:t>
            </a:r>
            <a:endParaRPr lang="es-ES" dirty="0"/>
          </a:p>
          <a:p>
            <a:pPr lvl="1">
              <a:buFont typeface="Courier New" panose="020B0604020202020204" pitchFamily="34" charset="0"/>
              <a:buChar char="o"/>
            </a:pPr>
            <a:r>
              <a:rPr lang="es-ES" dirty="0">
                <a:ea typeface="+mn-lt"/>
                <a:cs typeface="+mn-lt"/>
              </a:rPr>
              <a:t>Organización del código: Permite dividir una hoja de estilos grande en archivos más pequeños y temáticos (por ejemplo, _botones.css, _formularios.css), lo que mejora la legibilidad y la gestión del código.</a:t>
            </a:r>
          </a:p>
          <a:p>
            <a:pPr lvl="1">
              <a:buFont typeface="Courier New" panose="020B0604020202020204" pitchFamily="34" charset="0"/>
              <a:buChar char="o"/>
            </a:pPr>
            <a:r>
              <a:rPr lang="es-ES" dirty="0">
                <a:ea typeface="+mn-lt"/>
                <a:cs typeface="+mn-lt"/>
              </a:rPr>
              <a:t>Modularidad: Facilita la creación de una estructura modular en tu proyecto CSS, similar a la que ofrecen los preprocesadores, permitiendo la reutilización de bloques de estilos en diferentes proyectos.</a:t>
            </a:r>
          </a:p>
          <a:p>
            <a:r>
              <a:rPr lang="es-ES" dirty="0">
                <a:ea typeface="+mn-lt"/>
                <a:cs typeface="+mn-lt"/>
              </a:rPr>
              <a:t>Desventajas. Las desventajas de @import son significativas, y es la razón por la cual hoy en día se prefiere el método de &lt;link&gt; para incluir estilos.</a:t>
            </a:r>
            <a:endParaRPr lang="es-ES" dirty="0"/>
          </a:p>
          <a:p>
            <a:pPr lvl="1">
              <a:buFont typeface="Courier New" panose="020B0604020202020204" pitchFamily="34" charset="0"/>
              <a:buChar char="o"/>
            </a:pPr>
            <a:r>
              <a:rPr lang="es-ES" dirty="0">
                <a:ea typeface="+mn-lt"/>
                <a:cs typeface="+mn-lt"/>
              </a:rPr>
              <a:t>Rendimiento: La desventaja más importante es que @import causa un retraso en la carga de la página. El navegador primero debe descargar el archivo principal que contiene la regla @import, luego procesar ese archivo, y solo entonces comienza a descargar los archivos importados. Esto crea una cadena de peticiones HTTP, ralentizando la renderización de la página. Por el contrario, la etiqueta &lt;link&gt; permite que el navegador descargue todas las hojas de estilo simultáneamente.</a:t>
            </a:r>
            <a:endParaRPr lang="es-ES" dirty="0"/>
          </a:p>
          <a:p>
            <a:pPr lvl="1">
              <a:buFont typeface="Courier New" panose="020B0604020202020204" pitchFamily="34" charset="0"/>
              <a:buChar char="o"/>
            </a:pPr>
            <a:r>
              <a:rPr lang="es-ES" dirty="0">
                <a:ea typeface="+mn-lt"/>
                <a:cs typeface="+mn-lt"/>
              </a:rPr>
              <a:t>Aumento de peticiones: Cada @import genera una petición HTTP adicional al servidor. Un uso excesivo de esta regla puede saturar el navegador con múltiples peticiones, lo que impacta negativamente en el tiempo de carga, especialmente en conexiones lentas.</a:t>
            </a:r>
            <a:endParaRPr lang="es-ES" dirty="0"/>
          </a:p>
          <a:p>
            <a:r>
              <a:rPr lang="es-ES" dirty="0">
                <a:ea typeface="+mn-lt"/>
                <a:cs typeface="+mn-lt"/>
              </a:rPr>
              <a:t>En resumen, aunque @import puede ser útil para la organización del código, su impacto en el rendimiento lo hace una opción poco recomendable para sitios web que buscan optimizar la velocidad de carga. La etiqueta &lt;link&gt; es el estándar de facto para enlazar hojas de estilo externas.</a:t>
            </a:r>
            <a:endParaRPr lang="es-ES" dirty="0"/>
          </a:p>
          <a:p>
            <a:endParaRPr lang="es-ES" dirty="0"/>
          </a:p>
          <a:p>
            <a:endParaRPr lang="es-ES" dirty="0"/>
          </a:p>
        </p:txBody>
      </p:sp>
    </p:spTree>
    <p:extLst>
      <p:ext uri="{BB962C8B-B14F-4D97-AF65-F5344CB8AC3E}">
        <p14:creationId xmlns:p14="http://schemas.microsoft.com/office/powerpoint/2010/main" val="40503037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A2B4EE-1A14-77D7-9C2B-1BABA3F0975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0C60D17-8329-5A95-47AE-1262AD2376FC}"/>
              </a:ext>
            </a:extLst>
          </p:cNvPr>
          <p:cNvSpPr>
            <a:spLocks noGrp="1"/>
          </p:cNvSpPr>
          <p:nvPr>
            <p:ph type="title"/>
          </p:nvPr>
        </p:nvSpPr>
        <p:spPr/>
        <p:txBody>
          <a:bodyPr/>
          <a:lstStyle/>
          <a:p>
            <a:r>
              <a:rPr lang="es-ES" b="0" dirty="0">
                <a:ea typeface="+mj-lt"/>
                <a:cs typeface="+mj-lt"/>
              </a:rPr>
              <a:t>2.1.3.5 Términos usados para describir las partes de un estilo CSS</a:t>
            </a:r>
            <a:endParaRPr lang="es-ES" dirty="0"/>
          </a:p>
        </p:txBody>
      </p:sp>
      <p:sp>
        <p:nvSpPr>
          <p:cNvPr id="3" name="Marcador de contenido 2">
            <a:extLst>
              <a:ext uri="{FF2B5EF4-FFF2-40B4-BE49-F238E27FC236}">
                <a16:creationId xmlns:a16="http://schemas.microsoft.com/office/drawing/2014/main" id="{71BCE17D-6847-00B1-2022-EB9F297A4A9D}"/>
              </a:ext>
            </a:extLst>
          </p:cNvPr>
          <p:cNvSpPr>
            <a:spLocks noGrp="1"/>
          </p:cNvSpPr>
          <p:nvPr>
            <p:ph idx="1"/>
          </p:nvPr>
        </p:nvSpPr>
        <p:spPr/>
        <p:txBody>
          <a:bodyPr vert="horz" lIns="91440" tIns="45720" rIns="91440" bIns="45720" rtlCol="0" anchor="t">
            <a:normAutofit fontScale="92500" lnSpcReduction="20000"/>
          </a:bodyPr>
          <a:lstStyle/>
          <a:p>
            <a:r>
              <a:rPr lang="es-ES" dirty="0">
                <a:ea typeface="+mn-lt"/>
                <a:cs typeface="+mn-lt"/>
              </a:rPr>
              <a:t>Para comunicarnos de manera efectiva sobre CSS, es esencial que conozcamos la terminología correcta que describe cada parte de una hoja de estilos. Entender estos términos nos ayudará a leer, escribir y depurar nuestro código de forma más precisa.</a:t>
            </a:r>
            <a:endParaRPr lang="es-ES" dirty="0"/>
          </a:p>
          <a:p>
            <a:pPr lvl="1">
              <a:buFont typeface="Courier New" panose="020B0604020202020204" pitchFamily="34" charset="0"/>
              <a:buChar char="o"/>
            </a:pPr>
            <a:r>
              <a:rPr lang="es-ES" dirty="0">
                <a:ea typeface="+mn-lt"/>
                <a:cs typeface="+mn-lt"/>
              </a:rPr>
              <a:t>Regla (Rule): Una regla es el bloque de código completo que define un estilo. Se compone de un selector y un bloque de declaración.</a:t>
            </a:r>
            <a:endParaRPr lang="es-ES" dirty="0"/>
          </a:p>
          <a:p>
            <a:pPr lvl="1">
              <a:buFont typeface="Courier New" panose="020B0604020202020204" pitchFamily="34" charset="0"/>
              <a:buChar char="o"/>
            </a:pPr>
            <a:r>
              <a:rPr lang="es-ES" dirty="0">
                <a:ea typeface="+mn-lt"/>
                <a:cs typeface="+mn-lt"/>
              </a:rPr>
              <a:t>Selector (Selector): El selector es la parte que apunta a los elementos HTML que queremos estilizar. Puede ser el nombre de una etiqueta (h1), una clase (.</a:t>
            </a:r>
            <a:r>
              <a:rPr lang="es-ES" dirty="0" err="1">
                <a:ea typeface="+mn-lt"/>
                <a:cs typeface="+mn-lt"/>
              </a:rPr>
              <a:t>btn</a:t>
            </a:r>
            <a:r>
              <a:rPr lang="es-ES" dirty="0">
                <a:ea typeface="+mn-lt"/>
                <a:cs typeface="+mn-lt"/>
              </a:rPr>
              <a:t>), un ID (#logo), etc.</a:t>
            </a:r>
            <a:endParaRPr lang="es-ES" dirty="0"/>
          </a:p>
          <a:p>
            <a:pPr lvl="1">
              <a:buFont typeface="Courier New" panose="020B0604020202020204" pitchFamily="34" charset="0"/>
              <a:buChar char="o"/>
            </a:pPr>
            <a:r>
              <a:rPr lang="es-ES" dirty="0">
                <a:ea typeface="+mn-lt"/>
                <a:cs typeface="+mn-lt"/>
              </a:rPr>
              <a:t>Bloque de Declaración (</a:t>
            </a:r>
            <a:r>
              <a:rPr lang="es-ES" dirty="0" err="1">
                <a:ea typeface="+mn-lt"/>
                <a:cs typeface="+mn-lt"/>
              </a:rPr>
              <a:t>Declaration</a:t>
            </a:r>
            <a:r>
              <a:rPr lang="es-ES" dirty="0">
                <a:ea typeface="+mn-lt"/>
                <a:cs typeface="+mn-lt"/>
              </a:rPr>
              <a:t> Block): El bloque de declaración es el conjunto de todas las declaraciones de estilo para un selector. Está delimitado por llaves ({}).</a:t>
            </a:r>
            <a:endParaRPr lang="es-ES"/>
          </a:p>
          <a:p>
            <a:pPr lvl="1">
              <a:buFont typeface="Courier New" panose="020B0604020202020204" pitchFamily="34" charset="0"/>
              <a:buChar char="o"/>
            </a:pPr>
            <a:r>
              <a:rPr lang="es-ES" dirty="0">
                <a:ea typeface="+mn-lt"/>
                <a:cs typeface="+mn-lt"/>
              </a:rPr>
              <a:t>Declaración (</a:t>
            </a:r>
            <a:r>
              <a:rPr lang="es-ES" dirty="0" err="1">
                <a:ea typeface="+mn-lt"/>
                <a:cs typeface="+mn-lt"/>
              </a:rPr>
              <a:t>Declaration</a:t>
            </a:r>
            <a:r>
              <a:rPr lang="es-ES" dirty="0">
                <a:ea typeface="+mn-lt"/>
                <a:cs typeface="+mn-lt"/>
              </a:rPr>
              <a:t>): Una declaración es una única línea de estilo dentro del bloque de declaración. Consta de una propiedad y un valor, separados por dos puntos y terminada con un punto y coma.</a:t>
            </a:r>
          </a:p>
          <a:p>
            <a:pPr lvl="1">
              <a:buFont typeface="Courier New" panose="020B0604020202020204" pitchFamily="34" charset="0"/>
              <a:buChar char="o"/>
            </a:pPr>
            <a:r>
              <a:rPr lang="es-ES" dirty="0">
                <a:ea typeface="+mn-lt"/>
                <a:cs typeface="+mn-lt"/>
              </a:rPr>
              <a:t>Propiedad (</a:t>
            </a:r>
            <a:r>
              <a:rPr lang="es-ES" dirty="0" err="1">
                <a:ea typeface="+mn-lt"/>
                <a:cs typeface="+mn-lt"/>
              </a:rPr>
              <a:t>Property</a:t>
            </a:r>
            <a:r>
              <a:rPr lang="es-ES" dirty="0">
                <a:ea typeface="+mn-lt"/>
                <a:cs typeface="+mn-lt"/>
              </a:rPr>
              <a:t>): La propiedad es el atributo visual del elemento que se quiere modificar. Ejemplos incluyen color, </a:t>
            </a:r>
            <a:r>
              <a:rPr lang="es-ES" dirty="0" err="1">
                <a:ea typeface="+mn-lt"/>
                <a:cs typeface="+mn-lt"/>
              </a:rPr>
              <a:t>font-size</a:t>
            </a:r>
            <a:r>
              <a:rPr lang="es-ES" dirty="0">
                <a:ea typeface="+mn-lt"/>
                <a:cs typeface="+mn-lt"/>
              </a:rPr>
              <a:t>, </a:t>
            </a:r>
            <a:r>
              <a:rPr lang="es-ES" dirty="0" err="1">
                <a:ea typeface="+mn-lt"/>
                <a:cs typeface="+mn-lt"/>
              </a:rPr>
              <a:t>background</a:t>
            </a:r>
            <a:r>
              <a:rPr lang="es-ES" dirty="0">
                <a:ea typeface="+mn-lt"/>
                <a:cs typeface="+mn-lt"/>
              </a:rPr>
              <a:t>-color, </a:t>
            </a:r>
            <a:r>
              <a:rPr lang="es-ES" dirty="0" err="1">
                <a:ea typeface="+mn-lt"/>
                <a:cs typeface="+mn-lt"/>
              </a:rPr>
              <a:t>border</a:t>
            </a:r>
            <a:r>
              <a:rPr lang="es-ES" dirty="0">
                <a:ea typeface="+mn-lt"/>
                <a:cs typeface="+mn-lt"/>
              </a:rPr>
              <a:t>, </a:t>
            </a:r>
            <a:r>
              <a:rPr lang="es-ES" dirty="0" err="1">
                <a:ea typeface="+mn-lt"/>
                <a:cs typeface="+mn-lt"/>
              </a:rPr>
              <a:t>margin</a:t>
            </a:r>
            <a:r>
              <a:rPr lang="es-ES" dirty="0">
                <a:ea typeface="+mn-lt"/>
                <a:cs typeface="+mn-lt"/>
              </a:rPr>
              <a:t>, etc.</a:t>
            </a:r>
          </a:p>
          <a:p>
            <a:pPr lvl="1">
              <a:buFont typeface="Courier New" panose="020B0604020202020204" pitchFamily="34" charset="0"/>
              <a:buChar char="o"/>
            </a:pPr>
            <a:r>
              <a:rPr lang="es-ES" dirty="0">
                <a:ea typeface="+mn-lt"/>
                <a:cs typeface="+mn-lt"/>
              </a:rPr>
              <a:t>Valor (</a:t>
            </a:r>
            <a:r>
              <a:rPr lang="es-ES" dirty="0" err="1">
                <a:ea typeface="+mn-lt"/>
                <a:cs typeface="+mn-lt"/>
              </a:rPr>
              <a:t>Value</a:t>
            </a:r>
            <a:r>
              <a:rPr lang="es-ES" dirty="0">
                <a:ea typeface="+mn-lt"/>
                <a:cs typeface="+mn-lt"/>
              </a:rPr>
              <a:t>): El valor es la especificación o el ajuste que se le da a la propiedad. Por ejemplo, si la propiedad es color, el valor podría ser blue. Si la propiedad es </a:t>
            </a:r>
            <a:r>
              <a:rPr lang="es-ES" dirty="0" err="1">
                <a:ea typeface="+mn-lt"/>
                <a:cs typeface="+mn-lt"/>
              </a:rPr>
              <a:t>font-size</a:t>
            </a:r>
            <a:r>
              <a:rPr lang="es-ES" dirty="0">
                <a:ea typeface="+mn-lt"/>
                <a:cs typeface="+mn-lt"/>
              </a:rPr>
              <a:t>, el valor podría ser 16px.</a:t>
            </a:r>
            <a:endParaRPr lang="es-ES"/>
          </a:p>
          <a:p>
            <a:pPr lvl="1">
              <a:buFont typeface="Courier New" panose="020B0604020202020204" pitchFamily="34" charset="0"/>
              <a:buChar char="o"/>
            </a:pPr>
            <a:endParaRPr lang="es-ES" dirty="0"/>
          </a:p>
          <a:p>
            <a:endParaRPr lang="es-ES" dirty="0"/>
          </a:p>
        </p:txBody>
      </p:sp>
    </p:spTree>
    <p:extLst>
      <p:ext uri="{BB962C8B-B14F-4D97-AF65-F5344CB8AC3E}">
        <p14:creationId xmlns:p14="http://schemas.microsoft.com/office/powerpoint/2010/main" val="3121015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D47D6D-DC44-3830-C55E-1B5A7EFD715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295929A-FA08-AA8E-BD51-A45E010E365F}"/>
              </a:ext>
            </a:extLst>
          </p:cNvPr>
          <p:cNvSpPr>
            <a:spLocks noGrp="1"/>
          </p:cNvSpPr>
          <p:nvPr>
            <p:ph type="title"/>
          </p:nvPr>
        </p:nvSpPr>
        <p:spPr/>
        <p:txBody>
          <a:bodyPr/>
          <a:lstStyle/>
          <a:p>
            <a:r>
              <a:rPr lang="es-ES" b="0" dirty="0">
                <a:ea typeface="+mj-lt"/>
                <a:cs typeface="+mj-lt"/>
              </a:rPr>
              <a:t>2.1.3.5 Términos usados para describir las partes de un estilo CSS</a:t>
            </a:r>
            <a:endParaRPr lang="es-ES" dirty="0"/>
          </a:p>
        </p:txBody>
      </p:sp>
      <p:sp>
        <p:nvSpPr>
          <p:cNvPr id="3" name="Marcador de contenido 2">
            <a:extLst>
              <a:ext uri="{FF2B5EF4-FFF2-40B4-BE49-F238E27FC236}">
                <a16:creationId xmlns:a16="http://schemas.microsoft.com/office/drawing/2014/main" id="{C6DC96F0-A83D-1A0C-72F7-459A442445AD}"/>
              </a:ext>
            </a:extLst>
          </p:cNvPr>
          <p:cNvSpPr>
            <a:spLocks noGrp="1"/>
          </p:cNvSpPr>
          <p:nvPr>
            <p:ph idx="1"/>
          </p:nvPr>
        </p:nvSpPr>
        <p:spPr/>
        <p:txBody>
          <a:bodyPr vert="horz" lIns="91440" tIns="45720" rIns="91440" bIns="45720" rtlCol="0" anchor="t">
            <a:normAutofit fontScale="92500" lnSpcReduction="20000"/>
          </a:bodyPr>
          <a:lstStyle/>
          <a:p>
            <a:r>
              <a:rPr lang="es-ES" dirty="0">
                <a:ea typeface="+mn-lt"/>
                <a:cs typeface="+mn-lt"/>
              </a:rPr>
              <a:t>Representación visual de una regla CSS. El siguiente ejemplo muestra cómo se combinan estos términos en una regla.</a:t>
            </a:r>
          </a:p>
          <a:p>
            <a:pPr marL="0" indent="0">
              <a:buNone/>
            </a:pPr>
            <a:r>
              <a:rPr lang="es-ES" b="1" dirty="0">
                <a:latin typeface="Courier New"/>
                <a:ea typeface="+mn-lt"/>
                <a:cs typeface="+mn-lt"/>
              </a:rPr>
              <a:t>/* Selector */</a:t>
            </a:r>
            <a:br>
              <a:rPr lang="es-ES" b="1" dirty="0">
                <a:latin typeface="Courier New"/>
                <a:ea typeface="+mn-lt"/>
                <a:cs typeface="+mn-lt"/>
              </a:rPr>
            </a:br>
            <a:r>
              <a:rPr lang="es-ES" b="1" dirty="0">
                <a:latin typeface="Courier New"/>
                <a:ea typeface="+mn-lt"/>
                <a:cs typeface="+mn-lt"/>
              </a:rPr>
              <a:t>.</a:t>
            </a:r>
            <a:r>
              <a:rPr lang="es-ES" b="1" dirty="0" err="1">
                <a:latin typeface="Courier New"/>
                <a:ea typeface="+mn-lt"/>
                <a:cs typeface="+mn-lt"/>
              </a:rPr>
              <a:t>card</a:t>
            </a: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 Declaración 1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background</a:t>
            </a:r>
            <a:r>
              <a:rPr lang="es-ES" b="1" dirty="0">
                <a:latin typeface="Courier New"/>
                <a:ea typeface="+mn-lt"/>
                <a:cs typeface="+mn-lt"/>
              </a:rPr>
              <a:t>-color: #f8f9fa; /* &lt;-- Propiedad y Valor */</a:t>
            </a:r>
            <a:br>
              <a:rPr lang="es-ES" b="1" dirty="0">
                <a:latin typeface="Courier New"/>
                <a:ea typeface="+mn-lt"/>
                <a:cs typeface="+mn-lt"/>
              </a:rPr>
            </a:br>
            <a:r>
              <a:rPr lang="es-ES" b="1" dirty="0">
                <a:latin typeface="Courier New"/>
                <a:ea typeface="+mn-lt"/>
                <a:cs typeface="+mn-lt"/>
              </a:rPr>
              <a:t>  /* Declaración 2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border</a:t>
            </a:r>
            <a:r>
              <a:rPr lang="es-ES" b="1" dirty="0">
                <a:latin typeface="Courier New"/>
                <a:ea typeface="+mn-lt"/>
                <a:cs typeface="+mn-lt"/>
              </a:rPr>
              <a:t>: 1px </a:t>
            </a:r>
            <a:r>
              <a:rPr lang="es-ES" b="1" dirty="0" err="1">
                <a:latin typeface="Courier New"/>
                <a:ea typeface="+mn-lt"/>
                <a:cs typeface="+mn-lt"/>
              </a:rPr>
              <a:t>solid</a:t>
            </a:r>
            <a:r>
              <a:rPr lang="es-ES" b="1" dirty="0">
                <a:latin typeface="Courier New"/>
                <a:ea typeface="+mn-lt"/>
                <a:cs typeface="+mn-lt"/>
              </a:rPr>
              <a:t> #ddd;</a:t>
            </a:r>
            <a:br>
              <a:rPr lang="es-ES" b="1" dirty="0">
                <a:latin typeface="Courier New"/>
                <a:ea typeface="+mn-lt"/>
                <a:cs typeface="+mn-lt"/>
              </a:rPr>
            </a:br>
            <a:r>
              <a:rPr lang="es-ES" b="1" dirty="0">
                <a:latin typeface="Courier New"/>
                <a:ea typeface="+mn-lt"/>
                <a:cs typeface="+mn-lt"/>
              </a:rPr>
              <a:t>  /* Declaración 3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padding</a:t>
            </a:r>
            <a:r>
              <a:rPr lang="es-ES" b="1" dirty="0">
                <a:latin typeface="Courier New"/>
                <a:ea typeface="+mn-lt"/>
                <a:cs typeface="+mn-lt"/>
              </a:rPr>
              <a:t>: 1rem;</a:t>
            </a:r>
            <a:br>
              <a:rPr lang="es-ES" b="1" dirty="0">
                <a:latin typeface="Courier New"/>
                <a:ea typeface="+mn-lt"/>
                <a:cs typeface="+mn-lt"/>
              </a:rPr>
            </a:br>
            <a:r>
              <a:rPr lang="es-ES" b="1" dirty="0">
                <a:latin typeface="Courier New"/>
                <a:ea typeface="+mn-lt"/>
                <a:cs typeface="+mn-lt"/>
              </a:rPr>
              <a:t>} /* Bloque de Declaración */</a:t>
            </a:r>
            <a:endParaRPr lang="es-ES" b="1" dirty="0">
              <a:latin typeface="Courier New"/>
              <a:cs typeface="Courier New"/>
            </a:endParaRPr>
          </a:p>
          <a:p>
            <a:r>
              <a:rPr lang="es-ES" dirty="0">
                <a:ea typeface="+mn-lt"/>
                <a:cs typeface="+mn-lt"/>
              </a:rPr>
              <a:t>En este ejemplo, .</a:t>
            </a:r>
            <a:r>
              <a:rPr lang="es-ES" dirty="0" err="1">
                <a:ea typeface="+mn-lt"/>
                <a:cs typeface="+mn-lt"/>
              </a:rPr>
              <a:t>card</a:t>
            </a:r>
            <a:r>
              <a:rPr lang="es-ES" dirty="0">
                <a:ea typeface="+mn-lt"/>
                <a:cs typeface="+mn-lt"/>
              </a:rPr>
              <a:t> { ... } es la regla. El selector es .</a:t>
            </a:r>
            <a:r>
              <a:rPr lang="es-ES" dirty="0" err="1">
                <a:ea typeface="+mn-lt"/>
                <a:cs typeface="+mn-lt"/>
              </a:rPr>
              <a:t>card</a:t>
            </a:r>
            <a:r>
              <a:rPr lang="es-ES" dirty="0">
                <a:ea typeface="+mn-lt"/>
                <a:cs typeface="+mn-lt"/>
              </a:rPr>
              <a:t>. El código entre las llaves es el bloque de declaración. Dentro de él, cada línea como </a:t>
            </a:r>
            <a:r>
              <a:rPr lang="es-ES" dirty="0" err="1">
                <a:ea typeface="+mn-lt"/>
                <a:cs typeface="+mn-lt"/>
              </a:rPr>
              <a:t>background</a:t>
            </a:r>
            <a:r>
              <a:rPr lang="es-ES" dirty="0">
                <a:ea typeface="+mn-lt"/>
                <a:cs typeface="+mn-lt"/>
              </a:rPr>
              <a:t>-color: #f8f9fa; es una declaración, donde </a:t>
            </a:r>
            <a:r>
              <a:rPr lang="es-ES" dirty="0" err="1">
                <a:ea typeface="+mn-lt"/>
                <a:cs typeface="+mn-lt"/>
              </a:rPr>
              <a:t>background</a:t>
            </a:r>
            <a:r>
              <a:rPr lang="es-ES" dirty="0">
                <a:ea typeface="+mn-lt"/>
                <a:cs typeface="+mn-lt"/>
              </a:rPr>
              <a:t>-color es la propiedad y #f8f9fa es el valor.</a:t>
            </a:r>
          </a:p>
          <a:p>
            <a:endParaRPr lang="es-ES" dirty="0"/>
          </a:p>
        </p:txBody>
      </p:sp>
    </p:spTree>
    <p:extLst>
      <p:ext uri="{BB962C8B-B14F-4D97-AF65-F5344CB8AC3E}">
        <p14:creationId xmlns:p14="http://schemas.microsoft.com/office/powerpoint/2010/main" val="35327766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6D3B53-2005-DF90-C461-7105869E935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BA9E605-C739-BCF2-8384-5B677B23C312}"/>
              </a:ext>
            </a:extLst>
          </p:cNvPr>
          <p:cNvSpPr>
            <a:spLocks noGrp="1"/>
          </p:cNvSpPr>
          <p:nvPr>
            <p:ph type="title"/>
          </p:nvPr>
        </p:nvSpPr>
        <p:spPr/>
        <p:txBody>
          <a:bodyPr/>
          <a:lstStyle/>
          <a:p>
            <a:r>
              <a:rPr lang="es-ES" b="0" dirty="0">
                <a:ea typeface="+mj-lt"/>
                <a:cs typeface="+mj-lt"/>
              </a:rPr>
              <a:t>2.1.4. La cascada, la especificidad y la herencia de estilos.</a:t>
            </a:r>
            <a:endParaRPr lang="es-ES" dirty="0"/>
          </a:p>
        </p:txBody>
      </p:sp>
      <p:sp>
        <p:nvSpPr>
          <p:cNvPr id="3" name="Marcador de contenido 2">
            <a:extLst>
              <a:ext uri="{FF2B5EF4-FFF2-40B4-BE49-F238E27FC236}">
                <a16:creationId xmlns:a16="http://schemas.microsoft.com/office/drawing/2014/main" id="{AFF739BD-35FD-9FEF-728C-EF8D0B8F1068}"/>
              </a:ext>
            </a:extLst>
          </p:cNvPr>
          <p:cNvSpPr>
            <a:spLocks noGrp="1"/>
          </p:cNvSpPr>
          <p:nvPr>
            <p:ph idx="1"/>
          </p:nvPr>
        </p:nvSpPr>
        <p:spPr/>
        <p:txBody>
          <a:bodyPr vert="horz" lIns="91440" tIns="45720" rIns="91440" bIns="45720" rtlCol="0" anchor="t">
            <a:normAutofit fontScale="92500" lnSpcReduction="10000"/>
          </a:bodyPr>
          <a:lstStyle/>
          <a:p>
            <a:r>
              <a:rPr lang="es-ES" dirty="0">
                <a:ea typeface="+mn-lt"/>
                <a:cs typeface="+mn-lt"/>
              </a:rPr>
              <a:t>Estos tres principios son la base de cómo CSS decide qué estilos aplicar a un elemento, especialmente cuando hay múltiples reglas en conflicto. Entenderlos es crucial para escribir código predecible y evitar sorpresas en el diseño.</a:t>
            </a:r>
            <a:endParaRPr lang="es-ES" dirty="0"/>
          </a:p>
          <a:p>
            <a:r>
              <a:rPr lang="es-ES" dirty="0">
                <a:ea typeface="+mn-lt"/>
                <a:cs typeface="+mn-lt"/>
              </a:rPr>
              <a:t>La Cascada (Cascade) es el mecanismo que determina qué estilos prevalecen cuando se aplican varias reglas a un mismo elemento. Imagina que el navegador va "cascada abajo" aplicando estilos en un orden de prioridad. La regla que se encuentre más abajo en esta cascada y tenga la mayor prioridad será la que se aplique.</a:t>
            </a:r>
            <a:endParaRPr lang="es-ES" dirty="0"/>
          </a:p>
          <a:p>
            <a:r>
              <a:rPr lang="es-ES" dirty="0">
                <a:ea typeface="+mn-lt"/>
                <a:cs typeface="+mn-lt"/>
              </a:rPr>
              <a:t>El orden de prioridad de la cascada es el siguiente (del más alto al más bajo):</a:t>
            </a:r>
            <a:endParaRPr lang="es-ES" dirty="0"/>
          </a:p>
          <a:p>
            <a:pPr lvl="1">
              <a:buFont typeface="Courier New" panose="020B0604020202020204" pitchFamily="34" charset="0"/>
              <a:buChar char="o"/>
            </a:pPr>
            <a:r>
              <a:rPr lang="es-ES" dirty="0">
                <a:ea typeface="+mn-lt"/>
                <a:cs typeface="+mn-lt"/>
              </a:rPr>
              <a:t>Estilos del autor con !</a:t>
            </a:r>
            <a:r>
              <a:rPr lang="es-ES" dirty="0" err="1">
                <a:ea typeface="+mn-lt"/>
                <a:cs typeface="+mn-lt"/>
              </a:rPr>
              <a:t>important</a:t>
            </a:r>
            <a:r>
              <a:rPr lang="es-ES" dirty="0">
                <a:ea typeface="+mn-lt"/>
                <a:cs typeface="+mn-lt"/>
              </a:rPr>
              <a:t>: El valor !</a:t>
            </a:r>
            <a:r>
              <a:rPr lang="es-ES" dirty="0" err="1">
                <a:ea typeface="+mn-lt"/>
                <a:cs typeface="+mn-lt"/>
              </a:rPr>
              <a:t>important</a:t>
            </a:r>
            <a:r>
              <a:rPr lang="es-ES" dirty="0">
                <a:ea typeface="+mn-lt"/>
                <a:cs typeface="+mn-lt"/>
              </a:rPr>
              <a:t> anula a todos los demás, por lo que su uso debe ser muy limitado para evitar problemas de mantenimiento.</a:t>
            </a:r>
            <a:endParaRPr lang="es-ES" dirty="0"/>
          </a:p>
          <a:p>
            <a:pPr lvl="1">
              <a:buFont typeface="Courier New" panose="020B0604020202020204" pitchFamily="34" charset="0"/>
              <a:buChar char="o"/>
            </a:pPr>
            <a:r>
              <a:rPr lang="es-ES" dirty="0">
                <a:ea typeface="+mn-lt"/>
                <a:cs typeface="+mn-lt"/>
              </a:rPr>
              <a:t>Estilos en línea (</a:t>
            </a:r>
            <a:r>
              <a:rPr lang="es-ES" dirty="0" err="1">
                <a:ea typeface="+mn-lt"/>
                <a:cs typeface="+mn-lt"/>
              </a:rPr>
              <a:t>Inline</a:t>
            </a:r>
            <a:r>
              <a:rPr lang="es-ES" dirty="0">
                <a:ea typeface="+mn-lt"/>
                <a:cs typeface="+mn-lt"/>
              </a:rPr>
              <a:t>): Los estilos aplicados directamente en el atributo </a:t>
            </a:r>
            <a:r>
              <a:rPr lang="es-ES" dirty="0" err="1">
                <a:ea typeface="+mn-lt"/>
                <a:cs typeface="+mn-lt"/>
              </a:rPr>
              <a:t>style</a:t>
            </a:r>
            <a:r>
              <a:rPr lang="es-ES" dirty="0">
                <a:ea typeface="+mn-lt"/>
                <a:cs typeface="+mn-lt"/>
              </a:rPr>
              <a:t> de un elemento HTML.</a:t>
            </a:r>
            <a:endParaRPr lang="es-ES" dirty="0"/>
          </a:p>
          <a:p>
            <a:pPr lvl="1">
              <a:buFont typeface="Courier New" panose="020B0604020202020204" pitchFamily="34" charset="0"/>
              <a:buChar char="o"/>
            </a:pPr>
            <a:r>
              <a:rPr lang="es-ES" dirty="0">
                <a:ea typeface="+mn-lt"/>
                <a:cs typeface="+mn-lt"/>
              </a:rPr>
              <a:t>Estilos del autor: Las reglas que tú escribes en tu hoja de estilos.</a:t>
            </a:r>
            <a:endParaRPr lang="es-ES"/>
          </a:p>
          <a:p>
            <a:pPr lvl="1">
              <a:buFont typeface="Courier New" panose="020B0604020202020204" pitchFamily="34" charset="0"/>
              <a:buChar char="o"/>
            </a:pPr>
            <a:r>
              <a:rPr lang="es-ES" dirty="0">
                <a:ea typeface="+mn-lt"/>
                <a:cs typeface="+mn-lt"/>
              </a:rPr>
              <a:t>Estilos del navegador: Los estilos por defecto que tiene cada navegador para las etiquetas HTML.</a:t>
            </a:r>
            <a:endParaRPr lang="es-ES" dirty="0"/>
          </a:p>
        </p:txBody>
      </p:sp>
    </p:spTree>
    <p:extLst>
      <p:ext uri="{BB962C8B-B14F-4D97-AF65-F5344CB8AC3E}">
        <p14:creationId xmlns:p14="http://schemas.microsoft.com/office/powerpoint/2010/main" val="10689543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F9A483-D750-FE77-C03C-77D0E00EFE8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757B481-14A4-EE62-66F4-F6643E73D2DF}"/>
              </a:ext>
            </a:extLst>
          </p:cNvPr>
          <p:cNvSpPr>
            <a:spLocks noGrp="1"/>
          </p:cNvSpPr>
          <p:nvPr>
            <p:ph type="title"/>
          </p:nvPr>
        </p:nvSpPr>
        <p:spPr/>
        <p:txBody>
          <a:bodyPr/>
          <a:lstStyle/>
          <a:p>
            <a:r>
              <a:rPr lang="es-ES" b="0" dirty="0">
                <a:ea typeface="+mj-lt"/>
                <a:cs typeface="+mj-lt"/>
              </a:rPr>
              <a:t>2.1.4. La cascada, la especificidad y la herencia de estilos.</a:t>
            </a:r>
            <a:endParaRPr lang="es-ES" dirty="0"/>
          </a:p>
        </p:txBody>
      </p:sp>
      <p:sp>
        <p:nvSpPr>
          <p:cNvPr id="3" name="Marcador de contenido 2">
            <a:extLst>
              <a:ext uri="{FF2B5EF4-FFF2-40B4-BE49-F238E27FC236}">
                <a16:creationId xmlns:a16="http://schemas.microsoft.com/office/drawing/2014/main" id="{572E4C8F-26DC-DE54-284B-A67D1B338C8C}"/>
              </a:ext>
            </a:extLst>
          </p:cNvPr>
          <p:cNvSpPr>
            <a:spLocks noGrp="1"/>
          </p:cNvSpPr>
          <p:nvPr>
            <p:ph idx="1"/>
          </p:nvPr>
        </p:nvSpPr>
        <p:spPr/>
        <p:txBody>
          <a:bodyPr vert="horz" lIns="91440" tIns="45720" rIns="91440" bIns="45720" rtlCol="0" anchor="t">
            <a:normAutofit fontScale="70000" lnSpcReduction="20000"/>
          </a:bodyPr>
          <a:lstStyle/>
          <a:p>
            <a:r>
              <a:rPr lang="es-ES" dirty="0">
                <a:ea typeface="+mn-lt"/>
                <a:cs typeface="+mn-lt"/>
              </a:rPr>
              <a:t>La Especificidad (</a:t>
            </a:r>
            <a:r>
              <a:rPr lang="es-ES" dirty="0" err="1">
                <a:ea typeface="+mn-lt"/>
                <a:cs typeface="+mn-lt"/>
              </a:rPr>
              <a:t>Specificity</a:t>
            </a:r>
            <a:r>
              <a:rPr lang="es-ES" dirty="0">
                <a:ea typeface="+mn-lt"/>
                <a:cs typeface="+mn-lt"/>
              </a:rPr>
              <a:t>) es un peso o puntuación que un navegador le asigna a cada selector para determinar qué regla es la más relevante. Si dos selectores apuntan al mismo elemento, el que tenga mayor especificidad ganará. La puntuación se calcula sumando el "peso" de cada parte del selector:</a:t>
            </a:r>
            <a:endParaRPr lang="es-ES" dirty="0"/>
          </a:p>
          <a:p>
            <a:pPr lvl="1">
              <a:buFont typeface="Courier New" panose="020B0604020202020204" pitchFamily="34" charset="0"/>
              <a:buChar char="o"/>
            </a:pPr>
            <a:r>
              <a:rPr lang="es-ES" dirty="0">
                <a:ea typeface="+mn-lt"/>
                <a:cs typeface="+mn-lt"/>
              </a:rPr>
              <a:t>ID: 100 puntos. (</a:t>
            </a:r>
            <a:r>
              <a:rPr lang="es-ES" dirty="0" err="1">
                <a:ea typeface="+mn-lt"/>
                <a:cs typeface="+mn-lt"/>
              </a:rPr>
              <a:t>Ej</a:t>
            </a:r>
            <a:r>
              <a:rPr lang="es-ES" dirty="0">
                <a:ea typeface="+mn-lt"/>
                <a:cs typeface="+mn-lt"/>
              </a:rPr>
              <a:t>: #logo)</a:t>
            </a:r>
            <a:endParaRPr lang="es-ES" dirty="0"/>
          </a:p>
          <a:p>
            <a:pPr lvl="1">
              <a:buFont typeface="Courier New" panose="020B0604020202020204" pitchFamily="34" charset="0"/>
              <a:buChar char="o"/>
            </a:pPr>
            <a:r>
              <a:rPr lang="es-ES" dirty="0">
                <a:ea typeface="+mn-lt"/>
                <a:cs typeface="+mn-lt"/>
              </a:rPr>
              <a:t>Clases, atributos y </a:t>
            </a:r>
            <a:r>
              <a:rPr lang="es-ES" dirty="0" err="1">
                <a:ea typeface="+mn-lt"/>
                <a:cs typeface="+mn-lt"/>
              </a:rPr>
              <a:t>pseudo-clases</a:t>
            </a:r>
            <a:r>
              <a:rPr lang="es-ES" dirty="0">
                <a:ea typeface="+mn-lt"/>
                <a:cs typeface="+mn-lt"/>
              </a:rPr>
              <a:t>: 10 puntos. (</a:t>
            </a:r>
            <a:r>
              <a:rPr lang="es-ES" dirty="0" err="1">
                <a:ea typeface="+mn-lt"/>
                <a:cs typeface="+mn-lt"/>
              </a:rPr>
              <a:t>Ej</a:t>
            </a:r>
            <a:r>
              <a:rPr lang="es-ES" dirty="0">
                <a:ea typeface="+mn-lt"/>
                <a:cs typeface="+mn-lt"/>
              </a:rPr>
              <a:t>: .</a:t>
            </a:r>
            <a:r>
              <a:rPr lang="es-ES" dirty="0" err="1">
                <a:ea typeface="+mn-lt"/>
                <a:cs typeface="+mn-lt"/>
              </a:rPr>
              <a:t>nav-item</a:t>
            </a:r>
            <a:r>
              <a:rPr lang="es-ES" dirty="0">
                <a:ea typeface="+mn-lt"/>
                <a:cs typeface="+mn-lt"/>
              </a:rPr>
              <a:t>, [</a:t>
            </a:r>
            <a:r>
              <a:rPr lang="es-ES" dirty="0" err="1">
                <a:ea typeface="+mn-lt"/>
                <a:cs typeface="+mn-lt"/>
              </a:rPr>
              <a:t>href</a:t>
            </a:r>
            <a:r>
              <a:rPr lang="es-ES" dirty="0">
                <a:ea typeface="+mn-lt"/>
                <a:cs typeface="+mn-lt"/>
              </a:rPr>
              <a:t>], :</a:t>
            </a:r>
            <a:r>
              <a:rPr lang="es-ES" dirty="0" err="1">
                <a:ea typeface="+mn-lt"/>
                <a:cs typeface="+mn-lt"/>
              </a:rPr>
              <a:t>hover</a:t>
            </a:r>
            <a:r>
              <a:rPr lang="es-ES" dirty="0">
                <a:ea typeface="+mn-lt"/>
                <a:cs typeface="+mn-lt"/>
              </a:rPr>
              <a:t>)</a:t>
            </a:r>
            <a:endParaRPr lang="es-ES" dirty="0"/>
          </a:p>
          <a:p>
            <a:pPr lvl="1">
              <a:buFont typeface="Courier New" panose="020B0604020202020204" pitchFamily="34" charset="0"/>
              <a:buChar char="o"/>
            </a:pPr>
            <a:r>
              <a:rPr lang="es-ES" dirty="0">
                <a:ea typeface="+mn-lt"/>
                <a:cs typeface="+mn-lt"/>
              </a:rPr>
              <a:t>Elementos y </a:t>
            </a:r>
            <a:r>
              <a:rPr lang="es-ES" dirty="0" err="1">
                <a:ea typeface="+mn-lt"/>
                <a:cs typeface="+mn-lt"/>
              </a:rPr>
              <a:t>pseudo-elementos</a:t>
            </a:r>
            <a:r>
              <a:rPr lang="es-ES" dirty="0">
                <a:ea typeface="+mn-lt"/>
                <a:cs typeface="+mn-lt"/>
              </a:rPr>
              <a:t>: 1 punto. (</a:t>
            </a:r>
            <a:r>
              <a:rPr lang="es-ES" dirty="0" err="1">
                <a:ea typeface="+mn-lt"/>
                <a:cs typeface="+mn-lt"/>
              </a:rPr>
              <a:t>Ej</a:t>
            </a:r>
            <a:r>
              <a:rPr lang="es-ES" dirty="0">
                <a:ea typeface="+mn-lt"/>
                <a:cs typeface="+mn-lt"/>
              </a:rPr>
              <a:t>: p, ::</a:t>
            </a:r>
            <a:r>
              <a:rPr lang="es-ES" dirty="0" err="1">
                <a:ea typeface="+mn-lt"/>
                <a:cs typeface="+mn-lt"/>
              </a:rPr>
              <a:t>before</a:t>
            </a:r>
            <a:r>
              <a:rPr lang="es-ES" dirty="0">
                <a:ea typeface="+mn-lt"/>
                <a:cs typeface="+mn-lt"/>
              </a:rPr>
              <a:t>)</a:t>
            </a:r>
            <a:endParaRPr lang="es-ES" dirty="0"/>
          </a:p>
          <a:p>
            <a:pPr lvl="1">
              <a:buFont typeface="Courier New" panose="020B0604020202020204" pitchFamily="34" charset="0"/>
              <a:buChar char="o"/>
            </a:pPr>
            <a:r>
              <a:rPr lang="es-ES" dirty="0">
                <a:ea typeface="+mn-lt"/>
                <a:cs typeface="+mn-lt"/>
              </a:rPr>
              <a:t>Selector universal (*): 0 puntos.</a:t>
            </a:r>
            <a:endParaRPr lang="es-ES" dirty="0"/>
          </a:p>
          <a:p>
            <a:r>
              <a:rPr lang="es-ES" dirty="0">
                <a:ea typeface="+mn-lt"/>
                <a:cs typeface="+mn-lt"/>
              </a:rPr>
              <a:t>Ejemplo: Considera el siguiente código HTML y CSS:</a:t>
            </a:r>
            <a:endParaRPr lang="es-ES" dirty="0"/>
          </a:p>
          <a:p>
            <a:pPr marL="0" indent="0">
              <a:buNone/>
            </a:pPr>
            <a:r>
              <a:rPr lang="es-ES" b="1" dirty="0">
                <a:latin typeface="Courier New"/>
                <a:ea typeface="+mn-lt"/>
                <a:cs typeface="+mn-lt"/>
              </a:rPr>
              <a:t>&lt;p </a:t>
            </a:r>
            <a:r>
              <a:rPr lang="es-ES" b="1" dirty="0" err="1">
                <a:latin typeface="Courier New"/>
                <a:ea typeface="+mn-lt"/>
                <a:cs typeface="+mn-lt"/>
              </a:rPr>
              <a:t>class</a:t>
            </a:r>
            <a:r>
              <a:rPr lang="es-ES" b="1" dirty="0">
                <a:latin typeface="Courier New"/>
                <a:ea typeface="+mn-lt"/>
                <a:cs typeface="+mn-lt"/>
              </a:rPr>
              <a:t>="resaltado"&gt;Este es un párrafo importante.&lt;/p&gt;</a:t>
            </a:r>
            <a:br>
              <a:rPr lang="es-ES" b="1" dirty="0">
                <a:latin typeface="Courier New"/>
                <a:ea typeface="+mn-lt"/>
                <a:cs typeface="+mn-lt"/>
              </a:rPr>
            </a:br>
            <a:r>
              <a:rPr lang="es-ES" b="1" dirty="0">
                <a:latin typeface="Courier New"/>
                <a:ea typeface="+mn-lt"/>
                <a:cs typeface="+mn-lt"/>
              </a:rPr>
              <a:t>p {</a:t>
            </a:r>
            <a:br>
              <a:rPr lang="es-ES" b="1" dirty="0">
                <a:latin typeface="Courier New"/>
                <a:ea typeface="+mn-lt"/>
                <a:cs typeface="+mn-lt"/>
              </a:rPr>
            </a:br>
            <a:r>
              <a:rPr lang="es-ES" b="1" dirty="0">
                <a:latin typeface="Courier New"/>
                <a:ea typeface="+mn-lt"/>
                <a:cs typeface="+mn-lt"/>
              </a:rPr>
              <a:t>  color: blue; /* Especificidad: 1 punto (elemento) */</a:t>
            </a:r>
            <a:br>
              <a:rPr lang="es-ES" b="1" dirty="0">
                <a:latin typeface="Courier New"/>
                <a:ea typeface="+mn-lt"/>
                <a:cs typeface="+mn-lt"/>
              </a:rPr>
            </a:b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.resaltado {</a:t>
            </a:r>
            <a:br>
              <a:rPr lang="es-ES" b="1" dirty="0">
                <a:latin typeface="Courier New"/>
                <a:ea typeface="+mn-lt"/>
                <a:cs typeface="+mn-lt"/>
              </a:rPr>
            </a:br>
            <a:r>
              <a:rPr lang="es-ES" b="1" dirty="0">
                <a:latin typeface="Courier New"/>
                <a:ea typeface="+mn-lt"/>
                <a:cs typeface="+mn-lt"/>
              </a:rPr>
              <a:t>  color: </a:t>
            </a:r>
            <a:r>
              <a:rPr lang="es-ES" b="1" dirty="0" err="1">
                <a:latin typeface="Courier New"/>
                <a:ea typeface="+mn-lt"/>
                <a:cs typeface="+mn-lt"/>
              </a:rPr>
              <a:t>green</a:t>
            </a:r>
            <a:r>
              <a:rPr lang="es-ES" b="1" dirty="0">
                <a:latin typeface="Courier New"/>
                <a:ea typeface="+mn-lt"/>
                <a:cs typeface="+mn-lt"/>
              </a:rPr>
              <a:t>; /* Especificidad: 10 puntos (clase) */</a:t>
            </a:r>
            <a:br>
              <a:rPr lang="es-ES" b="1" dirty="0">
                <a:latin typeface="Courier New"/>
                <a:ea typeface="+mn-lt"/>
                <a:cs typeface="+mn-lt"/>
              </a:rPr>
            </a:br>
            <a:r>
              <a:rPr lang="es-ES" b="1" dirty="0">
                <a:latin typeface="Courier New"/>
                <a:ea typeface="+mn-lt"/>
                <a:cs typeface="+mn-lt"/>
              </a:rPr>
              <a:t>}</a:t>
            </a:r>
            <a:endParaRPr lang="es-ES" b="1" dirty="0">
              <a:latin typeface="Courier New"/>
              <a:cs typeface="Courier New"/>
            </a:endParaRPr>
          </a:p>
          <a:p>
            <a:r>
              <a:rPr lang="es-ES" dirty="0">
                <a:ea typeface="+mn-lt"/>
                <a:cs typeface="+mn-lt"/>
              </a:rPr>
              <a:t>En este caso, el párrafo se verá de color verde, ya que el selector de clase .resaltado tiene una especificidad más alta (10 puntos) que el selector de elemento p (1 punto).</a:t>
            </a:r>
            <a:endParaRPr lang="es-ES" dirty="0"/>
          </a:p>
        </p:txBody>
      </p:sp>
    </p:spTree>
    <p:extLst>
      <p:ext uri="{BB962C8B-B14F-4D97-AF65-F5344CB8AC3E}">
        <p14:creationId xmlns:p14="http://schemas.microsoft.com/office/powerpoint/2010/main" val="1382577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277133-0520-FCD0-5405-A35D91E14F0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CC0DCCA-45FB-3641-F1DC-A9BD5939A22D}"/>
              </a:ext>
            </a:extLst>
          </p:cNvPr>
          <p:cNvSpPr>
            <a:spLocks noGrp="1"/>
          </p:cNvSpPr>
          <p:nvPr>
            <p:ph type="title"/>
          </p:nvPr>
        </p:nvSpPr>
        <p:spPr/>
        <p:txBody>
          <a:bodyPr/>
          <a:lstStyle/>
          <a:p>
            <a:r>
              <a:rPr lang="es-ES" b="0" dirty="0">
                <a:ea typeface="+mj-lt"/>
                <a:cs typeface="+mj-lt"/>
              </a:rPr>
              <a:t>2.1.4. La cascada, la especificidad y la herencia de estilos.</a:t>
            </a:r>
            <a:endParaRPr lang="es-ES" dirty="0"/>
          </a:p>
        </p:txBody>
      </p:sp>
      <p:sp>
        <p:nvSpPr>
          <p:cNvPr id="3" name="Marcador de contenido 2">
            <a:extLst>
              <a:ext uri="{FF2B5EF4-FFF2-40B4-BE49-F238E27FC236}">
                <a16:creationId xmlns:a16="http://schemas.microsoft.com/office/drawing/2014/main" id="{CF6D61BB-48E3-0E07-C6EE-B3A23EE9AD19}"/>
              </a:ext>
            </a:extLst>
          </p:cNvPr>
          <p:cNvSpPr>
            <a:spLocks noGrp="1"/>
          </p:cNvSpPr>
          <p:nvPr>
            <p:ph idx="1"/>
          </p:nvPr>
        </p:nvSpPr>
        <p:spPr/>
        <p:txBody>
          <a:bodyPr vert="horz" lIns="91440" tIns="45720" rIns="91440" bIns="45720" rtlCol="0" anchor="t">
            <a:normAutofit fontScale="85000" lnSpcReduction="20000"/>
          </a:bodyPr>
          <a:lstStyle/>
          <a:p>
            <a:r>
              <a:rPr lang="es-ES" dirty="0">
                <a:ea typeface="+mn-lt"/>
                <a:cs typeface="+mn-lt"/>
              </a:rPr>
              <a:t>La Herencia (</a:t>
            </a:r>
            <a:r>
              <a:rPr lang="es-ES" dirty="0" err="1">
                <a:ea typeface="+mn-lt"/>
                <a:cs typeface="+mn-lt"/>
              </a:rPr>
              <a:t>Inheritance</a:t>
            </a:r>
            <a:r>
              <a:rPr lang="es-ES" dirty="0">
                <a:ea typeface="+mn-lt"/>
                <a:cs typeface="+mn-lt"/>
              </a:rPr>
              <a:t>) es el principio por el cual algunas propiedades CSS, si no se definen explícitamente para un elemento, son heredadas de su elemento padre.</a:t>
            </a:r>
          </a:p>
          <a:p>
            <a:r>
              <a:rPr lang="es-ES" dirty="0">
                <a:ea typeface="+mn-lt"/>
                <a:cs typeface="+mn-lt"/>
              </a:rPr>
              <a:t>Ejemplo:</a:t>
            </a:r>
          </a:p>
          <a:p>
            <a:pPr marL="0" indent="0">
              <a:buNone/>
            </a:pPr>
            <a:r>
              <a:rPr lang="es-ES" b="1" dirty="0">
                <a:latin typeface="Courier New"/>
                <a:ea typeface="+mn-lt"/>
                <a:cs typeface="+mn-lt"/>
              </a:rPr>
              <a:t>&lt;</a:t>
            </a:r>
            <a:r>
              <a:rPr lang="es-ES" b="1" dirty="0" err="1">
                <a:latin typeface="Courier New"/>
                <a:ea typeface="+mn-lt"/>
                <a:cs typeface="+mn-lt"/>
              </a:rPr>
              <a:t>div</a:t>
            </a:r>
            <a:r>
              <a:rPr lang="es-ES" b="1" dirty="0">
                <a:latin typeface="Courier New"/>
                <a:ea typeface="+mn-lt"/>
                <a:cs typeface="+mn-lt"/>
              </a:rPr>
              <a:t> </a:t>
            </a:r>
            <a:r>
              <a:rPr lang="es-ES" b="1" dirty="0" err="1">
                <a:latin typeface="Courier New"/>
                <a:ea typeface="+mn-lt"/>
                <a:cs typeface="+mn-lt"/>
              </a:rPr>
              <a:t>class</a:t>
            </a:r>
            <a:r>
              <a:rPr lang="es-ES" b="1" dirty="0">
                <a:latin typeface="Courier New"/>
                <a:ea typeface="+mn-lt"/>
                <a:cs typeface="+mn-lt"/>
              </a:rPr>
              <a:t>="contenedor"&gt;</a:t>
            </a:r>
            <a:br>
              <a:rPr lang="es-ES" b="1" dirty="0">
                <a:latin typeface="Courier New"/>
                <a:ea typeface="+mn-lt"/>
                <a:cs typeface="+mn-lt"/>
              </a:rPr>
            </a:br>
            <a:r>
              <a:rPr lang="es-ES" b="1" dirty="0">
                <a:latin typeface="Courier New"/>
                <a:ea typeface="+mn-lt"/>
                <a:cs typeface="+mn-lt"/>
              </a:rPr>
              <a:t>  &lt;p&gt;Este texto hereda el color del padre.&lt;/p&gt;</a:t>
            </a:r>
            <a:br>
              <a:rPr lang="es-ES" b="1" dirty="0">
                <a:latin typeface="Courier New"/>
                <a:ea typeface="+mn-lt"/>
                <a:cs typeface="+mn-lt"/>
              </a:rPr>
            </a:br>
            <a:r>
              <a:rPr lang="es-ES" b="1" dirty="0">
                <a:latin typeface="Courier New"/>
                <a:ea typeface="+mn-lt"/>
                <a:cs typeface="+mn-lt"/>
              </a:rPr>
              <a:t>&lt;/</a:t>
            </a:r>
            <a:r>
              <a:rPr lang="es-ES" b="1" dirty="0" err="1">
                <a:latin typeface="Courier New"/>
                <a:ea typeface="+mn-lt"/>
                <a:cs typeface="+mn-lt"/>
              </a:rPr>
              <a:t>div</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.contenedor {</a:t>
            </a:r>
            <a:br>
              <a:rPr lang="es-ES" b="1" dirty="0">
                <a:latin typeface="Courier New"/>
                <a:ea typeface="+mn-lt"/>
                <a:cs typeface="+mn-lt"/>
              </a:rPr>
            </a:br>
            <a:r>
              <a:rPr lang="es-ES" b="1" dirty="0">
                <a:latin typeface="Courier New"/>
                <a:ea typeface="+mn-lt"/>
                <a:cs typeface="+mn-lt"/>
              </a:rPr>
              <a:t>  color: #333;</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font-family</a:t>
            </a:r>
            <a:r>
              <a:rPr lang="es-ES" b="1" dirty="0">
                <a:latin typeface="Courier New"/>
                <a:ea typeface="+mn-lt"/>
                <a:cs typeface="+mn-lt"/>
              </a:rPr>
              <a:t>: Arial, </a:t>
            </a:r>
            <a:r>
              <a:rPr lang="es-ES" b="1" dirty="0" err="1">
                <a:latin typeface="Courier New"/>
                <a:ea typeface="+mn-lt"/>
                <a:cs typeface="+mn-lt"/>
              </a:rPr>
              <a:t>sans-serif</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border</a:t>
            </a:r>
            <a:r>
              <a:rPr lang="es-ES" b="1" dirty="0">
                <a:latin typeface="Courier New"/>
                <a:ea typeface="+mn-lt"/>
                <a:cs typeface="+mn-lt"/>
              </a:rPr>
              <a:t>: 1px </a:t>
            </a:r>
            <a:r>
              <a:rPr lang="es-ES" b="1" dirty="0" err="1">
                <a:latin typeface="Courier New"/>
                <a:ea typeface="+mn-lt"/>
                <a:cs typeface="+mn-lt"/>
              </a:rPr>
              <a:t>solid</a:t>
            </a:r>
            <a:r>
              <a:rPr lang="es-ES" b="1" dirty="0">
                <a:latin typeface="Courier New"/>
                <a:ea typeface="+mn-lt"/>
                <a:cs typeface="+mn-lt"/>
              </a:rPr>
              <a:t> </a:t>
            </a:r>
            <a:r>
              <a:rPr lang="es-ES" b="1" dirty="0" err="1">
                <a:latin typeface="Courier New"/>
                <a:ea typeface="+mn-lt"/>
                <a:cs typeface="+mn-lt"/>
              </a:rPr>
              <a:t>black</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a:t>
            </a:r>
          </a:p>
          <a:p>
            <a:r>
              <a:rPr lang="es-ES" dirty="0">
                <a:ea typeface="+mn-lt"/>
                <a:cs typeface="+mn-lt"/>
              </a:rPr>
              <a:t>En este caso, la etiqueta &lt;p&gt; heredará el color de texto y la familia de fuente del &lt;</a:t>
            </a:r>
            <a:r>
              <a:rPr lang="es-ES" dirty="0" err="1">
                <a:ea typeface="+mn-lt"/>
                <a:cs typeface="+mn-lt"/>
              </a:rPr>
              <a:t>div</a:t>
            </a:r>
            <a:r>
              <a:rPr lang="es-ES" dirty="0">
                <a:ea typeface="+mn-lt"/>
                <a:cs typeface="+mn-lt"/>
              </a:rPr>
              <a:t>&gt; padre. Sin embargo, la propiedad </a:t>
            </a:r>
            <a:r>
              <a:rPr lang="es-ES" dirty="0" err="1">
                <a:ea typeface="+mn-lt"/>
                <a:cs typeface="+mn-lt"/>
              </a:rPr>
              <a:t>border</a:t>
            </a:r>
            <a:r>
              <a:rPr lang="es-ES" dirty="0">
                <a:ea typeface="+mn-lt"/>
                <a:cs typeface="+mn-lt"/>
              </a:rPr>
              <a:t> no es una propiedad heredable, por lo que el párrafo no tendrá un borde.</a:t>
            </a:r>
            <a:endParaRPr lang="es-ES" dirty="0"/>
          </a:p>
          <a:p>
            <a:r>
              <a:rPr lang="es-ES" dirty="0">
                <a:ea typeface="+mn-lt"/>
                <a:cs typeface="+mn-lt"/>
              </a:rPr>
              <a:t>Algunas propiedades que se heredan comúnmente son color, </a:t>
            </a:r>
            <a:r>
              <a:rPr lang="es-ES" dirty="0" err="1">
                <a:ea typeface="+mn-lt"/>
                <a:cs typeface="+mn-lt"/>
              </a:rPr>
              <a:t>font-family</a:t>
            </a:r>
            <a:r>
              <a:rPr lang="es-ES" dirty="0">
                <a:ea typeface="+mn-lt"/>
                <a:cs typeface="+mn-lt"/>
              </a:rPr>
              <a:t>, </a:t>
            </a:r>
            <a:r>
              <a:rPr lang="es-ES" dirty="0" err="1">
                <a:ea typeface="+mn-lt"/>
                <a:cs typeface="+mn-lt"/>
              </a:rPr>
              <a:t>font-size</a:t>
            </a:r>
            <a:r>
              <a:rPr lang="es-ES" dirty="0">
                <a:ea typeface="+mn-lt"/>
                <a:cs typeface="+mn-lt"/>
              </a:rPr>
              <a:t>, line-</a:t>
            </a:r>
            <a:r>
              <a:rPr lang="es-ES" dirty="0" err="1">
                <a:ea typeface="+mn-lt"/>
                <a:cs typeface="+mn-lt"/>
              </a:rPr>
              <a:t>height</a:t>
            </a:r>
            <a:r>
              <a:rPr lang="es-ES" dirty="0">
                <a:ea typeface="+mn-lt"/>
                <a:cs typeface="+mn-lt"/>
              </a:rPr>
              <a:t> y </a:t>
            </a:r>
            <a:r>
              <a:rPr lang="es-ES" dirty="0" err="1">
                <a:ea typeface="+mn-lt"/>
                <a:cs typeface="+mn-lt"/>
              </a:rPr>
              <a:t>text-align</a:t>
            </a:r>
            <a:r>
              <a:rPr lang="es-ES" dirty="0">
                <a:ea typeface="+mn-lt"/>
                <a:cs typeface="+mn-lt"/>
              </a:rPr>
              <a:t>. Propiedades como </a:t>
            </a:r>
            <a:r>
              <a:rPr lang="es-ES" dirty="0" err="1">
                <a:ea typeface="+mn-lt"/>
                <a:cs typeface="+mn-lt"/>
              </a:rPr>
              <a:t>border</a:t>
            </a:r>
            <a:r>
              <a:rPr lang="es-ES" dirty="0">
                <a:ea typeface="+mn-lt"/>
                <a:cs typeface="+mn-lt"/>
              </a:rPr>
              <a:t>, </a:t>
            </a:r>
            <a:r>
              <a:rPr lang="es-ES" dirty="0" err="1">
                <a:ea typeface="+mn-lt"/>
                <a:cs typeface="+mn-lt"/>
              </a:rPr>
              <a:t>margin</a:t>
            </a:r>
            <a:r>
              <a:rPr lang="es-ES" dirty="0">
                <a:ea typeface="+mn-lt"/>
                <a:cs typeface="+mn-lt"/>
              </a:rPr>
              <a:t>, </a:t>
            </a:r>
            <a:r>
              <a:rPr lang="es-ES" dirty="0" err="1">
                <a:ea typeface="+mn-lt"/>
                <a:cs typeface="+mn-lt"/>
              </a:rPr>
              <a:t>padding</a:t>
            </a:r>
            <a:r>
              <a:rPr lang="es-ES" dirty="0">
                <a:ea typeface="+mn-lt"/>
                <a:cs typeface="+mn-lt"/>
              </a:rPr>
              <a:t>, </a:t>
            </a:r>
            <a:r>
              <a:rPr lang="es-ES" dirty="0" err="1">
                <a:ea typeface="+mn-lt"/>
                <a:cs typeface="+mn-lt"/>
              </a:rPr>
              <a:t>background</a:t>
            </a:r>
            <a:r>
              <a:rPr lang="es-ES" dirty="0">
                <a:ea typeface="+mn-lt"/>
                <a:cs typeface="+mn-lt"/>
              </a:rPr>
              <a:t>-color, </a:t>
            </a:r>
            <a:r>
              <a:rPr lang="es-ES" dirty="0" err="1">
                <a:ea typeface="+mn-lt"/>
                <a:cs typeface="+mn-lt"/>
              </a:rPr>
              <a:t>width</a:t>
            </a:r>
            <a:r>
              <a:rPr lang="es-ES" dirty="0">
                <a:ea typeface="+mn-lt"/>
                <a:cs typeface="+mn-lt"/>
              </a:rPr>
              <a:t> o </a:t>
            </a:r>
            <a:r>
              <a:rPr lang="es-ES" dirty="0" err="1">
                <a:ea typeface="+mn-lt"/>
                <a:cs typeface="+mn-lt"/>
              </a:rPr>
              <a:t>height</a:t>
            </a:r>
            <a:r>
              <a:rPr lang="es-ES" dirty="0">
                <a:ea typeface="+mn-lt"/>
                <a:cs typeface="+mn-lt"/>
              </a:rPr>
              <a:t> no se heredan.</a:t>
            </a:r>
            <a:endParaRPr lang="es-ES"/>
          </a:p>
        </p:txBody>
      </p:sp>
    </p:spTree>
    <p:extLst>
      <p:ext uri="{BB962C8B-B14F-4D97-AF65-F5344CB8AC3E}">
        <p14:creationId xmlns:p14="http://schemas.microsoft.com/office/powerpoint/2010/main" val="20307052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A8A7DA-1084-FE01-15E9-A28C0E7D746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5625E19-9D0B-9BD2-7731-857D14975A0F}"/>
              </a:ext>
            </a:extLst>
          </p:cNvPr>
          <p:cNvSpPr>
            <a:spLocks noGrp="1"/>
          </p:cNvSpPr>
          <p:nvPr>
            <p:ph type="title"/>
          </p:nvPr>
        </p:nvSpPr>
        <p:spPr/>
        <p:txBody>
          <a:bodyPr/>
          <a:lstStyle/>
          <a:p>
            <a:r>
              <a:rPr lang="es-ES" b="0" dirty="0">
                <a:ea typeface="+mj-lt"/>
                <a:cs typeface="+mj-lt"/>
              </a:rPr>
              <a:t>2.1.5. El modelo de cajas (Box </a:t>
            </a:r>
            <a:r>
              <a:rPr lang="es-ES" b="0" dirty="0" err="1">
                <a:ea typeface="+mj-lt"/>
                <a:cs typeface="+mj-lt"/>
              </a:rPr>
              <a:t>Model</a:t>
            </a:r>
            <a:r>
              <a:rPr lang="es-ES" b="0" dirty="0">
                <a:ea typeface="+mj-lt"/>
                <a:cs typeface="+mj-lt"/>
              </a:rPr>
              <a:t>).</a:t>
            </a:r>
            <a:endParaRPr lang="es-ES" dirty="0"/>
          </a:p>
        </p:txBody>
      </p:sp>
      <p:sp>
        <p:nvSpPr>
          <p:cNvPr id="3" name="Marcador de contenido 2">
            <a:extLst>
              <a:ext uri="{FF2B5EF4-FFF2-40B4-BE49-F238E27FC236}">
                <a16:creationId xmlns:a16="http://schemas.microsoft.com/office/drawing/2014/main" id="{383A2DE5-E5D3-6640-0A2C-99513E23A021}"/>
              </a:ext>
            </a:extLst>
          </p:cNvPr>
          <p:cNvSpPr>
            <a:spLocks noGrp="1"/>
          </p:cNvSpPr>
          <p:nvPr>
            <p:ph idx="1"/>
          </p:nvPr>
        </p:nvSpPr>
        <p:spPr/>
        <p:txBody>
          <a:bodyPr vert="horz" lIns="91440" tIns="45720" rIns="91440" bIns="45720" rtlCol="0" anchor="t">
            <a:normAutofit/>
          </a:bodyPr>
          <a:lstStyle/>
          <a:p>
            <a:r>
              <a:rPr lang="es-ES" dirty="0">
                <a:ea typeface="+mn-lt"/>
                <a:cs typeface="+mn-lt"/>
              </a:rPr>
              <a:t>El Modelo de Cajas de CSS es un concepto fundamental que describe cómo se presenta y se calcula el tamaño de cada elemento HTML en una página. Todo elemento que ves en la web, ya sea un párrafo, un botón o una imagen, es tratado por el navegador como una caja rectangular. Entender este modelo es esencial para maquetar correctamente una página.</a:t>
            </a:r>
            <a:endParaRPr lang="es-ES" dirty="0"/>
          </a:p>
          <a:p>
            <a:r>
              <a:rPr lang="es-ES" dirty="0">
                <a:ea typeface="+mn-lt"/>
                <a:cs typeface="+mn-lt"/>
              </a:rPr>
              <a:t>Cada caja se compone de cuatro partes, de dentro hacia fuera:</a:t>
            </a:r>
            <a:endParaRPr lang="es-ES" dirty="0"/>
          </a:p>
          <a:p>
            <a:pPr lvl="1">
              <a:buFont typeface="Courier New" panose="020B0604020202020204" pitchFamily="34" charset="0"/>
              <a:buChar char="o"/>
            </a:pPr>
            <a:r>
              <a:rPr lang="es-ES" dirty="0">
                <a:ea typeface="+mn-lt"/>
                <a:cs typeface="+mn-lt"/>
              </a:rPr>
              <a:t>Contenido (Content): Es el área donde se encuentra el contenido real del elemento (texto, imágenes, videos). Su tamaño se controla con las propiedades </a:t>
            </a:r>
            <a:r>
              <a:rPr lang="es-ES" dirty="0" err="1">
                <a:ea typeface="+mn-lt"/>
                <a:cs typeface="+mn-lt"/>
              </a:rPr>
              <a:t>width</a:t>
            </a:r>
            <a:r>
              <a:rPr lang="es-ES" dirty="0">
                <a:ea typeface="+mn-lt"/>
                <a:cs typeface="+mn-lt"/>
              </a:rPr>
              <a:t> y </a:t>
            </a:r>
            <a:r>
              <a:rPr lang="es-ES" dirty="0" err="1">
                <a:ea typeface="+mn-lt"/>
                <a:cs typeface="+mn-lt"/>
              </a:rPr>
              <a:t>height</a:t>
            </a:r>
            <a:r>
              <a:rPr lang="es-ES" dirty="0">
                <a:ea typeface="+mn-lt"/>
                <a:cs typeface="+mn-lt"/>
              </a:rPr>
              <a:t>.</a:t>
            </a:r>
            <a:endParaRPr lang="es-ES" dirty="0"/>
          </a:p>
          <a:p>
            <a:pPr lvl="1">
              <a:buFont typeface="Courier New" panose="020B0604020202020204" pitchFamily="34" charset="0"/>
              <a:buChar char="o"/>
            </a:pPr>
            <a:r>
              <a:rPr lang="es-ES" dirty="0">
                <a:ea typeface="+mn-lt"/>
                <a:cs typeface="+mn-lt"/>
              </a:rPr>
              <a:t>Relleno (</a:t>
            </a:r>
            <a:r>
              <a:rPr lang="es-ES" dirty="0" err="1">
                <a:ea typeface="+mn-lt"/>
                <a:cs typeface="+mn-lt"/>
              </a:rPr>
              <a:t>Padding</a:t>
            </a:r>
            <a:r>
              <a:rPr lang="es-ES" dirty="0">
                <a:ea typeface="+mn-lt"/>
                <a:cs typeface="+mn-lt"/>
              </a:rPr>
              <a:t>): Es el espacio transparente que se encuentra entre el contenido y el borde (</a:t>
            </a:r>
            <a:r>
              <a:rPr lang="es-ES" dirty="0" err="1">
                <a:ea typeface="+mn-lt"/>
                <a:cs typeface="+mn-lt"/>
              </a:rPr>
              <a:t>border</a:t>
            </a:r>
            <a:r>
              <a:rPr lang="es-ES" dirty="0">
                <a:ea typeface="+mn-lt"/>
                <a:cs typeface="+mn-lt"/>
              </a:rPr>
              <a:t>). Aumenta el tamaño visible de la caja, pero no separa un elemento de otro. Su color de fondo es el mismo que el del contenido.</a:t>
            </a:r>
            <a:endParaRPr lang="es-ES" dirty="0"/>
          </a:p>
          <a:p>
            <a:pPr lvl="1">
              <a:buFont typeface="Courier New" panose="020B0604020202020204" pitchFamily="34" charset="0"/>
              <a:buChar char="o"/>
            </a:pPr>
            <a:r>
              <a:rPr lang="es-ES" dirty="0">
                <a:ea typeface="+mn-lt"/>
                <a:cs typeface="+mn-lt"/>
              </a:rPr>
              <a:t>Borde (</a:t>
            </a:r>
            <a:r>
              <a:rPr lang="es-ES" dirty="0" err="1">
                <a:ea typeface="+mn-lt"/>
                <a:cs typeface="+mn-lt"/>
              </a:rPr>
              <a:t>Border</a:t>
            </a:r>
            <a:r>
              <a:rPr lang="es-ES" dirty="0">
                <a:ea typeface="+mn-lt"/>
                <a:cs typeface="+mn-lt"/>
              </a:rPr>
              <a:t>): La línea que rodea el </a:t>
            </a:r>
            <a:r>
              <a:rPr lang="es-ES" dirty="0" err="1">
                <a:ea typeface="+mn-lt"/>
                <a:cs typeface="+mn-lt"/>
              </a:rPr>
              <a:t>padding</a:t>
            </a:r>
            <a:r>
              <a:rPr lang="es-ES" dirty="0">
                <a:ea typeface="+mn-lt"/>
                <a:cs typeface="+mn-lt"/>
              </a:rPr>
              <a:t> y el contenido. Se puede definir su estilo, grosor y color.</a:t>
            </a:r>
            <a:endParaRPr lang="es-ES" dirty="0"/>
          </a:p>
          <a:p>
            <a:pPr lvl="1">
              <a:buFont typeface="Courier New" panose="020B0604020202020204" pitchFamily="34" charset="0"/>
              <a:buChar char="o"/>
            </a:pPr>
            <a:r>
              <a:rPr lang="es-ES" dirty="0">
                <a:ea typeface="+mn-lt"/>
                <a:cs typeface="+mn-lt"/>
              </a:rPr>
              <a:t>Margen (</a:t>
            </a:r>
            <a:r>
              <a:rPr lang="es-ES" dirty="0" err="1">
                <a:ea typeface="+mn-lt"/>
                <a:cs typeface="+mn-lt"/>
              </a:rPr>
              <a:t>Margin</a:t>
            </a:r>
            <a:r>
              <a:rPr lang="es-ES" dirty="0">
                <a:ea typeface="+mn-lt"/>
                <a:cs typeface="+mn-lt"/>
              </a:rPr>
              <a:t>): Es el espacio transparente fuera del borde. Es lo que separa una caja de las cajas adyacentes.</a:t>
            </a:r>
            <a:endParaRPr lang="es-ES" dirty="0"/>
          </a:p>
        </p:txBody>
      </p:sp>
    </p:spTree>
    <p:extLst>
      <p:ext uri="{BB962C8B-B14F-4D97-AF65-F5344CB8AC3E}">
        <p14:creationId xmlns:p14="http://schemas.microsoft.com/office/powerpoint/2010/main" val="35958201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A9531D-5DA2-7773-A287-0854FCA8DFF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832FB44-CEA3-58EC-0200-EA78B106B49F}"/>
              </a:ext>
            </a:extLst>
          </p:cNvPr>
          <p:cNvSpPr>
            <a:spLocks noGrp="1"/>
          </p:cNvSpPr>
          <p:nvPr>
            <p:ph type="title"/>
          </p:nvPr>
        </p:nvSpPr>
        <p:spPr/>
        <p:txBody>
          <a:bodyPr/>
          <a:lstStyle/>
          <a:p>
            <a:r>
              <a:rPr lang="es-ES" b="0" dirty="0">
                <a:ea typeface="+mj-lt"/>
                <a:cs typeface="+mj-lt"/>
              </a:rPr>
              <a:t>2.1.5.1. Contenido, </a:t>
            </a:r>
            <a:r>
              <a:rPr lang="es-ES" b="0" dirty="0" err="1">
                <a:ea typeface="+mj-lt"/>
                <a:cs typeface="+mj-lt"/>
              </a:rPr>
              <a:t>padding</a:t>
            </a:r>
            <a:r>
              <a:rPr lang="es-ES" b="0" dirty="0">
                <a:ea typeface="+mj-lt"/>
                <a:cs typeface="+mj-lt"/>
              </a:rPr>
              <a:t>, </a:t>
            </a:r>
            <a:r>
              <a:rPr lang="es-ES" b="0" dirty="0" err="1">
                <a:ea typeface="+mj-lt"/>
                <a:cs typeface="+mj-lt"/>
              </a:rPr>
              <a:t>border</a:t>
            </a:r>
            <a:r>
              <a:rPr lang="es-ES" b="0" dirty="0">
                <a:ea typeface="+mj-lt"/>
                <a:cs typeface="+mj-lt"/>
              </a:rPr>
              <a:t> y </a:t>
            </a:r>
            <a:r>
              <a:rPr lang="es-ES" b="0" dirty="0" err="1">
                <a:ea typeface="+mj-lt"/>
                <a:cs typeface="+mj-lt"/>
              </a:rPr>
              <a:t>margin</a:t>
            </a:r>
            <a:r>
              <a:rPr lang="es-ES" b="0" dirty="0">
                <a:ea typeface="+mj-lt"/>
                <a:cs typeface="+mj-lt"/>
              </a:rPr>
              <a:t>.</a:t>
            </a:r>
            <a:endParaRPr lang="es-ES" dirty="0"/>
          </a:p>
        </p:txBody>
      </p:sp>
      <p:sp>
        <p:nvSpPr>
          <p:cNvPr id="3" name="Marcador de contenido 2">
            <a:extLst>
              <a:ext uri="{FF2B5EF4-FFF2-40B4-BE49-F238E27FC236}">
                <a16:creationId xmlns:a16="http://schemas.microsoft.com/office/drawing/2014/main" id="{A5FCB278-3718-1D7B-1DAA-787ED8B5DCB1}"/>
              </a:ext>
            </a:extLst>
          </p:cNvPr>
          <p:cNvSpPr>
            <a:spLocks noGrp="1"/>
          </p:cNvSpPr>
          <p:nvPr>
            <p:ph idx="1"/>
          </p:nvPr>
        </p:nvSpPr>
        <p:spPr/>
        <p:txBody>
          <a:bodyPr vert="horz" lIns="91440" tIns="45720" rIns="91440" bIns="45720" rtlCol="0" anchor="t">
            <a:normAutofit fontScale="92500" lnSpcReduction="20000"/>
          </a:bodyPr>
          <a:lstStyle/>
          <a:p>
            <a:r>
              <a:rPr lang="es-ES" dirty="0">
                <a:ea typeface="+mn-lt"/>
                <a:cs typeface="+mn-lt"/>
              </a:rPr>
              <a:t>Estos cuatro componentes son las partes fundamentales del Modelo de Cajas de CSS, y entender su función es clave para controlar el tamaño y la posición de los elementos en una página web.</a:t>
            </a:r>
            <a:endParaRPr lang="es-ES" dirty="0"/>
          </a:p>
          <a:p>
            <a:r>
              <a:rPr lang="es-ES" dirty="0">
                <a:ea typeface="+mn-lt"/>
                <a:cs typeface="+mn-lt"/>
              </a:rPr>
              <a:t>Contenido (Content): Es el área central de la caja, donde reside el contenido real del elemento. Se define por las propiedades </a:t>
            </a:r>
            <a:r>
              <a:rPr lang="es-ES" dirty="0" err="1">
                <a:ea typeface="+mn-lt"/>
                <a:cs typeface="+mn-lt"/>
              </a:rPr>
              <a:t>width</a:t>
            </a:r>
            <a:r>
              <a:rPr lang="es-ES" dirty="0">
                <a:ea typeface="+mn-lt"/>
                <a:cs typeface="+mn-lt"/>
              </a:rPr>
              <a:t> y </a:t>
            </a:r>
            <a:r>
              <a:rPr lang="es-ES" dirty="0" err="1">
                <a:ea typeface="+mn-lt"/>
                <a:cs typeface="+mn-lt"/>
              </a:rPr>
              <a:t>height</a:t>
            </a:r>
            <a:r>
              <a:rPr lang="es-ES" dirty="0">
                <a:ea typeface="+mn-lt"/>
                <a:cs typeface="+mn-lt"/>
              </a:rPr>
              <a:t>.</a:t>
            </a:r>
            <a:endParaRPr lang="es-ES" dirty="0"/>
          </a:p>
          <a:p>
            <a:pPr lvl="1">
              <a:buFont typeface="Courier New" panose="020B0604020202020204" pitchFamily="34" charset="0"/>
              <a:buChar char="o"/>
            </a:pPr>
            <a:r>
              <a:rPr lang="es-ES" dirty="0" err="1">
                <a:ea typeface="+mn-lt"/>
                <a:cs typeface="+mn-lt"/>
              </a:rPr>
              <a:t>width</a:t>
            </a:r>
            <a:r>
              <a:rPr lang="es-ES" dirty="0">
                <a:ea typeface="+mn-lt"/>
                <a:cs typeface="+mn-lt"/>
              </a:rPr>
              <a:t>: Establece el ancho del área de contenido.</a:t>
            </a:r>
            <a:endParaRPr lang="es-ES" dirty="0"/>
          </a:p>
          <a:p>
            <a:pPr lvl="1">
              <a:buFont typeface="Courier New" panose="020B0604020202020204" pitchFamily="34" charset="0"/>
              <a:buChar char="o"/>
            </a:pPr>
            <a:r>
              <a:rPr lang="es-ES" dirty="0" err="1">
                <a:ea typeface="+mn-lt"/>
                <a:cs typeface="+mn-lt"/>
              </a:rPr>
              <a:t>height</a:t>
            </a:r>
            <a:r>
              <a:rPr lang="es-ES" dirty="0">
                <a:ea typeface="+mn-lt"/>
                <a:cs typeface="+mn-lt"/>
              </a:rPr>
              <a:t>: Establece la altura del área de contenido.</a:t>
            </a:r>
            <a:endParaRPr lang="es-ES" dirty="0"/>
          </a:p>
          <a:p>
            <a:r>
              <a:rPr lang="es-ES" dirty="0">
                <a:ea typeface="+mn-lt"/>
                <a:cs typeface="+mn-lt"/>
              </a:rPr>
              <a:t>Ejemplo:</a:t>
            </a:r>
            <a:endParaRPr lang="es-ES" dirty="0"/>
          </a:p>
          <a:p>
            <a:pPr marL="0" indent="0">
              <a:buNone/>
            </a:pPr>
            <a:r>
              <a:rPr lang="es-ES" b="1" dirty="0">
                <a:latin typeface="Courier New"/>
                <a:ea typeface="+mn-lt"/>
                <a:cs typeface="+mn-lt"/>
              </a:rPr>
              <a:t>.caja-ejemplo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width</a:t>
            </a:r>
            <a:r>
              <a:rPr lang="es-ES" b="1" dirty="0">
                <a:latin typeface="Courier New"/>
                <a:ea typeface="+mn-lt"/>
                <a:cs typeface="+mn-lt"/>
              </a:rPr>
              <a:t>: 300px;</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height</a:t>
            </a:r>
            <a:r>
              <a:rPr lang="es-ES" b="1" dirty="0">
                <a:latin typeface="Courier New"/>
                <a:ea typeface="+mn-lt"/>
                <a:cs typeface="+mn-lt"/>
              </a:rPr>
              <a:t>: 150px;</a:t>
            </a:r>
            <a:br>
              <a:rPr lang="es-ES" b="1" dirty="0">
                <a:latin typeface="Courier New"/>
                <a:ea typeface="+mn-lt"/>
                <a:cs typeface="+mn-lt"/>
              </a:rPr>
            </a:br>
            <a:r>
              <a:rPr lang="es-ES" b="1" dirty="0">
                <a:latin typeface="Courier New"/>
                <a:ea typeface="+mn-lt"/>
                <a:cs typeface="+mn-lt"/>
              </a:rPr>
              <a:t>}</a:t>
            </a:r>
            <a:endParaRPr lang="es-ES" b="1" dirty="0">
              <a:latin typeface="Courier New"/>
              <a:cs typeface="Courier New"/>
            </a:endParaRPr>
          </a:p>
          <a:p>
            <a:r>
              <a:rPr lang="es-ES" dirty="0">
                <a:ea typeface="+mn-lt"/>
                <a:cs typeface="+mn-lt"/>
              </a:rPr>
              <a:t>En este caso, el contenido del elemento tendrá un área de 300 píxeles de ancho por 150 píxeles de alto.</a:t>
            </a:r>
            <a:endParaRPr lang="es-ES" dirty="0"/>
          </a:p>
        </p:txBody>
      </p:sp>
    </p:spTree>
    <p:extLst>
      <p:ext uri="{BB962C8B-B14F-4D97-AF65-F5344CB8AC3E}">
        <p14:creationId xmlns:p14="http://schemas.microsoft.com/office/powerpoint/2010/main" val="22384577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706F3B-88C5-4472-538E-CE6BD70DAD7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11CFED4-6D41-9FCB-4FCE-C07307378639}"/>
              </a:ext>
            </a:extLst>
          </p:cNvPr>
          <p:cNvSpPr>
            <a:spLocks noGrp="1"/>
          </p:cNvSpPr>
          <p:nvPr>
            <p:ph type="title"/>
          </p:nvPr>
        </p:nvSpPr>
        <p:spPr/>
        <p:txBody>
          <a:bodyPr/>
          <a:lstStyle/>
          <a:p>
            <a:r>
              <a:rPr lang="es-ES" b="0" dirty="0">
                <a:ea typeface="+mj-lt"/>
                <a:cs typeface="+mj-lt"/>
              </a:rPr>
              <a:t>2.1.5.1. Contenido, </a:t>
            </a:r>
            <a:r>
              <a:rPr lang="es-ES" b="0" dirty="0" err="1">
                <a:ea typeface="+mj-lt"/>
                <a:cs typeface="+mj-lt"/>
              </a:rPr>
              <a:t>padding</a:t>
            </a:r>
            <a:r>
              <a:rPr lang="es-ES" b="0" dirty="0">
                <a:ea typeface="+mj-lt"/>
                <a:cs typeface="+mj-lt"/>
              </a:rPr>
              <a:t>, </a:t>
            </a:r>
            <a:r>
              <a:rPr lang="es-ES" b="0" dirty="0" err="1">
                <a:ea typeface="+mj-lt"/>
                <a:cs typeface="+mj-lt"/>
              </a:rPr>
              <a:t>border</a:t>
            </a:r>
            <a:r>
              <a:rPr lang="es-ES" b="0" dirty="0">
                <a:ea typeface="+mj-lt"/>
                <a:cs typeface="+mj-lt"/>
              </a:rPr>
              <a:t> y </a:t>
            </a:r>
            <a:r>
              <a:rPr lang="es-ES" b="0" dirty="0" err="1">
                <a:ea typeface="+mj-lt"/>
                <a:cs typeface="+mj-lt"/>
              </a:rPr>
              <a:t>margin</a:t>
            </a:r>
            <a:r>
              <a:rPr lang="es-ES" b="0" dirty="0">
                <a:ea typeface="+mj-lt"/>
                <a:cs typeface="+mj-lt"/>
              </a:rPr>
              <a:t>.</a:t>
            </a:r>
            <a:endParaRPr lang="es-ES" dirty="0"/>
          </a:p>
        </p:txBody>
      </p:sp>
      <p:sp>
        <p:nvSpPr>
          <p:cNvPr id="3" name="Marcador de contenido 2">
            <a:extLst>
              <a:ext uri="{FF2B5EF4-FFF2-40B4-BE49-F238E27FC236}">
                <a16:creationId xmlns:a16="http://schemas.microsoft.com/office/drawing/2014/main" id="{94D0EDBF-1955-54B1-4E85-CA8B03D55302}"/>
              </a:ext>
            </a:extLst>
          </p:cNvPr>
          <p:cNvSpPr>
            <a:spLocks noGrp="1"/>
          </p:cNvSpPr>
          <p:nvPr>
            <p:ph idx="1"/>
          </p:nvPr>
        </p:nvSpPr>
        <p:spPr/>
        <p:txBody>
          <a:bodyPr vert="horz" lIns="91440" tIns="45720" rIns="91440" bIns="45720" rtlCol="0" anchor="t">
            <a:normAutofit fontScale="92500" lnSpcReduction="20000"/>
          </a:bodyPr>
          <a:lstStyle/>
          <a:p>
            <a:r>
              <a:rPr lang="es-ES" dirty="0">
                <a:ea typeface="+mn-lt"/>
                <a:cs typeface="+mn-lt"/>
              </a:rPr>
              <a:t>Relleno (</a:t>
            </a:r>
            <a:r>
              <a:rPr lang="es-ES" dirty="0" err="1">
                <a:ea typeface="+mn-lt"/>
                <a:cs typeface="+mn-lt"/>
              </a:rPr>
              <a:t>Padding</a:t>
            </a:r>
            <a:r>
              <a:rPr lang="es-ES" dirty="0">
                <a:ea typeface="+mn-lt"/>
                <a:cs typeface="+mn-lt"/>
              </a:rPr>
              <a:t>): El relleno es el espacio transparente que se encuentra entre el contenido y el borde. Su función es crear un "respiro" alrededor del contenido para que no se pegue al borde. A diferencia del margen, el relleno forma parte del fondo del elemento.</a:t>
            </a:r>
            <a:endParaRPr lang="es-ES" dirty="0"/>
          </a:p>
          <a:p>
            <a:pPr lvl="1">
              <a:buFont typeface="Courier New" panose="020B0604020202020204" pitchFamily="34" charset="0"/>
              <a:buChar char="o"/>
            </a:pPr>
            <a:r>
              <a:rPr lang="es-ES" dirty="0" err="1">
                <a:ea typeface="+mn-lt"/>
                <a:cs typeface="+mn-lt"/>
              </a:rPr>
              <a:t>padding</a:t>
            </a:r>
            <a:r>
              <a:rPr lang="es-ES" dirty="0">
                <a:ea typeface="+mn-lt"/>
                <a:cs typeface="+mn-lt"/>
              </a:rPr>
              <a:t>-top: Relleno superior.</a:t>
            </a:r>
            <a:endParaRPr lang="es-ES" dirty="0"/>
          </a:p>
          <a:p>
            <a:pPr lvl="1">
              <a:buFont typeface="Courier New" panose="020B0604020202020204" pitchFamily="34" charset="0"/>
              <a:buChar char="o"/>
            </a:pPr>
            <a:r>
              <a:rPr lang="es-ES" dirty="0" err="1">
                <a:ea typeface="+mn-lt"/>
                <a:cs typeface="+mn-lt"/>
              </a:rPr>
              <a:t>padding-right</a:t>
            </a:r>
            <a:r>
              <a:rPr lang="es-ES" dirty="0">
                <a:ea typeface="+mn-lt"/>
                <a:cs typeface="+mn-lt"/>
              </a:rPr>
              <a:t>: Relleno derecho.</a:t>
            </a:r>
            <a:endParaRPr lang="es-ES" dirty="0"/>
          </a:p>
          <a:p>
            <a:pPr lvl="1">
              <a:buFont typeface="Courier New" panose="020B0604020202020204" pitchFamily="34" charset="0"/>
              <a:buChar char="o"/>
            </a:pPr>
            <a:r>
              <a:rPr lang="es-ES" dirty="0" err="1">
                <a:ea typeface="+mn-lt"/>
                <a:cs typeface="+mn-lt"/>
              </a:rPr>
              <a:t>padding</a:t>
            </a:r>
            <a:r>
              <a:rPr lang="es-ES" dirty="0">
                <a:ea typeface="+mn-lt"/>
                <a:cs typeface="+mn-lt"/>
              </a:rPr>
              <a:t>-bottom: Relleno inferior.</a:t>
            </a:r>
          </a:p>
          <a:p>
            <a:pPr lvl="1">
              <a:buFont typeface="Courier New" panose="020B0604020202020204" pitchFamily="34" charset="0"/>
              <a:buChar char="o"/>
            </a:pPr>
            <a:r>
              <a:rPr lang="es-ES" dirty="0" err="1">
                <a:ea typeface="+mn-lt"/>
                <a:cs typeface="+mn-lt"/>
              </a:rPr>
              <a:t>padding-left</a:t>
            </a:r>
            <a:r>
              <a:rPr lang="es-ES" dirty="0">
                <a:ea typeface="+mn-lt"/>
                <a:cs typeface="+mn-lt"/>
              </a:rPr>
              <a:t>: Relleno izquierdo.</a:t>
            </a:r>
          </a:p>
          <a:p>
            <a:pPr lvl="1">
              <a:buFont typeface="Courier New" panose="020B0604020202020204" pitchFamily="34" charset="0"/>
              <a:buChar char="o"/>
            </a:pPr>
            <a:r>
              <a:rPr lang="es-ES" dirty="0" err="1">
                <a:ea typeface="+mn-lt"/>
                <a:cs typeface="+mn-lt"/>
              </a:rPr>
              <a:t>padding</a:t>
            </a:r>
            <a:r>
              <a:rPr lang="es-ES" dirty="0">
                <a:ea typeface="+mn-lt"/>
                <a:cs typeface="+mn-lt"/>
              </a:rPr>
              <a:t>: Atajo para definir todos los rellenos a la vez.</a:t>
            </a:r>
          </a:p>
          <a:p>
            <a:r>
              <a:rPr lang="es-ES" dirty="0">
                <a:ea typeface="+mn-lt"/>
                <a:cs typeface="+mn-lt"/>
              </a:rPr>
              <a:t>Ejemplo:</a:t>
            </a:r>
          </a:p>
          <a:p>
            <a:pPr marL="0" indent="0">
              <a:buNone/>
            </a:pPr>
            <a:r>
              <a:rPr lang="es-ES" b="1" dirty="0">
                <a:latin typeface="Courier New"/>
                <a:ea typeface="+mn-lt"/>
                <a:cs typeface="+mn-lt"/>
              </a:rPr>
              <a:t>.caja-con-relleno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padding</a:t>
            </a:r>
            <a:r>
              <a:rPr lang="es-ES" b="1" dirty="0">
                <a:latin typeface="Courier New"/>
                <a:ea typeface="+mn-lt"/>
                <a:cs typeface="+mn-lt"/>
              </a:rPr>
              <a:t>: 20px; /* Relleno de 20px por los 4 lados */</a:t>
            </a:r>
            <a:br>
              <a:rPr lang="es-ES" b="1" dirty="0">
                <a:latin typeface="Courier New"/>
                <a:ea typeface="+mn-lt"/>
                <a:cs typeface="+mn-lt"/>
              </a:rPr>
            </a:br>
            <a:r>
              <a:rPr lang="es-ES" b="1" dirty="0">
                <a:latin typeface="Courier New"/>
                <a:ea typeface="+mn-lt"/>
                <a:cs typeface="+mn-lt"/>
              </a:rPr>
              <a:t>}</a:t>
            </a:r>
          </a:p>
          <a:p>
            <a:r>
              <a:rPr lang="es-ES" dirty="0">
                <a:ea typeface="+mn-lt"/>
                <a:cs typeface="+mn-lt"/>
              </a:rPr>
              <a:t>Esto crea un espacio de 20 píxeles alrededor del contenido.</a:t>
            </a:r>
          </a:p>
        </p:txBody>
      </p:sp>
    </p:spTree>
    <p:extLst>
      <p:ext uri="{BB962C8B-B14F-4D97-AF65-F5344CB8AC3E}">
        <p14:creationId xmlns:p14="http://schemas.microsoft.com/office/powerpoint/2010/main" val="6930747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208DDB-556A-66F5-F3F8-C84838CF644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55FF8AA-1B9A-60E0-CBD4-D9723768F6D0}"/>
              </a:ext>
            </a:extLst>
          </p:cNvPr>
          <p:cNvSpPr>
            <a:spLocks noGrp="1"/>
          </p:cNvSpPr>
          <p:nvPr>
            <p:ph type="title"/>
          </p:nvPr>
        </p:nvSpPr>
        <p:spPr/>
        <p:txBody>
          <a:bodyPr/>
          <a:lstStyle/>
          <a:p>
            <a:r>
              <a:rPr lang="es-ES" b="0" dirty="0">
                <a:ea typeface="+mj-lt"/>
                <a:cs typeface="+mj-lt"/>
              </a:rPr>
              <a:t>2.1.5.1. Contenido, </a:t>
            </a:r>
            <a:r>
              <a:rPr lang="es-ES" b="0" dirty="0" err="1">
                <a:ea typeface="+mj-lt"/>
                <a:cs typeface="+mj-lt"/>
              </a:rPr>
              <a:t>padding</a:t>
            </a:r>
            <a:r>
              <a:rPr lang="es-ES" b="0" dirty="0">
                <a:ea typeface="+mj-lt"/>
                <a:cs typeface="+mj-lt"/>
              </a:rPr>
              <a:t>, </a:t>
            </a:r>
            <a:r>
              <a:rPr lang="es-ES" b="0" dirty="0" err="1">
                <a:ea typeface="+mj-lt"/>
                <a:cs typeface="+mj-lt"/>
              </a:rPr>
              <a:t>border</a:t>
            </a:r>
            <a:r>
              <a:rPr lang="es-ES" b="0" dirty="0">
                <a:ea typeface="+mj-lt"/>
                <a:cs typeface="+mj-lt"/>
              </a:rPr>
              <a:t> y </a:t>
            </a:r>
            <a:r>
              <a:rPr lang="es-ES" b="0" dirty="0" err="1">
                <a:ea typeface="+mj-lt"/>
                <a:cs typeface="+mj-lt"/>
              </a:rPr>
              <a:t>margin</a:t>
            </a:r>
            <a:r>
              <a:rPr lang="es-ES" b="0" dirty="0">
                <a:ea typeface="+mj-lt"/>
                <a:cs typeface="+mj-lt"/>
              </a:rPr>
              <a:t>.</a:t>
            </a:r>
            <a:endParaRPr lang="es-ES" dirty="0"/>
          </a:p>
        </p:txBody>
      </p:sp>
      <p:sp>
        <p:nvSpPr>
          <p:cNvPr id="3" name="Marcador de contenido 2">
            <a:extLst>
              <a:ext uri="{FF2B5EF4-FFF2-40B4-BE49-F238E27FC236}">
                <a16:creationId xmlns:a16="http://schemas.microsoft.com/office/drawing/2014/main" id="{EE628D38-5CD8-CE54-CE8D-1032D27A962D}"/>
              </a:ext>
            </a:extLst>
          </p:cNvPr>
          <p:cNvSpPr>
            <a:spLocks noGrp="1"/>
          </p:cNvSpPr>
          <p:nvPr>
            <p:ph idx="1"/>
          </p:nvPr>
        </p:nvSpPr>
        <p:spPr/>
        <p:txBody>
          <a:bodyPr vert="horz" lIns="91440" tIns="45720" rIns="91440" bIns="45720" rtlCol="0" anchor="t">
            <a:normAutofit/>
          </a:bodyPr>
          <a:lstStyle/>
          <a:p>
            <a:r>
              <a:rPr lang="es-ES" dirty="0">
                <a:ea typeface="+mn-lt"/>
                <a:cs typeface="+mn-lt"/>
              </a:rPr>
              <a:t>Borde (</a:t>
            </a:r>
            <a:r>
              <a:rPr lang="es-ES" dirty="0" err="1">
                <a:ea typeface="+mn-lt"/>
                <a:cs typeface="+mn-lt"/>
              </a:rPr>
              <a:t>Border</a:t>
            </a:r>
            <a:r>
              <a:rPr lang="es-ES" dirty="0">
                <a:ea typeface="+mn-lt"/>
                <a:cs typeface="+mn-lt"/>
              </a:rPr>
              <a:t>): El borde es la línea que rodea al </a:t>
            </a:r>
            <a:r>
              <a:rPr lang="es-ES" dirty="0" err="1">
                <a:ea typeface="+mn-lt"/>
                <a:cs typeface="+mn-lt"/>
              </a:rPr>
              <a:t>padding</a:t>
            </a:r>
            <a:r>
              <a:rPr lang="es-ES" dirty="0">
                <a:ea typeface="+mn-lt"/>
                <a:cs typeface="+mn-lt"/>
              </a:rPr>
              <a:t> y al contenido. Es el límite visible de la caja. Un borde tiene tres propiedades principales: </a:t>
            </a:r>
            <a:r>
              <a:rPr lang="es-ES" dirty="0" err="1">
                <a:ea typeface="+mn-lt"/>
                <a:cs typeface="+mn-lt"/>
              </a:rPr>
              <a:t>width</a:t>
            </a:r>
            <a:r>
              <a:rPr lang="es-ES" dirty="0">
                <a:ea typeface="+mn-lt"/>
                <a:cs typeface="+mn-lt"/>
              </a:rPr>
              <a:t> (ancho), </a:t>
            </a:r>
            <a:r>
              <a:rPr lang="es-ES" dirty="0" err="1">
                <a:ea typeface="+mn-lt"/>
                <a:cs typeface="+mn-lt"/>
              </a:rPr>
              <a:t>style</a:t>
            </a:r>
            <a:r>
              <a:rPr lang="es-ES" dirty="0">
                <a:ea typeface="+mn-lt"/>
                <a:cs typeface="+mn-lt"/>
              </a:rPr>
              <a:t> (estilo) y color.</a:t>
            </a:r>
            <a:endParaRPr lang="es-ES" dirty="0"/>
          </a:p>
          <a:p>
            <a:pPr lvl="1">
              <a:buFont typeface="Courier New" panose="020B0604020202020204" pitchFamily="34" charset="0"/>
              <a:buChar char="o"/>
            </a:pPr>
            <a:r>
              <a:rPr lang="es-ES" dirty="0" err="1">
                <a:ea typeface="+mn-lt"/>
                <a:cs typeface="+mn-lt"/>
              </a:rPr>
              <a:t>border-width</a:t>
            </a:r>
            <a:r>
              <a:rPr lang="es-ES" dirty="0">
                <a:ea typeface="+mn-lt"/>
                <a:cs typeface="+mn-lt"/>
              </a:rPr>
              <a:t>: Grosor del borde.</a:t>
            </a:r>
          </a:p>
          <a:p>
            <a:pPr lvl="1">
              <a:buFont typeface="Courier New" panose="020B0604020202020204" pitchFamily="34" charset="0"/>
              <a:buChar char="o"/>
            </a:pPr>
            <a:r>
              <a:rPr lang="es-ES" dirty="0" err="1">
                <a:ea typeface="+mn-lt"/>
                <a:cs typeface="+mn-lt"/>
              </a:rPr>
              <a:t>border-style</a:t>
            </a:r>
            <a:r>
              <a:rPr lang="es-ES" dirty="0">
                <a:ea typeface="+mn-lt"/>
                <a:cs typeface="+mn-lt"/>
              </a:rPr>
              <a:t>: Estilo del borde (p. ej., </a:t>
            </a:r>
            <a:r>
              <a:rPr lang="es-ES" dirty="0" err="1">
                <a:ea typeface="+mn-lt"/>
                <a:cs typeface="+mn-lt"/>
              </a:rPr>
              <a:t>solid</a:t>
            </a:r>
            <a:r>
              <a:rPr lang="es-ES" dirty="0">
                <a:ea typeface="+mn-lt"/>
                <a:cs typeface="+mn-lt"/>
              </a:rPr>
              <a:t>, </a:t>
            </a:r>
            <a:r>
              <a:rPr lang="es-ES" dirty="0" err="1">
                <a:ea typeface="+mn-lt"/>
                <a:cs typeface="+mn-lt"/>
              </a:rPr>
              <a:t>dashed</a:t>
            </a:r>
            <a:r>
              <a:rPr lang="es-ES" dirty="0">
                <a:ea typeface="+mn-lt"/>
                <a:cs typeface="+mn-lt"/>
              </a:rPr>
              <a:t>, </a:t>
            </a:r>
            <a:r>
              <a:rPr lang="es-ES" dirty="0" err="1">
                <a:ea typeface="+mn-lt"/>
                <a:cs typeface="+mn-lt"/>
              </a:rPr>
              <a:t>dotted</a:t>
            </a:r>
            <a:r>
              <a:rPr lang="es-ES" dirty="0">
                <a:ea typeface="+mn-lt"/>
                <a:cs typeface="+mn-lt"/>
              </a:rPr>
              <a:t>).</a:t>
            </a:r>
            <a:endParaRPr lang="es-ES" dirty="0"/>
          </a:p>
          <a:p>
            <a:pPr lvl="1">
              <a:buFont typeface="Courier New" panose="020B0604020202020204" pitchFamily="34" charset="0"/>
              <a:buChar char="o"/>
            </a:pPr>
            <a:r>
              <a:rPr lang="es-ES" dirty="0" err="1">
                <a:ea typeface="+mn-lt"/>
                <a:cs typeface="+mn-lt"/>
              </a:rPr>
              <a:t>border</a:t>
            </a:r>
            <a:r>
              <a:rPr lang="es-ES" dirty="0">
                <a:ea typeface="+mn-lt"/>
                <a:cs typeface="+mn-lt"/>
              </a:rPr>
              <a:t>-color: Color del borde.</a:t>
            </a:r>
          </a:p>
          <a:p>
            <a:pPr lvl="1">
              <a:buFont typeface="Courier New" panose="020B0604020202020204" pitchFamily="34" charset="0"/>
              <a:buChar char="o"/>
            </a:pPr>
            <a:r>
              <a:rPr lang="es-ES" dirty="0" err="1">
                <a:ea typeface="+mn-lt"/>
                <a:cs typeface="+mn-lt"/>
              </a:rPr>
              <a:t>border</a:t>
            </a:r>
            <a:r>
              <a:rPr lang="es-ES" dirty="0">
                <a:ea typeface="+mn-lt"/>
                <a:cs typeface="+mn-lt"/>
              </a:rPr>
              <a:t>: Atajo para definir las tres propiedades a la vez.</a:t>
            </a:r>
          </a:p>
          <a:p>
            <a:r>
              <a:rPr lang="es-ES" dirty="0">
                <a:ea typeface="+mn-lt"/>
                <a:cs typeface="+mn-lt"/>
              </a:rPr>
              <a:t>Ejemplo:</a:t>
            </a:r>
          </a:p>
          <a:p>
            <a:pPr marL="0" indent="0">
              <a:buNone/>
            </a:pPr>
            <a:r>
              <a:rPr lang="es-ES" b="1" dirty="0">
                <a:latin typeface="Courier New"/>
                <a:ea typeface="+mn-lt"/>
                <a:cs typeface="+mn-lt"/>
              </a:rPr>
              <a:t>.caja-con-borde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border</a:t>
            </a:r>
            <a:r>
              <a:rPr lang="es-ES" b="1" dirty="0">
                <a:latin typeface="Courier New"/>
                <a:ea typeface="+mn-lt"/>
                <a:cs typeface="+mn-lt"/>
              </a:rPr>
              <a:t>: 2px </a:t>
            </a:r>
            <a:r>
              <a:rPr lang="es-ES" b="1" dirty="0" err="1">
                <a:latin typeface="Courier New"/>
                <a:ea typeface="+mn-lt"/>
                <a:cs typeface="+mn-lt"/>
              </a:rPr>
              <a:t>solid</a:t>
            </a:r>
            <a:r>
              <a:rPr lang="es-ES" b="1" dirty="0">
                <a:latin typeface="Courier New"/>
                <a:ea typeface="+mn-lt"/>
                <a:cs typeface="+mn-lt"/>
              </a:rPr>
              <a:t> </a:t>
            </a:r>
            <a:r>
              <a:rPr lang="es-ES" b="1" dirty="0" err="1">
                <a:latin typeface="Courier New"/>
                <a:ea typeface="+mn-lt"/>
                <a:cs typeface="+mn-lt"/>
              </a:rPr>
              <a:t>black</a:t>
            </a:r>
            <a:r>
              <a:rPr lang="es-ES" b="1" dirty="0">
                <a:latin typeface="Courier New"/>
                <a:ea typeface="+mn-lt"/>
                <a:cs typeface="+mn-lt"/>
              </a:rPr>
              <a:t>; /* Borde de 2px, sólido y negro */</a:t>
            </a:r>
            <a:br>
              <a:rPr lang="es-ES" b="1" dirty="0">
                <a:latin typeface="Courier New"/>
                <a:ea typeface="+mn-lt"/>
                <a:cs typeface="+mn-lt"/>
              </a:rPr>
            </a:br>
            <a:r>
              <a:rPr lang="es-ES" b="1" dirty="0">
                <a:latin typeface="Courier New"/>
                <a:ea typeface="+mn-lt"/>
                <a:cs typeface="+mn-lt"/>
              </a:rPr>
              <a:t>}</a:t>
            </a:r>
            <a:endParaRPr lang="es-ES" b="1" dirty="0">
              <a:latin typeface="Courier New"/>
              <a:cs typeface="Courier New"/>
            </a:endParaRPr>
          </a:p>
        </p:txBody>
      </p:sp>
    </p:spTree>
    <p:extLst>
      <p:ext uri="{BB962C8B-B14F-4D97-AF65-F5344CB8AC3E}">
        <p14:creationId xmlns:p14="http://schemas.microsoft.com/office/powerpoint/2010/main" val="42783424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4E5A5A-49B8-F5A1-D03A-FE0EAAC0B98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D04DFBB-E858-9F47-0348-65EFDC05D361}"/>
              </a:ext>
            </a:extLst>
          </p:cNvPr>
          <p:cNvSpPr>
            <a:spLocks noGrp="1"/>
          </p:cNvSpPr>
          <p:nvPr>
            <p:ph type="title"/>
          </p:nvPr>
        </p:nvSpPr>
        <p:spPr/>
        <p:txBody>
          <a:bodyPr/>
          <a:lstStyle/>
          <a:p>
            <a:r>
              <a:rPr lang="es-ES" b="0" dirty="0">
                <a:ea typeface="+mj-lt"/>
                <a:cs typeface="+mj-lt"/>
              </a:rPr>
              <a:t>2.1.5.1. Contenido, </a:t>
            </a:r>
            <a:r>
              <a:rPr lang="es-ES" b="0" dirty="0" err="1">
                <a:ea typeface="+mj-lt"/>
                <a:cs typeface="+mj-lt"/>
              </a:rPr>
              <a:t>padding</a:t>
            </a:r>
            <a:r>
              <a:rPr lang="es-ES" b="0" dirty="0">
                <a:ea typeface="+mj-lt"/>
                <a:cs typeface="+mj-lt"/>
              </a:rPr>
              <a:t>, </a:t>
            </a:r>
            <a:r>
              <a:rPr lang="es-ES" b="0" dirty="0" err="1">
                <a:ea typeface="+mj-lt"/>
                <a:cs typeface="+mj-lt"/>
              </a:rPr>
              <a:t>border</a:t>
            </a:r>
            <a:r>
              <a:rPr lang="es-ES" b="0" dirty="0">
                <a:ea typeface="+mj-lt"/>
                <a:cs typeface="+mj-lt"/>
              </a:rPr>
              <a:t> y </a:t>
            </a:r>
            <a:r>
              <a:rPr lang="es-ES" b="0" dirty="0" err="1">
                <a:ea typeface="+mj-lt"/>
                <a:cs typeface="+mj-lt"/>
              </a:rPr>
              <a:t>margin</a:t>
            </a:r>
            <a:r>
              <a:rPr lang="es-ES" b="0" dirty="0">
                <a:ea typeface="+mj-lt"/>
                <a:cs typeface="+mj-lt"/>
              </a:rPr>
              <a:t>.</a:t>
            </a:r>
            <a:endParaRPr lang="es-ES" dirty="0"/>
          </a:p>
        </p:txBody>
      </p:sp>
      <p:sp>
        <p:nvSpPr>
          <p:cNvPr id="3" name="Marcador de contenido 2">
            <a:extLst>
              <a:ext uri="{FF2B5EF4-FFF2-40B4-BE49-F238E27FC236}">
                <a16:creationId xmlns:a16="http://schemas.microsoft.com/office/drawing/2014/main" id="{56F2CC4D-70B7-7C63-2DB1-B671F1CFB93F}"/>
              </a:ext>
            </a:extLst>
          </p:cNvPr>
          <p:cNvSpPr>
            <a:spLocks noGrp="1"/>
          </p:cNvSpPr>
          <p:nvPr>
            <p:ph idx="1"/>
          </p:nvPr>
        </p:nvSpPr>
        <p:spPr/>
        <p:txBody>
          <a:bodyPr vert="horz" lIns="91440" tIns="45720" rIns="91440" bIns="45720" rtlCol="0" anchor="t">
            <a:normAutofit lnSpcReduction="10000"/>
          </a:bodyPr>
          <a:lstStyle/>
          <a:p>
            <a:r>
              <a:rPr lang="es-ES" dirty="0">
                <a:ea typeface="+mn-lt"/>
                <a:cs typeface="+mn-lt"/>
              </a:rPr>
              <a:t>Margen (</a:t>
            </a:r>
            <a:r>
              <a:rPr lang="es-ES" dirty="0" err="1">
                <a:ea typeface="+mn-lt"/>
                <a:cs typeface="+mn-lt"/>
              </a:rPr>
              <a:t>Margin</a:t>
            </a:r>
            <a:r>
              <a:rPr lang="es-ES" dirty="0">
                <a:ea typeface="+mn-lt"/>
                <a:cs typeface="+mn-lt"/>
              </a:rPr>
              <a:t>): El margen es el espacio transparente que se encuentra fuera del borde, separando la caja de los elementos adyacentes.</a:t>
            </a:r>
            <a:endParaRPr lang="es-ES" dirty="0"/>
          </a:p>
          <a:p>
            <a:pPr lvl="1">
              <a:buFont typeface="Courier New" panose="020B0604020202020204" pitchFamily="34" charset="0"/>
              <a:buChar char="o"/>
            </a:pPr>
            <a:r>
              <a:rPr lang="es-ES" dirty="0" err="1">
                <a:ea typeface="+mn-lt"/>
                <a:cs typeface="+mn-lt"/>
              </a:rPr>
              <a:t>margin</a:t>
            </a:r>
            <a:r>
              <a:rPr lang="es-ES" dirty="0">
                <a:ea typeface="+mn-lt"/>
                <a:cs typeface="+mn-lt"/>
              </a:rPr>
              <a:t>-top: Margen superior.</a:t>
            </a:r>
          </a:p>
          <a:p>
            <a:pPr lvl="1">
              <a:buFont typeface="Courier New" panose="020B0604020202020204" pitchFamily="34" charset="0"/>
              <a:buChar char="o"/>
            </a:pPr>
            <a:r>
              <a:rPr lang="es-ES" dirty="0" err="1">
                <a:ea typeface="+mn-lt"/>
                <a:cs typeface="+mn-lt"/>
              </a:rPr>
              <a:t>margin-right</a:t>
            </a:r>
            <a:r>
              <a:rPr lang="es-ES" dirty="0">
                <a:ea typeface="+mn-lt"/>
                <a:cs typeface="+mn-lt"/>
              </a:rPr>
              <a:t>: Margen derecho.</a:t>
            </a:r>
          </a:p>
          <a:p>
            <a:pPr lvl="1">
              <a:buFont typeface="Courier New" panose="020B0604020202020204" pitchFamily="34" charset="0"/>
              <a:buChar char="o"/>
            </a:pPr>
            <a:r>
              <a:rPr lang="es-ES" dirty="0" err="1">
                <a:ea typeface="+mn-lt"/>
                <a:cs typeface="+mn-lt"/>
              </a:rPr>
              <a:t>margin</a:t>
            </a:r>
            <a:r>
              <a:rPr lang="es-ES" dirty="0">
                <a:ea typeface="+mn-lt"/>
                <a:cs typeface="+mn-lt"/>
              </a:rPr>
              <a:t>-bottom: Margen inferior.</a:t>
            </a:r>
          </a:p>
          <a:p>
            <a:pPr lvl="1">
              <a:buFont typeface="Courier New" panose="020B0604020202020204" pitchFamily="34" charset="0"/>
              <a:buChar char="o"/>
            </a:pPr>
            <a:r>
              <a:rPr lang="es-ES" dirty="0" err="1">
                <a:ea typeface="+mn-lt"/>
                <a:cs typeface="+mn-lt"/>
              </a:rPr>
              <a:t>margin-left</a:t>
            </a:r>
            <a:r>
              <a:rPr lang="es-ES" dirty="0">
                <a:ea typeface="+mn-lt"/>
                <a:cs typeface="+mn-lt"/>
              </a:rPr>
              <a:t>: Margen izquierdo.</a:t>
            </a:r>
          </a:p>
          <a:p>
            <a:pPr lvl="1">
              <a:buFont typeface="Courier New" panose="020B0604020202020204" pitchFamily="34" charset="0"/>
              <a:buChar char="o"/>
            </a:pPr>
            <a:r>
              <a:rPr lang="es-ES" dirty="0" err="1">
                <a:ea typeface="+mn-lt"/>
                <a:cs typeface="+mn-lt"/>
              </a:rPr>
              <a:t>margin</a:t>
            </a:r>
            <a:r>
              <a:rPr lang="es-ES" dirty="0">
                <a:ea typeface="+mn-lt"/>
                <a:cs typeface="+mn-lt"/>
              </a:rPr>
              <a:t>: Atajo para definir todos los márgenes a la vez.</a:t>
            </a:r>
          </a:p>
          <a:p>
            <a:r>
              <a:rPr lang="es-ES" dirty="0">
                <a:ea typeface="+mn-lt"/>
                <a:cs typeface="+mn-lt"/>
              </a:rPr>
              <a:t>Ejemplo:</a:t>
            </a:r>
          </a:p>
          <a:p>
            <a:pPr marL="0" indent="0">
              <a:buNone/>
            </a:pPr>
            <a:r>
              <a:rPr lang="es-ES" b="1" dirty="0">
                <a:latin typeface="Courier New"/>
                <a:ea typeface="+mn-lt"/>
                <a:cs typeface="+mn-lt"/>
              </a:rPr>
              <a:t>.caja-con-margen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margin</a:t>
            </a:r>
            <a:r>
              <a:rPr lang="es-ES" b="1" dirty="0">
                <a:latin typeface="Courier New"/>
                <a:ea typeface="+mn-lt"/>
                <a:cs typeface="+mn-lt"/>
              </a:rPr>
              <a:t>-top: 15px; /* Margen superior de 15px */</a:t>
            </a:r>
            <a:br>
              <a:rPr lang="es-ES" b="1" dirty="0">
                <a:latin typeface="Courier New"/>
                <a:ea typeface="+mn-lt"/>
                <a:cs typeface="+mn-lt"/>
              </a:rPr>
            </a:br>
            <a:r>
              <a:rPr lang="es-ES" b="1" dirty="0">
                <a:latin typeface="Courier New"/>
                <a:ea typeface="+mn-lt"/>
                <a:cs typeface="+mn-lt"/>
              </a:rPr>
              <a:t>}</a:t>
            </a:r>
          </a:p>
        </p:txBody>
      </p:sp>
    </p:spTree>
    <p:extLst>
      <p:ext uri="{BB962C8B-B14F-4D97-AF65-F5344CB8AC3E}">
        <p14:creationId xmlns:p14="http://schemas.microsoft.com/office/powerpoint/2010/main" val="19375772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3C27BF-E435-BCD0-FA47-FCBD05B5827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4488F07-3BE7-1679-EFEE-8F835698C5AB}"/>
              </a:ext>
            </a:extLst>
          </p:cNvPr>
          <p:cNvSpPr>
            <a:spLocks noGrp="1"/>
          </p:cNvSpPr>
          <p:nvPr>
            <p:ph type="title"/>
          </p:nvPr>
        </p:nvSpPr>
        <p:spPr/>
        <p:txBody>
          <a:bodyPr/>
          <a:lstStyle/>
          <a:p>
            <a:r>
              <a:rPr lang="es-ES" b="0" dirty="0">
                <a:ea typeface="+mj-lt"/>
                <a:cs typeface="+mj-lt"/>
              </a:rPr>
              <a:t>2.1.5.1. Contenido, </a:t>
            </a:r>
            <a:r>
              <a:rPr lang="es-ES" b="0" dirty="0" err="1">
                <a:ea typeface="+mj-lt"/>
                <a:cs typeface="+mj-lt"/>
              </a:rPr>
              <a:t>padding</a:t>
            </a:r>
            <a:r>
              <a:rPr lang="es-ES" b="0" dirty="0">
                <a:ea typeface="+mj-lt"/>
                <a:cs typeface="+mj-lt"/>
              </a:rPr>
              <a:t>, </a:t>
            </a:r>
            <a:r>
              <a:rPr lang="es-ES" b="0" dirty="0" err="1">
                <a:ea typeface="+mj-lt"/>
                <a:cs typeface="+mj-lt"/>
              </a:rPr>
              <a:t>border</a:t>
            </a:r>
            <a:r>
              <a:rPr lang="es-ES" b="0" dirty="0">
                <a:ea typeface="+mj-lt"/>
                <a:cs typeface="+mj-lt"/>
              </a:rPr>
              <a:t> y </a:t>
            </a:r>
            <a:r>
              <a:rPr lang="es-ES" b="0" dirty="0" err="1">
                <a:ea typeface="+mj-lt"/>
                <a:cs typeface="+mj-lt"/>
              </a:rPr>
              <a:t>margin</a:t>
            </a:r>
            <a:r>
              <a:rPr lang="es-ES" b="0" dirty="0">
                <a:ea typeface="+mj-lt"/>
                <a:cs typeface="+mj-lt"/>
              </a:rPr>
              <a:t>.</a:t>
            </a:r>
            <a:endParaRPr lang="es-ES" dirty="0"/>
          </a:p>
        </p:txBody>
      </p:sp>
      <p:sp>
        <p:nvSpPr>
          <p:cNvPr id="3" name="Marcador de contenido 2">
            <a:extLst>
              <a:ext uri="{FF2B5EF4-FFF2-40B4-BE49-F238E27FC236}">
                <a16:creationId xmlns:a16="http://schemas.microsoft.com/office/drawing/2014/main" id="{A4813AE6-3B52-9AD6-4012-CCF5680C419F}"/>
              </a:ext>
            </a:extLst>
          </p:cNvPr>
          <p:cNvSpPr>
            <a:spLocks noGrp="1"/>
          </p:cNvSpPr>
          <p:nvPr>
            <p:ph idx="1"/>
          </p:nvPr>
        </p:nvSpPr>
        <p:spPr/>
        <p:txBody>
          <a:bodyPr vert="horz" lIns="91440" tIns="45720" rIns="91440" bIns="45720" rtlCol="0" anchor="t">
            <a:normAutofit fontScale="62500" lnSpcReduction="20000"/>
          </a:bodyPr>
          <a:lstStyle/>
          <a:p>
            <a:r>
              <a:rPr lang="es-ES" dirty="0">
                <a:ea typeface="+mn-lt"/>
                <a:cs typeface="+mn-lt"/>
              </a:rPr>
              <a:t>Ejemplo: Combinando componentes. Considera el siguiente código:</a:t>
            </a:r>
            <a:endParaRPr lang="es-ES" dirty="0"/>
          </a:p>
          <a:p>
            <a:pPr marL="0" indent="0">
              <a:buNone/>
            </a:pPr>
            <a:r>
              <a:rPr lang="es-ES" b="1" dirty="0">
                <a:latin typeface="Courier New"/>
                <a:ea typeface="+mn-lt"/>
                <a:cs typeface="+mn-lt"/>
              </a:rPr>
              <a:t>&lt;</a:t>
            </a:r>
            <a:r>
              <a:rPr lang="es-ES" b="1" err="1">
                <a:latin typeface="Courier New"/>
                <a:ea typeface="+mn-lt"/>
                <a:cs typeface="+mn-lt"/>
              </a:rPr>
              <a:t>div</a:t>
            </a:r>
            <a:r>
              <a:rPr lang="es-ES" b="1" dirty="0">
                <a:latin typeface="Courier New"/>
                <a:ea typeface="+mn-lt"/>
                <a:cs typeface="+mn-lt"/>
              </a:rPr>
              <a:t> </a:t>
            </a:r>
            <a:r>
              <a:rPr lang="es-ES" b="1" err="1">
                <a:latin typeface="Courier New"/>
                <a:ea typeface="+mn-lt"/>
                <a:cs typeface="+mn-lt"/>
              </a:rPr>
              <a:t>class</a:t>
            </a:r>
            <a:r>
              <a:rPr lang="es-ES" b="1" dirty="0">
                <a:latin typeface="Courier New"/>
                <a:ea typeface="+mn-lt"/>
                <a:cs typeface="+mn-lt"/>
              </a:rPr>
              <a:t>="mi-caja"&gt;</a:t>
            </a:r>
            <a:br>
              <a:rPr lang="es-ES" b="1" dirty="0">
                <a:latin typeface="Courier New"/>
                <a:ea typeface="+mn-lt"/>
                <a:cs typeface="+mn-lt"/>
              </a:rPr>
            </a:br>
            <a:r>
              <a:rPr lang="es-ES" b="1" dirty="0">
                <a:latin typeface="Courier New"/>
                <a:ea typeface="+mn-lt"/>
                <a:cs typeface="+mn-lt"/>
              </a:rPr>
              <a:t>  &lt;h2&gt;Mi Caja&lt;/h2&gt;</a:t>
            </a:r>
            <a:br>
              <a:rPr lang="es-ES" b="1" dirty="0">
                <a:latin typeface="Courier New"/>
                <a:ea typeface="+mn-lt"/>
                <a:cs typeface="+mn-lt"/>
              </a:rPr>
            </a:br>
            <a:r>
              <a:rPr lang="es-ES" b="1" dirty="0">
                <a:latin typeface="Courier New"/>
                <a:ea typeface="+mn-lt"/>
                <a:cs typeface="+mn-lt"/>
              </a:rPr>
              <a:t>&lt;/</a:t>
            </a:r>
            <a:r>
              <a:rPr lang="es-ES" b="1" err="1">
                <a:latin typeface="Courier New"/>
                <a:ea typeface="+mn-lt"/>
                <a:cs typeface="+mn-lt"/>
              </a:rPr>
              <a:t>div</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.mi-caja {</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width</a:t>
            </a:r>
            <a:r>
              <a:rPr lang="es-ES" b="1" dirty="0">
                <a:latin typeface="Courier New"/>
                <a:ea typeface="+mn-lt"/>
                <a:cs typeface="+mn-lt"/>
              </a:rPr>
              <a:t>: 200px;</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height</a:t>
            </a:r>
            <a:r>
              <a:rPr lang="es-ES" b="1" dirty="0">
                <a:latin typeface="Courier New"/>
                <a:ea typeface="+mn-lt"/>
                <a:cs typeface="+mn-lt"/>
              </a:rPr>
              <a:t>: 100px;</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padding</a:t>
            </a:r>
            <a:r>
              <a:rPr lang="es-ES" b="1" dirty="0">
                <a:latin typeface="Courier New"/>
                <a:ea typeface="+mn-lt"/>
                <a:cs typeface="+mn-lt"/>
              </a:rPr>
              <a:t>: 20px;</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border</a:t>
            </a:r>
            <a:r>
              <a:rPr lang="es-ES" b="1" dirty="0">
                <a:latin typeface="Courier New"/>
                <a:ea typeface="+mn-lt"/>
                <a:cs typeface="+mn-lt"/>
              </a:rPr>
              <a:t>: 5px </a:t>
            </a:r>
            <a:r>
              <a:rPr lang="es-ES" b="1" dirty="0" err="1">
                <a:latin typeface="Courier New"/>
                <a:ea typeface="+mn-lt"/>
                <a:cs typeface="+mn-lt"/>
              </a:rPr>
              <a:t>solid</a:t>
            </a:r>
            <a:r>
              <a:rPr lang="es-ES" b="1" dirty="0">
                <a:latin typeface="Courier New"/>
                <a:ea typeface="+mn-lt"/>
                <a:cs typeface="+mn-lt"/>
              </a:rPr>
              <a:t> #007bff;</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margin</a:t>
            </a:r>
            <a:r>
              <a:rPr lang="es-ES" b="1" dirty="0">
                <a:latin typeface="Courier New"/>
                <a:ea typeface="+mn-lt"/>
                <a:cs typeface="+mn-lt"/>
              </a:rPr>
              <a:t>: 10px;</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background</a:t>
            </a:r>
            <a:r>
              <a:rPr lang="es-ES" b="1" dirty="0">
                <a:latin typeface="Courier New"/>
                <a:ea typeface="+mn-lt"/>
                <a:cs typeface="+mn-lt"/>
              </a:rPr>
              <a:t>-color: #f0f8ff;</a:t>
            </a:r>
            <a:br>
              <a:rPr lang="es-ES" b="1" dirty="0">
                <a:latin typeface="Courier New"/>
                <a:ea typeface="+mn-lt"/>
                <a:cs typeface="+mn-lt"/>
              </a:rPr>
            </a:br>
            <a:r>
              <a:rPr lang="es-ES" b="1" dirty="0">
                <a:latin typeface="Courier New"/>
                <a:ea typeface="+mn-lt"/>
                <a:cs typeface="+mn-lt"/>
              </a:rPr>
              <a:t>}</a:t>
            </a:r>
            <a:endParaRPr lang="es-ES" b="1" dirty="0">
              <a:latin typeface="Courier New"/>
            </a:endParaRPr>
          </a:p>
          <a:p>
            <a:r>
              <a:rPr lang="es-ES" dirty="0">
                <a:ea typeface="+mn-lt"/>
                <a:cs typeface="+mn-lt"/>
              </a:rPr>
              <a:t>Análisis de la caja:</a:t>
            </a:r>
          </a:p>
          <a:p>
            <a:pPr lvl="1">
              <a:buFont typeface="Courier New" panose="020B0604020202020204" pitchFamily="34" charset="0"/>
              <a:buChar char="o"/>
            </a:pPr>
            <a:r>
              <a:rPr lang="es-ES" dirty="0">
                <a:ea typeface="+mn-lt"/>
                <a:cs typeface="+mn-lt"/>
              </a:rPr>
              <a:t>Contenido: Ocupa un área de 200px x 100px.</a:t>
            </a:r>
            <a:endParaRPr lang="es-ES" sz="1800" dirty="0"/>
          </a:p>
          <a:p>
            <a:pPr lvl="1">
              <a:buFont typeface="Courier New" panose="020B0604020202020204" pitchFamily="34" charset="0"/>
              <a:buChar char="o"/>
            </a:pPr>
            <a:r>
              <a:rPr lang="es-ES" dirty="0">
                <a:ea typeface="+mn-lt"/>
                <a:cs typeface="+mn-lt"/>
              </a:rPr>
              <a:t>Relleno: 20px de espacio alrededor del contenido. El color del fondo (#f0f8ff) se extiende hasta aquí.</a:t>
            </a:r>
            <a:endParaRPr lang="es-ES" dirty="0"/>
          </a:p>
          <a:p>
            <a:pPr lvl="1">
              <a:buFont typeface="Courier New" panose="020B0604020202020204" pitchFamily="34" charset="0"/>
              <a:buChar char="o"/>
            </a:pPr>
            <a:r>
              <a:rPr lang="es-ES" dirty="0">
                <a:ea typeface="+mn-lt"/>
                <a:cs typeface="+mn-lt"/>
              </a:rPr>
              <a:t>Borde: 5px de grosor. Es una línea sólida de color azul.</a:t>
            </a:r>
          </a:p>
          <a:p>
            <a:pPr lvl="1">
              <a:buFont typeface="Courier New" panose="020B0604020202020204" pitchFamily="34" charset="0"/>
              <a:buChar char="o"/>
            </a:pPr>
            <a:r>
              <a:rPr lang="es-ES" dirty="0">
                <a:ea typeface="+mn-lt"/>
                <a:cs typeface="+mn-lt"/>
              </a:rPr>
              <a:t>Margen: 10px de espacio transparente alrededor del borde, separando esta caja de cualquier otra.</a:t>
            </a:r>
            <a:endParaRPr lang="es-ES" dirty="0"/>
          </a:p>
          <a:p>
            <a:r>
              <a:rPr lang="es-ES" dirty="0">
                <a:ea typeface="+mn-lt"/>
                <a:cs typeface="+mn-lt"/>
              </a:rPr>
              <a:t>El ancho total de la caja, tal como se renderiza en la pantalla (con la configuración por defecto de box-</a:t>
            </a:r>
            <a:r>
              <a:rPr lang="es-ES" dirty="0" err="1">
                <a:ea typeface="+mn-lt"/>
                <a:cs typeface="+mn-lt"/>
              </a:rPr>
              <a:t>sizing</a:t>
            </a:r>
            <a:r>
              <a:rPr lang="es-ES" dirty="0">
                <a:ea typeface="+mn-lt"/>
                <a:cs typeface="+mn-lt"/>
              </a:rPr>
              <a:t>), sería 10px (margen izq.) + 5px (borde izq.) + 20px (relleno izq.) + 200px (contenido) + 20px (relleno </a:t>
            </a:r>
            <a:r>
              <a:rPr lang="es-ES" dirty="0" err="1">
                <a:ea typeface="+mn-lt"/>
                <a:cs typeface="+mn-lt"/>
              </a:rPr>
              <a:t>der</a:t>
            </a:r>
            <a:r>
              <a:rPr lang="es-ES" dirty="0">
                <a:ea typeface="+mn-lt"/>
                <a:cs typeface="+mn-lt"/>
              </a:rPr>
              <a:t>.) + 5px (borde </a:t>
            </a:r>
            <a:r>
              <a:rPr lang="es-ES" dirty="0" err="1">
                <a:ea typeface="+mn-lt"/>
                <a:cs typeface="+mn-lt"/>
              </a:rPr>
              <a:t>der</a:t>
            </a:r>
            <a:r>
              <a:rPr lang="es-ES" dirty="0">
                <a:ea typeface="+mn-lt"/>
                <a:cs typeface="+mn-lt"/>
              </a:rPr>
              <a:t>.) + 10px (margen </a:t>
            </a:r>
            <a:r>
              <a:rPr lang="es-ES" dirty="0" err="1">
                <a:ea typeface="+mn-lt"/>
                <a:cs typeface="+mn-lt"/>
              </a:rPr>
              <a:t>der</a:t>
            </a:r>
            <a:r>
              <a:rPr lang="es-ES" dirty="0">
                <a:ea typeface="+mn-lt"/>
                <a:cs typeface="+mn-lt"/>
              </a:rPr>
              <a:t>.) = 270px.</a:t>
            </a:r>
            <a:endParaRPr lang="es-ES" dirty="0"/>
          </a:p>
          <a:p>
            <a:endParaRPr lang="es-ES" dirty="0">
              <a:latin typeface="Bierstadt"/>
              <a:ea typeface="+mn-lt"/>
              <a:cs typeface="+mn-lt"/>
            </a:endParaRPr>
          </a:p>
        </p:txBody>
      </p:sp>
    </p:spTree>
    <p:extLst>
      <p:ext uri="{BB962C8B-B14F-4D97-AF65-F5344CB8AC3E}">
        <p14:creationId xmlns:p14="http://schemas.microsoft.com/office/powerpoint/2010/main" val="29887553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01187C-A93E-DFE2-6B14-44449521C63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9DB03E6-023F-5E0C-0F47-399AD6BD9A8F}"/>
              </a:ext>
            </a:extLst>
          </p:cNvPr>
          <p:cNvSpPr>
            <a:spLocks noGrp="1"/>
          </p:cNvSpPr>
          <p:nvPr>
            <p:ph type="title"/>
          </p:nvPr>
        </p:nvSpPr>
        <p:spPr/>
        <p:txBody>
          <a:bodyPr/>
          <a:lstStyle/>
          <a:p>
            <a:r>
              <a:rPr lang="es-ES" b="0" dirty="0">
                <a:ea typeface="+mj-lt"/>
                <a:cs typeface="+mj-lt"/>
              </a:rPr>
              <a:t>2.1.5.2. Propiedades relacionadas: box-</a:t>
            </a:r>
            <a:r>
              <a:rPr lang="es-ES" b="0" dirty="0" err="1">
                <a:ea typeface="+mj-lt"/>
                <a:cs typeface="+mj-lt"/>
              </a:rPr>
              <a:t>sizing</a:t>
            </a:r>
            <a:r>
              <a:rPr lang="es-ES" b="0" dirty="0">
                <a:ea typeface="+mj-lt"/>
                <a:cs typeface="+mj-lt"/>
              </a:rPr>
              <a:t>, </a:t>
            </a:r>
            <a:r>
              <a:rPr lang="es-ES" b="0" dirty="0" err="1">
                <a:ea typeface="+mj-lt"/>
                <a:cs typeface="+mj-lt"/>
              </a:rPr>
              <a:t>overflow</a:t>
            </a:r>
            <a:r>
              <a:rPr lang="es-ES" b="0" dirty="0">
                <a:ea typeface="+mj-lt"/>
                <a:cs typeface="+mj-lt"/>
              </a:rPr>
              <a:t>, </a:t>
            </a:r>
            <a:r>
              <a:rPr lang="es-ES" b="0" dirty="0" err="1">
                <a:ea typeface="+mj-lt"/>
                <a:cs typeface="+mj-lt"/>
              </a:rPr>
              <a:t>visibility</a:t>
            </a:r>
            <a:r>
              <a:rPr lang="es-ES" b="0" dirty="0">
                <a:ea typeface="+mj-lt"/>
                <a:cs typeface="+mj-lt"/>
              </a:rPr>
              <a:t>.</a:t>
            </a:r>
            <a:endParaRPr lang="es-ES" dirty="0"/>
          </a:p>
        </p:txBody>
      </p:sp>
      <p:sp>
        <p:nvSpPr>
          <p:cNvPr id="3" name="Marcador de contenido 2">
            <a:extLst>
              <a:ext uri="{FF2B5EF4-FFF2-40B4-BE49-F238E27FC236}">
                <a16:creationId xmlns:a16="http://schemas.microsoft.com/office/drawing/2014/main" id="{1D112701-B89E-74EC-4841-4EAD49949282}"/>
              </a:ext>
            </a:extLst>
          </p:cNvPr>
          <p:cNvSpPr>
            <a:spLocks noGrp="1"/>
          </p:cNvSpPr>
          <p:nvPr>
            <p:ph idx="1"/>
          </p:nvPr>
        </p:nvSpPr>
        <p:spPr/>
        <p:txBody>
          <a:bodyPr vert="horz" lIns="91440" tIns="45720" rIns="91440" bIns="45720" rtlCol="0" anchor="t">
            <a:normAutofit/>
          </a:bodyPr>
          <a:lstStyle/>
          <a:p>
            <a:r>
              <a:rPr lang="es-ES" dirty="0">
                <a:ea typeface="+mn-lt"/>
                <a:cs typeface="+mn-lt"/>
              </a:rPr>
              <a:t>Además de los componentes principales del modelo de cajas, existen otras propiedades esenciales que nos dan más control sobre cómo se comportan y se visualizan los elementos.</a:t>
            </a:r>
            <a:endParaRPr lang="es-ES" dirty="0"/>
          </a:p>
          <a:p>
            <a:r>
              <a:rPr lang="es-ES" dirty="0">
                <a:ea typeface="+mn-lt"/>
                <a:cs typeface="+mn-lt"/>
              </a:rPr>
              <a:t>Propiedad box-</a:t>
            </a:r>
            <a:r>
              <a:rPr lang="es-ES" dirty="0" err="1">
                <a:ea typeface="+mn-lt"/>
                <a:cs typeface="+mn-lt"/>
              </a:rPr>
              <a:t>sizing</a:t>
            </a:r>
            <a:r>
              <a:rPr lang="es-ES" dirty="0">
                <a:ea typeface="+mn-lt"/>
                <a:cs typeface="+mn-lt"/>
              </a:rPr>
              <a:t>: Esta propiedad es crucial para simplificar los cálculos de diseño. Por defecto, los navegadores usan la propiedad box-</a:t>
            </a:r>
            <a:r>
              <a:rPr lang="es-ES" dirty="0" err="1">
                <a:ea typeface="+mn-lt"/>
                <a:cs typeface="+mn-lt"/>
              </a:rPr>
              <a:t>sizing</a:t>
            </a:r>
            <a:r>
              <a:rPr lang="es-ES" dirty="0">
                <a:ea typeface="+mn-lt"/>
                <a:cs typeface="+mn-lt"/>
              </a:rPr>
              <a:t> con el valor </a:t>
            </a:r>
            <a:r>
              <a:rPr lang="es-ES" dirty="0" err="1">
                <a:ea typeface="+mn-lt"/>
                <a:cs typeface="+mn-lt"/>
              </a:rPr>
              <a:t>content</a:t>
            </a:r>
            <a:r>
              <a:rPr lang="es-ES" dirty="0">
                <a:ea typeface="+mn-lt"/>
                <a:cs typeface="+mn-lt"/>
              </a:rPr>
              <a:t>-box. Esto significa que el </a:t>
            </a:r>
            <a:r>
              <a:rPr lang="es-ES" dirty="0" err="1">
                <a:ea typeface="+mn-lt"/>
                <a:cs typeface="+mn-lt"/>
              </a:rPr>
              <a:t>width</a:t>
            </a:r>
            <a:r>
              <a:rPr lang="es-ES" dirty="0">
                <a:ea typeface="+mn-lt"/>
                <a:cs typeface="+mn-lt"/>
              </a:rPr>
              <a:t> y el </a:t>
            </a:r>
            <a:r>
              <a:rPr lang="es-ES" dirty="0" err="1">
                <a:ea typeface="+mn-lt"/>
                <a:cs typeface="+mn-lt"/>
              </a:rPr>
              <a:t>height</a:t>
            </a:r>
            <a:r>
              <a:rPr lang="es-ES" dirty="0">
                <a:ea typeface="+mn-lt"/>
                <a:cs typeface="+mn-lt"/>
              </a:rPr>
              <a:t> de un elemento solo definen el tamaño del área de contenido y, por lo tanto, el </a:t>
            </a:r>
            <a:r>
              <a:rPr lang="es-ES" dirty="0" err="1">
                <a:ea typeface="+mn-lt"/>
                <a:cs typeface="+mn-lt"/>
              </a:rPr>
              <a:t>padding</a:t>
            </a:r>
            <a:r>
              <a:rPr lang="es-ES" dirty="0">
                <a:ea typeface="+mn-lt"/>
                <a:cs typeface="+mn-lt"/>
              </a:rPr>
              <a:t> y el </a:t>
            </a:r>
            <a:r>
              <a:rPr lang="es-ES" dirty="0" err="1">
                <a:ea typeface="+mn-lt"/>
                <a:cs typeface="+mn-lt"/>
              </a:rPr>
              <a:t>border</a:t>
            </a:r>
            <a:r>
              <a:rPr lang="es-ES" dirty="0">
                <a:ea typeface="+mn-lt"/>
                <a:cs typeface="+mn-lt"/>
              </a:rPr>
              <a:t> se añaden al ancho y alto (</a:t>
            </a:r>
            <a:r>
              <a:rPr lang="es-ES" dirty="0" err="1">
                <a:ea typeface="+mn-lt"/>
                <a:cs typeface="+mn-lt"/>
              </a:rPr>
              <a:t>width</a:t>
            </a:r>
            <a:r>
              <a:rPr lang="es-ES" dirty="0">
                <a:ea typeface="+mn-lt"/>
                <a:cs typeface="+mn-lt"/>
              </a:rPr>
              <a:t> y </a:t>
            </a:r>
            <a:r>
              <a:rPr lang="es-ES" dirty="0" err="1">
                <a:ea typeface="+mn-lt"/>
                <a:cs typeface="+mn-lt"/>
              </a:rPr>
              <a:t>height</a:t>
            </a:r>
            <a:r>
              <a:rPr lang="es-ES" dirty="0">
                <a:ea typeface="+mn-lt"/>
                <a:cs typeface="+mn-lt"/>
              </a:rPr>
              <a:t>) que declares. Esto a menudo causa que los elementos se desborden o no se ajusten como esperas.</a:t>
            </a:r>
            <a:endParaRPr lang="es-ES" dirty="0"/>
          </a:p>
          <a:p>
            <a:pPr lvl="1">
              <a:buFont typeface="Courier New" panose="020B0604020202020204" pitchFamily="34" charset="0"/>
              <a:buChar char="o"/>
            </a:pPr>
            <a:r>
              <a:rPr lang="es-ES" dirty="0">
                <a:ea typeface="+mn-lt"/>
                <a:cs typeface="+mn-lt"/>
              </a:rPr>
              <a:t>box-</a:t>
            </a:r>
            <a:r>
              <a:rPr lang="es-ES" dirty="0" err="1">
                <a:ea typeface="+mn-lt"/>
                <a:cs typeface="+mn-lt"/>
              </a:rPr>
              <a:t>sizing</a:t>
            </a:r>
            <a:r>
              <a:rPr lang="es-ES" dirty="0">
                <a:ea typeface="+mn-lt"/>
                <a:cs typeface="+mn-lt"/>
              </a:rPr>
              <a:t>: </a:t>
            </a:r>
            <a:r>
              <a:rPr lang="es-ES" dirty="0" err="1">
                <a:ea typeface="+mn-lt"/>
                <a:cs typeface="+mn-lt"/>
              </a:rPr>
              <a:t>content</a:t>
            </a:r>
            <a:r>
              <a:rPr lang="es-ES" dirty="0">
                <a:ea typeface="+mn-lt"/>
                <a:cs typeface="+mn-lt"/>
              </a:rPr>
              <a:t>-box (valor por defecto): El </a:t>
            </a:r>
            <a:r>
              <a:rPr lang="es-ES" dirty="0" err="1">
                <a:ea typeface="+mn-lt"/>
                <a:cs typeface="+mn-lt"/>
              </a:rPr>
              <a:t>width</a:t>
            </a:r>
            <a:r>
              <a:rPr lang="es-ES" dirty="0">
                <a:ea typeface="+mn-lt"/>
                <a:cs typeface="+mn-lt"/>
              </a:rPr>
              <a:t> y </a:t>
            </a:r>
            <a:r>
              <a:rPr lang="es-ES" dirty="0" err="1">
                <a:ea typeface="+mn-lt"/>
                <a:cs typeface="+mn-lt"/>
              </a:rPr>
              <a:t>height</a:t>
            </a:r>
            <a:r>
              <a:rPr lang="es-ES" dirty="0">
                <a:ea typeface="+mn-lt"/>
                <a:cs typeface="+mn-lt"/>
              </a:rPr>
              <a:t> solo se aplican al área de contenido.</a:t>
            </a:r>
            <a:endParaRPr lang="es-ES" dirty="0"/>
          </a:p>
          <a:p>
            <a:pPr lvl="1">
              <a:buFont typeface="Courier New" panose="020B0604020202020204" pitchFamily="34" charset="0"/>
              <a:buChar char="o"/>
            </a:pPr>
            <a:r>
              <a:rPr lang="es-ES" dirty="0">
                <a:ea typeface="+mn-lt"/>
                <a:cs typeface="+mn-lt"/>
              </a:rPr>
              <a:t>box-</a:t>
            </a:r>
            <a:r>
              <a:rPr lang="es-ES" dirty="0" err="1">
                <a:ea typeface="+mn-lt"/>
                <a:cs typeface="+mn-lt"/>
              </a:rPr>
              <a:t>sizing</a:t>
            </a:r>
            <a:r>
              <a:rPr lang="es-ES" dirty="0">
                <a:ea typeface="+mn-lt"/>
                <a:cs typeface="+mn-lt"/>
              </a:rPr>
              <a:t>: </a:t>
            </a:r>
            <a:r>
              <a:rPr lang="es-ES" dirty="0" err="1">
                <a:ea typeface="+mn-lt"/>
                <a:cs typeface="+mn-lt"/>
              </a:rPr>
              <a:t>border</a:t>
            </a:r>
            <a:r>
              <a:rPr lang="es-ES" dirty="0">
                <a:ea typeface="+mn-lt"/>
                <a:cs typeface="+mn-lt"/>
              </a:rPr>
              <a:t>-box: El </a:t>
            </a:r>
            <a:r>
              <a:rPr lang="es-ES" dirty="0" err="1">
                <a:ea typeface="+mn-lt"/>
                <a:cs typeface="+mn-lt"/>
              </a:rPr>
              <a:t>width</a:t>
            </a:r>
            <a:r>
              <a:rPr lang="es-ES" dirty="0">
                <a:ea typeface="+mn-lt"/>
                <a:cs typeface="+mn-lt"/>
              </a:rPr>
              <a:t> y </a:t>
            </a:r>
            <a:r>
              <a:rPr lang="es-ES" dirty="0" err="1">
                <a:ea typeface="+mn-lt"/>
                <a:cs typeface="+mn-lt"/>
              </a:rPr>
              <a:t>height</a:t>
            </a:r>
            <a:r>
              <a:rPr lang="es-ES" dirty="0">
                <a:ea typeface="+mn-lt"/>
                <a:cs typeface="+mn-lt"/>
              </a:rPr>
              <a:t> de la caja incluyen el </a:t>
            </a:r>
            <a:r>
              <a:rPr lang="es-ES" dirty="0" err="1">
                <a:ea typeface="+mn-lt"/>
                <a:cs typeface="+mn-lt"/>
              </a:rPr>
              <a:t>padding</a:t>
            </a:r>
            <a:r>
              <a:rPr lang="es-ES" dirty="0">
                <a:ea typeface="+mn-lt"/>
                <a:cs typeface="+mn-lt"/>
              </a:rPr>
              <a:t> y el </a:t>
            </a:r>
            <a:r>
              <a:rPr lang="es-ES" dirty="0" err="1">
                <a:ea typeface="+mn-lt"/>
                <a:cs typeface="+mn-lt"/>
              </a:rPr>
              <a:t>border</a:t>
            </a:r>
            <a:r>
              <a:rPr lang="es-ES" dirty="0">
                <a:ea typeface="+mn-lt"/>
                <a:cs typeface="+mn-lt"/>
              </a:rPr>
              <a:t>. Esta es la forma moderna de trabajar, ya que hace que los cálculos sean mucho más intuitivos y predecibles.</a:t>
            </a:r>
            <a:endParaRPr lang="es-ES" dirty="0"/>
          </a:p>
          <a:p>
            <a:endParaRPr lang="es-ES" dirty="0"/>
          </a:p>
        </p:txBody>
      </p:sp>
    </p:spTree>
    <p:extLst>
      <p:ext uri="{BB962C8B-B14F-4D97-AF65-F5344CB8AC3E}">
        <p14:creationId xmlns:p14="http://schemas.microsoft.com/office/powerpoint/2010/main" val="10649471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996059-130E-8A31-6634-E86CF4028BF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E78BA52-FCC5-55DD-FEF9-431FEA3163AC}"/>
              </a:ext>
            </a:extLst>
          </p:cNvPr>
          <p:cNvSpPr>
            <a:spLocks noGrp="1"/>
          </p:cNvSpPr>
          <p:nvPr>
            <p:ph type="title"/>
          </p:nvPr>
        </p:nvSpPr>
        <p:spPr/>
        <p:txBody>
          <a:bodyPr/>
          <a:lstStyle/>
          <a:p>
            <a:r>
              <a:rPr lang="es-ES" b="0" dirty="0">
                <a:ea typeface="+mj-lt"/>
                <a:cs typeface="+mj-lt"/>
              </a:rPr>
              <a:t>2.1.5.2. Propiedades relacionadas: box-</a:t>
            </a:r>
            <a:r>
              <a:rPr lang="es-ES" b="0" dirty="0" err="1">
                <a:ea typeface="+mj-lt"/>
                <a:cs typeface="+mj-lt"/>
              </a:rPr>
              <a:t>sizing</a:t>
            </a:r>
            <a:r>
              <a:rPr lang="es-ES" b="0" dirty="0">
                <a:ea typeface="+mj-lt"/>
                <a:cs typeface="+mj-lt"/>
              </a:rPr>
              <a:t>, </a:t>
            </a:r>
            <a:r>
              <a:rPr lang="es-ES" b="0" dirty="0" err="1">
                <a:ea typeface="+mj-lt"/>
                <a:cs typeface="+mj-lt"/>
              </a:rPr>
              <a:t>overflow</a:t>
            </a:r>
            <a:r>
              <a:rPr lang="es-ES" b="0" dirty="0">
                <a:ea typeface="+mj-lt"/>
                <a:cs typeface="+mj-lt"/>
              </a:rPr>
              <a:t>, </a:t>
            </a:r>
            <a:r>
              <a:rPr lang="es-ES" b="0" dirty="0" err="1">
                <a:ea typeface="+mj-lt"/>
                <a:cs typeface="+mj-lt"/>
              </a:rPr>
              <a:t>visibility</a:t>
            </a:r>
            <a:r>
              <a:rPr lang="es-ES" b="0" dirty="0">
                <a:ea typeface="+mj-lt"/>
                <a:cs typeface="+mj-lt"/>
              </a:rPr>
              <a:t>.</a:t>
            </a:r>
            <a:endParaRPr lang="es-ES" dirty="0"/>
          </a:p>
        </p:txBody>
      </p:sp>
      <p:sp>
        <p:nvSpPr>
          <p:cNvPr id="3" name="Marcador de contenido 2">
            <a:extLst>
              <a:ext uri="{FF2B5EF4-FFF2-40B4-BE49-F238E27FC236}">
                <a16:creationId xmlns:a16="http://schemas.microsoft.com/office/drawing/2014/main" id="{25083E2A-B3B1-EB3B-5181-EF47593E1C76}"/>
              </a:ext>
            </a:extLst>
          </p:cNvPr>
          <p:cNvSpPr>
            <a:spLocks noGrp="1"/>
          </p:cNvSpPr>
          <p:nvPr>
            <p:ph idx="1"/>
          </p:nvPr>
        </p:nvSpPr>
        <p:spPr/>
        <p:txBody>
          <a:bodyPr vert="horz" lIns="91440" tIns="45720" rIns="91440" bIns="45720" rtlCol="0" anchor="t">
            <a:normAutofit fontScale="85000" lnSpcReduction="10000"/>
          </a:bodyPr>
          <a:lstStyle/>
          <a:p>
            <a:r>
              <a:rPr lang="es-ES" dirty="0">
                <a:ea typeface="+mn-lt"/>
                <a:cs typeface="+mn-lt"/>
              </a:rPr>
              <a:t>Ejemplo: </a:t>
            </a:r>
            <a:r>
              <a:rPr lang="es-ES" dirty="0" err="1">
                <a:ea typeface="+mn-lt"/>
                <a:cs typeface="+mn-lt"/>
              </a:rPr>
              <a:t>content</a:t>
            </a:r>
            <a:r>
              <a:rPr lang="es-ES" dirty="0">
                <a:ea typeface="+mn-lt"/>
                <a:cs typeface="+mn-lt"/>
              </a:rPr>
              <a:t>-box (por defecto) Si un &lt;</a:t>
            </a:r>
            <a:r>
              <a:rPr lang="es-ES" dirty="0" err="1">
                <a:ea typeface="+mn-lt"/>
                <a:cs typeface="+mn-lt"/>
              </a:rPr>
              <a:t>div</a:t>
            </a:r>
            <a:r>
              <a:rPr lang="es-ES" dirty="0">
                <a:ea typeface="+mn-lt"/>
                <a:cs typeface="+mn-lt"/>
              </a:rPr>
              <a:t>&gt; tiene </a:t>
            </a:r>
            <a:r>
              <a:rPr lang="es-ES" dirty="0" err="1">
                <a:ea typeface="+mn-lt"/>
                <a:cs typeface="+mn-lt"/>
              </a:rPr>
              <a:t>width</a:t>
            </a:r>
            <a:r>
              <a:rPr lang="es-ES" dirty="0">
                <a:ea typeface="+mn-lt"/>
                <a:cs typeface="+mn-lt"/>
              </a:rPr>
              <a:t>: 200px; </a:t>
            </a:r>
            <a:r>
              <a:rPr lang="es-ES" dirty="0" err="1">
                <a:ea typeface="+mn-lt"/>
                <a:cs typeface="+mn-lt"/>
              </a:rPr>
              <a:t>padding</a:t>
            </a:r>
            <a:r>
              <a:rPr lang="es-ES" dirty="0">
                <a:ea typeface="+mn-lt"/>
                <a:cs typeface="+mn-lt"/>
              </a:rPr>
              <a:t>: 10px; </a:t>
            </a:r>
            <a:r>
              <a:rPr lang="es-ES" dirty="0" err="1">
                <a:ea typeface="+mn-lt"/>
                <a:cs typeface="+mn-lt"/>
              </a:rPr>
              <a:t>border</a:t>
            </a:r>
            <a:r>
              <a:rPr lang="es-ES" dirty="0">
                <a:ea typeface="+mn-lt"/>
                <a:cs typeface="+mn-lt"/>
              </a:rPr>
              <a:t>: 5px;, su ancho real en la pantalla será de 200px (contenido) + 10px (</a:t>
            </a:r>
            <a:r>
              <a:rPr lang="es-ES" dirty="0" err="1">
                <a:ea typeface="+mn-lt"/>
                <a:cs typeface="+mn-lt"/>
              </a:rPr>
              <a:t>padding</a:t>
            </a:r>
            <a:r>
              <a:rPr lang="es-ES" dirty="0">
                <a:ea typeface="+mn-lt"/>
                <a:cs typeface="+mn-lt"/>
              </a:rPr>
              <a:t> izquierdo) + 10px (</a:t>
            </a:r>
            <a:r>
              <a:rPr lang="es-ES" dirty="0" err="1">
                <a:ea typeface="+mn-lt"/>
                <a:cs typeface="+mn-lt"/>
              </a:rPr>
              <a:t>padding</a:t>
            </a:r>
            <a:r>
              <a:rPr lang="es-ES" dirty="0">
                <a:ea typeface="+mn-lt"/>
                <a:cs typeface="+mn-lt"/>
              </a:rPr>
              <a:t> derecho) + 5px (borde izquierdo) + 5px (borde derecho) = 230px.</a:t>
            </a:r>
            <a:endParaRPr lang="es-ES" dirty="0"/>
          </a:p>
          <a:p>
            <a:r>
              <a:rPr lang="es-ES" dirty="0">
                <a:ea typeface="+mn-lt"/>
                <a:cs typeface="+mn-lt"/>
              </a:rPr>
              <a:t>El valor </a:t>
            </a:r>
            <a:r>
              <a:rPr lang="es-ES" dirty="0" err="1">
                <a:ea typeface="+mn-lt"/>
                <a:cs typeface="+mn-lt"/>
              </a:rPr>
              <a:t>border</a:t>
            </a:r>
            <a:r>
              <a:rPr lang="es-ES" dirty="0">
                <a:ea typeface="+mn-lt"/>
                <a:cs typeface="+mn-lt"/>
              </a:rPr>
              <a:t>-box es una alternativa moderna y muy utilizada. Con box-</a:t>
            </a:r>
            <a:r>
              <a:rPr lang="es-ES" dirty="0" err="1">
                <a:ea typeface="+mn-lt"/>
                <a:cs typeface="+mn-lt"/>
              </a:rPr>
              <a:t>sizing</a:t>
            </a:r>
            <a:r>
              <a:rPr lang="es-ES" dirty="0">
                <a:ea typeface="+mn-lt"/>
                <a:cs typeface="+mn-lt"/>
              </a:rPr>
              <a:t>: </a:t>
            </a:r>
            <a:r>
              <a:rPr lang="es-ES" dirty="0" err="1">
                <a:ea typeface="+mn-lt"/>
                <a:cs typeface="+mn-lt"/>
              </a:rPr>
              <a:t>border</a:t>
            </a:r>
            <a:r>
              <a:rPr lang="es-ES" dirty="0">
                <a:ea typeface="+mn-lt"/>
                <a:cs typeface="+mn-lt"/>
              </a:rPr>
              <a:t>-box;, el </a:t>
            </a:r>
            <a:r>
              <a:rPr lang="es-ES" dirty="0" err="1">
                <a:ea typeface="+mn-lt"/>
                <a:cs typeface="+mn-lt"/>
              </a:rPr>
              <a:t>width</a:t>
            </a:r>
            <a:r>
              <a:rPr lang="es-ES" dirty="0">
                <a:ea typeface="+mn-lt"/>
                <a:cs typeface="+mn-lt"/>
              </a:rPr>
              <a:t> y el </a:t>
            </a:r>
            <a:r>
              <a:rPr lang="es-ES" dirty="0" err="1">
                <a:ea typeface="+mn-lt"/>
                <a:cs typeface="+mn-lt"/>
              </a:rPr>
              <a:t>height</a:t>
            </a:r>
            <a:r>
              <a:rPr lang="es-ES" dirty="0">
                <a:ea typeface="+mn-lt"/>
                <a:cs typeface="+mn-lt"/>
              </a:rPr>
              <a:t> del elemento incluyen tanto el </a:t>
            </a:r>
            <a:r>
              <a:rPr lang="es-ES" dirty="0" err="1">
                <a:ea typeface="+mn-lt"/>
                <a:cs typeface="+mn-lt"/>
              </a:rPr>
              <a:t>padding</a:t>
            </a:r>
            <a:r>
              <a:rPr lang="es-ES" dirty="0">
                <a:ea typeface="+mn-lt"/>
                <a:cs typeface="+mn-lt"/>
              </a:rPr>
              <a:t> como el </a:t>
            </a:r>
            <a:r>
              <a:rPr lang="es-ES" dirty="0" err="1">
                <a:ea typeface="+mn-lt"/>
                <a:cs typeface="+mn-lt"/>
              </a:rPr>
              <a:t>border</a:t>
            </a:r>
            <a:r>
              <a:rPr lang="es-ES" dirty="0">
                <a:ea typeface="+mn-lt"/>
                <a:cs typeface="+mn-lt"/>
              </a:rPr>
              <a:t>. Esto simplifica enormemente el cálculo del diseño y hace que las maquetaciones sean mucho más predecibles.</a:t>
            </a:r>
          </a:p>
          <a:p>
            <a:r>
              <a:rPr lang="es-ES" dirty="0">
                <a:ea typeface="+mn-lt"/>
                <a:cs typeface="+mn-lt"/>
              </a:rPr>
              <a:t>Ejemplo: </a:t>
            </a:r>
            <a:r>
              <a:rPr lang="es-ES" dirty="0" err="1">
                <a:ea typeface="+mn-lt"/>
                <a:cs typeface="+mn-lt"/>
              </a:rPr>
              <a:t>border</a:t>
            </a:r>
            <a:r>
              <a:rPr lang="es-ES" dirty="0">
                <a:ea typeface="+mn-lt"/>
                <a:cs typeface="+mn-lt"/>
              </a:rPr>
              <a:t>-box. Si el mismo &lt;</a:t>
            </a:r>
            <a:r>
              <a:rPr lang="es-ES" dirty="0" err="1">
                <a:ea typeface="+mn-lt"/>
                <a:cs typeface="+mn-lt"/>
              </a:rPr>
              <a:t>div</a:t>
            </a:r>
            <a:r>
              <a:rPr lang="es-ES" dirty="0">
                <a:ea typeface="+mn-lt"/>
                <a:cs typeface="+mn-lt"/>
              </a:rPr>
              <a:t>&gt; tiene </a:t>
            </a:r>
            <a:r>
              <a:rPr lang="es-ES" dirty="0" err="1">
                <a:ea typeface="+mn-lt"/>
                <a:cs typeface="+mn-lt"/>
              </a:rPr>
              <a:t>width</a:t>
            </a:r>
            <a:r>
              <a:rPr lang="es-ES" dirty="0">
                <a:ea typeface="+mn-lt"/>
                <a:cs typeface="+mn-lt"/>
              </a:rPr>
              <a:t>: 200px; </a:t>
            </a:r>
            <a:r>
              <a:rPr lang="es-ES" dirty="0" err="1">
                <a:ea typeface="+mn-lt"/>
                <a:cs typeface="+mn-lt"/>
              </a:rPr>
              <a:t>padding</a:t>
            </a:r>
            <a:r>
              <a:rPr lang="es-ES" dirty="0">
                <a:ea typeface="+mn-lt"/>
                <a:cs typeface="+mn-lt"/>
              </a:rPr>
              <a:t>: 10px; </a:t>
            </a:r>
            <a:r>
              <a:rPr lang="es-ES" dirty="0" err="1">
                <a:ea typeface="+mn-lt"/>
                <a:cs typeface="+mn-lt"/>
              </a:rPr>
              <a:t>border</a:t>
            </a:r>
            <a:r>
              <a:rPr lang="es-ES" dirty="0">
                <a:ea typeface="+mn-lt"/>
                <a:cs typeface="+mn-lt"/>
              </a:rPr>
              <a:t>: 5px; y box-</a:t>
            </a:r>
            <a:r>
              <a:rPr lang="es-ES" dirty="0" err="1">
                <a:ea typeface="+mn-lt"/>
                <a:cs typeface="+mn-lt"/>
              </a:rPr>
              <a:t>sizing</a:t>
            </a:r>
            <a:r>
              <a:rPr lang="es-ES" dirty="0">
                <a:ea typeface="+mn-lt"/>
                <a:cs typeface="+mn-lt"/>
              </a:rPr>
              <a:t>: </a:t>
            </a:r>
            <a:r>
              <a:rPr lang="es-ES" dirty="0" err="1">
                <a:ea typeface="+mn-lt"/>
                <a:cs typeface="+mn-lt"/>
              </a:rPr>
              <a:t>border</a:t>
            </a:r>
            <a:r>
              <a:rPr lang="es-ES" dirty="0">
                <a:ea typeface="+mn-lt"/>
                <a:cs typeface="+mn-lt"/>
              </a:rPr>
              <a:t>-box;, su ancho total en la pantalla seguirá siendo de 200px. El espacio de </a:t>
            </a:r>
            <a:r>
              <a:rPr lang="es-ES" dirty="0" err="1">
                <a:ea typeface="+mn-lt"/>
                <a:cs typeface="+mn-lt"/>
              </a:rPr>
              <a:t>padding</a:t>
            </a:r>
            <a:r>
              <a:rPr lang="es-ES" dirty="0">
                <a:ea typeface="+mn-lt"/>
                <a:cs typeface="+mn-lt"/>
              </a:rPr>
              <a:t> y </a:t>
            </a:r>
            <a:r>
              <a:rPr lang="es-ES" dirty="0" err="1">
                <a:ea typeface="+mn-lt"/>
                <a:cs typeface="+mn-lt"/>
              </a:rPr>
              <a:t>border</a:t>
            </a:r>
            <a:r>
              <a:rPr lang="es-ES" dirty="0">
                <a:ea typeface="+mn-lt"/>
                <a:cs typeface="+mn-lt"/>
              </a:rPr>
              <a:t> simplemente se "roban" del área de contenido.</a:t>
            </a:r>
          </a:p>
          <a:p>
            <a:r>
              <a:rPr lang="es-ES" dirty="0">
                <a:ea typeface="+mn-lt"/>
                <a:cs typeface="+mn-lt"/>
              </a:rPr>
              <a:t>Es una buena práctica de desarrollo establecer box-</a:t>
            </a:r>
            <a:r>
              <a:rPr lang="es-ES" dirty="0" err="1">
                <a:ea typeface="+mn-lt"/>
                <a:cs typeface="+mn-lt"/>
              </a:rPr>
              <a:t>sizing</a:t>
            </a:r>
            <a:r>
              <a:rPr lang="es-ES" dirty="0">
                <a:ea typeface="+mn-lt"/>
                <a:cs typeface="+mn-lt"/>
              </a:rPr>
              <a:t>: </a:t>
            </a:r>
            <a:r>
              <a:rPr lang="es-ES" dirty="0" err="1">
                <a:ea typeface="+mn-lt"/>
                <a:cs typeface="+mn-lt"/>
              </a:rPr>
              <a:t>border</a:t>
            </a:r>
            <a:r>
              <a:rPr lang="es-ES" dirty="0">
                <a:ea typeface="+mn-lt"/>
                <a:cs typeface="+mn-lt"/>
              </a:rPr>
              <a:t>-box; globalmente en tu hoja de estilos, ya que facilita la maquetación.</a:t>
            </a:r>
            <a:endParaRPr lang="es-ES" dirty="0"/>
          </a:p>
          <a:p>
            <a:r>
              <a:rPr lang="es-ES" b="1" dirty="0">
                <a:latin typeface="Courier New"/>
                <a:ea typeface="+mn-lt"/>
                <a:cs typeface="+mn-lt"/>
              </a:rPr>
              <a:t>/* </a:t>
            </a:r>
            <a:r>
              <a:rPr lang="es-ES" b="1" dirty="0" err="1">
                <a:latin typeface="Courier New"/>
                <a:ea typeface="+mn-lt"/>
                <a:cs typeface="+mn-lt"/>
              </a:rPr>
              <a:t>Reset</a:t>
            </a:r>
            <a:r>
              <a:rPr lang="es-ES" b="1" dirty="0">
                <a:latin typeface="Courier New"/>
                <a:ea typeface="+mn-lt"/>
                <a:cs typeface="+mn-lt"/>
              </a:rPr>
              <a:t> global para usar </a:t>
            </a:r>
            <a:r>
              <a:rPr lang="es-ES" b="1" dirty="0" err="1">
                <a:latin typeface="Courier New"/>
                <a:ea typeface="+mn-lt"/>
                <a:cs typeface="+mn-lt"/>
              </a:rPr>
              <a:t>border</a:t>
            </a:r>
            <a:r>
              <a:rPr lang="es-ES" b="1" dirty="0">
                <a:latin typeface="Courier New"/>
                <a:ea typeface="+mn-lt"/>
                <a:cs typeface="+mn-lt"/>
              </a:rPr>
              <a:t>-box en todos los elementos */</a:t>
            </a:r>
            <a:br>
              <a:rPr lang="es-ES" b="1" dirty="0">
                <a:latin typeface="Courier New"/>
                <a:ea typeface="+mn-lt"/>
                <a:cs typeface="+mn-lt"/>
              </a:rPr>
            </a:b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box-</a:t>
            </a:r>
            <a:r>
              <a:rPr lang="es-ES" b="1" dirty="0" err="1">
                <a:latin typeface="Courier New"/>
                <a:ea typeface="+mn-lt"/>
                <a:cs typeface="+mn-lt"/>
              </a:rPr>
              <a:t>sizing</a:t>
            </a:r>
            <a:r>
              <a:rPr lang="es-ES" b="1" dirty="0">
                <a:latin typeface="Courier New"/>
                <a:ea typeface="+mn-lt"/>
                <a:cs typeface="+mn-lt"/>
              </a:rPr>
              <a:t>: </a:t>
            </a:r>
            <a:r>
              <a:rPr lang="es-ES" b="1" dirty="0" err="1">
                <a:latin typeface="Courier New"/>
                <a:ea typeface="+mn-lt"/>
                <a:cs typeface="+mn-lt"/>
              </a:rPr>
              <a:t>border</a:t>
            </a:r>
            <a:r>
              <a:rPr lang="es-ES" b="1" dirty="0">
                <a:latin typeface="Courier New"/>
                <a:ea typeface="+mn-lt"/>
                <a:cs typeface="+mn-lt"/>
              </a:rPr>
              <a:t>-box;</a:t>
            </a:r>
            <a:br>
              <a:rPr lang="es-ES" b="1" dirty="0">
                <a:latin typeface="Courier New"/>
                <a:ea typeface="+mn-lt"/>
                <a:cs typeface="+mn-lt"/>
              </a:rPr>
            </a:br>
            <a:r>
              <a:rPr lang="es-ES" b="1" dirty="0">
                <a:latin typeface="Courier New"/>
                <a:ea typeface="+mn-lt"/>
                <a:cs typeface="+mn-lt"/>
              </a:rPr>
              <a:t>}</a:t>
            </a:r>
            <a:endParaRPr lang="es-ES" b="1" dirty="0">
              <a:latin typeface="Courier New"/>
            </a:endParaRPr>
          </a:p>
          <a:p>
            <a:endParaRPr lang="es-ES" dirty="0"/>
          </a:p>
        </p:txBody>
      </p:sp>
    </p:spTree>
    <p:extLst>
      <p:ext uri="{BB962C8B-B14F-4D97-AF65-F5344CB8AC3E}">
        <p14:creationId xmlns:p14="http://schemas.microsoft.com/office/powerpoint/2010/main" val="13119224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43107F-8BE0-A7E1-C2AE-35DE980B59B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F0185FF-19E7-6022-0B7C-C4B91621D446}"/>
              </a:ext>
            </a:extLst>
          </p:cNvPr>
          <p:cNvSpPr>
            <a:spLocks noGrp="1"/>
          </p:cNvSpPr>
          <p:nvPr>
            <p:ph type="title"/>
          </p:nvPr>
        </p:nvSpPr>
        <p:spPr/>
        <p:txBody>
          <a:bodyPr/>
          <a:lstStyle/>
          <a:p>
            <a:r>
              <a:rPr lang="es-ES" b="0" dirty="0">
                <a:ea typeface="+mj-lt"/>
                <a:cs typeface="+mj-lt"/>
              </a:rPr>
              <a:t>2.1.5.2. Propiedades relacionadas: box-</a:t>
            </a:r>
            <a:r>
              <a:rPr lang="es-ES" b="0" dirty="0" err="1">
                <a:ea typeface="+mj-lt"/>
                <a:cs typeface="+mj-lt"/>
              </a:rPr>
              <a:t>sizing</a:t>
            </a:r>
            <a:r>
              <a:rPr lang="es-ES" b="0" dirty="0">
                <a:ea typeface="+mj-lt"/>
                <a:cs typeface="+mj-lt"/>
              </a:rPr>
              <a:t>, </a:t>
            </a:r>
            <a:r>
              <a:rPr lang="es-ES" b="0" dirty="0" err="1">
                <a:ea typeface="+mj-lt"/>
                <a:cs typeface="+mj-lt"/>
              </a:rPr>
              <a:t>overflow</a:t>
            </a:r>
            <a:r>
              <a:rPr lang="es-ES" b="0" dirty="0">
                <a:ea typeface="+mj-lt"/>
                <a:cs typeface="+mj-lt"/>
              </a:rPr>
              <a:t>, </a:t>
            </a:r>
            <a:r>
              <a:rPr lang="es-ES" b="0" dirty="0" err="1">
                <a:ea typeface="+mj-lt"/>
                <a:cs typeface="+mj-lt"/>
              </a:rPr>
              <a:t>visibility</a:t>
            </a:r>
            <a:r>
              <a:rPr lang="es-ES" b="0" dirty="0">
                <a:ea typeface="+mj-lt"/>
                <a:cs typeface="+mj-lt"/>
              </a:rPr>
              <a:t>.</a:t>
            </a:r>
            <a:endParaRPr lang="es-ES" dirty="0"/>
          </a:p>
        </p:txBody>
      </p:sp>
      <p:sp>
        <p:nvSpPr>
          <p:cNvPr id="3" name="Marcador de contenido 2">
            <a:extLst>
              <a:ext uri="{FF2B5EF4-FFF2-40B4-BE49-F238E27FC236}">
                <a16:creationId xmlns:a16="http://schemas.microsoft.com/office/drawing/2014/main" id="{0BC2452B-EDDD-F62C-80F0-96457F3C21E8}"/>
              </a:ext>
            </a:extLst>
          </p:cNvPr>
          <p:cNvSpPr>
            <a:spLocks noGrp="1"/>
          </p:cNvSpPr>
          <p:nvPr>
            <p:ph idx="1"/>
          </p:nvPr>
        </p:nvSpPr>
        <p:spPr/>
        <p:txBody>
          <a:bodyPr vert="horz" lIns="91440" tIns="45720" rIns="91440" bIns="45720" rtlCol="0" anchor="t">
            <a:normAutofit fontScale="85000" lnSpcReduction="20000"/>
          </a:bodyPr>
          <a:lstStyle/>
          <a:p>
            <a:r>
              <a:rPr lang="es-ES" dirty="0">
                <a:ea typeface="+mn-lt"/>
                <a:cs typeface="+mn-lt"/>
              </a:rPr>
              <a:t>Ejemplo: Imagina que tienes dos cajas que quieres que midan exactamente 200px de ancho, pero una tiene </a:t>
            </a:r>
            <a:r>
              <a:rPr lang="es-ES" dirty="0" err="1">
                <a:ea typeface="+mn-lt"/>
                <a:cs typeface="+mn-lt"/>
              </a:rPr>
              <a:t>padding</a:t>
            </a:r>
            <a:r>
              <a:rPr lang="es-ES" dirty="0">
                <a:ea typeface="+mn-lt"/>
                <a:cs typeface="+mn-lt"/>
              </a:rPr>
              <a:t> y </a:t>
            </a:r>
            <a:r>
              <a:rPr lang="es-ES" dirty="0" err="1">
                <a:ea typeface="+mn-lt"/>
                <a:cs typeface="+mn-lt"/>
              </a:rPr>
              <a:t>border</a:t>
            </a:r>
            <a:r>
              <a:rPr lang="es-ES" dirty="0">
                <a:ea typeface="+mn-lt"/>
                <a:cs typeface="+mn-lt"/>
              </a:rPr>
              <a:t>.</a:t>
            </a:r>
            <a:endParaRPr lang="es-ES" dirty="0"/>
          </a:p>
          <a:p>
            <a:pPr marL="0" indent="0">
              <a:buNone/>
            </a:pPr>
            <a:r>
              <a:rPr lang="es-ES" b="1" dirty="0">
                <a:latin typeface="Courier New"/>
                <a:ea typeface="+mn-lt"/>
                <a:cs typeface="+mn-lt"/>
              </a:rPr>
              <a:t>.caja-</a:t>
            </a:r>
            <a:r>
              <a:rPr lang="es-ES" b="1" dirty="0" err="1">
                <a:latin typeface="Courier New"/>
                <a:ea typeface="+mn-lt"/>
                <a:cs typeface="+mn-lt"/>
              </a:rPr>
              <a:t>content</a:t>
            </a: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width</a:t>
            </a:r>
            <a:r>
              <a:rPr lang="es-ES" b="1" dirty="0">
                <a:latin typeface="Courier New"/>
                <a:ea typeface="+mn-lt"/>
                <a:cs typeface="+mn-lt"/>
              </a:rPr>
              <a:t>: 200px;</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padding</a:t>
            </a:r>
            <a:r>
              <a:rPr lang="es-ES" b="1" dirty="0">
                <a:latin typeface="Courier New"/>
                <a:ea typeface="+mn-lt"/>
                <a:cs typeface="+mn-lt"/>
              </a:rPr>
              <a:t>: 10px;</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border</a:t>
            </a:r>
            <a:r>
              <a:rPr lang="es-ES" b="1" dirty="0">
                <a:latin typeface="Courier New"/>
                <a:ea typeface="+mn-lt"/>
                <a:cs typeface="+mn-lt"/>
              </a:rPr>
              <a:t>: 5px </a:t>
            </a:r>
            <a:r>
              <a:rPr lang="es-ES" b="1" dirty="0" err="1">
                <a:latin typeface="Courier New"/>
                <a:ea typeface="+mn-lt"/>
                <a:cs typeface="+mn-lt"/>
              </a:rPr>
              <a:t>solid</a:t>
            </a:r>
            <a:r>
              <a:rPr lang="es-ES" b="1" dirty="0">
                <a:latin typeface="Courier New"/>
                <a:ea typeface="+mn-lt"/>
                <a:cs typeface="+mn-lt"/>
              </a:rPr>
              <a:t> </a:t>
            </a:r>
            <a:r>
              <a:rPr lang="es-ES" b="1" dirty="0" err="1">
                <a:latin typeface="Courier New"/>
                <a:ea typeface="+mn-lt"/>
                <a:cs typeface="+mn-lt"/>
              </a:rPr>
              <a:t>black</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background</a:t>
            </a:r>
            <a:r>
              <a:rPr lang="es-ES" b="1" dirty="0">
                <a:latin typeface="Courier New"/>
                <a:ea typeface="+mn-lt"/>
                <a:cs typeface="+mn-lt"/>
              </a:rPr>
              <a:t>-color: </a:t>
            </a:r>
            <a:r>
              <a:rPr lang="es-ES" b="1" dirty="0" err="1">
                <a:latin typeface="Courier New"/>
                <a:ea typeface="+mn-lt"/>
                <a:cs typeface="+mn-lt"/>
              </a:rPr>
              <a:t>lightcoral</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.caja-</a:t>
            </a:r>
            <a:r>
              <a:rPr lang="es-ES" b="1" dirty="0" err="1">
                <a:latin typeface="Courier New"/>
                <a:ea typeface="+mn-lt"/>
                <a:cs typeface="+mn-lt"/>
              </a:rPr>
              <a:t>border</a:t>
            </a: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width</a:t>
            </a:r>
            <a:r>
              <a:rPr lang="es-ES" b="1" dirty="0">
                <a:latin typeface="Courier New"/>
                <a:ea typeface="+mn-lt"/>
                <a:cs typeface="+mn-lt"/>
              </a:rPr>
              <a:t>: 200px;</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padding</a:t>
            </a:r>
            <a:r>
              <a:rPr lang="es-ES" b="1" dirty="0">
                <a:latin typeface="Courier New"/>
                <a:ea typeface="+mn-lt"/>
                <a:cs typeface="+mn-lt"/>
              </a:rPr>
              <a:t>: 10px;</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border</a:t>
            </a:r>
            <a:r>
              <a:rPr lang="es-ES" b="1" dirty="0">
                <a:latin typeface="Courier New"/>
                <a:ea typeface="+mn-lt"/>
                <a:cs typeface="+mn-lt"/>
              </a:rPr>
              <a:t>: 5px </a:t>
            </a:r>
            <a:r>
              <a:rPr lang="es-ES" b="1" dirty="0" err="1">
                <a:latin typeface="Courier New"/>
                <a:ea typeface="+mn-lt"/>
                <a:cs typeface="+mn-lt"/>
              </a:rPr>
              <a:t>solid</a:t>
            </a:r>
            <a:r>
              <a:rPr lang="es-ES" b="1" dirty="0">
                <a:latin typeface="Courier New"/>
                <a:ea typeface="+mn-lt"/>
                <a:cs typeface="+mn-lt"/>
              </a:rPr>
              <a:t> </a:t>
            </a:r>
            <a:r>
              <a:rPr lang="es-ES" b="1" dirty="0" err="1">
                <a:latin typeface="Courier New"/>
                <a:ea typeface="+mn-lt"/>
                <a:cs typeface="+mn-lt"/>
              </a:rPr>
              <a:t>black</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  box-</a:t>
            </a:r>
            <a:r>
              <a:rPr lang="es-ES" b="1" dirty="0" err="1">
                <a:latin typeface="Courier New"/>
                <a:ea typeface="+mn-lt"/>
                <a:cs typeface="+mn-lt"/>
              </a:rPr>
              <a:t>sizing</a:t>
            </a:r>
            <a:r>
              <a:rPr lang="es-ES" b="1" dirty="0">
                <a:latin typeface="Courier New"/>
                <a:ea typeface="+mn-lt"/>
                <a:cs typeface="+mn-lt"/>
              </a:rPr>
              <a:t>: </a:t>
            </a:r>
            <a:r>
              <a:rPr lang="es-ES" b="1" dirty="0" err="1">
                <a:latin typeface="Courier New"/>
                <a:ea typeface="+mn-lt"/>
                <a:cs typeface="+mn-lt"/>
              </a:rPr>
              <a:t>border</a:t>
            </a:r>
            <a:r>
              <a:rPr lang="es-ES" b="1" dirty="0">
                <a:latin typeface="Courier New"/>
                <a:ea typeface="+mn-lt"/>
                <a:cs typeface="+mn-lt"/>
              </a:rPr>
              <a:t>-box; /* ¡La solución!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background</a:t>
            </a:r>
            <a:r>
              <a:rPr lang="es-ES" b="1" dirty="0">
                <a:latin typeface="Courier New"/>
                <a:ea typeface="+mn-lt"/>
                <a:cs typeface="+mn-lt"/>
              </a:rPr>
              <a:t>-color: </a:t>
            </a:r>
            <a:r>
              <a:rPr lang="es-ES" b="1" dirty="0" err="1">
                <a:latin typeface="Courier New"/>
                <a:ea typeface="+mn-lt"/>
                <a:cs typeface="+mn-lt"/>
              </a:rPr>
              <a:t>lightgreen</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a:t>
            </a:r>
            <a:endParaRPr lang="es-ES" b="1" dirty="0">
              <a:latin typeface="Courier New"/>
              <a:cs typeface="Courier New"/>
            </a:endParaRPr>
          </a:p>
          <a:p>
            <a:r>
              <a:rPr lang="es-ES" dirty="0">
                <a:ea typeface="+mn-lt"/>
                <a:cs typeface="+mn-lt"/>
              </a:rPr>
              <a:t>En este caso, la .caja-</a:t>
            </a:r>
            <a:r>
              <a:rPr lang="es-ES" dirty="0" err="1">
                <a:ea typeface="+mn-lt"/>
                <a:cs typeface="+mn-lt"/>
              </a:rPr>
              <a:t>content</a:t>
            </a:r>
            <a:r>
              <a:rPr lang="es-ES" dirty="0">
                <a:ea typeface="+mn-lt"/>
                <a:cs typeface="+mn-lt"/>
              </a:rPr>
              <a:t> tendrá un ancho total de 230px (200 + 10*2 + 5*2), mientras que la .caja-</a:t>
            </a:r>
            <a:r>
              <a:rPr lang="es-ES" dirty="0" err="1">
                <a:ea typeface="+mn-lt"/>
                <a:cs typeface="+mn-lt"/>
              </a:rPr>
              <a:t>border</a:t>
            </a:r>
            <a:r>
              <a:rPr lang="es-ES" dirty="0">
                <a:ea typeface="+mn-lt"/>
                <a:cs typeface="+mn-lt"/>
              </a:rPr>
              <a:t> mantendrá su ancho total de 200px como se deseaba.</a:t>
            </a:r>
          </a:p>
          <a:p>
            <a:endParaRPr lang="es-ES" dirty="0"/>
          </a:p>
        </p:txBody>
      </p:sp>
    </p:spTree>
    <p:extLst>
      <p:ext uri="{BB962C8B-B14F-4D97-AF65-F5344CB8AC3E}">
        <p14:creationId xmlns:p14="http://schemas.microsoft.com/office/powerpoint/2010/main" val="3579942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C70AEA-5F93-90C7-1DED-6F788AEC3FC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987E38C-D8D9-0DDB-9F37-28607F40DE2F}"/>
              </a:ext>
            </a:extLst>
          </p:cNvPr>
          <p:cNvSpPr>
            <a:spLocks noGrp="1"/>
          </p:cNvSpPr>
          <p:nvPr>
            <p:ph type="title"/>
          </p:nvPr>
        </p:nvSpPr>
        <p:spPr/>
        <p:txBody>
          <a:bodyPr/>
          <a:lstStyle/>
          <a:p>
            <a:r>
              <a:rPr lang="es-ES" b="0" dirty="0">
                <a:ea typeface="+mj-lt"/>
                <a:cs typeface="+mj-lt"/>
              </a:rPr>
              <a:t>2.1.5.2. Propiedades relacionadas: box-</a:t>
            </a:r>
            <a:r>
              <a:rPr lang="es-ES" b="0" dirty="0" err="1">
                <a:ea typeface="+mj-lt"/>
                <a:cs typeface="+mj-lt"/>
              </a:rPr>
              <a:t>sizing</a:t>
            </a:r>
            <a:r>
              <a:rPr lang="es-ES" b="0" dirty="0">
                <a:ea typeface="+mj-lt"/>
                <a:cs typeface="+mj-lt"/>
              </a:rPr>
              <a:t>, </a:t>
            </a:r>
            <a:r>
              <a:rPr lang="es-ES" b="0" dirty="0" err="1">
                <a:ea typeface="+mj-lt"/>
                <a:cs typeface="+mj-lt"/>
              </a:rPr>
              <a:t>overflow</a:t>
            </a:r>
            <a:r>
              <a:rPr lang="es-ES" b="0" dirty="0">
                <a:ea typeface="+mj-lt"/>
                <a:cs typeface="+mj-lt"/>
              </a:rPr>
              <a:t>, </a:t>
            </a:r>
            <a:r>
              <a:rPr lang="es-ES" b="0" dirty="0" err="1">
                <a:ea typeface="+mj-lt"/>
                <a:cs typeface="+mj-lt"/>
              </a:rPr>
              <a:t>visibility</a:t>
            </a:r>
            <a:r>
              <a:rPr lang="es-ES" b="0" dirty="0">
                <a:ea typeface="+mj-lt"/>
                <a:cs typeface="+mj-lt"/>
              </a:rPr>
              <a:t>.</a:t>
            </a:r>
            <a:endParaRPr lang="es-ES" dirty="0"/>
          </a:p>
        </p:txBody>
      </p:sp>
      <p:sp>
        <p:nvSpPr>
          <p:cNvPr id="3" name="Marcador de contenido 2">
            <a:extLst>
              <a:ext uri="{FF2B5EF4-FFF2-40B4-BE49-F238E27FC236}">
                <a16:creationId xmlns:a16="http://schemas.microsoft.com/office/drawing/2014/main" id="{D6FAA95C-028F-0986-A9B1-D84B2D5D096C}"/>
              </a:ext>
            </a:extLst>
          </p:cNvPr>
          <p:cNvSpPr>
            <a:spLocks noGrp="1"/>
          </p:cNvSpPr>
          <p:nvPr>
            <p:ph idx="1"/>
          </p:nvPr>
        </p:nvSpPr>
        <p:spPr/>
        <p:txBody>
          <a:bodyPr vert="horz" lIns="91440" tIns="45720" rIns="91440" bIns="45720" rtlCol="0" anchor="t">
            <a:normAutofit fontScale="85000" lnSpcReduction="20000"/>
          </a:bodyPr>
          <a:lstStyle/>
          <a:p>
            <a:r>
              <a:rPr lang="es-ES" dirty="0">
                <a:ea typeface="+mn-lt"/>
                <a:cs typeface="+mn-lt"/>
              </a:rPr>
              <a:t>La propiedad </a:t>
            </a:r>
            <a:r>
              <a:rPr lang="es-ES" dirty="0" err="1">
                <a:ea typeface="+mn-lt"/>
                <a:cs typeface="+mn-lt"/>
              </a:rPr>
              <a:t>overflow</a:t>
            </a:r>
            <a:r>
              <a:rPr lang="es-ES" dirty="0">
                <a:ea typeface="+mn-lt"/>
                <a:cs typeface="+mn-lt"/>
              </a:rPr>
              <a:t> controla qué ocurre cuando el contenido de una caja es demasiado grande para caber en sus dimensiones.</a:t>
            </a:r>
          </a:p>
          <a:p>
            <a:pPr lvl="1">
              <a:buFont typeface="Courier New" panose="020B0604020202020204" pitchFamily="34" charset="0"/>
              <a:buChar char="o"/>
            </a:pPr>
            <a:r>
              <a:rPr lang="es-ES" dirty="0">
                <a:ea typeface="+mn-lt"/>
                <a:cs typeface="+mn-lt"/>
              </a:rPr>
              <a:t>visible (por defecto): El contenido que se desborda simplemente se muestra fuera de la caja.</a:t>
            </a:r>
          </a:p>
          <a:p>
            <a:pPr lvl="1">
              <a:buFont typeface="Courier New" panose="020B0604020202020204" pitchFamily="34" charset="0"/>
              <a:buChar char="o"/>
            </a:pPr>
            <a:r>
              <a:rPr lang="es-ES" dirty="0" err="1">
                <a:ea typeface="+mn-lt"/>
                <a:cs typeface="+mn-lt"/>
              </a:rPr>
              <a:t>hidden</a:t>
            </a:r>
            <a:r>
              <a:rPr lang="es-ES" dirty="0">
                <a:ea typeface="+mn-lt"/>
                <a:cs typeface="+mn-lt"/>
              </a:rPr>
              <a:t>: El contenido que se desborda es recortado y ocultado.</a:t>
            </a:r>
            <a:endParaRPr lang="es-ES" dirty="0"/>
          </a:p>
          <a:p>
            <a:pPr lvl="1">
              <a:buFont typeface="Courier New" panose="020B0604020202020204" pitchFamily="34" charset="0"/>
              <a:buChar char="o"/>
            </a:pPr>
            <a:r>
              <a:rPr lang="es-ES" dirty="0" err="1">
                <a:ea typeface="+mn-lt"/>
                <a:cs typeface="+mn-lt"/>
              </a:rPr>
              <a:t>scroll</a:t>
            </a:r>
            <a:r>
              <a:rPr lang="es-ES" dirty="0">
                <a:ea typeface="+mn-lt"/>
                <a:cs typeface="+mn-lt"/>
              </a:rPr>
              <a:t>: Se añaden barras de desplazamiento horizontales y verticales, sin importar si el contenido se desborda o no.</a:t>
            </a:r>
            <a:endParaRPr lang="es-ES" dirty="0"/>
          </a:p>
          <a:p>
            <a:pPr lvl="1">
              <a:buFont typeface="Courier New" panose="020B0604020202020204" pitchFamily="34" charset="0"/>
              <a:buChar char="o"/>
            </a:pPr>
            <a:r>
              <a:rPr lang="es-ES" dirty="0">
                <a:ea typeface="+mn-lt"/>
                <a:cs typeface="+mn-lt"/>
              </a:rPr>
              <a:t>auto: El navegador añade barras de desplazamiento solo si es necesario. Este es el valor más utilizado.</a:t>
            </a:r>
            <a:endParaRPr lang="es-ES" dirty="0"/>
          </a:p>
          <a:p>
            <a:r>
              <a:rPr lang="es-ES" dirty="0">
                <a:ea typeface="+mn-lt"/>
                <a:cs typeface="+mn-lt"/>
              </a:rPr>
              <a:t>Ejemplo</a:t>
            </a:r>
            <a:endParaRPr lang="es-ES" dirty="0"/>
          </a:p>
          <a:p>
            <a:pPr marL="0" indent="0">
              <a:buNone/>
            </a:pPr>
            <a:r>
              <a:rPr lang="es-ES" b="1" dirty="0">
                <a:latin typeface="Courier New"/>
                <a:ea typeface="+mn-lt"/>
                <a:cs typeface="+mn-lt"/>
              </a:rPr>
              <a:t>&lt;</a:t>
            </a:r>
            <a:r>
              <a:rPr lang="es-ES" b="1" dirty="0" err="1">
                <a:latin typeface="Courier New"/>
                <a:ea typeface="+mn-lt"/>
                <a:cs typeface="+mn-lt"/>
              </a:rPr>
              <a:t>div</a:t>
            </a:r>
            <a:r>
              <a:rPr lang="es-ES" b="1" dirty="0">
                <a:latin typeface="Courier New"/>
                <a:ea typeface="+mn-lt"/>
                <a:cs typeface="+mn-lt"/>
              </a:rPr>
              <a:t> </a:t>
            </a:r>
            <a:r>
              <a:rPr lang="es-ES" b="1" dirty="0" err="1">
                <a:latin typeface="Courier New"/>
                <a:ea typeface="+mn-lt"/>
                <a:cs typeface="+mn-lt"/>
              </a:rPr>
              <a:t>class</a:t>
            </a:r>
            <a:r>
              <a:rPr lang="es-ES" b="1" dirty="0">
                <a:latin typeface="Courier New"/>
                <a:ea typeface="+mn-lt"/>
                <a:cs typeface="+mn-lt"/>
              </a:rPr>
              <a:t>="caja-con-</a:t>
            </a:r>
            <a:r>
              <a:rPr lang="es-ES" b="1" dirty="0" err="1">
                <a:latin typeface="Courier New"/>
                <a:ea typeface="+mn-lt"/>
                <a:cs typeface="+mn-lt"/>
              </a:rPr>
              <a:t>scroll</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&lt;p&gt;Texto muy largo que se desborda...&lt;/p&gt;</a:t>
            </a:r>
            <a:br>
              <a:rPr lang="es-ES" b="1" dirty="0">
                <a:latin typeface="Courier New"/>
                <a:ea typeface="+mn-lt"/>
                <a:cs typeface="+mn-lt"/>
              </a:rPr>
            </a:br>
            <a:r>
              <a:rPr lang="es-ES" b="1" dirty="0">
                <a:latin typeface="Courier New"/>
                <a:ea typeface="+mn-lt"/>
                <a:cs typeface="+mn-lt"/>
              </a:rPr>
              <a:t>&lt;/</a:t>
            </a:r>
            <a:r>
              <a:rPr lang="es-ES" b="1" dirty="0" err="1">
                <a:latin typeface="Courier New"/>
                <a:ea typeface="+mn-lt"/>
                <a:cs typeface="+mn-lt"/>
              </a:rPr>
              <a:t>div</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.caja-con-</a:t>
            </a:r>
            <a:r>
              <a:rPr lang="es-ES" b="1" dirty="0" err="1">
                <a:latin typeface="Courier New"/>
                <a:ea typeface="+mn-lt"/>
                <a:cs typeface="+mn-lt"/>
              </a:rPr>
              <a:t>scroll</a:t>
            </a: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width</a:t>
            </a:r>
            <a:r>
              <a:rPr lang="es-ES" b="1" dirty="0">
                <a:latin typeface="Courier New"/>
                <a:ea typeface="+mn-lt"/>
                <a:cs typeface="+mn-lt"/>
              </a:rPr>
              <a:t>: 200px;</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height</a:t>
            </a:r>
            <a:r>
              <a:rPr lang="es-ES" b="1" dirty="0">
                <a:latin typeface="Courier New"/>
                <a:ea typeface="+mn-lt"/>
                <a:cs typeface="+mn-lt"/>
              </a:rPr>
              <a:t>: 100px;</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border</a:t>
            </a:r>
            <a:r>
              <a:rPr lang="es-ES" b="1" dirty="0">
                <a:latin typeface="Courier New"/>
                <a:ea typeface="+mn-lt"/>
                <a:cs typeface="+mn-lt"/>
              </a:rPr>
              <a:t>: 1px </a:t>
            </a:r>
            <a:r>
              <a:rPr lang="es-ES" b="1" dirty="0" err="1">
                <a:latin typeface="Courier New"/>
                <a:ea typeface="+mn-lt"/>
                <a:cs typeface="+mn-lt"/>
              </a:rPr>
              <a:t>solid</a:t>
            </a:r>
            <a:r>
              <a:rPr lang="es-ES" b="1" dirty="0">
                <a:latin typeface="Courier New"/>
                <a:ea typeface="+mn-lt"/>
                <a:cs typeface="+mn-lt"/>
              </a:rPr>
              <a:t> #ccc;</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overflow</a:t>
            </a:r>
            <a:r>
              <a:rPr lang="es-ES" b="1" dirty="0">
                <a:latin typeface="Courier New"/>
                <a:ea typeface="+mn-lt"/>
                <a:cs typeface="+mn-lt"/>
              </a:rPr>
              <a:t>: auto; /* Se añade una barra de desplazamiento si es necesario */</a:t>
            </a:r>
            <a:br>
              <a:rPr lang="es-ES" b="1" dirty="0">
                <a:latin typeface="Courier New"/>
                <a:ea typeface="+mn-lt"/>
                <a:cs typeface="+mn-lt"/>
              </a:rPr>
            </a:br>
            <a:r>
              <a:rPr lang="es-ES" b="1" dirty="0">
                <a:latin typeface="Courier New"/>
                <a:ea typeface="+mn-lt"/>
                <a:cs typeface="+mn-lt"/>
              </a:rPr>
              <a:t>}</a:t>
            </a:r>
            <a:endParaRPr lang="es-ES" b="1" dirty="0">
              <a:latin typeface="Courier New"/>
              <a:cs typeface="Courier New"/>
            </a:endParaRPr>
          </a:p>
          <a:p>
            <a:endParaRPr lang="es-ES" dirty="0"/>
          </a:p>
        </p:txBody>
      </p:sp>
    </p:spTree>
    <p:extLst>
      <p:ext uri="{BB962C8B-B14F-4D97-AF65-F5344CB8AC3E}">
        <p14:creationId xmlns:p14="http://schemas.microsoft.com/office/powerpoint/2010/main" val="37074047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D789B1-2BB5-73FA-3EDB-A117B24416A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932DF85-E603-2850-8A72-B35D5686667C}"/>
              </a:ext>
            </a:extLst>
          </p:cNvPr>
          <p:cNvSpPr>
            <a:spLocks noGrp="1"/>
          </p:cNvSpPr>
          <p:nvPr>
            <p:ph type="title"/>
          </p:nvPr>
        </p:nvSpPr>
        <p:spPr/>
        <p:txBody>
          <a:bodyPr/>
          <a:lstStyle/>
          <a:p>
            <a:r>
              <a:rPr lang="es-ES" b="0" dirty="0">
                <a:ea typeface="+mj-lt"/>
                <a:cs typeface="+mj-lt"/>
              </a:rPr>
              <a:t>2.1.5.2. Propiedades relacionadas: box-</a:t>
            </a:r>
            <a:r>
              <a:rPr lang="es-ES" b="0" dirty="0" err="1">
                <a:ea typeface="+mj-lt"/>
                <a:cs typeface="+mj-lt"/>
              </a:rPr>
              <a:t>sizing</a:t>
            </a:r>
            <a:r>
              <a:rPr lang="es-ES" b="0" dirty="0">
                <a:ea typeface="+mj-lt"/>
                <a:cs typeface="+mj-lt"/>
              </a:rPr>
              <a:t>, </a:t>
            </a:r>
            <a:r>
              <a:rPr lang="es-ES" b="0" dirty="0" err="1">
                <a:ea typeface="+mj-lt"/>
                <a:cs typeface="+mj-lt"/>
              </a:rPr>
              <a:t>overflow</a:t>
            </a:r>
            <a:r>
              <a:rPr lang="es-ES" b="0" dirty="0">
                <a:ea typeface="+mj-lt"/>
                <a:cs typeface="+mj-lt"/>
              </a:rPr>
              <a:t>, </a:t>
            </a:r>
            <a:r>
              <a:rPr lang="es-ES" b="0" dirty="0" err="1">
                <a:ea typeface="+mj-lt"/>
                <a:cs typeface="+mj-lt"/>
              </a:rPr>
              <a:t>visibility</a:t>
            </a:r>
            <a:r>
              <a:rPr lang="es-ES" b="0" dirty="0">
                <a:ea typeface="+mj-lt"/>
                <a:cs typeface="+mj-lt"/>
              </a:rPr>
              <a:t>.</a:t>
            </a:r>
            <a:endParaRPr lang="es-ES" dirty="0"/>
          </a:p>
        </p:txBody>
      </p:sp>
      <p:sp>
        <p:nvSpPr>
          <p:cNvPr id="3" name="Marcador de contenido 2">
            <a:extLst>
              <a:ext uri="{FF2B5EF4-FFF2-40B4-BE49-F238E27FC236}">
                <a16:creationId xmlns:a16="http://schemas.microsoft.com/office/drawing/2014/main" id="{DA7B21A1-882D-D651-F614-F3219628CE22}"/>
              </a:ext>
            </a:extLst>
          </p:cNvPr>
          <p:cNvSpPr>
            <a:spLocks noGrp="1"/>
          </p:cNvSpPr>
          <p:nvPr>
            <p:ph idx="1"/>
          </p:nvPr>
        </p:nvSpPr>
        <p:spPr/>
        <p:txBody>
          <a:bodyPr vert="horz" lIns="91440" tIns="45720" rIns="91440" bIns="45720" rtlCol="0" anchor="t">
            <a:normAutofit/>
          </a:bodyPr>
          <a:lstStyle/>
          <a:p>
            <a:r>
              <a:rPr lang="es-ES" dirty="0">
                <a:ea typeface="+mn-lt"/>
                <a:cs typeface="+mn-lt"/>
              </a:rPr>
              <a:t>Ejemplo:</a:t>
            </a:r>
            <a:endParaRPr lang="es-ES" dirty="0"/>
          </a:p>
          <a:p>
            <a:pPr marL="0" indent="0">
              <a:buNone/>
            </a:pPr>
            <a:r>
              <a:rPr lang="es-ES" b="1" dirty="0">
                <a:latin typeface="Courier New"/>
                <a:ea typeface="+mn-lt"/>
                <a:cs typeface="+mn-lt"/>
              </a:rPr>
              <a:t>&lt;</a:t>
            </a:r>
            <a:r>
              <a:rPr lang="es-ES" b="1" dirty="0" err="1">
                <a:latin typeface="Courier New"/>
                <a:ea typeface="+mn-lt"/>
                <a:cs typeface="+mn-lt"/>
              </a:rPr>
              <a:t>div</a:t>
            </a:r>
            <a:r>
              <a:rPr lang="es-ES" b="1" dirty="0">
                <a:latin typeface="Courier New"/>
                <a:ea typeface="+mn-lt"/>
                <a:cs typeface="+mn-lt"/>
              </a:rPr>
              <a:t> </a:t>
            </a:r>
            <a:r>
              <a:rPr lang="es-ES" b="1" dirty="0" err="1">
                <a:latin typeface="Courier New"/>
                <a:ea typeface="+mn-lt"/>
                <a:cs typeface="+mn-lt"/>
              </a:rPr>
              <a:t>class</a:t>
            </a:r>
            <a:r>
              <a:rPr lang="es-ES" b="1" dirty="0">
                <a:latin typeface="Courier New"/>
                <a:ea typeface="+mn-lt"/>
                <a:cs typeface="+mn-lt"/>
              </a:rPr>
              <a:t>="caja-recortada"&gt;</a:t>
            </a:r>
            <a:br>
              <a:rPr lang="es-ES" b="1" dirty="0">
                <a:latin typeface="Courier New"/>
                <a:ea typeface="+mn-lt"/>
                <a:cs typeface="+mn-lt"/>
              </a:rPr>
            </a:br>
            <a:r>
              <a:rPr lang="es-ES" b="1" dirty="0">
                <a:latin typeface="Courier New"/>
                <a:ea typeface="+mn-lt"/>
                <a:cs typeface="+mn-lt"/>
              </a:rPr>
              <a:t>  &lt;p&gt;Este es un texto muy largo que se desbordará de la caja...&lt;/p&gt;</a:t>
            </a:r>
            <a:br>
              <a:rPr lang="es-ES" b="1" dirty="0">
                <a:latin typeface="Courier New"/>
                <a:ea typeface="+mn-lt"/>
                <a:cs typeface="+mn-lt"/>
              </a:rPr>
            </a:br>
            <a:r>
              <a:rPr lang="es-ES" b="1" dirty="0">
                <a:latin typeface="Courier New"/>
                <a:ea typeface="+mn-lt"/>
                <a:cs typeface="+mn-lt"/>
              </a:rPr>
              <a:t>&lt;/</a:t>
            </a:r>
            <a:r>
              <a:rPr lang="es-ES" b="1" dirty="0" err="1">
                <a:latin typeface="Courier New"/>
                <a:ea typeface="+mn-lt"/>
                <a:cs typeface="+mn-lt"/>
              </a:rPr>
              <a:t>div</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.caja-recortada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width</a:t>
            </a:r>
            <a:r>
              <a:rPr lang="es-ES" b="1" dirty="0">
                <a:latin typeface="Courier New"/>
                <a:ea typeface="+mn-lt"/>
                <a:cs typeface="+mn-lt"/>
              </a:rPr>
              <a:t>: 150px;</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height</a:t>
            </a:r>
            <a:r>
              <a:rPr lang="es-ES" b="1" dirty="0">
                <a:latin typeface="Courier New"/>
                <a:ea typeface="+mn-lt"/>
                <a:cs typeface="+mn-lt"/>
              </a:rPr>
              <a:t>: 100px;</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border</a:t>
            </a:r>
            <a:r>
              <a:rPr lang="es-ES" b="1" dirty="0">
                <a:latin typeface="Courier New"/>
                <a:ea typeface="+mn-lt"/>
                <a:cs typeface="+mn-lt"/>
              </a:rPr>
              <a:t>: 1px </a:t>
            </a:r>
            <a:r>
              <a:rPr lang="es-ES" b="1" dirty="0" err="1">
                <a:latin typeface="Courier New"/>
                <a:ea typeface="+mn-lt"/>
                <a:cs typeface="+mn-lt"/>
              </a:rPr>
              <a:t>solid</a:t>
            </a:r>
            <a:r>
              <a:rPr lang="es-ES" b="1" dirty="0">
                <a:latin typeface="Courier New"/>
                <a:ea typeface="+mn-lt"/>
                <a:cs typeface="+mn-lt"/>
              </a:rPr>
              <a:t> #ccc;</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overflow</a:t>
            </a:r>
            <a:r>
              <a:rPr lang="es-ES" b="1" dirty="0">
                <a:latin typeface="Courier New"/>
                <a:ea typeface="+mn-lt"/>
                <a:cs typeface="+mn-lt"/>
              </a:rPr>
              <a:t>: </a:t>
            </a:r>
            <a:r>
              <a:rPr lang="es-ES" b="1" dirty="0" err="1">
                <a:latin typeface="Courier New"/>
                <a:ea typeface="+mn-lt"/>
                <a:cs typeface="+mn-lt"/>
              </a:rPr>
              <a:t>hidden</a:t>
            </a:r>
            <a:r>
              <a:rPr lang="es-ES" b="1" dirty="0">
                <a:latin typeface="Courier New"/>
                <a:ea typeface="+mn-lt"/>
                <a:cs typeface="+mn-lt"/>
              </a:rPr>
              <a:t>; /* El texto extra no se verá */</a:t>
            </a:r>
            <a:br>
              <a:rPr lang="es-ES" b="1" dirty="0">
                <a:latin typeface="Courier New"/>
                <a:ea typeface="+mn-lt"/>
                <a:cs typeface="+mn-lt"/>
              </a:rPr>
            </a:br>
            <a:r>
              <a:rPr lang="es-ES" b="1" dirty="0">
                <a:latin typeface="Courier New"/>
                <a:ea typeface="+mn-lt"/>
                <a:cs typeface="+mn-lt"/>
              </a:rPr>
              <a:t>}</a:t>
            </a:r>
          </a:p>
          <a:p>
            <a:endParaRPr lang="es-ES" dirty="0">
              <a:latin typeface="Bierstadt"/>
              <a:cs typeface="Courier New"/>
            </a:endParaRPr>
          </a:p>
          <a:p>
            <a:endParaRPr lang="es-ES" dirty="0"/>
          </a:p>
        </p:txBody>
      </p:sp>
    </p:spTree>
    <p:extLst>
      <p:ext uri="{BB962C8B-B14F-4D97-AF65-F5344CB8AC3E}">
        <p14:creationId xmlns:p14="http://schemas.microsoft.com/office/powerpoint/2010/main" val="427203636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5A2FBC-0FB6-995D-6638-00623500DFD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A5DF865-A1F6-ADD4-3F99-08BD302F382E}"/>
              </a:ext>
            </a:extLst>
          </p:cNvPr>
          <p:cNvSpPr>
            <a:spLocks noGrp="1"/>
          </p:cNvSpPr>
          <p:nvPr>
            <p:ph type="title"/>
          </p:nvPr>
        </p:nvSpPr>
        <p:spPr/>
        <p:txBody>
          <a:bodyPr/>
          <a:lstStyle/>
          <a:p>
            <a:r>
              <a:rPr lang="es-ES" b="0" dirty="0">
                <a:ea typeface="+mj-lt"/>
                <a:cs typeface="+mj-lt"/>
              </a:rPr>
              <a:t>2.1.5.2. Propiedades relacionadas: box-</a:t>
            </a:r>
            <a:r>
              <a:rPr lang="es-ES" b="0" dirty="0" err="1">
                <a:ea typeface="+mj-lt"/>
                <a:cs typeface="+mj-lt"/>
              </a:rPr>
              <a:t>sizing</a:t>
            </a:r>
            <a:r>
              <a:rPr lang="es-ES" b="0" dirty="0">
                <a:ea typeface="+mj-lt"/>
                <a:cs typeface="+mj-lt"/>
              </a:rPr>
              <a:t>, </a:t>
            </a:r>
            <a:r>
              <a:rPr lang="es-ES" b="0" dirty="0" err="1">
                <a:ea typeface="+mj-lt"/>
                <a:cs typeface="+mj-lt"/>
              </a:rPr>
              <a:t>overflow</a:t>
            </a:r>
            <a:r>
              <a:rPr lang="es-ES" b="0" dirty="0">
                <a:ea typeface="+mj-lt"/>
                <a:cs typeface="+mj-lt"/>
              </a:rPr>
              <a:t>, </a:t>
            </a:r>
            <a:r>
              <a:rPr lang="es-ES" b="0" dirty="0" err="1">
                <a:ea typeface="+mj-lt"/>
                <a:cs typeface="+mj-lt"/>
              </a:rPr>
              <a:t>visibility</a:t>
            </a:r>
            <a:r>
              <a:rPr lang="es-ES" b="0" dirty="0">
                <a:ea typeface="+mj-lt"/>
                <a:cs typeface="+mj-lt"/>
              </a:rPr>
              <a:t>.</a:t>
            </a:r>
            <a:endParaRPr lang="es-ES" dirty="0"/>
          </a:p>
        </p:txBody>
      </p:sp>
      <p:sp>
        <p:nvSpPr>
          <p:cNvPr id="3" name="Marcador de contenido 2">
            <a:extLst>
              <a:ext uri="{FF2B5EF4-FFF2-40B4-BE49-F238E27FC236}">
                <a16:creationId xmlns:a16="http://schemas.microsoft.com/office/drawing/2014/main" id="{D3F0B7ED-6F6B-96DD-AC2A-45A46D7FFF3A}"/>
              </a:ext>
            </a:extLst>
          </p:cNvPr>
          <p:cNvSpPr>
            <a:spLocks noGrp="1"/>
          </p:cNvSpPr>
          <p:nvPr>
            <p:ph idx="1"/>
          </p:nvPr>
        </p:nvSpPr>
        <p:spPr/>
        <p:txBody>
          <a:bodyPr vert="horz" lIns="91440" tIns="45720" rIns="91440" bIns="45720" rtlCol="0" anchor="t">
            <a:normAutofit/>
          </a:bodyPr>
          <a:lstStyle/>
          <a:p>
            <a:r>
              <a:rPr lang="es-ES" dirty="0">
                <a:ea typeface="+mn-lt"/>
                <a:cs typeface="+mn-lt"/>
              </a:rPr>
              <a:t>Propiedad </a:t>
            </a:r>
            <a:r>
              <a:rPr lang="es-ES" dirty="0" err="1">
                <a:ea typeface="+mn-lt"/>
                <a:cs typeface="+mn-lt"/>
              </a:rPr>
              <a:t>visibility</a:t>
            </a:r>
            <a:r>
              <a:rPr lang="es-ES" dirty="0">
                <a:ea typeface="+mn-lt"/>
                <a:cs typeface="+mn-lt"/>
              </a:rPr>
              <a:t>:  se utiliza para mostrar u ocultar un elemento sin afectar el flujo del documento. El espacio que ocupaba el elemento oculto permanece, como si fuera una caja vacía.</a:t>
            </a:r>
          </a:p>
          <a:p>
            <a:pPr lvl="1">
              <a:buFont typeface="Courier New" panose="020B0604020202020204" pitchFamily="34" charset="0"/>
              <a:buChar char="o"/>
            </a:pPr>
            <a:r>
              <a:rPr lang="es-ES" dirty="0" err="1">
                <a:ea typeface="+mn-lt"/>
                <a:cs typeface="+mn-lt"/>
              </a:rPr>
              <a:t>visibility</a:t>
            </a:r>
            <a:r>
              <a:rPr lang="es-ES" dirty="0">
                <a:ea typeface="+mn-lt"/>
                <a:cs typeface="+mn-lt"/>
              </a:rPr>
              <a:t>: visible (por defecto): El elemento es visible.</a:t>
            </a:r>
            <a:endParaRPr lang="es-ES" dirty="0"/>
          </a:p>
          <a:p>
            <a:pPr lvl="1">
              <a:buFont typeface="Courier New" panose="020B0604020202020204" pitchFamily="34" charset="0"/>
              <a:buChar char="o"/>
            </a:pPr>
            <a:r>
              <a:rPr lang="es-ES" dirty="0" err="1">
                <a:ea typeface="+mn-lt"/>
                <a:cs typeface="+mn-lt"/>
              </a:rPr>
              <a:t>visibility</a:t>
            </a:r>
            <a:r>
              <a:rPr lang="es-ES" dirty="0">
                <a:ea typeface="+mn-lt"/>
                <a:cs typeface="+mn-lt"/>
              </a:rPr>
              <a:t>: </a:t>
            </a:r>
            <a:r>
              <a:rPr lang="es-ES" dirty="0" err="1">
                <a:ea typeface="+mn-lt"/>
                <a:cs typeface="+mn-lt"/>
              </a:rPr>
              <a:t>hidden</a:t>
            </a:r>
            <a:r>
              <a:rPr lang="es-ES" dirty="0">
                <a:ea typeface="+mn-lt"/>
                <a:cs typeface="+mn-lt"/>
              </a:rPr>
              <a:t>: El elemento se oculta, pero su espacio permanece en el diseño.</a:t>
            </a:r>
            <a:endParaRPr lang="es-ES" dirty="0"/>
          </a:p>
          <a:p>
            <a:r>
              <a:rPr lang="es-ES" dirty="0">
                <a:ea typeface="+mn-lt"/>
                <a:cs typeface="+mn-lt"/>
              </a:rPr>
              <a:t>Ejemplo:</a:t>
            </a:r>
            <a:endParaRPr lang="es-ES" dirty="0"/>
          </a:p>
          <a:p>
            <a:pPr marL="0" indent="0">
              <a:buNone/>
            </a:pPr>
            <a:r>
              <a:rPr lang="es-ES" b="1" dirty="0">
                <a:latin typeface="Courier New"/>
                <a:ea typeface="+mn-lt"/>
                <a:cs typeface="+mn-lt"/>
              </a:rPr>
              <a:t>.elemento-oculto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visibility</a:t>
            </a:r>
            <a:r>
              <a:rPr lang="es-ES" b="1" dirty="0">
                <a:latin typeface="Courier New"/>
                <a:ea typeface="+mn-lt"/>
                <a:cs typeface="+mn-lt"/>
              </a:rPr>
              <a:t>: </a:t>
            </a:r>
            <a:r>
              <a:rPr lang="es-ES" b="1" dirty="0" err="1">
                <a:latin typeface="Courier New"/>
                <a:ea typeface="+mn-lt"/>
                <a:cs typeface="+mn-lt"/>
              </a:rPr>
              <a:t>hidden</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a:t>
            </a:r>
          </a:p>
          <a:p>
            <a:r>
              <a:rPr lang="es-ES" dirty="0">
                <a:ea typeface="+mn-lt"/>
                <a:cs typeface="+mn-lt"/>
              </a:rPr>
              <a:t>A diferencia de </a:t>
            </a:r>
            <a:r>
              <a:rPr lang="es-ES" dirty="0" err="1">
                <a:ea typeface="+mn-lt"/>
                <a:cs typeface="+mn-lt"/>
              </a:rPr>
              <a:t>display</a:t>
            </a:r>
            <a:r>
              <a:rPr lang="es-ES" dirty="0">
                <a:ea typeface="+mn-lt"/>
                <a:cs typeface="+mn-lt"/>
              </a:rPr>
              <a:t>: </a:t>
            </a:r>
            <a:r>
              <a:rPr lang="es-ES" dirty="0" err="1">
                <a:ea typeface="+mn-lt"/>
                <a:cs typeface="+mn-lt"/>
              </a:rPr>
              <a:t>none</a:t>
            </a:r>
            <a:r>
              <a:rPr lang="es-ES" dirty="0">
                <a:ea typeface="+mn-lt"/>
                <a:cs typeface="+mn-lt"/>
              </a:rPr>
              <a:t>;, que elimina el elemento por completo del flujo y hace que los demás elementos ocupen su lugar, </a:t>
            </a:r>
            <a:r>
              <a:rPr lang="es-ES" dirty="0" err="1">
                <a:ea typeface="+mn-lt"/>
                <a:cs typeface="+mn-lt"/>
              </a:rPr>
              <a:t>visibility</a:t>
            </a:r>
            <a:r>
              <a:rPr lang="es-ES" dirty="0">
                <a:ea typeface="+mn-lt"/>
                <a:cs typeface="+mn-lt"/>
              </a:rPr>
              <a:t>: </a:t>
            </a:r>
            <a:r>
              <a:rPr lang="es-ES" dirty="0" err="1">
                <a:ea typeface="+mn-lt"/>
                <a:cs typeface="+mn-lt"/>
              </a:rPr>
              <a:t>hidden</a:t>
            </a:r>
            <a:r>
              <a:rPr lang="es-ES" dirty="0">
                <a:ea typeface="+mn-lt"/>
                <a:cs typeface="+mn-lt"/>
              </a:rPr>
              <a:t> mantiene la "caja vacía" en su lugar.</a:t>
            </a:r>
            <a:endParaRPr lang="es-ES" dirty="0"/>
          </a:p>
          <a:p>
            <a:endParaRPr lang="es-ES" dirty="0">
              <a:latin typeface="Bierstadt"/>
              <a:ea typeface="+mn-lt"/>
              <a:cs typeface="+mn-lt"/>
            </a:endParaRPr>
          </a:p>
          <a:p>
            <a:endParaRPr lang="es-ES" dirty="0">
              <a:latin typeface="Bierstadt"/>
              <a:cs typeface="Courier New"/>
            </a:endParaRPr>
          </a:p>
          <a:p>
            <a:endParaRPr lang="es-ES" dirty="0"/>
          </a:p>
        </p:txBody>
      </p:sp>
    </p:spTree>
    <p:extLst>
      <p:ext uri="{BB962C8B-B14F-4D97-AF65-F5344CB8AC3E}">
        <p14:creationId xmlns:p14="http://schemas.microsoft.com/office/powerpoint/2010/main" val="11471337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5FD127-6A93-7B5B-273D-4E87235CB29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07B2EFC-6540-6685-1A40-7B5DE514631A}"/>
              </a:ext>
            </a:extLst>
          </p:cNvPr>
          <p:cNvSpPr>
            <a:spLocks noGrp="1"/>
          </p:cNvSpPr>
          <p:nvPr>
            <p:ph type="title"/>
          </p:nvPr>
        </p:nvSpPr>
        <p:spPr/>
        <p:txBody>
          <a:bodyPr/>
          <a:lstStyle/>
          <a:p>
            <a:r>
              <a:rPr lang="es-ES" b="0" dirty="0">
                <a:ea typeface="+mj-lt"/>
                <a:cs typeface="+mj-lt"/>
              </a:rPr>
              <a:t>2.2. Selectores y propiedades CSS fundamentales</a:t>
            </a:r>
            <a:endParaRPr lang="es-ES" dirty="0"/>
          </a:p>
        </p:txBody>
      </p:sp>
      <p:sp>
        <p:nvSpPr>
          <p:cNvPr id="3" name="Marcador de contenido 2">
            <a:extLst>
              <a:ext uri="{FF2B5EF4-FFF2-40B4-BE49-F238E27FC236}">
                <a16:creationId xmlns:a16="http://schemas.microsoft.com/office/drawing/2014/main" id="{7ADA1C9A-D580-7F33-B14D-4634B035FB22}"/>
              </a:ext>
            </a:extLst>
          </p:cNvPr>
          <p:cNvSpPr>
            <a:spLocks noGrp="1"/>
          </p:cNvSpPr>
          <p:nvPr>
            <p:ph idx="1"/>
          </p:nvPr>
        </p:nvSpPr>
        <p:spPr/>
        <p:txBody>
          <a:bodyPr vert="horz" lIns="91440" tIns="45720" rIns="91440" bIns="45720" rtlCol="0" anchor="t">
            <a:normAutofit fontScale="92500" lnSpcReduction="10000"/>
          </a:bodyPr>
          <a:lstStyle/>
          <a:p>
            <a:r>
              <a:rPr lang="es-ES" dirty="0">
                <a:ea typeface="+mn-lt"/>
                <a:cs typeface="+mn-lt"/>
              </a:rPr>
              <a:t>Los selectores CSS son la base para aplicar estilos. Te permiten apuntar a los elementos HTML de forma precisa y específica. Una vez que has seleccionado un elemento, las propiedades te permiten modificar su apariencia, como su color, tamaño, o posición.</a:t>
            </a:r>
            <a:endParaRPr lang="es-ES" dirty="0"/>
          </a:p>
          <a:p>
            <a:r>
              <a:rPr lang="es-ES" dirty="0">
                <a:ea typeface="+mn-lt"/>
                <a:cs typeface="+mn-lt"/>
              </a:rPr>
              <a:t>Los selectores se pueden clasificar en diferentes categorías según su función:</a:t>
            </a:r>
            <a:endParaRPr lang="es-ES" dirty="0"/>
          </a:p>
          <a:p>
            <a:r>
              <a:rPr lang="es-ES" dirty="0">
                <a:ea typeface="+mn-lt"/>
                <a:cs typeface="+mn-lt"/>
              </a:rPr>
              <a:t>Selectores básicos. Seleccionan elementos en base a su nombre de etiqueta, clase o ID.</a:t>
            </a:r>
            <a:endParaRPr lang="es-ES" dirty="0"/>
          </a:p>
          <a:p>
            <a:pPr lvl="1">
              <a:buFont typeface="Courier New" panose="020B0604020202020204" pitchFamily="34" charset="0"/>
              <a:buChar char="o"/>
            </a:pPr>
            <a:r>
              <a:rPr lang="es-ES" dirty="0">
                <a:ea typeface="+mn-lt"/>
                <a:cs typeface="+mn-lt"/>
              </a:rPr>
              <a:t>Selector de tipo: Apunta a todos los elementos con un nombre de etiqueta específico. Por ejemplo, p seleccionará todos los párrafos.</a:t>
            </a:r>
            <a:endParaRPr lang="es-ES" dirty="0"/>
          </a:p>
          <a:p>
            <a:pPr lvl="1">
              <a:buFont typeface="Courier New" panose="020B0604020202020204" pitchFamily="34" charset="0"/>
              <a:buChar char="o"/>
            </a:pPr>
            <a:r>
              <a:rPr lang="es-ES" dirty="0">
                <a:ea typeface="+mn-lt"/>
                <a:cs typeface="+mn-lt"/>
              </a:rPr>
              <a:t>Selector de clase: Apunta a todos los elementos con un atributo </a:t>
            </a:r>
            <a:r>
              <a:rPr lang="es-ES" dirty="0" err="1">
                <a:ea typeface="+mn-lt"/>
                <a:cs typeface="+mn-lt"/>
              </a:rPr>
              <a:t>class</a:t>
            </a:r>
            <a:r>
              <a:rPr lang="es-ES" dirty="0">
                <a:ea typeface="+mn-lt"/>
                <a:cs typeface="+mn-lt"/>
              </a:rPr>
              <a:t> específico. Se usa con un punto (.) antes del nombre de la clase, por ejemplo .contenedor.</a:t>
            </a:r>
            <a:endParaRPr lang="es-ES" dirty="0"/>
          </a:p>
          <a:p>
            <a:pPr lvl="1">
              <a:buFont typeface="Courier New" panose="020B0604020202020204" pitchFamily="34" charset="0"/>
              <a:buChar char="o"/>
            </a:pPr>
            <a:r>
              <a:rPr lang="es-ES" dirty="0">
                <a:ea typeface="+mn-lt"/>
                <a:cs typeface="+mn-lt"/>
              </a:rPr>
              <a:t>Selector de ID: Apunta a un único elemento con un atributo id específico. Se usa con una almohadilla (#) antes del nombre del ID, por ejemplo #logo.</a:t>
            </a:r>
            <a:endParaRPr lang="es-ES" dirty="0"/>
          </a:p>
          <a:p>
            <a:pPr lvl="1">
              <a:buFont typeface="Courier New" panose="020B0604020202020204" pitchFamily="34" charset="0"/>
              <a:buChar char="o"/>
            </a:pPr>
            <a:r>
              <a:rPr lang="es-ES" dirty="0">
                <a:ea typeface="+mn-lt"/>
                <a:cs typeface="+mn-lt"/>
              </a:rPr>
              <a:t>Selector universal: Apunta a todos los elementos de la página. Se representa con un asterisco (*).</a:t>
            </a:r>
            <a:endParaRPr lang="es-ES" dirty="0"/>
          </a:p>
        </p:txBody>
      </p:sp>
    </p:spTree>
    <p:extLst>
      <p:ext uri="{BB962C8B-B14F-4D97-AF65-F5344CB8AC3E}">
        <p14:creationId xmlns:p14="http://schemas.microsoft.com/office/powerpoint/2010/main" val="354001397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852E4-A2FA-2001-AACA-ADC9E9FA7EC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C8A33F4-3B41-A2E6-07C0-544299F3651C}"/>
              </a:ext>
            </a:extLst>
          </p:cNvPr>
          <p:cNvSpPr>
            <a:spLocks noGrp="1"/>
          </p:cNvSpPr>
          <p:nvPr>
            <p:ph type="title"/>
          </p:nvPr>
        </p:nvSpPr>
        <p:spPr/>
        <p:txBody>
          <a:bodyPr/>
          <a:lstStyle/>
          <a:p>
            <a:r>
              <a:rPr lang="es-ES" b="0" dirty="0">
                <a:ea typeface="+mj-lt"/>
                <a:cs typeface="+mj-lt"/>
              </a:rPr>
              <a:t>2.2. Selectores y propiedades CSS fundamentales</a:t>
            </a:r>
            <a:endParaRPr lang="es-ES" dirty="0"/>
          </a:p>
        </p:txBody>
      </p:sp>
      <p:sp>
        <p:nvSpPr>
          <p:cNvPr id="3" name="Marcador de contenido 2">
            <a:extLst>
              <a:ext uri="{FF2B5EF4-FFF2-40B4-BE49-F238E27FC236}">
                <a16:creationId xmlns:a16="http://schemas.microsoft.com/office/drawing/2014/main" id="{484A6005-E9B1-9F62-B3EA-88F36AA288F0}"/>
              </a:ext>
            </a:extLst>
          </p:cNvPr>
          <p:cNvSpPr>
            <a:spLocks noGrp="1"/>
          </p:cNvSpPr>
          <p:nvPr>
            <p:ph idx="1"/>
          </p:nvPr>
        </p:nvSpPr>
        <p:spPr/>
        <p:txBody>
          <a:bodyPr vert="horz" lIns="91440" tIns="45720" rIns="91440" bIns="45720" rtlCol="0" anchor="t">
            <a:normAutofit/>
          </a:bodyPr>
          <a:lstStyle/>
          <a:p>
            <a:r>
              <a:rPr lang="es-ES" dirty="0">
                <a:ea typeface="+mn-lt"/>
                <a:cs typeface="+mn-lt"/>
              </a:rPr>
              <a:t>Selectores combinadores. Seleccionan elementos basándose en su relación con otros elementos.</a:t>
            </a:r>
          </a:p>
          <a:p>
            <a:pPr lvl="1">
              <a:buFont typeface="Courier New" panose="020B0604020202020204" pitchFamily="34" charset="0"/>
              <a:buChar char="o"/>
            </a:pPr>
            <a:r>
              <a:rPr lang="es-ES" dirty="0">
                <a:ea typeface="+mn-lt"/>
                <a:cs typeface="+mn-lt"/>
              </a:rPr>
              <a:t>Descendiente: Selecciona un elemento que es descendiente de otro, sin importar el nivel de anidamiento. Se usa un espacio en blanco. Ejemplo: </a:t>
            </a:r>
            <a:r>
              <a:rPr lang="es-ES" dirty="0" err="1">
                <a:ea typeface="+mn-lt"/>
                <a:cs typeface="+mn-lt"/>
              </a:rPr>
              <a:t>div</a:t>
            </a:r>
            <a:r>
              <a:rPr lang="es-ES" dirty="0">
                <a:ea typeface="+mn-lt"/>
                <a:cs typeface="+mn-lt"/>
              </a:rPr>
              <a:t> p selecciona todos los párrafos dentro de cualquier </a:t>
            </a:r>
            <a:r>
              <a:rPr lang="es-ES" dirty="0" err="1">
                <a:ea typeface="+mn-lt"/>
                <a:cs typeface="+mn-lt"/>
              </a:rPr>
              <a:t>div</a:t>
            </a:r>
            <a:r>
              <a:rPr lang="es-ES" dirty="0">
                <a:ea typeface="+mn-lt"/>
                <a:cs typeface="+mn-lt"/>
              </a:rPr>
              <a:t>.</a:t>
            </a:r>
          </a:p>
          <a:p>
            <a:pPr lvl="1">
              <a:buFont typeface="Courier New" panose="020B0604020202020204" pitchFamily="34" charset="0"/>
              <a:buChar char="o"/>
            </a:pPr>
            <a:r>
              <a:rPr lang="es-ES" dirty="0">
                <a:ea typeface="+mn-lt"/>
                <a:cs typeface="+mn-lt"/>
              </a:rPr>
              <a:t>Hijo directo: Selecciona un elemento que es un hijo inmediato de otro. Se usa el símbolo &gt;. Ejemplo: </a:t>
            </a:r>
            <a:r>
              <a:rPr lang="es-ES" dirty="0" err="1">
                <a:ea typeface="+mn-lt"/>
                <a:cs typeface="+mn-lt"/>
              </a:rPr>
              <a:t>ul</a:t>
            </a:r>
            <a:r>
              <a:rPr lang="es-ES" dirty="0">
                <a:ea typeface="+mn-lt"/>
                <a:cs typeface="+mn-lt"/>
              </a:rPr>
              <a:t> &gt; </a:t>
            </a:r>
            <a:r>
              <a:rPr lang="es-ES" dirty="0" err="1">
                <a:ea typeface="+mn-lt"/>
                <a:cs typeface="+mn-lt"/>
              </a:rPr>
              <a:t>li</a:t>
            </a:r>
            <a:r>
              <a:rPr lang="es-ES" dirty="0">
                <a:ea typeface="+mn-lt"/>
                <a:cs typeface="+mn-lt"/>
              </a:rPr>
              <a:t> selecciona solo los &lt;</a:t>
            </a:r>
            <a:r>
              <a:rPr lang="es-ES" dirty="0" err="1">
                <a:ea typeface="+mn-lt"/>
                <a:cs typeface="+mn-lt"/>
              </a:rPr>
              <a:t>li</a:t>
            </a:r>
            <a:r>
              <a:rPr lang="es-ES" dirty="0">
                <a:ea typeface="+mn-lt"/>
                <a:cs typeface="+mn-lt"/>
              </a:rPr>
              <a:t>&gt; que son hijos directos de un &lt;</a:t>
            </a:r>
            <a:r>
              <a:rPr lang="es-ES" dirty="0" err="1">
                <a:ea typeface="+mn-lt"/>
                <a:cs typeface="+mn-lt"/>
              </a:rPr>
              <a:t>ul</a:t>
            </a:r>
            <a:r>
              <a:rPr lang="es-ES" dirty="0">
                <a:ea typeface="+mn-lt"/>
                <a:cs typeface="+mn-lt"/>
              </a:rPr>
              <a:t>&gt;.</a:t>
            </a:r>
            <a:endParaRPr lang="es-ES" dirty="0"/>
          </a:p>
          <a:p>
            <a:pPr lvl="1">
              <a:buFont typeface="Courier New" panose="020B0604020202020204" pitchFamily="34" charset="0"/>
              <a:buChar char="o"/>
            </a:pPr>
            <a:r>
              <a:rPr lang="es-ES" dirty="0">
                <a:ea typeface="+mn-lt"/>
                <a:cs typeface="+mn-lt"/>
              </a:rPr>
              <a:t>Hermano adyacente: Selecciona un elemento que está inmediatamente después de otro y comparte el mismo padre. Se usa el símbolo +. Ejemplo: h2 + p selecciona el primer párrafo que sigue a un &lt;h2&gt;.</a:t>
            </a:r>
            <a:endParaRPr lang="es-ES" dirty="0"/>
          </a:p>
          <a:p>
            <a:pPr lvl="1">
              <a:buFont typeface="Courier New" panose="020B0604020202020204" pitchFamily="34" charset="0"/>
              <a:buChar char="o"/>
            </a:pPr>
            <a:r>
              <a:rPr lang="es-ES" dirty="0">
                <a:ea typeface="+mn-lt"/>
                <a:cs typeface="+mn-lt"/>
              </a:rPr>
              <a:t>Hermano general: Selecciona todos los elementos que siguen a otro y comparten el mismo padre. Se usa el símbolo ~. Ejemplo: h2 ~ p selecciona todos los párrafos que siguen a un &lt;h2&gt;.1701/2026</a:t>
            </a:r>
            <a:endParaRPr lang="es-ES" dirty="0"/>
          </a:p>
        </p:txBody>
      </p:sp>
    </p:spTree>
    <p:extLst>
      <p:ext uri="{BB962C8B-B14F-4D97-AF65-F5344CB8AC3E}">
        <p14:creationId xmlns:p14="http://schemas.microsoft.com/office/powerpoint/2010/main" val="224151738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A76835-8AC2-7762-FAF2-9F51F6ED0BF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8537284-3C5E-E547-5B5D-3878611D474F}"/>
              </a:ext>
            </a:extLst>
          </p:cNvPr>
          <p:cNvSpPr>
            <a:spLocks noGrp="1"/>
          </p:cNvSpPr>
          <p:nvPr>
            <p:ph type="title"/>
          </p:nvPr>
        </p:nvSpPr>
        <p:spPr/>
        <p:txBody>
          <a:bodyPr/>
          <a:lstStyle/>
          <a:p>
            <a:r>
              <a:rPr lang="es-ES" b="0" dirty="0">
                <a:ea typeface="+mj-lt"/>
                <a:cs typeface="+mj-lt"/>
              </a:rPr>
              <a:t>2.2. Selectores y propiedades CSS fundamentales</a:t>
            </a:r>
            <a:endParaRPr lang="es-ES" dirty="0"/>
          </a:p>
        </p:txBody>
      </p:sp>
      <p:sp>
        <p:nvSpPr>
          <p:cNvPr id="3" name="Marcador de contenido 2">
            <a:extLst>
              <a:ext uri="{FF2B5EF4-FFF2-40B4-BE49-F238E27FC236}">
                <a16:creationId xmlns:a16="http://schemas.microsoft.com/office/drawing/2014/main" id="{519FC181-FA46-AC70-1915-1FAD6FD59B34}"/>
              </a:ext>
            </a:extLst>
          </p:cNvPr>
          <p:cNvSpPr>
            <a:spLocks noGrp="1"/>
          </p:cNvSpPr>
          <p:nvPr>
            <p:ph idx="1"/>
          </p:nvPr>
        </p:nvSpPr>
        <p:spPr/>
        <p:txBody>
          <a:bodyPr vert="horz" lIns="91440" tIns="45720" rIns="91440" bIns="45720" rtlCol="0" anchor="t">
            <a:normAutofit fontScale="92500" lnSpcReduction="10000"/>
          </a:bodyPr>
          <a:lstStyle/>
          <a:p>
            <a:r>
              <a:rPr lang="es-ES" dirty="0">
                <a:ea typeface="+mn-lt"/>
                <a:cs typeface="+mn-lt"/>
              </a:rPr>
              <a:t>Selectores avanzados. Estos selectores ofrecen un control más granular.</a:t>
            </a:r>
          </a:p>
          <a:p>
            <a:pPr lvl="1">
              <a:buFont typeface="Courier New" panose="020B0604020202020204" pitchFamily="34" charset="0"/>
              <a:buChar char="o"/>
            </a:pPr>
            <a:r>
              <a:rPr lang="es-ES" dirty="0">
                <a:ea typeface="+mn-lt"/>
                <a:cs typeface="+mn-lt"/>
              </a:rPr>
              <a:t>Selector de atributo: Selecciona elementos que tienen un atributo HTML o un valor de atributo específico. Ejemplo: [</a:t>
            </a:r>
            <a:r>
              <a:rPr lang="es-ES" dirty="0" err="1">
                <a:ea typeface="+mn-lt"/>
                <a:cs typeface="+mn-lt"/>
              </a:rPr>
              <a:t>type</a:t>
            </a:r>
            <a:r>
              <a:rPr lang="es-ES" dirty="0">
                <a:ea typeface="+mn-lt"/>
                <a:cs typeface="+mn-lt"/>
              </a:rPr>
              <a:t>="</a:t>
            </a:r>
            <a:r>
              <a:rPr lang="es-ES" dirty="0" err="1">
                <a:ea typeface="+mn-lt"/>
                <a:cs typeface="+mn-lt"/>
              </a:rPr>
              <a:t>submit</a:t>
            </a:r>
            <a:r>
              <a:rPr lang="es-ES" dirty="0">
                <a:ea typeface="+mn-lt"/>
                <a:cs typeface="+mn-lt"/>
              </a:rPr>
              <a:t>"] selecciona todos los botones de envío.</a:t>
            </a:r>
          </a:p>
          <a:p>
            <a:pPr lvl="1">
              <a:buFont typeface="Courier New" panose="020B0604020202020204" pitchFamily="34" charset="0"/>
              <a:buChar char="o"/>
            </a:pPr>
            <a:r>
              <a:rPr lang="es-ES" dirty="0" err="1">
                <a:ea typeface="+mn-lt"/>
                <a:cs typeface="+mn-lt"/>
              </a:rPr>
              <a:t>Pseudo-clase</a:t>
            </a:r>
            <a:r>
              <a:rPr lang="es-ES" dirty="0">
                <a:ea typeface="+mn-lt"/>
                <a:cs typeface="+mn-lt"/>
              </a:rPr>
              <a:t>: Apunta a un estado especial de un elemento. Se usa con dos puntos (:). Ejemplos: :</a:t>
            </a:r>
            <a:r>
              <a:rPr lang="es-ES" dirty="0" err="1">
                <a:ea typeface="+mn-lt"/>
                <a:cs typeface="+mn-lt"/>
              </a:rPr>
              <a:t>hover</a:t>
            </a:r>
            <a:r>
              <a:rPr lang="es-ES" dirty="0">
                <a:ea typeface="+mn-lt"/>
                <a:cs typeface="+mn-lt"/>
              </a:rPr>
              <a:t> (cuando el ratón está sobre el elemento), :</a:t>
            </a:r>
            <a:r>
              <a:rPr lang="es-ES" dirty="0" err="1">
                <a:ea typeface="+mn-lt"/>
                <a:cs typeface="+mn-lt"/>
              </a:rPr>
              <a:t>focus</a:t>
            </a:r>
            <a:r>
              <a:rPr lang="es-ES" dirty="0">
                <a:ea typeface="+mn-lt"/>
                <a:cs typeface="+mn-lt"/>
              </a:rPr>
              <a:t> (cuando el elemento está activo), :</a:t>
            </a:r>
            <a:r>
              <a:rPr lang="es-ES" dirty="0" err="1">
                <a:ea typeface="+mn-lt"/>
                <a:cs typeface="+mn-lt"/>
              </a:rPr>
              <a:t>first-child</a:t>
            </a:r>
            <a:r>
              <a:rPr lang="es-ES" dirty="0">
                <a:ea typeface="+mn-lt"/>
                <a:cs typeface="+mn-lt"/>
              </a:rPr>
              <a:t> (el primer hijo de un padre).</a:t>
            </a:r>
            <a:endParaRPr lang="es-ES" dirty="0"/>
          </a:p>
          <a:p>
            <a:pPr lvl="1">
              <a:buFont typeface="Courier New" panose="020B0604020202020204" pitchFamily="34" charset="0"/>
              <a:buChar char="o"/>
            </a:pPr>
            <a:r>
              <a:rPr lang="es-ES" dirty="0" err="1">
                <a:ea typeface="+mn-lt"/>
                <a:cs typeface="+mn-lt"/>
              </a:rPr>
              <a:t>Pseudo-elemento</a:t>
            </a:r>
            <a:r>
              <a:rPr lang="es-ES" dirty="0">
                <a:ea typeface="+mn-lt"/>
                <a:cs typeface="+mn-lt"/>
              </a:rPr>
              <a:t>: Permite estilizar una parte de un elemento. Se usa con dos dobles puntos (::). Ejemplos: ::</a:t>
            </a:r>
            <a:r>
              <a:rPr lang="es-ES" dirty="0" err="1">
                <a:ea typeface="+mn-lt"/>
                <a:cs typeface="+mn-lt"/>
              </a:rPr>
              <a:t>before</a:t>
            </a:r>
            <a:r>
              <a:rPr lang="es-ES" dirty="0">
                <a:ea typeface="+mn-lt"/>
                <a:cs typeface="+mn-lt"/>
              </a:rPr>
              <a:t> y ::after (para insertar contenido antes o después del elemento), ::</a:t>
            </a:r>
            <a:r>
              <a:rPr lang="es-ES" dirty="0" err="1">
                <a:ea typeface="+mn-lt"/>
                <a:cs typeface="+mn-lt"/>
              </a:rPr>
              <a:t>first</a:t>
            </a:r>
            <a:r>
              <a:rPr lang="es-ES" dirty="0">
                <a:ea typeface="+mn-lt"/>
                <a:cs typeface="+mn-lt"/>
              </a:rPr>
              <a:t>-line (para la primera línea de texto).</a:t>
            </a:r>
            <a:endParaRPr lang="es-ES" dirty="0"/>
          </a:p>
          <a:p>
            <a:r>
              <a:rPr lang="es-ES" dirty="0">
                <a:ea typeface="+mn-lt"/>
                <a:cs typeface="+mn-lt"/>
              </a:rPr>
              <a:t>Si bien las propiedades CSS son muy numerosas, aquí tienes una visión general de algunas de las más utilizadas.</a:t>
            </a:r>
            <a:endParaRPr lang="es-ES" dirty="0"/>
          </a:p>
          <a:p>
            <a:pPr lvl="1">
              <a:buFont typeface="Courier New" panose="020B0604020202020204" pitchFamily="34" charset="0"/>
              <a:buChar char="o"/>
            </a:pPr>
            <a:r>
              <a:rPr lang="es-ES" dirty="0">
                <a:ea typeface="+mn-lt"/>
                <a:cs typeface="+mn-lt"/>
              </a:rPr>
              <a:t>Tipografía: </a:t>
            </a:r>
            <a:r>
              <a:rPr lang="es-ES" dirty="0" err="1">
                <a:ea typeface="+mn-lt"/>
                <a:cs typeface="+mn-lt"/>
              </a:rPr>
              <a:t>font-family</a:t>
            </a:r>
            <a:r>
              <a:rPr lang="es-ES" dirty="0">
                <a:ea typeface="+mn-lt"/>
                <a:cs typeface="+mn-lt"/>
              </a:rPr>
              <a:t> (la fuente), </a:t>
            </a:r>
            <a:r>
              <a:rPr lang="es-ES" dirty="0" err="1">
                <a:ea typeface="+mn-lt"/>
                <a:cs typeface="+mn-lt"/>
              </a:rPr>
              <a:t>font-size</a:t>
            </a:r>
            <a:r>
              <a:rPr lang="es-ES" dirty="0">
                <a:ea typeface="+mn-lt"/>
                <a:cs typeface="+mn-lt"/>
              </a:rPr>
              <a:t> (el tamaño del texto), </a:t>
            </a:r>
            <a:r>
              <a:rPr lang="es-ES" dirty="0" err="1">
                <a:ea typeface="+mn-lt"/>
                <a:cs typeface="+mn-lt"/>
              </a:rPr>
              <a:t>font-weight</a:t>
            </a:r>
            <a:r>
              <a:rPr lang="es-ES" dirty="0">
                <a:ea typeface="+mn-lt"/>
                <a:cs typeface="+mn-lt"/>
              </a:rPr>
              <a:t> (el grosor), line-</a:t>
            </a:r>
            <a:r>
              <a:rPr lang="es-ES" dirty="0" err="1">
                <a:ea typeface="+mn-lt"/>
                <a:cs typeface="+mn-lt"/>
              </a:rPr>
              <a:t>height</a:t>
            </a:r>
            <a:r>
              <a:rPr lang="es-ES" dirty="0">
                <a:ea typeface="+mn-lt"/>
                <a:cs typeface="+mn-lt"/>
              </a:rPr>
              <a:t> (el espaciado entre líneas).</a:t>
            </a:r>
            <a:endParaRPr lang="es-ES" dirty="0"/>
          </a:p>
          <a:p>
            <a:pPr lvl="1">
              <a:buFont typeface="Courier New" panose="020B0604020202020204" pitchFamily="34" charset="0"/>
              <a:buChar char="o"/>
            </a:pPr>
            <a:r>
              <a:rPr lang="es-ES" dirty="0">
                <a:ea typeface="+mn-lt"/>
                <a:cs typeface="+mn-lt"/>
              </a:rPr>
              <a:t>Color y fondos: color (color del texto), </a:t>
            </a:r>
            <a:r>
              <a:rPr lang="es-ES" dirty="0" err="1">
                <a:ea typeface="+mn-lt"/>
                <a:cs typeface="+mn-lt"/>
              </a:rPr>
              <a:t>background</a:t>
            </a:r>
            <a:r>
              <a:rPr lang="es-ES" dirty="0">
                <a:ea typeface="+mn-lt"/>
                <a:cs typeface="+mn-lt"/>
              </a:rPr>
              <a:t>-color (color de fondo), </a:t>
            </a:r>
            <a:r>
              <a:rPr lang="es-ES" dirty="0" err="1">
                <a:ea typeface="+mn-lt"/>
                <a:cs typeface="+mn-lt"/>
              </a:rPr>
              <a:t>background-image</a:t>
            </a:r>
            <a:r>
              <a:rPr lang="es-ES" dirty="0">
                <a:ea typeface="+mn-lt"/>
                <a:cs typeface="+mn-lt"/>
              </a:rPr>
              <a:t> (imagen de fondo).</a:t>
            </a:r>
            <a:endParaRPr lang="es-ES" dirty="0"/>
          </a:p>
          <a:p>
            <a:pPr lvl="1">
              <a:buFont typeface="Courier New" panose="020B0604020202020204" pitchFamily="34" charset="0"/>
              <a:buChar char="o"/>
            </a:pPr>
            <a:r>
              <a:rPr lang="es-ES" dirty="0">
                <a:ea typeface="+mn-lt"/>
                <a:cs typeface="+mn-lt"/>
              </a:rPr>
              <a:t>Modelo de caja: </a:t>
            </a:r>
            <a:r>
              <a:rPr lang="es-ES" dirty="0" err="1">
                <a:ea typeface="+mn-lt"/>
                <a:cs typeface="+mn-lt"/>
              </a:rPr>
              <a:t>margin</a:t>
            </a:r>
            <a:r>
              <a:rPr lang="es-ES" dirty="0">
                <a:ea typeface="+mn-lt"/>
                <a:cs typeface="+mn-lt"/>
              </a:rPr>
              <a:t>, </a:t>
            </a:r>
            <a:r>
              <a:rPr lang="es-ES" dirty="0" err="1">
                <a:ea typeface="+mn-lt"/>
                <a:cs typeface="+mn-lt"/>
              </a:rPr>
              <a:t>padding</a:t>
            </a:r>
            <a:r>
              <a:rPr lang="es-ES" dirty="0">
                <a:ea typeface="+mn-lt"/>
                <a:cs typeface="+mn-lt"/>
              </a:rPr>
              <a:t>, </a:t>
            </a:r>
            <a:r>
              <a:rPr lang="es-ES" dirty="0" err="1">
                <a:ea typeface="+mn-lt"/>
                <a:cs typeface="+mn-lt"/>
              </a:rPr>
              <a:t>border</a:t>
            </a:r>
            <a:r>
              <a:rPr lang="es-ES" dirty="0">
                <a:ea typeface="+mn-lt"/>
                <a:cs typeface="+mn-lt"/>
              </a:rPr>
              <a:t> (ya vistos en el punto anterior), </a:t>
            </a:r>
            <a:r>
              <a:rPr lang="es-ES" dirty="0" err="1">
                <a:ea typeface="+mn-lt"/>
                <a:cs typeface="+mn-lt"/>
              </a:rPr>
              <a:t>width</a:t>
            </a:r>
            <a:r>
              <a:rPr lang="es-ES" dirty="0">
                <a:ea typeface="+mn-lt"/>
                <a:cs typeface="+mn-lt"/>
              </a:rPr>
              <a:t>, </a:t>
            </a:r>
            <a:r>
              <a:rPr lang="es-ES" dirty="0" err="1">
                <a:ea typeface="+mn-lt"/>
                <a:cs typeface="+mn-lt"/>
              </a:rPr>
              <a:t>height</a:t>
            </a:r>
            <a:r>
              <a:rPr lang="es-ES" dirty="0">
                <a:ea typeface="+mn-lt"/>
                <a:cs typeface="+mn-lt"/>
              </a:rPr>
              <a:t>.</a:t>
            </a:r>
          </a:p>
          <a:p>
            <a:pPr lvl="1">
              <a:buFont typeface="Courier New" panose="020B0604020202020204" pitchFamily="34" charset="0"/>
              <a:buChar char="o"/>
            </a:pPr>
            <a:r>
              <a:rPr lang="es-ES" dirty="0">
                <a:ea typeface="+mn-lt"/>
                <a:cs typeface="+mn-lt"/>
              </a:rPr>
              <a:t>Maquetación: </a:t>
            </a:r>
            <a:r>
              <a:rPr lang="es-ES" dirty="0" err="1">
                <a:ea typeface="+mn-lt"/>
                <a:cs typeface="+mn-lt"/>
              </a:rPr>
              <a:t>display</a:t>
            </a:r>
            <a:r>
              <a:rPr lang="es-ES" dirty="0">
                <a:ea typeface="+mn-lt"/>
                <a:cs typeface="+mn-lt"/>
              </a:rPr>
              <a:t>, position, </a:t>
            </a:r>
            <a:r>
              <a:rPr lang="es-ES" dirty="0" err="1">
                <a:ea typeface="+mn-lt"/>
                <a:cs typeface="+mn-lt"/>
              </a:rPr>
              <a:t>float</a:t>
            </a:r>
            <a:r>
              <a:rPr lang="es-ES" dirty="0">
                <a:ea typeface="+mn-lt"/>
                <a:cs typeface="+mn-lt"/>
              </a:rPr>
              <a:t>, </a:t>
            </a:r>
            <a:r>
              <a:rPr lang="es-ES" dirty="0" err="1">
                <a:ea typeface="+mn-lt"/>
                <a:cs typeface="+mn-lt"/>
              </a:rPr>
              <a:t>flex</a:t>
            </a:r>
            <a:r>
              <a:rPr lang="es-ES" dirty="0">
                <a:ea typeface="+mn-lt"/>
                <a:cs typeface="+mn-lt"/>
              </a:rPr>
              <a:t> y </a:t>
            </a:r>
            <a:r>
              <a:rPr lang="es-ES" err="1">
                <a:ea typeface="+mn-lt"/>
                <a:cs typeface="+mn-lt"/>
              </a:rPr>
              <a:t>grid</a:t>
            </a:r>
            <a:r>
              <a:rPr lang="es-ES">
                <a:ea typeface="+mn-lt"/>
                <a:cs typeface="+mn-lt"/>
              </a:rPr>
              <a:t>.17/01/2026</a:t>
            </a:r>
            <a:endParaRPr lang="es-ES"/>
          </a:p>
        </p:txBody>
      </p:sp>
    </p:spTree>
    <p:extLst>
      <p:ext uri="{BB962C8B-B14F-4D97-AF65-F5344CB8AC3E}">
        <p14:creationId xmlns:p14="http://schemas.microsoft.com/office/powerpoint/2010/main" val="383091962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5C7EAB-6630-5AAF-D7A6-66F35C244B9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CD6A36E-6CE6-BC3F-606D-1C7814A5595E}"/>
              </a:ext>
            </a:extLst>
          </p:cNvPr>
          <p:cNvSpPr>
            <a:spLocks noGrp="1"/>
          </p:cNvSpPr>
          <p:nvPr>
            <p:ph type="title"/>
          </p:nvPr>
        </p:nvSpPr>
        <p:spPr/>
        <p:txBody>
          <a:bodyPr/>
          <a:lstStyle/>
          <a:p>
            <a:r>
              <a:rPr lang="es-ES" b="0" dirty="0">
                <a:ea typeface="+mj-lt"/>
                <a:cs typeface="+mj-lt"/>
              </a:rPr>
              <a:t>2.2.1. Selectores básicos.</a:t>
            </a:r>
            <a:br>
              <a:rPr lang="es-ES" b="0" dirty="0">
                <a:ea typeface="+mj-lt"/>
                <a:cs typeface="+mj-lt"/>
              </a:rPr>
            </a:br>
            <a:r>
              <a:rPr lang="es-ES" b="0" dirty="0">
                <a:ea typeface="+mj-lt"/>
                <a:cs typeface="+mj-lt"/>
              </a:rPr>
              <a:t>2.2.1.1. Selectores de tipo o etiqueta.</a:t>
            </a:r>
            <a:endParaRPr lang="es-ES" dirty="0"/>
          </a:p>
        </p:txBody>
      </p:sp>
      <p:sp>
        <p:nvSpPr>
          <p:cNvPr id="3" name="Marcador de contenido 2">
            <a:extLst>
              <a:ext uri="{FF2B5EF4-FFF2-40B4-BE49-F238E27FC236}">
                <a16:creationId xmlns:a16="http://schemas.microsoft.com/office/drawing/2014/main" id="{6B9C9A50-49BC-F559-9AA5-0081F61AD020}"/>
              </a:ext>
            </a:extLst>
          </p:cNvPr>
          <p:cNvSpPr>
            <a:spLocks noGrp="1"/>
          </p:cNvSpPr>
          <p:nvPr>
            <p:ph idx="1"/>
          </p:nvPr>
        </p:nvSpPr>
        <p:spPr/>
        <p:txBody>
          <a:bodyPr vert="horz" lIns="91440" tIns="45720" rIns="91440" bIns="45720" rtlCol="0" anchor="t">
            <a:normAutofit/>
          </a:bodyPr>
          <a:lstStyle/>
          <a:p>
            <a:r>
              <a:rPr lang="es-ES" dirty="0">
                <a:ea typeface="+mn-lt"/>
                <a:cs typeface="+mn-lt"/>
              </a:rPr>
              <a:t>Los selectores básicos son el punto de partida para dar estilo a tus documentos HTML. Te permiten apuntar a elementos de forma directa, ya sea por su nombre de etiqueta, su clase o su identificador único (ID). Dominar estos selectores es crucial, ya que son los cimientos sobre los que se construyen todos los selectores más complejos.</a:t>
            </a:r>
            <a:endParaRPr lang="es-ES" dirty="0"/>
          </a:p>
          <a:p>
            <a:r>
              <a:rPr lang="es-ES" dirty="0">
                <a:ea typeface="+mn-lt"/>
                <a:cs typeface="+mn-lt"/>
              </a:rPr>
              <a:t>El selector de tipo (o selector de etiqueta) es la forma más simple de seleccionar elementos. Apunta a todos los elementos HTML que tienen un nombre de etiqueta específico, como p, h1, a, </a:t>
            </a:r>
            <a:r>
              <a:rPr lang="es-ES" dirty="0" err="1">
                <a:ea typeface="+mn-lt"/>
                <a:cs typeface="+mn-lt"/>
              </a:rPr>
              <a:t>div</a:t>
            </a:r>
            <a:r>
              <a:rPr lang="es-ES" dirty="0">
                <a:ea typeface="+mn-lt"/>
                <a:cs typeface="+mn-lt"/>
              </a:rPr>
              <a:t>, etc. Es útil para definir estilos base para toda una categoría de elementos.</a:t>
            </a:r>
            <a:endParaRPr lang="es-ES" dirty="0"/>
          </a:p>
          <a:p>
            <a:r>
              <a:rPr lang="es-ES" dirty="0">
                <a:ea typeface="+mn-lt"/>
                <a:cs typeface="+mn-lt"/>
              </a:rPr>
              <a:t>Sintaxis: </a:t>
            </a:r>
            <a:r>
              <a:rPr lang="es-ES" b="1" dirty="0" err="1">
                <a:latin typeface="Courier New"/>
                <a:ea typeface="+mn-lt"/>
                <a:cs typeface="+mn-lt"/>
              </a:rPr>
              <a:t>nombre_etiqueta</a:t>
            </a: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/*Propiedades y valores que se modifican*/</a:t>
            </a:r>
            <a:br>
              <a:rPr lang="es-ES" b="1" dirty="0">
                <a:latin typeface="Courier New"/>
                <a:ea typeface="+mn-lt"/>
                <a:cs typeface="+mn-lt"/>
              </a:rPr>
            </a:br>
            <a:r>
              <a:rPr lang="es-ES" b="1" dirty="0">
                <a:latin typeface="Courier New"/>
                <a:ea typeface="+mn-lt"/>
                <a:cs typeface="+mn-lt"/>
              </a:rPr>
              <a:t>}</a:t>
            </a:r>
            <a:endParaRPr lang="es-ES" b="1" dirty="0">
              <a:latin typeface="Courier New"/>
            </a:endParaRPr>
          </a:p>
          <a:p>
            <a:endParaRPr lang="es-ES" dirty="0"/>
          </a:p>
        </p:txBody>
      </p:sp>
    </p:spTree>
    <p:extLst>
      <p:ext uri="{BB962C8B-B14F-4D97-AF65-F5344CB8AC3E}">
        <p14:creationId xmlns:p14="http://schemas.microsoft.com/office/powerpoint/2010/main" val="177861089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388C96-D38F-83BB-6EFB-3A7622E3A43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F11295B-F604-524A-1CA7-0150DD75C747}"/>
              </a:ext>
            </a:extLst>
          </p:cNvPr>
          <p:cNvSpPr>
            <a:spLocks noGrp="1"/>
          </p:cNvSpPr>
          <p:nvPr>
            <p:ph type="title"/>
          </p:nvPr>
        </p:nvSpPr>
        <p:spPr/>
        <p:txBody>
          <a:bodyPr/>
          <a:lstStyle/>
          <a:p>
            <a:r>
              <a:rPr lang="es-ES" b="0" dirty="0">
                <a:ea typeface="+mj-lt"/>
                <a:cs typeface="+mj-lt"/>
              </a:rPr>
              <a:t>2.2.1.1. Selectores de tipo o etiqueta.</a:t>
            </a:r>
            <a:endParaRPr lang="es-ES" dirty="0"/>
          </a:p>
        </p:txBody>
      </p:sp>
      <p:sp>
        <p:nvSpPr>
          <p:cNvPr id="3" name="Marcador de contenido 2">
            <a:extLst>
              <a:ext uri="{FF2B5EF4-FFF2-40B4-BE49-F238E27FC236}">
                <a16:creationId xmlns:a16="http://schemas.microsoft.com/office/drawing/2014/main" id="{604EE2D4-2C3E-546E-1AB7-8165415DBB60}"/>
              </a:ext>
            </a:extLst>
          </p:cNvPr>
          <p:cNvSpPr>
            <a:spLocks noGrp="1"/>
          </p:cNvSpPr>
          <p:nvPr>
            <p:ph idx="1"/>
          </p:nvPr>
        </p:nvSpPr>
        <p:spPr/>
        <p:txBody>
          <a:bodyPr vert="horz" lIns="91440" tIns="45720" rIns="91440" bIns="45720" rtlCol="0" anchor="t">
            <a:normAutofit fontScale="92500" lnSpcReduction="10000"/>
          </a:bodyPr>
          <a:lstStyle/>
          <a:p>
            <a:r>
              <a:rPr lang="es-ES" dirty="0">
                <a:ea typeface="+mn-lt"/>
                <a:cs typeface="+mn-lt"/>
              </a:rPr>
              <a:t>Ejemplo: Para aplicar un estilo a todas las etiquetas &lt;h1&gt; y &lt;p&gt; de tu documento, puedes usar:</a:t>
            </a:r>
            <a:endParaRPr lang="es-ES" dirty="0"/>
          </a:p>
          <a:p>
            <a:r>
              <a:rPr lang="es-ES" dirty="0">
                <a:ea typeface="+mn-lt"/>
                <a:cs typeface="+mn-lt"/>
              </a:rPr>
              <a:t>/* Este estilo se aplicará a todas las etiquetas &lt;h1&gt; del documento */</a:t>
            </a:r>
            <a:br>
              <a:rPr lang="es-ES" dirty="0">
                <a:ea typeface="+mn-lt"/>
                <a:cs typeface="+mn-lt"/>
              </a:rPr>
            </a:br>
            <a:r>
              <a:rPr lang="es-ES" b="1" dirty="0">
                <a:latin typeface="Courier New"/>
                <a:ea typeface="+mn-lt"/>
                <a:cs typeface="+mn-lt"/>
              </a:rPr>
              <a:t>h1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font-size</a:t>
            </a:r>
            <a:r>
              <a:rPr lang="es-ES" b="1" dirty="0">
                <a:latin typeface="Courier New"/>
                <a:ea typeface="+mn-lt"/>
                <a:cs typeface="+mn-lt"/>
              </a:rPr>
              <a:t>: 2.5rem;</a:t>
            </a:r>
            <a:br>
              <a:rPr lang="es-ES" b="1" dirty="0">
                <a:latin typeface="Courier New"/>
                <a:ea typeface="+mn-lt"/>
                <a:cs typeface="+mn-lt"/>
              </a:rPr>
            </a:br>
            <a:r>
              <a:rPr lang="es-ES" b="1" dirty="0">
                <a:latin typeface="Courier New"/>
                <a:ea typeface="+mn-lt"/>
                <a:cs typeface="+mn-lt"/>
              </a:rPr>
              <a:t>  color: #333;</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margin</a:t>
            </a:r>
            <a:r>
              <a:rPr lang="es-ES" b="1" dirty="0">
                <a:latin typeface="Courier New"/>
                <a:ea typeface="+mn-lt"/>
                <a:cs typeface="+mn-lt"/>
              </a:rPr>
              <a:t>-bottom: 20px;</a:t>
            </a:r>
            <a:br>
              <a:rPr lang="es-ES" b="1" dirty="0">
                <a:latin typeface="Courier New"/>
                <a:ea typeface="+mn-lt"/>
                <a:cs typeface="+mn-lt"/>
              </a:rPr>
            </a:b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 Este estilo se aplicará a todas las etiquetas &lt;p&gt; */</a:t>
            </a:r>
            <a:br>
              <a:rPr lang="es-ES" b="1" dirty="0">
                <a:latin typeface="Courier New"/>
                <a:ea typeface="+mn-lt"/>
                <a:cs typeface="+mn-lt"/>
              </a:rPr>
            </a:br>
            <a:r>
              <a:rPr lang="es-ES" b="1" dirty="0">
                <a:latin typeface="Courier New"/>
                <a:ea typeface="+mn-lt"/>
                <a:cs typeface="+mn-lt"/>
              </a:rPr>
              <a:t>p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font-size</a:t>
            </a:r>
            <a:r>
              <a:rPr lang="es-ES" b="1" dirty="0">
                <a:latin typeface="Courier New"/>
                <a:ea typeface="+mn-lt"/>
                <a:cs typeface="+mn-lt"/>
              </a:rPr>
              <a:t>: 1rem;</a:t>
            </a:r>
            <a:br>
              <a:rPr lang="es-ES" b="1" dirty="0">
                <a:latin typeface="Courier New"/>
                <a:ea typeface="+mn-lt"/>
                <a:cs typeface="+mn-lt"/>
              </a:rPr>
            </a:br>
            <a:r>
              <a:rPr lang="es-ES" b="1" dirty="0">
                <a:latin typeface="Courier New"/>
                <a:ea typeface="+mn-lt"/>
                <a:cs typeface="+mn-lt"/>
              </a:rPr>
              <a:t>  line-</a:t>
            </a:r>
            <a:r>
              <a:rPr lang="es-ES" b="1" dirty="0" err="1">
                <a:latin typeface="Courier New"/>
                <a:ea typeface="+mn-lt"/>
                <a:cs typeface="+mn-lt"/>
              </a:rPr>
              <a:t>height</a:t>
            </a:r>
            <a:r>
              <a:rPr lang="es-ES" b="1" dirty="0">
                <a:latin typeface="Courier New"/>
                <a:ea typeface="+mn-lt"/>
                <a:cs typeface="+mn-lt"/>
              </a:rPr>
              <a:t>: 1.6;</a:t>
            </a:r>
            <a:br>
              <a:rPr lang="es-ES" b="1" dirty="0">
                <a:latin typeface="Courier New"/>
                <a:ea typeface="+mn-lt"/>
                <a:cs typeface="+mn-lt"/>
              </a:rPr>
            </a:br>
            <a:r>
              <a:rPr lang="es-ES" b="1" dirty="0">
                <a:latin typeface="Courier New"/>
                <a:ea typeface="+mn-lt"/>
                <a:cs typeface="+mn-lt"/>
              </a:rPr>
              <a:t>  color: #555;</a:t>
            </a:r>
            <a:br>
              <a:rPr lang="es-ES" b="1" dirty="0">
                <a:latin typeface="Courier New"/>
                <a:ea typeface="+mn-lt"/>
                <a:cs typeface="+mn-lt"/>
              </a:rPr>
            </a:br>
            <a:r>
              <a:rPr lang="es-ES" b="1" dirty="0">
                <a:latin typeface="Courier New"/>
                <a:ea typeface="+mn-lt"/>
                <a:cs typeface="+mn-lt"/>
              </a:rPr>
              <a:t>}</a:t>
            </a:r>
          </a:p>
          <a:p>
            <a:endParaRPr lang="es-ES" dirty="0"/>
          </a:p>
          <a:p>
            <a:endParaRPr lang="es-ES" dirty="0"/>
          </a:p>
        </p:txBody>
      </p:sp>
    </p:spTree>
    <p:extLst>
      <p:ext uri="{BB962C8B-B14F-4D97-AF65-F5344CB8AC3E}">
        <p14:creationId xmlns:p14="http://schemas.microsoft.com/office/powerpoint/2010/main" val="153950918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2F85B9-BF12-0DD6-EA4E-D9E9B0DB29A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E2962EC-4960-B5E0-DAD0-172BE1E9678D}"/>
              </a:ext>
            </a:extLst>
          </p:cNvPr>
          <p:cNvSpPr>
            <a:spLocks noGrp="1"/>
          </p:cNvSpPr>
          <p:nvPr>
            <p:ph type="title"/>
          </p:nvPr>
        </p:nvSpPr>
        <p:spPr/>
        <p:txBody>
          <a:bodyPr>
            <a:normAutofit/>
          </a:bodyPr>
          <a:lstStyle/>
          <a:p>
            <a:r>
              <a:rPr lang="es-ES" b="0" dirty="0">
                <a:ea typeface="+mj-lt"/>
                <a:cs typeface="+mj-lt"/>
              </a:rPr>
              <a:t>2.2.1.2. Selectores de clase (.): creación y uso.</a:t>
            </a:r>
            <a:endParaRPr lang="es-ES"/>
          </a:p>
        </p:txBody>
      </p:sp>
      <p:sp>
        <p:nvSpPr>
          <p:cNvPr id="3" name="Marcador de contenido 2">
            <a:extLst>
              <a:ext uri="{FF2B5EF4-FFF2-40B4-BE49-F238E27FC236}">
                <a16:creationId xmlns:a16="http://schemas.microsoft.com/office/drawing/2014/main" id="{DB636623-A68F-6529-D5D5-399D6362FF56}"/>
              </a:ext>
            </a:extLst>
          </p:cNvPr>
          <p:cNvSpPr>
            <a:spLocks noGrp="1"/>
          </p:cNvSpPr>
          <p:nvPr>
            <p:ph idx="1"/>
          </p:nvPr>
        </p:nvSpPr>
        <p:spPr/>
        <p:txBody>
          <a:bodyPr vert="horz" lIns="91440" tIns="45720" rIns="91440" bIns="45720" rtlCol="0" anchor="t">
            <a:normAutofit/>
          </a:bodyPr>
          <a:lstStyle/>
          <a:p>
            <a:r>
              <a:rPr lang="es-ES" dirty="0">
                <a:ea typeface="+mn-lt"/>
                <a:cs typeface="+mn-lt"/>
              </a:rPr>
              <a:t>El selector de clase es una herramienta muy potente y versátil. Permite seleccionar todos los elementos que tienen un atributo </a:t>
            </a:r>
            <a:r>
              <a:rPr lang="es-ES" dirty="0" err="1">
                <a:ea typeface="+mn-lt"/>
                <a:cs typeface="+mn-lt"/>
              </a:rPr>
              <a:t>class</a:t>
            </a:r>
            <a:r>
              <a:rPr lang="es-ES" dirty="0">
                <a:ea typeface="+mn-lt"/>
                <a:cs typeface="+mn-lt"/>
              </a:rPr>
              <a:t> con un nombre específico. Se define con un punto (.) seguido del nombre de la clase. La gran ventaja es que puedes aplicar la misma clase a múltiples elementos, sin importar su tipo de etiqueta.</a:t>
            </a:r>
            <a:endParaRPr lang="es-ES" dirty="0"/>
          </a:p>
          <a:p>
            <a:r>
              <a:rPr lang="es-ES" dirty="0">
                <a:ea typeface="+mn-lt"/>
                <a:cs typeface="+mn-lt"/>
              </a:rPr>
              <a:t>Sintaxis: </a:t>
            </a:r>
            <a:r>
              <a:rPr lang="es-ES" b="1" dirty="0">
                <a:latin typeface="Courier New"/>
                <a:ea typeface="+mn-lt"/>
                <a:cs typeface="+mn-lt"/>
              </a:rPr>
              <a:t>.nombre-clase { ... }</a:t>
            </a:r>
            <a:endParaRPr lang="es-ES" b="1" dirty="0">
              <a:latin typeface="Courier New"/>
              <a:cs typeface="Courier New"/>
            </a:endParaRPr>
          </a:p>
          <a:p>
            <a:r>
              <a:rPr lang="es-ES" dirty="0">
                <a:ea typeface="+mn-lt"/>
                <a:cs typeface="+mn-lt"/>
              </a:rPr>
              <a:t>Ejemplo: Imagina que quieres tener un estilo de botón reutilizable en tu sitio. Puedes definir un estilo base y luego variaciones.</a:t>
            </a:r>
            <a:endParaRPr lang="es-ES" dirty="0"/>
          </a:p>
          <a:p>
            <a:r>
              <a:rPr lang="es-ES" dirty="0">
                <a:ea typeface="+mn-lt"/>
                <a:cs typeface="+mn-lt"/>
              </a:rPr>
              <a:t>En este caso, la clase </a:t>
            </a:r>
            <a:r>
              <a:rPr lang="es-ES" dirty="0" err="1">
                <a:ea typeface="+mn-lt"/>
                <a:cs typeface="+mn-lt"/>
              </a:rPr>
              <a:t>btn</a:t>
            </a:r>
            <a:r>
              <a:rPr lang="es-ES" dirty="0">
                <a:ea typeface="+mn-lt"/>
                <a:cs typeface="+mn-lt"/>
              </a:rPr>
              <a:t> proporciona estilos comunes, mientras que </a:t>
            </a:r>
            <a:r>
              <a:rPr lang="es-ES" dirty="0" err="1">
                <a:ea typeface="+mn-lt"/>
                <a:cs typeface="+mn-lt"/>
              </a:rPr>
              <a:t>btn</a:t>
            </a:r>
            <a:r>
              <a:rPr lang="es-ES" dirty="0">
                <a:ea typeface="+mn-lt"/>
                <a:cs typeface="+mn-lt"/>
              </a:rPr>
              <a:t>-primario y </a:t>
            </a:r>
            <a:r>
              <a:rPr lang="es-ES" dirty="0" err="1">
                <a:ea typeface="+mn-lt"/>
                <a:cs typeface="+mn-lt"/>
              </a:rPr>
              <a:t>btn</a:t>
            </a:r>
            <a:r>
              <a:rPr lang="es-ES" dirty="0">
                <a:ea typeface="+mn-lt"/>
                <a:cs typeface="+mn-lt"/>
              </a:rPr>
              <a:t>-secundario añaden variaciones específicas.</a:t>
            </a:r>
            <a:endParaRPr lang="es-ES" dirty="0"/>
          </a:p>
        </p:txBody>
      </p:sp>
    </p:spTree>
    <p:extLst>
      <p:ext uri="{BB962C8B-B14F-4D97-AF65-F5344CB8AC3E}">
        <p14:creationId xmlns:p14="http://schemas.microsoft.com/office/powerpoint/2010/main" val="98609287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74FE27-6CA6-68F1-83B6-BFCD6549C26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240AF04-EC4D-F0B3-9AED-40C21A0B9A1D}"/>
              </a:ext>
            </a:extLst>
          </p:cNvPr>
          <p:cNvSpPr>
            <a:spLocks noGrp="1"/>
          </p:cNvSpPr>
          <p:nvPr>
            <p:ph type="title"/>
          </p:nvPr>
        </p:nvSpPr>
        <p:spPr/>
        <p:txBody>
          <a:bodyPr>
            <a:normAutofit/>
          </a:bodyPr>
          <a:lstStyle/>
          <a:p>
            <a:r>
              <a:rPr lang="es-ES" b="0" dirty="0">
                <a:ea typeface="+mj-lt"/>
                <a:cs typeface="+mj-lt"/>
              </a:rPr>
              <a:t>2.2.1.2. Selectores de clase (.): creación y uso.</a:t>
            </a:r>
            <a:endParaRPr lang="es-ES"/>
          </a:p>
        </p:txBody>
      </p:sp>
      <p:sp>
        <p:nvSpPr>
          <p:cNvPr id="3" name="Marcador de contenido 2">
            <a:extLst>
              <a:ext uri="{FF2B5EF4-FFF2-40B4-BE49-F238E27FC236}">
                <a16:creationId xmlns:a16="http://schemas.microsoft.com/office/drawing/2014/main" id="{3145C139-6C6E-059F-57BF-18D5A19BAC66}"/>
              </a:ext>
            </a:extLst>
          </p:cNvPr>
          <p:cNvSpPr>
            <a:spLocks noGrp="1"/>
          </p:cNvSpPr>
          <p:nvPr>
            <p:ph idx="1"/>
          </p:nvPr>
        </p:nvSpPr>
        <p:spPr/>
        <p:txBody>
          <a:bodyPr vert="horz" lIns="91440" tIns="45720" rIns="91440" bIns="45720" rtlCol="0" anchor="t">
            <a:normAutofit fontScale="77500" lnSpcReduction="20000"/>
          </a:bodyPr>
          <a:lstStyle/>
          <a:p>
            <a:pPr marL="0" indent="0">
              <a:buNone/>
            </a:pPr>
            <a:r>
              <a:rPr lang="es-ES" b="1" dirty="0">
                <a:latin typeface="Courier New"/>
                <a:ea typeface="+mn-lt"/>
                <a:cs typeface="+mn-lt"/>
              </a:rPr>
              <a:t>&lt;</a:t>
            </a:r>
            <a:r>
              <a:rPr lang="es-ES" b="1" dirty="0" err="1">
                <a:latin typeface="Courier New"/>
                <a:ea typeface="+mn-lt"/>
                <a:cs typeface="+mn-lt"/>
              </a:rPr>
              <a:t>button</a:t>
            </a:r>
            <a:r>
              <a:rPr lang="es-ES" b="1" dirty="0">
                <a:latin typeface="Courier New"/>
                <a:ea typeface="+mn-lt"/>
                <a:cs typeface="+mn-lt"/>
              </a:rPr>
              <a:t> </a:t>
            </a:r>
            <a:r>
              <a:rPr lang="es-ES" b="1" dirty="0" err="1">
                <a:latin typeface="Courier New"/>
                <a:ea typeface="+mn-lt"/>
                <a:cs typeface="+mn-lt"/>
              </a:rPr>
              <a:t>class</a:t>
            </a:r>
            <a:r>
              <a:rPr lang="es-ES" b="1" dirty="0">
                <a:latin typeface="Courier New"/>
                <a:ea typeface="+mn-lt"/>
                <a:cs typeface="+mn-lt"/>
              </a:rPr>
              <a:t>="</a:t>
            </a:r>
            <a:r>
              <a:rPr lang="es-ES" b="1" dirty="0" err="1">
                <a:latin typeface="Courier New"/>
                <a:ea typeface="+mn-lt"/>
                <a:cs typeface="+mn-lt"/>
              </a:rPr>
              <a:t>btn</a:t>
            </a:r>
            <a:r>
              <a:rPr lang="es-ES" b="1" dirty="0">
                <a:latin typeface="Courier New"/>
                <a:ea typeface="+mn-lt"/>
                <a:cs typeface="+mn-lt"/>
              </a:rPr>
              <a:t> </a:t>
            </a:r>
            <a:r>
              <a:rPr lang="es-ES" b="1" dirty="0" err="1">
                <a:latin typeface="Courier New"/>
                <a:ea typeface="+mn-lt"/>
                <a:cs typeface="+mn-lt"/>
              </a:rPr>
              <a:t>btn</a:t>
            </a:r>
            <a:r>
              <a:rPr lang="es-ES" b="1" dirty="0">
                <a:latin typeface="Courier New"/>
                <a:ea typeface="+mn-lt"/>
                <a:cs typeface="+mn-lt"/>
              </a:rPr>
              <a:t>-primario"&gt;Comprar&lt;/</a:t>
            </a:r>
            <a:r>
              <a:rPr lang="es-ES" b="1" dirty="0" err="1">
                <a:latin typeface="Courier New"/>
                <a:ea typeface="+mn-lt"/>
                <a:cs typeface="+mn-lt"/>
              </a:rPr>
              <a:t>button</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&lt;a </a:t>
            </a:r>
            <a:r>
              <a:rPr lang="es-ES" b="1" dirty="0" err="1">
                <a:latin typeface="Courier New"/>
                <a:ea typeface="+mn-lt"/>
                <a:cs typeface="+mn-lt"/>
              </a:rPr>
              <a:t>href</a:t>
            </a:r>
            <a:r>
              <a:rPr lang="es-ES" b="1" dirty="0">
                <a:latin typeface="Courier New"/>
                <a:ea typeface="+mn-lt"/>
                <a:cs typeface="+mn-lt"/>
              </a:rPr>
              <a:t>="#" </a:t>
            </a:r>
            <a:r>
              <a:rPr lang="es-ES" b="1" dirty="0" err="1">
                <a:latin typeface="Courier New"/>
                <a:ea typeface="+mn-lt"/>
                <a:cs typeface="+mn-lt"/>
              </a:rPr>
              <a:t>class</a:t>
            </a:r>
            <a:r>
              <a:rPr lang="es-ES" b="1" dirty="0">
                <a:latin typeface="Courier New"/>
                <a:ea typeface="+mn-lt"/>
                <a:cs typeface="+mn-lt"/>
              </a:rPr>
              <a:t>="</a:t>
            </a:r>
            <a:r>
              <a:rPr lang="es-ES" b="1" dirty="0" err="1">
                <a:latin typeface="Courier New"/>
                <a:ea typeface="+mn-lt"/>
                <a:cs typeface="+mn-lt"/>
              </a:rPr>
              <a:t>btn</a:t>
            </a:r>
            <a:r>
              <a:rPr lang="es-ES" b="1" dirty="0">
                <a:latin typeface="Courier New"/>
                <a:ea typeface="+mn-lt"/>
                <a:cs typeface="+mn-lt"/>
              </a:rPr>
              <a:t> </a:t>
            </a:r>
            <a:r>
              <a:rPr lang="es-ES" b="1" dirty="0" err="1">
                <a:latin typeface="Courier New"/>
                <a:ea typeface="+mn-lt"/>
                <a:cs typeface="+mn-lt"/>
              </a:rPr>
              <a:t>btn</a:t>
            </a:r>
            <a:r>
              <a:rPr lang="es-ES" b="1" dirty="0">
                <a:latin typeface="Courier New"/>
                <a:ea typeface="+mn-lt"/>
                <a:cs typeface="+mn-lt"/>
              </a:rPr>
              <a:t>-secundario"&gt;Leer más&lt;/a&gt;</a:t>
            </a:r>
            <a:br>
              <a:rPr lang="es-ES" b="1" dirty="0">
                <a:latin typeface="Courier New"/>
                <a:ea typeface="+mn-lt"/>
                <a:cs typeface="+mn-lt"/>
              </a:rPr>
            </a:br>
            <a:r>
              <a:rPr lang="es-ES" b="1" dirty="0">
                <a:latin typeface="Courier New"/>
                <a:ea typeface="+mn-lt"/>
                <a:cs typeface="+mn-lt"/>
              </a:rPr>
              <a:t>/* Estilos generales para todos los elementos con la clase "</a:t>
            </a:r>
            <a:r>
              <a:rPr lang="es-ES" b="1" dirty="0" err="1">
                <a:latin typeface="Courier New"/>
                <a:ea typeface="+mn-lt"/>
                <a:cs typeface="+mn-lt"/>
              </a:rPr>
              <a:t>btn</a:t>
            </a: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a:t>
            </a:r>
            <a:r>
              <a:rPr lang="es-ES" b="1" dirty="0" err="1">
                <a:latin typeface="Courier New"/>
                <a:ea typeface="+mn-lt"/>
                <a:cs typeface="+mn-lt"/>
              </a:rPr>
              <a:t>btn</a:t>
            </a: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padding</a:t>
            </a:r>
            <a:r>
              <a:rPr lang="es-ES" b="1" dirty="0">
                <a:latin typeface="Courier New"/>
                <a:ea typeface="+mn-lt"/>
                <a:cs typeface="+mn-lt"/>
              </a:rPr>
              <a:t>: 10px 20px;</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border-radius</a:t>
            </a:r>
            <a:r>
              <a:rPr lang="es-ES" b="1" dirty="0">
                <a:latin typeface="Courier New"/>
                <a:ea typeface="+mn-lt"/>
                <a:cs typeface="+mn-lt"/>
              </a:rPr>
              <a:t>: 5px;</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text-decoration</a:t>
            </a:r>
            <a:r>
              <a:rPr lang="es-ES" b="1" dirty="0">
                <a:latin typeface="Courier New"/>
                <a:ea typeface="+mn-lt"/>
                <a:cs typeface="+mn-lt"/>
              </a:rPr>
              <a:t>: </a:t>
            </a:r>
            <a:r>
              <a:rPr lang="es-ES" b="1" dirty="0" err="1">
                <a:latin typeface="Courier New"/>
                <a:ea typeface="+mn-lt"/>
                <a:cs typeface="+mn-lt"/>
              </a:rPr>
              <a:t>none</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font-weight</a:t>
            </a:r>
            <a:r>
              <a:rPr lang="es-ES" b="1" dirty="0">
                <a:latin typeface="Courier New"/>
                <a:ea typeface="+mn-lt"/>
                <a:cs typeface="+mn-lt"/>
              </a:rPr>
              <a:t>: </a:t>
            </a:r>
            <a:r>
              <a:rPr lang="es-ES" b="1" dirty="0" err="1">
                <a:latin typeface="Courier New"/>
                <a:ea typeface="+mn-lt"/>
                <a:cs typeface="+mn-lt"/>
              </a:rPr>
              <a:t>bold</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 Estilos específicos para la clase "</a:t>
            </a:r>
            <a:r>
              <a:rPr lang="es-ES" b="1" dirty="0" err="1">
                <a:latin typeface="Courier New"/>
                <a:ea typeface="+mn-lt"/>
                <a:cs typeface="+mn-lt"/>
              </a:rPr>
              <a:t>btn</a:t>
            </a:r>
            <a:r>
              <a:rPr lang="es-ES" b="1" dirty="0">
                <a:latin typeface="Courier New"/>
                <a:ea typeface="+mn-lt"/>
                <a:cs typeface="+mn-lt"/>
              </a:rPr>
              <a:t>-primario" */</a:t>
            </a:r>
            <a:br>
              <a:rPr lang="es-ES" b="1" dirty="0">
                <a:latin typeface="Courier New"/>
                <a:ea typeface="+mn-lt"/>
                <a:cs typeface="+mn-lt"/>
              </a:rPr>
            </a:br>
            <a:r>
              <a:rPr lang="es-ES" b="1" dirty="0">
                <a:latin typeface="Courier New"/>
                <a:ea typeface="+mn-lt"/>
                <a:cs typeface="+mn-lt"/>
              </a:rPr>
              <a:t>.</a:t>
            </a:r>
            <a:r>
              <a:rPr lang="es-ES" b="1" dirty="0" err="1">
                <a:latin typeface="Courier New"/>
                <a:ea typeface="+mn-lt"/>
                <a:cs typeface="+mn-lt"/>
              </a:rPr>
              <a:t>btn</a:t>
            </a:r>
            <a:r>
              <a:rPr lang="es-ES" b="1" dirty="0">
                <a:latin typeface="Courier New"/>
                <a:ea typeface="+mn-lt"/>
                <a:cs typeface="+mn-lt"/>
              </a:rPr>
              <a:t>-primario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background</a:t>
            </a:r>
            <a:r>
              <a:rPr lang="es-ES" b="1" dirty="0">
                <a:latin typeface="Courier New"/>
                <a:ea typeface="+mn-lt"/>
                <a:cs typeface="+mn-lt"/>
              </a:rPr>
              <a:t>-color: #007bff;</a:t>
            </a:r>
            <a:br>
              <a:rPr lang="es-ES" b="1" dirty="0">
                <a:latin typeface="Courier New"/>
                <a:ea typeface="+mn-lt"/>
                <a:cs typeface="+mn-lt"/>
              </a:rPr>
            </a:br>
            <a:r>
              <a:rPr lang="es-ES" b="1" dirty="0">
                <a:latin typeface="Courier New"/>
                <a:ea typeface="+mn-lt"/>
                <a:cs typeface="+mn-lt"/>
              </a:rPr>
              <a:t>  color: </a:t>
            </a:r>
            <a:r>
              <a:rPr lang="es-ES" b="1" dirty="0" err="1">
                <a:latin typeface="Courier New"/>
                <a:ea typeface="+mn-lt"/>
                <a:cs typeface="+mn-lt"/>
              </a:rPr>
              <a:t>white</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 Estilos específicos para la clase "</a:t>
            </a:r>
            <a:r>
              <a:rPr lang="es-ES" b="1" dirty="0" err="1">
                <a:latin typeface="Courier New"/>
                <a:ea typeface="+mn-lt"/>
                <a:cs typeface="+mn-lt"/>
              </a:rPr>
              <a:t>btn</a:t>
            </a:r>
            <a:r>
              <a:rPr lang="es-ES" b="1" dirty="0">
                <a:latin typeface="Courier New"/>
                <a:ea typeface="+mn-lt"/>
                <a:cs typeface="+mn-lt"/>
              </a:rPr>
              <a:t>-secundario" */</a:t>
            </a:r>
            <a:br>
              <a:rPr lang="es-ES" b="1" dirty="0">
                <a:latin typeface="Courier New"/>
                <a:ea typeface="+mn-lt"/>
                <a:cs typeface="+mn-lt"/>
              </a:rPr>
            </a:br>
            <a:r>
              <a:rPr lang="es-ES" b="1" dirty="0">
                <a:latin typeface="Courier New"/>
                <a:ea typeface="+mn-lt"/>
                <a:cs typeface="+mn-lt"/>
              </a:rPr>
              <a:t>.</a:t>
            </a:r>
            <a:r>
              <a:rPr lang="es-ES" b="1" dirty="0" err="1">
                <a:latin typeface="Courier New"/>
                <a:ea typeface="+mn-lt"/>
                <a:cs typeface="+mn-lt"/>
              </a:rPr>
              <a:t>btn</a:t>
            </a:r>
            <a:r>
              <a:rPr lang="es-ES" b="1" dirty="0">
                <a:latin typeface="Courier New"/>
                <a:ea typeface="+mn-lt"/>
                <a:cs typeface="+mn-lt"/>
              </a:rPr>
              <a:t>-secundario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background</a:t>
            </a:r>
            <a:r>
              <a:rPr lang="es-ES" b="1" dirty="0">
                <a:latin typeface="Courier New"/>
                <a:ea typeface="+mn-lt"/>
                <a:cs typeface="+mn-lt"/>
              </a:rPr>
              <a:t>-color: #6c757d;</a:t>
            </a:r>
            <a:br>
              <a:rPr lang="es-ES" b="1" dirty="0">
                <a:latin typeface="Courier New"/>
                <a:ea typeface="+mn-lt"/>
                <a:cs typeface="+mn-lt"/>
              </a:rPr>
            </a:br>
            <a:r>
              <a:rPr lang="es-ES" b="1" dirty="0">
                <a:latin typeface="Courier New"/>
                <a:ea typeface="+mn-lt"/>
                <a:cs typeface="+mn-lt"/>
              </a:rPr>
              <a:t>  color: </a:t>
            </a:r>
            <a:r>
              <a:rPr lang="es-ES" b="1" dirty="0" err="1">
                <a:latin typeface="Courier New"/>
                <a:ea typeface="+mn-lt"/>
                <a:cs typeface="+mn-lt"/>
              </a:rPr>
              <a:t>white</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a:t>
            </a:r>
            <a:endParaRPr lang="es-ES" b="1" dirty="0">
              <a:latin typeface="Courier New"/>
              <a:cs typeface="Courier New"/>
            </a:endParaRPr>
          </a:p>
        </p:txBody>
      </p:sp>
    </p:spTree>
    <p:extLst>
      <p:ext uri="{BB962C8B-B14F-4D97-AF65-F5344CB8AC3E}">
        <p14:creationId xmlns:p14="http://schemas.microsoft.com/office/powerpoint/2010/main" val="95783079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1F270F-EBFE-0784-5E9C-3F132BC81ED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B1A7BD3-263B-8688-5E58-5A31FF17EE63}"/>
              </a:ext>
            </a:extLst>
          </p:cNvPr>
          <p:cNvSpPr>
            <a:spLocks noGrp="1"/>
          </p:cNvSpPr>
          <p:nvPr>
            <p:ph type="title"/>
          </p:nvPr>
        </p:nvSpPr>
        <p:spPr/>
        <p:txBody>
          <a:bodyPr>
            <a:normAutofit/>
          </a:bodyPr>
          <a:lstStyle/>
          <a:p>
            <a:r>
              <a:rPr lang="es-ES" b="0" dirty="0">
                <a:ea typeface="+mj-lt"/>
                <a:cs typeface="+mj-lt"/>
              </a:rPr>
              <a:t>2.2.1.3. Selectores de ID (#): reglas y diferencias con las clases.</a:t>
            </a:r>
            <a:endParaRPr lang="es-ES"/>
          </a:p>
        </p:txBody>
      </p:sp>
      <p:sp>
        <p:nvSpPr>
          <p:cNvPr id="3" name="Marcador de contenido 2">
            <a:extLst>
              <a:ext uri="{FF2B5EF4-FFF2-40B4-BE49-F238E27FC236}">
                <a16:creationId xmlns:a16="http://schemas.microsoft.com/office/drawing/2014/main" id="{75FE8977-A374-ED1F-3572-837453DCD69F}"/>
              </a:ext>
            </a:extLst>
          </p:cNvPr>
          <p:cNvSpPr>
            <a:spLocks noGrp="1"/>
          </p:cNvSpPr>
          <p:nvPr>
            <p:ph idx="1"/>
          </p:nvPr>
        </p:nvSpPr>
        <p:spPr/>
        <p:txBody>
          <a:bodyPr vert="horz" lIns="91440" tIns="45720" rIns="91440" bIns="45720" rtlCol="0" anchor="t">
            <a:normAutofit lnSpcReduction="10000"/>
          </a:bodyPr>
          <a:lstStyle/>
          <a:p>
            <a:r>
              <a:rPr lang="es-ES" dirty="0">
                <a:ea typeface="+mn-lt"/>
                <a:cs typeface="+mn-lt"/>
              </a:rPr>
              <a:t>El selector de ID se utiliza para apuntar a un único elemento en la página. Un ID debe ser único por documento HTML, por lo que este selector se usa para elementos estructurales o principales. Se define con una almohadilla (#) seguida del nombre del ID.</a:t>
            </a:r>
            <a:endParaRPr lang="es-ES" dirty="0"/>
          </a:p>
          <a:p>
            <a:r>
              <a:rPr lang="es-ES" dirty="0">
                <a:ea typeface="+mn-lt"/>
                <a:cs typeface="+mn-lt"/>
              </a:rPr>
              <a:t>Sintaxis: </a:t>
            </a:r>
            <a:r>
              <a:rPr lang="es-ES" b="1" dirty="0">
                <a:latin typeface="Courier New"/>
                <a:ea typeface="+mn-lt"/>
                <a:cs typeface="+mn-lt"/>
              </a:rPr>
              <a:t>#nombre-id { ... }</a:t>
            </a:r>
            <a:endParaRPr lang="es-ES" b="1" dirty="0">
              <a:latin typeface="Courier New"/>
              <a:cs typeface="Courier New"/>
            </a:endParaRPr>
          </a:p>
          <a:p>
            <a:r>
              <a:rPr lang="es-ES" dirty="0">
                <a:ea typeface="+mn-lt"/>
                <a:cs typeface="+mn-lt"/>
              </a:rPr>
              <a:t>Diferencias con las clases:</a:t>
            </a:r>
            <a:endParaRPr lang="es-ES" dirty="0"/>
          </a:p>
          <a:p>
            <a:pPr lvl="1">
              <a:buFont typeface="Courier New" panose="020B0604020202020204" pitchFamily="34" charset="0"/>
              <a:buChar char="o"/>
            </a:pPr>
            <a:r>
              <a:rPr lang="es-ES" dirty="0">
                <a:ea typeface="+mn-lt"/>
                <a:cs typeface="+mn-lt"/>
              </a:rPr>
              <a:t>Unicidad: Un ID debe ser único por página; no puede haber dos elementos con el mismo ID. Las clases, por otro lado, pueden ser aplicadas a múltiples elementos.</a:t>
            </a:r>
            <a:endParaRPr lang="es-ES" dirty="0"/>
          </a:p>
          <a:p>
            <a:pPr lvl="1">
              <a:buFont typeface="Courier New" panose="020B0604020202020204" pitchFamily="34" charset="0"/>
              <a:buChar char="o"/>
            </a:pPr>
            <a:r>
              <a:rPr lang="es-ES" dirty="0">
                <a:ea typeface="+mn-lt"/>
                <a:cs typeface="+mn-lt"/>
              </a:rPr>
              <a:t>Especificidad: Los selectores de ID tienen una especificidad mucho mayor (100 puntos) que los de clase (10 puntos). Esto significa que un estilo de ID anulará a uno de clase si ambos apuntan al mismo elemento.</a:t>
            </a:r>
            <a:endParaRPr lang="es-ES" dirty="0"/>
          </a:p>
          <a:p>
            <a:r>
              <a:rPr lang="es-ES" dirty="0">
                <a:ea typeface="+mn-lt"/>
                <a:cs typeface="+mn-lt"/>
              </a:rPr>
              <a:t>Uso: Usa </a:t>
            </a:r>
            <a:r>
              <a:rPr lang="es-ES" dirty="0" err="1">
                <a:ea typeface="+mn-lt"/>
                <a:cs typeface="+mn-lt"/>
              </a:rPr>
              <a:t>IDs</a:t>
            </a:r>
            <a:r>
              <a:rPr lang="es-ES" dirty="0">
                <a:ea typeface="+mn-lt"/>
                <a:cs typeface="+mn-lt"/>
              </a:rPr>
              <a:t> para elementos estructurales únicos (como #header, #footer o #main) y clases para estilos reutilizables (como .</a:t>
            </a:r>
            <a:r>
              <a:rPr lang="es-ES" dirty="0" err="1">
                <a:ea typeface="+mn-lt"/>
                <a:cs typeface="+mn-lt"/>
              </a:rPr>
              <a:t>card</a:t>
            </a:r>
            <a:r>
              <a:rPr lang="es-ES" dirty="0">
                <a:ea typeface="+mn-lt"/>
                <a:cs typeface="+mn-lt"/>
              </a:rPr>
              <a:t>, .</a:t>
            </a:r>
            <a:r>
              <a:rPr lang="es-ES" dirty="0" err="1">
                <a:ea typeface="+mn-lt"/>
                <a:cs typeface="+mn-lt"/>
              </a:rPr>
              <a:t>btn</a:t>
            </a:r>
            <a:r>
              <a:rPr lang="es-ES" dirty="0">
                <a:ea typeface="+mn-lt"/>
                <a:cs typeface="+mn-lt"/>
              </a:rPr>
              <a:t> o .</a:t>
            </a:r>
            <a:r>
              <a:rPr lang="es-ES" dirty="0" err="1">
                <a:ea typeface="+mn-lt"/>
                <a:cs typeface="+mn-lt"/>
              </a:rPr>
              <a:t>item</a:t>
            </a:r>
            <a:r>
              <a:rPr lang="es-ES" dirty="0">
                <a:ea typeface="+mn-lt"/>
                <a:cs typeface="+mn-lt"/>
              </a:rPr>
              <a:t>).</a:t>
            </a:r>
            <a:endParaRPr lang="es-ES" dirty="0"/>
          </a:p>
          <a:p>
            <a:endParaRPr lang="es-ES" dirty="0"/>
          </a:p>
        </p:txBody>
      </p:sp>
    </p:spTree>
    <p:extLst>
      <p:ext uri="{BB962C8B-B14F-4D97-AF65-F5344CB8AC3E}">
        <p14:creationId xmlns:p14="http://schemas.microsoft.com/office/powerpoint/2010/main" val="364510580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FBFB69-CC11-4B69-F482-71E1814B367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31F606B-0336-2BF5-5BD7-DB6A9FF120D1}"/>
              </a:ext>
            </a:extLst>
          </p:cNvPr>
          <p:cNvSpPr>
            <a:spLocks noGrp="1"/>
          </p:cNvSpPr>
          <p:nvPr>
            <p:ph type="title"/>
          </p:nvPr>
        </p:nvSpPr>
        <p:spPr/>
        <p:txBody>
          <a:bodyPr/>
          <a:lstStyle/>
          <a:p>
            <a:r>
              <a:rPr lang="es-ES" b="0" dirty="0">
                <a:ea typeface="+mj-lt"/>
                <a:cs typeface="+mj-lt"/>
              </a:rPr>
              <a:t>2.2.1.3. Selectores de ID (#): reglas y diferencias con las clases.</a:t>
            </a:r>
            <a:endParaRPr lang="es-ES" dirty="0"/>
          </a:p>
        </p:txBody>
      </p:sp>
      <p:sp>
        <p:nvSpPr>
          <p:cNvPr id="3" name="Marcador de contenido 2">
            <a:extLst>
              <a:ext uri="{FF2B5EF4-FFF2-40B4-BE49-F238E27FC236}">
                <a16:creationId xmlns:a16="http://schemas.microsoft.com/office/drawing/2014/main" id="{0ACB7C63-CC6A-5AEB-2CAF-26BA2CFDC27F}"/>
              </a:ext>
            </a:extLst>
          </p:cNvPr>
          <p:cNvSpPr>
            <a:spLocks noGrp="1"/>
          </p:cNvSpPr>
          <p:nvPr>
            <p:ph idx="1"/>
          </p:nvPr>
        </p:nvSpPr>
        <p:spPr/>
        <p:txBody>
          <a:bodyPr vert="horz" lIns="91440" tIns="45720" rIns="91440" bIns="45720" rtlCol="0" anchor="t">
            <a:normAutofit/>
          </a:bodyPr>
          <a:lstStyle/>
          <a:p>
            <a:r>
              <a:rPr lang="es-ES" dirty="0">
                <a:ea typeface="+mn-lt"/>
                <a:cs typeface="+mn-lt"/>
              </a:rPr>
              <a:t>Ejemplo:</a:t>
            </a:r>
            <a:endParaRPr lang="es-ES" dirty="0"/>
          </a:p>
          <a:p>
            <a:pPr marL="0" indent="0">
              <a:buNone/>
            </a:pPr>
            <a:r>
              <a:rPr lang="es-ES" b="1" dirty="0">
                <a:latin typeface="Courier New"/>
                <a:ea typeface="+mn-lt"/>
                <a:cs typeface="+mn-lt"/>
              </a:rPr>
              <a:t>&lt;</a:t>
            </a:r>
            <a:r>
              <a:rPr lang="es-ES" b="1" dirty="0" err="1">
                <a:latin typeface="Courier New"/>
                <a:ea typeface="+mn-lt"/>
                <a:cs typeface="+mn-lt"/>
              </a:rPr>
              <a:t>header</a:t>
            </a:r>
            <a:r>
              <a:rPr lang="es-ES" b="1" dirty="0">
                <a:latin typeface="Courier New"/>
                <a:ea typeface="+mn-lt"/>
                <a:cs typeface="+mn-lt"/>
              </a:rPr>
              <a:t> id="cabecera-sitio"&gt;</a:t>
            </a:r>
            <a:br>
              <a:rPr lang="es-ES" b="1" dirty="0">
                <a:latin typeface="Courier New"/>
                <a:ea typeface="+mn-lt"/>
                <a:cs typeface="+mn-lt"/>
              </a:rPr>
            </a:br>
            <a:r>
              <a:rPr lang="es-ES" b="1" dirty="0">
                <a:latin typeface="Courier New"/>
                <a:ea typeface="+mn-lt"/>
                <a:cs typeface="+mn-lt"/>
              </a:rPr>
              <a:t>  &lt;h1&gt;Mi Blog&lt;/h1&gt;</a:t>
            </a:r>
            <a:br>
              <a:rPr lang="es-ES" b="1" dirty="0">
                <a:latin typeface="Courier New"/>
                <a:ea typeface="+mn-lt"/>
                <a:cs typeface="+mn-lt"/>
              </a:rPr>
            </a:br>
            <a:r>
              <a:rPr lang="es-ES" b="1" dirty="0">
                <a:latin typeface="Courier New"/>
                <a:ea typeface="+mn-lt"/>
                <a:cs typeface="+mn-lt"/>
              </a:rPr>
              <a:t>&lt;/</a:t>
            </a:r>
            <a:r>
              <a:rPr lang="es-ES" b="1" dirty="0" err="1">
                <a:latin typeface="Courier New"/>
                <a:ea typeface="+mn-lt"/>
                <a:cs typeface="+mn-lt"/>
              </a:rPr>
              <a:t>header</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#cabecera-sitio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background</a:t>
            </a:r>
            <a:r>
              <a:rPr lang="es-ES" b="1" dirty="0">
                <a:latin typeface="Courier New"/>
                <a:ea typeface="+mn-lt"/>
                <a:cs typeface="+mn-lt"/>
              </a:rPr>
              <a:t>-color: #f8f9fa;</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border</a:t>
            </a:r>
            <a:r>
              <a:rPr lang="es-ES" b="1" dirty="0">
                <a:latin typeface="Courier New"/>
                <a:ea typeface="+mn-lt"/>
                <a:cs typeface="+mn-lt"/>
              </a:rPr>
              <a:t>-bottom: 2px </a:t>
            </a:r>
            <a:r>
              <a:rPr lang="es-ES" b="1" dirty="0" err="1">
                <a:latin typeface="Courier New"/>
                <a:ea typeface="+mn-lt"/>
                <a:cs typeface="+mn-lt"/>
              </a:rPr>
              <a:t>solid</a:t>
            </a:r>
            <a:r>
              <a:rPr lang="es-ES" b="1" dirty="0">
                <a:latin typeface="Courier New"/>
                <a:ea typeface="+mn-lt"/>
                <a:cs typeface="+mn-lt"/>
              </a:rPr>
              <a:t> #ddd;</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padding</a:t>
            </a:r>
            <a:r>
              <a:rPr lang="es-ES" b="1" dirty="0">
                <a:latin typeface="Courier New"/>
                <a:ea typeface="+mn-lt"/>
                <a:cs typeface="+mn-lt"/>
              </a:rPr>
              <a:t>: 20px;</a:t>
            </a:r>
            <a:br>
              <a:rPr lang="es-ES" b="1" dirty="0">
                <a:latin typeface="Courier New"/>
                <a:ea typeface="+mn-lt"/>
                <a:cs typeface="+mn-lt"/>
              </a:rPr>
            </a:br>
            <a:r>
              <a:rPr lang="es-ES" b="1" dirty="0">
                <a:latin typeface="Courier New"/>
                <a:ea typeface="+mn-lt"/>
                <a:cs typeface="+mn-lt"/>
              </a:rPr>
              <a:t>}</a:t>
            </a:r>
            <a:endParaRPr lang="es-ES" b="1">
              <a:latin typeface="Courier New"/>
              <a:cs typeface="Courier New"/>
            </a:endParaRPr>
          </a:p>
          <a:p>
            <a:r>
              <a:rPr lang="es-ES" dirty="0">
                <a:latin typeface="Bierstadt"/>
                <a:ea typeface="+mn-lt"/>
                <a:cs typeface="+mn-lt"/>
              </a:rPr>
              <a:t>El selector #cabecera-sitio estilizará exclusivamente el elemento con ese ID, ignorando cualquier otro </a:t>
            </a:r>
            <a:r>
              <a:rPr lang="es-ES" dirty="0" err="1">
                <a:latin typeface="Bierstadt"/>
                <a:ea typeface="+mn-lt"/>
                <a:cs typeface="+mn-lt"/>
              </a:rPr>
              <a:t>header</a:t>
            </a:r>
            <a:r>
              <a:rPr lang="es-ES" dirty="0">
                <a:latin typeface="Bierstadt"/>
                <a:ea typeface="+mn-lt"/>
                <a:cs typeface="+mn-lt"/>
              </a:rPr>
              <a:t> que pudiera existir.</a:t>
            </a:r>
            <a:endParaRPr lang="es-ES"/>
          </a:p>
          <a:p>
            <a:endParaRPr lang="es-ES" dirty="0"/>
          </a:p>
        </p:txBody>
      </p:sp>
    </p:spTree>
    <p:extLst>
      <p:ext uri="{BB962C8B-B14F-4D97-AF65-F5344CB8AC3E}">
        <p14:creationId xmlns:p14="http://schemas.microsoft.com/office/powerpoint/2010/main" val="181676393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5F75FB-E7E1-AA43-FB1E-9A0A32F7D33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8E7EA36-C773-46FD-28B8-6B5E1FB5C487}"/>
              </a:ext>
            </a:extLst>
          </p:cNvPr>
          <p:cNvSpPr>
            <a:spLocks noGrp="1"/>
          </p:cNvSpPr>
          <p:nvPr>
            <p:ph type="title"/>
          </p:nvPr>
        </p:nvSpPr>
        <p:spPr/>
        <p:txBody>
          <a:bodyPr/>
          <a:lstStyle/>
          <a:p>
            <a:r>
              <a:rPr lang="es-ES" b="0" dirty="0">
                <a:ea typeface="+mj-lt"/>
                <a:cs typeface="+mj-lt"/>
              </a:rPr>
              <a:t>2.2.1.4. Selector universal (*).</a:t>
            </a:r>
            <a:endParaRPr lang="es-ES" dirty="0"/>
          </a:p>
        </p:txBody>
      </p:sp>
      <p:sp>
        <p:nvSpPr>
          <p:cNvPr id="3" name="Marcador de contenido 2">
            <a:extLst>
              <a:ext uri="{FF2B5EF4-FFF2-40B4-BE49-F238E27FC236}">
                <a16:creationId xmlns:a16="http://schemas.microsoft.com/office/drawing/2014/main" id="{576AB714-38F4-433A-3F41-17CEB05C81E8}"/>
              </a:ext>
            </a:extLst>
          </p:cNvPr>
          <p:cNvSpPr>
            <a:spLocks noGrp="1"/>
          </p:cNvSpPr>
          <p:nvPr>
            <p:ph idx="1"/>
          </p:nvPr>
        </p:nvSpPr>
        <p:spPr/>
        <p:txBody>
          <a:bodyPr vert="horz" lIns="91440" tIns="45720" rIns="91440" bIns="45720" rtlCol="0" anchor="t">
            <a:normAutofit lnSpcReduction="10000"/>
          </a:bodyPr>
          <a:lstStyle/>
          <a:p>
            <a:r>
              <a:rPr lang="es-ES" dirty="0">
                <a:ea typeface="+mn-lt"/>
                <a:cs typeface="+mn-lt"/>
              </a:rPr>
              <a:t>El selector universal apunta a todos los elementos de la página. Se representa con un asterisco (*) y es útil para aplicar un </a:t>
            </a:r>
            <a:r>
              <a:rPr lang="es-ES" dirty="0" err="1">
                <a:ea typeface="+mn-lt"/>
                <a:cs typeface="+mn-lt"/>
              </a:rPr>
              <a:t>reset</a:t>
            </a:r>
            <a:r>
              <a:rPr lang="es-ES" dirty="0">
                <a:ea typeface="+mn-lt"/>
                <a:cs typeface="+mn-lt"/>
              </a:rPr>
              <a:t> de estilos o para definir reglas globales que afecten a todo el documento.</a:t>
            </a:r>
            <a:endParaRPr lang="es-ES" dirty="0"/>
          </a:p>
          <a:p>
            <a:r>
              <a:rPr lang="es-ES" dirty="0">
                <a:ea typeface="+mn-lt"/>
                <a:cs typeface="+mn-lt"/>
              </a:rPr>
              <a:t>Sintaxis:</a:t>
            </a:r>
            <a:r>
              <a:rPr lang="es-ES" b="1" dirty="0">
                <a:latin typeface="Courier New"/>
                <a:ea typeface="+mn-lt"/>
                <a:cs typeface="+mn-lt"/>
              </a:rPr>
              <a:t> * { ... }</a:t>
            </a:r>
            <a:endParaRPr lang="es-ES" b="1" dirty="0">
              <a:latin typeface="Courier New"/>
            </a:endParaRPr>
          </a:p>
          <a:p>
            <a:r>
              <a:rPr lang="es-ES" dirty="0">
                <a:ea typeface="+mn-lt"/>
                <a:cs typeface="+mn-lt"/>
              </a:rPr>
              <a:t>Ejemplo: Una práctica común en el desarrollo moderno es usar el selector universal para establecer un reinicio de estilos que garantice una consistencia entre navegadores.</a:t>
            </a:r>
            <a:endParaRPr lang="es-ES" dirty="0"/>
          </a:p>
          <a:p>
            <a:pPr marL="0" indent="0">
              <a:buNone/>
            </a:pPr>
            <a:r>
              <a:rPr lang="es-ES" b="1" dirty="0">
                <a:latin typeface="Courier New"/>
                <a:ea typeface="+mn-lt"/>
                <a:cs typeface="+mn-lt"/>
              </a:rPr>
              <a:t>/* Elimina el margen y el relleno por defecto de todos los elementos */</a:t>
            </a:r>
            <a:br>
              <a:rPr lang="es-ES" b="1" dirty="0">
                <a:latin typeface="Courier New"/>
                <a:ea typeface="+mn-lt"/>
                <a:cs typeface="+mn-lt"/>
              </a:rPr>
            </a:b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margin</a:t>
            </a:r>
            <a:r>
              <a:rPr lang="es-ES" b="1" dirty="0">
                <a:latin typeface="Courier New"/>
                <a:ea typeface="+mn-lt"/>
                <a:cs typeface="+mn-lt"/>
              </a:rPr>
              <a:t>: 0;</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padding</a:t>
            </a:r>
            <a:r>
              <a:rPr lang="es-ES" b="1" dirty="0">
                <a:latin typeface="Courier New"/>
                <a:ea typeface="+mn-lt"/>
                <a:cs typeface="+mn-lt"/>
              </a:rPr>
              <a:t>: 0;</a:t>
            </a:r>
            <a:br>
              <a:rPr lang="es-ES" b="1" dirty="0">
                <a:latin typeface="Courier New"/>
                <a:ea typeface="+mn-lt"/>
                <a:cs typeface="+mn-lt"/>
              </a:rPr>
            </a:br>
            <a:r>
              <a:rPr lang="es-ES" b="1" dirty="0">
                <a:latin typeface="Courier New"/>
                <a:ea typeface="+mn-lt"/>
                <a:cs typeface="+mn-lt"/>
              </a:rPr>
              <a:t>  box-</a:t>
            </a:r>
            <a:r>
              <a:rPr lang="es-ES" b="1" dirty="0" err="1">
                <a:latin typeface="Courier New"/>
                <a:ea typeface="+mn-lt"/>
                <a:cs typeface="+mn-lt"/>
              </a:rPr>
              <a:t>sizing</a:t>
            </a:r>
            <a:r>
              <a:rPr lang="es-ES" b="1" dirty="0">
                <a:latin typeface="Courier New"/>
                <a:ea typeface="+mn-lt"/>
                <a:cs typeface="+mn-lt"/>
              </a:rPr>
              <a:t>: </a:t>
            </a:r>
            <a:r>
              <a:rPr lang="es-ES" b="1" dirty="0" err="1">
                <a:latin typeface="Courier New"/>
                <a:ea typeface="+mn-lt"/>
                <a:cs typeface="+mn-lt"/>
              </a:rPr>
              <a:t>border</a:t>
            </a:r>
            <a:r>
              <a:rPr lang="es-ES" b="1" dirty="0">
                <a:latin typeface="Courier New"/>
                <a:ea typeface="+mn-lt"/>
                <a:cs typeface="+mn-lt"/>
              </a:rPr>
              <a:t>-box;</a:t>
            </a:r>
            <a:br>
              <a:rPr lang="es-ES" b="1" dirty="0">
                <a:latin typeface="Courier New"/>
                <a:ea typeface="+mn-lt"/>
                <a:cs typeface="+mn-lt"/>
              </a:rPr>
            </a:br>
            <a:r>
              <a:rPr lang="es-ES" b="1" dirty="0">
                <a:latin typeface="Courier New"/>
                <a:ea typeface="+mn-lt"/>
                <a:cs typeface="+mn-lt"/>
              </a:rPr>
              <a:t>}</a:t>
            </a:r>
            <a:endParaRPr lang="es-ES" b="1" dirty="0">
              <a:latin typeface="Courier New"/>
              <a:cs typeface="Courier New"/>
            </a:endParaRPr>
          </a:p>
        </p:txBody>
      </p:sp>
    </p:spTree>
    <p:extLst>
      <p:ext uri="{BB962C8B-B14F-4D97-AF65-F5344CB8AC3E}">
        <p14:creationId xmlns:p14="http://schemas.microsoft.com/office/powerpoint/2010/main" val="49198088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38BF21-6C61-B668-7C20-9AA6A5FE14D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E24D308-7D3A-BB7C-BE05-BD295E7B8A4A}"/>
              </a:ext>
            </a:extLst>
          </p:cNvPr>
          <p:cNvSpPr>
            <a:spLocks noGrp="1"/>
          </p:cNvSpPr>
          <p:nvPr>
            <p:ph type="title"/>
          </p:nvPr>
        </p:nvSpPr>
        <p:spPr/>
        <p:txBody>
          <a:bodyPr/>
          <a:lstStyle/>
          <a:p>
            <a:r>
              <a:rPr lang="es-ES" b="0" dirty="0">
                <a:ea typeface="+mj-lt"/>
                <a:cs typeface="+mj-lt"/>
              </a:rPr>
              <a:t>2.2.1.4. Selector universal (*).</a:t>
            </a:r>
            <a:endParaRPr lang="es-ES" dirty="0"/>
          </a:p>
        </p:txBody>
      </p:sp>
      <p:sp>
        <p:nvSpPr>
          <p:cNvPr id="3" name="Marcador de contenido 2">
            <a:extLst>
              <a:ext uri="{FF2B5EF4-FFF2-40B4-BE49-F238E27FC236}">
                <a16:creationId xmlns:a16="http://schemas.microsoft.com/office/drawing/2014/main" id="{9AF278BA-EF85-7DB6-A8C6-408079EFFF0D}"/>
              </a:ext>
            </a:extLst>
          </p:cNvPr>
          <p:cNvSpPr>
            <a:spLocks noGrp="1"/>
          </p:cNvSpPr>
          <p:nvPr>
            <p:ph idx="1"/>
          </p:nvPr>
        </p:nvSpPr>
        <p:spPr/>
        <p:txBody>
          <a:bodyPr vert="horz" lIns="91440" tIns="45720" rIns="91440" bIns="45720" rtlCol="0" anchor="t">
            <a:normAutofit lnSpcReduction="10000"/>
          </a:bodyPr>
          <a:lstStyle/>
          <a:p>
            <a:r>
              <a:rPr lang="es-ES" dirty="0">
                <a:ea typeface="+mn-lt"/>
                <a:cs typeface="+mn-lt"/>
              </a:rPr>
              <a:t>El selector universal apunta a todos los elementos de la página. Se representa con un asterisco (*) y es útil para aplicar un </a:t>
            </a:r>
            <a:r>
              <a:rPr lang="es-ES" dirty="0" err="1">
                <a:ea typeface="+mn-lt"/>
                <a:cs typeface="+mn-lt"/>
              </a:rPr>
              <a:t>reset</a:t>
            </a:r>
            <a:r>
              <a:rPr lang="es-ES" dirty="0">
                <a:ea typeface="+mn-lt"/>
                <a:cs typeface="+mn-lt"/>
              </a:rPr>
              <a:t> de estilos o para definir reglas globales que afecten a todo el documento.</a:t>
            </a:r>
            <a:endParaRPr lang="es-ES" dirty="0"/>
          </a:p>
          <a:p>
            <a:r>
              <a:rPr lang="es-ES" dirty="0">
                <a:ea typeface="+mn-lt"/>
                <a:cs typeface="+mn-lt"/>
              </a:rPr>
              <a:t>Sintaxis:</a:t>
            </a:r>
            <a:r>
              <a:rPr lang="es-ES" b="1" dirty="0">
                <a:latin typeface="Courier New"/>
                <a:ea typeface="+mn-lt"/>
                <a:cs typeface="+mn-lt"/>
              </a:rPr>
              <a:t> * { ... }</a:t>
            </a:r>
            <a:endParaRPr lang="es-ES" b="1" dirty="0">
              <a:latin typeface="Courier New"/>
            </a:endParaRPr>
          </a:p>
          <a:p>
            <a:r>
              <a:rPr lang="es-ES" dirty="0">
                <a:ea typeface="+mn-lt"/>
                <a:cs typeface="+mn-lt"/>
              </a:rPr>
              <a:t>Ejemplo: Una práctica común en el desarrollo moderno es usar el selector universal para establecer un reinicio de estilos que garantice una consistencia entre navegadores.</a:t>
            </a:r>
            <a:endParaRPr lang="es-ES" dirty="0"/>
          </a:p>
          <a:p>
            <a:pPr marL="0" indent="0">
              <a:buNone/>
            </a:pPr>
            <a:r>
              <a:rPr lang="es-ES" b="1" dirty="0">
                <a:latin typeface="Courier New"/>
                <a:ea typeface="+mn-lt"/>
                <a:cs typeface="+mn-lt"/>
              </a:rPr>
              <a:t>/* Elimina el margen y el relleno por defecto de todos los elementos */</a:t>
            </a:r>
            <a:br>
              <a:rPr lang="es-ES" b="1" dirty="0">
                <a:latin typeface="Courier New"/>
                <a:ea typeface="+mn-lt"/>
                <a:cs typeface="+mn-lt"/>
              </a:rPr>
            </a:b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margin</a:t>
            </a:r>
            <a:r>
              <a:rPr lang="es-ES" b="1" dirty="0">
                <a:latin typeface="Courier New"/>
                <a:ea typeface="+mn-lt"/>
                <a:cs typeface="+mn-lt"/>
              </a:rPr>
              <a:t>: 0;</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padding</a:t>
            </a:r>
            <a:r>
              <a:rPr lang="es-ES" b="1" dirty="0">
                <a:latin typeface="Courier New"/>
                <a:ea typeface="+mn-lt"/>
                <a:cs typeface="+mn-lt"/>
              </a:rPr>
              <a:t>: 0;</a:t>
            </a:r>
            <a:br>
              <a:rPr lang="es-ES" b="1" dirty="0">
                <a:latin typeface="Courier New"/>
                <a:ea typeface="+mn-lt"/>
                <a:cs typeface="+mn-lt"/>
              </a:rPr>
            </a:br>
            <a:r>
              <a:rPr lang="es-ES" b="1" dirty="0">
                <a:latin typeface="Courier New"/>
                <a:ea typeface="+mn-lt"/>
                <a:cs typeface="+mn-lt"/>
              </a:rPr>
              <a:t>  box-</a:t>
            </a:r>
            <a:r>
              <a:rPr lang="es-ES" b="1" dirty="0" err="1">
                <a:latin typeface="Courier New"/>
                <a:ea typeface="+mn-lt"/>
                <a:cs typeface="+mn-lt"/>
              </a:rPr>
              <a:t>sizing</a:t>
            </a:r>
            <a:r>
              <a:rPr lang="es-ES" b="1" dirty="0">
                <a:latin typeface="Courier New"/>
                <a:ea typeface="+mn-lt"/>
                <a:cs typeface="+mn-lt"/>
              </a:rPr>
              <a:t>: </a:t>
            </a:r>
            <a:r>
              <a:rPr lang="es-ES" b="1" dirty="0" err="1">
                <a:latin typeface="Courier New"/>
                <a:ea typeface="+mn-lt"/>
                <a:cs typeface="+mn-lt"/>
              </a:rPr>
              <a:t>border</a:t>
            </a:r>
            <a:r>
              <a:rPr lang="es-ES" b="1" dirty="0">
                <a:latin typeface="Courier New"/>
                <a:ea typeface="+mn-lt"/>
                <a:cs typeface="+mn-lt"/>
              </a:rPr>
              <a:t>-box;</a:t>
            </a:r>
            <a:br>
              <a:rPr lang="es-ES" b="1" dirty="0">
                <a:latin typeface="Courier New"/>
                <a:ea typeface="+mn-lt"/>
                <a:cs typeface="+mn-lt"/>
              </a:rPr>
            </a:br>
            <a:r>
              <a:rPr lang="es-ES" b="1" dirty="0">
                <a:latin typeface="Courier New"/>
                <a:ea typeface="+mn-lt"/>
                <a:cs typeface="+mn-lt"/>
              </a:rPr>
              <a:t>}</a:t>
            </a:r>
            <a:endParaRPr lang="es-ES" b="1" dirty="0">
              <a:latin typeface="Courier New"/>
              <a:cs typeface="Courier New"/>
            </a:endParaRPr>
          </a:p>
        </p:txBody>
      </p:sp>
    </p:spTree>
    <p:extLst>
      <p:ext uri="{BB962C8B-B14F-4D97-AF65-F5344CB8AC3E}">
        <p14:creationId xmlns:p14="http://schemas.microsoft.com/office/powerpoint/2010/main" val="174606129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8AE521-2DBD-D0B0-5B7D-E36FB57E643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6171026-5F88-0C1C-EC79-0A3DD8B5616F}"/>
              </a:ext>
            </a:extLst>
          </p:cNvPr>
          <p:cNvSpPr>
            <a:spLocks noGrp="1"/>
          </p:cNvSpPr>
          <p:nvPr>
            <p:ph type="title"/>
          </p:nvPr>
        </p:nvSpPr>
        <p:spPr/>
        <p:txBody>
          <a:bodyPr/>
          <a:lstStyle/>
          <a:p>
            <a:r>
              <a:rPr lang="es-ES" b="0" dirty="0">
                <a:ea typeface="+mj-lt"/>
                <a:cs typeface="+mj-lt"/>
              </a:rPr>
              <a:t>2.2.2. Selectores combinadores</a:t>
            </a:r>
            <a:br>
              <a:rPr lang="es-ES" b="0" dirty="0">
                <a:ea typeface="+mj-lt"/>
                <a:cs typeface="+mj-lt"/>
              </a:rPr>
            </a:br>
            <a:r>
              <a:rPr lang="es-ES" b="0" dirty="0">
                <a:ea typeface="+mj-lt"/>
                <a:cs typeface="+mj-lt"/>
              </a:rPr>
              <a:t>2.2.2.1. Selector descendiente</a:t>
            </a:r>
            <a:endParaRPr lang="es-ES" dirty="0">
              <a:ea typeface="+mj-lt"/>
              <a:cs typeface="+mj-lt"/>
            </a:endParaRPr>
          </a:p>
        </p:txBody>
      </p:sp>
      <p:sp>
        <p:nvSpPr>
          <p:cNvPr id="3" name="Marcador de contenido 2">
            <a:extLst>
              <a:ext uri="{FF2B5EF4-FFF2-40B4-BE49-F238E27FC236}">
                <a16:creationId xmlns:a16="http://schemas.microsoft.com/office/drawing/2014/main" id="{278B8E06-5A73-34F1-C6A6-E43ABFC6C6E0}"/>
              </a:ext>
            </a:extLst>
          </p:cNvPr>
          <p:cNvSpPr>
            <a:spLocks noGrp="1"/>
          </p:cNvSpPr>
          <p:nvPr>
            <p:ph idx="1"/>
          </p:nvPr>
        </p:nvSpPr>
        <p:spPr/>
        <p:txBody>
          <a:bodyPr vert="horz" lIns="91440" tIns="45720" rIns="91440" bIns="45720" rtlCol="0" anchor="t">
            <a:normAutofit/>
          </a:bodyPr>
          <a:lstStyle/>
          <a:p>
            <a:r>
              <a:rPr lang="es-ES" dirty="0">
                <a:ea typeface="+mn-lt"/>
                <a:cs typeface="+mn-lt"/>
              </a:rPr>
              <a:t>Los selectores combinadores permiten seleccionar elementos basándose en su relación con otros elementos. A diferencia de los selectores básicos que apuntan a elementos individuales, los combinadores te permiten crear reglas más complejas y específicas, navegando por la estructura jerárquica del documento HTML.</a:t>
            </a:r>
            <a:endParaRPr lang="es-ES" dirty="0"/>
          </a:p>
          <a:p>
            <a:r>
              <a:rPr lang="es-ES" dirty="0">
                <a:ea typeface="+mn-lt"/>
                <a:cs typeface="+mn-lt"/>
              </a:rPr>
              <a:t>El selector descendiente es uno de los selectores combinadores más comunes y flexibles. Permite seleccionar un elemento que es un descendiente de otro, sin importar cuántos niveles de anidamiento existan entre ellos. Es decir, un elemento puede ser hijo, nieto, bisnieto, etc., y seguirá siendo seleccionado.</a:t>
            </a:r>
          </a:p>
          <a:p>
            <a:r>
              <a:rPr lang="es-ES" dirty="0">
                <a:ea typeface="+mn-lt"/>
                <a:cs typeface="+mn-lt"/>
              </a:rPr>
              <a:t>La sintaxis utiliza un espacio en blanco entre los selectores.</a:t>
            </a:r>
          </a:p>
          <a:p>
            <a:r>
              <a:rPr lang="es-ES" dirty="0">
                <a:ea typeface="+mn-lt"/>
                <a:cs typeface="+mn-lt"/>
              </a:rPr>
              <a:t>Sintaxis: </a:t>
            </a:r>
            <a:r>
              <a:rPr lang="es-ES" b="1" dirty="0" err="1">
                <a:latin typeface="Courier New"/>
                <a:ea typeface="+mn-lt"/>
                <a:cs typeface="+mn-lt"/>
              </a:rPr>
              <a:t>selector_padre</a:t>
            </a:r>
            <a:r>
              <a:rPr lang="es-ES" b="1" dirty="0">
                <a:latin typeface="Courier New"/>
                <a:ea typeface="+mn-lt"/>
                <a:cs typeface="+mn-lt"/>
              </a:rPr>
              <a:t> </a:t>
            </a:r>
            <a:r>
              <a:rPr lang="es-ES" b="1" dirty="0" err="1">
                <a:latin typeface="Courier New"/>
                <a:ea typeface="+mn-lt"/>
                <a:cs typeface="+mn-lt"/>
              </a:rPr>
              <a:t>selector_descendiente</a:t>
            </a:r>
            <a:r>
              <a:rPr lang="es-ES" b="1" dirty="0">
                <a:latin typeface="Courier New"/>
                <a:ea typeface="+mn-lt"/>
                <a:cs typeface="+mn-lt"/>
              </a:rPr>
              <a:t> { ... }</a:t>
            </a:r>
          </a:p>
          <a:p>
            <a:endParaRPr lang="es-ES" dirty="0">
              <a:ea typeface="+mn-lt"/>
              <a:cs typeface="+mn-lt"/>
            </a:endParaRPr>
          </a:p>
        </p:txBody>
      </p:sp>
    </p:spTree>
    <p:extLst>
      <p:ext uri="{BB962C8B-B14F-4D97-AF65-F5344CB8AC3E}">
        <p14:creationId xmlns:p14="http://schemas.microsoft.com/office/powerpoint/2010/main" val="348616554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362E05-A76D-C7E1-D549-F68EAD0832A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FD72D65-A892-BFAF-11AF-71C62B421332}"/>
              </a:ext>
            </a:extLst>
          </p:cNvPr>
          <p:cNvSpPr>
            <a:spLocks noGrp="1"/>
          </p:cNvSpPr>
          <p:nvPr>
            <p:ph type="title"/>
          </p:nvPr>
        </p:nvSpPr>
        <p:spPr/>
        <p:txBody>
          <a:bodyPr>
            <a:normAutofit/>
          </a:bodyPr>
          <a:lstStyle/>
          <a:p>
            <a:r>
              <a:rPr lang="es-ES" b="0" dirty="0">
                <a:ea typeface="+mj-lt"/>
                <a:cs typeface="+mj-lt"/>
              </a:rPr>
              <a:t>2.2.2.1. Selector descendiente</a:t>
            </a:r>
            <a:endParaRPr lang="es-ES" dirty="0"/>
          </a:p>
        </p:txBody>
      </p:sp>
      <p:sp>
        <p:nvSpPr>
          <p:cNvPr id="3" name="Marcador de contenido 2">
            <a:extLst>
              <a:ext uri="{FF2B5EF4-FFF2-40B4-BE49-F238E27FC236}">
                <a16:creationId xmlns:a16="http://schemas.microsoft.com/office/drawing/2014/main" id="{8BADCA7A-0252-06C7-2E60-D92D0B822FAD}"/>
              </a:ext>
            </a:extLst>
          </p:cNvPr>
          <p:cNvSpPr>
            <a:spLocks noGrp="1"/>
          </p:cNvSpPr>
          <p:nvPr>
            <p:ph idx="1"/>
          </p:nvPr>
        </p:nvSpPr>
        <p:spPr/>
        <p:txBody>
          <a:bodyPr vert="horz" lIns="91440" tIns="45720" rIns="91440" bIns="45720" rtlCol="0" anchor="t">
            <a:normAutofit fontScale="70000" lnSpcReduction="20000"/>
          </a:bodyPr>
          <a:lstStyle/>
          <a:p>
            <a:r>
              <a:rPr lang="es-ES" dirty="0">
                <a:ea typeface="+mn-lt"/>
                <a:cs typeface="+mn-lt"/>
              </a:rPr>
              <a:t>Ejemplo: Imagina que quieres dar estilo a todos los enlaces (&lt;a&gt;) que se encuentren dentro de un menú de navegación (&lt;</a:t>
            </a:r>
            <a:r>
              <a:rPr lang="es-ES" dirty="0" err="1">
                <a:ea typeface="+mn-lt"/>
                <a:cs typeface="+mn-lt"/>
              </a:rPr>
              <a:t>nav</a:t>
            </a:r>
            <a:r>
              <a:rPr lang="es-ES" dirty="0">
                <a:ea typeface="+mn-lt"/>
                <a:cs typeface="+mn-lt"/>
              </a:rPr>
              <a:t>&gt;) para distinguirlos de otros enlaces en la página.</a:t>
            </a:r>
            <a:endParaRPr lang="es-ES" dirty="0"/>
          </a:p>
          <a:p>
            <a:pPr marL="0" indent="0">
              <a:buNone/>
            </a:pPr>
            <a:r>
              <a:rPr lang="es-ES" b="1" dirty="0">
                <a:latin typeface="Courier New"/>
                <a:ea typeface="+mn-lt"/>
                <a:cs typeface="+mn-lt"/>
              </a:rPr>
              <a:t>&lt;nav&gt;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ul</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li</a:t>
            </a:r>
            <a:r>
              <a:rPr lang="es-ES" b="1" dirty="0">
                <a:latin typeface="Courier New"/>
                <a:ea typeface="+mn-lt"/>
                <a:cs typeface="+mn-lt"/>
              </a:rPr>
              <a:t>&gt;&lt;a </a:t>
            </a:r>
            <a:r>
              <a:rPr lang="es-ES" b="1" dirty="0" err="1">
                <a:latin typeface="Courier New"/>
                <a:ea typeface="+mn-lt"/>
                <a:cs typeface="+mn-lt"/>
              </a:rPr>
              <a:t>href</a:t>
            </a:r>
            <a:r>
              <a:rPr lang="es-ES" b="1" dirty="0">
                <a:latin typeface="Courier New"/>
                <a:ea typeface="+mn-lt"/>
                <a:cs typeface="+mn-lt"/>
              </a:rPr>
              <a:t>="#"&gt;Inicio&lt;/a&gt;&lt;/</a:t>
            </a:r>
            <a:r>
              <a:rPr lang="es-ES" b="1" dirty="0" err="1">
                <a:latin typeface="Courier New"/>
                <a:ea typeface="+mn-lt"/>
                <a:cs typeface="+mn-lt"/>
              </a:rPr>
              <a:t>li</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li</a:t>
            </a:r>
            <a:r>
              <a:rPr lang="es-ES" b="1" dirty="0">
                <a:latin typeface="Courier New"/>
                <a:ea typeface="+mn-lt"/>
                <a:cs typeface="+mn-lt"/>
              </a:rPr>
              <a:t>&gt;&lt;a </a:t>
            </a:r>
            <a:r>
              <a:rPr lang="es-ES" b="1" dirty="0" err="1">
                <a:latin typeface="Courier New"/>
                <a:ea typeface="+mn-lt"/>
                <a:cs typeface="+mn-lt"/>
              </a:rPr>
              <a:t>href</a:t>
            </a:r>
            <a:r>
              <a:rPr lang="es-ES" b="1" dirty="0">
                <a:latin typeface="Courier New"/>
                <a:ea typeface="+mn-lt"/>
                <a:cs typeface="+mn-lt"/>
              </a:rPr>
              <a:t>="#"&gt;Servicios&lt;/a&gt;&lt;/</a:t>
            </a:r>
            <a:r>
              <a:rPr lang="es-ES" b="1" dirty="0" err="1">
                <a:latin typeface="Courier New"/>
                <a:ea typeface="+mn-lt"/>
                <a:cs typeface="+mn-lt"/>
              </a:rPr>
              <a:t>li</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ul</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&lt;/</a:t>
            </a:r>
            <a:r>
              <a:rPr lang="es-ES" b="1" dirty="0" err="1">
                <a:latin typeface="Courier New"/>
                <a:ea typeface="+mn-lt"/>
                <a:cs typeface="+mn-lt"/>
              </a:rPr>
              <a:t>nav</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&lt;p&gt;</a:t>
            </a:r>
            <a:br>
              <a:rPr lang="es-ES" b="1" dirty="0">
                <a:latin typeface="Courier New"/>
                <a:ea typeface="+mn-lt"/>
                <a:cs typeface="+mn-lt"/>
              </a:rPr>
            </a:br>
            <a:r>
              <a:rPr lang="es-ES" b="1" dirty="0">
                <a:latin typeface="Courier New"/>
                <a:ea typeface="+mn-lt"/>
                <a:cs typeface="+mn-lt"/>
              </a:rPr>
              <a:t>  &lt;a </a:t>
            </a:r>
            <a:r>
              <a:rPr lang="es-ES" b="1" dirty="0" err="1">
                <a:latin typeface="Courier New"/>
                <a:ea typeface="+mn-lt"/>
                <a:cs typeface="+mn-lt"/>
              </a:rPr>
              <a:t>href</a:t>
            </a:r>
            <a:r>
              <a:rPr lang="es-ES" b="1" dirty="0">
                <a:latin typeface="Courier New"/>
                <a:ea typeface="+mn-lt"/>
                <a:cs typeface="+mn-lt"/>
              </a:rPr>
              <a:t>="#"&gt;Enlace fuera de la navegación&lt;/a&gt;</a:t>
            </a:r>
            <a:br>
              <a:rPr lang="es-ES" b="1" dirty="0">
                <a:latin typeface="Courier New"/>
                <a:ea typeface="+mn-lt"/>
                <a:cs typeface="+mn-lt"/>
              </a:rPr>
            </a:br>
            <a:r>
              <a:rPr lang="es-ES" b="1" dirty="0">
                <a:latin typeface="Courier New"/>
                <a:ea typeface="+mn-lt"/>
                <a:cs typeface="+mn-lt"/>
              </a:rPr>
              <a:t>&lt;/p&gt;</a:t>
            </a:r>
            <a:br>
              <a:rPr lang="es-ES" b="1" dirty="0">
                <a:latin typeface="Courier New"/>
                <a:ea typeface="+mn-lt"/>
                <a:cs typeface="+mn-lt"/>
              </a:rPr>
            </a:br>
            <a:r>
              <a:rPr lang="es-ES" b="1" dirty="0">
                <a:latin typeface="Courier New"/>
                <a:ea typeface="+mn-lt"/>
                <a:cs typeface="+mn-lt"/>
              </a:rPr>
              <a:t>/* Este estilo solo afecta a los enlaces que son descendientes de la etiqueta &lt;</a:t>
            </a:r>
            <a:r>
              <a:rPr lang="es-ES" b="1" dirty="0" err="1">
                <a:latin typeface="Courier New"/>
                <a:ea typeface="+mn-lt"/>
                <a:cs typeface="+mn-lt"/>
              </a:rPr>
              <a:t>nav</a:t>
            </a:r>
            <a:r>
              <a:rPr lang="es-ES" b="1" dirty="0">
                <a:latin typeface="Courier New"/>
                <a:ea typeface="+mn-lt"/>
                <a:cs typeface="+mn-lt"/>
              </a:rPr>
              <a:t>&gt; */</a:t>
            </a:r>
            <a:br>
              <a:rPr lang="es-ES" b="1" dirty="0">
                <a:latin typeface="Courier New"/>
                <a:ea typeface="+mn-lt"/>
                <a:cs typeface="+mn-lt"/>
              </a:rPr>
            </a:br>
            <a:r>
              <a:rPr lang="es-ES" b="1" dirty="0" err="1">
                <a:latin typeface="Courier New"/>
                <a:ea typeface="+mn-lt"/>
                <a:cs typeface="+mn-lt"/>
              </a:rPr>
              <a:t>nav</a:t>
            </a:r>
            <a:r>
              <a:rPr lang="es-ES" b="1" dirty="0">
                <a:latin typeface="Courier New"/>
                <a:ea typeface="+mn-lt"/>
                <a:cs typeface="+mn-lt"/>
              </a:rPr>
              <a:t> a {</a:t>
            </a:r>
            <a:br>
              <a:rPr lang="es-ES" b="1" dirty="0">
                <a:latin typeface="Courier New"/>
                <a:ea typeface="+mn-lt"/>
                <a:cs typeface="+mn-lt"/>
              </a:rPr>
            </a:br>
            <a:r>
              <a:rPr lang="es-ES" b="1" dirty="0">
                <a:latin typeface="Courier New"/>
                <a:ea typeface="+mn-lt"/>
                <a:cs typeface="+mn-lt"/>
              </a:rPr>
              <a:t>  color: #0056b3;</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text-decoration</a:t>
            </a:r>
            <a:r>
              <a:rPr lang="es-ES" b="1" dirty="0">
                <a:latin typeface="Courier New"/>
                <a:ea typeface="+mn-lt"/>
                <a:cs typeface="+mn-lt"/>
              </a:rPr>
              <a:t>: </a:t>
            </a:r>
            <a:r>
              <a:rPr lang="es-ES" b="1" dirty="0" err="1">
                <a:latin typeface="Courier New"/>
                <a:ea typeface="+mn-lt"/>
                <a:cs typeface="+mn-lt"/>
              </a:rPr>
              <a:t>none</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a:t>
            </a:r>
            <a:endParaRPr lang="es-ES" b="1" dirty="0">
              <a:latin typeface="Courier New"/>
              <a:cs typeface="Courier New"/>
            </a:endParaRPr>
          </a:p>
          <a:p>
            <a:r>
              <a:rPr lang="es-ES" dirty="0">
                <a:ea typeface="+mn-lt"/>
                <a:cs typeface="+mn-lt"/>
              </a:rPr>
              <a:t>En este caso, el selector </a:t>
            </a:r>
            <a:r>
              <a:rPr lang="es-ES" dirty="0" err="1">
                <a:ea typeface="+mn-lt"/>
                <a:cs typeface="+mn-lt"/>
              </a:rPr>
              <a:t>nav</a:t>
            </a:r>
            <a:r>
              <a:rPr lang="es-ES" dirty="0">
                <a:ea typeface="+mn-lt"/>
                <a:cs typeface="+mn-lt"/>
              </a:rPr>
              <a:t> a apunta a todos los &lt;a&gt; que están dentro de un &lt;</a:t>
            </a:r>
            <a:r>
              <a:rPr lang="es-ES" dirty="0" err="1">
                <a:ea typeface="+mn-lt"/>
                <a:cs typeface="+mn-lt"/>
              </a:rPr>
              <a:t>nav</a:t>
            </a:r>
            <a:r>
              <a:rPr lang="es-ES" dirty="0">
                <a:ea typeface="+mn-lt"/>
                <a:cs typeface="+mn-lt"/>
              </a:rPr>
              <a:t>&gt;. El enlace dentro del &lt;p&gt; no se verá afectado por esta regla, ya que no es un descendiente de &lt;</a:t>
            </a:r>
            <a:r>
              <a:rPr lang="es-ES" dirty="0" err="1">
                <a:ea typeface="+mn-lt"/>
                <a:cs typeface="+mn-lt"/>
              </a:rPr>
              <a:t>nav</a:t>
            </a:r>
            <a:r>
              <a:rPr lang="es-ES" dirty="0">
                <a:ea typeface="+mn-lt"/>
                <a:cs typeface="+mn-lt"/>
              </a:rPr>
              <a:t>&gt;. Esto demuestra cómo el selector descendiente te permite aplicar estilos de forma contextual, basándote en la ubicación del elemento en la estructura del documento.</a:t>
            </a:r>
            <a:endParaRPr lang="es-ES" dirty="0"/>
          </a:p>
          <a:p>
            <a:endParaRPr lang="es-ES" dirty="0"/>
          </a:p>
        </p:txBody>
      </p:sp>
    </p:spTree>
    <p:extLst>
      <p:ext uri="{BB962C8B-B14F-4D97-AF65-F5344CB8AC3E}">
        <p14:creationId xmlns:p14="http://schemas.microsoft.com/office/powerpoint/2010/main" val="303203364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439932-DCF7-406A-0C46-13E3BAEAB50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71D6192-FE15-0B54-572D-82683666EB8E}"/>
              </a:ext>
            </a:extLst>
          </p:cNvPr>
          <p:cNvSpPr>
            <a:spLocks noGrp="1"/>
          </p:cNvSpPr>
          <p:nvPr>
            <p:ph type="title"/>
          </p:nvPr>
        </p:nvSpPr>
        <p:spPr/>
        <p:txBody>
          <a:bodyPr/>
          <a:lstStyle/>
          <a:p>
            <a:r>
              <a:rPr lang="es-ES" b="0" dirty="0">
                <a:ea typeface="+mj-lt"/>
                <a:cs typeface="+mj-lt"/>
              </a:rPr>
              <a:t>2.2.2.2. Hijos directos.</a:t>
            </a:r>
            <a:endParaRPr lang="es-ES" dirty="0"/>
          </a:p>
        </p:txBody>
      </p:sp>
      <p:sp>
        <p:nvSpPr>
          <p:cNvPr id="3" name="Marcador de contenido 2">
            <a:extLst>
              <a:ext uri="{FF2B5EF4-FFF2-40B4-BE49-F238E27FC236}">
                <a16:creationId xmlns:a16="http://schemas.microsoft.com/office/drawing/2014/main" id="{82A88A59-1FA9-6FF1-B641-D245DBD3344B}"/>
              </a:ext>
            </a:extLst>
          </p:cNvPr>
          <p:cNvSpPr>
            <a:spLocks noGrp="1"/>
          </p:cNvSpPr>
          <p:nvPr>
            <p:ph idx="1"/>
          </p:nvPr>
        </p:nvSpPr>
        <p:spPr/>
        <p:txBody>
          <a:bodyPr vert="horz" lIns="91440" tIns="45720" rIns="91440" bIns="45720" rtlCol="0" anchor="t">
            <a:normAutofit/>
          </a:bodyPr>
          <a:lstStyle/>
          <a:p>
            <a:r>
              <a:rPr lang="es-ES" dirty="0">
                <a:ea typeface="+mn-lt"/>
                <a:cs typeface="+mn-lt"/>
              </a:rPr>
              <a:t>El selector de hijo directo es un combinador que te permite seleccionar un elemento que es un hijo inmediato de otro. A diferencia del selector descendiente, que selecciona a cualquier nivel de anidamiento, este selector es más estricto y solo funciona para el primer nivel de anidamiento. Se utiliza el símbolo de "mayor que" (&gt;).</a:t>
            </a:r>
            <a:endParaRPr lang="es-ES" dirty="0"/>
          </a:p>
          <a:p>
            <a:r>
              <a:rPr lang="es-ES" dirty="0">
                <a:ea typeface="+mn-lt"/>
                <a:cs typeface="+mn-lt"/>
              </a:rPr>
              <a:t>Sintaxis: </a:t>
            </a:r>
            <a:r>
              <a:rPr lang="es-ES" b="1" dirty="0" err="1">
                <a:latin typeface="Courier New"/>
                <a:ea typeface="+mn-lt"/>
                <a:cs typeface="+mn-lt"/>
              </a:rPr>
              <a:t>selector_padre</a:t>
            </a:r>
            <a:r>
              <a:rPr lang="es-ES" b="1" dirty="0">
                <a:latin typeface="Courier New"/>
                <a:ea typeface="+mn-lt"/>
                <a:cs typeface="+mn-lt"/>
              </a:rPr>
              <a:t> &gt; </a:t>
            </a:r>
            <a:r>
              <a:rPr lang="es-ES" b="1" dirty="0" err="1">
                <a:latin typeface="Courier New"/>
                <a:ea typeface="+mn-lt"/>
                <a:cs typeface="+mn-lt"/>
              </a:rPr>
              <a:t>selector_hijo_directo</a:t>
            </a:r>
            <a:r>
              <a:rPr lang="es-ES" b="1" dirty="0">
                <a:latin typeface="Courier New"/>
                <a:ea typeface="+mn-lt"/>
                <a:cs typeface="+mn-lt"/>
              </a:rPr>
              <a:t> { ... }</a:t>
            </a:r>
            <a:endParaRPr lang="es-ES" b="1" dirty="0">
              <a:latin typeface="Courier New"/>
              <a:cs typeface="Courier New"/>
            </a:endParaRPr>
          </a:p>
          <a:p>
            <a:r>
              <a:rPr lang="es-ES" dirty="0">
                <a:ea typeface="+mn-lt"/>
                <a:cs typeface="+mn-lt"/>
              </a:rPr>
              <a:t>Diferencia clave con el selector descendiente:</a:t>
            </a:r>
            <a:endParaRPr lang="es-ES" dirty="0"/>
          </a:p>
          <a:p>
            <a:r>
              <a:rPr lang="es-ES" dirty="0">
                <a:ea typeface="+mn-lt"/>
                <a:cs typeface="+mn-lt"/>
              </a:rPr>
              <a:t>Es importante entender la distinción entre </a:t>
            </a:r>
            <a:r>
              <a:rPr lang="es-ES" b="1" err="1">
                <a:latin typeface="Courier New"/>
                <a:ea typeface="+mn-lt"/>
                <a:cs typeface="+mn-lt"/>
              </a:rPr>
              <a:t>div</a:t>
            </a:r>
            <a:r>
              <a:rPr lang="es-ES" b="1" dirty="0">
                <a:latin typeface="Courier New"/>
                <a:ea typeface="+mn-lt"/>
                <a:cs typeface="+mn-lt"/>
              </a:rPr>
              <a:t> p</a:t>
            </a:r>
            <a:r>
              <a:rPr lang="es-ES" dirty="0">
                <a:ea typeface="+mn-lt"/>
                <a:cs typeface="+mn-lt"/>
              </a:rPr>
              <a:t> y </a:t>
            </a:r>
            <a:r>
              <a:rPr lang="es-ES" b="1" err="1">
                <a:latin typeface="Courier New"/>
                <a:ea typeface="+mn-lt"/>
                <a:cs typeface="+mn-lt"/>
              </a:rPr>
              <a:t>div</a:t>
            </a:r>
            <a:r>
              <a:rPr lang="es-ES" b="1" dirty="0">
                <a:latin typeface="Courier New"/>
                <a:ea typeface="+mn-lt"/>
                <a:cs typeface="+mn-lt"/>
              </a:rPr>
              <a:t> &gt; p</a:t>
            </a:r>
            <a:r>
              <a:rPr lang="es-ES" dirty="0">
                <a:ea typeface="+mn-lt"/>
                <a:cs typeface="+mn-lt"/>
              </a:rPr>
              <a:t>.</a:t>
            </a:r>
            <a:endParaRPr lang="es-ES" dirty="0"/>
          </a:p>
          <a:p>
            <a:pPr lvl="1">
              <a:buFont typeface="Courier New" panose="020B0604020202020204" pitchFamily="34" charset="0"/>
              <a:buChar char="o"/>
            </a:pPr>
            <a:r>
              <a:rPr lang="es-ES" dirty="0" err="1">
                <a:ea typeface="+mn-lt"/>
                <a:cs typeface="+mn-lt"/>
              </a:rPr>
              <a:t>div</a:t>
            </a:r>
            <a:r>
              <a:rPr lang="es-ES" dirty="0">
                <a:ea typeface="+mn-lt"/>
                <a:cs typeface="+mn-lt"/>
              </a:rPr>
              <a:t> p: Selecciona todos los párrafos (&lt;p&gt;) que son descendientes de un &lt;</a:t>
            </a:r>
            <a:r>
              <a:rPr lang="es-ES" dirty="0" err="1">
                <a:ea typeface="+mn-lt"/>
                <a:cs typeface="+mn-lt"/>
              </a:rPr>
              <a:t>div</a:t>
            </a:r>
            <a:r>
              <a:rPr lang="es-ES" dirty="0">
                <a:ea typeface="+mn-lt"/>
                <a:cs typeface="+mn-lt"/>
              </a:rPr>
              <a:t>&gt;. Pueden ser hijos directos, nietos, etc.</a:t>
            </a:r>
            <a:endParaRPr lang="es-ES"/>
          </a:p>
          <a:p>
            <a:pPr lvl="1">
              <a:buFont typeface="Courier New" panose="020B0604020202020204" pitchFamily="34" charset="0"/>
              <a:buChar char="o"/>
            </a:pPr>
            <a:r>
              <a:rPr lang="es-ES" dirty="0" err="1">
                <a:ea typeface="+mn-lt"/>
                <a:cs typeface="+mn-lt"/>
              </a:rPr>
              <a:t>div</a:t>
            </a:r>
            <a:r>
              <a:rPr lang="es-ES" dirty="0">
                <a:ea typeface="+mn-lt"/>
                <a:cs typeface="+mn-lt"/>
              </a:rPr>
              <a:t> &gt; p: Selecciona solo los párrafos (&lt;p&gt;) que son hijos directos de un &lt;</a:t>
            </a:r>
            <a:r>
              <a:rPr lang="es-ES" dirty="0" err="1">
                <a:ea typeface="+mn-lt"/>
                <a:cs typeface="+mn-lt"/>
              </a:rPr>
              <a:t>div</a:t>
            </a:r>
            <a:r>
              <a:rPr lang="es-ES" dirty="0">
                <a:ea typeface="+mn-lt"/>
                <a:cs typeface="+mn-lt"/>
              </a:rPr>
              <a:t>&gt;.</a:t>
            </a:r>
            <a:endParaRPr lang="es-ES"/>
          </a:p>
        </p:txBody>
      </p:sp>
    </p:spTree>
    <p:extLst>
      <p:ext uri="{BB962C8B-B14F-4D97-AF65-F5344CB8AC3E}">
        <p14:creationId xmlns:p14="http://schemas.microsoft.com/office/powerpoint/2010/main" val="412707225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624D56-AEB2-B7F3-5AF1-084C50A2FE2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DECC02F-C050-6747-CDB3-BFA70C79A176}"/>
              </a:ext>
            </a:extLst>
          </p:cNvPr>
          <p:cNvSpPr>
            <a:spLocks noGrp="1"/>
          </p:cNvSpPr>
          <p:nvPr>
            <p:ph type="title"/>
          </p:nvPr>
        </p:nvSpPr>
        <p:spPr/>
        <p:txBody>
          <a:bodyPr/>
          <a:lstStyle/>
          <a:p>
            <a:r>
              <a:rPr lang="es-ES" b="0" dirty="0">
                <a:ea typeface="+mj-lt"/>
                <a:cs typeface="+mj-lt"/>
              </a:rPr>
              <a:t>2.2.2.2. Hijos directos.</a:t>
            </a:r>
            <a:endParaRPr lang="es-ES" dirty="0"/>
          </a:p>
        </p:txBody>
      </p:sp>
      <p:sp>
        <p:nvSpPr>
          <p:cNvPr id="3" name="Marcador de contenido 2">
            <a:extLst>
              <a:ext uri="{FF2B5EF4-FFF2-40B4-BE49-F238E27FC236}">
                <a16:creationId xmlns:a16="http://schemas.microsoft.com/office/drawing/2014/main" id="{83E83BD5-2037-5E2D-3FE5-AF6845F53DA5}"/>
              </a:ext>
            </a:extLst>
          </p:cNvPr>
          <p:cNvSpPr>
            <a:spLocks noGrp="1"/>
          </p:cNvSpPr>
          <p:nvPr>
            <p:ph idx="1"/>
          </p:nvPr>
        </p:nvSpPr>
        <p:spPr/>
        <p:txBody>
          <a:bodyPr vert="horz" lIns="91440" tIns="45720" rIns="91440" bIns="45720" rtlCol="0" anchor="t">
            <a:normAutofit fontScale="85000" lnSpcReduction="20000"/>
          </a:bodyPr>
          <a:lstStyle/>
          <a:p>
            <a:r>
              <a:rPr lang="es-ES" dirty="0">
                <a:ea typeface="+mn-lt"/>
                <a:cs typeface="+mn-lt"/>
              </a:rPr>
              <a:t>Ejemplo: Imagina que tienes una lista con </a:t>
            </a:r>
            <a:r>
              <a:rPr lang="es-ES" dirty="0" err="1">
                <a:ea typeface="+mn-lt"/>
                <a:cs typeface="+mn-lt"/>
              </a:rPr>
              <a:t>sublistas</a:t>
            </a:r>
            <a:r>
              <a:rPr lang="es-ES" dirty="0">
                <a:ea typeface="+mn-lt"/>
                <a:cs typeface="+mn-lt"/>
              </a:rPr>
              <a:t> y quieres aplicar un estilo solo a los elementos de la lista principal.</a:t>
            </a:r>
          </a:p>
          <a:p>
            <a:pPr marL="0" indent="0">
              <a:buNone/>
            </a:pPr>
            <a:r>
              <a:rPr lang="es-ES" b="1" dirty="0">
                <a:latin typeface="Courier New"/>
                <a:ea typeface="+mn-lt"/>
                <a:cs typeface="+mn-lt"/>
              </a:rPr>
              <a:t>&lt;</a:t>
            </a:r>
            <a:r>
              <a:rPr lang="es-ES" b="1" dirty="0" err="1">
                <a:latin typeface="Courier New"/>
                <a:ea typeface="+mn-lt"/>
                <a:cs typeface="+mn-lt"/>
              </a:rPr>
              <a:t>ul</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li</a:t>
            </a:r>
            <a:r>
              <a:rPr lang="es-ES" b="1" dirty="0">
                <a:latin typeface="Courier New"/>
                <a:ea typeface="+mn-lt"/>
                <a:cs typeface="+mn-lt"/>
              </a:rPr>
              <a:t>&gt;Elemento de la lista principal 1&lt;/</a:t>
            </a:r>
            <a:r>
              <a:rPr lang="es-ES" b="1" dirty="0" err="1">
                <a:latin typeface="Courier New"/>
                <a:ea typeface="+mn-lt"/>
                <a:cs typeface="+mn-lt"/>
              </a:rPr>
              <a:t>li</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li</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Elemento de la lista principal 2</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ul</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li</a:t>
            </a:r>
            <a:r>
              <a:rPr lang="es-ES" b="1" dirty="0">
                <a:latin typeface="Courier New"/>
                <a:ea typeface="+mn-lt"/>
                <a:cs typeface="+mn-lt"/>
              </a:rPr>
              <a:t>&gt;Elemento de la </a:t>
            </a:r>
            <a:r>
              <a:rPr lang="es-ES" b="1" dirty="0" err="1">
                <a:latin typeface="Courier New"/>
                <a:ea typeface="+mn-lt"/>
                <a:cs typeface="+mn-lt"/>
              </a:rPr>
              <a:t>sublista</a:t>
            </a:r>
            <a:r>
              <a:rPr lang="es-ES" b="1" dirty="0">
                <a:latin typeface="Courier New"/>
                <a:ea typeface="+mn-lt"/>
                <a:cs typeface="+mn-lt"/>
              </a:rPr>
              <a:t>&lt;/</a:t>
            </a:r>
            <a:r>
              <a:rPr lang="es-ES" b="1" dirty="0" err="1">
                <a:latin typeface="Courier New"/>
                <a:ea typeface="+mn-lt"/>
                <a:cs typeface="+mn-lt"/>
              </a:rPr>
              <a:t>li</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ul</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li</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&lt;/</a:t>
            </a:r>
            <a:r>
              <a:rPr lang="es-ES" b="1" dirty="0" err="1">
                <a:latin typeface="Courier New"/>
                <a:ea typeface="+mn-lt"/>
                <a:cs typeface="+mn-lt"/>
              </a:rPr>
              <a:t>ul</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Este selector solo afecta a los &lt;</a:t>
            </a:r>
            <a:r>
              <a:rPr lang="es-ES" b="1" dirty="0" err="1">
                <a:latin typeface="Courier New"/>
                <a:ea typeface="+mn-lt"/>
                <a:cs typeface="+mn-lt"/>
              </a:rPr>
              <a:t>li</a:t>
            </a:r>
            <a:r>
              <a:rPr lang="es-ES" b="1" dirty="0">
                <a:latin typeface="Courier New"/>
                <a:ea typeface="+mn-lt"/>
                <a:cs typeface="+mn-lt"/>
              </a:rPr>
              <a:t>&gt; que son hijos directos del &lt;</a:t>
            </a:r>
            <a:r>
              <a:rPr lang="es-ES" b="1" dirty="0" err="1">
                <a:latin typeface="Courier New"/>
                <a:ea typeface="+mn-lt"/>
                <a:cs typeface="+mn-lt"/>
              </a:rPr>
              <a:t>ul</a:t>
            </a:r>
            <a:r>
              <a:rPr lang="es-ES" b="1" dirty="0">
                <a:latin typeface="Courier New"/>
                <a:ea typeface="+mn-lt"/>
                <a:cs typeface="+mn-lt"/>
              </a:rPr>
              <a:t>&gt; principal */</a:t>
            </a:r>
            <a:br>
              <a:rPr lang="es-ES" b="1" dirty="0">
                <a:latin typeface="Courier New"/>
                <a:ea typeface="+mn-lt"/>
                <a:cs typeface="+mn-lt"/>
              </a:rPr>
            </a:br>
            <a:r>
              <a:rPr lang="es-ES" b="1" dirty="0" err="1">
                <a:latin typeface="Courier New"/>
                <a:ea typeface="+mn-lt"/>
                <a:cs typeface="+mn-lt"/>
              </a:rPr>
              <a:t>ul</a:t>
            </a:r>
            <a:r>
              <a:rPr lang="es-ES" b="1" dirty="0">
                <a:latin typeface="Courier New"/>
                <a:ea typeface="+mn-lt"/>
                <a:cs typeface="+mn-lt"/>
              </a:rPr>
              <a:t> &gt; </a:t>
            </a:r>
            <a:r>
              <a:rPr lang="es-ES" b="1" dirty="0" err="1">
                <a:latin typeface="Courier New"/>
                <a:ea typeface="+mn-lt"/>
                <a:cs typeface="+mn-lt"/>
              </a:rPr>
              <a:t>li</a:t>
            </a: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font-weight</a:t>
            </a:r>
            <a:r>
              <a:rPr lang="es-ES" b="1" dirty="0">
                <a:latin typeface="Courier New"/>
                <a:ea typeface="+mn-lt"/>
                <a:cs typeface="+mn-lt"/>
              </a:rPr>
              <a:t>: </a:t>
            </a:r>
            <a:r>
              <a:rPr lang="es-ES" b="1" dirty="0" err="1">
                <a:latin typeface="Courier New"/>
                <a:ea typeface="+mn-lt"/>
                <a:cs typeface="+mn-lt"/>
              </a:rPr>
              <a:t>bold</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a:t>
            </a:r>
            <a:endParaRPr lang="es-ES" b="1" dirty="0">
              <a:latin typeface="Courier New"/>
              <a:cs typeface="Courier New"/>
            </a:endParaRPr>
          </a:p>
          <a:p>
            <a:r>
              <a:rPr lang="es-ES" dirty="0">
                <a:ea typeface="+mn-lt"/>
                <a:cs typeface="+mn-lt"/>
              </a:rPr>
              <a:t>En este caso, solo los elementos "Elemento de la lista principal 1" y "Elemento de la lista principal 2" se verán en negrita. El elemento "Elemento de la </a:t>
            </a:r>
            <a:r>
              <a:rPr lang="es-ES" dirty="0" err="1">
                <a:ea typeface="+mn-lt"/>
                <a:cs typeface="+mn-lt"/>
              </a:rPr>
              <a:t>sublista</a:t>
            </a:r>
            <a:r>
              <a:rPr lang="es-ES" dirty="0">
                <a:ea typeface="+mn-lt"/>
                <a:cs typeface="+mn-lt"/>
              </a:rPr>
              <a:t>" no se verá afectado, ya que es un hijo del segundo &lt;</a:t>
            </a:r>
            <a:r>
              <a:rPr lang="es-ES" dirty="0" err="1">
                <a:ea typeface="+mn-lt"/>
                <a:cs typeface="+mn-lt"/>
              </a:rPr>
              <a:t>ul</a:t>
            </a:r>
            <a:r>
              <a:rPr lang="es-ES" dirty="0">
                <a:ea typeface="+mn-lt"/>
                <a:cs typeface="+mn-lt"/>
              </a:rPr>
              <a:t>&gt; y no del primero.</a:t>
            </a:r>
            <a:endParaRPr lang="es-ES" dirty="0"/>
          </a:p>
          <a:p>
            <a:endParaRPr lang="es-ES" dirty="0"/>
          </a:p>
        </p:txBody>
      </p:sp>
    </p:spTree>
    <p:extLst>
      <p:ext uri="{BB962C8B-B14F-4D97-AF65-F5344CB8AC3E}">
        <p14:creationId xmlns:p14="http://schemas.microsoft.com/office/powerpoint/2010/main" val="321099402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CB0284-6991-EAAB-2196-5E4E7C68615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183C3AF-8146-98E1-8761-7A64B95DE018}"/>
              </a:ext>
            </a:extLst>
          </p:cNvPr>
          <p:cNvSpPr>
            <a:spLocks noGrp="1"/>
          </p:cNvSpPr>
          <p:nvPr>
            <p:ph type="title"/>
          </p:nvPr>
        </p:nvSpPr>
        <p:spPr/>
        <p:txBody>
          <a:bodyPr/>
          <a:lstStyle/>
          <a:p>
            <a:r>
              <a:rPr lang="es-ES" b="0" dirty="0">
                <a:ea typeface="+mj-lt"/>
                <a:cs typeface="+mj-lt"/>
              </a:rPr>
              <a:t>2.2.2.2. Hijos directos.</a:t>
            </a:r>
            <a:endParaRPr lang="es-ES" dirty="0"/>
          </a:p>
        </p:txBody>
      </p:sp>
      <p:sp>
        <p:nvSpPr>
          <p:cNvPr id="3" name="Marcador de contenido 2">
            <a:extLst>
              <a:ext uri="{FF2B5EF4-FFF2-40B4-BE49-F238E27FC236}">
                <a16:creationId xmlns:a16="http://schemas.microsoft.com/office/drawing/2014/main" id="{F6B0F226-7315-D95E-CF20-DBB12801E898}"/>
              </a:ext>
            </a:extLst>
          </p:cNvPr>
          <p:cNvSpPr>
            <a:spLocks noGrp="1"/>
          </p:cNvSpPr>
          <p:nvPr>
            <p:ph idx="1"/>
          </p:nvPr>
        </p:nvSpPr>
        <p:spPr/>
        <p:txBody>
          <a:bodyPr vert="horz" lIns="91440" tIns="45720" rIns="91440" bIns="45720" rtlCol="0" anchor="t">
            <a:normAutofit fontScale="70000" lnSpcReduction="20000"/>
          </a:bodyPr>
          <a:lstStyle/>
          <a:p>
            <a:r>
              <a:rPr lang="es-ES" dirty="0">
                <a:ea typeface="+mn-lt"/>
                <a:cs typeface="+mn-lt"/>
              </a:rPr>
              <a:t>Ejemplo: Puedes combinar el selector de hijo directo con selectores de clase o de ID para ser aún más específico.</a:t>
            </a:r>
          </a:p>
          <a:p>
            <a:pPr marL="0" indent="0">
              <a:buNone/>
            </a:pPr>
            <a:r>
              <a:rPr lang="es-ES" b="1" dirty="0">
                <a:latin typeface="Courier New"/>
                <a:ea typeface="+mn-lt"/>
                <a:cs typeface="Courier New"/>
              </a:rPr>
              <a:t>&lt;</a:t>
            </a:r>
            <a:r>
              <a:rPr lang="es-ES" b="1" dirty="0" err="1">
                <a:latin typeface="Courier New"/>
                <a:ea typeface="+mn-lt"/>
                <a:cs typeface="Courier New"/>
              </a:rPr>
              <a:t>header</a:t>
            </a:r>
            <a:r>
              <a:rPr lang="es-ES" b="1" dirty="0">
                <a:latin typeface="Courier New"/>
                <a:ea typeface="+mn-lt"/>
                <a:cs typeface="Courier New"/>
              </a:rPr>
              <a:t>&gt;</a:t>
            </a:r>
            <a:br>
              <a:rPr lang="es-ES" b="1" dirty="0">
                <a:latin typeface="Courier New"/>
                <a:ea typeface="+mn-lt"/>
                <a:cs typeface="Courier New"/>
              </a:rPr>
            </a:br>
            <a:r>
              <a:rPr lang="es-ES" b="1" dirty="0">
                <a:latin typeface="Courier New"/>
                <a:ea typeface="+mn-lt"/>
                <a:cs typeface="Courier New"/>
              </a:rPr>
              <a:t>  &lt;</a:t>
            </a:r>
            <a:r>
              <a:rPr lang="es-ES" b="1" dirty="0" err="1">
                <a:latin typeface="Courier New"/>
                <a:ea typeface="+mn-lt"/>
                <a:cs typeface="Courier New"/>
              </a:rPr>
              <a:t>div</a:t>
            </a:r>
            <a:r>
              <a:rPr lang="es-ES" b="1" dirty="0">
                <a:latin typeface="Courier New"/>
                <a:ea typeface="+mn-lt"/>
                <a:cs typeface="Courier New"/>
              </a:rPr>
              <a:t> </a:t>
            </a:r>
            <a:r>
              <a:rPr lang="es-ES" b="1" dirty="0" err="1">
                <a:latin typeface="Courier New"/>
                <a:ea typeface="+mn-lt"/>
                <a:cs typeface="Courier New"/>
              </a:rPr>
              <a:t>class</a:t>
            </a:r>
            <a:r>
              <a:rPr lang="es-ES" b="1" dirty="0">
                <a:latin typeface="Courier New"/>
                <a:ea typeface="+mn-lt"/>
                <a:cs typeface="Courier New"/>
              </a:rPr>
              <a:t>="logo"&gt;</a:t>
            </a:r>
            <a:br>
              <a:rPr lang="es-ES" b="1" dirty="0">
                <a:latin typeface="Courier New"/>
                <a:ea typeface="+mn-lt"/>
                <a:cs typeface="Courier New"/>
              </a:rPr>
            </a:br>
            <a:r>
              <a:rPr lang="es-ES" b="1" dirty="0">
                <a:latin typeface="Courier New"/>
                <a:ea typeface="+mn-lt"/>
                <a:cs typeface="Courier New"/>
              </a:rPr>
              <a:t>    &lt;a </a:t>
            </a:r>
            <a:r>
              <a:rPr lang="es-ES" b="1" dirty="0" err="1">
                <a:latin typeface="Courier New"/>
                <a:ea typeface="+mn-lt"/>
                <a:cs typeface="Courier New"/>
              </a:rPr>
              <a:t>href</a:t>
            </a:r>
            <a:r>
              <a:rPr lang="es-ES" b="1" dirty="0">
                <a:latin typeface="Courier New"/>
                <a:ea typeface="+mn-lt"/>
                <a:cs typeface="Courier New"/>
              </a:rPr>
              <a:t>="/"&gt;Mi Sitio&lt;/a&gt;</a:t>
            </a:r>
            <a:br>
              <a:rPr lang="es-ES" b="1" dirty="0">
                <a:latin typeface="Courier New"/>
                <a:ea typeface="+mn-lt"/>
                <a:cs typeface="Courier New"/>
              </a:rPr>
            </a:br>
            <a:r>
              <a:rPr lang="es-ES" b="1" dirty="0">
                <a:latin typeface="Courier New"/>
                <a:ea typeface="+mn-lt"/>
                <a:cs typeface="Courier New"/>
              </a:rPr>
              <a:t>  &lt;/</a:t>
            </a:r>
            <a:r>
              <a:rPr lang="es-ES" b="1" dirty="0" err="1">
                <a:latin typeface="Courier New"/>
                <a:ea typeface="+mn-lt"/>
                <a:cs typeface="Courier New"/>
              </a:rPr>
              <a:t>div</a:t>
            </a:r>
            <a:r>
              <a:rPr lang="es-ES" b="1" dirty="0">
                <a:latin typeface="Courier New"/>
                <a:ea typeface="+mn-lt"/>
                <a:cs typeface="Courier New"/>
              </a:rPr>
              <a:t>&gt;</a:t>
            </a:r>
            <a:br>
              <a:rPr lang="es-ES" b="1" dirty="0">
                <a:latin typeface="Courier New"/>
                <a:ea typeface="+mn-lt"/>
                <a:cs typeface="Courier New"/>
              </a:rPr>
            </a:br>
            <a:r>
              <a:rPr lang="es-ES" b="1" dirty="0">
                <a:latin typeface="Courier New"/>
                <a:ea typeface="+mn-lt"/>
                <a:cs typeface="Courier New"/>
              </a:rPr>
              <a:t>  &lt;a </a:t>
            </a:r>
            <a:r>
              <a:rPr lang="es-ES" b="1" dirty="0" err="1">
                <a:latin typeface="Courier New"/>
                <a:ea typeface="+mn-lt"/>
                <a:cs typeface="Courier New"/>
              </a:rPr>
              <a:t>href</a:t>
            </a:r>
            <a:r>
              <a:rPr lang="es-ES" b="1" dirty="0">
                <a:latin typeface="Courier New"/>
                <a:ea typeface="+mn-lt"/>
                <a:cs typeface="Courier New"/>
              </a:rPr>
              <a:t>="/ayuda" </a:t>
            </a:r>
            <a:r>
              <a:rPr lang="es-ES" b="1" dirty="0" err="1">
                <a:latin typeface="Courier New"/>
                <a:ea typeface="+mn-lt"/>
                <a:cs typeface="Courier New"/>
              </a:rPr>
              <a:t>class</a:t>
            </a:r>
            <a:r>
              <a:rPr lang="es-ES" b="1" dirty="0">
                <a:latin typeface="Courier New"/>
                <a:ea typeface="+mn-lt"/>
                <a:cs typeface="Courier New"/>
              </a:rPr>
              <a:t>="enlace-ayuda"&gt;Ayuda&lt;/a&gt;</a:t>
            </a:r>
            <a:br>
              <a:rPr lang="es-ES" b="1" dirty="0">
                <a:latin typeface="Courier New"/>
                <a:ea typeface="+mn-lt"/>
                <a:cs typeface="Courier New"/>
              </a:rPr>
            </a:br>
            <a:r>
              <a:rPr lang="es-ES" b="1" dirty="0">
                <a:latin typeface="Courier New"/>
                <a:ea typeface="+mn-lt"/>
                <a:cs typeface="Courier New"/>
              </a:rPr>
              <a:t>&lt;/</a:t>
            </a:r>
            <a:r>
              <a:rPr lang="es-ES" b="1" dirty="0" err="1">
                <a:latin typeface="Courier New"/>
                <a:ea typeface="+mn-lt"/>
                <a:cs typeface="Courier New"/>
              </a:rPr>
              <a:t>header</a:t>
            </a:r>
            <a:r>
              <a:rPr lang="es-ES" b="1" dirty="0">
                <a:latin typeface="Courier New"/>
                <a:ea typeface="+mn-lt"/>
                <a:cs typeface="Courier New"/>
              </a:rPr>
              <a:t>&gt;</a:t>
            </a:r>
            <a:br>
              <a:rPr lang="es-ES" b="1" dirty="0">
                <a:latin typeface="Courier New"/>
                <a:ea typeface="+mn-lt"/>
                <a:cs typeface="Courier New"/>
              </a:rPr>
            </a:br>
            <a:r>
              <a:rPr lang="es-ES" b="1" dirty="0">
                <a:latin typeface="Courier New"/>
                <a:ea typeface="+mn-lt"/>
                <a:cs typeface="Courier New"/>
              </a:rPr>
              <a:t>/* Solo estiliza el enlace que es hijo directo del </a:t>
            </a:r>
            <a:r>
              <a:rPr lang="es-ES" b="1" dirty="0" err="1">
                <a:latin typeface="Courier New"/>
                <a:ea typeface="+mn-lt"/>
                <a:cs typeface="Courier New"/>
              </a:rPr>
              <a:t>div</a:t>
            </a:r>
            <a:r>
              <a:rPr lang="es-ES" b="1" dirty="0">
                <a:latin typeface="Courier New"/>
                <a:ea typeface="+mn-lt"/>
                <a:cs typeface="Courier New"/>
              </a:rPr>
              <a:t> con la clase .logo */</a:t>
            </a:r>
            <a:br>
              <a:rPr lang="es-ES" b="1" dirty="0">
                <a:latin typeface="Courier New"/>
                <a:ea typeface="+mn-lt"/>
                <a:cs typeface="Courier New"/>
              </a:rPr>
            </a:br>
            <a:r>
              <a:rPr lang="es-ES" b="1" dirty="0">
                <a:latin typeface="Courier New"/>
                <a:ea typeface="+mn-lt"/>
                <a:cs typeface="Courier New"/>
              </a:rPr>
              <a:t>.logo &gt; a {</a:t>
            </a:r>
            <a:br>
              <a:rPr lang="es-ES" b="1" dirty="0">
                <a:latin typeface="Courier New"/>
                <a:ea typeface="+mn-lt"/>
                <a:cs typeface="Courier New"/>
              </a:rPr>
            </a:br>
            <a:r>
              <a:rPr lang="es-ES" b="1" dirty="0">
                <a:latin typeface="Courier New"/>
                <a:ea typeface="+mn-lt"/>
                <a:cs typeface="Courier New"/>
              </a:rPr>
              <a:t>  </a:t>
            </a:r>
            <a:r>
              <a:rPr lang="es-ES" b="1" dirty="0" err="1">
                <a:latin typeface="Courier New"/>
                <a:ea typeface="+mn-lt"/>
                <a:cs typeface="Courier New"/>
              </a:rPr>
              <a:t>font-weight</a:t>
            </a:r>
            <a:r>
              <a:rPr lang="es-ES" b="1" dirty="0">
                <a:latin typeface="Courier New"/>
                <a:ea typeface="+mn-lt"/>
                <a:cs typeface="Courier New"/>
              </a:rPr>
              <a:t>: </a:t>
            </a:r>
            <a:r>
              <a:rPr lang="es-ES" b="1" dirty="0" err="1">
                <a:latin typeface="Courier New"/>
                <a:ea typeface="+mn-lt"/>
                <a:cs typeface="Courier New"/>
              </a:rPr>
              <a:t>bold</a:t>
            </a:r>
            <a:r>
              <a:rPr lang="es-ES" b="1" dirty="0">
                <a:latin typeface="Courier New"/>
                <a:ea typeface="+mn-lt"/>
                <a:cs typeface="Courier New"/>
              </a:rPr>
              <a:t>;</a:t>
            </a:r>
            <a:br>
              <a:rPr lang="es-ES" b="1" dirty="0">
                <a:latin typeface="Courier New"/>
                <a:ea typeface="+mn-lt"/>
                <a:cs typeface="Courier New"/>
              </a:rPr>
            </a:br>
            <a:r>
              <a:rPr lang="es-ES" b="1" dirty="0">
                <a:latin typeface="Courier New"/>
                <a:ea typeface="+mn-lt"/>
                <a:cs typeface="Courier New"/>
              </a:rPr>
              <a:t>  </a:t>
            </a:r>
            <a:r>
              <a:rPr lang="es-ES" b="1" dirty="0" err="1">
                <a:latin typeface="Courier New"/>
                <a:ea typeface="+mn-lt"/>
                <a:cs typeface="Courier New"/>
              </a:rPr>
              <a:t>font-size</a:t>
            </a:r>
            <a:r>
              <a:rPr lang="es-ES" b="1" dirty="0">
                <a:latin typeface="Courier New"/>
                <a:ea typeface="+mn-lt"/>
                <a:cs typeface="Courier New"/>
              </a:rPr>
              <a:t>: 1.5rem;</a:t>
            </a:r>
            <a:br>
              <a:rPr lang="es-ES" b="1" dirty="0">
                <a:latin typeface="Courier New"/>
                <a:ea typeface="+mn-lt"/>
                <a:cs typeface="Courier New"/>
              </a:rPr>
            </a:br>
            <a:r>
              <a:rPr lang="es-ES" b="1" dirty="0">
                <a:latin typeface="Courier New"/>
                <a:ea typeface="+mn-lt"/>
                <a:cs typeface="Courier New"/>
              </a:rPr>
              <a:t>}</a:t>
            </a:r>
            <a:br>
              <a:rPr lang="es-ES" b="1" dirty="0">
                <a:latin typeface="Courier New"/>
                <a:ea typeface="+mn-lt"/>
                <a:cs typeface="Courier New"/>
              </a:rPr>
            </a:br>
            <a:r>
              <a:rPr lang="es-ES" b="1" dirty="0">
                <a:latin typeface="Courier New"/>
                <a:ea typeface="+mn-lt"/>
                <a:cs typeface="Courier New"/>
              </a:rPr>
              <a:t>/* Este selector no aplica porque el enlace no es hijo directo del </a:t>
            </a:r>
            <a:r>
              <a:rPr lang="es-ES" b="1" dirty="0" err="1">
                <a:latin typeface="Courier New"/>
                <a:ea typeface="+mn-lt"/>
                <a:cs typeface="Courier New"/>
              </a:rPr>
              <a:t>header</a:t>
            </a:r>
            <a:r>
              <a:rPr lang="es-ES" b="1" dirty="0">
                <a:latin typeface="Courier New"/>
                <a:ea typeface="+mn-lt"/>
                <a:cs typeface="Courier New"/>
              </a:rPr>
              <a:t> */</a:t>
            </a:r>
            <a:br>
              <a:rPr lang="es-ES" b="1" dirty="0">
                <a:latin typeface="Courier New"/>
                <a:ea typeface="+mn-lt"/>
                <a:cs typeface="Courier New"/>
              </a:rPr>
            </a:br>
            <a:r>
              <a:rPr lang="es-ES" b="1" dirty="0" err="1">
                <a:latin typeface="Courier New"/>
                <a:ea typeface="+mn-lt"/>
                <a:cs typeface="Courier New"/>
              </a:rPr>
              <a:t>header</a:t>
            </a:r>
            <a:r>
              <a:rPr lang="es-ES" b="1" dirty="0">
                <a:latin typeface="Courier New"/>
                <a:ea typeface="+mn-lt"/>
                <a:cs typeface="Courier New"/>
              </a:rPr>
              <a:t> &gt; a {</a:t>
            </a:r>
            <a:br>
              <a:rPr lang="es-ES" b="1" dirty="0">
                <a:latin typeface="Courier New"/>
                <a:ea typeface="+mn-lt"/>
                <a:cs typeface="Courier New"/>
              </a:rPr>
            </a:br>
            <a:r>
              <a:rPr lang="es-ES" b="1" dirty="0">
                <a:latin typeface="Courier New"/>
                <a:ea typeface="+mn-lt"/>
                <a:cs typeface="Courier New"/>
              </a:rPr>
              <a:t>  /* ... este estilo no se aplica al enlace de ayuda */</a:t>
            </a:r>
            <a:br>
              <a:rPr lang="es-ES" b="1" dirty="0">
                <a:latin typeface="Courier New"/>
                <a:ea typeface="+mn-lt"/>
                <a:cs typeface="Courier New"/>
              </a:rPr>
            </a:br>
            <a:r>
              <a:rPr lang="es-ES" b="1" dirty="0">
                <a:latin typeface="Courier New"/>
                <a:ea typeface="+mn-lt"/>
                <a:cs typeface="Courier New"/>
              </a:rPr>
              <a:t>}</a:t>
            </a:r>
            <a:endParaRPr lang="es-ES" b="1" dirty="0">
              <a:latin typeface="Courier New"/>
              <a:cs typeface="Courier New"/>
            </a:endParaRPr>
          </a:p>
          <a:p>
            <a:r>
              <a:rPr lang="es-ES" dirty="0">
                <a:ea typeface="+mn-lt"/>
                <a:cs typeface="+mn-lt"/>
              </a:rPr>
              <a:t>Aquí, el selector .logo &gt; a estiliza el enlace principal, pero el selector </a:t>
            </a:r>
            <a:r>
              <a:rPr lang="es-ES" dirty="0" err="1">
                <a:ea typeface="+mn-lt"/>
                <a:cs typeface="+mn-lt"/>
              </a:rPr>
              <a:t>header</a:t>
            </a:r>
            <a:r>
              <a:rPr lang="es-ES" dirty="0">
                <a:ea typeface="+mn-lt"/>
                <a:cs typeface="+mn-lt"/>
              </a:rPr>
              <a:t> &gt; a no afecta al enlace de ayuda porque este no es un hijo directo del &lt;</a:t>
            </a:r>
            <a:r>
              <a:rPr lang="es-ES" dirty="0" err="1">
                <a:ea typeface="+mn-lt"/>
                <a:cs typeface="+mn-lt"/>
              </a:rPr>
              <a:t>header</a:t>
            </a:r>
            <a:r>
              <a:rPr lang="es-ES" dirty="0">
                <a:ea typeface="+mn-lt"/>
                <a:cs typeface="+mn-lt"/>
              </a:rPr>
              <a:t>&gt;, sino que está precedido por el &lt;</a:t>
            </a:r>
            <a:r>
              <a:rPr lang="es-ES" dirty="0" err="1">
                <a:ea typeface="+mn-lt"/>
                <a:cs typeface="+mn-lt"/>
              </a:rPr>
              <a:t>div</a:t>
            </a:r>
            <a:r>
              <a:rPr lang="es-ES" dirty="0">
                <a:ea typeface="+mn-lt"/>
                <a:cs typeface="+mn-lt"/>
              </a:rPr>
              <a:t>&gt; con la clase .logo.</a:t>
            </a:r>
          </a:p>
          <a:p>
            <a:endParaRPr lang="es-ES" dirty="0"/>
          </a:p>
        </p:txBody>
      </p:sp>
    </p:spTree>
    <p:extLst>
      <p:ext uri="{BB962C8B-B14F-4D97-AF65-F5344CB8AC3E}">
        <p14:creationId xmlns:p14="http://schemas.microsoft.com/office/powerpoint/2010/main" val="88133671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F11A46-A73D-0BDE-4ED0-3A97A43E23B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21FE030-7E8C-B579-8456-B8CA2B0EF1CA}"/>
              </a:ext>
            </a:extLst>
          </p:cNvPr>
          <p:cNvSpPr>
            <a:spLocks noGrp="1"/>
          </p:cNvSpPr>
          <p:nvPr>
            <p:ph type="title"/>
          </p:nvPr>
        </p:nvSpPr>
        <p:spPr/>
        <p:txBody>
          <a:bodyPr/>
          <a:lstStyle/>
          <a:p>
            <a:r>
              <a:rPr lang="es-ES" b="0" dirty="0">
                <a:ea typeface="+mj-lt"/>
                <a:cs typeface="+mj-lt"/>
              </a:rPr>
              <a:t>2.2.2.3. Hermanos adyacentes y generales.</a:t>
            </a:r>
            <a:endParaRPr lang="es-ES" dirty="0"/>
          </a:p>
        </p:txBody>
      </p:sp>
      <p:sp>
        <p:nvSpPr>
          <p:cNvPr id="3" name="Marcador de contenido 2">
            <a:extLst>
              <a:ext uri="{FF2B5EF4-FFF2-40B4-BE49-F238E27FC236}">
                <a16:creationId xmlns:a16="http://schemas.microsoft.com/office/drawing/2014/main" id="{F567CB1F-E5CE-9C1A-179B-625EC7DA3329}"/>
              </a:ext>
            </a:extLst>
          </p:cNvPr>
          <p:cNvSpPr>
            <a:spLocks noGrp="1"/>
          </p:cNvSpPr>
          <p:nvPr>
            <p:ph idx="1"/>
          </p:nvPr>
        </p:nvSpPr>
        <p:spPr/>
        <p:txBody>
          <a:bodyPr vert="horz" lIns="91440" tIns="45720" rIns="91440" bIns="45720" rtlCol="0" anchor="t">
            <a:normAutofit fontScale="70000" lnSpcReduction="20000"/>
          </a:bodyPr>
          <a:lstStyle/>
          <a:p>
            <a:r>
              <a:rPr lang="es-ES" dirty="0">
                <a:ea typeface="+mn-lt"/>
                <a:cs typeface="+mn-lt"/>
              </a:rPr>
              <a:t>Estos selectores se utilizan para apuntar a elementos que son "hermanos", es decir, que comparten el mismo padre en la estructura HTML. Son muy útiles para aplicar estilos condicionales, como dar formato a un elemento solo si va precedido por otro específico.</a:t>
            </a:r>
            <a:endParaRPr lang="es-ES" dirty="0"/>
          </a:p>
          <a:p>
            <a:r>
              <a:rPr lang="es-ES" dirty="0">
                <a:ea typeface="+mn-lt"/>
                <a:cs typeface="+mn-lt"/>
              </a:rPr>
              <a:t>Selector de hermano adyacente (+): selecciona el elemento que está inmediatamente después de otro y que, además, comparte el mismo padre. Es una relación uno a uno.</a:t>
            </a:r>
            <a:endParaRPr lang="es-ES" dirty="0"/>
          </a:p>
          <a:p>
            <a:r>
              <a:rPr lang="es-ES" dirty="0">
                <a:ea typeface="+mn-lt"/>
                <a:cs typeface="+mn-lt"/>
              </a:rPr>
              <a:t>Sintaxis: </a:t>
            </a:r>
            <a:r>
              <a:rPr lang="es-ES" b="1" err="1">
                <a:latin typeface="Courier New"/>
                <a:ea typeface="+mn-lt"/>
                <a:cs typeface="+mn-lt"/>
              </a:rPr>
              <a:t>selector_anterior</a:t>
            </a:r>
            <a:r>
              <a:rPr lang="es-ES" b="1" dirty="0">
                <a:latin typeface="Courier New"/>
                <a:ea typeface="+mn-lt"/>
                <a:cs typeface="+mn-lt"/>
              </a:rPr>
              <a:t> + </a:t>
            </a:r>
            <a:r>
              <a:rPr lang="es-ES" b="1" err="1">
                <a:latin typeface="Courier New"/>
                <a:ea typeface="+mn-lt"/>
                <a:cs typeface="+mn-lt"/>
              </a:rPr>
              <a:t>selector_siguiente</a:t>
            </a:r>
            <a:r>
              <a:rPr lang="es-ES" b="1" dirty="0">
                <a:latin typeface="Courier New"/>
                <a:ea typeface="+mn-lt"/>
                <a:cs typeface="+mn-lt"/>
              </a:rPr>
              <a:t> { ... }</a:t>
            </a:r>
            <a:endParaRPr lang="es-ES" b="1" dirty="0">
              <a:latin typeface="Courier New"/>
              <a:cs typeface="Courier New"/>
            </a:endParaRPr>
          </a:p>
          <a:p>
            <a:r>
              <a:rPr lang="es-ES" dirty="0">
                <a:ea typeface="+mn-lt"/>
                <a:cs typeface="+mn-lt"/>
              </a:rPr>
              <a:t>Ejemplo: Imagina que quieres añadir un espacio entre un título (&lt;h2&gt;) y el primer párrafo que lo sigue, pero no a los demás párrafos de la página.</a:t>
            </a:r>
            <a:endParaRPr lang="es-ES" dirty="0"/>
          </a:p>
          <a:p>
            <a:r>
              <a:rPr lang="es-ES" b="1" dirty="0">
                <a:latin typeface="Courier New"/>
                <a:ea typeface="+mn-lt"/>
                <a:cs typeface="+mn-lt"/>
              </a:rPr>
              <a:t>&lt;h2&gt;Acerca de la empresa&lt;/h2&gt;</a:t>
            </a:r>
            <a:br>
              <a:rPr lang="es-ES" b="1" dirty="0">
                <a:latin typeface="Courier New"/>
                <a:ea typeface="+mn-lt"/>
                <a:cs typeface="+mn-lt"/>
              </a:rPr>
            </a:br>
            <a:r>
              <a:rPr lang="es-ES" b="1" dirty="0">
                <a:latin typeface="Courier New"/>
                <a:ea typeface="+mn-lt"/>
                <a:cs typeface="+mn-lt"/>
              </a:rPr>
              <a:t>&lt;p&gt;Este párrafo va inmediatamente después del título.&lt;/p&gt;</a:t>
            </a:r>
            <a:br>
              <a:rPr lang="es-ES" b="1" dirty="0">
                <a:latin typeface="Courier New"/>
                <a:ea typeface="+mn-lt"/>
                <a:cs typeface="+mn-lt"/>
              </a:rPr>
            </a:br>
            <a:r>
              <a:rPr lang="es-ES" b="1" dirty="0">
                <a:latin typeface="Courier New"/>
                <a:ea typeface="+mn-lt"/>
                <a:cs typeface="+mn-lt"/>
              </a:rPr>
              <a:t>&lt;p&gt;Este párrafo no es adyacente.&lt;/p&gt;</a:t>
            </a:r>
            <a:br>
              <a:rPr lang="es-ES" b="1" dirty="0">
                <a:latin typeface="Courier New"/>
                <a:ea typeface="+mn-lt"/>
                <a:cs typeface="+mn-lt"/>
              </a:rPr>
            </a:br>
            <a:r>
              <a:rPr lang="es-ES" b="1" dirty="0">
                <a:latin typeface="Courier New"/>
                <a:ea typeface="+mn-lt"/>
                <a:cs typeface="+mn-lt"/>
              </a:rPr>
              <a:t>/* Solo el primer párrafo después de un &lt;h2&gt; tendrá este margen */</a:t>
            </a:r>
            <a:br>
              <a:rPr lang="es-ES" b="1" dirty="0">
                <a:latin typeface="Courier New"/>
                <a:ea typeface="+mn-lt"/>
                <a:cs typeface="+mn-lt"/>
              </a:rPr>
            </a:br>
            <a:r>
              <a:rPr lang="es-ES" b="1" dirty="0">
                <a:latin typeface="Courier New"/>
                <a:ea typeface="+mn-lt"/>
                <a:cs typeface="+mn-lt"/>
              </a:rPr>
              <a:t>h2 + p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margin</a:t>
            </a:r>
            <a:r>
              <a:rPr lang="es-ES" b="1" dirty="0">
                <a:latin typeface="Courier New"/>
                <a:ea typeface="+mn-lt"/>
                <a:cs typeface="+mn-lt"/>
              </a:rPr>
              <a:t>-top: 20px;</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font-weight</a:t>
            </a:r>
            <a:r>
              <a:rPr lang="es-ES" b="1" dirty="0">
                <a:latin typeface="Courier New"/>
                <a:ea typeface="+mn-lt"/>
                <a:cs typeface="+mn-lt"/>
              </a:rPr>
              <a:t>: </a:t>
            </a:r>
            <a:r>
              <a:rPr lang="es-ES" b="1" dirty="0" err="1">
                <a:latin typeface="Courier New"/>
                <a:ea typeface="+mn-lt"/>
                <a:cs typeface="+mn-lt"/>
              </a:rPr>
              <a:t>bold</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a:t>
            </a:r>
            <a:endParaRPr lang="es-ES" b="1">
              <a:latin typeface="Courier New"/>
              <a:cs typeface="Courier New"/>
            </a:endParaRPr>
          </a:p>
          <a:p>
            <a:r>
              <a:rPr lang="es-ES" dirty="0">
                <a:ea typeface="+mn-lt"/>
                <a:cs typeface="+mn-lt"/>
              </a:rPr>
              <a:t>En este caso, solo el primer párrafo se verá afectado por la regla, mientras que el segundo mantendrá su estilo por defecto.</a:t>
            </a:r>
            <a:endParaRPr lang="es-ES" dirty="0"/>
          </a:p>
        </p:txBody>
      </p:sp>
    </p:spTree>
    <p:extLst>
      <p:ext uri="{BB962C8B-B14F-4D97-AF65-F5344CB8AC3E}">
        <p14:creationId xmlns:p14="http://schemas.microsoft.com/office/powerpoint/2010/main" val="238500544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8544B1-6D8C-C8A5-21E7-BCD485BF2D3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1D35AA3-8EA0-6EDF-53E2-D16CDAB1AEDC}"/>
              </a:ext>
            </a:extLst>
          </p:cNvPr>
          <p:cNvSpPr>
            <a:spLocks noGrp="1"/>
          </p:cNvSpPr>
          <p:nvPr>
            <p:ph type="title"/>
          </p:nvPr>
        </p:nvSpPr>
        <p:spPr/>
        <p:txBody>
          <a:bodyPr/>
          <a:lstStyle/>
          <a:p>
            <a:r>
              <a:rPr lang="es-ES" b="0" dirty="0">
                <a:ea typeface="+mj-lt"/>
                <a:cs typeface="+mj-lt"/>
              </a:rPr>
              <a:t>2.2.2.3. Hermanos adyacentes y generales.</a:t>
            </a:r>
            <a:endParaRPr lang="es-ES" dirty="0"/>
          </a:p>
        </p:txBody>
      </p:sp>
      <p:sp>
        <p:nvSpPr>
          <p:cNvPr id="3" name="Marcador de contenido 2">
            <a:extLst>
              <a:ext uri="{FF2B5EF4-FFF2-40B4-BE49-F238E27FC236}">
                <a16:creationId xmlns:a16="http://schemas.microsoft.com/office/drawing/2014/main" id="{09F18686-17F9-0753-6694-10E01786C4CA}"/>
              </a:ext>
            </a:extLst>
          </p:cNvPr>
          <p:cNvSpPr>
            <a:spLocks noGrp="1"/>
          </p:cNvSpPr>
          <p:nvPr>
            <p:ph idx="1"/>
          </p:nvPr>
        </p:nvSpPr>
        <p:spPr/>
        <p:txBody>
          <a:bodyPr vert="horz" lIns="91440" tIns="45720" rIns="91440" bIns="45720" rtlCol="0" anchor="t">
            <a:normAutofit fontScale="77500" lnSpcReduction="20000"/>
          </a:bodyPr>
          <a:lstStyle/>
          <a:p>
            <a:r>
              <a:rPr lang="es-ES" dirty="0">
                <a:ea typeface="+mn-lt"/>
                <a:cs typeface="+mn-lt"/>
              </a:rPr>
              <a:t>Selector de hermano general (~): es más amplio. Selecciona todos los elementos que siguen a otro y comparten el mismo padre. Es una relación uno a muchos.</a:t>
            </a:r>
          </a:p>
          <a:p>
            <a:r>
              <a:rPr lang="es-ES" dirty="0">
                <a:ea typeface="+mn-lt"/>
                <a:cs typeface="+mn-lt"/>
              </a:rPr>
              <a:t>Sintaxis: </a:t>
            </a:r>
            <a:r>
              <a:rPr lang="es-ES" b="1" dirty="0" err="1">
                <a:latin typeface="Courier New"/>
                <a:ea typeface="+mn-lt"/>
                <a:cs typeface="+mn-lt"/>
              </a:rPr>
              <a:t>selector_anterior</a:t>
            </a:r>
            <a:r>
              <a:rPr lang="es-ES" b="1" dirty="0">
                <a:latin typeface="Courier New"/>
                <a:ea typeface="+mn-lt"/>
                <a:cs typeface="+mn-lt"/>
              </a:rPr>
              <a:t> ~ </a:t>
            </a:r>
            <a:r>
              <a:rPr lang="es-ES" b="1" dirty="0" err="1">
                <a:latin typeface="Courier New"/>
                <a:ea typeface="+mn-lt"/>
                <a:cs typeface="+mn-lt"/>
              </a:rPr>
              <a:t>selector_siguiente</a:t>
            </a:r>
            <a:r>
              <a:rPr lang="es-ES" b="1" dirty="0">
                <a:latin typeface="Courier New"/>
                <a:ea typeface="+mn-lt"/>
                <a:cs typeface="+mn-lt"/>
              </a:rPr>
              <a:t> { ... }</a:t>
            </a:r>
          </a:p>
          <a:p>
            <a:r>
              <a:rPr lang="es-ES" dirty="0">
                <a:ea typeface="+mn-lt"/>
                <a:cs typeface="+mn-lt"/>
              </a:rPr>
              <a:t>Ejemplo: Imagina un </a:t>
            </a:r>
            <a:r>
              <a:rPr lang="es-ES" dirty="0" err="1">
                <a:ea typeface="+mn-lt"/>
                <a:cs typeface="+mn-lt"/>
              </a:rPr>
              <a:t>checkbox</a:t>
            </a:r>
            <a:r>
              <a:rPr lang="es-ES" dirty="0">
                <a:ea typeface="+mn-lt"/>
                <a:cs typeface="+mn-lt"/>
              </a:rPr>
              <a:t> que, al ser seleccionado, cambia el estilo de todos los elementos hermanos que lo siguen. Esta es una técnica común en CSS moderno para crear interacciones sin JavaScript.</a:t>
            </a:r>
          </a:p>
          <a:p>
            <a:r>
              <a:rPr lang="es-ES" dirty="0">
                <a:ea typeface="+mn-lt"/>
                <a:cs typeface="+mn-lt"/>
              </a:rPr>
              <a:t>&lt;</a:t>
            </a:r>
            <a:r>
              <a:rPr lang="es-ES" dirty="0" err="1">
                <a:ea typeface="+mn-lt"/>
                <a:cs typeface="+mn-lt"/>
              </a:rPr>
              <a:t>label</a:t>
            </a:r>
            <a:r>
              <a:rPr lang="es-ES" dirty="0">
                <a:ea typeface="+mn-lt"/>
                <a:cs typeface="+mn-lt"/>
              </a:rPr>
              <a:t> </a:t>
            </a:r>
            <a:r>
              <a:rPr lang="es-ES" dirty="0" err="1">
                <a:ea typeface="+mn-lt"/>
                <a:cs typeface="+mn-lt"/>
              </a:rPr>
              <a:t>for</a:t>
            </a:r>
            <a:r>
              <a:rPr lang="es-ES" dirty="0">
                <a:ea typeface="+mn-lt"/>
                <a:cs typeface="+mn-lt"/>
              </a:rPr>
              <a:t>="modo-oscuro"&gt;Modo Oscuro&lt;/</a:t>
            </a:r>
            <a:r>
              <a:rPr lang="es-ES" dirty="0" err="1">
                <a:ea typeface="+mn-lt"/>
                <a:cs typeface="+mn-lt"/>
              </a:rPr>
              <a:t>label</a:t>
            </a:r>
            <a:r>
              <a:rPr lang="es-ES" dirty="0">
                <a:ea typeface="+mn-lt"/>
                <a:cs typeface="+mn-lt"/>
              </a:rPr>
              <a:t>&gt;</a:t>
            </a:r>
            <a:br>
              <a:rPr lang="es-ES" dirty="0">
                <a:ea typeface="+mn-lt"/>
                <a:cs typeface="+mn-lt"/>
              </a:rPr>
            </a:br>
            <a:r>
              <a:rPr lang="es-ES" dirty="0">
                <a:ea typeface="+mn-lt"/>
                <a:cs typeface="+mn-lt"/>
              </a:rPr>
              <a:t>&lt;input </a:t>
            </a:r>
            <a:r>
              <a:rPr lang="es-ES" dirty="0" err="1">
                <a:ea typeface="+mn-lt"/>
                <a:cs typeface="+mn-lt"/>
              </a:rPr>
              <a:t>type</a:t>
            </a:r>
            <a:r>
              <a:rPr lang="es-ES" dirty="0">
                <a:ea typeface="+mn-lt"/>
                <a:cs typeface="+mn-lt"/>
              </a:rPr>
              <a:t>="</a:t>
            </a:r>
            <a:r>
              <a:rPr lang="es-ES" dirty="0" err="1">
                <a:ea typeface="+mn-lt"/>
                <a:cs typeface="+mn-lt"/>
              </a:rPr>
              <a:t>checkbox</a:t>
            </a:r>
            <a:r>
              <a:rPr lang="es-ES" dirty="0">
                <a:ea typeface="+mn-lt"/>
                <a:cs typeface="+mn-lt"/>
              </a:rPr>
              <a:t>" id="modo-oscuro"&gt;</a:t>
            </a:r>
            <a:br>
              <a:rPr lang="es-ES" dirty="0">
                <a:ea typeface="+mn-lt"/>
                <a:cs typeface="+mn-lt"/>
              </a:rPr>
            </a:br>
            <a:r>
              <a:rPr lang="es-ES" dirty="0">
                <a:ea typeface="+mn-lt"/>
                <a:cs typeface="+mn-lt"/>
              </a:rPr>
              <a:t>&lt;p </a:t>
            </a:r>
            <a:r>
              <a:rPr lang="es-ES" dirty="0" err="1">
                <a:ea typeface="+mn-lt"/>
                <a:cs typeface="+mn-lt"/>
              </a:rPr>
              <a:t>class</a:t>
            </a:r>
            <a:r>
              <a:rPr lang="es-ES" dirty="0">
                <a:ea typeface="+mn-lt"/>
                <a:cs typeface="+mn-lt"/>
              </a:rPr>
              <a:t>="contenido"&gt;Contenido de la página 1.&lt;/p&gt;</a:t>
            </a:r>
            <a:br>
              <a:rPr lang="es-ES" dirty="0">
                <a:ea typeface="+mn-lt"/>
                <a:cs typeface="+mn-lt"/>
              </a:rPr>
            </a:br>
            <a:r>
              <a:rPr lang="es-ES" dirty="0">
                <a:ea typeface="+mn-lt"/>
                <a:cs typeface="+mn-lt"/>
              </a:rPr>
              <a:t>&lt;p </a:t>
            </a:r>
            <a:r>
              <a:rPr lang="es-ES" dirty="0" err="1">
                <a:ea typeface="+mn-lt"/>
                <a:cs typeface="+mn-lt"/>
              </a:rPr>
              <a:t>class</a:t>
            </a:r>
            <a:r>
              <a:rPr lang="es-ES" dirty="0">
                <a:ea typeface="+mn-lt"/>
                <a:cs typeface="+mn-lt"/>
              </a:rPr>
              <a:t>="contenido"&gt;Contenido de la página 2.&lt;/p&gt;</a:t>
            </a:r>
            <a:br>
              <a:rPr lang="es-ES" dirty="0">
                <a:ea typeface="+mn-lt"/>
                <a:cs typeface="+mn-lt"/>
              </a:rPr>
            </a:br>
            <a:r>
              <a:rPr lang="es-ES" dirty="0">
                <a:ea typeface="+mn-lt"/>
                <a:cs typeface="+mn-lt"/>
              </a:rPr>
              <a:t>/* Cuando el </a:t>
            </a:r>
            <a:r>
              <a:rPr lang="es-ES" dirty="0" err="1">
                <a:ea typeface="+mn-lt"/>
                <a:cs typeface="+mn-lt"/>
              </a:rPr>
              <a:t>checkbox</a:t>
            </a:r>
            <a:r>
              <a:rPr lang="es-ES" dirty="0">
                <a:ea typeface="+mn-lt"/>
                <a:cs typeface="+mn-lt"/>
              </a:rPr>
              <a:t> está seleccionado, aplica estos estilos a todos los p que le siguen */</a:t>
            </a:r>
            <a:br>
              <a:rPr lang="es-ES" dirty="0">
                <a:ea typeface="+mn-lt"/>
                <a:cs typeface="+mn-lt"/>
              </a:rPr>
            </a:br>
            <a:r>
              <a:rPr lang="es-ES" dirty="0">
                <a:ea typeface="+mn-lt"/>
                <a:cs typeface="+mn-lt"/>
              </a:rPr>
              <a:t>#modo-oscuro:checked ~ </a:t>
            </a:r>
            <a:r>
              <a:rPr lang="es-ES" dirty="0" err="1">
                <a:ea typeface="+mn-lt"/>
                <a:cs typeface="+mn-lt"/>
              </a:rPr>
              <a:t>p.contenido</a:t>
            </a:r>
            <a:r>
              <a:rPr lang="es-ES" dirty="0">
                <a:ea typeface="+mn-lt"/>
                <a:cs typeface="+mn-lt"/>
              </a:rPr>
              <a:t> {</a:t>
            </a:r>
            <a:br>
              <a:rPr lang="es-ES" dirty="0">
                <a:ea typeface="+mn-lt"/>
                <a:cs typeface="+mn-lt"/>
              </a:rPr>
            </a:br>
            <a:r>
              <a:rPr lang="es-ES" dirty="0">
                <a:ea typeface="+mn-lt"/>
                <a:cs typeface="+mn-lt"/>
              </a:rPr>
              <a:t>  </a:t>
            </a:r>
            <a:r>
              <a:rPr lang="es-ES" dirty="0" err="1">
                <a:ea typeface="+mn-lt"/>
                <a:cs typeface="+mn-lt"/>
              </a:rPr>
              <a:t>background</a:t>
            </a:r>
            <a:r>
              <a:rPr lang="es-ES" dirty="0">
                <a:ea typeface="+mn-lt"/>
                <a:cs typeface="+mn-lt"/>
              </a:rPr>
              <a:t>-color: #333;</a:t>
            </a:r>
            <a:br>
              <a:rPr lang="es-ES" dirty="0">
                <a:ea typeface="+mn-lt"/>
                <a:cs typeface="+mn-lt"/>
              </a:rPr>
            </a:br>
            <a:r>
              <a:rPr lang="es-ES" dirty="0">
                <a:ea typeface="+mn-lt"/>
                <a:cs typeface="+mn-lt"/>
              </a:rPr>
              <a:t>  color: </a:t>
            </a:r>
            <a:r>
              <a:rPr lang="es-ES" dirty="0" err="1">
                <a:ea typeface="+mn-lt"/>
                <a:cs typeface="+mn-lt"/>
              </a:rPr>
              <a:t>white</a:t>
            </a:r>
            <a:r>
              <a:rPr lang="es-ES" dirty="0">
                <a:ea typeface="+mn-lt"/>
                <a:cs typeface="+mn-lt"/>
              </a:rPr>
              <a:t>;</a:t>
            </a:r>
            <a:br>
              <a:rPr lang="es-ES" dirty="0">
                <a:ea typeface="+mn-lt"/>
                <a:cs typeface="+mn-lt"/>
              </a:rPr>
            </a:br>
            <a:r>
              <a:rPr lang="es-ES" dirty="0">
                <a:ea typeface="+mn-lt"/>
                <a:cs typeface="+mn-lt"/>
              </a:rPr>
              <a:t>}</a:t>
            </a:r>
          </a:p>
          <a:p>
            <a:r>
              <a:rPr lang="es-ES" dirty="0">
                <a:ea typeface="+mn-lt"/>
                <a:cs typeface="+mn-lt"/>
              </a:rPr>
              <a:t>Aquí, la </a:t>
            </a:r>
            <a:r>
              <a:rPr lang="es-ES" dirty="0" err="1">
                <a:ea typeface="+mn-lt"/>
                <a:cs typeface="+mn-lt"/>
              </a:rPr>
              <a:t>pseudo-clase</a:t>
            </a:r>
            <a:r>
              <a:rPr lang="es-ES" dirty="0">
                <a:ea typeface="+mn-lt"/>
                <a:cs typeface="+mn-lt"/>
              </a:rPr>
              <a:t> :</a:t>
            </a:r>
            <a:r>
              <a:rPr lang="es-ES" dirty="0" err="1">
                <a:ea typeface="+mn-lt"/>
                <a:cs typeface="+mn-lt"/>
              </a:rPr>
              <a:t>checked</a:t>
            </a:r>
            <a:r>
              <a:rPr lang="es-ES" dirty="0">
                <a:ea typeface="+mn-lt"/>
                <a:cs typeface="+mn-lt"/>
              </a:rPr>
              <a:t> detecta el estado del </a:t>
            </a:r>
            <a:r>
              <a:rPr lang="es-ES" dirty="0" err="1">
                <a:ea typeface="+mn-lt"/>
                <a:cs typeface="+mn-lt"/>
              </a:rPr>
              <a:t>checkbox</a:t>
            </a:r>
            <a:r>
              <a:rPr lang="es-ES" dirty="0">
                <a:ea typeface="+mn-lt"/>
                <a:cs typeface="+mn-lt"/>
              </a:rPr>
              <a:t>, y el combinador de hermano general ~ aplica un color de fondo oscuro a todos los párrafos que lo siguen, creando el efecto de "modo oscuro".</a:t>
            </a:r>
            <a:endParaRPr lang="es-ES" dirty="0"/>
          </a:p>
        </p:txBody>
      </p:sp>
    </p:spTree>
    <p:extLst>
      <p:ext uri="{BB962C8B-B14F-4D97-AF65-F5344CB8AC3E}">
        <p14:creationId xmlns:p14="http://schemas.microsoft.com/office/powerpoint/2010/main" val="46439117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44C5F6-B3EA-1358-F509-3A2706DF451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BCE8689-16A6-7479-AB6C-3F86EB5D6095}"/>
              </a:ext>
            </a:extLst>
          </p:cNvPr>
          <p:cNvSpPr>
            <a:spLocks noGrp="1"/>
          </p:cNvSpPr>
          <p:nvPr>
            <p:ph type="title"/>
          </p:nvPr>
        </p:nvSpPr>
        <p:spPr/>
        <p:txBody>
          <a:bodyPr/>
          <a:lstStyle/>
          <a:p>
            <a:r>
              <a:rPr lang="es-ES" b="0" dirty="0">
                <a:ea typeface="+mj-lt"/>
                <a:cs typeface="+mj-lt"/>
              </a:rPr>
              <a:t>2.2.3. Selectores avanzados</a:t>
            </a:r>
            <a:br>
              <a:rPr lang="es-ES" b="0" dirty="0">
                <a:ea typeface="+mj-lt"/>
                <a:cs typeface="+mj-lt"/>
              </a:rPr>
            </a:br>
            <a:r>
              <a:rPr lang="es-ES" b="0" dirty="0"/>
              <a:t>2.2.3.1. Selectores de atributo.</a:t>
            </a:r>
            <a:endParaRPr lang="es-ES" dirty="0"/>
          </a:p>
        </p:txBody>
      </p:sp>
      <p:sp>
        <p:nvSpPr>
          <p:cNvPr id="3" name="Marcador de contenido 2">
            <a:extLst>
              <a:ext uri="{FF2B5EF4-FFF2-40B4-BE49-F238E27FC236}">
                <a16:creationId xmlns:a16="http://schemas.microsoft.com/office/drawing/2014/main" id="{5AC58D18-2D88-FE65-1424-39F8B5E2518F}"/>
              </a:ext>
            </a:extLst>
          </p:cNvPr>
          <p:cNvSpPr>
            <a:spLocks noGrp="1"/>
          </p:cNvSpPr>
          <p:nvPr>
            <p:ph idx="1"/>
          </p:nvPr>
        </p:nvSpPr>
        <p:spPr/>
        <p:txBody>
          <a:bodyPr vert="horz" lIns="91440" tIns="45720" rIns="91440" bIns="45720" rtlCol="0" anchor="t">
            <a:normAutofit/>
          </a:bodyPr>
          <a:lstStyle/>
          <a:p>
            <a:r>
              <a:rPr lang="es-ES" dirty="0">
                <a:ea typeface="+mn-lt"/>
                <a:cs typeface="+mn-lt"/>
              </a:rPr>
              <a:t>Los selectores avanzados te ofrecen un control mucho más granular y dinámico sobre los elementos de tu página. Permiten estilizar elementos basándose en sus atributos, su estado (por ejemplo, cuando el usuario pasa el ratón por encima) o en partes específicas de ellos. Dominarlos es clave para crear interfaces interactivas y flexibles.</a:t>
            </a:r>
            <a:endParaRPr lang="es-ES" dirty="0"/>
          </a:p>
          <a:p>
            <a:r>
              <a:rPr lang="es-ES" dirty="0">
                <a:ea typeface="+mn-lt"/>
                <a:cs typeface="+mn-lt"/>
              </a:rPr>
              <a:t>Los selectores de atributo te permiten seleccionar elementos basándose en la existencia de un atributo HTML o en un valor específico de ese atributo. Son una herramienta muy flexible para estilizar elementos sin necesidad de añadir clases o </a:t>
            </a:r>
            <a:r>
              <a:rPr lang="es-ES" dirty="0" err="1">
                <a:ea typeface="+mn-lt"/>
                <a:cs typeface="+mn-lt"/>
              </a:rPr>
              <a:t>IDs</a:t>
            </a:r>
            <a:r>
              <a:rPr lang="es-ES" dirty="0">
                <a:ea typeface="+mn-lt"/>
                <a:cs typeface="+mn-lt"/>
              </a:rPr>
              <a:t> adicionales, lo que hace tu HTML más limpio y semántico.</a:t>
            </a:r>
            <a:endParaRPr lang="es-ES" dirty="0"/>
          </a:p>
          <a:p>
            <a:r>
              <a:rPr lang="es-ES" dirty="0">
                <a:ea typeface="+mn-lt"/>
                <a:cs typeface="+mn-lt"/>
              </a:rPr>
              <a:t>La sintaxis básica de un selector de atributo utiliza corchetes []. A continuación, se detallan los operadores más comunes y su funcionalidad.</a:t>
            </a:r>
            <a:endParaRPr lang="es-ES" dirty="0"/>
          </a:p>
          <a:p>
            <a:pPr lvl="1">
              <a:buFont typeface="Courier New" panose="020B0604020202020204" pitchFamily="34" charset="0"/>
              <a:buChar char="o"/>
            </a:pPr>
            <a:r>
              <a:rPr lang="es-ES" b="1" dirty="0">
                <a:latin typeface="Courier New"/>
                <a:ea typeface="+mn-lt"/>
                <a:cs typeface="+mn-lt"/>
              </a:rPr>
              <a:t>[atributo]</a:t>
            </a:r>
            <a:r>
              <a:rPr lang="es-ES" dirty="0">
                <a:ea typeface="+mn-lt"/>
                <a:cs typeface="+mn-lt"/>
              </a:rPr>
              <a:t>Selecciona todos los elementos que tienen el atributo especificado, sin importar su valor.</a:t>
            </a:r>
            <a:endParaRPr lang="es-ES" dirty="0"/>
          </a:p>
          <a:p>
            <a:pPr lvl="2">
              <a:buFont typeface="Wingdings" panose="020B0604020202020204" pitchFamily="34" charset="0"/>
              <a:buChar char="§"/>
            </a:pPr>
            <a:r>
              <a:rPr lang="es-ES" dirty="0">
                <a:ea typeface="+mn-lt"/>
                <a:cs typeface="+mn-lt"/>
              </a:rPr>
              <a:t>Ejemplo: </a:t>
            </a:r>
            <a:r>
              <a:rPr lang="es-ES" b="1" dirty="0">
                <a:latin typeface="Courier New"/>
                <a:ea typeface="+mn-lt"/>
                <a:cs typeface="+mn-lt"/>
              </a:rPr>
              <a:t>a[</a:t>
            </a:r>
            <a:r>
              <a:rPr lang="es-ES" b="1" err="1">
                <a:latin typeface="Courier New"/>
                <a:ea typeface="+mn-lt"/>
                <a:cs typeface="+mn-lt"/>
              </a:rPr>
              <a:t>href</a:t>
            </a:r>
            <a:r>
              <a:rPr lang="es-ES" b="1" dirty="0">
                <a:latin typeface="Courier New"/>
                <a:ea typeface="+mn-lt"/>
                <a:cs typeface="+mn-lt"/>
              </a:rPr>
              <a:t>]</a:t>
            </a:r>
            <a:r>
              <a:rPr lang="es-ES" dirty="0">
                <a:ea typeface="+mn-lt"/>
                <a:cs typeface="+mn-lt"/>
              </a:rPr>
              <a:t> selecciona todos los enlaces que tienen un destino.</a:t>
            </a:r>
            <a:endParaRPr lang="es-ES"/>
          </a:p>
          <a:p>
            <a:endParaRPr lang="es-ES" dirty="0"/>
          </a:p>
        </p:txBody>
      </p:sp>
    </p:spTree>
    <p:extLst>
      <p:ext uri="{BB962C8B-B14F-4D97-AF65-F5344CB8AC3E}">
        <p14:creationId xmlns:p14="http://schemas.microsoft.com/office/powerpoint/2010/main" val="411308631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73AD78-DD39-6B78-DFF0-64FB9BF74CC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EF0FDC2-A795-F8FD-9275-62972E9EA07E}"/>
              </a:ext>
            </a:extLst>
          </p:cNvPr>
          <p:cNvSpPr>
            <a:spLocks noGrp="1"/>
          </p:cNvSpPr>
          <p:nvPr>
            <p:ph type="title"/>
          </p:nvPr>
        </p:nvSpPr>
        <p:spPr/>
        <p:txBody>
          <a:bodyPr/>
          <a:lstStyle/>
          <a:p>
            <a:r>
              <a:rPr lang="es-ES" b="0" dirty="0">
                <a:ea typeface="+mj-lt"/>
                <a:cs typeface="+mj-lt"/>
              </a:rPr>
              <a:t>2.2.3. Selectores avanzados</a:t>
            </a:r>
            <a:br>
              <a:rPr lang="es-ES" b="0" dirty="0">
                <a:ea typeface="+mj-lt"/>
                <a:cs typeface="+mj-lt"/>
              </a:rPr>
            </a:br>
            <a:r>
              <a:rPr lang="es-ES" b="0" dirty="0"/>
              <a:t>2.2.3.1. Selectores de atributo.</a:t>
            </a:r>
            <a:endParaRPr lang="es-ES" dirty="0"/>
          </a:p>
        </p:txBody>
      </p:sp>
      <p:sp>
        <p:nvSpPr>
          <p:cNvPr id="3" name="Marcador de contenido 2">
            <a:extLst>
              <a:ext uri="{FF2B5EF4-FFF2-40B4-BE49-F238E27FC236}">
                <a16:creationId xmlns:a16="http://schemas.microsoft.com/office/drawing/2014/main" id="{AA167010-DFC4-854C-340C-20534D23B8FF}"/>
              </a:ext>
            </a:extLst>
          </p:cNvPr>
          <p:cNvSpPr>
            <a:spLocks noGrp="1"/>
          </p:cNvSpPr>
          <p:nvPr>
            <p:ph idx="1"/>
          </p:nvPr>
        </p:nvSpPr>
        <p:spPr/>
        <p:txBody>
          <a:bodyPr vert="horz" lIns="91440" tIns="45720" rIns="91440" bIns="45720" rtlCol="0" anchor="t">
            <a:normAutofit lnSpcReduction="10000"/>
          </a:bodyPr>
          <a:lstStyle/>
          <a:p>
            <a:pPr lvl="1">
              <a:buFont typeface="Courier New" panose="020B0604020202020204" pitchFamily="34" charset="0"/>
              <a:buChar char="o"/>
            </a:pPr>
            <a:r>
              <a:rPr lang="es-ES" b="1" dirty="0">
                <a:latin typeface="Courier New"/>
                <a:ea typeface="+mn-lt"/>
                <a:cs typeface="+mn-lt"/>
              </a:rPr>
              <a:t>[atributo="valor"]</a:t>
            </a:r>
            <a:r>
              <a:rPr lang="es-ES" dirty="0">
                <a:ea typeface="+mn-lt"/>
                <a:cs typeface="+mn-lt"/>
              </a:rPr>
              <a:t> Selecciona elementos que tienen un atributo con el valor exacto especificado.</a:t>
            </a:r>
            <a:endParaRPr lang="es-ES" dirty="0"/>
          </a:p>
          <a:p>
            <a:pPr lvl="2">
              <a:buFont typeface="Wingdings" panose="020B0604020202020204" pitchFamily="34" charset="0"/>
              <a:buChar char="§"/>
            </a:pPr>
            <a:r>
              <a:rPr lang="es-ES" dirty="0">
                <a:ea typeface="+mn-lt"/>
                <a:cs typeface="+mn-lt"/>
              </a:rPr>
              <a:t>Ejemplo: </a:t>
            </a:r>
            <a:r>
              <a:rPr lang="es-ES" b="1" dirty="0">
                <a:latin typeface="Courier New"/>
                <a:ea typeface="+mn-lt"/>
                <a:cs typeface="+mn-lt"/>
              </a:rPr>
              <a:t>input[</a:t>
            </a:r>
            <a:r>
              <a:rPr lang="es-ES" b="1" err="1">
                <a:latin typeface="Courier New"/>
                <a:ea typeface="+mn-lt"/>
                <a:cs typeface="+mn-lt"/>
              </a:rPr>
              <a:t>type</a:t>
            </a:r>
            <a:r>
              <a:rPr lang="es-ES" b="1" dirty="0">
                <a:latin typeface="Courier New"/>
                <a:ea typeface="+mn-lt"/>
                <a:cs typeface="+mn-lt"/>
              </a:rPr>
              <a:t>="</a:t>
            </a:r>
            <a:r>
              <a:rPr lang="es-ES" b="1" err="1">
                <a:latin typeface="Courier New"/>
                <a:ea typeface="+mn-lt"/>
                <a:cs typeface="+mn-lt"/>
              </a:rPr>
              <a:t>submit</a:t>
            </a:r>
            <a:r>
              <a:rPr lang="es-ES" b="1" dirty="0">
                <a:latin typeface="Courier New"/>
                <a:ea typeface="+mn-lt"/>
                <a:cs typeface="+mn-lt"/>
              </a:rPr>
              <a:t>"]</a:t>
            </a:r>
            <a:r>
              <a:rPr lang="es-ES" dirty="0">
                <a:ea typeface="+mn-lt"/>
                <a:cs typeface="+mn-lt"/>
              </a:rPr>
              <a:t> selecciona únicamente los campos input que son de tipo "</a:t>
            </a:r>
            <a:r>
              <a:rPr lang="es-ES" err="1">
                <a:ea typeface="+mn-lt"/>
                <a:cs typeface="+mn-lt"/>
              </a:rPr>
              <a:t>submit</a:t>
            </a:r>
            <a:r>
              <a:rPr lang="es-ES" dirty="0">
                <a:ea typeface="+mn-lt"/>
                <a:cs typeface="+mn-lt"/>
              </a:rPr>
              <a:t>".</a:t>
            </a:r>
            <a:endParaRPr lang="es-ES"/>
          </a:p>
          <a:p>
            <a:pPr lvl="1">
              <a:buFont typeface="Courier New" panose="020B0604020202020204" pitchFamily="34" charset="0"/>
              <a:buChar char="o"/>
            </a:pPr>
            <a:r>
              <a:rPr lang="es-ES" b="1" dirty="0">
                <a:latin typeface="Courier New"/>
                <a:ea typeface="+mn-lt"/>
                <a:cs typeface="+mn-lt"/>
              </a:rPr>
              <a:t>[atributo~="valor"]</a:t>
            </a:r>
            <a:r>
              <a:rPr lang="es-ES" dirty="0">
                <a:ea typeface="+mn-lt"/>
                <a:cs typeface="+mn-lt"/>
              </a:rPr>
              <a:t> Selecciona elementos cuyo valor de atributo contiene la palabra exacta especificada dentro de una lista de palabras separadas por espacios.</a:t>
            </a:r>
          </a:p>
          <a:p>
            <a:pPr lvl="2">
              <a:buFont typeface="Wingdings" panose="020B0604020202020204" pitchFamily="34" charset="0"/>
              <a:buChar char="§"/>
            </a:pPr>
            <a:r>
              <a:rPr lang="es-ES" dirty="0">
                <a:ea typeface="+mn-lt"/>
                <a:cs typeface="+mn-lt"/>
              </a:rPr>
              <a:t>Ejemplo: </a:t>
            </a:r>
            <a:r>
              <a:rPr lang="es-ES" b="1" dirty="0">
                <a:latin typeface="Courier New"/>
                <a:ea typeface="+mn-lt"/>
                <a:cs typeface="+mn-lt"/>
              </a:rPr>
              <a:t>[</a:t>
            </a:r>
            <a:r>
              <a:rPr lang="es-ES" b="1" err="1">
                <a:latin typeface="Courier New"/>
                <a:ea typeface="+mn-lt"/>
                <a:cs typeface="+mn-lt"/>
              </a:rPr>
              <a:t>class</a:t>
            </a:r>
            <a:r>
              <a:rPr lang="es-ES" b="1" dirty="0">
                <a:latin typeface="Courier New"/>
                <a:ea typeface="+mn-lt"/>
                <a:cs typeface="+mn-lt"/>
              </a:rPr>
              <a:t>~="importante"]</a:t>
            </a:r>
            <a:r>
              <a:rPr lang="es-ES" dirty="0">
                <a:ea typeface="+mn-lt"/>
                <a:cs typeface="+mn-lt"/>
              </a:rPr>
              <a:t> selecciona elementos con clases como "</a:t>
            </a:r>
            <a:r>
              <a:rPr lang="es-ES" err="1">
                <a:ea typeface="+mn-lt"/>
                <a:cs typeface="+mn-lt"/>
              </a:rPr>
              <a:t>btn</a:t>
            </a:r>
            <a:r>
              <a:rPr lang="es-ES" dirty="0">
                <a:ea typeface="+mn-lt"/>
                <a:cs typeface="+mn-lt"/>
              </a:rPr>
              <a:t> importante" pero no "</a:t>
            </a:r>
            <a:r>
              <a:rPr lang="es-ES" err="1">
                <a:ea typeface="+mn-lt"/>
                <a:cs typeface="+mn-lt"/>
              </a:rPr>
              <a:t>btn</a:t>
            </a:r>
            <a:r>
              <a:rPr lang="es-ES" dirty="0">
                <a:ea typeface="+mn-lt"/>
                <a:cs typeface="+mn-lt"/>
              </a:rPr>
              <a:t>-importante".</a:t>
            </a:r>
            <a:endParaRPr lang="es-ES"/>
          </a:p>
          <a:p>
            <a:pPr lvl="1">
              <a:buFont typeface="Courier New" panose="020B0604020202020204" pitchFamily="34" charset="0"/>
              <a:buChar char="o"/>
            </a:pPr>
            <a:r>
              <a:rPr lang="es-ES" b="1" dirty="0">
                <a:latin typeface="Courier New"/>
                <a:ea typeface="+mn-lt"/>
                <a:cs typeface="+mn-lt"/>
              </a:rPr>
              <a:t>[atributo^="valor"]</a:t>
            </a:r>
            <a:r>
              <a:rPr lang="es-ES" dirty="0">
                <a:ea typeface="+mn-lt"/>
                <a:cs typeface="+mn-lt"/>
              </a:rPr>
              <a:t> Selecciona elementos cuyo valor de atributo comienza con la cadena de texto especificada.</a:t>
            </a:r>
          </a:p>
          <a:p>
            <a:pPr lvl="2">
              <a:buFont typeface="Wingdings" panose="020B0604020202020204" pitchFamily="34" charset="0"/>
              <a:buChar char="§"/>
            </a:pPr>
            <a:r>
              <a:rPr lang="es-ES" dirty="0">
                <a:ea typeface="+mn-lt"/>
                <a:cs typeface="+mn-lt"/>
              </a:rPr>
              <a:t>Ejemplo: </a:t>
            </a:r>
            <a:r>
              <a:rPr lang="es-ES" b="1" dirty="0">
                <a:latin typeface="Courier New"/>
                <a:ea typeface="+mn-lt"/>
                <a:cs typeface="+mn-lt"/>
              </a:rPr>
              <a:t>a[</a:t>
            </a:r>
            <a:r>
              <a:rPr lang="es-ES" b="1" err="1">
                <a:latin typeface="Courier New"/>
                <a:ea typeface="+mn-lt"/>
                <a:cs typeface="+mn-lt"/>
              </a:rPr>
              <a:t>href</a:t>
            </a:r>
            <a:r>
              <a:rPr lang="es-ES" b="1" dirty="0">
                <a:latin typeface="Courier New"/>
                <a:ea typeface="+mn-lt"/>
                <a:cs typeface="+mn-lt"/>
              </a:rPr>
              <a:t>^="https"]</a:t>
            </a:r>
            <a:r>
              <a:rPr lang="es-ES" dirty="0">
                <a:ea typeface="+mn-lt"/>
                <a:cs typeface="+mn-lt"/>
              </a:rPr>
              <a:t> estiliza todos los enlaces que apuntan a una dirección segura (HTTPS).</a:t>
            </a:r>
            <a:endParaRPr lang="es-ES"/>
          </a:p>
          <a:p>
            <a:pPr lvl="1">
              <a:buFont typeface="Courier New" panose="020B0604020202020204" pitchFamily="34" charset="0"/>
              <a:buChar char="o"/>
            </a:pPr>
            <a:r>
              <a:rPr lang="es-ES" b="1" dirty="0">
                <a:latin typeface="Courier New"/>
                <a:ea typeface="+mn-lt"/>
                <a:cs typeface="+mn-lt"/>
              </a:rPr>
              <a:t>[atributo$="valor"]</a:t>
            </a:r>
            <a:r>
              <a:rPr lang="es-ES" dirty="0">
                <a:ea typeface="+mn-lt"/>
                <a:cs typeface="+mn-lt"/>
              </a:rPr>
              <a:t> Selecciona elementos cuyo valor de atributo termina con la cadena de texto especificada.</a:t>
            </a:r>
          </a:p>
          <a:p>
            <a:pPr lvl="2">
              <a:buFont typeface="Wingdings" panose="020B0604020202020204" pitchFamily="34" charset="0"/>
              <a:buChar char="§"/>
            </a:pPr>
            <a:r>
              <a:rPr lang="es-ES" dirty="0">
                <a:ea typeface="+mn-lt"/>
                <a:cs typeface="+mn-lt"/>
              </a:rPr>
              <a:t>Ejemplo: </a:t>
            </a:r>
            <a:r>
              <a:rPr lang="es-ES" b="1" dirty="0">
                <a:latin typeface="Courier New"/>
                <a:ea typeface="+mn-lt"/>
                <a:cs typeface="+mn-lt"/>
              </a:rPr>
              <a:t>a[</a:t>
            </a:r>
            <a:r>
              <a:rPr lang="es-ES" b="1" err="1">
                <a:latin typeface="Courier New"/>
                <a:ea typeface="+mn-lt"/>
                <a:cs typeface="+mn-lt"/>
              </a:rPr>
              <a:t>href</a:t>
            </a:r>
            <a:r>
              <a:rPr lang="es-ES" b="1" dirty="0">
                <a:latin typeface="Courier New"/>
                <a:ea typeface="+mn-lt"/>
                <a:cs typeface="+mn-lt"/>
              </a:rPr>
              <a:t>$=".</a:t>
            </a:r>
            <a:r>
              <a:rPr lang="es-ES" b="1" err="1">
                <a:latin typeface="Courier New"/>
                <a:ea typeface="+mn-lt"/>
                <a:cs typeface="+mn-lt"/>
              </a:rPr>
              <a:t>pdf</a:t>
            </a:r>
            <a:r>
              <a:rPr lang="es-ES" b="1" dirty="0">
                <a:latin typeface="Courier New"/>
                <a:ea typeface="+mn-lt"/>
                <a:cs typeface="+mn-lt"/>
              </a:rPr>
              <a:t>"]</a:t>
            </a:r>
            <a:r>
              <a:rPr lang="es-ES" dirty="0">
                <a:ea typeface="+mn-lt"/>
                <a:cs typeface="+mn-lt"/>
              </a:rPr>
              <a:t> es ideal para añadir un icono a todos los enlaces de archivos PDF.</a:t>
            </a:r>
          </a:p>
          <a:p>
            <a:pPr lvl="1">
              <a:buFont typeface="Courier New" panose="020B0604020202020204" pitchFamily="34" charset="0"/>
              <a:buChar char="o"/>
            </a:pPr>
            <a:r>
              <a:rPr lang="es-ES" b="1" dirty="0">
                <a:latin typeface="Courier New"/>
                <a:ea typeface="+mn-lt"/>
                <a:cs typeface="+mn-lt"/>
              </a:rPr>
              <a:t>[atributo*="valor"]</a:t>
            </a:r>
            <a:r>
              <a:rPr lang="es-ES" dirty="0">
                <a:ea typeface="+mn-lt"/>
                <a:cs typeface="+mn-lt"/>
              </a:rPr>
              <a:t> Selecciona elementos cuyo valor de atributo contiene la cadena de texto especificada en cualquier parte.</a:t>
            </a:r>
            <a:endParaRPr lang="es-ES" dirty="0"/>
          </a:p>
          <a:p>
            <a:pPr lvl="2">
              <a:buFont typeface="Wingdings" panose="020B0604020202020204" pitchFamily="34" charset="0"/>
              <a:buChar char="§"/>
            </a:pPr>
            <a:r>
              <a:rPr lang="es-ES" dirty="0">
                <a:ea typeface="+mn-lt"/>
                <a:cs typeface="+mn-lt"/>
              </a:rPr>
              <a:t>Ejemplo: </a:t>
            </a:r>
            <a:r>
              <a:rPr lang="es-ES" b="1" dirty="0">
                <a:latin typeface="Courier New"/>
                <a:ea typeface="+mn-lt"/>
                <a:cs typeface="+mn-lt"/>
              </a:rPr>
              <a:t>[id*="</a:t>
            </a:r>
            <a:r>
              <a:rPr lang="es-ES" b="1" err="1">
                <a:latin typeface="Courier New"/>
                <a:ea typeface="+mn-lt"/>
                <a:cs typeface="+mn-lt"/>
              </a:rPr>
              <a:t>seccion</a:t>
            </a:r>
            <a:r>
              <a:rPr lang="es-ES" b="1" dirty="0">
                <a:latin typeface="Courier New"/>
                <a:ea typeface="+mn-lt"/>
                <a:cs typeface="+mn-lt"/>
              </a:rPr>
              <a:t>"]</a:t>
            </a:r>
            <a:r>
              <a:rPr lang="es-ES" dirty="0">
                <a:ea typeface="+mn-lt"/>
                <a:cs typeface="+mn-lt"/>
              </a:rPr>
              <a:t> puede seleccionar elementos con </a:t>
            </a:r>
            <a:r>
              <a:rPr lang="es-ES" err="1">
                <a:ea typeface="+mn-lt"/>
                <a:cs typeface="+mn-lt"/>
              </a:rPr>
              <a:t>IDs</a:t>
            </a:r>
            <a:r>
              <a:rPr lang="es-ES" dirty="0">
                <a:ea typeface="+mn-lt"/>
                <a:cs typeface="+mn-lt"/>
              </a:rPr>
              <a:t> como seccion-1 y seccion-2.</a:t>
            </a:r>
            <a:endParaRPr lang="es-ES"/>
          </a:p>
          <a:p>
            <a:endParaRPr lang="es-ES" dirty="0"/>
          </a:p>
        </p:txBody>
      </p:sp>
    </p:spTree>
    <p:extLst>
      <p:ext uri="{BB962C8B-B14F-4D97-AF65-F5344CB8AC3E}">
        <p14:creationId xmlns:p14="http://schemas.microsoft.com/office/powerpoint/2010/main" val="12660057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4B54A9-92B4-E293-A1B9-B1F058A3B59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0B2EAA2-1AC4-FB69-C98A-909C576BED30}"/>
              </a:ext>
            </a:extLst>
          </p:cNvPr>
          <p:cNvSpPr>
            <a:spLocks noGrp="1"/>
          </p:cNvSpPr>
          <p:nvPr>
            <p:ph type="title"/>
          </p:nvPr>
        </p:nvSpPr>
        <p:spPr/>
        <p:txBody>
          <a:bodyPr/>
          <a:lstStyle/>
          <a:p>
            <a:r>
              <a:rPr lang="es-ES" b="0" dirty="0">
                <a:ea typeface="+mj-lt"/>
                <a:cs typeface="+mj-lt"/>
              </a:rPr>
              <a:t>2.2.3. Selectores avanzados</a:t>
            </a:r>
            <a:br>
              <a:rPr lang="es-ES" b="0" dirty="0">
                <a:ea typeface="+mj-lt"/>
                <a:cs typeface="+mj-lt"/>
              </a:rPr>
            </a:br>
            <a:r>
              <a:rPr lang="es-ES" b="0" dirty="0"/>
              <a:t>2.2.3.1. Selectores de atributo.</a:t>
            </a:r>
            <a:endParaRPr lang="es-ES" dirty="0"/>
          </a:p>
        </p:txBody>
      </p:sp>
      <p:sp>
        <p:nvSpPr>
          <p:cNvPr id="3" name="Marcador de contenido 2">
            <a:extLst>
              <a:ext uri="{FF2B5EF4-FFF2-40B4-BE49-F238E27FC236}">
                <a16:creationId xmlns:a16="http://schemas.microsoft.com/office/drawing/2014/main" id="{57E2F87D-8120-DDF5-0F0E-B54AB53F8EB4}"/>
              </a:ext>
            </a:extLst>
          </p:cNvPr>
          <p:cNvSpPr>
            <a:spLocks noGrp="1"/>
          </p:cNvSpPr>
          <p:nvPr>
            <p:ph idx="1"/>
          </p:nvPr>
        </p:nvSpPr>
        <p:spPr/>
        <p:txBody>
          <a:bodyPr vert="horz" lIns="91440" tIns="45720" rIns="91440" bIns="45720" rtlCol="0" anchor="t">
            <a:normAutofit/>
          </a:bodyPr>
          <a:lstStyle/>
          <a:p>
            <a:r>
              <a:rPr lang="es-ES" dirty="0">
                <a:ea typeface="+mn-lt"/>
                <a:cs typeface="+mn-lt"/>
              </a:rPr>
              <a:t>Ejemplo: Imagina que quieres dar un estilo diferente a todos los botones de envío en un formulario.</a:t>
            </a:r>
          </a:p>
          <a:p>
            <a:pPr marL="457200" lvl="1" indent="0">
              <a:buNone/>
            </a:pPr>
            <a:r>
              <a:rPr lang="es-ES" b="1" dirty="0">
                <a:latin typeface="Courier New"/>
                <a:ea typeface="+mn-lt"/>
                <a:cs typeface="+mn-lt"/>
              </a:rPr>
              <a:t>&lt;</a:t>
            </a:r>
            <a:r>
              <a:rPr lang="es-ES" b="1" dirty="0" err="1">
                <a:latin typeface="Courier New"/>
                <a:ea typeface="+mn-lt"/>
                <a:cs typeface="+mn-lt"/>
              </a:rPr>
              <a:t>form</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&lt;input </a:t>
            </a:r>
            <a:r>
              <a:rPr lang="es-ES" b="1" dirty="0" err="1">
                <a:latin typeface="Courier New"/>
                <a:ea typeface="+mn-lt"/>
                <a:cs typeface="+mn-lt"/>
              </a:rPr>
              <a:t>type</a:t>
            </a:r>
            <a:r>
              <a:rPr lang="es-ES" b="1" dirty="0">
                <a:latin typeface="Courier New"/>
                <a:ea typeface="+mn-lt"/>
                <a:cs typeface="+mn-lt"/>
              </a:rPr>
              <a:t>="</a:t>
            </a:r>
            <a:r>
              <a:rPr lang="es-ES" b="1" dirty="0" err="1">
                <a:latin typeface="Courier New"/>
                <a:ea typeface="+mn-lt"/>
                <a:cs typeface="+mn-lt"/>
              </a:rPr>
              <a:t>text</a:t>
            </a:r>
            <a:r>
              <a:rPr lang="es-ES" b="1" dirty="0">
                <a:latin typeface="Courier New"/>
                <a:ea typeface="+mn-lt"/>
                <a:cs typeface="+mn-lt"/>
              </a:rPr>
              <a:t>" </a:t>
            </a:r>
            <a:r>
              <a:rPr lang="es-ES" b="1" dirty="0" err="1">
                <a:latin typeface="Courier New"/>
                <a:ea typeface="+mn-lt"/>
                <a:cs typeface="+mn-lt"/>
              </a:rPr>
              <a:t>placeholder</a:t>
            </a:r>
            <a:r>
              <a:rPr lang="es-ES" b="1" dirty="0">
                <a:latin typeface="Courier New"/>
                <a:ea typeface="+mn-lt"/>
                <a:cs typeface="+mn-lt"/>
              </a:rPr>
              <a:t>="Nombre"&gt;</a:t>
            </a:r>
            <a:br>
              <a:rPr lang="es-ES" b="1" dirty="0">
                <a:latin typeface="Courier New"/>
                <a:ea typeface="+mn-lt"/>
                <a:cs typeface="+mn-lt"/>
              </a:rPr>
            </a:br>
            <a:r>
              <a:rPr lang="es-ES" b="1" dirty="0">
                <a:latin typeface="Courier New"/>
                <a:ea typeface="+mn-lt"/>
                <a:cs typeface="+mn-lt"/>
              </a:rPr>
              <a:t>  &lt;input </a:t>
            </a:r>
            <a:r>
              <a:rPr lang="es-ES" b="1" dirty="0" err="1">
                <a:latin typeface="Courier New"/>
                <a:ea typeface="+mn-lt"/>
                <a:cs typeface="+mn-lt"/>
              </a:rPr>
              <a:t>type</a:t>
            </a:r>
            <a:r>
              <a:rPr lang="es-ES" b="1" dirty="0">
                <a:latin typeface="Courier New"/>
                <a:ea typeface="+mn-lt"/>
                <a:cs typeface="+mn-lt"/>
              </a:rPr>
              <a:t>="</a:t>
            </a:r>
            <a:r>
              <a:rPr lang="es-ES" b="1" dirty="0" err="1">
                <a:latin typeface="Courier New"/>
                <a:ea typeface="+mn-lt"/>
                <a:cs typeface="+mn-lt"/>
              </a:rPr>
              <a:t>submit</a:t>
            </a:r>
            <a:r>
              <a:rPr lang="es-ES" b="1" dirty="0">
                <a:latin typeface="Courier New"/>
                <a:ea typeface="+mn-lt"/>
                <a:cs typeface="+mn-lt"/>
              </a:rPr>
              <a:t>" </a:t>
            </a:r>
            <a:r>
              <a:rPr lang="es-ES" b="1" dirty="0" err="1">
                <a:latin typeface="Courier New"/>
                <a:ea typeface="+mn-lt"/>
                <a:cs typeface="+mn-lt"/>
              </a:rPr>
              <a:t>value</a:t>
            </a:r>
            <a:r>
              <a:rPr lang="es-ES" b="1" dirty="0">
                <a:latin typeface="Courier New"/>
                <a:ea typeface="+mn-lt"/>
                <a:cs typeface="+mn-lt"/>
              </a:rPr>
              <a:t>="Enviar"&gt;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button</a:t>
            </a:r>
            <a:r>
              <a:rPr lang="es-ES" b="1" dirty="0">
                <a:latin typeface="Courier New"/>
                <a:ea typeface="+mn-lt"/>
                <a:cs typeface="+mn-lt"/>
              </a:rPr>
              <a:t> </a:t>
            </a:r>
            <a:r>
              <a:rPr lang="es-ES" b="1" dirty="0" err="1">
                <a:latin typeface="Courier New"/>
                <a:ea typeface="+mn-lt"/>
                <a:cs typeface="+mn-lt"/>
              </a:rPr>
              <a:t>type</a:t>
            </a:r>
            <a:r>
              <a:rPr lang="es-ES" b="1" dirty="0">
                <a:latin typeface="Courier New"/>
                <a:ea typeface="+mn-lt"/>
                <a:cs typeface="+mn-lt"/>
              </a:rPr>
              <a:t>="</a:t>
            </a:r>
            <a:r>
              <a:rPr lang="es-ES" b="1" dirty="0" err="1">
                <a:latin typeface="Courier New"/>
                <a:ea typeface="+mn-lt"/>
                <a:cs typeface="+mn-lt"/>
              </a:rPr>
              <a:t>submit</a:t>
            </a:r>
            <a:r>
              <a:rPr lang="es-ES" b="1" dirty="0">
                <a:latin typeface="Courier New"/>
                <a:ea typeface="+mn-lt"/>
                <a:cs typeface="+mn-lt"/>
              </a:rPr>
              <a:t>"&gt;Guardar&lt;/</a:t>
            </a:r>
            <a:r>
              <a:rPr lang="es-ES" b="1" dirty="0" err="1">
                <a:latin typeface="Courier New"/>
                <a:ea typeface="+mn-lt"/>
                <a:cs typeface="+mn-lt"/>
              </a:rPr>
              <a:t>button</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&lt;/</a:t>
            </a:r>
            <a:r>
              <a:rPr lang="es-ES" b="1" dirty="0" err="1">
                <a:latin typeface="Courier New"/>
                <a:ea typeface="+mn-lt"/>
                <a:cs typeface="+mn-lt"/>
              </a:rPr>
              <a:t>form</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input[</a:t>
            </a:r>
            <a:r>
              <a:rPr lang="es-ES" b="1" dirty="0" err="1">
                <a:latin typeface="Courier New"/>
                <a:ea typeface="+mn-lt"/>
                <a:cs typeface="+mn-lt"/>
              </a:rPr>
              <a:t>type</a:t>
            </a:r>
            <a:r>
              <a:rPr lang="es-ES" b="1" dirty="0">
                <a:latin typeface="Courier New"/>
                <a:ea typeface="+mn-lt"/>
                <a:cs typeface="+mn-lt"/>
              </a:rPr>
              <a:t>="</a:t>
            </a:r>
            <a:r>
              <a:rPr lang="es-ES" b="1" dirty="0" err="1">
                <a:latin typeface="Courier New"/>
                <a:ea typeface="+mn-lt"/>
                <a:cs typeface="+mn-lt"/>
              </a:rPr>
              <a:t>submit</a:t>
            </a: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background</a:t>
            </a:r>
            <a:r>
              <a:rPr lang="es-ES" b="1" dirty="0">
                <a:latin typeface="Courier New"/>
                <a:ea typeface="+mn-lt"/>
                <a:cs typeface="+mn-lt"/>
              </a:rPr>
              <a:t>-color: #28a745;</a:t>
            </a:r>
            <a:br>
              <a:rPr lang="es-ES" b="1" dirty="0">
                <a:latin typeface="Courier New"/>
                <a:ea typeface="+mn-lt"/>
                <a:cs typeface="+mn-lt"/>
              </a:rPr>
            </a:br>
            <a:r>
              <a:rPr lang="es-ES" b="1" dirty="0">
                <a:latin typeface="Courier New"/>
                <a:ea typeface="+mn-lt"/>
                <a:cs typeface="+mn-lt"/>
              </a:rPr>
              <a:t>  color: </a:t>
            </a:r>
            <a:r>
              <a:rPr lang="es-ES" b="1" dirty="0" err="1">
                <a:latin typeface="Courier New"/>
                <a:ea typeface="+mn-lt"/>
                <a:cs typeface="+mn-lt"/>
              </a:rPr>
              <a:t>white</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border</a:t>
            </a:r>
            <a:r>
              <a:rPr lang="es-ES" b="1" dirty="0">
                <a:latin typeface="Courier New"/>
                <a:ea typeface="+mn-lt"/>
                <a:cs typeface="+mn-lt"/>
              </a:rPr>
              <a:t>: </a:t>
            </a:r>
            <a:r>
              <a:rPr lang="es-ES" b="1" dirty="0" err="1">
                <a:latin typeface="Courier New"/>
                <a:ea typeface="+mn-lt"/>
                <a:cs typeface="+mn-lt"/>
              </a:rPr>
              <a:t>none</a:t>
            </a:r>
            <a:r>
              <a:rPr lang="es-ES" b="1" dirty="0">
                <a:latin typeface="Courier New"/>
                <a:ea typeface="+mn-lt"/>
                <a:cs typeface="+mn-lt"/>
              </a:rPr>
              <a:t>;</a:t>
            </a:r>
            <a:br>
              <a:rPr lang="en-US" b="1" dirty="0">
                <a:latin typeface="Courier New"/>
              </a:rPr>
            </a:br>
            <a:r>
              <a:rPr lang="es-ES" b="1" dirty="0">
                <a:latin typeface="Courier New"/>
                <a:ea typeface="+mn-lt"/>
                <a:cs typeface="+mn-lt"/>
              </a:rPr>
              <a:t>  </a:t>
            </a:r>
            <a:r>
              <a:rPr lang="es-ES" b="1" dirty="0" err="1">
                <a:latin typeface="Courier New"/>
                <a:ea typeface="+mn-lt"/>
                <a:cs typeface="+mn-lt"/>
              </a:rPr>
              <a:t>padding</a:t>
            </a:r>
            <a:r>
              <a:rPr lang="es-ES" b="1" dirty="0">
                <a:latin typeface="Courier New"/>
                <a:ea typeface="+mn-lt"/>
                <a:cs typeface="+mn-lt"/>
              </a:rPr>
              <a:t>: 8px 16px;</a:t>
            </a:r>
            <a:br>
              <a:rPr lang="es-ES" b="1" dirty="0">
                <a:latin typeface="Courier New"/>
                <a:ea typeface="+mn-lt"/>
                <a:cs typeface="+mn-lt"/>
              </a:rPr>
            </a:br>
            <a:r>
              <a:rPr lang="es-ES" b="1" dirty="0">
                <a:latin typeface="Courier New"/>
                <a:ea typeface="+mn-lt"/>
                <a:cs typeface="+mn-lt"/>
              </a:rPr>
              <a:t>}</a:t>
            </a:r>
            <a:endParaRPr lang="es-ES" b="1">
              <a:latin typeface="Courier New"/>
              <a:cs typeface="Courier New"/>
            </a:endParaRPr>
          </a:p>
          <a:p>
            <a:pPr lvl="1">
              <a:buFont typeface="Courier New" panose="020B0604020202020204" pitchFamily="34" charset="0"/>
              <a:buChar char="o"/>
            </a:pPr>
            <a:r>
              <a:rPr lang="es-ES" dirty="0">
                <a:ea typeface="+mn-lt"/>
                <a:cs typeface="+mn-lt"/>
              </a:rPr>
              <a:t>Aquí, solo el &lt;input&gt; de tipo </a:t>
            </a:r>
            <a:r>
              <a:rPr lang="es-ES" dirty="0" err="1">
                <a:ea typeface="+mn-lt"/>
                <a:cs typeface="+mn-lt"/>
              </a:rPr>
              <a:t>submit</a:t>
            </a:r>
            <a:r>
              <a:rPr lang="es-ES" dirty="0">
                <a:ea typeface="+mn-lt"/>
                <a:cs typeface="+mn-lt"/>
              </a:rPr>
              <a:t> recibe el estilo, dejando intacto el otro input y el </a:t>
            </a:r>
            <a:r>
              <a:rPr lang="es-ES" dirty="0" err="1">
                <a:ea typeface="+mn-lt"/>
                <a:cs typeface="+mn-lt"/>
              </a:rPr>
              <a:t>button</a:t>
            </a:r>
            <a:r>
              <a:rPr lang="es-ES" dirty="0">
                <a:ea typeface="+mn-lt"/>
                <a:cs typeface="+mn-lt"/>
              </a:rPr>
              <a:t>.</a:t>
            </a:r>
          </a:p>
        </p:txBody>
      </p:sp>
    </p:spTree>
    <p:extLst>
      <p:ext uri="{BB962C8B-B14F-4D97-AF65-F5344CB8AC3E}">
        <p14:creationId xmlns:p14="http://schemas.microsoft.com/office/powerpoint/2010/main" val="410468205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71AA9F-60C5-CFF5-A367-021F9168990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7863C00-2787-3F17-DF0E-EAFE895ED31E}"/>
              </a:ext>
            </a:extLst>
          </p:cNvPr>
          <p:cNvSpPr>
            <a:spLocks noGrp="1"/>
          </p:cNvSpPr>
          <p:nvPr>
            <p:ph type="title"/>
          </p:nvPr>
        </p:nvSpPr>
        <p:spPr/>
        <p:txBody>
          <a:bodyPr/>
          <a:lstStyle/>
          <a:p>
            <a:r>
              <a:rPr lang="es-ES" b="0" dirty="0">
                <a:ea typeface="+mj-lt"/>
                <a:cs typeface="+mj-lt"/>
              </a:rPr>
              <a:t>2.2.3. Selectores avanzados</a:t>
            </a:r>
            <a:br>
              <a:rPr lang="es-ES" b="0" dirty="0">
                <a:ea typeface="+mj-lt"/>
                <a:cs typeface="+mj-lt"/>
              </a:rPr>
            </a:br>
            <a:r>
              <a:rPr lang="es-ES" b="0" dirty="0"/>
              <a:t>2.2.3.1. Selectores de atributo.</a:t>
            </a:r>
            <a:endParaRPr lang="es-ES" dirty="0"/>
          </a:p>
        </p:txBody>
      </p:sp>
      <p:sp>
        <p:nvSpPr>
          <p:cNvPr id="3" name="Marcador de contenido 2">
            <a:extLst>
              <a:ext uri="{FF2B5EF4-FFF2-40B4-BE49-F238E27FC236}">
                <a16:creationId xmlns:a16="http://schemas.microsoft.com/office/drawing/2014/main" id="{F0DB29E3-AD8D-9E4E-DA7A-44B03E4EF90A}"/>
              </a:ext>
            </a:extLst>
          </p:cNvPr>
          <p:cNvSpPr>
            <a:spLocks noGrp="1"/>
          </p:cNvSpPr>
          <p:nvPr>
            <p:ph idx="1"/>
          </p:nvPr>
        </p:nvSpPr>
        <p:spPr/>
        <p:txBody>
          <a:bodyPr vert="horz" lIns="91440" tIns="45720" rIns="91440" bIns="45720" rtlCol="0" anchor="t">
            <a:normAutofit lnSpcReduction="10000"/>
          </a:bodyPr>
          <a:lstStyle/>
          <a:p>
            <a:r>
              <a:rPr lang="es-ES" dirty="0">
                <a:ea typeface="+mn-lt"/>
                <a:cs typeface="+mn-lt"/>
              </a:rPr>
              <a:t>Ejemplo: Para crear una distinción visual entre enlaces internos y externos.</a:t>
            </a:r>
            <a:endParaRPr lang="es-ES" dirty="0"/>
          </a:p>
          <a:p>
            <a:pPr marL="0" indent="0">
              <a:buNone/>
            </a:pPr>
            <a:r>
              <a:rPr lang="es-ES" b="1" dirty="0">
                <a:latin typeface="Courier New"/>
                <a:ea typeface="+mn-lt"/>
                <a:cs typeface="+mn-lt"/>
              </a:rPr>
              <a:t>&lt;a </a:t>
            </a:r>
            <a:r>
              <a:rPr lang="es-ES" b="1" dirty="0" err="1">
                <a:latin typeface="Courier New"/>
                <a:ea typeface="+mn-lt"/>
                <a:cs typeface="+mn-lt"/>
              </a:rPr>
              <a:t>href</a:t>
            </a:r>
            <a:r>
              <a:rPr lang="es-ES" b="1" dirty="0">
                <a:latin typeface="Courier New"/>
                <a:ea typeface="+mn-lt"/>
                <a:cs typeface="+mn-lt"/>
              </a:rPr>
              <a:t>="/acerca-de.html"&gt;Acerca de&lt;/a&gt;</a:t>
            </a:r>
            <a:br>
              <a:rPr lang="es-ES" b="1" dirty="0">
                <a:latin typeface="Courier New"/>
                <a:ea typeface="+mn-lt"/>
                <a:cs typeface="+mn-lt"/>
              </a:rPr>
            </a:br>
            <a:r>
              <a:rPr lang="es-ES" b="1" dirty="0">
                <a:latin typeface="Courier New"/>
                <a:ea typeface="+mn-lt"/>
                <a:cs typeface="+mn-lt"/>
              </a:rPr>
              <a:t>&lt;a </a:t>
            </a:r>
            <a:r>
              <a:rPr lang="es-ES" b="1" dirty="0" err="1">
                <a:latin typeface="Courier New"/>
                <a:ea typeface="+mn-lt"/>
                <a:cs typeface="+mn-lt"/>
              </a:rPr>
              <a:t>href</a:t>
            </a:r>
            <a:r>
              <a:rPr lang="es-ES" b="1" dirty="0">
                <a:latin typeface="Courier New"/>
                <a:ea typeface="+mn-lt"/>
                <a:cs typeface="+mn-lt"/>
              </a:rPr>
              <a:t>="https://ejemplo.com" target="_</a:t>
            </a:r>
            <a:r>
              <a:rPr lang="es-ES" b="1" dirty="0" err="1">
                <a:latin typeface="Courier New"/>
                <a:ea typeface="+mn-lt"/>
                <a:cs typeface="+mn-lt"/>
              </a:rPr>
              <a:t>blank</a:t>
            </a:r>
            <a:r>
              <a:rPr lang="es-ES" b="1" dirty="0">
                <a:latin typeface="Courier New"/>
                <a:ea typeface="+mn-lt"/>
                <a:cs typeface="+mn-lt"/>
              </a:rPr>
              <a:t>"&gt;Visita nuestra web&lt;/a&gt;</a:t>
            </a:r>
            <a:br>
              <a:rPr lang="es-ES" b="1" dirty="0">
                <a:latin typeface="Courier New"/>
                <a:ea typeface="+mn-lt"/>
                <a:cs typeface="+mn-lt"/>
              </a:rPr>
            </a:br>
            <a:r>
              <a:rPr lang="es-ES" b="1" dirty="0">
                <a:latin typeface="Courier New"/>
                <a:ea typeface="+mn-lt"/>
                <a:cs typeface="+mn-lt"/>
              </a:rPr>
              <a:t>/* Estilo para todos los enlaces externos */</a:t>
            </a:r>
            <a:br>
              <a:rPr lang="es-ES" b="1" dirty="0">
                <a:latin typeface="Courier New"/>
                <a:ea typeface="+mn-lt"/>
                <a:cs typeface="+mn-lt"/>
              </a:rPr>
            </a:br>
            <a:r>
              <a:rPr lang="es-ES" b="1" dirty="0">
                <a:latin typeface="Courier New"/>
                <a:ea typeface="+mn-lt"/>
                <a:cs typeface="+mn-lt"/>
              </a:rPr>
              <a:t>a[target="_</a:t>
            </a:r>
            <a:r>
              <a:rPr lang="es-ES" b="1" dirty="0" err="1">
                <a:latin typeface="Courier New"/>
                <a:ea typeface="+mn-lt"/>
                <a:cs typeface="+mn-lt"/>
              </a:rPr>
              <a:t>blank</a:t>
            </a: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color: </a:t>
            </a:r>
            <a:r>
              <a:rPr lang="es-ES" b="1" dirty="0" err="1">
                <a:latin typeface="Courier New"/>
                <a:ea typeface="+mn-lt"/>
                <a:cs typeface="+mn-lt"/>
              </a:rPr>
              <a:t>darkblue</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font-weight</a:t>
            </a:r>
            <a:r>
              <a:rPr lang="es-ES" b="1" dirty="0">
                <a:latin typeface="Courier New"/>
                <a:ea typeface="+mn-lt"/>
                <a:cs typeface="+mn-lt"/>
              </a:rPr>
              <a:t>: </a:t>
            </a:r>
            <a:r>
              <a:rPr lang="es-ES" b="1" dirty="0" err="1">
                <a:latin typeface="Courier New"/>
                <a:ea typeface="+mn-lt"/>
                <a:cs typeface="+mn-lt"/>
              </a:rPr>
              <a:t>bold</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 Estilo para enlaces internos que no tienen target */</a:t>
            </a:r>
            <a:br>
              <a:rPr lang="es-ES" b="1" dirty="0">
                <a:latin typeface="Courier New"/>
                <a:ea typeface="+mn-lt"/>
                <a:cs typeface="+mn-lt"/>
              </a:rPr>
            </a:br>
            <a:r>
              <a:rPr lang="es-ES" b="1" dirty="0" err="1">
                <a:latin typeface="Courier New"/>
                <a:ea typeface="+mn-lt"/>
                <a:cs typeface="+mn-lt"/>
              </a:rPr>
              <a:t>a:not</a:t>
            </a:r>
            <a:r>
              <a:rPr lang="es-ES" b="1" dirty="0">
                <a:latin typeface="Courier New"/>
                <a:ea typeface="+mn-lt"/>
                <a:cs typeface="+mn-lt"/>
              </a:rPr>
              <a:t>([target]) {</a:t>
            </a:r>
            <a:br>
              <a:rPr lang="es-ES" b="1" dirty="0">
                <a:latin typeface="Courier New"/>
                <a:ea typeface="+mn-lt"/>
                <a:cs typeface="+mn-lt"/>
              </a:rPr>
            </a:br>
            <a:r>
              <a:rPr lang="es-ES" b="1" dirty="0">
                <a:latin typeface="Courier New"/>
                <a:ea typeface="+mn-lt"/>
                <a:cs typeface="+mn-lt"/>
              </a:rPr>
              <a:t>  color: #555;</a:t>
            </a:r>
            <a:br>
              <a:rPr lang="es-ES" b="1" dirty="0">
                <a:latin typeface="Courier New"/>
                <a:ea typeface="+mn-lt"/>
                <a:cs typeface="+mn-lt"/>
              </a:rPr>
            </a:br>
            <a:r>
              <a:rPr lang="es-ES" b="1" dirty="0">
                <a:latin typeface="Courier New"/>
                <a:ea typeface="+mn-lt"/>
                <a:cs typeface="+mn-lt"/>
              </a:rPr>
              <a:t>}</a:t>
            </a:r>
            <a:endParaRPr lang="es-ES" b="1" dirty="0">
              <a:latin typeface="Courier New"/>
              <a:cs typeface="Courier New"/>
            </a:endParaRPr>
          </a:p>
          <a:p>
            <a:endParaRPr lang="es-ES" dirty="0"/>
          </a:p>
        </p:txBody>
      </p:sp>
    </p:spTree>
    <p:extLst>
      <p:ext uri="{BB962C8B-B14F-4D97-AF65-F5344CB8AC3E}">
        <p14:creationId xmlns:p14="http://schemas.microsoft.com/office/powerpoint/2010/main" val="292487286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00D2B6-98B4-DBED-F040-6BFC1AE34A0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B20E349-A585-93BA-759D-13382B606B08}"/>
              </a:ext>
            </a:extLst>
          </p:cNvPr>
          <p:cNvSpPr>
            <a:spLocks noGrp="1"/>
          </p:cNvSpPr>
          <p:nvPr>
            <p:ph type="title"/>
          </p:nvPr>
        </p:nvSpPr>
        <p:spPr/>
        <p:txBody>
          <a:bodyPr/>
          <a:lstStyle/>
          <a:p>
            <a:r>
              <a:rPr lang="es-ES" b="0" dirty="0">
                <a:ea typeface="+mj-lt"/>
                <a:cs typeface="+mj-lt"/>
              </a:rPr>
              <a:t>2.2.3. Selectores avanzados</a:t>
            </a:r>
            <a:br>
              <a:rPr lang="es-ES" b="0" dirty="0">
                <a:ea typeface="+mj-lt"/>
                <a:cs typeface="+mj-lt"/>
              </a:rPr>
            </a:br>
            <a:r>
              <a:rPr lang="es-ES" b="0" dirty="0"/>
              <a:t>2.2.3.1. Selectores de atributo.</a:t>
            </a:r>
            <a:endParaRPr lang="es-ES" dirty="0"/>
          </a:p>
        </p:txBody>
      </p:sp>
      <p:sp>
        <p:nvSpPr>
          <p:cNvPr id="3" name="Marcador de contenido 2">
            <a:extLst>
              <a:ext uri="{FF2B5EF4-FFF2-40B4-BE49-F238E27FC236}">
                <a16:creationId xmlns:a16="http://schemas.microsoft.com/office/drawing/2014/main" id="{6C928F39-8AF8-D958-A056-712BCB545F28}"/>
              </a:ext>
            </a:extLst>
          </p:cNvPr>
          <p:cNvSpPr>
            <a:spLocks noGrp="1"/>
          </p:cNvSpPr>
          <p:nvPr>
            <p:ph idx="1"/>
          </p:nvPr>
        </p:nvSpPr>
        <p:spPr/>
        <p:txBody>
          <a:bodyPr vert="horz" lIns="91440" tIns="45720" rIns="91440" bIns="45720" rtlCol="0" anchor="t">
            <a:normAutofit fontScale="85000" lnSpcReduction="20000"/>
          </a:bodyPr>
          <a:lstStyle/>
          <a:p>
            <a:r>
              <a:rPr lang="es-ES" dirty="0">
                <a:ea typeface="+mn-lt"/>
                <a:cs typeface="+mn-lt"/>
              </a:rPr>
              <a:t>Ejemplo: Usando selectores de atributo para añadir iconos a enlaces de diferentes tipos de archivo.</a:t>
            </a:r>
            <a:endParaRPr lang="es-ES" dirty="0"/>
          </a:p>
          <a:p>
            <a:pPr marL="0" indent="0">
              <a:buNone/>
            </a:pPr>
            <a:r>
              <a:rPr lang="es-ES" b="1" dirty="0">
                <a:latin typeface="Courier New"/>
                <a:ea typeface="+mn-lt"/>
                <a:cs typeface="+mn-lt"/>
              </a:rPr>
              <a:t>&lt;a </a:t>
            </a:r>
            <a:r>
              <a:rPr lang="es-ES" b="1" dirty="0" err="1">
                <a:latin typeface="Courier New"/>
                <a:ea typeface="+mn-lt"/>
                <a:cs typeface="+mn-lt"/>
              </a:rPr>
              <a:t>href</a:t>
            </a:r>
            <a:r>
              <a:rPr lang="es-ES" b="1" dirty="0">
                <a:latin typeface="Courier New"/>
                <a:ea typeface="+mn-lt"/>
                <a:cs typeface="+mn-lt"/>
              </a:rPr>
              <a:t>="/documentos/manual.pdf"&gt;Manual de usuario&lt;/a&gt;</a:t>
            </a:r>
            <a:br>
              <a:rPr lang="es-ES" b="1" dirty="0">
                <a:latin typeface="Courier New"/>
                <a:ea typeface="+mn-lt"/>
                <a:cs typeface="+mn-lt"/>
              </a:rPr>
            </a:br>
            <a:r>
              <a:rPr lang="es-ES" b="1" dirty="0">
                <a:latin typeface="Courier New"/>
                <a:ea typeface="+mn-lt"/>
                <a:cs typeface="+mn-lt"/>
              </a:rPr>
              <a:t>&lt;a </a:t>
            </a:r>
            <a:r>
              <a:rPr lang="es-ES" b="1" dirty="0" err="1">
                <a:latin typeface="Courier New"/>
                <a:ea typeface="+mn-lt"/>
                <a:cs typeface="+mn-lt"/>
              </a:rPr>
              <a:t>href</a:t>
            </a:r>
            <a:r>
              <a:rPr lang="es-ES" b="1" dirty="0">
                <a:latin typeface="Courier New"/>
                <a:ea typeface="+mn-lt"/>
                <a:cs typeface="+mn-lt"/>
              </a:rPr>
              <a:t>="/</a:t>
            </a:r>
            <a:r>
              <a:rPr lang="es-ES" b="1" dirty="0" err="1">
                <a:latin typeface="Courier New"/>
                <a:ea typeface="+mn-lt"/>
                <a:cs typeface="+mn-lt"/>
              </a:rPr>
              <a:t>imagenes</a:t>
            </a:r>
            <a:r>
              <a:rPr lang="es-ES" b="1" dirty="0">
                <a:latin typeface="Courier New"/>
                <a:ea typeface="+mn-lt"/>
                <a:cs typeface="+mn-lt"/>
              </a:rPr>
              <a:t>/logo.png"&gt;Nuestro logo&lt;/a&gt;</a:t>
            </a:r>
            <a:br>
              <a:rPr lang="es-ES" b="1" dirty="0">
                <a:latin typeface="Courier New"/>
                <a:ea typeface="+mn-lt"/>
                <a:cs typeface="+mn-lt"/>
              </a:rPr>
            </a:br>
            <a:r>
              <a:rPr lang="es-ES" b="1" dirty="0">
                <a:latin typeface="Courier New"/>
                <a:ea typeface="+mn-lt"/>
                <a:cs typeface="+mn-lt"/>
              </a:rPr>
              <a:t>&lt;a </a:t>
            </a:r>
            <a:r>
              <a:rPr lang="es-ES" b="1" dirty="0" err="1">
                <a:latin typeface="Courier New"/>
                <a:ea typeface="+mn-lt"/>
                <a:cs typeface="+mn-lt"/>
              </a:rPr>
              <a:t>href</a:t>
            </a:r>
            <a:r>
              <a:rPr lang="es-ES" b="1" dirty="0">
                <a:latin typeface="Courier New"/>
                <a:ea typeface="+mn-lt"/>
                <a:cs typeface="+mn-lt"/>
              </a:rPr>
              <a:t>="/data/reporte.xlsx"&gt;Reporte anual&lt;/a&gt;</a:t>
            </a:r>
            <a:br>
              <a:rPr lang="es-ES" b="1" dirty="0">
                <a:latin typeface="Courier New"/>
                <a:ea typeface="+mn-lt"/>
                <a:cs typeface="+mn-lt"/>
              </a:rPr>
            </a:br>
            <a:r>
              <a:rPr lang="es-ES" b="1" dirty="0">
                <a:latin typeface="Courier New"/>
                <a:ea typeface="+mn-lt"/>
                <a:cs typeface="+mn-lt"/>
              </a:rPr>
              <a:t>/* Añade un icono de PDF después del enlace */</a:t>
            </a:r>
            <a:br>
              <a:rPr lang="es-ES" b="1" dirty="0">
                <a:latin typeface="Courier New"/>
                <a:ea typeface="+mn-lt"/>
                <a:cs typeface="+mn-lt"/>
              </a:rPr>
            </a:br>
            <a:r>
              <a:rPr lang="es-ES" b="1" dirty="0">
                <a:latin typeface="Courier New"/>
                <a:ea typeface="+mn-lt"/>
                <a:cs typeface="+mn-lt"/>
              </a:rPr>
              <a:t>a[</a:t>
            </a:r>
            <a:r>
              <a:rPr lang="es-ES" b="1" dirty="0" err="1">
                <a:latin typeface="Courier New"/>
                <a:ea typeface="+mn-lt"/>
                <a:cs typeface="+mn-lt"/>
              </a:rPr>
              <a:t>href</a:t>
            </a:r>
            <a:r>
              <a:rPr lang="es-ES" b="1" dirty="0">
                <a:latin typeface="Courier New"/>
                <a:ea typeface="+mn-lt"/>
                <a:cs typeface="+mn-lt"/>
              </a:rPr>
              <a:t>$=".</a:t>
            </a:r>
            <a:r>
              <a:rPr lang="es-ES" b="1" dirty="0" err="1">
                <a:latin typeface="Courier New"/>
                <a:ea typeface="+mn-lt"/>
                <a:cs typeface="+mn-lt"/>
              </a:rPr>
              <a:t>pdf</a:t>
            </a:r>
            <a:r>
              <a:rPr lang="es-ES" b="1" dirty="0">
                <a:latin typeface="Courier New"/>
                <a:ea typeface="+mn-lt"/>
                <a:cs typeface="+mn-lt"/>
              </a:rPr>
              <a:t>"]::after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content</a:t>
            </a:r>
            <a:r>
              <a:rPr lang="es-ES" b="1" dirty="0">
                <a:latin typeface="Courier New"/>
                <a:ea typeface="+mn-lt"/>
                <a:cs typeface="+mn-lt"/>
              </a:rPr>
              <a:t>: " (PDF)";</a:t>
            </a:r>
            <a:br>
              <a:rPr lang="es-ES" b="1" dirty="0">
                <a:latin typeface="Courier New"/>
                <a:ea typeface="+mn-lt"/>
                <a:cs typeface="+mn-lt"/>
              </a:rPr>
            </a:br>
            <a:r>
              <a:rPr lang="es-ES" b="1" dirty="0">
                <a:latin typeface="Courier New"/>
                <a:ea typeface="+mn-lt"/>
                <a:cs typeface="+mn-lt"/>
              </a:rPr>
              <a:t>  color: red;</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font-size</a:t>
            </a:r>
            <a:r>
              <a:rPr lang="es-ES" b="1" dirty="0">
                <a:latin typeface="Courier New"/>
                <a:ea typeface="+mn-lt"/>
                <a:cs typeface="+mn-lt"/>
              </a:rPr>
              <a:t>: 0.8em;</a:t>
            </a:r>
            <a:br>
              <a:rPr lang="en-US" b="1" dirty="0">
                <a:latin typeface="Courier New"/>
              </a:rPr>
            </a:b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 Añade un icono de imagen después del enlace */</a:t>
            </a:r>
            <a:br>
              <a:rPr lang="es-ES" b="1" dirty="0">
                <a:latin typeface="Courier New"/>
                <a:ea typeface="+mn-lt"/>
                <a:cs typeface="+mn-lt"/>
              </a:rPr>
            </a:br>
            <a:r>
              <a:rPr lang="es-ES" b="1" dirty="0">
                <a:latin typeface="Courier New"/>
                <a:ea typeface="+mn-lt"/>
                <a:cs typeface="+mn-lt"/>
              </a:rPr>
              <a:t>a[</a:t>
            </a:r>
            <a:r>
              <a:rPr lang="es-ES" b="1" dirty="0" err="1">
                <a:latin typeface="Courier New"/>
                <a:ea typeface="+mn-lt"/>
                <a:cs typeface="+mn-lt"/>
              </a:rPr>
              <a:t>href</a:t>
            </a:r>
            <a:r>
              <a:rPr lang="es-ES" b="1" dirty="0">
                <a:latin typeface="Courier New"/>
                <a:ea typeface="+mn-lt"/>
                <a:cs typeface="+mn-lt"/>
              </a:rPr>
              <a:t>$=".png"]::after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content</a:t>
            </a:r>
            <a:r>
              <a:rPr lang="es-ES" b="1" dirty="0">
                <a:latin typeface="Courier New"/>
                <a:ea typeface="+mn-lt"/>
                <a:cs typeface="+mn-lt"/>
              </a:rPr>
              <a:t>: " (IMG)";</a:t>
            </a:r>
            <a:br>
              <a:rPr lang="es-ES" b="1" dirty="0">
                <a:latin typeface="Courier New"/>
                <a:ea typeface="+mn-lt"/>
                <a:cs typeface="+mn-lt"/>
              </a:rPr>
            </a:br>
            <a:r>
              <a:rPr lang="es-ES" b="1" dirty="0">
                <a:latin typeface="Courier New"/>
                <a:ea typeface="+mn-lt"/>
                <a:cs typeface="+mn-lt"/>
              </a:rPr>
              <a:t>  color: </a:t>
            </a:r>
            <a:r>
              <a:rPr lang="es-ES" b="1" dirty="0" err="1">
                <a:latin typeface="Courier New"/>
                <a:ea typeface="+mn-lt"/>
                <a:cs typeface="+mn-lt"/>
              </a:rPr>
              <a:t>green</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font-size</a:t>
            </a:r>
            <a:r>
              <a:rPr lang="es-ES" b="1" dirty="0">
                <a:latin typeface="Courier New"/>
                <a:ea typeface="+mn-lt"/>
                <a:cs typeface="+mn-lt"/>
              </a:rPr>
              <a:t>: 0.8em;</a:t>
            </a:r>
            <a:br>
              <a:rPr lang="es-ES" b="1" dirty="0">
                <a:latin typeface="Courier New"/>
                <a:ea typeface="+mn-lt"/>
                <a:cs typeface="+mn-lt"/>
              </a:rPr>
            </a:br>
            <a:r>
              <a:rPr lang="es-ES" b="1" dirty="0">
                <a:latin typeface="Courier New"/>
                <a:ea typeface="+mn-lt"/>
                <a:cs typeface="+mn-lt"/>
              </a:rPr>
              <a:t>}</a:t>
            </a:r>
          </a:p>
          <a:p>
            <a:endParaRPr lang="es-ES" dirty="0"/>
          </a:p>
        </p:txBody>
      </p:sp>
    </p:spTree>
    <p:extLst>
      <p:ext uri="{BB962C8B-B14F-4D97-AF65-F5344CB8AC3E}">
        <p14:creationId xmlns:p14="http://schemas.microsoft.com/office/powerpoint/2010/main" val="264575972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CB1CB-757D-E3AC-C701-7D62DF4290A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1B5F40E-831D-20A7-E2EF-557C2C97BD9D}"/>
              </a:ext>
            </a:extLst>
          </p:cNvPr>
          <p:cNvSpPr>
            <a:spLocks noGrp="1"/>
          </p:cNvSpPr>
          <p:nvPr>
            <p:ph type="title"/>
          </p:nvPr>
        </p:nvSpPr>
        <p:spPr/>
        <p:txBody>
          <a:bodyPr/>
          <a:lstStyle/>
          <a:p>
            <a:r>
              <a:rPr lang="es-ES" b="0" dirty="0">
                <a:ea typeface="+mj-lt"/>
                <a:cs typeface="+mj-lt"/>
              </a:rPr>
              <a:t>2.2.3.2. Selectores de </a:t>
            </a:r>
            <a:r>
              <a:rPr lang="es-ES" b="0" dirty="0" err="1">
                <a:ea typeface="+mj-lt"/>
                <a:cs typeface="+mj-lt"/>
              </a:rPr>
              <a:t>pseudo-clase</a:t>
            </a:r>
            <a:r>
              <a:rPr lang="es-ES" b="0" dirty="0">
                <a:ea typeface="+mj-lt"/>
                <a:cs typeface="+mj-lt"/>
              </a:rPr>
              <a:t> (ej. :</a:t>
            </a:r>
            <a:r>
              <a:rPr lang="es-ES" b="0" dirty="0" err="1">
                <a:ea typeface="+mj-lt"/>
                <a:cs typeface="+mj-lt"/>
              </a:rPr>
              <a:t>hover</a:t>
            </a:r>
            <a:r>
              <a:rPr lang="es-ES" b="0" dirty="0">
                <a:ea typeface="+mj-lt"/>
                <a:cs typeface="+mj-lt"/>
              </a:rPr>
              <a:t>, :</a:t>
            </a:r>
            <a:r>
              <a:rPr lang="es-ES" b="0" dirty="0" err="1">
                <a:ea typeface="+mj-lt"/>
                <a:cs typeface="+mj-lt"/>
              </a:rPr>
              <a:t>focus</a:t>
            </a:r>
            <a:r>
              <a:rPr lang="es-ES" b="0" dirty="0">
                <a:ea typeface="+mj-lt"/>
                <a:cs typeface="+mj-lt"/>
              </a:rPr>
              <a:t>, :</a:t>
            </a:r>
            <a:r>
              <a:rPr lang="es-ES" b="0" dirty="0" err="1">
                <a:ea typeface="+mj-lt"/>
                <a:cs typeface="+mj-lt"/>
              </a:rPr>
              <a:t>nth-child</a:t>
            </a:r>
            <a:r>
              <a:rPr lang="es-ES" b="0" dirty="0">
                <a:ea typeface="+mj-lt"/>
                <a:cs typeface="+mj-lt"/>
              </a:rPr>
              <a:t>).</a:t>
            </a:r>
            <a:endParaRPr lang="es-ES" dirty="0"/>
          </a:p>
        </p:txBody>
      </p:sp>
      <p:sp>
        <p:nvSpPr>
          <p:cNvPr id="3" name="Marcador de contenido 2">
            <a:extLst>
              <a:ext uri="{FF2B5EF4-FFF2-40B4-BE49-F238E27FC236}">
                <a16:creationId xmlns:a16="http://schemas.microsoft.com/office/drawing/2014/main" id="{C1F2C2E4-C373-D782-3592-A4F21E172660}"/>
              </a:ext>
            </a:extLst>
          </p:cNvPr>
          <p:cNvSpPr>
            <a:spLocks noGrp="1"/>
          </p:cNvSpPr>
          <p:nvPr>
            <p:ph idx="1"/>
          </p:nvPr>
        </p:nvSpPr>
        <p:spPr/>
        <p:txBody>
          <a:bodyPr vert="horz" lIns="91440" tIns="45720" rIns="91440" bIns="45720" rtlCol="0" anchor="t">
            <a:normAutofit/>
          </a:bodyPr>
          <a:lstStyle/>
          <a:p>
            <a:r>
              <a:rPr lang="es-ES" dirty="0">
                <a:ea typeface="+mn-lt"/>
                <a:cs typeface="+mn-lt"/>
              </a:rPr>
              <a:t>Las pseudo-clases se utilizan para definir un estilo especial para un elemento cuando este está en un estado particular, o para seleccionar elementos basándose en su posición dentro de un grupo de elementos. A diferencia de las clases normales, no es necesario añadir un atributo en el HTML, ya que el navegador las reconoce automáticamente. Se escriben con un solo punto (:).</a:t>
            </a:r>
            <a:endParaRPr lang="es-ES" dirty="0"/>
          </a:p>
          <a:p>
            <a:pPr lvl="1">
              <a:buFont typeface="Courier New" panose="020B0604020202020204" pitchFamily="34" charset="0"/>
              <a:buChar char="o"/>
            </a:pPr>
            <a:r>
              <a:rPr lang="es-ES" dirty="0">
                <a:ea typeface="+mn-lt"/>
                <a:cs typeface="+mn-lt"/>
              </a:rPr>
              <a:t>:</a:t>
            </a:r>
            <a:r>
              <a:rPr lang="es-ES" dirty="0" err="1">
                <a:ea typeface="+mn-lt"/>
                <a:cs typeface="+mn-lt"/>
              </a:rPr>
              <a:t>hover</a:t>
            </a:r>
            <a:r>
              <a:rPr lang="es-ES" dirty="0">
                <a:ea typeface="+mn-lt"/>
                <a:cs typeface="+mn-lt"/>
              </a:rPr>
              <a:t>: Se activa cuando el usuario pasa el cursor por encima del elemento. Es una de las </a:t>
            </a:r>
            <a:r>
              <a:rPr lang="es-ES" dirty="0" err="1">
                <a:ea typeface="+mn-lt"/>
                <a:cs typeface="+mn-lt"/>
              </a:rPr>
              <a:t>pseudo-clases</a:t>
            </a:r>
            <a:r>
              <a:rPr lang="es-ES" dirty="0">
                <a:ea typeface="+mn-lt"/>
                <a:cs typeface="+mn-lt"/>
              </a:rPr>
              <a:t> más utilizadas para crear interactividad, como cambiar el color de un enlace o botón.</a:t>
            </a:r>
            <a:endParaRPr lang="es-ES" dirty="0"/>
          </a:p>
          <a:p>
            <a:pPr lvl="1">
              <a:buFont typeface="Courier New" panose="020B0604020202020204" pitchFamily="34" charset="0"/>
              <a:buChar char="o"/>
            </a:pPr>
            <a:r>
              <a:rPr lang="es-ES" dirty="0">
                <a:ea typeface="+mn-lt"/>
                <a:cs typeface="+mn-lt"/>
              </a:rPr>
              <a:t>:active: Se activa cuando un elemento está pulsado, activo o clicado.</a:t>
            </a:r>
            <a:endParaRPr lang="es-ES" dirty="0"/>
          </a:p>
          <a:p>
            <a:pPr lvl="1">
              <a:buFont typeface="Courier New" panose="020B0604020202020204" pitchFamily="34" charset="0"/>
              <a:buChar char="o"/>
            </a:pPr>
            <a:r>
              <a:rPr lang="es-ES" dirty="0">
                <a:ea typeface="+mn-lt"/>
                <a:cs typeface="+mn-lt"/>
              </a:rPr>
              <a:t>:focus: Se aplica a un elemento (generalmente un campo de formulario o un enlace) cuando recibe el foco del teclado o del ratón. Es crucial para la accesibilidad.</a:t>
            </a:r>
          </a:p>
          <a:p>
            <a:pPr lvl="1">
              <a:buFont typeface="Courier New" panose="020B0604020202020204" pitchFamily="34" charset="0"/>
              <a:buChar char="o"/>
            </a:pPr>
            <a:r>
              <a:rPr lang="es-ES" dirty="0">
                <a:ea typeface="+mn-lt"/>
                <a:cs typeface="+mn-lt"/>
              </a:rPr>
              <a:t>:link y :</a:t>
            </a:r>
            <a:r>
              <a:rPr lang="es-ES" dirty="0" err="1">
                <a:ea typeface="+mn-lt"/>
                <a:cs typeface="+mn-lt"/>
              </a:rPr>
              <a:t>visited</a:t>
            </a:r>
            <a:r>
              <a:rPr lang="es-ES" dirty="0">
                <a:ea typeface="+mn-lt"/>
                <a:cs typeface="+mn-lt"/>
              </a:rPr>
              <a:t>: Se usan para estilizar enlaces que aún no han sido visitados (:link) y aquellos que ya lo han sido (:</a:t>
            </a:r>
            <a:r>
              <a:rPr lang="es-ES" dirty="0" err="1">
                <a:ea typeface="+mn-lt"/>
                <a:cs typeface="+mn-lt"/>
              </a:rPr>
              <a:t>visited</a:t>
            </a:r>
            <a:r>
              <a:rPr lang="es-ES" dirty="0">
                <a:ea typeface="+mn-lt"/>
                <a:cs typeface="+mn-lt"/>
              </a:rPr>
              <a:t>).</a:t>
            </a:r>
            <a:endParaRPr lang="es-ES" dirty="0"/>
          </a:p>
          <a:p>
            <a:pPr lvl="1">
              <a:buFont typeface="Courier New" panose="020B0604020202020204" pitchFamily="34" charset="0"/>
              <a:buChar char="o"/>
            </a:pPr>
            <a:r>
              <a:rPr lang="es-ES" dirty="0">
                <a:ea typeface="+mn-lt"/>
                <a:cs typeface="+mn-lt"/>
              </a:rPr>
              <a:t>:</a:t>
            </a:r>
            <a:r>
              <a:rPr lang="es-ES" dirty="0" err="1">
                <a:ea typeface="+mn-lt"/>
                <a:cs typeface="+mn-lt"/>
              </a:rPr>
              <a:t>first-child</a:t>
            </a:r>
            <a:r>
              <a:rPr lang="es-ES" dirty="0">
                <a:ea typeface="+mn-lt"/>
                <a:cs typeface="+mn-lt"/>
              </a:rPr>
              <a:t> / :</a:t>
            </a:r>
            <a:r>
              <a:rPr lang="es-ES" dirty="0" err="1">
                <a:ea typeface="+mn-lt"/>
                <a:cs typeface="+mn-lt"/>
              </a:rPr>
              <a:t>last-child</a:t>
            </a:r>
            <a:r>
              <a:rPr lang="es-ES" dirty="0">
                <a:ea typeface="+mn-lt"/>
                <a:cs typeface="+mn-lt"/>
              </a:rPr>
              <a:t>: Seleccionan el primer o el último elemento de un grupo de hermanos.</a:t>
            </a:r>
            <a:endParaRPr lang="es-ES" dirty="0"/>
          </a:p>
        </p:txBody>
      </p:sp>
    </p:spTree>
    <p:extLst>
      <p:ext uri="{BB962C8B-B14F-4D97-AF65-F5344CB8AC3E}">
        <p14:creationId xmlns:p14="http://schemas.microsoft.com/office/powerpoint/2010/main" val="417526663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196806-3D76-A0E6-28A9-21CD4431553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0AB0764-BEC2-4AD5-B53A-6763102FD485}"/>
              </a:ext>
            </a:extLst>
          </p:cNvPr>
          <p:cNvSpPr>
            <a:spLocks noGrp="1"/>
          </p:cNvSpPr>
          <p:nvPr>
            <p:ph type="title"/>
          </p:nvPr>
        </p:nvSpPr>
        <p:spPr/>
        <p:txBody>
          <a:bodyPr/>
          <a:lstStyle/>
          <a:p>
            <a:r>
              <a:rPr lang="es-ES" b="0" dirty="0">
                <a:ea typeface="+mj-lt"/>
                <a:cs typeface="+mj-lt"/>
              </a:rPr>
              <a:t>2.2.3.2. Selectores de </a:t>
            </a:r>
            <a:r>
              <a:rPr lang="es-ES" b="0" dirty="0" err="1">
                <a:ea typeface="+mj-lt"/>
                <a:cs typeface="+mj-lt"/>
              </a:rPr>
              <a:t>pseudo-clase</a:t>
            </a:r>
            <a:r>
              <a:rPr lang="es-ES" b="0" dirty="0">
                <a:ea typeface="+mj-lt"/>
                <a:cs typeface="+mj-lt"/>
              </a:rPr>
              <a:t> (ej. :</a:t>
            </a:r>
            <a:r>
              <a:rPr lang="es-ES" b="0" dirty="0" err="1">
                <a:ea typeface="+mj-lt"/>
                <a:cs typeface="+mj-lt"/>
              </a:rPr>
              <a:t>hover</a:t>
            </a:r>
            <a:r>
              <a:rPr lang="es-ES" b="0" dirty="0">
                <a:ea typeface="+mj-lt"/>
                <a:cs typeface="+mj-lt"/>
              </a:rPr>
              <a:t>, :</a:t>
            </a:r>
            <a:r>
              <a:rPr lang="es-ES" b="0" dirty="0" err="1">
                <a:ea typeface="+mj-lt"/>
                <a:cs typeface="+mj-lt"/>
              </a:rPr>
              <a:t>focus</a:t>
            </a:r>
            <a:r>
              <a:rPr lang="es-ES" b="0" dirty="0">
                <a:ea typeface="+mj-lt"/>
                <a:cs typeface="+mj-lt"/>
              </a:rPr>
              <a:t>, :</a:t>
            </a:r>
            <a:r>
              <a:rPr lang="es-ES" b="0" dirty="0" err="1">
                <a:ea typeface="+mj-lt"/>
                <a:cs typeface="+mj-lt"/>
              </a:rPr>
              <a:t>nth-child</a:t>
            </a:r>
            <a:r>
              <a:rPr lang="es-ES" b="0" dirty="0">
                <a:ea typeface="+mj-lt"/>
                <a:cs typeface="+mj-lt"/>
              </a:rPr>
              <a:t>).</a:t>
            </a:r>
            <a:endParaRPr lang="es-ES" dirty="0"/>
          </a:p>
        </p:txBody>
      </p:sp>
      <p:sp>
        <p:nvSpPr>
          <p:cNvPr id="3" name="Marcador de contenido 2">
            <a:extLst>
              <a:ext uri="{FF2B5EF4-FFF2-40B4-BE49-F238E27FC236}">
                <a16:creationId xmlns:a16="http://schemas.microsoft.com/office/drawing/2014/main" id="{9B3EF4FA-8CC5-694F-8EE2-110EB4487975}"/>
              </a:ext>
            </a:extLst>
          </p:cNvPr>
          <p:cNvSpPr>
            <a:spLocks noGrp="1"/>
          </p:cNvSpPr>
          <p:nvPr>
            <p:ph idx="1"/>
          </p:nvPr>
        </p:nvSpPr>
        <p:spPr/>
        <p:txBody>
          <a:bodyPr vert="horz" lIns="91440" tIns="45720" rIns="91440" bIns="45720" rtlCol="0" anchor="t">
            <a:normAutofit fontScale="85000" lnSpcReduction="20000"/>
          </a:bodyPr>
          <a:lstStyle/>
          <a:p>
            <a:pPr lvl="1">
              <a:buFont typeface="Courier New" panose="020B0604020202020204" pitchFamily="34" charset="0"/>
              <a:buChar char="o"/>
            </a:pPr>
            <a:r>
              <a:rPr lang="es-ES" dirty="0">
                <a:ea typeface="+mn-lt"/>
                <a:cs typeface="+mn-lt"/>
              </a:rPr>
              <a:t>:</a:t>
            </a:r>
            <a:r>
              <a:rPr lang="es-ES" dirty="0" err="1">
                <a:ea typeface="+mn-lt"/>
                <a:cs typeface="+mn-lt"/>
              </a:rPr>
              <a:t>nth-child</a:t>
            </a:r>
            <a:r>
              <a:rPr lang="es-ES" dirty="0">
                <a:ea typeface="+mn-lt"/>
                <a:cs typeface="+mn-lt"/>
              </a:rPr>
              <a:t>(n): Selecciona un elemento que es el enésimo hijo de su padre. n puede ser:</a:t>
            </a:r>
            <a:endParaRPr lang="es-ES" dirty="0"/>
          </a:p>
          <a:p>
            <a:pPr lvl="2">
              <a:buFont typeface="Wingdings" panose="020B0604020202020204" pitchFamily="34" charset="0"/>
              <a:buChar char="§"/>
            </a:pPr>
            <a:r>
              <a:rPr lang="es-ES" dirty="0">
                <a:ea typeface="+mn-lt"/>
                <a:cs typeface="+mn-lt"/>
              </a:rPr>
              <a:t>Un número (ej. </a:t>
            </a:r>
            <a:r>
              <a:rPr lang="es-ES" dirty="0" err="1">
                <a:ea typeface="+mn-lt"/>
                <a:cs typeface="+mn-lt"/>
              </a:rPr>
              <a:t>li:nth-child</a:t>
            </a:r>
            <a:r>
              <a:rPr lang="es-ES" dirty="0">
                <a:ea typeface="+mn-lt"/>
                <a:cs typeface="+mn-lt"/>
              </a:rPr>
              <a:t>(3) para el tercer elemento).</a:t>
            </a:r>
            <a:endParaRPr lang="es-ES" dirty="0"/>
          </a:p>
          <a:p>
            <a:pPr lvl="2">
              <a:buFont typeface="Wingdings" panose="020B0604020202020204" pitchFamily="34" charset="0"/>
              <a:buChar char="§"/>
            </a:pPr>
            <a:r>
              <a:rPr lang="es-ES" dirty="0">
                <a:ea typeface="+mn-lt"/>
                <a:cs typeface="+mn-lt"/>
              </a:rPr>
              <a:t>Una palabra clave (ej. </a:t>
            </a:r>
            <a:r>
              <a:rPr lang="es-ES" dirty="0" err="1">
                <a:ea typeface="+mn-lt"/>
                <a:cs typeface="+mn-lt"/>
              </a:rPr>
              <a:t>li:nth-child</a:t>
            </a:r>
            <a:r>
              <a:rPr lang="es-ES" dirty="0">
                <a:ea typeface="+mn-lt"/>
                <a:cs typeface="+mn-lt"/>
              </a:rPr>
              <a:t>(</a:t>
            </a:r>
            <a:r>
              <a:rPr lang="es-ES" dirty="0" err="1">
                <a:ea typeface="+mn-lt"/>
                <a:cs typeface="+mn-lt"/>
              </a:rPr>
              <a:t>even</a:t>
            </a:r>
            <a:r>
              <a:rPr lang="es-ES" dirty="0">
                <a:ea typeface="+mn-lt"/>
                <a:cs typeface="+mn-lt"/>
              </a:rPr>
              <a:t>) para los elementos pares, o </a:t>
            </a:r>
            <a:r>
              <a:rPr lang="es-ES" dirty="0" err="1">
                <a:ea typeface="+mn-lt"/>
                <a:cs typeface="+mn-lt"/>
              </a:rPr>
              <a:t>li:nth-child</a:t>
            </a:r>
            <a:r>
              <a:rPr lang="es-ES" dirty="0">
                <a:ea typeface="+mn-lt"/>
                <a:cs typeface="+mn-lt"/>
              </a:rPr>
              <a:t>(</a:t>
            </a:r>
            <a:r>
              <a:rPr lang="es-ES" dirty="0" err="1">
                <a:ea typeface="+mn-lt"/>
                <a:cs typeface="+mn-lt"/>
              </a:rPr>
              <a:t>odd</a:t>
            </a:r>
            <a:r>
              <a:rPr lang="es-ES" dirty="0">
                <a:ea typeface="+mn-lt"/>
                <a:cs typeface="+mn-lt"/>
              </a:rPr>
              <a:t>) para los impares).</a:t>
            </a:r>
            <a:endParaRPr lang="es-ES" dirty="0"/>
          </a:p>
          <a:p>
            <a:pPr lvl="2">
              <a:buFont typeface="Wingdings" panose="020B0604020202020204" pitchFamily="34" charset="0"/>
              <a:buChar char="§"/>
            </a:pPr>
            <a:r>
              <a:rPr lang="es-ES" dirty="0">
                <a:ea typeface="+mn-lt"/>
                <a:cs typeface="+mn-lt"/>
              </a:rPr>
              <a:t>Una expresión matemática (ej. </a:t>
            </a:r>
            <a:r>
              <a:rPr lang="es-ES" dirty="0" err="1">
                <a:ea typeface="+mn-lt"/>
                <a:cs typeface="+mn-lt"/>
              </a:rPr>
              <a:t>li:nth-child</a:t>
            </a:r>
            <a:r>
              <a:rPr lang="es-ES" dirty="0">
                <a:ea typeface="+mn-lt"/>
                <a:cs typeface="+mn-lt"/>
              </a:rPr>
              <a:t>(2n) para todos los elementos pares, o </a:t>
            </a:r>
            <a:r>
              <a:rPr lang="es-ES" dirty="0" err="1">
                <a:ea typeface="+mn-lt"/>
                <a:cs typeface="+mn-lt"/>
              </a:rPr>
              <a:t>li:nth-child</a:t>
            </a:r>
            <a:r>
              <a:rPr lang="es-ES" dirty="0">
                <a:ea typeface="+mn-lt"/>
                <a:cs typeface="+mn-lt"/>
              </a:rPr>
              <a:t>(3n+1) para seleccionar el 1º, 4º, 7º, etc.).</a:t>
            </a:r>
            <a:endParaRPr lang="es-ES" dirty="0"/>
          </a:p>
          <a:p>
            <a:pPr lvl="1">
              <a:buFont typeface="Courier New" panose="020B0604020202020204" pitchFamily="34" charset="0"/>
              <a:buChar char="o"/>
            </a:pPr>
            <a:r>
              <a:rPr lang="es-ES" dirty="0">
                <a:ea typeface="+mn-lt"/>
                <a:cs typeface="+mn-lt"/>
              </a:rPr>
              <a:t>:</a:t>
            </a:r>
            <a:r>
              <a:rPr lang="es-ES" dirty="0" err="1">
                <a:ea typeface="+mn-lt"/>
                <a:cs typeface="+mn-lt"/>
              </a:rPr>
              <a:t>not</a:t>
            </a:r>
            <a:r>
              <a:rPr lang="es-ES" dirty="0">
                <a:ea typeface="+mn-lt"/>
                <a:cs typeface="+mn-lt"/>
              </a:rPr>
              <a:t>(selector): Selecciona todos los elementos que no coinciden con el selector especificado entre paréntesis.</a:t>
            </a:r>
          </a:p>
          <a:p>
            <a:r>
              <a:rPr lang="es-ES" dirty="0">
                <a:ea typeface="+mn-lt"/>
                <a:cs typeface="+mn-lt"/>
              </a:rPr>
              <a:t>Ejemplo: Estilizar enlaces para que cambien de color al pasar el ratón por encima y cuando son visitados.</a:t>
            </a:r>
          </a:p>
          <a:p>
            <a:pPr marL="0" indent="0">
              <a:buNone/>
            </a:pPr>
            <a:r>
              <a:rPr lang="es-ES" b="1" dirty="0" err="1">
                <a:latin typeface="Courier New"/>
                <a:ea typeface="+mn-lt"/>
                <a:cs typeface="+mn-lt"/>
              </a:rPr>
              <a:t>a:link</a:t>
            </a: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color: #007bff; /* Color para enlaces no visitados */</a:t>
            </a:r>
            <a:br>
              <a:rPr lang="es-ES" b="1" dirty="0">
                <a:latin typeface="Courier New"/>
                <a:ea typeface="+mn-lt"/>
                <a:cs typeface="+mn-lt"/>
              </a:rPr>
            </a:br>
            <a:r>
              <a:rPr lang="es-ES" b="1" dirty="0">
                <a:latin typeface="Courier New"/>
                <a:ea typeface="+mn-lt"/>
                <a:cs typeface="+mn-lt"/>
              </a:rPr>
              <a:t>}</a:t>
            </a:r>
            <a:br>
              <a:rPr lang="es-ES" b="1" dirty="0">
                <a:latin typeface="Courier New"/>
                <a:ea typeface="+mn-lt"/>
                <a:cs typeface="+mn-lt"/>
              </a:rPr>
            </a:br>
            <a:r>
              <a:rPr lang="es-ES" b="1" dirty="0" err="1">
                <a:latin typeface="Courier New"/>
                <a:ea typeface="+mn-lt"/>
                <a:cs typeface="+mn-lt"/>
              </a:rPr>
              <a:t>a:visited</a:t>
            </a: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color: #6c757d; /* Color para enlaces visitados */</a:t>
            </a:r>
            <a:br>
              <a:rPr lang="es-ES" b="1" dirty="0">
                <a:latin typeface="Courier New"/>
                <a:ea typeface="+mn-lt"/>
                <a:cs typeface="+mn-lt"/>
              </a:rPr>
            </a:br>
            <a:r>
              <a:rPr lang="es-ES" b="1" dirty="0">
                <a:latin typeface="Courier New"/>
                <a:ea typeface="+mn-lt"/>
                <a:cs typeface="+mn-lt"/>
              </a:rPr>
              <a:t>}</a:t>
            </a:r>
            <a:br>
              <a:rPr lang="es-ES" b="1" dirty="0">
                <a:latin typeface="Courier New"/>
                <a:ea typeface="+mn-lt"/>
                <a:cs typeface="+mn-lt"/>
              </a:rPr>
            </a:br>
            <a:r>
              <a:rPr lang="es-ES" b="1" dirty="0" err="1">
                <a:latin typeface="Courier New"/>
                <a:ea typeface="+mn-lt"/>
                <a:cs typeface="+mn-lt"/>
              </a:rPr>
              <a:t>a:hover</a:t>
            </a: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color: #28a745; /* Cambia a verde al pasar el ratón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text-decoration</a:t>
            </a:r>
            <a:r>
              <a:rPr lang="es-ES" b="1" dirty="0">
                <a:latin typeface="Courier New"/>
                <a:ea typeface="+mn-lt"/>
                <a:cs typeface="+mn-lt"/>
              </a:rPr>
              <a:t>: </a:t>
            </a:r>
            <a:r>
              <a:rPr lang="es-ES" b="1" dirty="0" err="1">
                <a:latin typeface="Courier New"/>
                <a:ea typeface="+mn-lt"/>
                <a:cs typeface="+mn-lt"/>
              </a:rPr>
              <a:t>underline</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a:t>
            </a:r>
            <a:endParaRPr lang="es-ES" b="1" dirty="0">
              <a:latin typeface="Courier New"/>
              <a:cs typeface="Courier New"/>
            </a:endParaRPr>
          </a:p>
          <a:p>
            <a:endParaRPr lang="es-ES" dirty="0"/>
          </a:p>
        </p:txBody>
      </p:sp>
    </p:spTree>
    <p:extLst>
      <p:ext uri="{BB962C8B-B14F-4D97-AF65-F5344CB8AC3E}">
        <p14:creationId xmlns:p14="http://schemas.microsoft.com/office/powerpoint/2010/main" val="371555553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79B3BE-DFC8-ABFE-5D4A-CC59197E596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F05AA24-441C-2D6A-DD54-ECD8117C0753}"/>
              </a:ext>
            </a:extLst>
          </p:cNvPr>
          <p:cNvSpPr>
            <a:spLocks noGrp="1"/>
          </p:cNvSpPr>
          <p:nvPr>
            <p:ph type="title"/>
          </p:nvPr>
        </p:nvSpPr>
        <p:spPr/>
        <p:txBody>
          <a:bodyPr/>
          <a:lstStyle/>
          <a:p>
            <a:r>
              <a:rPr lang="es-ES" b="0" dirty="0">
                <a:ea typeface="+mj-lt"/>
                <a:cs typeface="+mj-lt"/>
              </a:rPr>
              <a:t>2.2.3.2. Selectores de </a:t>
            </a:r>
            <a:r>
              <a:rPr lang="es-ES" b="0" dirty="0" err="1">
                <a:ea typeface="+mj-lt"/>
                <a:cs typeface="+mj-lt"/>
              </a:rPr>
              <a:t>pseudo-clase</a:t>
            </a:r>
            <a:r>
              <a:rPr lang="es-ES" b="0" dirty="0">
                <a:ea typeface="+mj-lt"/>
                <a:cs typeface="+mj-lt"/>
              </a:rPr>
              <a:t> (ej. :</a:t>
            </a:r>
            <a:r>
              <a:rPr lang="es-ES" b="0" dirty="0" err="1">
                <a:ea typeface="+mj-lt"/>
                <a:cs typeface="+mj-lt"/>
              </a:rPr>
              <a:t>hover</a:t>
            </a:r>
            <a:r>
              <a:rPr lang="es-ES" b="0" dirty="0">
                <a:ea typeface="+mj-lt"/>
                <a:cs typeface="+mj-lt"/>
              </a:rPr>
              <a:t>, :</a:t>
            </a:r>
            <a:r>
              <a:rPr lang="es-ES" b="0" dirty="0" err="1">
                <a:ea typeface="+mj-lt"/>
                <a:cs typeface="+mj-lt"/>
              </a:rPr>
              <a:t>focus</a:t>
            </a:r>
            <a:r>
              <a:rPr lang="es-ES" b="0" dirty="0">
                <a:ea typeface="+mj-lt"/>
                <a:cs typeface="+mj-lt"/>
              </a:rPr>
              <a:t>, :</a:t>
            </a:r>
            <a:r>
              <a:rPr lang="es-ES" b="0" dirty="0" err="1">
                <a:ea typeface="+mj-lt"/>
                <a:cs typeface="+mj-lt"/>
              </a:rPr>
              <a:t>nth-child</a:t>
            </a:r>
            <a:r>
              <a:rPr lang="es-ES" b="0" dirty="0">
                <a:ea typeface="+mj-lt"/>
                <a:cs typeface="+mj-lt"/>
              </a:rPr>
              <a:t>).</a:t>
            </a:r>
            <a:endParaRPr lang="es-ES" dirty="0"/>
          </a:p>
        </p:txBody>
      </p:sp>
      <p:sp>
        <p:nvSpPr>
          <p:cNvPr id="3" name="Marcador de contenido 2">
            <a:extLst>
              <a:ext uri="{FF2B5EF4-FFF2-40B4-BE49-F238E27FC236}">
                <a16:creationId xmlns:a16="http://schemas.microsoft.com/office/drawing/2014/main" id="{CFFF7B0C-E457-42D3-7F78-C525B56A684F}"/>
              </a:ext>
            </a:extLst>
          </p:cNvPr>
          <p:cNvSpPr>
            <a:spLocks noGrp="1"/>
          </p:cNvSpPr>
          <p:nvPr>
            <p:ph idx="1"/>
          </p:nvPr>
        </p:nvSpPr>
        <p:spPr/>
        <p:txBody>
          <a:bodyPr vert="horz" lIns="91440" tIns="45720" rIns="91440" bIns="45720" rtlCol="0" anchor="t">
            <a:normAutofit fontScale="62500" lnSpcReduction="20000"/>
          </a:bodyPr>
          <a:lstStyle/>
          <a:p>
            <a:r>
              <a:rPr lang="es-ES" dirty="0">
                <a:ea typeface="+mn-lt"/>
                <a:cs typeface="+mn-lt"/>
              </a:rPr>
              <a:t>Ejemplo: Crear un efecto de cebra para una tabla o una lista y estilizar un botón cuando está presionado.</a:t>
            </a:r>
          </a:p>
          <a:p>
            <a:pPr marL="0" indent="0">
              <a:buNone/>
            </a:pPr>
            <a:r>
              <a:rPr lang="es-ES" b="1" dirty="0">
                <a:latin typeface="Courier New"/>
                <a:ea typeface="+mn-lt"/>
                <a:cs typeface="+mn-lt"/>
              </a:rPr>
              <a:t>&lt;</a:t>
            </a:r>
            <a:r>
              <a:rPr lang="es-ES" b="1" dirty="0" err="1">
                <a:latin typeface="Courier New"/>
                <a:ea typeface="+mn-lt"/>
                <a:cs typeface="+mn-lt"/>
              </a:rPr>
              <a:t>ul</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li</a:t>
            </a:r>
            <a:r>
              <a:rPr lang="es-ES" b="1" dirty="0">
                <a:latin typeface="Courier New"/>
                <a:ea typeface="+mn-lt"/>
                <a:cs typeface="+mn-lt"/>
              </a:rPr>
              <a:t>&gt;Primer elemento&lt;/</a:t>
            </a:r>
            <a:r>
              <a:rPr lang="es-ES" b="1" dirty="0" err="1">
                <a:latin typeface="Courier New"/>
                <a:ea typeface="+mn-lt"/>
                <a:cs typeface="+mn-lt"/>
              </a:rPr>
              <a:t>li</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li</a:t>
            </a:r>
            <a:r>
              <a:rPr lang="es-ES" b="1" dirty="0">
                <a:latin typeface="Courier New"/>
                <a:ea typeface="+mn-lt"/>
                <a:cs typeface="+mn-lt"/>
              </a:rPr>
              <a:t>&gt;Segundo elemento&lt;/</a:t>
            </a:r>
            <a:r>
              <a:rPr lang="es-ES" b="1" dirty="0" err="1">
                <a:latin typeface="Courier New"/>
                <a:ea typeface="+mn-lt"/>
                <a:cs typeface="+mn-lt"/>
              </a:rPr>
              <a:t>li</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li</a:t>
            </a:r>
            <a:r>
              <a:rPr lang="es-ES" b="1" dirty="0">
                <a:latin typeface="Courier New"/>
                <a:ea typeface="+mn-lt"/>
                <a:cs typeface="+mn-lt"/>
              </a:rPr>
              <a:t>&gt;Tercer elemento&lt;/</a:t>
            </a:r>
            <a:r>
              <a:rPr lang="es-ES" b="1" dirty="0" err="1">
                <a:latin typeface="Courier New"/>
                <a:ea typeface="+mn-lt"/>
                <a:cs typeface="+mn-lt"/>
              </a:rPr>
              <a:t>li</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li</a:t>
            </a:r>
            <a:r>
              <a:rPr lang="es-ES" b="1" dirty="0">
                <a:latin typeface="Courier New"/>
                <a:ea typeface="+mn-lt"/>
                <a:cs typeface="+mn-lt"/>
              </a:rPr>
              <a:t>&gt;Cuarto elemento&lt;/</a:t>
            </a:r>
            <a:r>
              <a:rPr lang="es-ES" b="1" dirty="0" err="1">
                <a:latin typeface="Courier New"/>
                <a:ea typeface="+mn-lt"/>
                <a:cs typeface="+mn-lt"/>
              </a:rPr>
              <a:t>li</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&lt;/</a:t>
            </a:r>
            <a:r>
              <a:rPr lang="es-ES" b="1" dirty="0" err="1">
                <a:latin typeface="Courier New"/>
                <a:ea typeface="+mn-lt"/>
                <a:cs typeface="+mn-lt"/>
              </a:rPr>
              <a:t>ul</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&lt;</a:t>
            </a:r>
            <a:r>
              <a:rPr lang="es-ES" b="1" dirty="0" err="1">
                <a:latin typeface="Courier New"/>
                <a:ea typeface="+mn-lt"/>
                <a:cs typeface="+mn-lt"/>
              </a:rPr>
              <a:t>button</a:t>
            </a:r>
            <a:r>
              <a:rPr lang="es-ES" b="1" dirty="0">
                <a:latin typeface="Courier New"/>
                <a:ea typeface="+mn-lt"/>
                <a:cs typeface="+mn-lt"/>
              </a:rPr>
              <a:t> </a:t>
            </a:r>
            <a:r>
              <a:rPr lang="es-ES" b="1" dirty="0" err="1">
                <a:latin typeface="Courier New"/>
                <a:ea typeface="+mn-lt"/>
                <a:cs typeface="+mn-lt"/>
              </a:rPr>
              <a:t>class</a:t>
            </a:r>
            <a:r>
              <a:rPr lang="es-ES" b="1" dirty="0">
                <a:latin typeface="Courier New"/>
                <a:ea typeface="+mn-lt"/>
                <a:cs typeface="+mn-lt"/>
              </a:rPr>
              <a:t>="</a:t>
            </a:r>
            <a:r>
              <a:rPr lang="es-ES" b="1" dirty="0" err="1">
                <a:latin typeface="Courier New"/>
                <a:ea typeface="+mn-lt"/>
                <a:cs typeface="+mn-lt"/>
              </a:rPr>
              <a:t>btn</a:t>
            </a:r>
            <a:r>
              <a:rPr lang="es-ES" b="1" dirty="0">
                <a:latin typeface="Courier New"/>
                <a:ea typeface="+mn-lt"/>
                <a:cs typeface="+mn-lt"/>
              </a:rPr>
              <a:t>"&gt;</a:t>
            </a:r>
            <a:r>
              <a:rPr lang="es-ES" b="1" dirty="0" err="1">
                <a:latin typeface="Courier New"/>
                <a:ea typeface="+mn-lt"/>
                <a:cs typeface="+mn-lt"/>
              </a:rPr>
              <a:t>Click</a:t>
            </a:r>
            <a:r>
              <a:rPr lang="es-ES" b="1" dirty="0">
                <a:latin typeface="Courier New"/>
                <a:ea typeface="+mn-lt"/>
                <a:cs typeface="+mn-lt"/>
              </a:rPr>
              <a:t> me!&lt;/</a:t>
            </a:r>
            <a:r>
              <a:rPr lang="es-ES" b="1" dirty="0" err="1">
                <a:latin typeface="Courier New"/>
                <a:ea typeface="+mn-lt"/>
                <a:cs typeface="+mn-lt"/>
              </a:rPr>
              <a:t>button</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Color de fondo para elementos impares de la lista */</a:t>
            </a:r>
            <a:br>
              <a:rPr lang="es-ES" b="1" dirty="0">
                <a:latin typeface="Courier New"/>
                <a:ea typeface="+mn-lt"/>
                <a:cs typeface="+mn-lt"/>
              </a:rPr>
            </a:br>
            <a:r>
              <a:rPr lang="es-ES" b="1" dirty="0" err="1">
                <a:latin typeface="Courier New"/>
                <a:ea typeface="+mn-lt"/>
                <a:cs typeface="+mn-lt"/>
              </a:rPr>
              <a:t>li:nth-child</a:t>
            </a:r>
            <a:r>
              <a:rPr lang="es-ES" b="1" dirty="0">
                <a:latin typeface="Courier New"/>
                <a:ea typeface="+mn-lt"/>
                <a:cs typeface="+mn-lt"/>
              </a:rPr>
              <a:t>(</a:t>
            </a:r>
            <a:r>
              <a:rPr lang="es-ES" b="1" dirty="0" err="1">
                <a:latin typeface="Courier New"/>
                <a:ea typeface="+mn-lt"/>
                <a:cs typeface="+mn-lt"/>
              </a:rPr>
              <a:t>odd</a:t>
            </a: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background</a:t>
            </a:r>
            <a:r>
              <a:rPr lang="es-ES" b="1" dirty="0">
                <a:latin typeface="Courier New"/>
                <a:ea typeface="+mn-lt"/>
                <a:cs typeface="+mn-lt"/>
              </a:rPr>
              <a:t>-color: #f8f9fa;</a:t>
            </a:r>
            <a:br>
              <a:rPr lang="es-ES" b="1" dirty="0">
                <a:latin typeface="Courier New"/>
                <a:ea typeface="+mn-lt"/>
                <a:cs typeface="+mn-lt"/>
              </a:rPr>
            </a:b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 Color de fondo para elementos pares de la lista */</a:t>
            </a:r>
            <a:br>
              <a:rPr lang="es-ES" b="1" dirty="0">
                <a:latin typeface="Courier New"/>
                <a:ea typeface="+mn-lt"/>
                <a:cs typeface="+mn-lt"/>
              </a:rPr>
            </a:br>
            <a:r>
              <a:rPr lang="es-ES" b="1" dirty="0" err="1">
                <a:latin typeface="Courier New"/>
                <a:ea typeface="+mn-lt"/>
                <a:cs typeface="+mn-lt"/>
              </a:rPr>
              <a:t>li:nth-child</a:t>
            </a:r>
            <a:r>
              <a:rPr lang="es-ES" b="1" dirty="0">
                <a:latin typeface="Courier New"/>
                <a:ea typeface="+mn-lt"/>
                <a:cs typeface="+mn-lt"/>
              </a:rPr>
              <a:t>(</a:t>
            </a:r>
            <a:r>
              <a:rPr lang="es-ES" b="1" dirty="0" err="1">
                <a:latin typeface="Courier New"/>
                <a:ea typeface="+mn-lt"/>
                <a:cs typeface="+mn-lt"/>
              </a:rPr>
              <a:t>even</a:t>
            </a: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background</a:t>
            </a:r>
            <a:r>
              <a:rPr lang="es-ES" b="1" dirty="0">
                <a:latin typeface="Courier New"/>
                <a:ea typeface="+mn-lt"/>
                <a:cs typeface="+mn-lt"/>
              </a:rPr>
              <a:t>-color: #e9ecef;</a:t>
            </a:r>
            <a:br>
              <a:rPr lang="es-ES" b="1" dirty="0">
                <a:latin typeface="Courier New"/>
                <a:ea typeface="+mn-lt"/>
                <a:cs typeface="+mn-lt"/>
              </a:rPr>
            </a:b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 Estilo para el botón al ser clicado */</a:t>
            </a:r>
            <a:br>
              <a:rPr lang="es-ES" b="1" dirty="0">
                <a:latin typeface="Courier New"/>
                <a:ea typeface="+mn-lt"/>
                <a:cs typeface="+mn-lt"/>
              </a:rPr>
            </a:br>
            <a:r>
              <a:rPr lang="es-ES" b="1" dirty="0">
                <a:latin typeface="Courier New"/>
                <a:ea typeface="+mn-lt"/>
                <a:cs typeface="+mn-lt"/>
              </a:rPr>
              <a:t>.</a:t>
            </a:r>
            <a:r>
              <a:rPr lang="es-ES" b="1" dirty="0" err="1">
                <a:latin typeface="Courier New"/>
                <a:ea typeface="+mn-lt"/>
                <a:cs typeface="+mn-lt"/>
              </a:rPr>
              <a:t>btn:active</a:t>
            </a: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background</a:t>
            </a:r>
            <a:r>
              <a:rPr lang="es-ES" b="1" dirty="0">
                <a:latin typeface="Courier New"/>
                <a:ea typeface="+mn-lt"/>
                <a:cs typeface="+mn-lt"/>
              </a:rPr>
              <a:t>-color: #0056b3;</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transform</a:t>
            </a:r>
            <a:r>
              <a:rPr lang="es-ES" b="1" dirty="0">
                <a:latin typeface="Courier New"/>
                <a:ea typeface="+mn-lt"/>
                <a:cs typeface="+mn-lt"/>
              </a:rPr>
              <a:t>: </a:t>
            </a:r>
            <a:r>
              <a:rPr lang="es-ES" b="1" dirty="0" err="1">
                <a:latin typeface="Courier New"/>
                <a:ea typeface="+mn-lt"/>
                <a:cs typeface="+mn-lt"/>
              </a:rPr>
              <a:t>translateY</a:t>
            </a:r>
            <a:r>
              <a:rPr lang="es-ES" b="1" dirty="0">
                <a:latin typeface="Courier New"/>
                <a:ea typeface="+mn-lt"/>
                <a:cs typeface="+mn-lt"/>
              </a:rPr>
              <a:t>(2px); /* Mueve el botón 2px hacia abajo para simular el </a:t>
            </a:r>
            <a:r>
              <a:rPr lang="es-ES" b="1" dirty="0" err="1">
                <a:latin typeface="Courier New"/>
                <a:ea typeface="+mn-lt"/>
                <a:cs typeface="+mn-lt"/>
              </a:rPr>
              <a:t>click</a:t>
            </a: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a:t>
            </a:r>
          </a:p>
          <a:p>
            <a:pPr lvl="1">
              <a:buFont typeface="Courier New" panose="020B0604020202020204" pitchFamily="34" charset="0"/>
              <a:buChar char="o"/>
            </a:pPr>
            <a:endParaRPr lang="es-ES" dirty="0"/>
          </a:p>
        </p:txBody>
      </p:sp>
    </p:spTree>
    <p:extLst>
      <p:ext uri="{BB962C8B-B14F-4D97-AF65-F5344CB8AC3E}">
        <p14:creationId xmlns:p14="http://schemas.microsoft.com/office/powerpoint/2010/main" val="146114911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0D8C83-1380-6B68-8C4E-C14C6DD8911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29EFEA9-02F0-B747-52FB-B1DA8DA12FA1}"/>
              </a:ext>
            </a:extLst>
          </p:cNvPr>
          <p:cNvSpPr>
            <a:spLocks noGrp="1"/>
          </p:cNvSpPr>
          <p:nvPr>
            <p:ph type="title"/>
          </p:nvPr>
        </p:nvSpPr>
        <p:spPr/>
        <p:txBody>
          <a:bodyPr/>
          <a:lstStyle/>
          <a:p>
            <a:r>
              <a:rPr lang="es-ES" b="0" dirty="0">
                <a:ea typeface="+mj-lt"/>
                <a:cs typeface="+mj-lt"/>
              </a:rPr>
              <a:t>2.2.3.3. Selectores de </a:t>
            </a:r>
            <a:r>
              <a:rPr lang="es-ES" b="0" dirty="0" err="1">
                <a:ea typeface="+mj-lt"/>
                <a:cs typeface="+mj-lt"/>
              </a:rPr>
              <a:t>pseudo-elemento</a:t>
            </a:r>
            <a:r>
              <a:rPr lang="es-ES" b="0" dirty="0">
                <a:ea typeface="+mj-lt"/>
                <a:cs typeface="+mj-lt"/>
              </a:rPr>
              <a:t> (ej. ::</a:t>
            </a:r>
            <a:r>
              <a:rPr lang="es-ES" b="0" dirty="0" err="1">
                <a:ea typeface="+mj-lt"/>
                <a:cs typeface="+mj-lt"/>
              </a:rPr>
              <a:t>before</a:t>
            </a:r>
            <a:r>
              <a:rPr lang="es-ES" b="0" dirty="0">
                <a:ea typeface="+mj-lt"/>
                <a:cs typeface="+mj-lt"/>
              </a:rPr>
              <a:t>, ::after).</a:t>
            </a:r>
            <a:endParaRPr lang="es-ES" dirty="0"/>
          </a:p>
        </p:txBody>
      </p:sp>
      <p:sp>
        <p:nvSpPr>
          <p:cNvPr id="3" name="Marcador de contenido 2">
            <a:extLst>
              <a:ext uri="{FF2B5EF4-FFF2-40B4-BE49-F238E27FC236}">
                <a16:creationId xmlns:a16="http://schemas.microsoft.com/office/drawing/2014/main" id="{58FEF51B-BDD1-9551-8E21-3A5F500B1071}"/>
              </a:ext>
            </a:extLst>
          </p:cNvPr>
          <p:cNvSpPr>
            <a:spLocks noGrp="1"/>
          </p:cNvSpPr>
          <p:nvPr>
            <p:ph idx="1"/>
          </p:nvPr>
        </p:nvSpPr>
        <p:spPr/>
        <p:txBody>
          <a:bodyPr vert="horz" lIns="91440" tIns="45720" rIns="91440" bIns="45720" rtlCol="0" anchor="t">
            <a:normAutofit lnSpcReduction="10000"/>
          </a:bodyPr>
          <a:lstStyle/>
          <a:p>
            <a:r>
              <a:rPr lang="es-ES" dirty="0">
                <a:ea typeface="+mn-lt"/>
                <a:cs typeface="+mn-lt"/>
              </a:rPr>
              <a:t>Los </a:t>
            </a:r>
            <a:r>
              <a:rPr lang="es-ES" dirty="0" err="1">
                <a:ea typeface="+mn-lt"/>
                <a:cs typeface="+mn-lt"/>
              </a:rPr>
              <a:t>pseudo-elementos</a:t>
            </a:r>
            <a:r>
              <a:rPr lang="es-ES" dirty="0">
                <a:ea typeface="+mn-lt"/>
                <a:cs typeface="+mn-lt"/>
              </a:rPr>
              <a:t> te permiten estilizar partes de un elemento o insertar contenido generado por CSS en el documento, sin necesidad de modificar el HTML. A diferencia de las </a:t>
            </a:r>
            <a:r>
              <a:rPr lang="es-ES" dirty="0" err="1">
                <a:ea typeface="+mn-lt"/>
                <a:cs typeface="+mn-lt"/>
              </a:rPr>
              <a:t>pseudo-clases</a:t>
            </a:r>
            <a:r>
              <a:rPr lang="es-ES" dirty="0">
                <a:ea typeface="+mn-lt"/>
                <a:cs typeface="+mn-lt"/>
              </a:rPr>
              <a:t>, que definen un estado, los </a:t>
            </a:r>
            <a:r>
              <a:rPr lang="es-ES" dirty="0" err="1">
                <a:ea typeface="+mn-lt"/>
                <a:cs typeface="+mn-lt"/>
              </a:rPr>
              <a:t>pseudo-elementos</a:t>
            </a:r>
            <a:r>
              <a:rPr lang="es-ES" dirty="0">
                <a:ea typeface="+mn-lt"/>
                <a:cs typeface="+mn-lt"/>
              </a:rPr>
              <a:t> se refieren a una parte específica del elemento. Se escriben con dos puntos dobles (::) para diferenciarlos de las </a:t>
            </a:r>
            <a:r>
              <a:rPr lang="es-ES" dirty="0" err="1">
                <a:ea typeface="+mn-lt"/>
                <a:cs typeface="+mn-lt"/>
              </a:rPr>
              <a:t>pseudo-clases</a:t>
            </a:r>
            <a:r>
              <a:rPr lang="es-ES" dirty="0">
                <a:ea typeface="+mn-lt"/>
                <a:cs typeface="+mn-lt"/>
              </a:rPr>
              <a:t>, aunque los navegadores antiguos también los aceptan con un solo punto.</a:t>
            </a:r>
            <a:endParaRPr lang="es-ES" dirty="0"/>
          </a:p>
          <a:p>
            <a:r>
              <a:rPr lang="es-ES" b="1" dirty="0">
                <a:latin typeface="Courier New"/>
                <a:ea typeface="+mn-lt"/>
                <a:cs typeface="+mn-lt"/>
              </a:rPr>
              <a:t>::</a:t>
            </a:r>
            <a:r>
              <a:rPr lang="es-ES" b="1" dirty="0" err="1">
                <a:latin typeface="Courier New"/>
                <a:ea typeface="+mn-lt"/>
                <a:cs typeface="+mn-lt"/>
              </a:rPr>
              <a:t>before</a:t>
            </a:r>
            <a:r>
              <a:rPr lang="es-ES" dirty="0">
                <a:ea typeface="+mn-lt"/>
                <a:cs typeface="+mn-lt"/>
              </a:rPr>
              <a:t> y </a:t>
            </a:r>
            <a:r>
              <a:rPr lang="es-ES" b="1" dirty="0">
                <a:latin typeface="Courier New"/>
                <a:ea typeface="+mn-lt"/>
                <a:cs typeface="+mn-lt"/>
              </a:rPr>
              <a:t>::after</a:t>
            </a:r>
            <a:endParaRPr lang="es-ES" b="1">
              <a:latin typeface="Courier New"/>
              <a:cs typeface="Courier New"/>
            </a:endParaRPr>
          </a:p>
          <a:p>
            <a:r>
              <a:rPr lang="es-ES" dirty="0">
                <a:ea typeface="+mn-lt"/>
                <a:cs typeface="+mn-lt"/>
              </a:rPr>
              <a:t>Estos son los </a:t>
            </a:r>
            <a:r>
              <a:rPr lang="es-ES" dirty="0" err="1">
                <a:ea typeface="+mn-lt"/>
                <a:cs typeface="+mn-lt"/>
              </a:rPr>
              <a:t>pseudo-elementos</a:t>
            </a:r>
            <a:r>
              <a:rPr lang="es-ES" dirty="0">
                <a:ea typeface="+mn-lt"/>
                <a:cs typeface="+mn-lt"/>
              </a:rPr>
              <a:t> más utilizados. Te permiten insertar contenido generado por CSS antes (::</a:t>
            </a:r>
            <a:r>
              <a:rPr lang="es-ES" dirty="0" err="1">
                <a:ea typeface="+mn-lt"/>
                <a:cs typeface="+mn-lt"/>
              </a:rPr>
              <a:t>before</a:t>
            </a:r>
            <a:r>
              <a:rPr lang="es-ES" dirty="0">
                <a:ea typeface="+mn-lt"/>
                <a:cs typeface="+mn-lt"/>
              </a:rPr>
              <a:t>) o después (::after) del contenido real de un elemento. Ambos </a:t>
            </a:r>
            <a:r>
              <a:rPr lang="es-ES" dirty="0" err="1">
                <a:ea typeface="+mn-lt"/>
                <a:cs typeface="+mn-lt"/>
              </a:rPr>
              <a:t>pseudo-elementos</a:t>
            </a:r>
            <a:r>
              <a:rPr lang="es-ES" dirty="0">
                <a:ea typeface="+mn-lt"/>
                <a:cs typeface="+mn-lt"/>
              </a:rPr>
              <a:t> requieren la propiedad </a:t>
            </a:r>
            <a:r>
              <a:rPr lang="es-ES" dirty="0" err="1">
                <a:ea typeface="+mn-lt"/>
                <a:cs typeface="+mn-lt"/>
              </a:rPr>
              <a:t>content</a:t>
            </a:r>
            <a:r>
              <a:rPr lang="es-ES" dirty="0">
                <a:ea typeface="+mn-lt"/>
                <a:cs typeface="+mn-lt"/>
              </a:rPr>
              <a:t> para funcionar.</a:t>
            </a:r>
            <a:endParaRPr lang="es-ES" dirty="0"/>
          </a:p>
          <a:p>
            <a:pPr lvl="1">
              <a:buFont typeface="Courier New" panose="020B0604020202020204" pitchFamily="34" charset="0"/>
              <a:buChar char="o"/>
            </a:pPr>
            <a:r>
              <a:rPr lang="es-ES" dirty="0">
                <a:ea typeface="+mn-lt"/>
                <a:cs typeface="+mn-lt"/>
              </a:rPr>
              <a:t>Sintaxis: </a:t>
            </a:r>
            <a:r>
              <a:rPr lang="es-ES" b="1" dirty="0">
                <a:latin typeface="Courier New"/>
                <a:ea typeface="+mn-lt"/>
                <a:cs typeface="+mn-lt"/>
              </a:rPr>
              <a:t>selector::</a:t>
            </a:r>
            <a:r>
              <a:rPr lang="es-ES" b="1" err="1">
                <a:latin typeface="Courier New"/>
                <a:ea typeface="+mn-lt"/>
                <a:cs typeface="+mn-lt"/>
              </a:rPr>
              <a:t>before</a:t>
            </a:r>
            <a:r>
              <a:rPr lang="es-ES" b="1" dirty="0">
                <a:latin typeface="Courier New"/>
                <a:ea typeface="+mn-lt"/>
                <a:cs typeface="+mn-lt"/>
              </a:rPr>
              <a:t> { </a:t>
            </a:r>
            <a:r>
              <a:rPr lang="es-ES" b="1" err="1">
                <a:latin typeface="Courier New"/>
                <a:ea typeface="+mn-lt"/>
                <a:cs typeface="+mn-lt"/>
              </a:rPr>
              <a:t>content</a:t>
            </a:r>
            <a:r>
              <a:rPr lang="es-ES" b="1" dirty="0">
                <a:latin typeface="Courier New"/>
                <a:ea typeface="+mn-lt"/>
                <a:cs typeface="+mn-lt"/>
              </a:rPr>
              <a:t>: "texto o icono"; ... }</a:t>
            </a:r>
            <a:endParaRPr lang="es-ES" b="1">
              <a:latin typeface="Courier New"/>
              <a:cs typeface="Courier New"/>
            </a:endParaRPr>
          </a:p>
          <a:p>
            <a:r>
              <a:rPr lang="es-ES" dirty="0">
                <a:ea typeface="+mn-lt"/>
                <a:cs typeface="+mn-lt"/>
              </a:rPr>
              <a:t>Son ideales para añadir iconos, citas, decoraciones o texto explicativo sin tener que tocar el HTML.</a:t>
            </a:r>
            <a:endParaRPr lang="es-ES" dirty="0"/>
          </a:p>
          <a:p>
            <a:endParaRPr lang="es-ES" dirty="0"/>
          </a:p>
        </p:txBody>
      </p:sp>
    </p:spTree>
    <p:extLst>
      <p:ext uri="{BB962C8B-B14F-4D97-AF65-F5344CB8AC3E}">
        <p14:creationId xmlns:p14="http://schemas.microsoft.com/office/powerpoint/2010/main" val="324211136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75C7A-7707-C819-BF2E-534F5D70EDC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E7CDD87-537E-009F-D3F7-2B9D8C10FC30}"/>
              </a:ext>
            </a:extLst>
          </p:cNvPr>
          <p:cNvSpPr>
            <a:spLocks noGrp="1"/>
          </p:cNvSpPr>
          <p:nvPr>
            <p:ph type="title"/>
          </p:nvPr>
        </p:nvSpPr>
        <p:spPr/>
        <p:txBody>
          <a:bodyPr/>
          <a:lstStyle/>
          <a:p>
            <a:r>
              <a:rPr lang="es-ES" b="0" dirty="0">
                <a:ea typeface="+mj-lt"/>
                <a:cs typeface="+mj-lt"/>
              </a:rPr>
              <a:t>2.2.3.3. Selectores de </a:t>
            </a:r>
            <a:r>
              <a:rPr lang="es-ES" b="0" dirty="0" err="1">
                <a:ea typeface="+mj-lt"/>
                <a:cs typeface="+mj-lt"/>
              </a:rPr>
              <a:t>pseudo-elemento</a:t>
            </a:r>
            <a:r>
              <a:rPr lang="es-ES" b="0" dirty="0">
                <a:ea typeface="+mj-lt"/>
                <a:cs typeface="+mj-lt"/>
              </a:rPr>
              <a:t> (ej. ::</a:t>
            </a:r>
            <a:r>
              <a:rPr lang="es-ES" b="0" dirty="0" err="1">
                <a:ea typeface="+mj-lt"/>
                <a:cs typeface="+mj-lt"/>
              </a:rPr>
              <a:t>before</a:t>
            </a:r>
            <a:r>
              <a:rPr lang="es-ES" b="0" dirty="0">
                <a:ea typeface="+mj-lt"/>
                <a:cs typeface="+mj-lt"/>
              </a:rPr>
              <a:t>, ::after).</a:t>
            </a:r>
            <a:endParaRPr lang="es-ES" dirty="0"/>
          </a:p>
        </p:txBody>
      </p:sp>
      <p:sp>
        <p:nvSpPr>
          <p:cNvPr id="3" name="Marcador de contenido 2">
            <a:extLst>
              <a:ext uri="{FF2B5EF4-FFF2-40B4-BE49-F238E27FC236}">
                <a16:creationId xmlns:a16="http://schemas.microsoft.com/office/drawing/2014/main" id="{125C80B7-48D0-98BE-5B1E-1C61C7190417}"/>
              </a:ext>
            </a:extLst>
          </p:cNvPr>
          <p:cNvSpPr>
            <a:spLocks noGrp="1"/>
          </p:cNvSpPr>
          <p:nvPr>
            <p:ph idx="1"/>
          </p:nvPr>
        </p:nvSpPr>
        <p:spPr/>
        <p:txBody>
          <a:bodyPr vert="horz" lIns="91440" tIns="45720" rIns="91440" bIns="45720" rtlCol="0" anchor="t">
            <a:normAutofit lnSpcReduction="10000"/>
          </a:bodyPr>
          <a:lstStyle/>
          <a:p>
            <a:r>
              <a:rPr lang="es-ES" dirty="0">
                <a:ea typeface="+mn-lt"/>
                <a:cs typeface="+mn-lt"/>
              </a:rPr>
              <a:t>Ejemplo:</a:t>
            </a:r>
          </a:p>
          <a:p>
            <a:pPr marL="0" indent="0">
              <a:buNone/>
            </a:pPr>
            <a:r>
              <a:rPr lang="es-ES" b="1" dirty="0">
                <a:latin typeface="Courier New"/>
                <a:ea typeface="+mn-lt"/>
                <a:cs typeface="+mn-lt"/>
              </a:rPr>
              <a:t>&lt;p </a:t>
            </a:r>
            <a:r>
              <a:rPr lang="es-ES" b="1" dirty="0" err="1">
                <a:latin typeface="Courier New"/>
                <a:ea typeface="+mn-lt"/>
                <a:cs typeface="+mn-lt"/>
              </a:rPr>
              <a:t>class</a:t>
            </a:r>
            <a:r>
              <a:rPr lang="es-ES" b="1" dirty="0">
                <a:latin typeface="Courier New"/>
                <a:ea typeface="+mn-lt"/>
                <a:cs typeface="+mn-lt"/>
              </a:rPr>
              <a:t>="nota"&gt;Este es un párrafo importante.&lt;/p&gt;</a:t>
            </a:r>
            <a:br>
              <a:rPr lang="es-ES" b="1" dirty="0">
                <a:latin typeface="Courier New"/>
                <a:ea typeface="+mn-lt"/>
                <a:cs typeface="+mn-lt"/>
              </a:rPr>
            </a:br>
            <a:r>
              <a:rPr lang="es-ES" b="1" dirty="0">
                <a:latin typeface="Courier New"/>
                <a:ea typeface="+mn-lt"/>
                <a:cs typeface="+mn-lt"/>
              </a:rPr>
              <a:t>.nota::</a:t>
            </a:r>
            <a:r>
              <a:rPr lang="es-ES" b="1" dirty="0" err="1">
                <a:latin typeface="Courier New"/>
                <a:ea typeface="+mn-lt"/>
                <a:cs typeface="+mn-lt"/>
              </a:rPr>
              <a:t>before</a:t>
            </a: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content</a:t>
            </a:r>
            <a:r>
              <a:rPr lang="es-ES" b="1" dirty="0">
                <a:latin typeface="Courier New"/>
                <a:ea typeface="+mn-lt"/>
                <a:cs typeface="+mn-lt"/>
              </a:rPr>
              <a:t>: "💡 "; /* Inserta un icono antes del texto */</a:t>
            </a:r>
            <a:br>
              <a:rPr lang="es-ES" b="1" dirty="0">
                <a:latin typeface="Courier New"/>
                <a:ea typeface="+mn-lt"/>
                <a:cs typeface="+mn-lt"/>
              </a:rPr>
            </a:br>
            <a:r>
              <a:rPr lang="es-ES" b="1" dirty="0">
                <a:latin typeface="Courier New"/>
                <a:ea typeface="+mn-lt"/>
                <a:cs typeface="+mn-lt"/>
              </a:rPr>
              <a:t>  color: </a:t>
            </a:r>
            <a:r>
              <a:rPr lang="es-ES" b="1" dirty="0" err="1">
                <a:latin typeface="Courier New"/>
                <a:ea typeface="+mn-lt"/>
                <a:cs typeface="+mn-lt"/>
              </a:rPr>
              <a:t>gold</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font-weight</a:t>
            </a:r>
            <a:r>
              <a:rPr lang="es-ES" b="1" dirty="0">
                <a:latin typeface="Courier New"/>
                <a:ea typeface="+mn-lt"/>
                <a:cs typeface="+mn-lt"/>
              </a:rPr>
              <a:t>: </a:t>
            </a:r>
            <a:r>
              <a:rPr lang="es-ES" b="1" dirty="0" err="1">
                <a:latin typeface="Courier New"/>
                <a:ea typeface="+mn-lt"/>
                <a:cs typeface="+mn-lt"/>
              </a:rPr>
              <a:t>bold</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.nota::after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content</a:t>
            </a:r>
            <a:r>
              <a:rPr lang="es-ES" b="1" dirty="0">
                <a:latin typeface="Courier New"/>
                <a:ea typeface="+mn-lt"/>
                <a:cs typeface="+mn-lt"/>
              </a:rPr>
              <a:t>: " (Fin de la nota)"; /* Inserta texto después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font-size</a:t>
            </a:r>
            <a:r>
              <a:rPr lang="es-ES" b="1" dirty="0">
                <a:latin typeface="Courier New"/>
                <a:ea typeface="+mn-lt"/>
                <a:cs typeface="+mn-lt"/>
              </a:rPr>
              <a:t>: 0.9em;</a:t>
            </a:r>
            <a:br>
              <a:rPr lang="es-ES" b="1" dirty="0">
                <a:latin typeface="Courier New"/>
                <a:ea typeface="+mn-lt"/>
                <a:cs typeface="+mn-lt"/>
              </a:rPr>
            </a:br>
            <a:r>
              <a:rPr lang="es-ES" b="1" dirty="0">
                <a:latin typeface="Courier New"/>
                <a:ea typeface="+mn-lt"/>
                <a:cs typeface="+mn-lt"/>
              </a:rPr>
              <a:t>  color: #666;</a:t>
            </a:r>
            <a:br>
              <a:rPr lang="es-ES" b="1" dirty="0">
                <a:latin typeface="Courier New"/>
                <a:ea typeface="+mn-lt"/>
                <a:cs typeface="+mn-lt"/>
              </a:rPr>
            </a:br>
            <a:r>
              <a:rPr lang="es-ES" b="1" dirty="0">
                <a:latin typeface="Courier New"/>
                <a:ea typeface="+mn-lt"/>
                <a:cs typeface="+mn-lt"/>
              </a:rPr>
              <a:t>}</a:t>
            </a:r>
          </a:p>
          <a:p>
            <a:endParaRPr lang="es-ES" dirty="0"/>
          </a:p>
          <a:p>
            <a:endParaRPr lang="es-ES" dirty="0"/>
          </a:p>
        </p:txBody>
      </p:sp>
    </p:spTree>
    <p:extLst>
      <p:ext uri="{BB962C8B-B14F-4D97-AF65-F5344CB8AC3E}">
        <p14:creationId xmlns:p14="http://schemas.microsoft.com/office/powerpoint/2010/main" val="353073896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AAEE67-1250-219A-55D9-79671B76496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AC6FF84-B522-4335-F810-1FB078625382}"/>
              </a:ext>
            </a:extLst>
          </p:cNvPr>
          <p:cNvSpPr>
            <a:spLocks noGrp="1"/>
          </p:cNvSpPr>
          <p:nvPr>
            <p:ph type="title"/>
          </p:nvPr>
        </p:nvSpPr>
        <p:spPr/>
        <p:txBody>
          <a:bodyPr/>
          <a:lstStyle/>
          <a:p>
            <a:r>
              <a:rPr lang="es-ES" b="0" dirty="0">
                <a:ea typeface="+mj-lt"/>
                <a:cs typeface="+mj-lt"/>
              </a:rPr>
              <a:t>2.2.3.3. Selectores de </a:t>
            </a:r>
            <a:r>
              <a:rPr lang="es-ES" b="0" dirty="0" err="1">
                <a:ea typeface="+mj-lt"/>
                <a:cs typeface="+mj-lt"/>
              </a:rPr>
              <a:t>pseudo-elemento</a:t>
            </a:r>
            <a:r>
              <a:rPr lang="es-ES" b="0" dirty="0">
                <a:ea typeface="+mj-lt"/>
                <a:cs typeface="+mj-lt"/>
              </a:rPr>
              <a:t> (ej. ::</a:t>
            </a:r>
            <a:r>
              <a:rPr lang="es-ES" b="0" dirty="0" err="1">
                <a:ea typeface="+mj-lt"/>
                <a:cs typeface="+mj-lt"/>
              </a:rPr>
              <a:t>before</a:t>
            </a:r>
            <a:r>
              <a:rPr lang="es-ES" b="0" dirty="0">
                <a:ea typeface="+mj-lt"/>
                <a:cs typeface="+mj-lt"/>
              </a:rPr>
              <a:t>, ::after).</a:t>
            </a:r>
            <a:endParaRPr lang="es-ES" dirty="0"/>
          </a:p>
        </p:txBody>
      </p:sp>
      <p:sp>
        <p:nvSpPr>
          <p:cNvPr id="3" name="Marcador de contenido 2">
            <a:extLst>
              <a:ext uri="{FF2B5EF4-FFF2-40B4-BE49-F238E27FC236}">
                <a16:creationId xmlns:a16="http://schemas.microsoft.com/office/drawing/2014/main" id="{C1449B9E-6C6A-F9B1-968D-86841E8A5B9B}"/>
              </a:ext>
            </a:extLst>
          </p:cNvPr>
          <p:cNvSpPr>
            <a:spLocks noGrp="1"/>
          </p:cNvSpPr>
          <p:nvPr>
            <p:ph idx="1"/>
          </p:nvPr>
        </p:nvSpPr>
        <p:spPr/>
        <p:txBody>
          <a:bodyPr vert="horz" lIns="91440" tIns="45720" rIns="91440" bIns="45720" rtlCol="0" anchor="t">
            <a:normAutofit/>
          </a:bodyPr>
          <a:lstStyle/>
          <a:p>
            <a:r>
              <a:rPr lang="es-ES" b="1" dirty="0">
                <a:latin typeface="Courier New"/>
                <a:ea typeface="+mn-lt"/>
                <a:cs typeface="+mn-lt"/>
              </a:rPr>
              <a:t>::</a:t>
            </a:r>
            <a:r>
              <a:rPr lang="es-ES" b="1" dirty="0" err="1">
                <a:latin typeface="Courier New"/>
                <a:ea typeface="+mn-lt"/>
                <a:cs typeface="+mn-lt"/>
              </a:rPr>
              <a:t>first</a:t>
            </a:r>
            <a:r>
              <a:rPr lang="es-ES" b="1" dirty="0">
                <a:latin typeface="Courier New"/>
                <a:ea typeface="+mn-lt"/>
                <a:cs typeface="+mn-lt"/>
              </a:rPr>
              <a:t>-line</a:t>
            </a:r>
            <a:r>
              <a:rPr lang="es-ES" dirty="0">
                <a:ea typeface="+mn-lt"/>
                <a:cs typeface="+mn-lt"/>
              </a:rPr>
              <a:t> y </a:t>
            </a:r>
            <a:r>
              <a:rPr lang="es-ES" b="1" dirty="0">
                <a:latin typeface="Courier New"/>
                <a:ea typeface="+mn-lt"/>
                <a:cs typeface="+mn-lt"/>
              </a:rPr>
              <a:t>::</a:t>
            </a:r>
            <a:r>
              <a:rPr lang="es-ES" b="1" dirty="0" err="1">
                <a:latin typeface="Courier New"/>
                <a:ea typeface="+mn-lt"/>
                <a:cs typeface="+mn-lt"/>
              </a:rPr>
              <a:t>first-letter</a:t>
            </a:r>
            <a:endParaRPr lang="es-ES" b="1" dirty="0" err="1">
              <a:latin typeface="Courier New"/>
              <a:cs typeface="Courier New"/>
            </a:endParaRPr>
          </a:p>
          <a:p>
            <a:r>
              <a:rPr lang="es-ES" dirty="0">
                <a:ea typeface="+mn-lt"/>
                <a:cs typeface="+mn-lt"/>
              </a:rPr>
              <a:t>Estos </a:t>
            </a:r>
            <a:r>
              <a:rPr lang="es-ES" dirty="0" err="1">
                <a:ea typeface="+mn-lt"/>
                <a:cs typeface="+mn-lt"/>
              </a:rPr>
              <a:t>pseudo-elementos</a:t>
            </a:r>
            <a:r>
              <a:rPr lang="es-ES" dirty="0">
                <a:ea typeface="+mn-lt"/>
                <a:cs typeface="+mn-lt"/>
              </a:rPr>
              <a:t> se usan para estilizar la primera línea o la primera letra de un bloque de texto.</a:t>
            </a:r>
          </a:p>
          <a:p>
            <a:r>
              <a:rPr lang="es-ES" b="1" dirty="0">
                <a:latin typeface="Courier New"/>
                <a:ea typeface="+mn-lt"/>
                <a:cs typeface="+mn-lt"/>
              </a:rPr>
              <a:t>::</a:t>
            </a:r>
            <a:r>
              <a:rPr lang="es-ES" b="1" dirty="0" err="1">
                <a:latin typeface="Courier New"/>
                <a:ea typeface="+mn-lt"/>
                <a:cs typeface="+mn-lt"/>
              </a:rPr>
              <a:t>first</a:t>
            </a:r>
            <a:r>
              <a:rPr lang="es-ES" b="1" dirty="0">
                <a:latin typeface="Courier New"/>
                <a:ea typeface="+mn-lt"/>
                <a:cs typeface="+mn-lt"/>
              </a:rPr>
              <a:t>-line</a:t>
            </a:r>
            <a:r>
              <a:rPr lang="es-ES" dirty="0">
                <a:ea typeface="+mn-lt"/>
                <a:cs typeface="+mn-lt"/>
              </a:rPr>
              <a:t>: Aplica estilos a la primera línea de texto de un elemento. Es importante destacar que "primera línea" se refiere al espacio que ocupa el texto en el momento del renderizado, por lo que el estilo cambiará si la ventana del navegador se redimensiona.</a:t>
            </a:r>
          </a:p>
          <a:p>
            <a:r>
              <a:rPr lang="es-ES" b="1" dirty="0">
                <a:latin typeface="Courier New"/>
                <a:ea typeface="+mn-lt"/>
                <a:cs typeface="+mn-lt"/>
              </a:rPr>
              <a:t>::</a:t>
            </a:r>
            <a:r>
              <a:rPr lang="es-ES" b="1" dirty="0" err="1">
                <a:latin typeface="Courier New"/>
                <a:ea typeface="+mn-lt"/>
                <a:cs typeface="+mn-lt"/>
              </a:rPr>
              <a:t>first-letter</a:t>
            </a:r>
            <a:r>
              <a:rPr lang="es-ES" dirty="0">
                <a:ea typeface="+mn-lt"/>
                <a:cs typeface="+mn-lt"/>
              </a:rPr>
              <a:t>: Aplica estilos a la primera letra del texto. Es útil para crear efectos tipográficos como las "letras capitales" en un libro.</a:t>
            </a:r>
            <a:endParaRPr lang="es-ES" dirty="0"/>
          </a:p>
          <a:p>
            <a:r>
              <a:rPr lang="es-ES" b="1" dirty="0">
                <a:latin typeface="Courier New"/>
                <a:ea typeface="+mn-lt"/>
                <a:cs typeface="+mn-lt"/>
              </a:rPr>
              <a:t>::</a:t>
            </a:r>
            <a:r>
              <a:rPr lang="es-ES" b="1" dirty="0" err="1">
                <a:latin typeface="Courier New"/>
                <a:ea typeface="+mn-lt"/>
                <a:cs typeface="+mn-lt"/>
              </a:rPr>
              <a:t>selection</a:t>
            </a:r>
            <a:r>
              <a:rPr lang="es-ES" b="1" dirty="0">
                <a:latin typeface="Courier New"/>
                <a:ea typeface="+mn-lt"/>
                <a:cs typeface="+mn-lt"/>
              </a:rPr>
              <a:t>:</a:t>
            </a:r>
            <a:r>
              <a:rPr lang="es-ES" dirty="0">
                <a:ea typeface="+mn-lt"/>
                <a:cs typeface="+mn-lt"/>
              </a:rPr>
              <a:t> Este </a:t>
            </a:r>
            <a:r>
              <a:rPr lang="es-ES" dirty="0" err="1">
                <a:ea typeface="+mn-lt"/>
                <a:cs typeface="+mn-lt"/>
              </a:rPr>
              <a:t>pseudo-elemento</a:t>
            </a:r>
            <a:r>
              <a:rPr lang="es-ES" dirty="0">
                <a:ea typeface="+mn-lt"/>
                <a:cs typeface="+mn-lt"/>
              </a:rPr>
              <a:t> te permite cambiar el estilo del texto que el usuario ha seleccionado con el ratón. Es perfecto para adaptar los colores de la selección de texto a la paleta de colores de tu sitio web.</a:t>
            </a:r>
            <a:endParaRPr lang="es-ES" dirty="0"/>
          </a:p>
          <a:p>
            <a:endParaRPr lang="es-ES" dirty="0"/>
          </a:p>
        </p:txBody>
      </p:sp>
    </p:spTree>
    <p:extLst>
      <p:ext uri="{BB962C8B-B14F-4D97-AF65-F5344CB8AC3E}">
        <p14:creationId xmlns:p14="http://schemas.microsoft.com/office/powerpoint/2010/main" val="66976980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1845B3-EFA3-F177-9B2A-B46FA427C3C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8015E85-F685-3154-805C-A49FB2777F29}"/>
              </a:ext>
            </a:extLst>
          </p:cNvPr>
          <p:cNvSpPr>
            <a:spLocks noGrp="1"/>
          </p:cNvSpPr>
          <p:nvPr>
            <p:ph type="title"/>
          </p:nvPr>
        </p:nvSpPr>
        <p:spPr/>
        <p:txBody>
          <a:bodyPr/>
          <a:lstStyle/>
          <a:p>
            <a:r>
              <a:rPr lang="es-ES" b="0" dirty="0">
                <a:ea typeface="+mj-lt"/>
                <a:cs typeface="+mj-lt"/>
              </a:rPr>
              <a:t>2.2.3.3. Selectores de </a:t>
            </a:r>
            <a:r>
              <a:rPr lang="es-ES" b="0" dirty="0" err="1">
                <a:ea typeface="+mj-lt"/>
                <a:cs typeface="+mj-lt"/>
              </a:rPr>
              <a:t>pseudo-elemento</a:t>
            </a:r>
            <a:r>
              <a:rPr lang="es-ES" b="0" dirty="0">
                <a:ea typeface="+mj-lt"/>
                <a:cs typeface="+mj-lt"/>
              </a:rPr>
              <a:t> (ej. ::</a:t>
            </a:r>
            <a:r>
              <a:rPr lang="es-ES" b="0" dirty="0" err="1">
                <a:ea typeface="+mj-lt"/>
                <a:cs typeface="+mj-lt"/>
              </a:rPr>
              <a:t>before</a:t>
            </a:r>
            <a:r>
              <a:rPr lang="es-ES" b="0" dirty="0">
                <a:ea typeface="+mj-lt"/>
                <a:cs typeface="+mj-lt"/>
              </a:rPr>
              <a:t>, ::after).</a:t>
            </a:r>
            <a:endParaRPr lang="es-ES" dirty="0"/>
          </a:p>
        </p:txBody>
      </p:sp>
      <p:sp>
        <p:nvSpPr>
          <p:cNvPr id="3" name="Marcador de contenido 2">
            <a:extLst>
              <a:ext uri="{FF2B5EF4-FFF2-40B4-BE49-F238E27FC236}">
                <a16:creationId xmlns:a16="http://schemas.microsoft.com/office/drawing/2014/main" id="{0B7A6051-FC81-29F7-2D51-648D3E65BBA8}"/>
              </a:ext>
            </a:extLst>
          </p:cNvPr>
          <p:cNvSpPr>
            <a:spLocks noGrp="1"/>
          </p:cNvSpPr>
          <p:nvPr>
            <p:ph idx="1"/>
          </p:nvPr>
        </p:nvSpPr>
        <p:spPr/>
        <p:txBody>
          <a:bodyPr vert="horz" lIns="91440" tIns="45720" rIns="91440" bIns="45720" rtlCol="0" anchor="t">
            <a:normAutofit fontScale="62500" lnSpcReduction="20000"/>
          </a:bodyPr>
          <a:lstStyle/>
          <a:p>
            <a:r>
              <a:rPr lang="es-ES" dirty="0">
                <a:ea typeface="+mn-lt"/>
                <a:cs typeface="+mn-lt"/>
              </a:rPr>
              <a:t>Ejemplo:</a:t>
            </a:r>
          </a:p>
          <a:p>
            <a:pPr marL="0" indent="0">
              <a:buNone/>
            </a:pPr>
            <a:r>
              <a:rPr lang="es-ES" b="1" dirty="0">
                <a:latin typeface="Courier New"/>
                <a:ea typeface="+mn-lt"/>
                <a:cs typeface="+mn-lt"/>
              </a:rPr>
              <a:t>&lt;p </a:t>
            </a:r>
            <a:r>
              <a:rPr lang="es-ES" b="1" err="1">
                <a:latin typeface="Courier New"/>
                <a:ea typeface="+mn-lt"/>
                <a:cs typeface="+mn-lt"/>
              </a:rPr>
              <a:t>class</a:t>
            </a:r>
            <a:r>
              <a:rPr lang="es-ES" b="1" dirty="0">
                <a:latin typeface="Courier New"/>
                <a:ea typeface="+mn-lt"/>
                <a:cs typeface="+mn-lt"/>
              </a:rPr>
              <a:t>="articulo"&gt;Este es el inicio del artículo, con una primera línea y una primera letra que podemos estilizar de forma especial para mejorar la apariencia del texto.&lt;/p&gt;</a:t>
            </a:r>
            <a:br>
              <a:rPr lang="es-ES" b="1" dirty="0">
                <a:latin typeface="Courier New"/>
                <a:ea typeface="+mn-lt"/>
                <a:cs typeface="+mn-lt"/>
              </a:rPr>
            </a:br>
            <a:r>
              <a:rPr lang="es-ES" b="1" dirty="0">
                <a:latin typeface="Courier New"/>
                <a:ea typeface="+mn-lt"/>
                <a:cs typeface="+mn-lt"/>
              </a:rPr>
              <a:t>.articulo::</a:t>
            </a:r>
            <a:r>
              <a:rPr lang="es-ES" b="1" err="1">
                <a:latin typeface="Courier New"/>
                <a:ea typeface="+mn-lt"/>
                <a:cs typeface="+mn-lt"/>
              </a:rPr>
              <a:t>first-letter</a:t>
            </a: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font-size</a:t>
            </a:r>
            <a:r>
              <a:rPr lang="es-ES" b="1" dirty="0">
                <a:latin typeface="Courier New"/>
                <a:ea typeface="+mn-lt"/>
                <a:cs typeface="+mn-lt"/>
              </a:rPr>
              <a:t>: 2.5em; /* Aumenta el tamaño de la primera letra */</a:t>
            </a:r>
            <a:br>
              <a:rPr lang="es-ES" b="1" dirty="0">
                <a:latin typeface="Courier New"/>
                <a:ea typeface="+mn-lt"/>
                <a:cs typeface="+mn-lt"/>
              </a:rPr>
            </a:br>
            <a:r>
              <a:rPr lang="es-ES" b="1" dirty="0">
                <a:latin typeface="Courier New"/>
                <a:ea typeface="+mn-lt"/>
                <a:cs typeface="+mn-lt"/>
              </a:rPr>
              <a:t>  color: #007bff;</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float</a:t>
            </a:r>
            <a:r>
              <a:rPr lang="es-ES" b="1" dirty="0">
                <a:latin typeface="Courier New"/>
                <a:ea typeface="+mn-lt"/>
                <a:cs typeface="+mn-lt"/>
              </a:rPr>
              <a:t>: </a:t>
            </a:r>
            <a:r>
              <a:rPr lang="es-ES" b="1" err="1">
                <a:latin typeface="Courier New"/>
                <a:ea typeface="+mn-lt"/>
                <a:cs typeface="+mn-lt"/>
              </a:rPr>
              <a:t>left</a:t>
            </a:r>
            <a:r>
              <a:rPr lang="es-ES" b="1" dirty="0">
                <a:latin typeface="Courier New"/>
                <a:ea typeface="+mn-lt"/>
                <a:cs typeface="+mn-lt"/>
              </a:rPr>
              <a:t>; /* La hace flotar para que el texto la rodee */</a:t>
            </a:r>
            <a:br>
              <a:rPr lang="es-ES" b="1" dirty="0">
                <a:latin typeface="Courier New"/>
                <a:ea typeface="+mn-lt"/>
                <a:cs typeface="+mn-lt"/>
              </a:rPr>
            </a:br>
            <a:r>
              <a:rPr lang="es-ES" b="1" dirty="0">
                <a:latin typeface="Courier New"/>
                <a:ea typeface="+mn-lt"/>
                <a:cs typeface="+mn-lt"/>
              </a:rPr>
              <a:t>  line-</a:t>
            </a:r>
            <a:r>
              <a:rPr lang="es-ES" b="1" err="1">
                <a:latin typeface="Courier New"/>
                <a:ea typeface="+mn-lt"/>
                <a:cs typeface="+mn-lt"/>
              </a:rPr>
              <a:t>height</a:t>
            </a:r>
            <a:r>
              <a:rPr lang="es-ES" b="1" dirty="0">
                <a:latin typeface="Courier New"/>
                <a:ea typeface="+mn-lt"/>
                <a:cs typeface="+mn-lt"/>
              </a:rPr>
              <a:t>: 1;</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margin-right</a:t>
            </a:r>
            <a:r>
              <a:rPr lang="es-ES" b="1" dirty="0">
                <a:latin typeface="Courier New"/>
                <a:ea typeface="+mn-lt"/>
                <a:cs typeface="+mn-lt"/>
              </a:rPr>
              <a:t>: 5px;</a:t>
            </a:r>
            <a:br>
              <a:rPr lang="es-ES" b="1" dirty="0">
                <a:latin typeface="Courier New"/>
                <a:ea typeface="+mn-lt"/>
                <a:cs typeface="+mn-lt"/>
              </a:rPr>
            </a:b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.articulo::</a:t>
            </a:r>
            <a:r>
              <a:rPr lang="es-ES" b="1" dirty="0" err="1">
                <a:latin typeface="Courier New"/>
                <a:ea typeface="+mn-lt"/>
                <a:cs typeface="+mn-lt"/>
              </a:rPr>
              <a:t>first</a:t>
            </a:r>
            <a:r>
              <a:rPr lang="es-ES" b="1" dirty="0">
                <a:latin typeface="Courier New"/>
                <a:ea typeface="+mn-lt"/>
                <a:cs typeface="+mn-lt"/>
              </a:rPr>
              <a:t>-line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font-weight</a:t>
            </a:r>
            <a:r>
              <a:rPr lang="es-ES" b="1" dirty="0">
                <a:latin typeface="Courier New"/>
                <a:ea typeface="+mn-lt"/>
                <a:cs typeface="+mn-lt"/>
              </a:rPr>
              <a:t>: </a:t>
            </a:r>
            <a:r>
              <a:rPr lang="es-ES" b="1" dirty="0" err="1">
                <a:latin typeface="Courier New"/>
                <a:ea typeface="+mn-lt"/>
                <a:cs typeface="+mn-lt"/>
              </a:rPr>
              <a:t>bold</a:t>
            </a:r>
            <a:r>
              <a:rPr lang="es-ES" b="1" dirty="0">
                <a:latin typeface="Courier New"/>
                <a:ea typeface="+mn-lt"/>
                <a:cs typeface="+mn-lt"/>
              </a:rPr>
              <a:t>; /* Pone la primera línea en negrita */</a:t>
            </a:r>
            <a:br>
              <a:rPr lang="es-ES" b="1" dirty="0">
                <a:latin typeface="Courier New"/>
                <a:ea typeface="+mn-lt"/>
                <a:cs typeface="+mn-lt"/>
              </a:rPr>
            </a:br>
            <a:r>
              <a:rPr lang="es-ES" b="1" dirty="0">
                <a:latin typeface="Courier New"/>
                <a:ea typeface="+mn-lt"/>
                <a:cs typeface="+mn-lt"/>
              </a:rPr>
              <a:t>}</a:t>
            </a:r>
            <a:endParaRPr lang="es-ES" b="1" dirty="0">
              <a:latin typeface="Courier New"/>
              <a:cs typeface="Courier New"/>
            </a:endParaRPr>
          </a:p>
          <a:p>
            <a:r>
              <a:rPr lang="es-ES" dirty="0">
                <a:ea typeface="+mn-lt"/>
                <a:cs typeface="+mn-lt"/>
              </a:rPr>
              <a:t>Ejemplo: Esto anula el color azul y blanco por defecto de la selección de texto del navegador, proporcionando una experiencia más personalizada.</a:t>
            </a:r>
          </a:p>
          <a:p>
            <a:pPr marL="0" indent="0">
              <a:buNone/>
            </a:pPr>
            <a:r>
              <a:rPr lang="es-ES" b="1" dirty="0">
                <a:latin typeface="Courier New"/>
                <a:ea typeface="+mn-lt"/>
                <a:cs typeface="+mn-lt"/>
              </a:rPr>
              <a:t>/* Cambia el color del fondo y del texto del contenido seleccionado */</a:t>
            </a:r>
            <a:br>
              <a:rPr lang="es-ES" b="1" dirty="0">
                <a:latin typeface="Courier New"/>
                <a:ea typeface="+mn-lt"/>
                <a:cs typeface="+mn-lt"/>
              </a:rPr>
            </a:br>
            <a:r>
              <a:rPr lang="es-ES" b="1" dirty="0">
                <a:latin typeface="Courier New"/>
                <a:ea typeface="+mn-lt"/>
                <a:cs typeface="+mn-lt"/>
              </a:rPr>
              <a:t>::</a:t>
            </a:r>
            <a:r>
              <a:rPr lang="es-ES" b="1" err="1">
                <a:latin typeface="Courier New"/>
                <a:ea typeface="+mn-lt"/>
                <a:cs typeface="+mn-lt"/>
              </a:rPr>
              <a:t>selection</a:t>
            </a: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background</a:t>
            </a:r>
            <a:r>
              <a:rPr lang="es-ES" b="1" dirty="0">
                <a:latin typeface="Courier New"/>
                <a:ea typeface="+mn-lt"/>
                <a:cs typeface="+mn-lt"/>
              </a:rPr>
              <a:t>-color: #007bff;</a:t>
            </a:r>
            <a:br>
              <a:rPr lang="es-ES" b="1" dirty="0">
                <a:latin typeface="Courier New"/>
                <a:ea typeface="+mn-lt"/>
                <a:cs typeface="+mn-lt"/>
              </a:rPr>
            </a:br>
            <a:r>
              <a:rPr lang="es-ES" b="1" dirty="0">
                <a:latin typeface="Courier New"/>
                <a:ea typeface="+mn-lt"/>
                <a:cs typeface="+mn-lt"/>
              </a:rPr>
              <a:t>  color: </a:t>
            </a:r>
            <a:r>
              <a:rPr lang="es-ES" b="1" err="1">
                <a:latin typeface="Courier New"/>
                <a:ea typeface="+mn-lt"/>
                <a:cs typeface="+mn-lt"/>
              </a:rPr>
              <a:t>white</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a:t>
            </a:r>
            <a:endParaRPr lang="es-ES" b="1" dirty="0">
              <a:latin typeface="Courier New"/>
              <a:cs typeface="Courier New"/>
            </a:endParaRPr>
          </a:p>
        </p:txBody>
      </p:sp>
    </p:spTree>
    <p:extLst>
      <p:ext uri="{BB962C8B-B14F-4D97-AF65-F5344CB8AC3E}">
        <p14:creationId xmlns:p14="http://schemas.microsoft.com/office/powerpoint/2010/main" val="229230834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281B5A-3A46-CA8B-893B-0A604F24AA9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962A64F-4A1F-2C2E-0EC6-DF0363B66159}"/>
              </a:ext>
            </a:extLst>
          </p:cNvPr>
          <p:cNvSpPr>
            <a:spLocks noGrp="1"/>
          </p:cNvSpPr>
          <p:nvPr>
            <p:ph type="title"/>
          </p:nvPr>
        </p:nvSpPr>
        <p:spPr/>
        <p:txBody>
          <a:bodyPr/>
          <a:lstStyle/>
          <a:p>
            <a:r>
              <a:rPr lang="es-ES" b="0" dirty="0">
                <a:ea typeface="+mj-lt"/>
                <a:cs typeface="+mj-lt"/>
              </a:rPr>
              <a:t>2.2.3.3. Selectores de </a:t>
            </a:r>
            <a:r>
              <a:rPr lang="es-ES" b="0" dirty="0" err="1">
                <a:ea typeface="+mj-lt"/>
                <a:cs typeface="+mj-lt"/>
              </a:rPr>
              <a:t>pseudo-elemento</a:t>
            </a:r>
            <a:r>
              <a:rPr lang="es-ES" b="0" dirty="0">
                <a:ea typeface="+mj-lt"/>
                <a:cs typeface="+mj-lt"/>
              </a:rPr>
              <a:t> (ej. ::</a:t>
            </a:r>
            <a:r>
              <a:rPr lang="es-ES" b="0" dirty="0" err="1">
                <a:ea typeface="+mj-lt"/>
                <a:cs typeface="+mj-lt"/>
              </a:rPr>
              <a:t>before</a:t>
            </a:r>
            <a:r>
              <a:rPr lang="es-ES" b="0" dirty="0">
                <a:ea typeface="+mj-lt"/>
                <a:cs typeface="+mj-lt"/>
              </a:rPr>
              <a:t>, ::after).</a:t>
            </a:r>
            <a:endParaRPr lang="es-ES" dirty="0"/>
          </a:p>
        </p:txBody>
      </p:sp>
      <p:sp>
        <p:nvSpPr>
          <p:cNvPr id="3" name="Marcador de contenido 2">
            <a:extLst>
              <a:ext uri="{FF2B5EF4-FFF2-40B4-BE49-F238E27FC236}">
                <a16:creationId xmlns:a16="http://schemas.microsoft.com/office/drawing/2014/main" id="{E7F125E2-00E1-516E-D3B2-0EAF73D053D6}"/>
              </a:ext>
            </a:extLst>
          </p:cNvPr>
          <p:cNvSpPr>
            <a:spLocks noGrp="1"/>
          </p:cNvSpPr>
          <p:nvPr>
            <p:ph idx="1"/>
          </p:nvPr>
        </p:nvSpPr>
        <p:spPr/>
        <p:txBody>
          <a:bodyPr vert="horz" lIns="91440" tIns="45720" rIns="91440" bIns="45720" rtlCol="0" anchor="t">
            <a:normAutofit fontScale="85000" lnSpcReduction="20000"/>
          </a:bodyPr>
          <a:lstStyle/>
          <a:p>
            <a:r>
              <a:rPr lang="es-ES" dirty="0">
                <a:ea typeface="+mn-lt"/>
                <a:cs typeface="+mn-lt"/>
              </a:rPr>
              <a:t>Ejemplo:</a:t>
            </a:r>
          </a:p>
          <a:p>
            <a:pPr marL="0" indent="0">
              <a:buNone/>
            </a:pPr>
            <a:r>
              <a:rPr lang="es-ES" b="1" dirty="0">
                <a:latin typeface="Courier New"/>
                <a:ea typeface="+mn-lt"/>
                <a:cs typeface="+mn-lt"/>
              </a:rPr>
              <a:t>/* Añade una estrella antes de cada elemento con la clase .</a:t>
            </a:r>
            <a:r>
              <a:rPr lang="es-ES" b="1" dirty="0" err="1">
                <a:latin typeface="Courier New"/>
                <a:ea typeface="+mn-lt"/>
                <a:cs typeface="+mn-lt"/>
              </a:rPr>
              <a:t>item</a:t>
            </a: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a:t>
            </a:r>
            <a:r>
              <a:rPr lang="es-ES" b="1" dirty="0" err="1">
                <a:latin typeface="Courier New"/>
                <a:ea typeface="+mn-lt"/>
                <a:cs typeface="+mn-lt"/>
              </a:rPr>
              <a:t>item</a:t>
            </a:r>
            <a:r>
              <a:rPr lang="es-ES" b="1" dirty="0">
                <a:latin typeface="Courier New"/>
                <a:ea typeface="+mn-lt"/>
                <a:cs typeface="+mn-lt"/>
              </a:rPr>
              <a:t>::</a:t>
            </a:r>
            <a:r>
              <a:rPr lang="es-ES" b="1" dirty="0" err="1">
                <a:latin typeface="Courier New"/>
                <a:ea typeface="+mn-lt"/>
                <a:cs typeface="+mn-lt"/>
              </a:rPr>
              <a:t>before</a:t>
            </a: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content</a:t>
            </a:r>
            <a:r>
              <a:rPr lang="es-ES" b="1" dirty="0">
                <a:latin typeface="Courier New"/>
                <a:ea typeface="+mn-lt"/>
                <a:cs typeface="+mn-lt"/>
              </a:rPr>
              <a:t>: "⭐ ";</a:t>
            </a:r>
            <a:br>
              <a:rPr lang="es-ES" b="1" dirty="0">
                <a:latin typeface="Courier New"/>
                <a:ea typeface="+mn-lt"/>
                <a:cs typeface="+mn-lt"/>
              </a:rPr>
            </a:br>
            <a:r>
              <a:rPr lang="es-ES" b="1" dirty="0">
                <a:latin typeface="Courier New"/>
                <a:ea typeface="+mn-lt"/>
                <a:cs typeface="+mn-lt"/>
              </a:rPr>
              <a:t>  color: </a:t>
            </a:r>
            <a:r>
              <a:rPr lang="es-ES" b="1" dirty="0" err="1">
                <a:latin typeface="Courier New"/>
                <a:ea typeface="+mn-lt"/>
                <a:cs typeface="+mn-lt"/>
              </a:rPr>
              <a:t>gold</a:t>
            </a:r>
            <a:r>
              <a:rPr lang="es-ES" b="1" dirty="0">
                <a:latin typeface="Courier New"/>
                <a:ea typeface="+mn-lt"/>
                <a:cs typeface="+mn-lt"/>
              </a:rPr>
              <a:t>;</a:t>
            </a:r>
            <a:br>
              <a:rPr lang="en-US" b="1" dirty="0">
                <a:latin typeface="Courier New"/>
              </a:rPr>
            </a:b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 Estilo para la primera línea de un párrafo */</a:t>
            </a:r>
            <a:br>
              <a:rPr lang="es-ES" b="1" dirty="0">
                <a:latin typeface="Courier New"/>
                <a:ea typeface="+mn-lt"/>
                <a:cs typeface="+mn-lt"/>
              </a:rPr>
            </a:br>
            <a:r>
              <a:rPr lang="es-ES" b="1" dirty="0">
                <a:latin typeface="Courier New"/>
                <a:ea typeface="+mn-lt"/>
                <a:cs typeface="+mn-lt"/>
              </a:rPr>
              <a:t>p::</a:t>
            </a:r>
            <a:r>
              <a:rPr lang="es-ES" b="1" dirty="0" err="1">
                <a:latin typeface="Courier New"/>
                <a:ea typeface="+mn-lt"/>
                <a:cs typeface="+mn-lt"/>
              </a:rPr>
              <a:t>first</a:t>
            </a:r>
            <a:r>
              <a:rPr lang="es-ES" b="1" dirty="0">
                <a:latin typeface="Courier New"/>
                <a:ea typeface="+mn-lt"/>
                <a:cs typeface="+mn-lt"/>
              </a:rPr>
              <a:t>-line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font-variant</a:t>
            </a:r>
            <a:r>
              <a:rPr lang="es-ES" b="1" dirty="0">
                <a:latin typeface="Courier New"/>
                <a:ea typeface="+mn-lt"/>
                <a:cs typeface="+mn-lt"/>
              </a:rPr>
              <a:t>: </a:t>
            </a:r>
            <a:r>
              <a:rPr lang="es-ES" b="1" dirty="0" err="1">
                <a:latin typeface="Courier New"/>
                <a:ea typeface="+mn-lt"/>
                <a:cs typeface="+mn-lt"/>
              </a:rPr>
              <a:t>small-caps</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  color: #007bff;</a:t>
            </a:r>
            <a:br>
              <a:rPr lang="es-ES" b="1" dirty="0">
                <a:latin typeface="Courier New"/>
                <a:ea typeface="+mn-lt"/>
                <a:cs typeface="+mn-lt"/>
              </a:rPr>
            </a:b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 Cambia el estilo del texto seleccionado */</a:t>
            </a:r>
            <a:br>
              <a:rPr lang="es-ES" b="1" dirty="0">
                <a:latin typeface="Courier New"/>
                <a:ea typeface="+mn-lt"/>
                <a:cs typeface="+mn-lt"/>
              </a:rPr>
            </a:br>
            <a:r>
              <a:rPr lang="es-ES" b="1" dirty="0">
                <a:latin typeface="Courier New"/>
                <a:ea typeface="+mn-lt"/>
                <a:cs typeface="+mn-lt"/>
              </a:rPr>
              <a:t>::</a:t>
            </a:r>
            <a:r>
              <a:rPr lang="es-ES" b="1" dirty="0" err="1">
                <a:latin typeface="Courier New"/>
                <a:ea typeface="+mn-lt"/>
                <a:cs typeface="+mn-lt"/>
              </a:rPr>
              <a:t>selection</a:t>
            </a: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background</a:t>
            </a:r>
            <a:r>
              <a:rPr lang="es-ES" b="1" dirty="0">
                <a:latin typeface="Courier New"/>
                <a:ea typeface="+mn-lt"/>
                <a:cs typeface="+mn-lt"/>
              </a:rPr>
              <a:t>-color: #007bff;</a:t>
            </a:r>
            <a:br>
              <a:rPr lang="es-ES" b="1" dirty="0">
                <a:latin typeface="Courier New"/>
                <a:ea typeface="+mn-lt"/>
                <a:cs typeface="+mn-lt"/>
              </a:rPr>
            </a:br>
            <a:r>
              <a:rPr lang="es-ES" b="1" dirty="0">
                <a:latin typeface="Courier New"/>
                <a:ea typeface="+mn-lt"/>
                <a:cs typeface="+mn-lt"/>
              </a:rPr>
              <a:t>  color: white;</a:t>
            </a:r>
            <a:br>
              <a:rPr lang="es-ES" b="1" dirty="0">
                <a:latin typeface="Courier New"/>
                <a:ea typeface="+mn-lt"/>
                <a:cs typeface="+mn-lt"/>
              </a:rPr>
            </a:br>
            <a:r>
              <a:rPr lang="es-ES" b="1" dirty="0">
                <a:latin typeface="Courier New"/>
                <a:ea typeface="+mn-lt"/>
                <a:cs typeface="+mn-lt"/>
              </a:rPr>
              <a:t>}</a:t>
            </a:r>
          </a:p>
          <a:p>
            <a:endParaRPr lang="es-ES" dirty="0">
              <a:latin typeface="Bierstadt"/>
              <a:cs typeface="Courier New"/>
            </a:endParaRPr>
          </a:p>
        </p:txBody>
      </p:sp>
    </p:spTree>
    <p:extLst>
      <p:ext uri="{BB962C8B-B14F-4D97-AF65-F5344CB8AC3E}">
        <p14:creationId xmlns:p14="http://schemas.microsoft.com/office/powerpoint/2010/main" val="41848088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571BA1-79FA-4EEC-C2D7-4B4D4D881BC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FFD524F-03A8-D5DC-7180-BF62C87080AF}"/>
              </a:ext>
            </a:extLst>
          </p:cNvPr>
          <p:cNvSpPr>
            <a:spLocks noGrp="1"/>
          </p:cNvSpPr>
          <p:nvPr>
            <p:ph type="title"/>
          </p:nvPr>
        </p:nvSpPr>
        <p:spPr/>
        <p:txBody>
          <a:bodyPr/>
          <a:lstStyle/>
          <a:p>
            <a:r>
              <a:rPr lang="es-ES" b="0" dirty="0">
                <a:ea typeface="+mj-lt"/>
                <a:cs typeface="+mj-lt"/>
              </a:rPr>
              <a:t>2.2.4. Unidades de medida</a:t>
            </a:r>
            <a:endParaRPr lang="es-ES" dirty="0"/>
          </a:p>
        </p:txBody>
      </p:sp>
      <p:sp>
        <p:nvSpPr>
          <p:cNvPr id="3" name="Marcador de contenido 2">
            <a:extLst>
              <a:ext uri="{FF2B5EF4-FFF2-40B4-BE49-F238E27FC236}">
                <a16:creationId xmlns:a16="http://schemas.microsoft.com/office/drawing/2014/main" id="{5830BFFA-4F71-A1CF-D4AE-A7B03B3399C4}"/>
              </a:ext>
            </a:extLst>
          </p:cNvPr>
          <p:cNvSpPr>
            <a:spLocks noGrp="1"/>
          </p:cNvSpPr>
          <p:nvPr>
            <p:ph idx="1"/>
          </p:nvPr>
        </p:nvSpPr>
        <p:spPr/>
        <p:txBody>
          <a:bodyPr vert="horz" lIns="91440" tIns="45720" rIns="91440" bIns="45720" rtlCol="0" anchor="t">
            <a:normAutofit fontScale="85000" lnSpcReduction="20000"/>
          </a:bodyPr>
          <a:lstStyle/>
          <a:p>
            <a:r>
              <a:rPr lang="es-ES" dirty="0">
                <a:ea typeface="+mn-lt"/>
                <a:cs typeface="+mn-lt"/>
              </a:rPr>
              <a:t>Las unidades de medida son esenciales en CSS. Definen el tamaño de las propiedades de un elemento, como el ancho, la altura, el tamaño de la fuente, los márgenes y los rellenos. Se clasifican en dos categorías principales: absolutas y relativas.</a:t>
            </a:r>
            <a:endParaRPr lang="es-ES" dirty="0"/>
          </a:p>
          <a:p>
            <a:pPr lvl="1">
              <a:buFont typeface="Courier New" panose="020B0604020202020204" pitchFamily="34" charset="0"/>
              <a:buChar char="o"/>
            </a:pPr>
            <a:r>
              <a:rPr lang="es-ES" dirty="0">
                <a:ea typeface="+mn-lt"/>
                <a:cs typeface="+mn-lt"/>
              </a:rPr>
              <a:t>Unidades absolutas: Tienen un tamaño fijo y no cambian en relación con otros elementos. Son útiles cuando necesitas una precisión exacta en un elemento, aunque pueden dificultar el diseño responsivo.</a:t>
            </a:r>
            <a:endParaRPr lang="es-ES" dirty="0"/>
          </a:p>
          <a:p>
            <a:pPr lvl="2">
              <a:buFont typeface="Wingdings" panose="020B0604020202020204" pitchFamily="34" charset="0"/>
              <a:buChar char="§"/>
            </a:pPr>
            <a:r>
              <a:rPr lang="es-ES" dirty="0" err="1">
                <a:ea typeface="+mn-lt"/>
                <a:cs typeface="+mn-lt"/>
              </a:rPr>
              <a:t>px</a:t>
            </a:r>
            <a:r>
              <a:rPr lang="es-ES" dirty="0">
                <a:ea typeface="+mn-lt"/>
                <a:cs typeface="+mn-lt"/>
              </a:rPr>
              <a:t> (píxeles): La unidad absoluta más común. Un píxel es el punto más pequeño en una pantalla y su tamaño es fijo. Ideal para bordes o sombras cuyo tamaño no debe variar.</a:t>
            </a:r>
            <a:endParaRPr lang="es-ES" dirty="0"/>
          </a:p>
          <a:p>
            <a:pPr lvl="2">
              <a:buFont typeface="Wingdings" panose="020B0604020202020204" pitchFamily="34" charset="0"/>
              <a:buChar char="§"/>
            </a:pPr>
            <a:r>
              <a:rPr lang="es-ES" dirty="0">
                <a:ea typeface="+mn-lt"/>
                <a:cs typeface="+mn-lt"/>
              </a:rPr>
              <a:t>cm (centímetros), mm (milímetros), in (pulgadas): Unidades físicas, útiles para estilos de impresión.</a:t>
            </a:r>
          </a:p>
          <a:p>
            <a:pPr lvl="1">
              <a:buFont typeface="Courier New" panose="020B0604020202020204" pitchFamily="34" charset="0"/>
              <a:buChar char="o"/>
            </a:pPr>
            <a:r>
              <a:rPr lang="es-ES" dirty="0">
                <a:ea typeface="+mn-lt"/>
                <a:cs typeface="+mn-lt"/>
              </a:rPr>
              <a:t>Unidades relativas: Son flexibles y se adaptan a la escala del documento o del elemento padre. Su principal ventaja es que facilitan el diseño responsivo, ya que los elementos se redimensionan automáticamente según el contexto</a:t>
            </a:r>
          </a:p>
          <a:p>
            <a:pPr lvl="2">
              <a:buFont typeface="Wingdings" panose="020B0604020202020204" pitchFamily="34" charset="0"/>
              <a:buChar char="§"/>
            </a:pPr>
            <a:r>
              <a:rPr lang="es-ES" dirty="0">
                <a:ea typeface="+mn-lt"/>
                <a:cs typeface="+mn-lt"/>
              </a:rPr>
              <a:t>em: Relativa al tamaño de la fuente del elemento padre. Si el padre tiene una fuente de 16px, 2em serán 32px. Su valor cambia si el tamaño de la fuente del padre se modifica.</a:t>
            </a:r>
          </a:p>
          <a:p>
            <a:pPr lvl="2">
              <a:buFont typeface="Wingdings" panose="020B0604020202020204" pitchFamily="34" charset="0"/>
              <a:buChar char="§"/>
            </a:pPr>
            <a:r>
              <a:rPr lang="es-ES" dirty="0">
                <a:ea typeface="+mn-lt"/>
                <a:cs typeface="+mn-lt"/>
              </a:rPr>
              <a:t>rem (</a:t>
            </a:r>
            <a:r>
              <a:rPr lang="es-ES" dirty="0" err="1">
                <a:ea typeface="+mn-lt"/>
                <a:cs typeface="+mn-lt"/>
              </a:rPr>
              <a:t>root</a:t>
            </a:r>
            <a:r>
              <a:rPr lang="es-ES" dirty="0">
                <a:ea typeface="+mn-lt"/>
                <a:cs typeface="+mn-lt"/>
              </a:rPr>
              <a:t> em): Relativa al tamaño de la fuente del elemento raíz (&lt;</a:t>
            </a:r>
            <a:r>
              <a:rPr lang="es-ES" dirty="0" err="1">
                <a:ea typeface="+mn-lt"/>
                <a:cs typeface="+mn-lt"/>
              </a:rPr>
              <a:t>html</a:t>
            </a:r>
            <a:r>
              <a:rPr lang="es-ES" dirty="0">
                <a:ea typeface="+mn-lt"/>
                <a:cs typeface="+mn-lt"/>
              </a:rPr>
              <a:t>&gt;). Es más predecible que em porque no depende del elemento padre, lo que la hace ideal para el escalado global del diseño.</a:t>
            </a:r>
          </a:p>
          <a:p>
            <a:pPr lvl="2">
              <a:buFont typeface="Wingdings" panose="020B0604020202020204" pitchFamily="34" charset="0"/>
              <a:buChar char="§"/>
            </a:pPr>
            <a:r>
              <a:rPr lang="es-ES" dirty="0">
                <a:ea typeface="+mn-lt"/>
                <a:cs typeface="+mn-lt"/>
              </a:rPr>
              <a:t>% (porcentaje): Relativa al tamaño del elemento padre. Por ejemplo, un elemento con </a:t>
            </a:r>
            <a:r>
              <a:rPr lang="es-ES" dirty="0" err="1">
                <a:ea typeface="+mn-lt"/>
                <a:cs typeface="+mn-lt"/>
              </a:rPr>
              <a:t>width</a:t>
            </a:r>
            <a:r>
              <a:rPr lang="es-ES" dirty="0">
                <a:ea typeface="+mn-lt"/>
                <a:cs typeface="+mn-lt"/>
              </a:rPr>
              <a:t>: 50% ocupará la mitad del ancho de su contenedor.</a:t>
            </a:r>
          </a:p>
          <a:p>
            <a:pPr lvl="2">
              <a:buFont typeface="Wingdings" panose="020B0604020202020204" pitchFamily="34" charset="0"/>
              <a:buChar char="§"/>
            </a:pPr>
            <a:r>
              <a:rPr lang="es-ES" dirty="0" err="1">
                <a:ea typeface="+mn-lt"/>
                <a:cs typeface="+mn-lt"/>
              </a:rPr>
              <a:t>vw</a:t>
            </a:r>
            <a:r>
              <a:rPr lang="es-ES" dirty="0">
                <a:ea typeface="+mn-lt"/>
                <a:cs typeface="+mn-lt"/>
              </a:rPr>
              <a:t> (</a:t>
            </a:r>
            <a:r>
              <a:rPr lang="es-ES" dirty="0" err="1">
                <a:ea typeface="+mn-lt"/>
                <a:cs typeface="+mn-lt"/>
              </a:rPr>
              <a:t>viewport</a:t>
            </a:r>
            <a:r>
              <a:rPr lang="es-ES" dirty="0">
                <a:ea typeface="+mn-lt"/>
                <a:cs typeface="+mn-lt"/>
              </a:rPr>
              <a:t> </a:t>
            </a:r>
            <a:r>
              <a:rPr lang="es-ES" dirty="0" err="1">
                <a:ea typeface="+mn-lt"/>
                <a:cs typeface="+mn-lt"/>
              </a:rPr>
              <a:t>width</a:t>
            </a:r>
            <a:r>
              <a:rPr lang="es-ES" dirty="0">
                <a:ea typeface="+mn-lt"/>
                <a:cs typeface="+mn-lt"/>
              </a:rPr>
              <a:t>): Relativa al 1% del ancho del </a:t>
            </a:r>
            <a:r>
              <a:rPr lang="es-ES" dirty="0" err="1">
                <a:ea typeface="+mn-lt"/>
                <a:cs typeface="+mn-lt"/>
              </a:rPr>
              <a:t>viewport</a:t>
            </a:r>
            <a:r>
              <a:rPr lang="es-ES" dirty="0">
                <a:ea typeface="+mn-lt"/>
                <a:cs typeface="+mn-lt"/>
              </a:rPr>
              <a:t> (la ventana del navegador). 100vw es el 100% del ancho de la pantalla.</a:t>
            </a:r>
          </a:p>
          <a:p>
            <a:pPr lvl="2">
              <a:buFont typeface="Wingdings" panose="020B0604020202020204" pitchFamily="34" charset="0"/>
              <a:buChar char="§"/>
            </a:pPr>
            <a:r>
              <a:rPr lang="es-ES" dirty="0" err="1">
                <a:ea typeface="+mn-lt"/>
                <a:cs typeface="+mn-lt"/>
              </a:rPr>
              <a:t>vh</a:t>
            </a:r>
            <a:r>
              <a:rPr lang="es-ES" dirty="0">
                <a:ea typeface="+mn-lt"/>
                <a:cs typeface="+mn-lt"/>
              </a:rPr>
              <a:t> (</a:t>
            </a:r>
            <a:r>
              <a:rPr lang="es-ES" dirty="0" err="1">
                <a:ea typeface="+mn-lt"/>
                <a:cs typeface="+mn-lt"/>
              </a:rPr>
              <a:t>viewport</a:t>
            </a:r>
            <a:r>
              <a:rPr lang="es-ES" dirty="0">
                <a:ea typeface="+mn-lt"/>
                <a:cs typeface="+mn-lt"/>
              </a:rPr>
              <a:t> </a:t>
            </a:r>
            <a:r>
              <a:rPr lang="es-ES" dirty="0" err="1">
                <a:ea typeface="+mn-lt"/>
                <a:cs typeface="+mn-lt"/>
              </a:rPr>
              <a:t>height</a:t>
            </a:r>
            <a:r>
              <a:rPr lang="es-ES" dirty="0">
                <a:ea typeface="+mn-lt"/>
                <a:cs typeface="+mn-lt"/>
              </a:rPr>
              <a:t>): Relativa al 1% de la altura del </a:t>
            </a:r>
            <a:r>
              <a:rPr lang="es-ES" dirty="0" err="1">
                <a:ea typeface="+mn-lt"/>
                <a:cs typeface="+mn-lt"/>
              </a:rPr>
              <a:t>viewport</a:t>
            </a:r>
            <a:r>
              <a:rPr lang="es-ES" dirty="0">
                <a:ea typeface="+mn-lt"/>
                <a:cs typeface="+mn-lt"/>
              </a:rPr>
              <a:t>. 100vh es el 100% de la altura de la ventana del navegador.</a:t>
            </a:r>
            <a:endParaRPr lang="es-ES"/>
          </a:p>
        </p:txBody>
      </p:sp>
    </p:spTree>
    <p:extLst>
      <p:ext uri="{BB962C8B-B14F-4D97-AF65-F5344CB8AC3E}">
        <p14:creationId xmlns:p14="http://schemas.microsoft.com/office/powerpoint/2010/main" val="409790905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4D418F-47FE-B4C3-6D64-5477832AB5B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E925032-534E-7494-E0DE-F680485A265C}"/>
              </a:ext>
            </a:extLst>
          </p:cNvPr>
          <p:cNvSpPr>
            <a:spLocks noGrp="1"/>
          </p:cNvSpPr>
          <p:nvPr>
            <p:ph type="title"/>
          </p:nvPr>
        </p:nvSpPr>
        <p:spPr/>
        <p:txBody>
          <a:bodyPr/>
          <a:lstStyle/>
          <a:p>
            <a:r>
              <a:rPr lang="es-ES" b="0" dirty="0">
                <a:ea typeface="+mj-lt"/>
                <a:cs typeface="+mj-lt"/>
              </a:rPr>
              <a:t>2.2.4.1. Unidades absolutas (</a:t>
            </a:r>
            <a:r>
              <a:rPr lang="es-ES" b="0" dirty="0" err="1">
                <a:ea typeface="+mj-lt"/>
                <a:cs typeface="+mj-lt"/>
              </a:rPr>
              <a:t>px</a:t>
            </a:r>
            <a:r>
              <a:rPr lang="es-ES" b="0" dirty="0">
                <a:ea typeface="+mj-lt"/>
                <a:cs typeface="+mj-lt"/>
              </a:rPr>
              <a:t>, cm, in).</a:t>
            </a:r>
            <a:endParaRPr lang="es-ES" dirty="0"/>
          </a:p>
        </p:txBody>
      </p:sp>
      <p:sp>
        <p:nvSpPr>
          <p:cNvPr id="3" name="Marcador de contenido 2">
            <a:extLst>
              <a:ext uri="{FF2B5EF4-FFF2-40B4-BE49-F238E27FC236}">
                <a16:creationId xmlns:a16="http://schemas.microsoft.com/office/drawing/2014/main" id="{B120C746-9329-4F7E-97AA-33DB0C3CFA76}"/>
              </a:ext>
            </a:extLst>
          </p:cNvPr>
          <p:cNvSpPr>
            <a:spLocks noGrp="1"/>
          </p:cNvSpPr>
          <p:nvPr>
            <p:ph idx="1"/>
          </p:nvPr>
        </p:nvSpPr>
        <p:spPr/>
        <p:txBody>
          <a:bodyPr vert="horz" lIns="91440" tIns="45720" rIns="91440" bIns="45720" rtlCol="0" anchor="t">
            <a:normAutofit lnSpcReduction="10000"/>
          </a:bodyPr>
          <a:lstStyle/>
          <a:p>
            <a:r>
              <a:rPr lang="es-ES" dirty="0">
                <a:ea typeface="+mn-lt"/>
                <a:cs typeface="+mn-lt"/>
              </a:rPr>
              <a:t>Las unidades absolutas son unidades de medida en CSS que tienen un tamaño fijo e invariable. A diferencia de las unidades relativas, su valor no depende de ningún otro elemento o del tamaño de la pantalla. Son útiles cuando necesitas una precisión exacta en el tamaño de un elemento, como en el caso de la impresión o cuando un elemento no debe cambiar de tamaño bajo ninguna circunstancia.</a:t>
            </a:r>
            <a:endParaRPr lang="es-ES" dirty="0"/>
          </a:p>
          <a:p>
            <a:r>
              <a:rPr lang="es-ES" dirty="0">
                <a:ea typeface="+mn-lt"/>
                <a:cs typeface="+mn-lt"/>
              </a:rPr>
              <a:t>Sin embargo, su rigidez es también su principal desventaja en el diseño web moderno, ya que dificultan la creación de diseños responsivos y adaptables a diferentes dispositivos.</a:t>
            </a:r>
            <a:endParaRPr lang="es-ES" dirty="0"/>
          </a:p>
          <a:p>
            <a:r>
              <a:rPr lang="es-ES" dirty="0">
                <a:ea typeface="+mn-lt"/>
                <a:cs typeface="+mn-lt"/>
              </a:rPr>
              <a:t>Unidades principales:</a:t>
            </a:r>
            <a:endParaRPr lang="es-ES" dirty="0"/>
          </a:p>
          <a:p>
            <a:pPr lvl="1">
              <a:buFont typeface="Courier New" panose="020B0604020202020204" pitchFamily="34" charset="0"/>
              <a:buChar char="o"/>
            </a:pPr>
            <a:r>
              <a:rPr lang="es-ES" dirty="0" err="1">
                <a:ea typeface="+mn-lt"/>
                <a:cs typeface="+mn-lt"/>
              </a:rPr>
              <a:t>px</a:t>
            </a:r>
            <a:r>
              <a:rPr lang="es-ES" dirty="0">
                <a:ea typeface="+mn-lt"/>
                <a:cs typeface="+mn-lt"/>
              </a:rPr>
              <a:t> (píxeles): Es la unidad absoluta más común y práctica en diseño web. Un píxel es el punto más pequeño que se puede mostrar en la pantalla. Aunque es una unidad absoluta, su percepción de tamaño puede variar según la densidad de píxeles del dispositivo (por ejemplo, en pantallas Retina). Es la unidad de referencia para muchos diseñadores y es ideal para elementos cuyo tamaño debe ser constante, como bordes, sombras o el tamaño de iconos.</a:t>
            </a:r>
            <a:endParaRPr lang="es-ES" dirty="0"/>
          </a:p>
        </p:txBody>
      </p:sp>
    </p:spTree>
    <p:extLst>
      <p:ext uri="{BB962C8B-B14F-4D97-AF65-F5344CB8AC3E}">
        <p14:creationId xmlns:p14="http://schemas.microsoft.com/office/powerpoint/2010/main" val="176900795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C24A65-BABD-E645-D0DA-40A7BB32B10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FCF293B-F75C-EA42-0074-FA9C08628DF5}"/>
              </a:ext>
            </a:extLst>
          </p:cNvPr>
          <p:cNvSpPr>
            <a:spLocks noGrp="1"/>
          </p:cNvSpPr>
          <p:nvPr>
            <p:ph type="title"/>
          </p:nvPr>
        </p:nvSpPr>
        <p:spPr/>
        <p:txBody>
          <a:bodyPr/>
          <a:lstStyle/>
          <a:p>
            <a:r>
              <a:rPr lang="es-ES" b="0" dirty="0">
                <a:ea typeface="+mj-lt"/>
                <a:cs typeface="+mj-lt"/>
              </a:rPr>
              <a:t>2.2.4.1. Unidades absolutas (</a:t>
            </a:r>
            <a:r>
              <a:rPr lang="es-ES" b="0" dirty="0" err="1">
                <a:ea typeface="+mj-lt"/>
                <a:cs typeface="+mj-lt"/>
              </a:rPr>
              <a:t>px</a:t>
            </a:r>
            <a:r>
              <a:rPr lang="es-ES" b="0" dirty="0">
                <a:ea typeface="+mj-lt"/>
                <a:cs typeface="+mj-lt"/>
              </a:rPr>
              <a:t>, cm, in).</a:t>
            </a:r>
            <a:endParaRPr lang="es-ES" dirty="0"/>
          </a:p>
        </p:txBody>
      </p:sp>
      <p:sp>
        <p:nvSpPr>
          <p:cNvPr id="3" name="Marcador de contenido 2">
            <a:extLst>
              <a:ext uri="{FF2B5EF4-FFF2-40B4-BE49-F238E27FC236}">
                <a16:creationId xmlns:a16="http://schemas.microsoft.com/office/drawing/2014/main" id="{6E35E5C3-AD4C-B2D4-54AA-342070E48554}"/>
              </a:ext>
            </a:extLst>
          </p:cNvPr>
          <p:cNvSpPr>
            <a:spLocks noGrp="1"/>
          </p:cNvSpPr>
          <p:nvPr>
            <p:ph idx="1"/>
          </p:nvPr>
        </p:nvSpPr>
        <p:spPr/>
        <p:txBody>
          <a:bodyPr vert="horz" lIns="91440" tIns="45720" rIns="91440" bIns="45720" rtlCol="0" anchor="t">
            <a:normAutofit/>
          </a:bodyPr>
          <a:lstStyle/>
          <a:p>
            <a:pPr lvl="1">
              <a:buFont typeface="Courier New" panose="020B0604020202020204" pitchFamily="34" charset="0"/>
              <a:buChar char="o"/>
            </a:pPr>
            <a:r>
              <a:rPr lang="es-ES" dirty="0">
                <a:ea typeface="+mn-lt"/>
                <a:cs typeface="+mn-lt"/>
              </a:rPr>
              <a:t>cm (centímetros), mm (milímetros), in (pulgadas): Estas son unidades de medida físicas. Su uso en la web es muy limitado y se restringe casi exclusivamente a la creación de hojas de estilo para impresión (@media </a:t>
            </a:r>
            <a:r>
              <a:rPr lang="es-ES" dirty="0" err="1">
                <a:ea typeface="+mn-lt"/>
                <a:cs typeface="+mn-lt"/>
              </a:rPr>
              <a:t>print</a:t>
            </a:r>
            <a:r>
              <a:rPr lang="es-ES" dirty="0">
                <a:ea typeface="+mn-lt"/>
                <a:cs typeface="+mn-lt"/>
              </a:rPr>
              <a:t>), donde la correspondencia con el tamaño real del papel es necesaria. Por ejemplo, 1in equivale a 2.54cm o 96px.</a:t>
            </a:r>
            <a:endParaRPr lang="es-ES" dirty="0"/>
          </a:p>
          <a:p>
            <a:pPr lvl="1">
              <a:buFont typeface="Courier New" panose="020B0604020202020204" pitchFamily="34" charset="0"/>
              <a:buChar char="o"/>
            </a:pPr>
            <a:r>
              <a:rPr lang="es-ES" dirty="0">
                <a:ea typeface="+mn-lt"/>
                <a:cs typeface="+mn-lt"/>
              </a:rPr>
              <a:t>pt (puntos): Es una unidad de medida tipográfica tradicional. Un punto es 1/72 de una pulgada. Al igual que las unidades físicas, su uso es más común en la impresión que en el diseño web en pantalla.</a:t>
            </a:r>
          </a:p>
          <a:p>
            <a:pPr lvl="1">
              <a:buFont typeface="Courier New" panose="020B0604020202020204" pitchFamily="34" charset="0"/>
              <a:buChar char="o"/>
            </a:pPr>
            <a:r>
              <a:rPr lang="es-ES" dirty="0">
                <a:ea typeface="+mn-lt"/>
                <a:cs typeface="+mn-lt"/>
              </a:rPr>
              <a:t>s (segundos) y ms (milisegundos): Se utilizan para definir la duración de transiciones y animaciones. Por ejemplo, </a:t>
            </a:r>
            <a:r>
              <a:rPr lang="es-ES" dirty="0" err="1">
                <a:ea typeface="+mn-lt"/>
                <a:cs typeface="+mn-lt"/>
              </a:rPr>
              <a:t>transition</a:t>
            </a:r>
            <a:r>
              <a:rPr lang="es-ES" dirty="0">
                <a:ea typeface="+mn-lt"/>
                <a:cs typeface="+mn-lt"/>
              </a:rPr>
              <a:t>: </a:t>
            </a:r>
            <a:r>
              <a:rPr lang="es-ES" dirty="0" err="1">
                <a:ea typeface="+mn-lt"/>
                <a:cs typeface="+mn-lt"/>
              </a:rPr>
              <a:t>all</a:t>
            </a:r>
            <a:r>
              <a:rPr lang="es-ES" dirty="0">
                <a:ea typeface="+mn-lt"/>
                <a:cs typeface="+mn-lt"/>
              </a:rPr>
              <a:t> 0.5s </a:t>
            </a:r>
            <a:r>
              <a:rPr lang="es-ES" dirty="0" err="1">
                <a:ea typeface="+mn-lt"/>
                <a:cs typeface="+mn-lt"/>
              </a:rPr>
              <a:t>ease</a:t>
            </a:r>
            <a:r>
              <a:rPr lang="es-ES" dirty="0">
                <a:ea typeface="+mn-lt"/>
                <a:cs typeface="+mn-lt"/>
              </a:rPr>
              <a:t>;</a:t>
            </a:r>
            <a:endParaRPr lang="es-ES" dirty="0"/>
          </a:p>
          <a:p>
            <a:pPr lvl="1">
              <a:buFont typeface="Courier New" panose="020B0604020202020204" pitchFamily="34" charset="0"/>
              <a:buChar char="o"/>
            </a:pPr>
            <a:r>
              <a:rPr lang="es-ES" dirty="0" err="1">
                <a:ea typeface="+mn-lt"/>
                <a:cs typeface="+mn-lt"/>
              </a:rPr>
              <a:t>deg</a:t>
            </a:r>
            <a:r>
              <a:rPr lang="es-ES" dirty="0">
                <a:ea typeface="+mn-lt"/>
                <a:cs typeface="+mn-lt"/>
              </a:rPr>
              <a:t> (grados), rad (radianes), </a:t>
            </a:r>
            <a:r>
              <a:rPr lang="es-ES" dirty="0" err="1">
                <a:ea typeface="+mn-lt"/>
                <a:cs typeface="+mn-lt"/>
              </a:rPr>
              <a:t>grad</a:t>
            </a:r>
            <a:r>
              <a:rPr lang="es-ES" dirty="0">
                <a:ea typeface="+mn-lt"/>
                <a:cs typeface="+mn-lt"/>
              </a:rPr>
              <a:t> (</a:t>
            </a:r>
            <a:r>
              <a:rPr lang="es-ES" dirty="0" err="1">
                <a:ea typeface="+mn-lt"/>
                <a:cs typeface="+mn-lt"/>
              </a:rPr>
              <a:t>gradianes</a:t>
            </a:r>
            <a:r>
              <a:rPr lang="es-ES" dirty="0">
                <a:ea typeface="+mn-lt"/>
                <a:cs typeface="+mn-lt"/>
              </a:rPr>
              <a:t>), </a:t>
            </a:r>
            <a:r>
              <a:rPr lang="es-ES" dirty="0" err="1">
                <a:ea typeface="+mn-lt"/>
                <a:cs typeface="+mn-lt"/>
              </a:rPr>
              <a:t>turn</a:t>
            </a:r>
            <a:r>
              <a:rPr lang="es-ES" dirty="0">
                <a:ea typeface="+mn-lt"/>
                <a:cs typeface="+mn-lt"/>
              </a:rPr>
              <a:t> (vueltas): Se usan para propiedades de rotación en transformaciones, como </a:t>
            </a:r>
            <a:r>
              <a:rPr lang="es-ES" dirty="0" err="1">
                <a:ea typeface="+mn-lt"/>
                <a:cs typeface="+mn-lt"/>
              </a:rPr>
              <a:t>transform</a:t>
            </a:r>
            <a:r>
              <a:rPr lang="es-ES" dirty="0">
                <a:ea typeface="+mn-lt"/>
                <a:cs typeface="+mn-lt"/>
              </a:rPr>
              <a:t>: </a:t>
            </a:r>
            <a:r>
              <a:rPr lang="es-ES" dirty="0" err="1">
                <a:ea typeface="+mn-lt"/>
                <a:cs typeface="+mn-lt"/>
              </a:rPr>
              <a:t>rotate</a:t>
            </a:r>
            <a:r>
              <a:rPr lang="es-ES" dirty="0">
                <a:ea typeface="+mn-lt"/>
                <a:cs typeface="+mn-lt"/>
              </a:rPr>
              <a:t>(90deg);.</a:t>
            </a:r>
            <a:endParaRPr lang="es-ES" dirty="0"/>
          </a:p>
        </p:txBody>
      </p:sp>
    </p:spTree>
    <p:extLst>
      <p:ext uri="{BB962C8B-B14F-4D97-AF65-F5344CB8AC3E}">
        <p14:creationId xmlns:p14="http://schemas.microsoft.com/office/powerpoint/2010/main" val="41075931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D1F274-0E23-F884-8D1A-894CAAE01E0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18F1AC6-F580-CFCF-EABB-849EA4316F92}"/>
              </a:ext>
            </a:extLst>
          </p:cNvPr>
          <p:cNvSpPr>
            <a:spLocks noGrp="1"/>
          </p:cNvSpPr>
          <p:nvPr>
            <p:ph type="title"/>
          </p:nvPr>
        </p:nvSpPr>
        <p:spPr/>
        <p:txBody>
          <a:bodyPr/>
          <a:lstStyle/>
          <a:p>
            <a:r>
              <a:rPr lang="es-ES" b="0" dirty="0">
                <a:ea typeface="+mj-lt"/>
                <a:cs typeface="+mj-lt"/>
              </a:rPr>
              <a:t>2.2.4.1. Unidades absolutas (</a:t>
            </a:r>
            <a:r>
              <a:rPr lang="es-ES" b="0" dirty="0" err="1">
                <a:ea typeface="+mj-lt"/>
                <a:cs typeface="+mj-lt"/>
              </a:rPr>
              <a:t>px</a:t>
            </a:r>
            <a:r>
              <a:rPr lang="es-ES" b="0" dirty="0">
                <a:ea typeface="+mj-lt"/>
                <a:cs typeface="+mj-lt"/>
              </a:rPr>
              <a:t>, cm, in).</a:t>
            </a:r>
            <a:endParaRPr lang="es-ES" dirty="0"/>
          </a:p>
        </p:txBody>
      </p:sp>
      <p:sp>
        <p:nvSpPr>
          <p:cNvPr id="3" name="Marcador de contenido 2">
            <a:extLst>
              <a:ext uri="{FF2B5EF4-FFF2-40B4-BE49-F238E27FC236}">
                <a16:creationId xmlns:a16="http://schemas.microsoft.com/office/drawing/2014/main" id="{072CD85E-259B-97BB-1F36-F3985FF95642}"/>
              </a:ext>
            </a:extLst>
          </p:cNvPr>
          <p:cNvSpPr>
            <a:spLocks noGrp="1"/>
          </p:cNvSpPr>
          <p:nvPr>
            <p:ph idx="1"/>
          </p:nvPr>
        </p:nvSpPr>
        <p:spPr/>
        <p:txBody>
          <a:bodyPr vert="horz" lIns="91440" tIns="45720" rIns="91440" bIns="45720" rtlCol="0" anchor="t">
            <a:normAutofit fontScale="85000" lnSpcReduction="20000"/>
          </a:bodyPr>
          <a:lstStyle/>
          <a:p>
            <a:r>
              <a:rPr lang="es-ES" dirty="0">
                <a:ea typeface="+mn-lt"/>
                <a:cs typeface="+mn-lt"/>
              </a:rPr>
              <a:t>Ejemplo: Imagina que quieres que un </a:t>
            </a:r>
            <a:r>
              <a:rPr lang="es-ES" dirty="0" err="1">
                <a:ea typeface="+mn-lt"/>
                <a:cs typeface="+mn-lt"/>
              </a:rPr>
              <a:t>div</a:t>
            </a:r>
            <a:r>
              <a:rPr lang="es-ES" dirty="0">
                <a:ea typeface="+mn-lt"/>
                <a:cs typeface="+mn-lt"/>
              </a:rPr>
              <a:t> y un h1 tengan tamaños fijos, sin importar el dispositivo.</a:t>
            </a:r>
            <a:endParaRPr lang="es-ES" dirty="0"/>
          </a:p>
          <a:p>
            <a:r>
              <a:rPr lang="es-ES" b="1" dirty="0">
                <a:latin typeface="Courier New"/>
                <a:ea typeface="+mn-lt"/>
                <a:cs typeface="+mn-lt"/>
              </a:rPr>
              <a:t>&lt;</a:t>
            </a:r>
            <a:r>
              <a:rPr lang="es-ES" b="1" dirty="0" err="1">
                <a:latin typeface="Courier New"/>
                <a:ea typeface="+mn-lt"/>
                <a:cs typeface="+mn-lt"/>
              </a:rPr>
              <a:t>div</a:t>
            </a:r>
            <a:r>
              <a:rPr lang="es-ES" b="1" dirty="0">
                <a:latin typeface="Courier New"/>
                <a:ea typeface="+mn-lt"/>
                <a:cs typeface="+mn-lt"/>
              </a:rPr>
              <a:t> </a:t>
            </a:r>
            <a:r>
              <a:rPr lang="es-ES" b="1" dirty="0" err="1">
                <a:latin typeface="Courier New"/>
                <a:ea typeface="+mn-lt"/>
                <a:cs typeface="+mn-lt"/>
              </a:rPr>
              <a:t>class</a:t>
            </a:r>
            <a:r>
              <a:rPr lang="es-ES" b="1" dirty="0">
                <a:latin typeface="Courier New"/>
                <a:ea typeface="+mn-lt"/>
                <a:cs typeface="+mn-lt"/>
              </a:rPr>
              <a:t>="caja-fija"&gt;</a:t>
            </a:r>
            <a:br>
              <a:rPr lang="es-ES" b="1" dirty="0">
                <a:latin typeface="Courier New"/>
                <a:ea typeface="+mn-lt"/>
                <a:cs typeface="+mn-lt"/>
              </a:rPr>
            </a:br>
            <a:r>
              <a:rPr lang="es-ES" b="1" dirty="0">
                <a:latin typeface="Courier New"/>
                <a:ea typeface="+mn-lt"/>
                <a:cs typeface="+mn-lt"/>
              </a:rPr>
              <a:t>  &lt;h1&gt;Título principal&lt;/h1&gt;</a:t>
            </a:r>
            <a:br>
              <a:rPr lang="es-ES" b="1" dirty="0">
                <a:latin typeface="Courier New"/>
                <a:ea typeface="+mn-lt"/>
                <a:cs typeface="+mn-lt"/>
              </a:rPr>
            </a:br>
            <a:r>
              <a:rPr lang="es-ES" b="1" dirty="0">
                <a:latin typeface="Courier New"/>
                <a:ea typeface="+mn-lt"/>
                <a:cs typeface="+mn-lt"/>
              </a:rPr>
              <a:t>&lt;/</a:t>
            </a:r>
            <a:r>
              <a:rPr lang="es-ES" b="1" dirty="0" err="1">
                <a:latin typeface="Courier New"/>
                <a:ea typeface="+mn-lt"/>
                <a:cs typeface="+mn-lt"/>
              </a:rPr>
              <a:t>div</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Usamos píxeles para asegurar un tamaño fijo */</a:t>
            </a:r>
            <a:br>
              <a:rPr lang="es-ES" b="1" dirty="0">
                <a:latin typeface="Courier New"/>
                <a:ea typeface="+mn-lt"/>
                <a:cs typeface="+mn-lt"/>
              </a:rPr>
            </a:br>
            <a:r>
              <a:rPr lang="es-ES" b="1" dirty="0">
                <a:latin typeface="Courier New"/>
                <a:ea typeface="+mn-lt"/>
                <a:cs typeface="+mn-lt"/>
              </a:rPr>
              <a:t>.caja-fija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width</a:t>
            </a:r>
            <a:r>
              <a:rPr lang="es-ES" b="1" dirty="0">
                <a:latin typeface="Courier New"/>
                <a:ea typeface="+mn-lt"/>
                <a:cs typeface="+mn-lt"/>
              </a:rPr>
              <a:t>: 400px;</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height</a:t>
            </a:r>
            <a:r>
              <a:rPr lang="es-ES" b="1" dirty="0">
                <a:latin typeface="Courier New"/>
                <a:ea typeface="+mn-lt"/>
                <a:cs typeface="+mn-lt"/>
              </a:rPr>
              <a:t>: 200px;</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background</a:t>
            </a:r>
            <a:r>
              <a:rPr lang="es-ES" b="1" dirty="0">
                <a:latin typeface="Courier New"/>
                <a:ea typeface="+mn-lt"/>
                <a:cs typeface="+mn-lt"/>
              </a:rPr>
              <a:t>-color: </a:t>
            </a:r>
            <a:r>
              <a:rPr lang="es-ES" b="1" dirty="0" err="1">
                <a:latin typeface="Courier New"/>
                <a:ea typeface="+mn-lt"/>
                <a:cs typeface="+mn-lt"/>
              </a:rPr>
              <a:t>lightblue</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border</a:t>
            </a:r>
            <a:r>
              <a:rPr lang="es-ES" b="1" dirty="0">
                <a:latin typeface="Courier New"/>
                <a:ea typeface="+mn-lt"/>
                <a:cs typeface="+mn-lt"/>
              </a:rPr>
              <a:t>: 2px </a:t>
            </a:r>
            <a:r>
              <a:rPr lang="es-ES" b="1" dirty="0" err="1">
                <a:latin typeface="Courier New"/>
                <a:ea typeface="+mn-lt"/>
                <a:cs typeface="+mn-lt"/>
              </a:rPr>
              <a:t>solid</a:t>
            </a:r>
            <a:r>
              <a:rPr lang="es-ES" b="1" dirty="0">
                <a:latin typeface="Courier New"/>
                <a:ea typeface="+mn-lt"/>
                <a:cs typeface="+mn-lt"/>
              </a:rPr>
              <a:t> #007bff;</a:t>
            </a:r>
            <a:br>
              <a:rPr lang="es-ES" b="1" dirty="0">
                <a:latin typeface="Courier New"/>
                <a:ea typeface="+mn-lt"/>
                <a:cs typeface="+mn-lt"/>
              </a:rPr>
            </a:b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 El tamaño del texto no cambiará, sin importar el dispositivo */</a:t>
            </a:r>
            <a:br>
              <a:rPr lang="es-ES" b="1" dirty="0">
                <a:latin typeface="Courier New"/>
                <a:ea typeface="+mn-lt"/>
                <a:cs typeface="+mn-lt"/>
              </a:rPr>
            </a:br>
            <a:r>
              <a:rPr lang="es-ES" b="1" dirty="0">
                <a:latin typeface="Courier New"/>
                <a:ea typeface="+mn-lt"/>
                <a:cs typeface="+mn-lt"/>
              </a:rPr>
              <a:t>h1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font-size</a:t>
            </a:r>
            <a:r>
              <a:rPr lang="es-ES" b="1" dirty="0">
                <a:latin typeface="Courier New"/>
                <a:ea typeface="+mn-lt"/>
                <a:cs typeface="+mn-lt"/>
              </a:rPr>
              <a:t>: 32px;</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text-align</a:t>
            </a:r>
            <a:r>
              <a:rPr lang="es-ES" b="1" dirty="0">
                <a:latin typeface="Courier New"/>
                <a:ea typeface="+mn-lt"/>
                <a:cs typeface="+mn-lt"/>
              </a:rPr>
              <a:t>: center;</a:t>
            </a:r>
            <a:br>
              <a:rPr lang="es-ES" b="1" dirty="0">
                <a:latin typeface="Courier New"/>
                <a:ea typeface="+mn-lt"/>
                <a:cs typeface="+mn-lt"/>
              </a:rPr>
            </a:br>
            <a:r>
              <a:rPr lang="es-ES" b="1" dirty="0">
                <a:latin typeface="Courier New"/>
                <a:ea typeface="+mn-lt"/>
                <a:cs typeface="+mn-lt"/>
              </a:rPr>
              <a:t>}</a:t>
            </a:r>
          </a:p>
          <a:p>
            <a:pPr lvl="1">
              <a:buFont typeface="Courier New" panose="020B0604020202020204" pitchFamily="34" charset="0"/>
              <a:buChar char="o"/>
            </a:pPr>
            <a:r>
              <a:rPr lang="es-ES" dirty="0">
                <a:ea typeface="+mn-lt"/>
                <a:cs typeface="+mn-lt"/>
              </a:rPr>
              <a:t>Al usar píxeles, el tamaño de la caja y del texto será siempre el mismo, independientemente del tamaño de la ventana del navegador.</a:t>
            </a:r>
            <a:endParaRPr lang="es-ES" dirty="0"/>
          </a:p>
          <a:p>
            <a:pPr lvl="1">
              <a:buFont typeface="Courier New" panose="020B0604020202020204" pitchFamily="34" charset="0"/>
              <a:buChar char="o"/>
            </a:pPr>
            <a:endParaRPr lang="es-ES" dirty="0"/>
          </a:p>
        </p:txBody>
      </p:sp>
    </p:spTree>
    <p:extLst>
      <p:ext uri="{BB962C8B-B14F-4D97-AF65-F5344CB8AC3E}">
        <p14:creationId xmlns:p14="http://schemas.microsoft.com/office/powerpoint/2010/main" val="220329150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C48804-3EBB-7E10-DA93-B8AA51640C8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1EA5932-5C04-E052-460D-B54DDAB079B8}"/>
              </a:ext>
            </a:extLst>
          </p:cNvPr>
          <p:cNvSpPr>
            <a:spLocks noGrp="1"/>
          </p:cNvSpPr>
          <p:nvPr>
            <p:ph type="title"/>
          </p:nvPr>
        </p:nvSpPr>
        <p:spPr/>
        <p:txBody>
          <a:bodyPr/>
          <a:lstStyle/>
          <a:p>
            <a:r>
              <a:rPr lang="es-ES" b="0" dirty="0">
                <a:ea typeface="+mj-lt"/>
                <a:cs typeface="+mj-lt"/>
              </a:rPr>
              <a:t>2.2.4.2. Unidades relativas (em, rem, </a:t>
            </a:r>
            <a:r>
              <a:rPr lang="es-ES" b="0" dirty="0" err="1">
                <a:ea typeface="+mj-lt"/>
                <a:cs typeface="+mj-lt"/>
              </a:rPr>
              <a:t>vw</a:t>
            </a:r>
            <a:r>
              <a:rPr lang="es-ES" b="0" dirty="0">
                <a:ea typeface="+mj-lt"/>
                <a:cs typeface="+mj-lt"/>
              </a:rPr>
              <a:t>, </a:t>
            </a:r>
            <a:r>
              <a:rPr lang="es-ES" b="0" dirty="0" err="1">
                <a:ea typeface="+mj-lt"/>
                <a:cs typeface="+mj-lt"/>
              </a:rPr>
              <a:t>vh</a:t>
            </a:r>
            <a:r>
              <a:rPr lang="es-ES" b="0" dirty="0">
                <a:ea typeface="+mj-lt"/>
                <a:cs typeface="+mj-lt"/>
              </a:rPr>
              <a:t>, %).</a:t>
            </a:r>
            <a:endParaRPr lang="es-ES" dirty="0"/>
          </a:p>
        </p:txBody>
      </p:sp>
      <p:sp>
        <p:nvSpPr>
          <p:cNvPr id="3" name="Marcador de contenido 2">
            <a:extLst>
              <a:ext uri="{FF2B5EF4-FFF2-40B4-BE49-F238E27FC236}">
                <a16:creationId xmlns:a16="http://schemas.microsoft.com/office/drawing/2014/main" id="{82ACF35D-FCF4-ADFA-3045-5C3CCC817F6F}"/>
              </a:ext>
            </a:extLst>
          </p:cNvPr>
          <p:cNvSpPr>
            <a:spLocks noGrp="1"/>
          </p:cNvSpPr>
          <p:nvPr>
            <p:ph idx="1"/>
          </p:nvPr>
        </p:nvSpPr>
        <p:spPr/>
        <p:txBody>
          <a:bodyPr vert="horz" lIns="91440" tIns="45720" rIns="91440" bIns="45720" rtlCol="0" anchor="t">
            <a:normAutofit fontScale="92500" lnSpcReduction="20000"/>
          </a:bodyPr>
          <a:lstStyle/>
          <a:p>
            <a:r>
              <a:rPr lang="es-ES" dirty="0">
                <a:ea typeface="+mn-lt"/>
                <a:cs typeface="+mn-lt"/>
              </a:rPr>
              <a:t>Las unidades relativas son la base del diseño web moderno y responsivo. A diferencia de las unidades absolutas, su tamaño no es fijo, sino que depende del contexto. Esto permite que los elementos se adapten y escalen automáticamente en función de otros elementos, del tamaño de la fuente o de las dimensiones del </a:t>
            </a:r>
            <a:r>
              <a:rPr lang="es-ES" dirty="0" err="1">
                <a:ea typeface="+mn-lt"/>
                <a:cs typeface="+mn-lt"/>
              </a:rPr>
              <a:t>viewport</a:t>
            </a:r>
            <a:r>
              <a:rPr lang="es-ES" dirty="0">
                <a:ea typeface="+mn-lt"/>
                <a:cs typeface="+mn-lt"/>
              </a:rPr>
              <a:t> (la ventana del navegador). Su uso es fundamental para crear sitios web que se vean bien en cualquier dispositivo, desde un móvil hasta una pantalla de escritorio.</a:t>
            </a:r>
            <a:endParaRPr lang="es-ES" dirty="0"/>
          </a:p>
          <a:p>
            <a:r>
              <a:rPr lang="es-ES" dirty="0">
                <a:ea typeface="+mn-lt"/>
                <a:cs typeface="+mn-lt"/>
              </a:rPr>
              <a:t>Unidades principales</a:t>
            </a:r>
            <a:endParaRPr lang="es-ES" dirty="0"/>
          </a:p>
          <a:p>
            <a:pPr lvl="1">
              <a:buFont typeface="Courier New" panose="020B0604020202020204" pitchFamily="34" charset="0"/>
              <a:buChar char="o"/>
            </a:pPr>
            <a:r>
              <a:rPr lang="es-ES" dirty="0">
                <a:ea typeface="+mn-lt"/>
                <a:cs typeface="+mn-lt"/>
              </a:rPr>
              <a:t>em: Esta unidad es relativa al tamaño de la fuente del elemento padre. Si el padre tiene un </a:t>
            </a:r>
            <a:r>
              <a:rPr lang="es-ES" dirty="0" err="1">
                <a:ea typeface="+mn-lt"/>
                <a:cs typeface="+mn-lt"/>
              </a:rPr>
              <a:t>font-size</a:t>
            </a:r>
            <a:r>
              <a:rPr lang="es-ES" dirty="0">
                <a:ea typeface="+mn-lt"/>
                <a:cs typeface="+mn-lt"/>
              </a:rPr>
              <a:t> de 16px, entonces 2em será 32px. La principal desventaja de em es que su valor se hereda y se "acumula" con el de los elementos padre, lo que puede hacer que los cálculos sean confusos en estructuras de anidamiento complejas.</a:t>
            </a:r>
            <a:endParaRPr lang="es-ES" dirty="0"/>
          </a:p>
          <a:p>
            <a:pPr lvl="1">
              <a:buFont typeface="Courier New" panose="020B0604020202020204" pitchFamily="34" charset="0"/>
              <a:buChar char="o"/>
            </a:pPr>
            <a:r>
              <a:rPr lang="es-ES" dirty="0">
                <a:ea typeface="+mn-lt"/>
                <a:cs typeface="+mn-lt"/>
              </a:rPr>
              <a:t>rem (</a:t>
            </a:r>
            <a:r>
              <a:rPr lang="es-ES" dirty="0" err="1">
                <a:ea typeface="+mn-lt"/>
                <a:cs typeface="+mn-lt"/>
              </a:rPr>
              <a:t>root</a:t>
            </a:r>
            <a:r>
              <a:rPr lang="es-ES" dirty="0">
                <a:ea typeface="+mn-lt"/>
                <a:cs typeface="+mn-lt"/>
              </a:rPr>
              <a:t> em): A diferencia de em, esta unidad es relativa al tamaño de la fuente del elemento raíz del documento, es decir, el elemento &lt;</a:t>
            </a:r>
            <a:r>
              <a:rPr lang="es-ES" dirty="0" err="1">
                <a:ea typeface="+mn-lt"/>
                <a:cs typeface="+mn-lt"/>
              </a:rPr>
              <a:t>html</a:t>
            </a:r>
            <a:r>
              <a:rPr lang="es-ES" dirty="0">
                <a:ea typeface="+mn-lt"/>
                <a:cs typeface="+mn-lt"/>
              </a:rPr>
              <a:t>&gt;. Su valor base no se ve afectado por los elementos padre, lo que la hace mucho más predecible. Por eso, rem es la unidad preferida para definir el tamaño de la fuente en todo el documento.</a:t>
            </a:r>
            <a:endParaRPr lang="es-ES" dirty="0"/>
          </a:p>
          <a:p>
            <a:pPr lvl="1">
              <a:buFont typeface="Courier New" panose="020B0604020202020204" pitchFamily="34" charset="0"/>
              <a:buChar char="o"/>
            </a:pPr>
            <a:r>
              <a:rPr lang="es-ES" dirty="0">
                <a:ea typeface="+mn-lt"/>
                <a:cs typeface="+mn-lt"/>
              </a:rPr>
              <a:t>% (porcentaje): Esta unidad es relativa al tamaño del elemento padre. Se usa comúnmente para definir anchos (</a:t>
            </a:r>
            <a:r>
              <a:rPr lang="es-ES" dirty="0" err="1">
                <a:ea typeface="+mn-lt"/>
                <a:cs typeface="+mn-lt"/>
              </a:rPr>
              <a:t>width</a:t>
            </a:r>
            <a:r>
              <a:rPr lang="es-ES" dirty="0">
                <a:ea typeface="+mn-lt"/>
                <a:cs typeface="+mn-lt"/>
              </a:rPr>
              <a:t>) y alturas (</a:t>
            </a:r>
            <a:r>
              <a:rPr lang="es-ES" dirty="0" err="1">
                <a:ea typeface="+mn-lt"/>
                <a:cs typeface="+mn-lt"/>
              </a:rPr>
              <a:t>height</a:t>
            </a:r>
            <a:r>
              <a:rPr lang="es-ES" dirty="0">
                <a:ea typeface="+mn-lt"/>
                <a:cs typeface="+mn-lt"/>
              </a:rPr>
              <a:t>) de elementos. Por ejemplo, un </a:t>
            </a:r>
            <a:r>
              <a:rPr lang="es-ES" dirty="0" err="1">
                <a:ea typeface="+mn-lt"/>
                <a:cs typeface="+mn-lt"/>
              </a:rPr>
              <a:t>div</a:t>
            </a:r>
            <a:r>
              <a:rPr lang="es-ES" dirty="0">
                <a:ea typeface="+mn-lt"/>
                <a:cs typeface="+mn-lt"/>
              </a:rPr>
              <a:t> con </a:t>
            </a:r>
            <a:r>
              <a:rPr lang="es-ES" dirty="0" err="1">
                <a:ea typeface="+mn-lt"/>
                <a:cs typeface="+mn-lt"/>
              </a:rPr>
              <a:t>width</a:t>
            </a:r>
            <a:r>
              <a:rPr lang="es-ES" dirty="0">
                <a:ea typeface="+mn-lt"/>
                <a:cs typeface="+mn-lt"/>
              </a:rPr>
              <a:t>: 50% ocupará la mitad del ancho de su contenedor.</a:t>
            </a:r>
            <a:endParaRPr lang="es-ES" dirty="0"/>
          </a:p>
        </p:txBody>
      </p:sp>
    </p:spTree>
    <p:extLst>
      <p:ext uri="{BB962C8B-B14F-4D97-AF65-F5344CB8AC3E}">
        <p14:creationId xmlns:p14="http://schemas.microsoft.com/office/powerpoint/2010/main" val="248064451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9FB0DF-4805-59DB-8BD3-996D2A5E697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4ECF8E0-3257-5A88-CA9C-D5A187F9C5F6}"/>
              </a:ext>
            </a:extLst>
          </p:cNvPr>
          <p:cNvSpPr>
            <a:spLocks noGrp="1"/>
          </p:cNvSpPr>
          <p:nvPr>
            <p:ph type="title"/>
          </p:nvPr>
        </p:nvSpPr>
        <p:spPr/>
        <p:txBody>
          <a:bodyPr/>
          <a:lstStyle/>
          <a:p>
            <a:r>
              <a:rPr lang="es-ES" b="0" dirty="0">
                <a:ea typeface="+mj-lt"/>
                <a:cs typeface="+mj-lt"/>
              </a:rPr>
              <a:t>2.2.4.2. Unidades relativas (em, rem, </a:t>
            </a:r>
            <a:r>
              <a:rPr lang="es-ES" b="0" dirty="0" err="1">
                <a:ea typeface="+mj-lt"/>
                <a:cs typeface="+mj-lt"/>
              </a:rPr>
              <a:t>vw</a:t>
            </a:r>
            <a:r>
              <a:rPr lang="es-ES" b="0" dirty="0">
                <a:ea typeface="+mj-lt"/>
                <a:cs typeface="+mj-lt"/>
              </a:rPr>
              <a:t>, </a:t>
            </a:r>
            <a:r>
              <a:rPr lang="es-ES" b="0" dirty="0" err="1">
                <a:ea typeface="+mj-lt"/>
                <a:cs typeface="+mj-lt"/>
              </a:rPr>
              <a:t>vh</a:t>
            </a:r>
            <a:r>
              <a:rPr lang="es-ES" b="0" dirty="0">
                <a:ea typeface="+mj-lt"/>
                <a:cs typeface="+mj-lt"/>
              </a:rPr>
              <a:t>, %).</a:t>
            </a:r>
            <a:endParaRPr lang="es-ES" dirty="0"/>
          </a:p>
        </p:txBody>
      </p:sp>
      <p:sp>
        <p:nvSpPr>
          <p:cNvPr id="3" name="Marcador de contenido 2">
            <a:extLst>
              <a:ext uri="{FF2B5EF4-FFF2-40B4-BE49-F238E27FC236}">
                <a16:creationId xmlns:a16="http://schemas.microsoft.com/office/drawing/2014/main" id="{3B09A540-1270-7161-0F5E-DBC26F6420DB}"/>
              </a:ext>
            </a:extLst>
          </p:cNvPr>
          <p:cNvSpPr>
            <a:spLocks noGrp="1"/>
          </p:cNvSpPr>
          <p:nvPr>
            <p:ph idx="1"/>
          </p:nvPr>
        </p:nvSpPr>
        <p:spPr/>
        <p:txBody>
          <a:bodyPr vert="horz" lIns="91440" tIns="45720" rIns="91440" bIns="45720" rtlCol="0" anchor="t">
            <a:normAutofit fontScale="92500" lnSpcReduction="10000"/>
          </a:bodyPr>
          <a:lstStyle/>
          <a:p>
            <a:pPr lvl="1">
              <a:buFont typeface="Courier New" panose="020B0604020202020204" pitchFamily="34" charset="0"/>
              <a:buChar char="o"/>
            </a:pPr>
            <a:r>
              <a:rPr lang="es-ES" dirty="0" err="1">
                <a:ea typeface="+mn-lt"/>
                <a:cs typeface="+mn-lt"/>
              </a:rPr>
              <a:t>vw</a:t>
            </a:r>
            <a:r>
              <a:rPr lang="es-ES" dirty="0">
                <a:ea typeface="+mn-lt"/>
                <a:cs typeface="+mn-lt"/>
              </a:rPr>
              <a:t> (</a:t>
            </a:r>
            <a:r>
              <a:rPr lang="es-ES" dirty="0" err="1">
                <a:ea typeface="+mn-lt"/>
                <a:cs typeface="+mn-lt"/>
              </a:rPr>
              <a:t>viewport</a:t>
            </a:r>
            <a:r>
              <a:rPr lang="es-ES" dirty="0">
                <a:ea typeface="+mn-lt"/>
                <a:cs typeface="+mn-lt"/>
              </a:rPr>
              <a:t> </a:t>
            </a:r>
            <a:r>
              <a:rPr lang="es-ES" dirty="0" err="1">
                <a:ea typeface="+mn-lt"/>
                <a:cs typeface="+mn-lt"/>
              </a:rPr>
              <a:t>width</a:t>
            </a:r>
            <a:r>
              <a:rPr lang="es-ES" dirty="0">
                <a:ea typeface="+mn-lt"/>
                <a:cs typeface="+mn-lt"/>
              </a:rPr>
              <a:t>): Es una unidad relativa al ancho del </a:t>
            </a:r>
            <a:r>
              <a:rPr lang="es-ES" dirty="0" err="1">
                <a:ea typeface="+mn-lt"/>
                <a:cs typeface="+mn-lt"/>
              </a:rPr>
              <a:t>viewport</a:t>
            </a:r>
            <a:r>
              <a:rPr lang="es-ES" dirty="0">
                <a:ea typeface="+mn-lt"/>
                <a:cs typeface="+mn-lt"/>
              </a:rPr>
              <a:t> (la ventana del navegador). 1vw equivale al 1% del ancho del </a:t>
            </a:r>
            <a:r>
              <a:rPr lang="es-ES" dirty="0" err="1">
                <a:ea typeface="+mn-lt"/>
                <a:cs typeface="+mn-lt"/>
              </a:rPr>
              <a:t>viewport</a:t>
            </a:r>
            <a:r>
              <a:rPr lang="es-ES" dirty="0">
                <a:ea typeface="+mn-lt"/>
                <a:cs typeface="+mn-lt"/>
              </a:rPr>
              <a:t>. Es ideal para elementos que necesitan escalar de forma fluida y ocupar todo el ancho de la pantalla, como un encabezado o una imagen a pantalla completa.</a:t>
            </a:r>
          </a:p>
          <a:p>
            <a:pPr lvl="1">
              <a:buFont typeface="Courier New" panose="020B0604020202020204" pitchFamily="34" charset="0"/>
              <a:buChar char="o"/>
            </a:pPr>
            <a:r>
              <a:rPr lang="es-ES" dirty="0" err="1">
                <a:ea typeface="+mn-lt"/>
                <a:cs typeface="+mn-lt"/>
              </a:rPr>
              <a:t>vh</a:t>
            </a:r>
            <a:r>
              <a:rPr lang="es-ES" dirty="0">
                <a:ea typeface="+mn-lt"/>
                <a:cs typeface="+mn-lt"/>
              </a:rPr>
              <a:t> (</a:t>
            </a:r>
            <a:r>
              <a:rPr lang="es-ES" dirty="0" err="1">
                <a:ea typeface="+mn-lt"/>
                <a:cs typeface="+mn-lt"/>
              </a:rPr>
              <a:t>viewport</a:t>
            </a:r>
            <a:r>
              <a:rPr lang="es-ES" dirty="0">
                <a:ea typeface="+mn-lt"/>
                <a:cs typeface="+mn-lt"/>
              </a:rPr>
              <a:t> </a:t>
            </a:r>
            <a:r>
              <a:rPr lang="es-ES" dirty="0" err="1">
                <a:ea typeface="+mn-lt"/>
                <a:cs typeface="+mn-lt"/>
              </a:rPr>
              <a:t>height</a:t>
            </a:r>
            <a:r>
              <a:rPr lang="es-ES" dirty="0">
                <a:ea typeface="+mn-lt"/>
                <a:cs typeface="+mn-lt"/>
              </a:rPr>
              <a:t>): Similar a </a:t>
            </a:r>
            <a:r>
              <a:rPr lang="es-ES" dirty="0" err="1">
                <a:ea typeface="+mn-lt"/>
                <a:cs typeface="+mn-lt"/>
              </a:rPr>
              <a:t>vw</a:t>
            </a:r>
            <a:r>
              <a:rPr lang="es-ES" dirty="0">
                <a:ea typeface="+mn-lt"/>
                <a:cs typeface="+mn-lt"/>
              </a:rPr>
              <a:t>, pero es relativa a la altura del </a:t>
            </a:r>
            <a:r>
              <a:rPr lang="es-ES" dirty="0" err="1">
                <a:ea typeface="+mn-lt"/>
                <a:cs typeface="+mn-lt"/>
              </a:rPr>
              <a:t>viewport</a:t>
            </a:r>
            <a:r>
              <a:rPr lang="es-ES" dirty="0">
                <a:ea typeface="+mn-lt"/>
                <a:cs typeface="+mn-lt"/>
              </a:rPr>
              <a:t>. 1vh equivale al 1% de la altura. 100vh es muy útil para secciones que deben ocupar toda la altura de la pantalla visible.</a:t>
            </a:r>
            <a:endParaRPr lang="es-ES" dirty="0"/>
          </a:p>
          <a:p>
            <a:r>
              <a:rPr lang="es-ES" dirty="0">
                <a:ea typeface="+mn-lt"/>
                <a:cs typeface="+mn-lt"/>
              </a:rPr>
              <a:t>Unidades relativas a la fuente</a:t>
            </a:r>
          </a:p>
          <a:p>
            <a:pPr lvl="1">
              <a:buFont typeface="Courier New" panose="020B0604020202020204" pitchFamily="34" charset="0"/>
              <a:buChar char="o"/>
            </a:pPr>
            <a:r>
              <a:rPr lang="es-ES" dirty="0">
                <a:ea typeface="+mn-lt"/>
                <a:cs typeface="+mn-lt"/>
              </a:rPr>
              <a:t>ex: Es relativa a la altura de la letra 'x' minúscula de la fuente actual. Es útil para alinear verticalmente elementos.</a:t>
            </a:r>
          </a:p>
          <a:p>
            <a:pPr lvl="1">
              <a:buFont typeface="Courier New" panose="020B0604020202020204" pitchFamily="34" charset="0"/>
              <a:buChar char="o"/>
            </a:pPr>
            <a:r>
              <a:rPr lang="es-ES" dirty="0">
                <a:ea typeface="+mn-lt"/>
                <a:cs typeface="+mn-lt"/>
              </a:rPr>
              <a:t>ch: Es relativa al ancho del carácter '0' de la fuente actual. Muy útil para anchos de contenedores que se basan en el número de caracteres, mejorando la legibilidad.</a:t>
            </a:r>
          </a:p>
          <a:p>
            <a:r>
              <a:rPr lang="es-ES" dirty="0">
                <a:ea typeface="+mn-lt"/>
                <a:cs typeface="+mn-lt"/>
              </a:rPr>
              <a:t>Unidades relativas al </a:t>
            </a:r>
            <a:r>
              <a:rPr lang="es-ES" dirty="0" err="1">
                <a:ea typeface="+mn-lt"/>
                <a:cs typeface="+mn-lt"/>
              </a:rPr>
              <a:t>viewport</a:t>
            </a:r>
            <a:endParaRPr lang="es-ES" dirty="0" err="1"/>
          </a:p>
          <a:p>
            <a:pPr lvl="1">
              <a:buFont typeface="Courier New" panose="020B0604020202020204" pitchFamily="34" charset="0"/>
              <a:buChar char="o"/>
            </a:pPr>
            <a:r>
              <a:rPr lang="es-ES" dirty="0" err="1">
                <a:ea typeface="+mn-lt"/>
                <a:cs typeface="+mn-lt"/>
              </a:rPr>
              <a:t>vmin</a:t>
            </a:r>
            <a:r>
              <a:rPr lang="es-ES" dirty="0">
                <a:ea typeface="+mn-lt"/>
                <a:cs typeface="+mn-lt"/>
              </a:rPr>
              <a:t>: Relativa al 1% de la dimensión más pequeña del </a:t>
            </a:r>
            <a:r>
              <a:rPr lang="es-ES" dirty="0" err="1">
                <a:ea typeface="+mn-lt"/>
                <a:cs typeface="+mn-lt"/>
              </a:rPr>
              <a:t>viewport</a:t>
            </a:r>
            <a:r>
              <a:rPr lang="es-ES" dirty="0">
                <a:ea typeface="+mn-lt"/>
                <a:cs typeface="+mn-lt"/>
              </a:rPr>
              <a:t> (ancho o alto). Por ejemplo, si el ancho es 800px y el alto es 600px, 10vmin sería 60px.</a:t>
            </a:r>
            <a:endParaRPr lang="es-ES" dirty="0"/>
          </a:p>
          <a:p>
            <a:pPr lvl="1">
              <a:buFont typeface="Courier New" panose="020B0604020202020204" pitchFamily="34" charset="0"/>
              <a:buChar char="o"/>
            </a:pPr>
            <a:r>
              <a:rPr lang="es-ES" dirty="0" err="1">
                <a:ea typeface="+mn-lt"/>
                <a:cs typeface="+mn-lt"/>
              </a:rPr>
              <a:t>vmax</a:t>
            </a:r>
            <a:r>
              <a:rPr lang="es-ES" dirty="0">
                <a:ea typeface="+mn-lt"/>
                <a:cs typeface="+mn-lt"/>
              </a:rPr>
              <a:t>: Relativa al 1% de la dimensión más grande del </a:t>
            </a:r>
            <a:r>
              <a:rPr lang="es-ES" dirty="0" err="1">
                <a:ea typeface="+mn-lt"/>
                <a:cs typeface="+mn-lt"/>
              </a:rPr>
              <a:t>viewport</a:t>
            </a:r>
            <a:r>
              <a:rPr lang="es-ES" dirty="0">
                <a:ea typeface="+mn-lt"/>
                <a:cs typeface="+mn-lt"/>
              </a:rPr>
              <a:t> (ancho o alto). En el ejemplo anterior, 10vmax sería 80px.</a:t>
            </a:r>
          </a:p>
          <a:p>
            <a:endParaRPr lang="es-ES" dirty="0"/>
          </a:p>
        </p:txBody>
      </p:sp>
    </p:spTree>
    <p:extLst>
      <p:ext uri="{BB962C8B-B14F-4D97-AF65-F5344CB8AC3E}">
        <p14:creationId xmlns:p14="http://schemas.microsoft.com/office/powerpoint/2010/main" val="327769328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69FC9C-3579-AFD6-BFFC-5B41298FCDC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5040360-313E-809C-1D9F-C42DE24425BC}"/>
              </a:ext>
            </a:extLst>
          </p:cNvPr>
          <p:cNvSpPr>
            <a:spLocks noGrp="1"/>
          </p:cNvSpPr>
          <p:nvPr>
            <p:ph type="title"/>
          </p:nvPr>
        </p:nvSpPr>
        <p:spPr/>
        <p:txBody>
          <a:bodyPr/>
          <a:lstStyle/>
          <a:p>
            <a:r>
              <a:rPr lang="es-ES" b="0" dirty="0">
                <a:ea typeface="+mj-lt"/>
                <a:cs typeface="+mj-lt"/>
              </a:rPr>
              <a:t>2.2.4.2. Unidades relativas (em, rem, </a:t>
            </a:r>
            <a:r>
              <a:rPr lang="es-ES" b="0" dirty="0" err="1">
                <a:ea typeface="+mj-lt"/>
                <a:cs typeface="+mj-lt"/>
              </a:rPr>
              <a:t>vw</a:t>
            </a:r>
            <a:r>
              <a:rPr lang="es-ES" b="0" dirty="0">
                <a:ea typeface="+mj-lt"/>
                <a:cs typeface="+mj-lt"/>
              </a:rPr>
              <a:t>, </a:t>
            </a:r>
            <a:r>
              <a:rPr lang="es-ES" b="0" dirty="0" err="1">
                <a:ea typeface="+mj-lt"/>
                <a:cs typeface="+mj-lt"/>
              </a:rPr>
              <a:t>vh</a:t>
            </a:r>
            <a:r>
              <a:rPr lang="es-ES" b="0" dirty="0">
                <a:ea typeface="+mj-lt"/>
                <a:cs typeface="+mj-lt"/>
              </a:rPr>
              <a:t>, %).</a:t>
            </a:r>
            <a:endParaRPr lang="es-ES" dirty="0"/>
          </a:p>
        </p:txBody>
      </p:sp>
      <p:sp>
        <p:nvSpPr>
          <p:cNvPr id="3" name="Marcador de contenido 2">
            <a:extLst>
              <a:ext uri="{FF2B5EF4-FFF2-40B4-BE49-F238E27FC236}">
                <a16:creationId xmlns:a16="http://schemas.microsoft.com/office/drawing/2014/main" id="{912AB371-F6CC-F42D-212A-8338EC07C463}"/>
              </a:ext>
            </a:extLst>
          </p:cNvPr>
          <p:cNvSpPr>
            <a:spLocks noGrp="1"/>
          </p:cNvSpPr>
          <p:nvPr>
            <p:ph idx="1"/>
          </p:nvPr>
        </p:nvSpPr>
        <p:spPr/>
        <p:txBody>
          <a:bodyPr vert="horz" lIns="91440" tIns="45720" rIns="91440" bIns="45720" rtlCol="0" anchor="t">
            <a:normAutofit fontScale="47500" lnSpcReduction="20000"/>
          </a:bodyPr>
          <a:lstStyle/>
          <a:p>
            <a:r>
              <a:rPr lang="es-ES" dirty="0">
                <a:ea typeface="+mn-lt"/>
                <a:cs typeface="+mn-lt"/>
              </a:rPr>
              <a:t>Ejemplo: A continuación, se ilustra la diferencia y la ventaja de usar unidades relativas para un diseño </a:t>
            </a:r>
            <a:r>
              <a:rPr lang="es-ES" dirty="0" err="1">
                <a:ea typeface="+mn-lt"/>
                <a:cs typeface="+mn-lt"/>
              </a:rPr>
              <a:t>responsivo.En</a:t>
            </a:r>
            <a:r>
              <a:rPr lang="es-ES" dirty="0">
                <a:ea typeface="+mn-lt"/>
                <a:cs typeface="+mn-lt"/>
              </a:rPr>
              <a:t> este ejemplo, si cambias el </a:t>
            </a:r>
            <a:r>
              <a:rPr lang="es-ES" dirty="0" err="1">
                <a:ea typeface="+mn-lt"/>
                <a:cs typeface="+mn-lt"/>
              </a:rPr>
              <a:t>font-size</a:t>
            </a:r>
            <a:r>
              <a:rPr lang="es-ES" dirty="0">
                <a:ea typeface="+mn-lt"/>
                <a:cs typeface="+mn-lt"/>
              </a:rPr>
              <a:t> del </a:t>
            </a:r>
            <a:r>
              <a:rPr lang="es-ES" dirty="0" err="1">
                <a:ea typeface="+mn-lt"/>
                <a:cs typeface="+mn-lt"/>
              </a:rPr>
              <a:t>html</a:t>
            </a:r>
            <a:r>
              <a:rPr lang="es-ES" dirty="0">
                <a:ea typeface="+mn-lt"/>
                <a:cs typeface="+mn-lt"/>
              </a:rPr>
              <a:t>, todos los tamaños en rem se adaptarán automáticamente, lo que facilita el escalado del diseño. Por otro lado, el </a:t>
            </a:r>
            <a:r>
              <a:rPr lang="es-ES" dirty="0" err="1">
                <a:ea typeface="+mn-lt"/>
                <a:cs typeface="+mn-lt"/>
              </a:rPr>
              <a:t>header</a:t>
            </a:r>
            <a:r>
              <a:rPr lang="es-ES" dirty="0">
                <a:ea typeface="+mn-lt"/>
                <a:cs typeface="+mn-lt"/>
              </a:rPr>
              <a:t> siempre ocupará la mitad de la altura de la ventana, independientemente del tamaño de su contenedor. </a:t>
            </a:r>
          </a:p>
          <a:p>
            <a:pPr marL="0" indent="0">
              <a:buNone/>
            </a:pPr>
            <a:r>
              <a:rPr lang="es-ES" b="1" dirty="0">
                <a:latin typeface="Courier New"/>
                <a:ea typeface="+mn-lt"/>
                <a:cs typeface="+mn-lt"/>
              </a:rPr>
              <a:t>&lt;</a:t>
            </a:r>
            <a:r>
              <a:rPr lang="es-ES" b="1" dirty="0" err="1">
                <a:latin typeface="Courier New"/>
                <a:ea typeface="+mn-lt"/>
                <a:cs typeface="+mn-lt"/>
              </a:rPr>
              <a:t>div</a:t>
            </a:r>
            <a:r>
              <a:rPr lang="es-ES" b="1" dirty="0">
                <a:latin typeface="Courier New"/>
                <a:ea typeface="+mn-lt"/>
                <a:cs typeface="+mn-lt"/>
              </a:rPr>
              <a:t> </a:t>
            </a:r>
            <a:r>
              <a:rPr lang="es-ES" b="1" dirty="0" err="1">
                <a:latin typeface="Courier New"/>
                <a:ea typeface="+mn-lt"/>
                <a:cs typeface="+mn-lt"/>
              </a:rPr>
              <a:t>class</a:t>
            </a:r>
            <a:r>
              <a:rPr lang="es-ES" b="1" dirty="0">
                <a:latin typeface="Courier New"/>
                <a:ea typeface="+mn-lt"/>
                <a:cs typeface="+mn-lt"/>
              </a:rPr>
              <a:t>="contenedor"&gt;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header</a:t>
            </a:r>
            <a:r>
              <a:rPr lang="es-ES" b="1" dirty="0">
                <a:latin typeface="Courier New"/>
                <a:ea typeface="+mn-lt"/>
                <a:cs typeface="+mn-lt"/>
              </a:rPr>
              <a:t> </a:t>
            </a:r>
            <a:r>
              <a:rPr lang="es-ES" b="1" dirty="0" err="1">
                <a:latin typeface="Courier New"/>
                <a:ea typeface="+mn-lt"/>
                <a:cs typeface="+mn-lt"/>
              </a:rPr>
              <a:t>class</a:t>
            </a:r>
            <a:r>
              <a:rPr lang="es-ES" b="1" dirty="0">
                <a:latin typeface="Courier New"/>
                <a:ea typeface="+mn-lt"/>
                <a:cs typeface="+mn-lt"/>
              </a:rPr>
              <a:t>="encabezado"&gt;</a:t>
            </a:r>
            <a:br>
              <a:rPr lang="es-ES" b="1" dirty="0">
                <a:latin typeface="Courier New"/>
                <a:ea typeface="+mn-lt"/>
                <a:cs typeface="+mn-lt"/>
              </a:rPr>
            </a:br>
            <a:r>
              <a:rPr lang="es-ES" b="1" dirty="0">
                <a:latin typeface="Courier New"/>
                <a:ea typeface="+mn-lt"/>
                <a:cs typeface="+mn-lt"/>
              </a:rPr>
              <a:t>    &lt;h1&gt;Título&lt;/h1&gt;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header</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&lt;/</a:t>
            </a:r>
            <a:r>
              <a:rPr lang="es-ES" b="1" dirty="0" err="1">
                <a:latin typeface="Courier New"/>
                <a:ea typeface="+mn-lt"/>
                <a:cs typeface="+mn-lt"/>
              </a:rPr>
              <a:t>div</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Establecemos un tamaño base para la fuente en el elemento raíz */</a:t>
            </a:r>
            <a:br>
              <a:rPr lang="es-ES" b="1" dirty="0">
                <a:latin typeface="Courier New"/>
                <a:ea typeface="+mn-lt"/>
                <a:cs typeface="+mn-lt"/>
              </a:rPr>
            </a:br>
            <a:r>
              <a:rPr lang="es-ES" b="1" dirty="0" err="1">
                <a:latin typeface="Courier New"/>
                <a:ea typeface="+mn-lt"/>
                <a:cs typeface="+mn-lt"/>
              </a:rPr>
              <a:t>html</a:t>
            </a: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font-size</a:t>
            </a:r>
            <a:r>
              <a:rPr lang="es-ES" b="1" dirty="0">
                <a:latin typeface="Courier New"/>
                <a:ea typeface="+mn-lt"/>
                <a:cs typeface="+mn-lt"/>
              </a:rPr>
              <a:t>: 16px; /* 1rem = 16px por defecto */</a:t>
            </a:r>
            <a:br>
              <a:rPr lang="es-ES" b="1" dirty="0">
                <a:latin typeface="Courier New"/>
                <a:ea typeface="+mn-lt"/>
                <a:cs typeface="+mn-lt"/>
              </a:rPr>
            </a:b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 Usamos `</a:t>
            </a:r>
            <a:r>
              <a:rPr lang="es-ES" b="1" dirty="0" err="1">
                <a:latin typeface="Courier New"/>
                <a:ea typeface="+mn-lt"/>
                <a:cs typeface="+mn-lt"/>
              </a:rPr>
              <a:t>vh</a:t>
            </a:r>
            <a:r>
              <a:rPr lang="es-ES" b="1" dirty="0">
                <a:latin typeface="Courier New"/>
                <a:ea typeface="+mn-lt"/>
                <a:cs typeface="+mn-lt"/>
              </a:rPr>
              <a:t>` y `</a:t>
            </a:r>
            <a:r>
              <a:rPr lang="es-ES" b="1" dirty="0" err="1">
                <a:latin typeface="Courier New"/>
                <a:ea typeface="+mn-lt"/>
                <a:cs typeface="+mn-lt"/>
              </a:rPr>
              <a:t>vw</a:t>
            </a:r>
            <a:r>
              <a:rPr lang="es-ES" b="1" dirty="0">
                <a:latin typeface="Courier New"/>
                <a:ea typeface="+mn-lt"/>
                <a:cs typeface="+mn-lt"/>
              </a:rPr>
              <a:t>` para que el </a:t>
            </a:r>
            <a:r>
              <a:rPr lang="es-ES" b="1" dirty="0" err="1">
                <a:latin typeface="Courier New"/>
                <a:ea typeface="+mn-lt"/>
                <a:cs typeface="+mn-lt"/>
              </a:rPr>
              <a:t>header</a:t>
            </a:r>
            <a:r>
              <a:rPr lang="es-ES" b="1" dirty="0">
                <a:latin typeface="Courier New"/>
                <a:ea typeface="+mn-lt"/>
                <a:cs typeface="+mn-lt"/>
              </a:rPr>
              <a:t> ocupe toda la pantalla */</a:t>
            </a:r>
            <a:br>
              <a:rPr lang="es-ES" b="1" dirty="0">
                <a:latin typeface="Courier New"/>
                <a:ea typeface="+mn-lt"/>
                <a:cs typeface="+mn-lt"/>
              </a:rPr>
            </a:br>
            <a:r>
              <a:rPr lang="es-ES" b="1" dirty="0">
                <a:latin typeface="Courier New"/>
                <a:ea typeface="+mn-lt"/>
                <a:cs typeface="+mn-lt"/>
              </a:rPr>
              <a:t>.encabezado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width</a:t>
            </a:r>
            <a:r>
              <a:rPr lang="es-ES" b="1" dirty="0">
                <a:latin typeface="Courier New"/>
                <a:ea typeface="+mn-lt"/>
                <a:cs typeface="+mn-lt"/>
              </a:rPr>
              <a:t>: 100vw;</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height</a:t>
            </a:r>
            <a:r>
              <a:rPr lang="es-ES" b="1" dirty="0">
                <a:latin typeface="Courier New"/>
                <a:ea typeface="+mn-lt"/>
                <a:cs typeface="+mn-lt"/>
              </a:rPr>
              <a:t>: 50vh;</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background</a:t>
            </a:r>
            <a:r>
              <a:rPr lang="es-ES" b="1" dirty="0">
                <a:latin typeface="Courier New"/>
                <a:ea typeface="+mn-lt"/>
                <a:cs typeface="+mn-lt"/>
              </a:rPr>
              <a:t>-color: #333;</a:t>
            </a:r>
            <a:br>
              <a:rPr lang="es-ES" b="1" dirty="0">
                <a:latin typeface="Courier New"/>
                <a:ea typeface="+mn-lt"/>
                <a:cs typeface="+mn-lt"/>
              </a:rPr>
            </a:b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 Usamos `rem` para el título, lo que facilita el escalado responsivo */</a:t>
            </a:r>
            <a:br>
              <a:rPr lang="es-ES" b="1" dirty="0">
                <a:latin typeface="Courier New"/>
                <a:ea typeface="+mn-lt"/>
                <a:cs typeface="+mn-lt"/>
              </a:rPr>
            </a:br>
            <a:r>
              <a:rPr lang="es-ES" b="1" dirty="0">
                <a:latin typeface="Courier New"/>
                <a:ea typeface="+mn-lt"/>
                <a:cs typeface="+mn-lt"/>
              </a:rPr>
              <a:t>h1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font-size</a:t>
            </a:r>
            <a:r>
              <a:rPr lang="es-ES" b="1" dirty="0">
                <a:latin typeface="Courier New"/>
                <a:ea typeface="+mn-lt"/>
                <a:cs typeface="+mn-lt"/>
              </a:rPr>
              <a:t>: 3rem; /* 3 * 16px = 48px */</a:t>
            </a:r>
            <a:br>
              <a:rPr lang="es-ES" b="1" dirty="0">
                <a:latin typeface="Courier New"/>
                <a:ea typeface="+mn-lt"/>
                <a:cs typeface="+mn-lt"/>
              </a:rPr>
            </a:br>
            <a:r>
              <a:rPr lang="es-ES" b="1" dirty="0">
                <a:latin typeface="Courier New"/>
                <a:ea typeface="+mn-lt"/>
                <a:cs typeface="+mn-lt"/>
              </a:rPr>
              <a:t>  color: </a:t>
            </a:r>
            <a:r>
              <a:rPr lang="es-ES" b="1" dirty="0" err="1">
                <a:latin typeface="Courier New"/>
                <a:ea typeface="+mn-lt"/>
                <a:cs typeface="+mn-lt"/>
              </a:rPr>
              <a:t>white</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 Usamos `%` para el contenedor que siempre ocupa el 80% del padre */</a:t>
            </a:r>
            <a:br>
              <a:rPr lang="es-ES" b="1" dirty="0">
                <a:latin typeface="Courier New"/>
                <a:ea typeface="+mn-lt"/>
                <a:cs typeface="+mn-lt"/>
              </a:rPr>
            </a:br>
            <a:r>
              <a:rPr lang="es-ES" b="1" dirty="0">
                <a:latin typeface="Courier New"/>
                <a:ea typeface="+mn-lt"/>
                <a:cs typeface="+mn-lt"/>
              </a:rPr>
              <a:t>.contenedor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width</a:t>
            </a:r>
            <a:r>
              <a:rPr lang="es-ES" b="1" dirty="0">
                <a:latin typeface="Courier New"/>
                <a:ea typeface="+mn-lt"/>
                <a:cs typeface="+mn-lt"/>
              </a:rPr>
              <a:t>: 80%;</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margin</a:t>
            </a:r>
            <a:r>
              <a:rPr lang="es-ES" b="1" dirty="0">
                <a:latin typeface="Courier New"/>
                <a:ea typeface="+mn-lt"/>
                <a:cs typeface="+mn-lt"/>
              </a:rPr>
              <a:t>: 0 auto;</a:t>
            </a:r>
            <a:br>
              <a:rPr lang="es-ES" b="1" dirty="0">
                <a:latin typeface="Courier New"/>
                <a:ea typeface="+mn-lt"/>
                <a:cs typeface="+mn-lt"/>
              </a:rPr>
            </a:br>
            <a:r>
              <a:rPr lang="es-ES" b="1" dirty="0">
                <a:latin typeface="Courier New"/>
                <a:ea typeface="+mn-lt"/>
                <a:cs typeface="+mn-lt"/>
              </a:rPr>
              <a:t>}</a:t>
            </a:r>
            <a:endParaRPr lang="es-ES" b="1" dirty="0">
              <a:latin typeface="Courier New"/>
              <a:cs typeface="Courier New"/>
            </a:endParaRPr>
          </a:p>
        </p:txBody>
      </p:sp>
    </p:spTree>
    <p:extLst>
      <p:ext uri="{BB962C8B-B14F-4D97-AF65-F5344CB8AC3E}">
        <p14:creationId xmlns:p14="http://schemas.microsoft.com/office/powerpoint/2010/main" val="109727866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5CCF88-6B83-BA42-5BB8-CD9508982B3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A3AEEEB-A3E1-2D6A-D015-679B9AAA567A}"/>
              </a:ext>
            </a:extLst>
          </p:cNvPr>
          <p:cNvSpPr>
            <a:spLocks noGrp="1"/>
          </p:cNvSpPr>
          <p:nvPr>
            <p:ph type="title"/>
          </p:nvPr>
        </p:nvSpPr>
        <p:spPr/>
        <p:txBody>
          <a:bodyPr/>
          <a:lstStyle/>
          <a:p>
            <a:r>
              <a:rPr lang="es-ES" b="0" dirty="0">
                <a:ea typeface="+mj-lt"/>
                <a:cs typeface="+mj-lt"/>
              </a:rPr>
              <a:t>2.2.4.2. Unidades relativas (em, rem, </a:t>
            </a:r>
            <a:r>
              <a:rPr lang="es-ES" b="0" dirty="0" err="1">
                <a:ea typeface="+mj-lt"/>
                <a:cs typeface="+mj-lt"/>
              </a:rPr>
              <a:t>vw</a:t>
            </a:r>
            <a:r>
              <a:rPr lang="es-ES" b="0" dirty="0">
                <a:ea typeface="+mj-lt"/>
                <a:cs typeface="+mj-lt"/>
              </a:rPr>
              <a:t>, </a:t>
            </a:r>
            <a:r>
              <a:rPr lang="es-ES" b="0" dirty="0" err="1">
                <a:ea typeface="+mj-lt"/>
                <a:cs typeface="+mj-lt"/>
              </a:rPr>
              <a:t>vh</a:t>
            </a:r>
            <a:r>
              <a:rPr lang="es-ES" b="0" dirty="0">
                <a:ea typeface="+mj-lt"/>
                <a:cs typeface="+mj-lt"/>
              </a:rPr>
              <a:t>, %).</a:t>
            </a:r>
            <a:endParaRPr lang="es-ES" dirty="0"/>
          </a:p>
        </p:txBody>
      </p:sp>
      <p:sp>
        <p:nvSpPr>
          <p:cNvPr id="3" name="Marcador de contenido 2">
            <a:extLst>
              <a:ext uri="{FF2B5EF4-FFF2-40B4-BE49-F238E27FC236}">
                <a16:creationId xmlns:a16="http://schemas.microsoft.com/office/drawing/2014/main" id="{BD57A505-6796-FEF7-D244-28E2B886EE35}"/>
              </a:ext>
            </a:extLst>
          </p:cNvPr>
          <p:cNvSpPr>
            <a:spLocks noGrp="1"/>
          </p:cNvSpPr>
          <p:nvPr>
            <p:ph idx="1"/>
          </p:nvPr>
        </p:nvSpPr>
        <p:spPr/>
        <p:txBody>
          <a:bodyPr vert="horz" lIns="91440" tIns="45720" rIns="91440" bIns="45720" rtlCol="0" anchor="t">
            <a:normAutofit fontScale="62500" lnSpcReduction="20000"/>
          </a:bodyPr>
          <a:lstStyle/>
          <a:p>
            <a:r>
              <a:rPr lang="es-ES" dirty="0">
                <a:ea typeface="+mn-lt"/>
                <a:cs typeface="+mn-lt"/>
              </a:rPr>
              <a:t>Ejemplo: En este ejemplo, el h1 tiene un tamaño de fuente adaptable gracias a </a:t>
            </a:r>
            <a:r>
              <a:rPr lang="es-ES" dirty="0" err="1">
                <a:ea typeface="+mn-lt"/>
                <a:cs typeface="+mn-lt"/>
              </a:rPr>
              <a:t>clamp</a:t>
            </a:r>
            <a:r>
              <a:rPr lang="es-ES" dirty="0">
                <a:ea typeface="+mn-lt"/>
                <a:cs typeface="+mn-lt"/>
              </a:rPr>
              <a:t> y </a:t>
            </a:r>
            <a:r>
              <a:rPr lang="es-ES" dirty="0" err="1">
                <a:ea typeface="+mn-lt"/>
                <a:cs typeface="+mn-lt"/>
              </a:rPr>
              <a:t>vw</a:t>
            </a:r>
            <a:r>
              <a:rPr lang="es-ES" dirty="0">
                <a:ea typeface="+mn-lt"/>
                <a:cs typeface="+mn-lt"/>
              </a:rPr>
              <a:t> (aunque no es una unidad relativa directa, se usa a menudo con ellas). El párrafo .legible utiliza ch para asegurar una buena legibilidad, sin importar el dispositivo.</a:t>
            </a:r>
          </a:p>
          <a:p>
            <a:pPr marL="0" indent="0">
              <a:buNone/>
            </a:pPr>
            <a:r>
              <a:rPr lang="es-ES" b="1" dirty="0">
                <a:latin typeface="Courier New"/>
                <a:ea typeface="+mn-lt"/>
                <a:cs typeface="+mn-lt"/>
              </a:rPr>
              <a:t>&lt;</a:t>
            </a:r>
            <a:r>
              <a:rPr lang="es-ES" b="1" dirty="0" err="1">
                <a:latin typeface="Courier New"/>
                <a:ea typeface="+mn-lt"/>
                <a:cs typeface="+mn-lt"/>
              </a:rPr>
              <a:t>div</a:t>
            </a:r>
            <a:r>
              <a:rPr lang="es-ES" b="1" dirty="0">
                <a:latin typeface="Courier New"/>
                <a:ea typeface="+mn-lt"/>
                <a:cs typeface="+mn-lt"/>
              </a:rPr>
              <a:t> </a:t>
            </a:r>
            <a:r>
              <a:rPr lang="es-ES" b="1" dirty="0" err="1">
                <a:latin typeface="Courier New"/>
                <a:ea typeface="+mn-lt"/>
                <a:cs typeface="+mn-lt"/>
              </a:rPr>
              <a:t>class</a:t>
            </a:r>
            <a:r>
              <a:rPr lang="es-ES" b="1" dirty="0">
                <a:latin typeface="Courier New"/>
                <a:ea typeface="+mn-lt"/>
                <a:cs typeface="+mn-lt"/>
              </a:rPr>
              <a:t>="contenedor"&gt;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header</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&lt;h1&gt;Título del sitio&lt;/h1&gt;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header</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&lt;p </a:t>
            </a:r>
            <a:r>
              <a:rPr lang="es-ES" b="1" dirty="0" err="1">
                <a:latin typeface="Courier New"/>
                <a:ea typeface="+mn-lt"/>
                <a:cs typeface="+mn-lt"/>
              </a:rPr>
              <a:t>class</a:t>
            </a:r>
            <a:r>
              <a:rPr lang="es-ES" b="1" dirty="0">
                <a:latin typeface="Courier New"/>
                <a:ea typeface="+mn-lt"/>
                <a:cs typeface="+mn-lt"/>
              </a:rPr>
              <a:t>="legible"&gt;Este es un párrafo con un ancho optimizado para la lectura.&lt;/p&gt;</a:t>
            </a:r>
            <a:br>
              <a:rPr lang="es-ES" b="1" dirty="0">
                <a:latin typeface="Courier New"/>
                <a:ea typeface="+mn-lt"/>
                <a:cs typeface="+mn-lt"/>
              </a:rPr>
            </a:br>
            <a:r>
              <a:rPr lang="es-ES" b="1" dirty="0">
                <a:latin typeface="Courier New"/>
                <a:ea typeface="+mn-lt"/>
                <a:cs typeface="+mn-lt"/>
              </a:rPr>
              <a:t>&lt;/</a:t>
            </a:r>
            <a:r>
              <a:rPr lang="es-ES" b="1" dirty="0" err="1">
                <a:latin typeface="Courier New"/>
                <a:ea typeface="+mn-lt"/>
                <a:cs typeface="+mn-lt"/>
              </a:rPr>
              <a:t>div</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Establecemos un tamaño base para la fuente en el elemento raíz */</a:t>
            </a:r>
            <a:br>
              <a:rPr lang="es-ES" b="1" dirty="0">
                <a:latin typeface="Courier New"/>
                <a:ea typeface="+mn-lt"/>
                <a:cs typeface="+mn-lt"/>
              </a:rPr>
            </a:br>
            <a:r>
              <a:rPr lang="es-ES" b="1" dirty="0" err="1">
                <a:latin typeface="Courier New"/>
                <a:ea typeface="+mn-lt"/>
                <a:cs typeface="+mn-lt"/>
              </a:rPr>
              <a:t>html</a:t>
            </a: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font-size</a:t>
            </a:r>
            <a:r>
              <a:rPr lang="es-ES" b="1" dirty="0">
                <a:latin typeface="Courier New"/>
                <a:ea typeface="+mn-lt"/>
                <a:cs typeface="+mn-lt"/>
              </a:rPr>
              <a:t>: 16px;</a:t>
            </a:r>
            <a:br>
              <a:rPr lang="es-ES" b="1" dirty="0">
                <a:latin typeface="Courier New"/>
                <a:ea typeface="+mn-lt"/>
                <a:cs typeface="+mn-lt"/>
              </a:rPr>
            </a:b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 El h1 ocupará un ancho proporcional al tamaño de la pantalla, pero con un mínimo de 15vmin */</a:t>
            </a:r>
            <a:br>
              <a:rPr lang="es-ES" b="1" dirty="0">
                <a:latin typeface="Courier New"/>
                <a:ea typeface="+mn-lt"/>
                <a:cs typeface="+mn-lt"/>
              </a:rPr>
            </a:br>
            <a:r>
              <a:rPr lang="es-ES" b="1" dirty="0">
                <a:latin typeface="Courier New"/>
                <a:ea typeface="+mn-lt"/>
                <a:cs typeface="+mn-lt"/>
              </a:rPr>
              <a:t>h1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font-size</a:t>
            </a:r>
            <a:r>
              <a:rPr lang="es-ES" b="1" dirty="0">
                <a:latin typeface="Courier New"/>
                <a:ea typeface="+mn-lt"/>
                <a:cs typeface="+mn-lt"/>
              </a:rPr>
              <a:t>: </a:t>
            </a:r>
            <a:r>
              <a:rPr lang="es-ES" b="1" dirty="0" err="1">
                <a:latin typeface="Courier New"/>
                <a:ea typeface="+mn-lt"/>
                <a:cs typeface="+mn-lt"/>
              </a:rPr>
              <a:t>clamp</a:t>
            </a:r>
            <a:r>
              <a:rPr lang="es-ES" b="1" dirty="0">
                <a:latin typeface="Courier New"/>
                <a:ea typeface="+mn-lt"/>
                <a:cs typeface="+mn-lt"/>
              </a:rPr>
              <a:t>(1.5rem, 5vw, 3rem); /* </a:t>
            </a:r>
            <a:r>
              <a:rPr lang="es-ES" b="1" dirty="0" err="1">
                <a:latin typeface="Courier New"/>
                <a:ea typeface="+mn-lt"/>
                <a:cs typeface="+mn-lt"/>
              </a:rPr>
              <a:t>clamping</a:t>
            </a:r>
            <a:r>
              <a:rPr lang="es-ES" b="1" dirty="0">
                <a:latin typeface="Courier New"/>
                <a:ea typeface="+mn-lt"/>
                <a:cs typeface="+mn-lt"/>
              </a:rPr>
              <a:t> para un tamaño adaptable pero controlado */</a:t>
            </a:r>
            <a:br>
              <a:rPr lang="es-ES" b="1" dirty="0">
                <a:latin typeface="Courier New"/>
                <a:ea typeface="+mn-lt"/>
                <a:cs typeface="+mn-lt"/>
              </a:rPr>
            </a:br>
            <a:r>
              <a:rPr lang="es-ES" b="1" dirty="0">
                <a:latin typeface="Courier New"/>
                <a:ea typeface="+mn-lt"/>
                <a:cs typeface="+mn-lt"/>
              </a:rPr>
              <a:t>  min-</a:t>
            </a:r>
            <a:r>
              <a:rPr lang="es-ES" b="1" dirty="0" err="1">
                <a:latin typeface="Courier New"/>
                <a:ea typeface="+mn-lt"/>
                <a:cs typeface="+mn-lt"/>
              </a:rPr>
              <a:t>height</a:t>
            </a:r>
            <a:r>
              <a:rPr lang="es-ES" b="1" dirty="0">
                <a:latin typeface="Courier New"/>
                <a:ea typeface="+mn-lt"/>
                <a:cs typeface="+mn-lt"/>
              </a:rPr>
              <a:t>: 15vmin; /* El tamaño de la fuente no bajará de 15% del menor lado de la pantalla */</a:t>
            </a:r>
            <a:br>
              <a:rPr lang="es-ES" b="1" dirty="0">
                <a:latin typeface="Courier New"/>
                <a:ea typeface="+mn-lt"/>
                <a:cs typeface="+mn-lt"/>
              </a:rPr>
            </a:b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 Usamos `ch` para un ancho optimizado para la lectura */</a:t>
            </a:r>
            <a:br>
              <a:rPr lang="es-ES" b="1" dirty="0">
                <a:latin typeface="Courier New"/>
                <a:ea typeface="+mn-lt"/>
                <a:cs typeface="+mn-lt"/>
              </a:rPr>
            </a:br>
            <a:r>
              <a:rPr lang="es-ES" b="1" dirty="0">
                <a:latin typeface="Courier New"/>
                <a:ea typeface="+mn-lt"/>
                <a:cs typeface="+mn-lt"/>
              </a:rPr>
              <a:t>.legible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width</a:t>
            </a:r>
            <a:r>
              <a:rPr lang="es-ES" b="1" dirty="0">
                <a:latin typeface="Courier New"/>
                <a:ea typeface="+mn-lt"/>
                <a:cs typeface="+mn-lt"/>
              </a:rPr>
              <a:t>: 60ch; /* El ancho del párrafo será de 60 caracteres de ancho '0'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border</a:t>
            </a:r>
            <a:r>
              <a:rPr lang="es-ES" b="1" dirty="0">
                <a:latin typeface="Courier New"/>
                <a:ea typeface="+mn-lt"/>
                <a:cs typeface="+mn-lt"/>
              </a:rPr>
              <a:t>: 1px </a:t>
            </a:r>
            <a:r>
              <a:rPr lang="es-ES" b="1" dirty="0" err="1">
                <a:latin typeface="Courier New"/>
                <a:ea typeface="+mn-lt"/>
                <a:cs typeface="+mn-lt"/>
              </a:rPr>
              <a:t>solid</a:t>
            </a:r>
            <a:r>
              <a:rPr lang="es-ES" b="1" dirty="0">
                <a:latin typeface="Courier New"/>
                <a:ea typeface="+mn-lt"/>
                <a:cs typeface="+mn-lt"/>
              </a:rPr>
              <a:t> #ccc;</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padding</a:t>
            </a:r>
            <a:r>
              <a:rPr lang="es-ES" b="1" dirty="0">
                <a:latin typeface="Courier New"/>
                <a:ea typeface="+mn-lt"/>
                <a:cs typeface="+mn-lt"/>
              </a:rPr>
              <a:t>: 1rem;</a:t>
            </a:r>
            <a:br>
              <a:rPr lang="es-ES" b="1" dirty="0">
                <a:latin typeface="Courier New"/>
                <a:ea typeface="+mn-lt"/>
                <a:cs typeface="+mn-lt"/>
              </a:rPr>
            </a:br>
            <a:r>
              <a:rPr lang="es-ES" b="1" dirty="0">
                <a:latin typeface="Courier New"/>
                <a:ea typeface="+mn-lt"/>
                <a:cs typeface="+mn-lt"/>
              </a:rPr>
              <a:t>}</a:t>
            </a:r>
          </a:p>
        </p:txBody>
      </p:sp>
    </p:spTree>
    <p:extLst>
      <p:ext uri="{BB962C8B-B14F-4D97-AF65-F5344CB8AC3E}">
        <p14:creationId xmlns:p14="http://schemas.microsoft.com/office/powerpoint/2010/main" val="175766590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06FE86-926C-BEA8-2A8B-21BED96122A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3631D7D-7FC1-D3E9-589D-660A3B57149F}"/>
              </a:ext>
            </a:extLst>
          </p:cNvPr>
          <p:cNvSpPr>
            <a:spLocks noGrp="1"/>
          </p:cNvSpPr>
          <p:nvPr>
            <p:ph type="title"/>
          </p:nvPr>
        </p:nvSpPr>
        <p:spPr/>
        <p:txBody>
          <a:bodyPr/>
          <a:lstStyle/>
          <a:p>
            <a:r>
              <a:rPr lang="es-ES" b="0" dirty="0">
                <a:ea typeface="+mj-lt"/>
                <a:cs typeface="+mj-lt"/>
              </a:rPr>
              <a:t>2.3. Maquetación y diseño</a:t>
            </a:r>
            <a:endParaRPr lang="es-ES" dirty="0"/>
          </a:p>
        </p:txBody>
      </p:sp>
      <p:sp>
        <p:nvSpPr>
          <p:cNvPr id="3" name="Marcador de contenido 2">
            <a:extLst>
              <a:ext uri="{FF2B5EF4-FFF2-40B4-BE49-F238E27FC236}">
                <a16:creationId xmlns:a16="http://schemas.microsoft.com/office/drawing/2014/main" id="{F156A56E-63BB-D6D5-8672-96154E75354C}"/>
              </a:ext>
            </a:extLst>
          </p:cNvPr>
          <p:cNvSpPr>
            <a:spLocks noGrp="1"/>
          </p:cNvSpPr>
          <p:nvPr>
            <p:ph idx="1"/>
          </p:nvPr>
        </p:nvSpPr>
        <p:spPr/>
        <p:txBody>
          <a:bodyPr vert="horz" lIns="91440" tIns="45720" rIns="91440" bIns="45720" rtlCol="0" anchor="t">
            <a:normAutofit fontScale="92500" lnSpcReduction="20000"/>
          </a:bodyPr>
          <a:lstStyle/>
          <a:p>
            <a:r>
              <a:rPr lang="es-ES" dirty="0">
                <a:ea typeface="+mn-lt"/>
                <a:cs typeface="+mn-lt"/>
              </a:rPr>
              <a:t>La maquetación y diseño en CSS se refiere a la organización visual de los elementos en una página web. Es el proceso de definir la estructura, la posición y el tamaño de cada componente para crear una interfaz coherente y funcional. Históricamente, este ha sido uno de los mayores desafíos en CSS, evolucionando desde técnicas más rígidas y limitadas hasta los sistemas modernos y flexibles que tenemos hoy en día.</a:t>
            </a:r>
            <a:endParaRPr lang="es-ES" dirty="0"/>
          </a:p>
          <a:p>
            <a:r>
              <a:rPr lang="es-ES" dirty="0">
                <a:ea typeface="+mn-lt"/>
                <a:cs typeface="+mn-lt"/>
              </a:rPr>
              <a:t>En los primeros días de la web, se usaban tablas HTML para la maquetación. Luego, con la llegada de CSS, se adoptaron métodos basados en la propiedad </a:t>
            </a:r>
            <a:r>
              <a:rPr lang="es-ES" dirty="0" err="1">
                <a:ea typeface="+mn-lt"/>
                <a:cs typeface="+mn-lt"/>
              </a:rPr>
              <a:t>float</a:t>
            </a:r>
            <a:r>
              <a:rPr lang="es-ES" dirty="0">
                <a:ea typeface="+mn-lt"/>
                <a:cs typeface="+mn-lt"/>
              </a:rPr>
              <a:t>. Esta propiedad permitía que los elementos flotaran hacia la izquierda o la derecha, y con ella se podían construir diseños de varias columnas. Sin embargo, era un método propenso a errores y a menudo requería técnicas de "limpieza" (</a:t>
            </a:r>
            <a:r>
              <a:rPr lang="es-ES" dirty="0" err="1">
                <a:ea typeface="+mn-lt"/>
                <a:cs typeface="+mn-lt"/>
              </a:rPr>
              <a:t>clear</a:t>
            </a:r>
            <a:r>
              <a:rPr lang="es-ES" dirty="0">
                <a:ea typeface="+mn-lt"/>
                <a:cs typeface="+mn-lt"/>
              </a:rPr>
              <a:t>: </a:t>
            </a:r>
            <a:r>
              <a:rPr lang="es-ES" dirty="0" err="1">
                <a:ea typeface="+mn-lt"/>
                <a:cs typeface="+mn-lt"/>
              </a:rPr>
              <a:t>both</a:t>
            </a:r>
            <a:r>
              <a:rPr lang="es-ES" dirty="0">
                <a:ea typeface="+mn-lt"/>
                <a:cs typeface="+mn-lt"/>
              </a:rPr>
              <a:t>) para funcionar correctamente.</a:t>
            </a:r>
            <a:endParaRPr lang="es-ES" dirty="0"/>
          </a:p>
          <a:p>
            <a:r>
              <a:rPr lang="es-ES" dirty="0">
                <a:ea typeface="+mn-lt"/>
                <a:cs typeface="+mn-lt"/>
              </a:rPr>
              <a:t>Actualmente, la maquetación se ha simplificado y mejorado significativamente gracias a dos sistemas principales: </a:t>
            </a:r>
            <a:r>
              <a:rPr lang="es-ES" dirty="0" err="1">
                <a:ea typeface="+mn-lt"/>
                <a:cs typeface="+mn-lt"/>
              </a:rPr>
              <a:t>Flexbox</a:t>
            </a:r>
            <a:r>
              <a:rPr lang="es-ES" dirty="0">
                <a:ea typeface="+mn-lt"/>
                <a:cs typeface="+mn-lt"/>
              </a:rPr>
              <a:t> y CSS </a:t>
            </a:r>
            <a:r>
              <a:rPr lang="es-ES" dirty="0" err="1">
                <a:ea typeface="+mn-lt"/>
                <a:cs typeface="+mn-lt"/>
              </a:rPr>
              <a:t>Grid</a:t>
            </a:r>
            <a:r>
              <a:rPr lang="es-ES" dirty="0">
                <a:ea typeface="+mn-lt"/>
                <a:cs typeface="+mn-lt"/>
              </a:rPr>
              <a:t>. Estos modelos están diseñados específicamente para resolver los problemas de alineación y distribución de elementos de una manera mucho más intuitiva y robusta.</a:t>
            </a:r>
            <a:endParaRPr lang="es-ES" dirty="0"/>
          </a:p>
          <a:p>
            <a:r>
              <a:rPr lang="es-ES" dirty="0">
                <a:ea typeface="+mn-lt"/>
                <a:cs typeface="+mn-lt"/>
              </a:rPr>
              <a:t>Como ya hemos visto, cada elemento es una caja con contenido, </a:t>
            </a:r>
            <a:r>
              <a:rPr lang="es-ES" dirty="0" err="1">
                <a:ea typeface="+mn-lt"/>
                <a:cs typeface="+mn-lt"/>
              </a:rPr>
              <a:t>padding</a:t>
            </a:r>
            <a:r>
              <a:rPr lang="es-ES" dirty="0">
                <a:ea typeface="+mn-lt"/>
                <a:cs typeface="+mn-lt"/>
              </a:rPr>
              <a:t>, borde y margen. Entender cómo estas partes interactúan es la base de cualquier maquetación.</a:t>
            </a:r>
            <a:endParaRPr lang="es-ES" dirty="0"/>
          </a:p>
          <a:p>
            <a:endParaRPr lang="es-ES" dirty="0"/>
          </a:p>
        </p:txBody>
      </p:sp>
    </p:spTree>
    <p:extLst>
      <p:ext uri="{BB962C8B-B14F-4D97-AF65-F5344CB8AC3E}">
        <p14:creationId xmlns:p14="http://schemas.microsoft.com/office/powerpoint/2010/main" val="374062218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685CB0-26AF-5842-C480-FC15B202A39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8D0009E-004A-A1E7-596C-80DA295F21FB}"/>
              </a:ext>
            </a:extLst>
          </p:cNvPr>
          <p:cNvSpPr>
            <a:spLocks noGrp="1"/>
          </p:cNvSpPr>
          <p:nvPr>
            <p:ph type="title"/>
          </p:nvPr>
        </p:nvSpPr>
        <p:spPr/>
        <p:txBody>
          <a:bodyPr/>
          <a:lstStyle/>
          <a:p>
            <a:r>
              <a:rPr lang="es-ES" b="0" dirty="0">
                <a:ea typeface="+mj-lt"/>
                <a:cs typeface="+mj-lt"/>
              </a:rPr>
              <a:t>2.3. Maquetación y diseño.</a:t>
            </a:r>
            <a:endParaRPr lang="es-ES" b="0" dirty="0"/>
          </a:p>
        </p:txBody>
      </p:sp>
      <p:sp>
        <p:nvSpPr>
          <p:cNvPr id="3" name="Marcador de contenido 2">
            <a:extLst>
              <a:ext uri="{FF2B5EF4-FFF2-40B4-BE49-F238E27FC236}">
                <a16:creationId xmlns:a16="http://schemas.microsoft.com/office/drawing/2014/main" id="{7D76FF6A-A99B-496A-B177-74F4004FEA62}"/>
              </a:ext>
            </a:extLst>
          </p:cNvPr>
          <p:cNvSpPr>
            <a:spLocks noGrp="1"/>
          </p:cNvSpPr>
          <p:nvPr>
            <p:ph idx="1"/>
          </p:nvPr>
        </p:nvSpPr>
        <p:spPr/>
        <p:txBody>
          <a:bodyPr vert="horz" lIns="91440" tIns="45720" rIns="91440" bIns="45720" rtlCol="0" anchor="t">
            <a:normAutofit fontScale="92500" lnSpcReduction="10000"/>
          </a:bodyPr>
          <a:lstStyle/>
          <a:p>
            <a:r>
              <a:rPr lang="es-ES" dirty="0">
                <a:ea typeface="+mn-lt"/>
                <a:cs typeface="+mn-lt"/>
              </a:rPr>
              <a:t>La propiedad </a:t>
            </a:r>
            <a:r>
              <a:rPr lang="es-ES" b="1" err="1">
                <a:latin typeface="Courier New"/>
                <a:ea typeface="+mn-lt"/>
                <a:cs typeface="+mn-lt"/>
              </a:rPr>
              <a:t>display</a:t>
            </a:r>
            <a:r>
              <a:rPr lang="es-ES" b="1" dirty="0">
                <a:latin typeface="Courier New"/>
                <a:ea typeface="+mn-lt"/>
                <a:cs typeface="+mn-lt"/>
              </a:rPr>
              <a:t> </a:t>
            </a:r>
            <a:r>
              <a:rPr lang="es-ES" dirty="0">
                <a:ea typeface="+mn-lt"/>
                <a:cs typeface="+mn-lt"/>
              </a:rPr>
              <a:t>es una de las propiedades más importantes. Define cómo se muestra un elemento en el flujo del documento. Los valores más comunes son:</a:t>
            </a:r>
          </a:p>
          <a:p>
            <a:pPr lvl="1">
              <a:buFont typeface="Courier New" panose="020B0604020202020204" pitchFamily="34" charset="0"/>
              <a:buChar char="o"/>
            </a:pPr>
            <a:r>
              <a:rPr lang="es-ES" dirty="0">
                <a:ea typeface="+mn-lt"/>
                <a:cs typeface="+mn-lt"/>
              </a:rPr>
              <a:t>block: El elemento ocupa todo el ancho disponible y crea una nueva línea (ej. &lt;</a:t>
            </a:r>
            <a:r>
              <a:rPr lang="es-ES" dirty="0" err="1">
                <a:ea typeface="+mn-lt"/>
                <a:cs typeface="+mn-lt"/>
              </a:rPr>
              <a:t>div</a:t>
            </a:r>
            <a:r>
              <a:rPr lang="es-ES" dirty="0">
                <a:ea typeface="+mn-lt"/>
                <a:cs typeface="+mn-lt"/>
              </a:rPr>
              <a:t>&gt;, &lt;p&gt;).</a:t>
            </a:r>
            <a:endParaRPr lang="es-ES" dirty="0"/>
          </a:p>
          <a:p>
            <a:pPr lvl="1">
              <a:buFont typeface="Courier New" panose="020B0604020202020204" pitchFamily="34" charset="0"/>
              <a:buChar char="o"/>
            </a:pPr>
            <a:r>
              <a:rPr lang="es-ES" dirty="0" err="1">
                <a:ea typeface="+mn-lt"/>
                <a:cs typeface="+mn-lt"/>
              </a:rPr>
              <a:t>inline</a:t>
            </a:r>
            <a:r>
              <a:rPr lang="es-ES" dirty="0">
                <a:ea typeface="+mn-lt"/>
                <a:cs typeface="+mn-lt"/>
              </a:rPr>
              <a:t>: El elemento ocupa solo el espacio necesario y no crea una nueva línea (ej. &lt;</a:t>
            </a:r>
            <a:r>
              <a:rPr lang="es-ES" dirty="0" err="1">
                <a:ea typeface="+mn-lt"/>
                <a:cs typeface="+mn-lt"/>
              </a:rPr>
              <a:t>span</a:t>
            </a:r>
            <a:r>
              <a:rPr lang="es-ES" dirty="0">
                <a:ea typeface="+mn-lt"/>
                <a:cs typeface="+mn-lt"/>
              </a:rPr>
              <a:t>&gt;, &lt;a&gt;).</a:t>
            </a:r>
            <a:endParaRPr lang="es-ES" dirty="0"/>
          </a:p>
          <a:p>
            <a:pPr lvl="1">
              <a:buFont typeface="Courier New" panose="020B0604020202020204" pitchFamily="34" charset="0"/>
              <a:buChar char="o"/>
            </a:pPr>
            <a:r>
              <a:rPr lang="es-ES" dirty="0" err="1">
                <a:ea typeface="+mn-lt"/>
                <a:cs typeface="+mn-lt"/>
              </a:rPr>
              <a:t>inline</a:t>
            </a:r>
            <a:r>
              <a:rPr lang="es-ES" dirty="0">
                <a:ea typeface="+mn-lt"/>
                <a:cs typeface="+mn-lt"/>
              </a:rPr>
              <a:t>-block: Combina las características de ambos, permitiendo que el elemento esté en línea con otros pero manteniendo las propiedades de una caja de bloque, como </a:t>
            </a:r>
            <a:r>
              <a:rPr lang="es-ES" dirty="0" err="1">
                <a:ea typeface="+mn-lt"/>
                <a:cs typeface="+mn-lt"/>
              </a:rPr>
              <a:t>width</a:t>
            </a:r>
            <a:r>
              <a:rPr lang="es-ES" dirty="0">
                <a:ea typeface="+mn-lt"/>
                <a:cs typeface="+mn-lt"/>
              </a:rPr>
              <a:t> y </a:t>
            </a:r>
            <a:r>
              <a:rPr lang="es-ES" dirty="0" err="1">
                <a:ea typeface="+mn-lt"/>
                <a:cs typeface="+mn-lt"/>
              </a:rPr>
              <a:t>height</a:t>
            </a:r>
            <a:r>
              <a:rPr lang="es-ES" dirty="0">
                <a:ea typeface="+mn-lt"/>
                <a:cs typeface="+mn-lt"/>
              </a:rPr>
              <a:t>.</a:t>
            </a:r>
            <a:endParaRPr lang="es-ES" dirty="0"/>
          </a:p>
          <a:p>
            <a:pPr lvl="1">
              <a:buFont typeface="Courier New" panose="020B0604020202020204" pitchFamily="34" charset="0"/>
              <a:buChar char="o"/>
            </a:pPr>
            <a:r>
              <a:rPr lang="es-ES" dirty="0" err="1">
                <a:ea typeface="+mn-lt"/>
                <a:cs typeface="+mn-lt"/>
              </a:rPr>
              <a:t>flex</a:t>
            </a:r>
            <a:r>
              <a:rPr lang="es-ES" dirty="0">
                <a:ea typeface="+mn-lt"/>
                <a:cs typeface="+mn-lt"/>
              </a:rPr>
              <a:t> y </a:t>
            </a:r>
            <a:r>
              <a:rPr lang="es-ES" dirty="0" err="1">
                <a:ea typeface="+mn-lt"/>
                <a:cs typeface="+mn-lt"/>
              </a:rPr>
              <a:t>grid</a:t>
            </a:r>
            <a:r>
              <a:rPr lang="es-ES" dirty="0">
                <a:ea typeface="+mn-lt"/>
                <a:cs typeface="+mn-lt"/>
              </a:rPr>
              <a:t>: Estos valores activan los sistemas modernos de maquetación.</a:t>
            </a:r>
          </a:p>
          <a:p>
            <a:r>
              <a:rPr lang="es-ES" dirty="0">
                <a:ea typeface="+mn-lt"/>
                <a:cs typeface="+mn-lt"/>
              </a:rPr>
              <a:t>La propiedad </a:t>
            </a:r>
            <a:r>
              <a:rPr lang="es-ES" b="1" dirty="0">
                <a:latin typeface="Courier New"/>
                <a:ea typeface="+mn-lt"/>
                <a:cs typeface="+mn-lt"/>
              </a:rPr>
              <a:t>position </a:t>
            </a:r>
            <a:r>
              <a:rPr lang="es-ES" dirty="0">
                <a:ea typeface="+mn-lt"/>
                <a:cs typeface="+mn-lt"/>
              </a:rPr>
              <a:t>controla el posicionamiento de un elemento. Los valores más comunes son:</a:t>
            </a:r>
          </a:p>
          <a:p>
            <a:pPr lvl="1">
              <a:buFont typeface="Courier New" panose="020B0604020202020204" pitchFamily="34" charset="0"/>
              <a:buChar char="o"/>
            </a:pPr>
            <a:r>
              <a:rPr lang="es-ES" dirty="0" err="1">
                <a:ea typeface="+mn-lt"/>
                <a:cs typeface="+mn-lt"/>
              </a:rPr>
              <a:t>static</a:t>
            </a:r>
            <a:r>
              <a:rPr lang="es-ES" dirty="0">
                <a:ea typeface="+mn-lt"/>
                <a:cs typeface="+mn-lt"/>
              </a:rPr>
              <a:t>: La posición por defecto, los elementos fluyen normalmente.</a:t>
            </a:r>
          </a:p>
          <a:p>
            <a:pPr lvl="1">
              <a:buFont typeface="Courier New" panose="020B0604020202020204" pitchFamily="34" charset="0"/>
              <a:buChar char="o"/>
            </a:pPr>
            <a:r>
              <a:rPr lang="es-ES" dirty="0">
                <a:ea typeface="+mn-lt"/>
                <a:cs typeface="+mn-lt"/>
              </a:rPr>
              <a:t>relative: El elemento se mueve con respecto a su posición normal, pero deja un espacio vacío en su lugar original.</a:t>
            </a:r>
          </a:p>
          <a:p>
            <a:pPr lvl="1">
              <a:buFont typeface="Courier New" panose="020B0604020202020204" pitchFamily="34" charset="0"/>
              <a:buChar char="o"/>
            </a:pPr>
            <a:r>
              <a:rPr lang="es-ES" dirty="0">
                <a:ea typeface="+mn-lt"/>
                <a:cs typeface="+mn-lt"/>
              </a:rPr>
              <a:t>absolute: El elemento es eliminado del flujo normal del documento y se posiciona en relación con el elemento padre posicionado más cercano.</a:t>
            </a:r>
          </a:p>
          <a:p>
            <a:endParaRPr lang="es-ES" dirty="0"/>
          </a:p>
        </p:txBody>
      </p:sp>
    </p:spTree>
    <p:extLst>
      <p:ext uri="{BB962C8B-B14F-4D97-AF65-F5344CB8AC3E}">
        <p14:creationId xmlns:p14="http://schemas.microsoft.com/office/powerpoint/2010/main" val="109559994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F2CC86-CFCC-3229-B9FF-F92BE3C90BE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8E09327-0B9F-6DC0-B8ED-13A0C2BDBF79}"/>
              </a:ext>
            </a:extLst>
          </p:cNvPr>
          <p:cNvSpPr>
            <a:spLocks noGrp="1"/>
          </p:cNvSpPr>
          <p:nvPr>
            <p:ph type="title"/>
          </p:nvPr>
        </p:nvSpPr>
        <p:spPr/>
        <p:txBody>
          <a:bodyPr/>
          <a:lstStyle/>
          <a:p>
            <a:r>
              <a:rPr lang="es-ES" b="0" dirty="0">
                <a:ea typeface="+mj-lt"/>
                <a:cs typeface="+mj-lt"/>
              </a:rPr>
              <a:t>2.3. Maquetación y diseño.</a:t>
            </a:r>
            <a:endParaRPr lang="es-ES" b="0" dirty="0"/>
          </a:p>
        </p:txBody>
      </p:sp>
      <p:sp>
        <p:nvSpPr>
          <p:cNvPr id="3" name="Marcador de contenido 2">
            <a:extLst>
              <a:ext uri="{FF2B5EF4-FFF2-40B4-BE49-F238E27FC236}">
                <a16:creationId xmlns:a16="http://schemas.microsoft.com/office/drawing/2014/main" id="{A6E66C1F-FBA2-A7DB-02BC-AC9A53C168E4}"/>
              </a:ext>
            </a:extLst>
          </p:cNvPr>
          <p:cNvSpPr>
            <a:spLocks noGrp="1"/>
          </p:cNvSpPr>
          <p:nvPr>
            <p:ph idx="1"/>
          </p:nvPr>
        </p:nvSpPr>
        <p:spPr/>
        <p:txBody>
          <a:bodyPr vert="horz" lIns="91440" tIns="45720" rIns="91440" bIns="45720" rtlCol="0" anchor="t">
            <a:normAutofit fontScale="92500" lnSpcReduction="10000"/>
          </a:bodyPr>
          <a:lstStyle/>
          <a:p>
            <a:pPr lvl="1">
              <a:buFont typeface="Courier New" panose="020B0604020202020204" pitchFamily="34" charset="0"/>
              <a:buChar char="o"/>
            </a:pPr>
            <a:r>
              <a:rPr lang="es-ES" dirty="0" err="1">
                <a:ea typeface="+mn-lt"/>
                <a:cs typeface="+mn-lt"/>
              </a:rPr>
              <a:t>fixed</a:t>
            </a:r>
            <a:r>
              <a:rPr lang="es-ES" dirty="0">
                <a:ea typeface="+mn-lt"/>
                <a:cs typeface="+mn-lt"/>
              </a:rPr>
              <a:t>: El elemento es eliminado del flujo y se posiciona en relación con el </a:t>
            </a:r>
            <a:r>
              <a:rPr lang="es-ES" dirty="0" err="1">
                <a:ea typeface="+mn-lt"/>
                <a:cs typeface="+mn-lt"/>
              </a:rPr>
              <a:t>viewport</a:t>
            </a:r>
            <a:r>
              <a:rPr lang="es-ES" dirty="0">
                <a:ea typeface="+mn-lt"/>
                <a:cs typeface="+mn-lt"/>
              </a:rPr>
              <a:t>, permaneciendo en su lugar aunque la página se desplace (útil para menús fijos).</a:t>
            </a:r>
            <a:endParaRPr lang="es-ES" dirty="0"/>
          </a:p>
          <a:p>
            <a:pPr lvl="1">
              <a:buFont typeface="Courier New" panose="020B0604020202020204" pitchFamily="34" charset="0"/>
              <a:buChar char="o"/>
            </a:pPr>
            <a:r>
              <a:rPr lang="es-ES" dirty="0" err="1">
                <a:ea typeface="+mn-lt"/>
                <a:cs typeface="+mn-lt"/>
              </a:rPr>
              <a:t>sticky</a:t>
            </a:r>
            <a:r>
              <a:rPr lang="es-ES" dirty="0">
                <a:ea typeface="+mn-lt"/>
                <a:cs typeface="+mn-lt"/>
              </a:rPr>
              <a:t>: El elemento se comporta como relative hasta que se desplaza a un punto determinado del </a:t>
            </a:r>
            <a:r>
              <a:rPr lang="es-ES" dirty="0" err="1">
                <a:ea typeface="+mn-lt"/>
                <a:cs typeface="+mn-lt"/>
              </a:rPr>
              <a:t>viewport</a:t>
            </a:r>
            <a:r>
              <a:rPr lang="es-ES" dirty="0">
                <a:ea typeface="+mn-lt"/>
                <a:cs typeface="+mn-lt"/>
              </a:rPr>
              <a:t>, momento en el que se vuelve </a:t>
            </a:r>
            <a:r>
              <a:rPr lang="es-ES" dirty="0" err="1">
                <a:ea typeface="+mn-lt"/>
                <a:cs typeface="+mn-lt"/>
              </a:rPr>
              <a:t>fixed</a:t>
            </a:r>
            <a:r>
              <a:rPr lang="es-ES" dirty="0">
                <a:ea typeface="+mn-lt"/>
                <a:cs typeface="+mn-lt"/>
              </a:rPr>
              <a:t>.</a:t>
            </a:r>
          </a:p>
          <a:p>
            <a:r>
              <a:rPr lang="es-ES" dirty="0" err="1">
                <a:ea typeface="+mn-lt"/>
                <a:cs typeface="+mn-lt"/>
              </a:rPr>
              <a:t>Flexbox</a:t>
            </a:r>
            <a:r>
              <a:rPr lang="es-ES" dirty="0">
                <a:ea typeface="+mn-lt"/>
                <a:cs typeface="+mn-lt"/>
              </a:rPr>
              <a:t> y CSS </a:t>
            </a:r>
            <a:r>
              <a:rPr lang="es-ES" dirty="0" err="1">
                <a:ea typeface="+mn-lt"/>
                <a:cs typeface="+mn-lt"/>
              </a:rPr>
              <a:t>Grid</a:t>
            </a:r>
            <a:r>
              <a:rPr lang="es-ES" dirty="0">
                <a:ea typeface="+mn-lt"/>
                <a:cs typeface="+mn-lt"/>
              </a:rPr>
              <a:t> son los pilares de la maquetación moderna. A diferencia de las técnicas antiguas, te permiten crear diseños responsivos de forma nativa con mucha menos complejidad.</a:t>
            </a:r>
          </a:p>
          <a:p>
            <a:pPr lvl="1">
              <a:buFont typeface="Courier New" panose="020B0604020202020204" pitchFamily="34" charset="0"/>
              <a:buChar char="o"/>
            </a:pPr>
            <a:r>
              <a:rPr lang="es-ES" dirty="0" err="1">
                <a:ea typeface="+mn-lt"/>
                <a:cs typeface="+mn-lt"/>
              </a:rPr>
              <a:t>Flexbox</a:t>
            </a:r>
            <a:r>
              <a:rPr lang="es-ES" dirty="0">
                <a:ea typeface="+mn-lt"/>
                <a:cs typeface="+mn-lt"/>
              </a:rPr>
              <a:t> (Flexible Box): Es un sistema de maquetación unidimensional. Es perfecto para alinear y distribuir elementos a lo largo de un solo eje (horizontal o vertical). Es ideal para componentes como barras de navegación, formularios o galerías de imágenes.</a:t>
            </a:r>
          </a:p>
          <a:p>
            <a:pPr lvl="1">
              <a:buFont typeface="Courier New" panose="020B0604020202020204" pitchFamily="34" charset="0"/>
              <a:buChar char="o"/>
            </a:pPr>
            <a:r>
              <a:rPr lang="es-ES" dirty="0">
                <a:ea typeface="+mn-lt"/>
                <a:cs typeface="+mn-lt"/>
              </a:rPr>
              <a:t>CSS </a:t>
            </a:r>
            <a:r>
              <a:rPr lang="es-ES" dirty="0" err="1">
                <a:ea typeface="+mn-lt"/>
                <a:cs typeface="+mn-lt"/>
              </a:rPr>
              <a:t>Grid</a:t>
            </a:r>
            <a:r>
              <a:rPr lang="es-ES" dirty="0">
                <a:ea typeface="+mn-lt"/>
                <a:cs typeface="+mn-lt"/>
              </a:rPr>
              <a:t> (</a:t>
            </a:r>
            <a:r>
              <a:rPr lang="es-ES" dirty="0" err="1">
                <a:ea typeface="+mn-lt"/>
                <a:cs typeface="+mn-lt"/>
              </a:rPr>
              <a:t>Grid</a:t>
            </a:r>
            <a:r>
              <a:rPr lang="es-ES" dirty="0">
                <a:ea typeface="+mn-lt"/>
                <a:cs typeface="+mn-lt"/>
              </a:rPr>
              <a:t> </a:t>
            </a:r>
            <a:r>
              <a:rPr lang="es-ES" dirty="0" err="1">
                <a:ea typeface="+mn-lt"/>
                <a:cs typeface="+mn-lt"/>
              </a:rPr>
              <a:t>Layout</a:t>
            </a:r>
            <a:r>
              <a:rPr lang="es-ES" dirty="0">
                <a:ea typeface="+mn-lt"/>
                <a:cs typeface="+mn-lt"/>
              </a:rPr>
              <a:t>): Es un sistema de maquetación bidimensional. Te permite dividir el espacio en filas y columnas, lo que lo hace ideal para diseños de página completos, como cabeceras, pies de página, barras laterales y contenido principal.</a:t>
            </a:r>
          </a:p>
          <a:p>
            <a:pPr lvl="1">
              <a:buFont typeface="Courier New" panose="020B0604020202020204" pitchFamily="34" charset="0"/>
              <a:buChar char="o"/>
            </a:pPr>
            <a:r>
              <a:rPr lang="es-ES" dirty="0">
                <a:ea typeface="+mn-lt"/>
                <a:cs typeface="+mn-lt"/>
              </a:rPr>
              <a:t>Ambos sistemas se complementan, y la mejor práctica es usarlos juntos: CSS </a:t>
            </a:r>
            <a:r>
              <a:rPr lang="es-ES" dirty="0" err="1">
                <a:ea typeface="+mn-lt"/>
                <a:cs typeface="+mn-lt"/>
              </a:rPr>
              <a:t>Grid</a:t>
            </a:r>
            <a:r>
              <a:rPr lang="es-ES" dirty="0">
                <a:ea typeface="+mn-lt"/>
                <a:cs typeface="+mn-lt"/>
              </a:rPr>
              <a:t> para el diseño general de la página y </a:t>
            </a:r>
            <a:r>
              <a:rPr lang="es-ES" dirty="0" err="1">
                <a:ea typeface="+mn-lt"/>
                <a:cs typeface="+mn-lt"/>
              </a:rPr>
              <a:t>Flexbox</a:t>
            </a:r>
            <a:r>
              <a:rPr lang="es-ES" dirty="0">
                <a:ea typeface="+mn-lt"/>
                <a:cs typeface="+mn-lt"/>
              </a:rPr>
              <a:t> para alinear elementos dentro de celdas de la cuadrícula o componentes más pequeños.</a:t>
            </a:r>
          </a:p>
        </p:txBody>
      </p:sp>
    </p:spTree>
    <p:extLst>
      <p:ext uri="{BB962C8B-B14F-4D97-AF65-F5344CB8AC3E}">
        <p14:creationId xmlns:p14="http://schemas.microsoft.com/office/powerpoint/2010/main" val="262926633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C57163-C3D9-FF11-BD73-D30B450C6C3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1C2F766-3D10-0552-8033-2F0C075F18C0}"/>
              </a:ext>
            </a:extLst>
          </p:cNvPr>
          <p:cNvSpPr>
            <a:spLocks noGrp="1"/>
          </p:cNvSpPr>
          <p:nvPr>
            <p:ph type="title"/>
          </p:nvPr>
        </p:nvSpPr>
        <p:spPr/>
        <p:txBody>
          <a:bodyPr/>
          <a:lstStyle/>
          <a:p>
            <a:r>
              <a:rPr lang="es-ES" b="0" dirty="0">
                <a:ea typeface="+mj-lt"/>
                <a:cs typeface="+mj-lt"/>
              </a:rPr>
              <a:t>2.3.1. Introducción al diseño responsive</a:t>
            </a:r>
            <a:endParaRPr lang="es-ES" dirty="0"/>
          </a:p>
        </p:txBody>
      </p:sp>
      <p:sp>
        <p:nvSpPr>
          <p:cNvPr id="3" name="Marcador de contenido 2">
            <a:extLst>
              <a:ext uri="{FF2B5EF4-FFF2-40B4-BE49-F238E27FC236}">
                <a16:creationId xmlns:a16="http://schemas.microsoft.com/office/drawing/2014/main" id="{93CB7C2E-5CC1-96C0-9A57-F57B4C2FD6AD}"/>
              </a:ext>
            </a:extLst>
          </p:cNvPr>
          <p:cNvSpPr>
            <a:spLocks noGrp="1"/>
          </p:cNvSpPr>
          <p:nvPr>
            <p:ph idx="1"/>
          </p:nvPr>
        </p:nvSpPr>
        <p:spPr/>
        <p:txBody>
          <a:bodyPr vert="horz" lIns="91440" tIns="45720" rIns="91440" bIns="45720" rtlCol="0" anchor="t">
            <a:normAutofit fontScale="85000" lnSpcReduction="10000"/>
          </a:bodyPr>
          <a:lstStyle/>
          <a:p>
            <a:r>
              <a:rPr lang="es-ES" dirty="0">
                <a:ea typeface="+mn-lt"/>
                <a:cs typeface="+mn-lt"/>
              </a:rPr>
              <a:t>El diseño responsive es una práctica de diseño y desarrollo web que busca crear sitios que se vean y funcionen bien en una variedad de dispositivos, desde pantallas de escritorio grandes hasta teléfonos móviles. En lugar de crear un sitio web separado para cada tipo de dispositivo, el diseño responsive utiliza CSS para adaptar el diseño de la página, sus imágenes y su contenido al tamaño de la pantalla del usuario. El objetivo es ofrecer una experiencia de usuario consistente y optimizada, sin importar cómo se acceda a la página.</a:t>
            </a:r>
            <a:endParaRPr lang="es-ES" dirty="0"/>
          </a:p>
          <a:p>
            <a:r>
              <a:rPr lang="es-ES" dirty="0">
                <a:ea typeface="+mn-lt"/>
                <a:cs typeface="+mn-lt"/>
              </a:rPr>
              <a:t>El diseño responsive se basa en tres pilares fundamentales:</a:t>
            </a:r>
            <a:endParaRPr lang="es-ES" dirty="0"/>
          </a:p>
          <a:p>
            <a:pPr lvl="1">
              <a:buFont typeface="Courier New" panose="020B0604020202020204" pitchFamily="34" charset="0"/>
              <a:buChar char="o"/>
            </a:pPr>
            <a:r>
              <a:rPr lang="es-ES" dirty="0">
                <a:ea typeface="+mn-lt"/>
                <a:cs typeface="+mn-lt"/>
              </a:rPr>
              <a:t>Rejillas flexibles (Fluid </a:t>
            </a:r>
            <a:r>
              <a:rPr lang="es-ES" dirty="0" err="1">
                <a:ea typeface="+mn-lt"/>
                <a:cs typeface="+mn-lt"/>
              </a:rPr>
              <a:t>Grids</a:t>
            </a:r>
            <a:r>
              <a:rPr lang="es-ES" dirty="0">
                <a:ea typeface="+mn-lt"/>
                <a:cs typeface="+mn-lt"/>
              </a:rPr>
              <a:t>): En lugar de usar unidades de medida absolutas como </a:t>
            </a:r>
            <a:r>
              <a:rPr lang="es-ES" dirty="0" err="1">
                <a:ea typeface="+mn-lt"/>
                <a:cs typeface="+mn-lt"/>
              </a:rPr>
              <a:t>px</a:t>
            </a:r>
            <a:r>
              <a:rPr lang="es-ES" dirty="0">
                <a:ea typeface="+mn-lt"/>
                <a:cs typeface="+mn-lt"/>
              </a:rPr>
              <a:t>, se emplean unidades relativas como </a:t>
            </a:r>
            <a:r>
              <a:rPr lang="es-ES" dirty="0" err="1">
                <a:ea typeface="+mn-lt"/>
                <a:cs typeface="+mn-lt"/>
              </a:rPr>
              <a:t>vw</a:t>
            </a:r>
            <a:r>
              <a:rPr lang="es-ES" dirty="0">
                <a:ea typeface="+mn-lt"/>
                <a:cs typeface="+mn-lt"/>
              </a:rPr>
              <a:t>, rem y porcentajes (%). Esto permite que los contenedores y el diseño general de la página se adapten de forma fluida al ancho de la pantalla, en lugar de tener un tamaño fijo.</a:t>
            </a:r>
            <a:endParaRPr lang="es-ES" dirty="0"/>
          </a:p>
          <a:p>
            <a:pPr lvl="1">
              <a:buFont typeface="Courier New" panose="020B0604020202020204" pitchFamily="34" charset="0"/>
              <a:buChar char="o"/>
            </a:pPr>
            <a:r>
              <a:rPr lang="es-ES" dirty="0">
                <a:ea typeface="+mn-lt"/>
                <a:cs typeface="+mn-lt"/>
              </a:rPr>
              <a:t>Imágenes flexibles (Flexible </a:t>
            </a:r>
            <a:r>
              <a:rPr lang="es-ES" dirty="0" err="1">
                <a:ea typeface="+mn-lt"/>
                <a:cs typeface="+mn-lt"/>
              </a:rPr>
              <a:t>Images</a:t>
            </a:r>
            <a:r>
              <a:rPr lang="es-ES" dirty="0">
                <a:ea typeface="+mn-lt"/>
                <a:cs typeface="+mn-lt"/>
              </a:rPr>
              <a:t>): Las imágenes se redimensionan automáticamente para encajar en sus contenedores. Esto se logra aplicando un estilo sencillo: </a:t>
            </a:r>
            <a:r>
              <a:rPr lang="es-ES" dirty="0" err="1">
                <a:ea typeface="+mn-lt"/>
                <a:cs typeface="+mn-lt"/>
              </a:rPr>
              <a:t>img</a:t>
            </a:r>
            <a:r>
              <a:rPr lang="es-ES" dirty="0">
                <a:ea typeface="+mn-lt"/>
                <a:cs typeface="+mn-lt"/>
              </a:rPr>
              <a:t> { </a:t>
            </a:r>
            <a:r>
              <a:rPr lang="es-ES" dirty="0" err="1">
                <a:ea typeface="+mn-lt"/>
                <a:cs typeface="+mn-lt"/>
              </a:rPr>
              <a:t>max-width</a:t>
            </a:r>
            <a:r>
              <a:rPr lang="es-ES" dirty="0">
                <a:ea typeface="+mn-lt"/>
                <a:cs typeface="+mn-lt"/>
              </a:rPr>
              <a:t>: 100%; </a:t>
            </a:r>
            <a:r>
              <a:rPr lang="es-ES" dirty="0" err="1">
                <a:ea typeface="+mn-lt"/>
                <a:cs typeface="+mn-lt"/>
              </a:rPr>
              <a:t>height</a:t>
            </a:r>
            <a:r>
              <a:rPr lang="es-ES" dirty="0">
                <a:ea typeface="+mn-lt"/>
                <a:cs typeface="+mn-lt"/>
              </a:rPr>
              <a:t>: auto; }. Esta regla garantiza que una imagen nunca desborde su contenedor y mantenga su proporción.</a:t>
            </a:r>
            <a:endParaRPr lang="es-ES" dirty="0"/>
          </a:p>
          <a:p>
            <a:pPr lvl="1">
              <a:buFont typeface="Courier New" panose="020B0604020202020204" pitchFamily="34" charset="0"/>
              <a:buChar char="o"/>
            </a:pPr>
            <a:r>
              <a:rPr lang="es-ES" dirty="0">
                <a:ea typeface="+mn-lt"/>
                <a:cs typeface="+mn-lt"/>
              </a:rPr>
              <a:t>Consultas de medios (Media </a:t>
            </a:r>
            <a:r>
              <a:rPr lang="es-ES" dirty="0" err="1">
                <a:ea typeface="+mn-lt"/>
                <a:cs typeface="+mn-lt"/>
              </a:rPr>
              <a:t>Queries</a:t>
            </a:r>
            <a:r>
              <a:rPr lang="es-ES" dirty="0">
                <a:ea typeface="+mn-lt"/>
                <a:cs typeface="+mn-lt"/>
              </a:rPr>
              <a:t>): Esta es la técnica más importante del diseño responsive. Las media </a:t>
            </a:r>
            <a:r>
              <a:rPr lang="es-ES" dirty="0" err="1">
                <a:ea typeface="+mn-lt"/>
                <a:cs typeface="+mn-lt"/>
              </a:rPr>
              <a:t>queries</a:t>
            </a:r>
            <a:r>
              <a:rPr lang="es-ES" dirty="0">
                <a:ea typeface="+mn-lt"/>
                <a:cs typeface="+mn-lt"/>
              </a:rPr>
              <a:t> son bloques de CSS que solo se aplican si se cumplen ciertas condiciones del dispositivo, como el ancho de la pantalla. Te permiten aplicar estilos específicos para diferentes rangos de tamaños de pantalla, creando "puntos de ruptura" (</a:t>
            </a:r>
            <a:r>
              <a:rPr lang="es-ES" dirty="0" err="1">
                <a:ea typeface="+mn-lt"/>
                <a:cs typeface="+mn-lt"/>
              </a:rPr>
              <a:t>breakpoints</a:t>
            </a:r>
            <a:r>
              <a:rPr lang="es-ES" dirty="0">
                <a:ea typeface="+mn-lt"/>
                <a:cs typeface="+mn-lt"/>
              </a:rPr>
              <a:t>) donde el diseño cambia.</a:t>
            </a:r>
            <a:endParaRPr lang="es-ES" dirty="0"/>
          </a:p>
        </p:txBody>
      </p:sp>
    </p:spTree>
    <p:extLst>
      <p:ext uri="{BB962C8B-B14F-4D97-AF65-F5344CB8AC3E}">
        <p14:creationId xmlns:p14="http://schemas.microsoft.com/office/powerpoint/2010/main" val="229927617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36F076-DF91-8694-D4DC-AA84607DC7A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FC31960-F8FD-9858-CC3D-651EAC21A8CB}"/>
              </a:ext>
            </a:extLst>
          </p:cNvPr>
          <p:cNvSpPr>
            <a:spLocks noGrp="1"/>
          </p:cNvSpPr>
          <p:nvPr>
            <p:ph type="title"/>
          </p:nvPr>
        </p:nvSpPr>
        <p:spPr/>
        <p:txBody>
          <a:bodyPr/>
          <a:lstStyle/>
          <a:p>
            <a:r>
              <a:rPr lang="es-ES" b="0" dirty="0">
                <a:ea typeface="+mj-lt"/>
                <a:cs typeface="+mj-lt"/>
              </a:rPr>
              <a:t>2.3.1. Introducción al diseño responsive</a:t>
            </a:r>
            <a:endParaRPr lang="es-ES" dirty="0"/>
          </a:p>
        </p:txBody>
      </p:sp>
      <p:sp>
        <p:nvSpPr>
          <p:cNvPr id="3" name="Marcador de contenido 2">
            <a:extLst>
              <a:ext uri="{FF2B5EF4-FFF2-40B4-BE49-F238E27FC236}">
                <a16:creationId xmlns:a16="http://schemas.microsoft.com/office/drawing/2014/main" id="{DFBDBEE6-95EE-6BE7-8F2F-C119A00E9E08}"/>
              </a:ext>
            </a:extLst>
          </p:cNvPr>
          <p:cNvSpPr>
            <a:spLocks noGrp="1"/>
          </p:cNvSpPr>
          <p:nvPr>
            <p:ph idx="1"/>
          </p:nvPr>
        </p:nvSpPr>
        <p:spPr/>
        <p:txBody>
          <a:bodyPr vert="horz" lIns="91440" tIns="45720" rIns="91440" bIns="45720" rtlCol="0" anchor="t">
            <a:normAutofit fontScale="70000" lnSpcReduction="20000"/>
          </a:bodyPr>
          <a:lstStyle/>
          <a:p>
            <a:r>
              <a:rPr lang="es-ES" dirty="0">
                <a:ea typeface="+mn-lt"/>
                <a:cs typeface="+mn-lt"/>
              </a:rPr>
              <a:t>Ejemplo: El siguiente código muestra cómo podrías cambiar el tamaño de un encabezado y la disposición de las columnas para pantallas más pequeñas. El navegador aplicará los estilos dentro del bloque @media solo si el ancho de la pantalla es igual o menor a 768 píxeles.</a:t>
            </a:r>
          </a:p>
          <a:p>
            <a:r>
              <a:rPr lang="es-ES" b="1" dirty="0">
                <a:latin typeface="Courier New"/>
                <a:ea typeface="+mn-lt"/>
                <a:cs typeface="+mn-lt"/>
              </a:rPr>
              <a:t>/* Estilos por defecto para pantallas grandes */</a:t>
            </a:r>
            <a:br>
              <a:rPr lang="es-ES" b="1" dirty="0">
                <a:latin typeface="Courier New"/>
                <a:ea typeface="+mn-lt"/>
                <a:cs typeface="+mn-lt"/>
              </a:rPr>
            </a:br>
            <a:r>
              <a:rPr lang="es-ES" b="1" dirty="0">
                <a:latin typeface="Courier New"/>
                <a:ea typeface="+mn-lt"/>
                <a:cs typeface="+mn-lt"/>
              </a:rPr>
              <a:t>.contenedor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display</a:t>
            </a:r>
            <a:r>
              <a:rPr lang="es-ES" b="1" dirty="0">
                <a:latin typeface="Courier New"/>
                <a:ea typeface="+mn-lt"/>
                <a:cs typeface="+mn-lt"/>
              </a:rPr>
              <a:t>: </a:t>
            </a:r>
            <a:r>
              <a:rPr lang="es-ES" b="1" dirty="0" err="1">
                <a:latin typeface="Courier New"/>
                <a:ea typeface="+mn-lt"/>
                <a:cs typeface="+mn-lt"/>
              </a:rPr>
              <a:t>flex</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flex-direction</a:t>
            </a:r>
            <a:r>
              <a:rPr lang="es-ES" b="1" dirty="0">
                <a:latin typeface="Courier New"/>
                <a:ea typeface="+mn-lt"/>
                <a:cs typeface="+mn-lt"/>
              </a:rPr>
              <a:t>: </a:t>
            </a:r>
            <a:r>
              <a:rPr lang="es-ES" b="1" dirty="0" err="1">
                <a:latin typeface="Courier New"/>
                <a:ea typeface="+mn-lt"/>
                <a:cs typeface="+mn-lt"/>
              </a:rPr>
              <a:t>row</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h1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font-size</a:t>
            </a:r>
            <a:r>
              <a:rPr lang="es-ES" b="1" dirty="0">
                <a:latin typeface="Courier New"/>
                <a:ea typeface="+mn-lt"/>
                <a:cs typeface="+mn-lt"/>
              </a:rPr>
              <a:t>: 2rem;</a:t>
            </a:r>
            <a:br>
              <a:rPr lang="es-ES" b="1" dirty="0">
                <a:latin typeface="Courier New"/>
                <a:ea typeface="+mn-lt"/>
                <a:cs typeface="+mn-lt"/>
              </a:rPr>
            </a:b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 Regla para pantallas con un ancho máximo de 768px (tabletas y móviles) */</a:t>
            </a:r>
            <a:br>
              <a:rPr lang="es-ES" b="1" dirty="0">
                <a:latin typeface="Courier New"/>
                <a:ea typeface="+mn-lt"/>
                <a:cs typeface="+mn-lt"/>
              </a:rPr>
            </a:br>
            <a:r>
              <a:rPr lang="es-ES" b="1" dirty="0">
                <a:latin typeface="Courier New"/>
                <a:ea typeface="+mn-lt"/>
                <a:cs typeface="+mn-lt"/>
              </a:rPr>
              <a:t>@media (</a:t>
            </a:r>
            <a:r>
              <a:rPr lang="es-ES" b="1" dirty="0" err="1">
                <a:latin typeface="Courier New"/>
                <a:ea typeface="+mn-lt"/>
                <a:cs typeface="+mn-lt"/>
              </a:rPr>
              <a:t>max-width</a:t>
            </a:r>
            <a:r>
              <a:rPr lang="es-ES" b="1" dirty="0">
                <a:latin typeface="Courier New"/>
                <a:ea typeface="+mn-lt"/>
                <a:cs typeface="+mn-lt"/>
              </a:rPr>
              <a:t>: 768px) {</a:t>
            </a:r>
            <a:br>
              <a:rPr lang="es-ES" b="1" dirty="0">
                <a:latin typeface="Courier New"/>
                <a:ea typeface="+mn-lt"/>
                <a:cs typeface="+mn-lt"/>
              </a:rPr>
            </a:br>
            <a:r>
              <a:rPr lang="es-ES" b="1" dirty="0">
                <a:latin typeface="Courier New"/>
                <a:ea typeface="+mn-lt"/>
                <a:cs typeface="+mn-lt"/>
              </a:rPr>
              <a:t>  .contenedor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flex-direction</a:t>
            </a:r>
            <a:r>
              <a:rPr lang="es-ES" b="1" dirty="0">
                <a:latin typeface="Courier New"/>
                <a:ea typeface="+mn-lt"/>
                <a:cs typeface="+mn-lt"/>
              </a:rPr>
              <a:t>: </a:t>
            </a:r>
            <a:r>
              <a:rPr lang="es-ES" b="1" dirty="0" err="1">
                <a:latin typeface="Courier New"/>
                <a:ea typeface="+mn-lt"/>
                <a:cs typeface="+mn-lt"/>
              </a:rPr>
              <a:t>column</a:t>
            </a:r>
            <a:r>
              <a:rPr lang="es-ES" b="1" dirty="0">
                <a:latin typeface="Courier New"/>
                <a:ea typeface="+mn-lt"/>
                <a:cs typeface="+mn-lt"/>
              </a:rPr>
              <a:t>; /* Cambia la dirección de los elementos a columna */</a:t>
            </a:r>
            <a:br>
              <a:rPr lang="es-ES" b="1" dirty="0">
                <a:latin typeface="Courier New"/>
                <a:ea typeface="+mn-lt"/>
                <a:cs typeface="+mn-lt"/>
              </a:rPr>
            </a:b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h1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font-size</a:t>
            </a:r>
            <a:r>
              <a:rPr lang="es-ES" b="1" dirty="0">
                <a:latin typeface="Courier New"/>
                <a:ea typeface="+mn-lt"/>
                <a:cs typeface="+mn-lt"/>
              </a:rPr>
              <a:t>: 1.5rem; /* Reduce el tamaño de la fuente */</a:t>
            </a:r>
            <a:br>
              <a:rPr lang="es-ES" b="1" dirty="0">
                <a:latin typeface="Courier New"/>
                <a:ea typeface="+mn-lt"/>
                <a:cs typeface="+mn-lt"/>
              </a:rPr>
            </a:b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a:t>
            </a:r>
            <a:endParaRPr lang="es-ES" b="1" dirty="0">
              <a:latin typeface="Courier New"/>
            </a:endParaRPr>
          </a:p>
        </p:txBody>
      </p:sp>
    </p:spTree>
    <p:extLst>
      <p:ext uri="{BB962C8B-B14F-4D97-AF65-F5344CB8AC3E}">
        <p14:creationId xmlns:p14="http://schemas.microsoft.com/office/powerpoint/2010/main" val="286115490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FF133D-5A27-2205-B06F-5A6B2D58C16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DAD1495-9150-8E86-EE79-AC6EE83B9BFD}"/>
              </a:ext>
            </a:extLst>
          </p:cNvPr>
          <p:cNvSpPr>
            <a:spLocks noGrp="1"/>
          </p:cNvSpPr>
          <p:nvPr>
            <p:ph type="title"/>
          </p:nvPr>
        </p:nvSpPr>
        <p:spPr/>
        <p:txBody>
          <a:bodyPr/>
          <a:lstStyle/>
          <a:p>
            <a:r>
              <a:rPr lang="es-ES" b="0" dirty="0">
                <a:ea typeface="+mj-lt"/>
                <a:cs typeface="+mj-lt"/>
              </a:rPr>
              <a:t>2.3.1.1. </a:t>
            </a:r>
            <a:r>
              <a:rPr lang="es-ES" b="0" dirty="0" err="1">
                <a:ea typeface="+mj-lt"/>
                <a:cs typeface="+mj-lt"/>
              </a:rPr>
              <a:t>viewport</a:t>
            </a:r>
            <a:r>
              <a:rPr lang="es-ES" b="0" dirty="0">
                <a:ea typeface="+mj-lt"/>
                <a:cs typeface="+mj-lt"/>
              </a:rPr>
              <a:t> y su configuración.</a:t>
            </a:r>
            <a:endParaRPr lang="es-ES" dirty="0"/>
          </a:p>
        </p:txBody>
      </p:sp>
      <p:sp>
        <p:nvSpPr>
          <p:cNvPr id="3" name="Marcador de contenido 2">
            <a:extLst>
              <a:ext uri="{FF2B5EF4-FFF2-40B4-BE49-F238E27FC236}">
                <a16:creationId xmlns:a16="http://schemas.microsoft.com/office/drawing/2014/main" id="{C8652B32-4D90-E513-5339-23236595CC0A}"/>
              </a:ext>
            </a:extLst>
          </p:cNvPr>
          <p:cNvSpPr>
            <a:spLocks noGrp="1"/>
          </p:cNvSpPr>
          <p:nvPr>
            <p:ph idx="1"/>
          </p:nvPr>
        </p:nvSpPr>
        <p:spPr/>
        <p:txBody>
          <a:bodyPr vert="horz" lIns="91440" tIns="45720" rIns="91440" bIns="45720" rtlCol="0" anchor="t">
            <a:normAutofit lnSpcReduction="10000"/>
          </a:bodyPr>
          <a:lstStyle/>
          <a:p>
            <a:r>
              <a:rPr lang="es-ES" dirty="0">
                <a:ea typeface="+mn-lt"/>
                <a:cs typeface="+mn-lt"/>
              </a:rPr>
              <a:t>El </a:t>
            </a:r>
            <a:r>
              <a:rPr lang="es-ES" dirty="0" err="1">
                <a:ea typeface="+mn-lt"/>
                <a:cs typeface="+mn-lt"/>
              </a:rPr>
              <a:t>viewport</a:t>
            </a:r>
            <a:r>
              <a:rPr lang="es-ES" dirty="0">
                <a:ea typeface="+mn-lt"/>
                <a:cs typeface="+mn-lt"/>
              </a:rPr>
              <a:t> es el área visible de la página web en la ventana del navegador. Su tamaño varía en función del dispositivo (ordenador de escritorio, tableta, móvil). Históricamente, los navegadores de móviles intentaban renderizar las páginas web de escritorio en un </a:t>
            </a:r>
            <a:r>
              <a:rPr lang="es-ES" dirty="0" err="1">
                <a:ea typeface="+mn-lt"/>
                <a:cs typeface="+mn-lt"/>
              </a:rPr>
              <a:t>viewport</a:t>
            </a:r>
            <a:r>
              <a:rPr lang="es-ES" dirty="0">
                <a:ea typeface="+mn-lt"/>
                <a:cs typeface="+mn-lt"/>
              </a:rPr>
              <a:t> virtual de unos 980px de ancho y luego las reducían, lo que a menudo resultaba en una experiencia de usuario deficiente.</a:t>
            </a:r>
            <a:endParaRPr lang="es-ES" dirty="0"/>
          </a:p>
          <a:p>
            <a:r>
              <a:rPr lang="es-ES" dirty="0">
                <a:ea typeface="+mn-lt"/>
                <a:cs typeface="+mn-lt"/>
              </a:rPr>
              <a:t>Para resolver este problema y optimizar los sitios web para dispositivos móviles, es fundamental configurar el </a:t>
            </a:r>
            <a:r>
              <a:rPr lang="es-ES" dirty="0" err="1">
                <a:ea typeface="+mn-lt"/>
                <a:cs typeface="+mn-lt"/>
              </a:rPr>
              <a:t>viewport</a:t>
            </a:r>
            <a:r>
              <a:rPr lang="es-ES" dirty="0">
                <a:ea typeface="+mn-lt"/>
                <a:cs typeface="+mn-lt"/>
              </a:rPr>
              <a:t> correctamente. Esto se hace con la etiqueta &lt;meta&gt; en la sección &lt;head&gt; de tu documento HTML.</a:t>
            </a:r>
            <a:endParaRPr lang="es-ES" dirty="0"/>
          </a:p>
          <a:p>
            <a:r>
              <a:rPr lang="es-ES" dirty="0">
                <a:ea typeface="+mn-lt"/>
                <a:cs typeface="+mn-lt"/>
              </a:rPr>
              <a:t>La etiqueta &lt;meta </a:t>
            </a:r>
            <a:r>
              <a:rPr lang="es-ES" dirty="0" err="1">
                <a:ea typeface="+mn-lt"/>
                <a:cs typeface="+mn-lt"/>
              </a:rPr>
              <a:t>name</a:t>
            </a:r>
            <a:r>
              <a:rPr lang="es-ES" dirty="0">
                <a:ea typeface="+mn-lt"/>
                <a:cs typeface="+mn-lt"/>
              </a:rPr>
              <a:t>="</a:t>
            </a:r>
            <a:r>
              <a:rPr lang="es-ES" dirty="0" err="1">
                <a:ea typeface="+mn-lt"/>
                <a:cs typeface="+mn-lt"/>
              </a:rPr>
              <a:t>viewport</a:t>
            </a:r>
            <a:r>
              <a:rPr lang="es-ES" dirty="0">
                <a:ea typeface="+mn-lt"/>
                <a:cs typeface="+mn-lt"/>
              </a:rPr>
              <a:t>" ...&gt; es una instrucción crucial para el navegador que le indica cómo debe controlar las dimensiones y la escala de la página. El código más común y recomendado es el siguiente:</a:t>
            </a:r>
            <a:endParaRPr lang="es-ES" dirty="0"/>
          </a:p>
          <a:p>
            <a:r>
              <a:rPr lang="es-ES" b="1" dirty="0">
                <a:latin typeface="Courier New"/>
                <a:ea typeface="+mn-lt"/>
                <a:cs typeface="+mn-lt"/>
              </a:rPr>
              <a:t>&lt;meta </a:t>
            </a:r>
            <a:r>
              <a:rPr lang="es-ES" b="1" err="1">
                <a:latin typeface="Courier New"/>
                <a:ea typeface="+mn-lt"/>
                <a:cs typeface="+mn-lt"/>
              </a:rPr>
              <a:t>name</a:t>
            </a:r>
            <a:r>
              <a:rPr lang="es-ES" b="1" dirty="0">
                <a:latin typeface="Courier New"/>
                <a:ea typeface="+mn-lt"/>
                <a:cs typeface="+mn-lt"/>
              </a:rPr>
              <a:t>="</a:t>
            </a:r>
            <a:r>
              <a:rPr lang="es-ES" b="1" err="1">
                <a:latin typeface="Courier New"/>
                <a:ea typeface="+mn-lt"/>
                <a:cs typeface="+mn-lt"/>
              </a:rPr>
              <a:t>viewport</a:t>
            </a:r>
            <a:r>
              <a:rPr lang="es-ES" b="1" dirty="0">
                <a:latin typeface="Courier New"/>
                <a:ea typeface="+mn-lt"/>
                <a:cs typeface="+mn-lt"/>
              </a:rPr>
              <a:t>" </a:t>
            </a:r>
            <a:r>
              <a:rPr lang="es-ES" b="1" err="1">
                <a:latin typeface="Courier New"/>
                <a:ea typeface="+mn-lt"/>
                <a:cs typeface="+mn-lt"/>
              </a:rPr>
              <a:t>content</a:t>
            </a:r>
            <a:r>
              <a:rPr lang="es-ES" b="1" dirty="0">
                <a:latin typeface="Courier New"/>
                <a:ea typeface="+mn-lt"/>
                <a:cs typeface="+mn-lt"/>
              </a:rPr>
              <a:t>="</a:t>
            </a:r>
            <a:r>
              <a:rPr lang="es-ES" b="1" err="1">
                <a:latin typeface="Courier New"/>
                <a:ea typeface="+mn-lt"/>
                <a:cs typeface="+mn-lt"/>
              </a:rPr>
              <a:t>width</a:t>
            </a:r>
            <a:r>
              <a:rPr lang="es-ES" b="1" dirty="0">
                <a:latin typeface="Courier New"/>
                <a:ea typeface="+mn-lt"/>
                <a:cs typeface="+mn-lt"/>
              </a:rPr>
              <a:t>=</a:t>
            </a:r>
            <a:r>
              <a:rPr lang="es-ES" b="1" err="1">
                <a:latin typeface="Courier New"/>
                <a:ea typeface="+mn-lt"/>
                <a:cs typeface="+mn-lt"/>
              </a:rPr>
              <a:t>device-width</a:t>
            </a:r>
            <a:r>
              <a:rPr lang="es-ES" b="1" dirty="0">
                <a:latin typeface="Courier New"/>
                <a:ea typeface="+mn-lt"/>
                <a:cs typeface="+mn-lt"/>
              </a:rPr>
              <a:t>, </a:t>
            </a:r>
            <a:r>
              <a:rPr lang="es-ES" b="1" err="1">
                <a:latin typeface="Courier New"/>
                <a:ea typeface="+mn-lt"/>
                <a:cs typeface="+mn-lt"/>
              </a:rPr>
              <a:t>initial-scale</a:t>
            </a:r>
            <a:r>
              <a:rPr lang="es-ES" b="1" dirty="0">
                <a:latin typeface="Courier New"/>
                <a:ea typeface="+mn-lt"/>
                <a:cs typeface="+mn-lt"/>
              </a:rPr>
              <a:t>=1.0"&gt;</a:t>
            </a:r>
            <a:endParaRPr lang="es-ES" b="1">
              <a:latin typeface="Courier New"/>
            </a:endParaRPr>
          </a:p>
        </p:txBody>
      </p:sp>
    </p:spTree>
    <p:extLst>
      <p:ext uri="{BB962C8B-B14F-4D97-AF65-F5344CB8AC3E}">
        <p14:creationId xmlns:p14="http://schemas.microsoft.com/office/powerpoint/2010/main" val="197654294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8A0AD1-F7F7-D489-A937-2AA3E3D0B1E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BA7D78A-D7BF-0006-C403-86CA681054B4}"/>
              </a:ext>
            </a:extLst>
          </p:cNvPr>
          <p:cNvSpPr>
            <a:spLocks noGrp="1"/>
          </p:cNvSpPr>
          <p:nvPr>
            <p:ph type="title"/>
          </p:nvPr>
        </p:nvSpPr>
        <p:spPr/>
        <p:txBody>
          <a:bodyPr/>
          <a:lstStyle/>
          <a:p>
            <a:r>
              <a:rPr lang="es-ES" b="0" dirty="0">
                <a:ea typeface="+mj-lt"/>
                <a:cs typeface="+mj-lt"/>
              </a:rPr>
              <a:t>2.3.1.1. </a:t>
            </a:r>
            <a:r>
              <a:rPr lang="es-ES" b="0" dirty="0" err="1">
                <a:ea typeface="+mj-lt"/>
                <a:cs typeface="+mj-lt"/>
              </a:rPr>
              <a:t>viewport</a:t>
            </a:r>
            <a:r>
              <a:rPr lang="es-ES" b="0" dirty="0">
                <a:ea typeface="+mj-lt"/>
                <a:cs typeface="+mj-lt"/>
              </a:rPr>
              <a:t> y su configuración.</a:t>
            </a:r>
            <a:endParaRPr lang="es-ES" dirty="0"/>
          </a:p>
        </p:txBody>
      </p:sp>
      <p:sp>
        <p:nvSpPr>
          <p:cNvPr id="3" name="Marcador de contenido 2">
            <a:extLst>
              <a:ext uri="{FF2B5EF4-FFF2-40B4-BE49-F238E27FC236}">
                <a16:creationId xmlns:a16="http://schemas.microsoft.com/office/drawing/2014/main" id="{476FB483-193C-9E47-C74B-F3A68A34F5A0}"/>
              </a:ext>
            </a:extLst>
          </p:cNvPr>
          <p:cNvSpPr>
            <a:spLocks noGrp="1"/>
          </p:cNvSpPr>
          <p:nvPr>
            <p:ph idx="1"/>
          </p:nvPr>
        </p:nvSpPr>
        <p:spPr/>
        <p:txBody>
          <a:bodyPr vert="horz" lIns="91440" tIns="45720" rIns="91440" bIns="45720" rtlCol="0" anchor="t">
            <a:normAutofit/>
          </a:bodyPr>
          <a:lstStyle/>
          <a:p>
            <a:r>
              <a:rPr lang="es-ES" b="1" err="1">
                <a:latin typeface="Courier New"/>
                <a:ea typeface="+mn-lt"/>
                <a:cs typeface="+mn-lt"/>
              </a:rPr>
              <a:t>width</a:t>
            </a:r>
            <a:r>
              <a:rPr lang="es-ES" b="1" dirty="0">
                <a:latin typeface="Courier New"/>
                <a:ea typeface="+mn-lt"/>
                <a:cs typeface="+mn-lt"/>
              </a:rPr>
              <a:t>=</a:t>
            </a:r>
            <a:r>
              <a:rPr lang="es-ES" b="1" err="1">
                <a:latin typeface="Courier New"/>
                <a:ea typeface="+mn-lt"/>
                <a:cs typeface="+mn-lt"/>
              </a:rPr>
              <a:t>device-width</a:t>
            </a:r>
            <a:r>
              <a:rPr lang="es-ES" dirty="0">
                <a:ea typeface="+mn-lt"/>
                <a:cs typeface="+mn-lt"/>
              </a:rPr>
              <a:t>: Esta propiedad le dice al navegador que el ancho de la página debe ser igual al ancho de la pantalla del dispositivo en píxeles independientes del dispositivo (DIPs). En términos sencillos, el viewport se adaptará al tamaño real de la pantalla del móvil o tableta, en lugar de usar un ancho virtual más grande.</a:t>
            </a:r>
            <a:endParaRPr lang="es-ES"/>
          </a:p>
          <a:p>
            <a:r>
              <a:rPr lang="es-ES" b="1" err="1">
                <a:latin typeface="Courier New"/>
                <a:ea typeface="+mn-lt"/>
                <a:cs typeface="+mn-lt"/>
              </a:rPr>
              <a:t>initial-scale</a:t>
            </a:r>
            <a:r>
              <a:rPr lang="es-ES" b="1" dirty="0">
                <a:latin typeface="Courier New"/>
                <a:ea typeface="+mn-lt"/>
                <a:cs typeface="+mn-lt"/>
              </a:rPr>
              <a:t>=1.0</a:t>
            </a:r>
            <a:r>
              <a:rPr lang="es-ES" dirty="0">
                <a:ea typeface="+mn-lt"/>
                <a:cs typeface="+mn-lt"/>
              </a:rPr>
              <a:t>: Esta propiedad establece el nivel de zoom inicial cuando la página se carga. Un valor de 1.0 significa que no hay zoom y la página se muestra en su tamaño natural, 1:1 con los píxeles del dispositivo. Esto evita que los navegadores móviles apliquen un zoom automático que podría distorsionar el diseño.</a:t>
            </a:r>
            <a:endParaRPr lang="es-ES" dirty="0"/>
          </a:p>
          <a:p>
            <a:r>
              <a:rPr lang="es-ES" dirty="0">
                <a:ea typeface="+mn-lt"/>
                <a:cs typeface="+mn-lt"/>
              </a:rPr>
              <a:t>Aunque la configuración anterior es la más utilizada, existen otras propiedades que te dan más control sobre el zoom y la interacción del usuario. Sin embargo, su uso puede ser contraproducente y afectar negativamente la accesibilidad.</a:t>
            </a:r>
            <a:endParaRPr lang="es-ES" dirty="0"/>
          </a:p>
        </p:txBody>
      </p:sp>
    </p:spTree>
    <p:extLst>
      <p:ext uri="{BB962C8B-B14F-4D97-AF65-F5344CB8AC3E}">
        <p14:creationId xmlns:p14="http://schemas.microsoft.com/office/powerpoint/2010/main" val="250846891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46F068-6A7F-F6C9-2D22-4B3E59A0430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3D130E7-7925-26A9-8D80-80DAF355EC20}"/>
              </a:ext>
            </a:extLst>
          </p:cNvPr>
          <p:cNvSpPr>
            <a:spLocks noGrp="1"/>
          </p:cNvSpPr>
          <p:nvPr>
            <p:ph type="title"/>
          </p:nvPr>
        </p:nvSpPr>
        <p:spPr/>
        <p:txBody>
          <a:bodyPr/>
          <a:lstStyle/>
          <a:p>
            <a:r>
              <a:rPr lang="es-ES" b="0" dirty="0">
                <a:ea typeface="+mj-lt"/>
                <a:cs typeface="+mj-lt"/>
              </a:rPr>
              <a:t>2.3.1.1. </a:t>
            </a:r>
            <a:r>
              <a:rPr lang="es-ES" b="0" dirty="0" err="1">
                <a:ea typeface="+mj-lt"/>
                <a:cs typeface="+mj-lt"/>
              </a:rPr>
              <a:t>viewport</a:t>
            </a:r>
            <a:r>
              <a:rPr lang="es-ES" b="0" dirty="0">
                <a:ea typeface="+mj-lt"/>
                <a:cs typeface="+mj-lt"/>
              </a:rPr>
              <a:t> y su configuración.</a:t>
            </a:r>
            <a:endParaRPr lang="es-ES" dirty="0"/>
          </a:p>
        </p:txBody>
      </p:sp>
      <p:sp>
        <p:nvSpPr>
          <p:cNvPr id="3" name="Marcador de contenido 2">
            <a:extLst>
              <a:ext uri="{FF2B5EF4-FFF2-40B4-BE49-F238E27FC236}">
                <a16:creationId xmlns:a16="http://schemas.microsoft.com/office/drawing/2014/main" id="{CF33C75E-979D-F28C-DA00-8B4C83A59858}"/>
              </a:ext>
            </a:extLst>
          </p:cNvPr>
          <p:cNvSpPr>
            <a:spLocks noGrp="1"/>
          </p:cNvSpPr>
          <p:nvPr>
            <p:ph idx="1"/>
          </p:nvPr>
        </p:nvSpPr>
        <p:spPr/>
        <p:txBody>
          <a:bodyPr vert="horz" lIns="91440" tIns="45720" rIns="91440" bIns="45720" rtlCol="0" anchor="t">
            <a:normAutofit/>
          </a:bodyPr>
          <a:lstStyle/>
          <a:p>
            <a:r>
              <a:rPr lang="es-ES" b="1" err="1">
                <a:latin typeface="Courier New"/>
                <a:ea typeface="+mn-lt"/>
                <a:cs typeface="+mn-lt"/>
              </a:rPr>
              <a:t>minimum-scale</a:t>
            </a:r>
            <a:r>
              <a:rPr lang="es-ES" dirty="0">
                <a:ea typeface="+mn-lt"/>
                <a:cs typeface="+mn-lt"/>
              </a:rPr>
              <a:t> y </a:t>
            </a:r>
            <a:r>
              <a:rPr lang="es-ES" b="1" err="1">
                <a:latin typeface="Courier New"/>
                <a:ea typeface="+mn-lt"/>
                <a:cs typeface="+mn-lt"/>
              </a:rPr>
              <a:t>maximum-scale</a:t>
            </a:r>
            <a:r>
              <a:rPr lang="es-ES" dirty="0">
                <a:ea typeface="+mn-lt"/>
                <a:cs typeface="+mn-lt"/>
              </a:rPr>
              <a:t>: Definen los límites de zoom que el usuario puede aplicar.</a:t>
            </a:r>
          </a:p>
          <a:p>
            <a:r>
              <a:rPr lang="es-ES" b="1" err="1">
                <a:latin typeface="Courier New"/>
                <a:ea typeface="+mn-lt"/>
                <a:cs typeface="+mn-lt"/>
              </a:rPr>
              <a:t>user-scalable</a:t>
            </a:r>
            <a:r>
              <a:rPr lang="es-ES" dirty="0">
                <a:ea typeface="+mn-lt"/>
                <a:cs typeface="+mn-lt"/>
              </a:rPr>
              <a:t>: Controla si el usuario puede o no hacer zoom en la página. Es muy importante evitar </a:t>
            </a:r>
            <a:r>
              <a:rPr lang="es-ES" err="1">
                <a:ea typeface="+mn-lt"/>
                <a:cs typeface="+mn-lt"/>
              </a:rPr>
              <a:t>user-scalable</a:t>
            </a:r>
            <a:r>
              <a:rPr lang="es-ES" dirty="0">
                <a:ea typeface="+mn-lt"/>
                <a:cs typeface="+mn-lt"/>
              </a:rPr>
              <a:t>=no, ya que impide que los usuarios con problemas de visión puedan ampliar el contenido, lo que es una mala práctica de accesibilidad.</a:t>
            </a:r>
          </a:p>
          <a:p>
            <a:r>
              <a:rPr lang="es-ES" dirty="0">
                <a:ea typeface="+mn-lt"/>
                <a:cs typeface="+mn-lt"/>
              </a:rPr>
              <a:t>Configurar el </a:t>
            </a:r>
            <a:r>
              <a:rPr lang="es-ES" dirty="0" err="1">
                <a:ea typeface="+mn-lt"/>
                <a:cs typeface="+mn-lt"/>
              </a:rPr>
              <a:t>viewport</a:t>
            </a:r>
            <a:r>
              <a:rPr lang="es-ES" dirty="0">
                <a:ea typeface="+mn-lt"/>
                <a:cs typeface="+mn-lt"/>
              </a:rPr>
              <a:t> correctamente es el primer paso y el más fundamental para el diseño responsive. Sin esta meta-etiqueta, las media </a:t>
            </a:r>
            <a:r>
              <a:rPr lang="es-ES" dirty="0" err="1">
                <a:ea typeface="+mn-lt"/>
                <a:cs typeface="+mn-lt"/>
              </a:rPr>
              <a:t>queries</a:t>
            </a:r>
            <a:r>
              <a:rPr lang="es-ES" dirty="0">
                <a:ea typeface="+mn-lt"/>
                <a:cs typeface="+mn-lt"/>
              </a:rPr>
              <a:t> no funcionarán de la manera esperada y el navegador tratará tu página como un diseño de escritorio, con resultados impredecibles.</a:t>
            </a:r>
            <a:endParaRPr lang="es-ES" dirty="0"/>
          </a:p>
          <a:p>
            <a:r>
              <a:rPr lang="es-ES" dirty="0">
                <a:ea typeface="+mn-lt"/>
                <a:cs typeface="+mn-lt"/>
              </a:rPr>
              <a:t>El uso de </a:t>
            </a:r>
            <a:r>
              <a:rPr lang="es-ES" b="1" dirty="0" err="1">
                <a:latin typeface="Courier New"/>
                <a:ea typeface="+mn-lt"/>
                <a:cs typeface="+mn-lt"/>
              </a:rPr>
              <a:t>width</a:t>
            </a:r>
            <a:r>
              <a:rPr lang="es-ES" b="1" dirty="0">
                <a:latin typeface="Courier New"/>
                <a:ea typeface="+mn-lt"/>
                <a:cs typeface="+mn-lt"/>
              </a:rPr>
              <a:t>=</a:t>
            </a:r>
            <a:r>
              <a:rPr lang="es-ES" b="1" dirty="0" err="1">
                <a:latin typeface="Courier New"/>
                <a:ea typeface="+mn-lt"/>
                <a:cs typeface="+mn-lt"/>
              </a:rPr>
              <a:t>device-width</a:t>
            </a:r>
            <a:r>
              <a:rPr lang="es-ES" dirty="0">
                <a:ea typeface="+mn-lt"/>
                <a:cs typeface="+mn-lt"/>
              </a:rPr>
              <a:t> garantiza que tu CSS se interprete en el contexto del tamaño real de la pantalla, lo que te permite diseñar de forma efectiva para móviles y tabletas.</a:t>
            </a:r>
          </a:p>
        </p:txBody>
      </p:sp>
    </p:spTree>
    <p:extLst>
      <p:ext uri="{BB962C8B-B14F-4D97-AF65-F5344CB8AC3E}">
        <p14:creationId xmlns:p14="http://schemas.microsoft.com/office/powerpoint/2010/main" val="118515608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C90007-A24F-ED5D-6A5B-95D01FD00C8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75D95E2-E436-397D-061F-87A004047651}"/>
              </a:ext>
            </a:extLst>
          </p:cNvPr>
          <p:cNvSpPr>
            <a:spLocks noGrp="1"/>
          </p:cNvSpPr>
          <p:nvPr>
            <p:ph type="title"/>
          </p:nvPr>
        </p:nvSpPr>
        <p:spPr/>
        <p:txBody>
          <a:bodyPr/>
          <a:lstStyle/>
          <a:p>
            <a:r>
              <a:rPr lang="es-ES" b="0" dirty="0">
                <a:ea typeface="+mj-lt"/>
                <a:cs typeface="+mj-lt"/>
              </a:rPr>
              <a:t>2.3.1.2. Media </a:t>
            </a:r>
            <a:r>
              <a:rPr lang="es-ES" b="0" dirty="0" err="1">
                <a:ea typeface="+mj-lt"/>
                <a:cs typeface="+mj-lt"/>
              </a:rPr>
              <a:t>Queries</a:t>
            </a:r>
            <a:r>
              <a:rPr lang="es-ES" b="0" dirty="0">
                <a:ea typeface="+mj-lt"/>
                <a:cs typeface="+mj-lt"/>
              </a:rPr>
              <a:t>: sintaxis y aplicación.</a:t>
            </a:r>
            <a:endParaRPr lang="es-ES" dirty="0"/>
          </a:p>
        </p:txBody>
      </p:sp>
      <p:sp>
        <p:nvSpPr>
          <p:cNvPr id="3" name="Marcador de contenido 2">
            <a:extLst>
              <a:ext uri="{FF2B5EF4-FFF2-40B4-BE49-F238E27FC236}">
                <a16:creationId xmlns:a16="http://schemas.microsoft.com/office/drawing/2014/main" id="{75FD1B24-DD64-0D8C-7617-195FCFDC1FCC}"/>
              </a:ext>
            </a:extLst>
          </p:cNvPr>
          <p:cNvSpPr>
            <a:spLocks noGrp="1"/>
          </p:cNvSpPr>
          <p:nvPr>
            <p:ph idx="1"/>
          </p:nvPr>
        </p:nvSpPr>
        <p:spPr/>
        <p:txBody>
          <a:bodyPr vert="horz" lIns="91440" tIns="45720" rIns="91440" bIns="45720" rtlCol="0" anchor="t">
            <a:normAutofit fontScale="85000" lnSpcReduction="10000"/>
          </a:bodyPr>
          <a:lstStyle/>
          <a:p>
            <a:r>
              <a:rPr lang="es-ES" dirty="0">
                <a:ea typeface="+mn-lt"/>
                <a:cs typeface="+mn-lt"/>
              </a:rPr>
              <a:t>Las Media </a:t>
            </a:r>
            <a:r>
              <a:rPr lang="es-ES" dirty="0" err="1">
                <a:ea typeface="+mn-lt"/>
                <a:cs typeface="+mn-lt"/>
              </a:rPr>
              <a:t>Queries</a:t>
            </a:r>
            <a:r>
              <a:rPr lang="es-ES" dirty="0">
                <a:ea typeface="+mn-lt"/>
                <a:cs typeface="+mn-lt"/>
              </a:rPr>
              <a:t> (consultas de medios) son la columna vertebral del diseño responsive en CSS. Te permiten aplicar un conjunto de estilos solo cuando se cumple una condición específica del dispositivo, como el tamaño de la pantalla, la orientación, la resolución o el tipo de medio (pantalla, impresión, etc.). Con las Media </a:t>
            </a:r>
            <a:r>
              <a:rPr lang="es-ES" dirty="0" err="1">
                <a:ea typeface="+mn-lt"/>
                <a:cs typeface="+mn-lt"/>
              </a:rPr>
              <a:t>Queries</a:t>
            </a:r>
            <a:r>
              <a:rPr lang="es-ES" dirty="0">
                <a:ea typeface="+mn-lt"/>
                <a:cs typeface="+mn-lt"/>
              </a:rPr>
              <a:t>, puedes crear "puntos de ruptura" (</a:t>
            </a:r>
            <a:r>
              <a:rPr lang="es-ES" dirty="0" err="1">
                <a:ea typeface="+mn-lt"/>
                <a:cs typeface="+mn-lt"/>
              </a:rPr>
              <a:t>breakpoints</a:t>
            </a:r>
            <a:r>
              <a:rPr lang="es-ES" dirty="0">
                <a:ea typeface="+mn-lt"/>
                <a:cs typeface="+mn-lt"/>
              </a:rPr>
              <a:t>) en tu diseño, donde la apariencia de la página cambia para adaptarse a diferentes dispositivos.</a:t>
            </a:r>
            <a:endParaRPr lang="es-ES" dirty="0"/>
          </a:p>
          <a:p>
            <a:r>
              <a:rPr lang="es-ES" dirty="0">
                <a:ea typeface="+mn-lt"/>
                <a:cs typeface="+mn-lt"/>
              </a:rPr>
              <a:t>La sintaxis de una Media </a:t>
            </a:r>
            <a:r>
              <a:rPr lang="es-ES" dirty="0" err="1">
                <a:ea typeface="+mn-lt"/>
                <a:cs typeface="+mn-lt"/>
              </a:rPr>
              <a:t>Query</a:t>
            </a:r>
            <a:r>
              <a:rPr lang="es-ES" dirty="0">
                <a:ea typeface="+mn-lt"/>
                <a:cs typeface="+mn-lt"/>
              </a:rPr>
              <a:t> se compone de tres partes:</a:t>
            </a:r>
            <a:endParaRPr lang="es-ES" dirty="0"/>
          </a:p>
          <a:p>
            <a:pPr lvl="1">
              <a:buFont typeface="Courier New" panose="020B0604020202020204" pitchFamily="34" charset="0"/>
              <a:buChar char="o"/>
            </a:pPr>
            <a:r>
              <a:rPr lang="es-ES" dirty="0">
                <a:ea typeface="+mn-lt"/>
                <a:cs typeface="+mn-lt"/>
              </a:rPr>
              <a:t>La regla @media.</a:t>
            </a:r>
            <a:endParaRPr lang="es-ES" dirty="0"/>
          </a:p>
          <a:p>
            <a:pPr lvl="1">
              <a:buFont typeface="Courier New" panose="020B0604020202020204" pitchFamily="34" charset="0"/>
              <a:buChar char="o"/>
            </a:pPr>
            <a:r>
              <a:rPr lang="es-ES" dirty="0">
                <a:ea typeface="+mn-lt"/>
                <a:cs typeface="+mn-lt"/>
              </a:rPr>
              <a:t>El tipo de medio (o su ausencia, que por defecto es </a:t>
            </a:r>
            <a:r>
              <a:rPr lang="es-ES" dirty="0" err="1">
                <a:ea typeface="+mn-lt"/>
                <a:cs typeface="+mn-lt"/>
              </a:rPr>
              <a:t>all</a:t>
            </a:r>
            <a:r>
              <a:rPr lang="es-ES" dirty="0">
                <a:ea typeface="+mn-lt"/>
                <a:cs typeface="+mn-lt"/>
              </a:rPr>
              <a:t>).</a:t>
            </a:r>
            <a:endParaRPr lang="es-ES" dirty="0"/>
          </a:p>
          <a:p>
            <a:pPr lvl="1">
              <a:buFont typeface="Courier New" panose="020B0604020202020204" pitchFamily="34" charset="0"/>
              <a:buChar char="o"/>
            </a:pPr>
            <a:r>
              <a:rPr lang="es-ES" dirty="0">
                <a:ea typeface="+mn-lt"/>
                <a:cs typeface="+mn-lt"/>
              </a:rPr>
              <a:t>Una o más características del medio entre paréntesis.</a:t>
            </a:r>
            <a:endParaRPr lang="es-ES" dirty="0"/>
          </a:p>
          <a:p>
            <a:r>
              <a:rPr lang="es-ES" dirty="0">
                <a:ea typeface="+mn-lt"/>
                <a:cs typeface="+mn-lt"/>
              </a:rPr>
              <a:t>Ejemplo:</a:t>
            </a:r>
            <a:endParaRPr lang="es-ES" dirty="0"/>
          </a:p>
          <a:p>
            <a:pPr marL="0" indent="0">
              <a:buNone/>
            </a:pPr>
            <a:r>
              <a:rPr lang="es-ES" b="1" dirty="0">
                <a:latin typeface="Courier New"/>
                <a:ea typeface="+mn-lt"/>
                <a:cs typeface="+mn-lt"/>
              </a:rPr>
              <a:t>@media (</a:t>
            </a:r>
            <a:r>
              <a:rPr lang="es-ES" b="1" dirty="0" err="1">
                <a:latin typeface="Courier New"/>
                <a:ea typeface="+mn-lt"/>
                <a:cs typeface="+mn-lt"/>
              </a:rPr>
              <a:t>max-width</a:t>
            </a:r>
            <a:r>
              <a:rPr lang="es-ES" b="1" dirty="0">
                <a:latin typeface="Courier New"/>
                <a:ea typeface="+mn-lt"/>
                <a:cs typeface="+mn-lt"/>
              </a:rPr>
              <a:t>: 768px) {</a:t>
            </a:r>
            <a:br>
              <a:rPr lang="es-ES" b="1" dirty="0">
                <a:latin typeface="Courier New"/>
                <a:ea typeface="+mn-lt"/>
                <a:cs typeface="+mn-lt"/>
              </a:rPr>
            </a:br>
            <a:r>
              <a:rPr lang="es-ES" b="1" dirty="0">
                <a:latin typeface="Courier New"/>
                <a:ea typeface="+mn-lt"/>
                <a:cs typeface="+mn-lt"/>
              </a:rPr>
              <a:t>  /* Estilos que se aplican solo si el ancho de la pantalla es igual o menor a 768px */</a:t>
            </a:r>
            <a:br>
              <a:rPr lang="es-ES" b="1" dirty="0">
                <a:latin typeface="Courier New"/>
                <a:ea typeface="+mn-lt"/>
                <a:cs typeface="+mn-lt"/>
              </a:rPr>
            </a:br>
            <a:r>
              <a:rPr lang="es-ES" b="1" dirty="0">
                <a:latin typeface="Courier New"/>
                <a:ea typeface="+mn-lt"/>
                <a:cs typeface="+mn-lt"/>
              </a:rPr>
              <a:t>}</a:t>
            </a:r>
            <a:endParaRPr lang="es-ES" b="1" dirty="0">
              <a:latin typeface="Courier New"/>
              <a:cs typeface="Courier New"/>
            </a:endParaRPr>
          </a:p>
        </p:txBody>
      </p:sp>
    </p:spTree>
    <p:extLst>
      <p:ext uri="{BB962C8B-B14F-4D97-AF65-F5344CB8AC3E}">
        <p14:creationId xmlns:p14="http://schemas.microsoft.com/office/powerpoint/2010/main" val="215805758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DFFBA0-9EC9-304B-8E31-0F5DA322E40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2F09274-323A-8D0F-B703-9C618B09E840}"/>
              </a:ext>
            </a:extLst>
          </p:cNvPr>
          <p:cNvSpPr>
            <a:spLocks noGrp="1"/>
          </p:cNvSpPr>
          <p:nvPr>
            <p:ph type="title"/>
          </p:nvPr>
        </p:nvSpPr>
        <p:spPr/>
        <p:txBody>
          <a:bodyPr/>
          <a:lstStyle/>
          <a:p>
            <a:r>
              <a:rPr lang="es-ES" b="0" dirty="0">
                <a:ea typeface="+mj-lt"/>
                <a:cs typeface="+mj-lt"/>
              </a:rPr>
              <a:t>2.3.1.2. Media </a:t>
            </a:r>
            <a:r>
              <a:rPr lang="es-ES" b="0" dirty="0" err="1">
                <a:ea typeface="+mj-lt"/>
                <a:cs typeface="+mj-lt"/>
              </a:rPr>
              <a:t>Queries</a:t>
            </a:r>
            <a:r>
              <a:rPr lang="es-ES" b="0" dirty="0">
                <a:ea typeface="+mj-lt"/>
                <a:cs typeface="+mj-lt"/>
              </a:rPr>
              <a:t>: sintaxis y aplicación.</a:t>
            </a:r>
            <a:endParaRPr lang="es-ES" dirty="0"/>
          </a:p>
        </p:txBody>
      </p:sp>
      <p:sp>
        <p:nvSpPr>
          <p:cNvPr id="3" name="Marcador de contenido 2">
            <a:extLst>
              <a:ext uri="{FF2B5EF4-FFF2-40B4-BE49-F238E27FC236}">
                <a16:creationId xmlns:a16="http://schemas.microsoft.com/office/drawing/2014/main" id="{5DCEC68C-8D47-5B83-4171-CACBD05A8641}"/>
              </a:ext>
            </a:extLst>
          </p:cNvPr>
          <p:cNvSpPr>
            <a:spLocks noGrp="1"/>
          </p:cNvSpPr>
          <p:nvPr>
            <p:ph idx="1"/>
          </p:nvPr>
        </p:nvSpPr>
        <p:spPr/>
        <p:txBody>
          <a:bodyPr vert="horz" lIns="91440" tIns="45720" rIns="91440" bIns="45720" rtlCol="0" anchor="t">
            <a:normAutofit fontScale="77500" lnSpcReduction="20000"/>
          </a:bodyPr>
          <a:lstStyle/>
          <a:p>
            <a:r>
              <a:rPr lang="es-ES" dirty="0">
                <a:ea typeface="+mn-lt"/>
                <a:cs typeface="+mn-lt"/>
              </a:rPr>
              <a:t>Aunque el uso de </a:t>
            </a:r>
            <a:r>
              <a:rPr lang="es-ES" dirty="0" err="1">
                <a:ea typeface="+mn-lt"/>
                <a:cs typeface="+mn-lt"/>
              </a:rPr>
              <a:t>screen</a:t>
            </a:r>
            <a:r>
              <a:rPr lang="es-ES" dirty="0">
                <a:ea typeface="+mn-lt"/>
                <a:cs typeface="+mn-lt"/>
              </a:rPr>
              <a:t> es el más común para dispositivos de pantalla, existen otros tipos de medio:</a:t>
            </a:r>
          </a:p>
          <a:p>
            <a:pPr lvl="1">
              <a:buFont typeface="Courier New" panose="020B0604020202020204" pitchFamily="34" charset="0"/>
              <a:buChar char="o"/>
            </a:pPr>
            <a:r>
              <a:rPr lang="es-ES" dirty="0" err="1">
                <a:ea typeface="+mn-lt"/>
                <a:cs typeface="+mn-lt"/>
              </a:rPr>
              <a:t>all</a:t>
            </a:r>
            <a:r>
              <a:rPr lang="es-ES" dirty="0">
                <a:ea typeface="+mn-lt"/>
                <a:cs typeface="+mn-lt"/>
              </a:rPr>
              <a:t>: Por defecto, se aplica a todos los tipos de dispositivos.</a:t>
            </a:r>
            <a:endParaRPr lang="es-ES" dirty="0"/>
          </a:p>
          <a:p>
            <a:pPr lvl="1">
              <a:buFont typeface="Courier New" panose="020B0604020202020204" pitchFamily="34" charset="0"/>
              <a:buChar char="o"/>
            </a:pPr>
            <a:r>
              <a:rPr lang="es-ES" dirty="0" err="1">
                <a:ea typeface="+mn-lt"/>
                <a:cs typeface="+mn-lt"/>
              </a:rPr>
              <a:t>screen</a:t>
            </a:r>
            <a:r>
              <a:rPr lang="es-ES" dirty="0">
                <a:ea typeface="+mn-lt"/>
                <a:cs typeface="+mn-lt"/>
              </a:rPr>
              <a:t>: Se aplica a pantallas de ordenador, tabletas y móviles.</a:t>
            </a:r>
            <a:endParaRPr lang="es-ES" dirty="0"/>
          </a:p>
          <a:p>
            <a:pPr lvl="1">
              <a:buFont typeface="Courier New" panose="020B0604020202020204" pitchFamily="34" charset="0"/>
              <a:buChar char="o"/>
            </a:pPr>
            <a:r>
              <a:rPr lang="es-ES" dirty="0" err="1">
                <a:ea typeface="+mn-lt"/>
                <a:cs typeface="+mn-lt"/>
              </a:rPr>
              <a:t>print</a:t>
            </a:r>
            <a:r>
              <a:rPr lang="es-ES" dirty="0">
                <a:ea typeface="+mn-lt"/>
                <a:cs typeface="+mn-lt"/>
              </a:rPr>
              <a:t>: Se aplica a documentos que se van a imprimir.</a:t>
            </a:r>
            <a:endParaRPr lang="es-ES" dirty="0"/>
          </a:p>
          <a:p>
            <a:pPr lvl="1">
              <a:buFont typeface="Courier New" panose="020B0604020202020204" pitchFamily="34" charset="0"/>
              <a:buChar char="o"/>
            </a:pPr>
            <a:r>
              <a:rPr lang="es-ES" dirty="0" err="1">
                <a:ea typeface="+mn-lt"/>
                <a:cs typeface="+mn-lt"/>
              </a:rPr>
              <a:t>speech</a:t>
            </a:r>
            <a:r>
              <a:rPr lang="es-ES" dirty="0">
                <a:ea typeface="+mn-lt"/>
                <a:cs typeface="+mn-lt"/>
              </a:rPr>
              <a:t>: Se aplica a dispositivos de síntesis de voz.</a:t>
            </a:r>
          </a:p>
          <a:p>
            <a:r>
              <a:rPr lang="es-ES" dirty="0">
                <a:ea typeface="+mn-lt"/>
                <a:cs typeface="+mn-lt"/>
              </a:rPr>
              <a:t>Las características de medio son las condiciones que se evalúan. Las más comunes son:</a:t>
            </a:r>
          </a:p>
          <a:p>
            <a:pPr lvl="1">
              <a:buFont typeface="Courier New" panose="020B0604020202020204" pitchFamily="34" charset="0"/>
              <a:buChar char="o"/>
            </a:pPr>
            <a:r>
              <a:rPr lang="es-ES" dirty="0" err="1">
                <a:ea typeface="+mn-lt"/>
                <a:cs typeface="+mn-lt"/>
              </a:rPr>
              <a:t>width</a:t>
            </a:r>
            <a:r>
              <a:rPr lang="es-ES" dirty="0">
                <a:ea typeface="+mn-lt"/>
                <a:cs typeface="+mn-lt"/>
              </a:rPr>
              <a:t>, min-</a:t>
            </a:r>
            <a:r>
              <a:rPr lang="es-ES" dirty="0" err="1">
                <a:ea typeface="+mn-lt"/>
                <a:cs typeface="+mn-lt"/>
              </a:rPr>
              <a:t>width</a:t>
            </a:r>
            <a:r>
              <a:rPr lang="es-ES" dirty="0">
                <a:ea typeface="+mn-lt"/>
                <a:cs typeface="+mn-lt"/>
              </a:rPr>
              <a:t>, </a:t>
            </a:r>
            <a:r>
              <a:rPr lang="es-ES" dirty="0" err="1">
                <a:ea typeface="+mn-lt"/>
                <a:cs typeface="+mn-lt"/>
              </a:rPr>
              <a:t>max-width</a:t>
            </a:r>
            <a:r>
              <a:rPr lang="es-ES" dirty="0">
                <a:ea typeface="+mn-lt"/>
                <a:cs typeface="+mn-lt"/>
              </a:rPr>
              <a:t>: Relacionadas con el ancho del </a:t>
            </a:r>
            <a:r>
              <a:rPr lang="es-ES" dirty="0" err="1">
                <a:ea typeface="+mn-lt"/>
                <a:cs typeface="+mn-lt"/>
              </a:rPr>
              <a:t>viewport</a:t>
            </a:r>
            <a:r>
              <a:rPr lang="es-ES" dirty="0">
                <a:ea typeface="+mn-lt"/>
                <a:cs typeface="+mn-lt"/>
              </a:rPr>
              <a:t>. Son las más utilizadas para la maquetación responsive.</a:t>
            </a:r>
            <a:endParaRPr lang="es-ES" dirty="0"/>
          </a:p>
          <a:p>
            <a:pPr lvl="1">
              <a:buFont typeface="Courier New" panose="020B0604020202020204" pitchFamily="34" charset="0"/>
              <a:buChar char="o"/>
            </a:pPr>
            <a:r>
              <a:rPr lang="es-ES" dirty="0" err="1">
                <a:ea typeface="+mn-lt"/>
                <a:cs typeface="+mn-lt"/>
              </a:rPr>
              <a:t>height</a:t>
            </a:r>
            <a:r>
              <a:rPr lang="es-ES" dirty="0">
                <a:ea typeface="+mn-lt"/>
                <a:cs typeface="+mn-lt"/>
              </a:rPr>
              <a:t>, min-</a:t>
            </a:r>
            <a:r>
              <a:rPr lang="es-ES" dirty="0" err="1">
                <a:ea typeface="+mn-lt"/>
                <a:cs typeface="+mn-lt"/>
              </a:rPr>
              <a:t>height</a:t>
            </a:r>
            <a:r>
              <a:rPr lang="es-ES" dirty="0">
                <a:ea typeface="+mn-lt"/>
                <a:cs typeface="+mn-lt"/>
              </a:rPr>
              <a:t>, </a:t>
            </a:r>
            <a:r>
              <a:rPr lang="es-ES" dirty="0" err="1">
                <a:ea typeface="+mn-lt"/>
                <a:cs typeface="+mn-lt"/>
              </a:rPr>
              <a:t>max-height</a:t>
            </a:r>
            <a:r>
              <a:rPr lang="es-ES" dirty="0">
                <a:ea typeface="+mn-lt"/>
                <a:cs typeface="+mn-lt"/>
              </a:rPr>
              <a:t>: Relacionadas con la altura del </a:t>
            </a:r>
            <a:r>
              <a:rPr lang="es-ES" dirty="0" err="1">
                <a:ea typeface="+mn-lt"/>
                <a:cs typeface="+mn-lt"/>
              </a:rPr>
              <a:t>viewport</a:t>
            </a:r>
            <a:r>
              <a:rPr lang="es-ES" dirty="0">
                <a:ea typeface="+mn-lt"/>
                <a:cs typeface="+mn-lt"/>
              </a:rPr>
              <a:t>.</a:t>
            </a:r>
          </a:p>
          <a:p>
            <a:pPr lvl="1">
              <a:buFont typeface="Courier New" panose="020B0604020202020204" pitchFamily="34" charset="0"/>
              <a:buChar char="o"/>
            </a:pPr>
            <a:r>
              <a:rPr lang="es-ES" dirty="0" err="1">
                <a:ea typeface="+mn-lt"/>
                <a:cs typeface="+mn-lt"/>
              </a:rPr>
              <a:t>orientation</a:t>
            </a:r>
            <a:r>
              <a:rPr lang="es-ES" dirty="0">
                <a:ea typeface="+mn-lt"/>
                <a:cs typeface="+mn-lt"/>
              </a:rPr>
              <a:t>: Detecta la orientación del dispositivo, ya sea </a:t>
            </a:r>
            <a:r>
              <a:rPr lang="es-ES" dirty="0" err="1">
                <a:ea typeface="+mn-lt"/>
                <a:cs typeface="+mn-lt"/>
              </a:rPr>
              <a:t>portrait</a:t>
            </a:r>
            <a:r>
              <a:rPr lang="es-ES" dirty="0">
                <a:ea typeface="+mn-lt"/>
                <a:cs typeface="+mn-lt"/>
              </a:rPr>
              <a:t> (vertical) o </a:t>
            </a:r>
            <a:r>
              <a:rPr lang="es-ES" dirty="0" err="1">
                <a:ea typeface="+mn-lt"/>
                <a:cs typeface="+mn-lt"/>
              </a:rPr>
              <a:t>landscape</a:t>
            </a:r>
            <a:r>
              <a:rPr lang="es-ES" dirty="0">
                <a:ea typeface="+mn-lt"/>
                <a:cs typeface="+mn-lt"/>
              </a:rPr>
              <a:t> (horizontal).</a:t>
            </a:r>
          </a:p>
          <a:p>
            <a:pPr lvl="1">
              <a:buFont typeface="Courier New" panose="020B0604020202020204" pitchFamily="34" charset="0"/>
              <a:buChar char="o"/>
            </a:pPr>
            <a:r>
              <a:rPr lang="es-ES" dirty="0" err="1">
                <a:ea typeface="+mn-lt"/>
                <a:cs typeface="+mn-lt"/>
              </a:rPr>
              <a:t>resolution</a:t>
            </a:r>
            <a:r>
              <a:rPr lang="es-ES" dirty="0">
                <a:ea typeface="+mn-lt"/>
                <a:cs typeface="+mn-lt"/>
              </a:rPr>
              <a:t>: Detecta la resolución de píxeles del dispositivo.</a:t>
            </a:r>
          </a:p>
          <a:p>
            <a:r>
              <a:rPr lang="es-ES" dirty="0">
                <a:ea typeface="+mn-lt"/>
                <a:cs typeface="+mn-lt"/>
              </a:rPr>
              <a:t>Puedes combinar múltiples condiciones para crear Media </a:t>
            </a:r>
            <a:r>
              <a:rPr lang="es-ES" dirty="0" err="1">
                <a:ea typeface="+mn-lt"/>
                <a:cs typeface="+mn-lt"/>
              </a:rPr>
              <a:t>Queries</a:t>
            </a:r>
            <a:r>
              <a:rPr lang="es-ES" dirty="0">
                <a:ea typeface="+mn-lt"/>
                <a:cs typeface="+mn-lt"/>
              </a:rPr>
              <a:t> más complejas:</a:t>
            </a:r>
          </a:p>
          <a:p>
            <a:pPr lvl="1">
              <a:buFont typeface="Courier New" panose="020B0604020202020204" pitchFamily="34" charset="0"/>
              <a:buChar char="o"/>
            </a:pPr>
            <a:r>
              <a:rPr lang="es-ES" dirty="0">
                <a:ea typeface="+mn-lt"/>
                <a:cs typeface="+mn-lt"/>
              </a:rPr>
              <a:t>and: Une varias condiciones. Todos los criterios deben ser verdaderos para que los estilos se apliquen.</a:t>
            </a:r>
            <a:endParaRPr lang="es-ES" dirty="0"/>
          </a:p>
          <a:p>
            <a:pPr lvl="1">
              <a:buFont typeface="Courier New" panose="020B0604020202020204" pitchFamily="34" charset="0"/>
              <a:buChar char="o"/>
            </a:pPr>
            <a:r>
              <a:rPr lang="es-ES" dirty="0" err="1">
                <a:ea typeface="+mn-lt"/>
                <a:cs typeface="+mn-lt"/>
              </a:rPr>
              <a:t>or</a:t>
            </a:r>
            <a:r>
              <a:rPr lang="es-ES" dirty="0">
                <a:ea typeface="+mn-lt"/>
                <a:cs typeface="+mn-lt"/>
              </a:rPr>
              <a:t> (o ,): Si alguna de las condiciones es verdadera, los estilos se aplican.</a:t>
            </a:r>
            <a:endParaRPr lang="es-ES" dirty="0"/>
          </a:p>
          <a:p>
            <a:pPr lvl="1">
              <a:buFont typeface="Courier New" panose="020B0604020202020204" pitchFamily="34" charset="0"/>
              <a:buChar char="o"/>
            </a:pPr>
            <a:r>
              <a:rPr lang="es-ES" dirty="0" err="1">
                <a:ea typeface="+mn-lt"/>
                <a:cs typeface="+mn-lt"/>
              </a:rPr>
              <a:t>not</a:t>
            </a:r>
            <a:r>
              <a:rPr lang="es-ES" dirty="0">
                <a:ea typeface="+mn-lt"/>
                <a:cs typeface="+mn-lt"/>
              </a:rPr>
              <a:t>: Invierte el resultado de una Media </a:t>
            </a:r>
            <a:r>
              <a:rPr lang="es-ES" dirty="0" err="1">
                <a:ea typeface="+mn-lt"/>
                <a:cs typeface="+mn-lt"/>
              </a:rPr>
              <a:t>Query</a:t>
            </a:r>
            <a:r>
              <a:rPr lang="es-ES" dirty="0">
                <a:ea typeface="+mn-lt"/>
                <a:cs typeface="+mn-lt"/>
              </a:rPr>
              <a:t>.</a:t>
            </a:r>
            <a:endParaRPr lang="es-ES" dirty="0"/>
          </a:p>
        </p:txBody>
      </p:sp>
    </p:spTree>
    <p:extLst>
      <p:ext uri="{BB962C8B-B14F-4D97-AF65-F5344CB8AC3E}">
        <p14:creationId xmlns:p14="http://schemas.microsoft.com/office/powerpoint/2010/main" val="394954242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F90647-945C-A481-7194-92A674097D8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E8DFDEA-0379-87C8-23AB-77245562F27E}"/>
              </a:ext>
            </a:extLst>
          </p:cNvPr>
          <p:cNvSpPr>
            <a:spLocks noGrp="1"/>
          </p:cNvSpPr>
          <p:nvPr>
            <p:ph type="title"/>
          </p:nvPr>
        </p:nvSpPr>
        <p:spPr/>
        <p:txBody>
          <a:bodyPr/>
          <a:lstStyle/>
          <a:p>
            <a:r>
              <a:rPr lang="es-ES" b="0" dirty="0">
                <a:ea typeface="+mj-lt"/>
                <a:cs typeface="+mj-lt"/>
              </a:rPr>
              <a:t>2.3.1.2. Media </a:t>
            </a:r>
            <a:r>
              <a:rPr lang="es-ES" b="0" dirty="0" err="1">
                <a:ea typeface="+mj-lt"/>
                <a:cs typeface="+mj-lt"/>
              </a:rPr>
              <a:t>Queries</a:t>
            </a:r>
            <a:r>
              <a:rPr lang="es-ES" b="0" dirty="0">
                <a:ea typeface="+mj-lt"/>
                <a:cs typeface="+mj-lt"/>
              </a:rPr>
              <a:t>: sintaxis y aplicación.</a:t>
            </a:r>
            <a:endParaRPr lang="es-ES" dirty="0"/>
          </a:p>
        </p:txBody>
      </p:sp>
      <p:sp>
        <p:nvSpPr>
          <p:cNvPr id="3" name="Marcador de contenido 2">
            <a:extLst>
              <a:ext uri="{FF2B5EF4-FFF2-40B4-BE49-F238E27FC236}">
                <a16:creationId xmlns:a16="http://schemas.microsoft.com/office/drawing/2014/main" id="{FFE0653E-DD80-7622-6CB6-7BF446CC2446}"/>
              </a:ext>
            </a:extLst>
          </p:cNvPr>
          <p:cNvSpPr>
            <a:spLocks noGrp="1"/>
          </p:cNvSpPr>
          <p:nvPr>
            <p:ph idx="1"/>
          </p:nvPr>
        </p:nvSpPr>
        <p:spPr/>
        <p:txBody>
          <a:bodyPr vert="horz" lIns="91440" tIns="45720" rIns="91440" bIns="45720" rtlCol="0" anchor="t">
            <a:normAutofit fontScale="92500" lnSpcReduction="20000"/>
          </a:bodyPr>
          <a:lstStyle/>
          <a:p>
            <a:r>
              <a:rPr lang="es-ES" dirty="0">
                <a:ea typeface="+mn-lt"/>
                <a:cs typeface="+mn-lt"/>
              </a:rPr>
              <a:t>Ejemplo de operadores:</a:t>
            </a:r>
          </a:p>
          <a:p>
            <a:pPr marL="0" indent="0">
              <a:buNone/>
            </a:pPr>
            <a:r>
              <a:rPr lang="es-ES" b="1" dirty="0">
                <a:latin typeface="Courier New"/>
                <a:ea typeface="+mn-lt"/>
                <a:cs typeface="+mn-lt"/>
              </a:rPr>
              <a:t>/* Estilos para pantallas con un ancho entre 600px y 1024px, y en orientación vertical */</a:t>
            </a:r>
            <a:br>
              <a:rPr lang="es-ES" b="1" dirty="0">
                <a:latin typeface="Courier New"/>
                <a:ea typeface="+mn-lt"/>
                <a:cs typeface="+mn-lt"/>
              </a:rPr>
            </a:br>
            <a:r>
              <a:rPr lang="es-ES" b="1" dirty="0">
                <a:latin typeface="Courier New"/>
                <a:ea typeface="+mn-lt"/>
                <a:cs typeface="+mn-lt"/>
              </a:rPr>
              <a:t>@media (min-</a:t>
            </a:r>
            <a:r>
              <a:rPr lang="es-ES" b="1" dirty="0" err="1">
                <a:latin typeface="Courier New"/>
                <a:ea typeface="+mn-lt"/>
                <a:cs typeface="+mn-lt"/>
              </a:rPr>
              <a:t>width</a:t>
            </a:r>
            <a:r>
              <a:rPr lang="es-ES" b="1" dirty="0">
                <a:latin typeface="Courier New"/>
                <a:ea typeface="+mn-lt"/>
                <a:cs typeface="+mn-lt"/>
              </a:rPr>
              <a:t>: 600px) and (</a:t>
            </a:r>
            <a:r>
              <a:rPr lang="es-ES" b="1" dirty="0" err="1">
                <a:latin typeface="Courier New"/>
                <a:ea typeface="+mn-lt"/>
                <a:cs typeface="+mn-lt"/>
              </a:rPr>
              <a:t>max-width</a:t>
            </a:r>
            <a:r>
              <a:rPr lang="es-ES" b="1" dirty="0">
                <a:latin typeface="Courier New"/>
                <a:ea typeface="+mn-lt"/>
                <a:cs typeface="+mn-lt"/>
              </a:rPr>
              <a:t>: 1024px) and (</a:t>
            </a:r>
            <a:r>
              <a:rPr lang="es-ES" b="1" dirty="0" err="1">
                <a:latin typeface="Courier New"/>
                <a:ea typeface="+mn-lt"/>
                <a:cs typeface="+mn-lt"/>
              </a:rPr>
              <a:t>orientation</a:t>
            </a:r>
            <a:r>
              <a:rPr lang="es-ES" b="1" dirty="0">
                <a:latin typeface="Courier New"/>
                <a:ea typeface="+mn-lt"/>
                <a:cs typeface="+mn-lt"/>
              </a:rPr>
              <a:t>: </a:t>
            </a:r>
            <a:r>
              <a:rPr lang="es-ES" b="1" dirty="0" err="1">
                <a:latin typeface="Courier New"/>
                <a:ea typeface="+mn-lt"/>
                <a:cs typeface="+mn-lt"/>
              </a:rPr>
              <a:t>portrait</a:t>
            </a: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.contenedor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padding</a:t>
            </a:r>
            <a:r>
              <a:rPr lang="es-ES" b="1" dirty="0">
                <a:latin typeface="Courier New"/>
                <a:ea typeface="+mn-lt"/>
                <a:cs typeface="+mn-lt"/>
              </a:rPr>
              <a:t>: 20px;</a:t>
            </a:r>
            <a:br>
              <a:rPr lang="es-ES" b="1" dirty="0">
                <a:latin typeface="Courier New"/>
                <a:ea typeface="+mn-lt"/>
                <a:cs typeface="+mn-lt"/>
              </a:rPr>
            </a:b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a:t>
            </a:r>
            <a:endParaRPr lang="es-ES" b="1" dirty="0">
              <a:latin typeface="Courier New"/>
              <a:cs typeface="Courier New"/>
            </a:endParaRPr>
          </a:p>
          <a:p>
            <a:r>
              <a:rPr lang="es-ES" dirty="0">
                <a:ea typeface="+mn-lt"/>
                <a:cs typeface="+mn-lt"/>
              </a:rPr>
              <a:t>Existen dos estrategias principales para el uso de Media </a:t>
            </a:r>
            <a:r>
              <a:rPr lang="es-ES" dirty="0" err="1">
                <a:ea typeface="+mn-lt"/>
                <a:cs typeface="+mn-lt"/>
              </a:rPr>
              <a:t>Queries</a:t>
            </a:r>
            <a:r>
              <a:rPr lang="es-ES" dirty="0">
                <a:ea typeface="+mn-lt"/>
                <a:cs typeface="+mn-lt"/>
              </a:rPr>
              <a:t>:</a:t>
            </a:r>
          </a:p>
          <a:p>
            <a:pPr lvl="1">
              <a:buFont typeface="Courier New" panose="020B0604020202020204" pitchFamily="34" charset="0"/>
              <a:buChar char="o"/>
            </a:pPr>
            <a:r>
              <a:rPr lang="es-ES" dirty="0">
                <a:ea typeface="+mn-lt"/>
                <a:cs typeface="+mn-lt"/>
              </a:rPr>
              <a:t>Mobile-</a:t>
            </a:r>
            <a:r>
              <a:rPr lang="es-ES" dirty="0" err="1">
                <a:ea typeface="+mn-lt"/>
                <a:cs typeface="+mn-lt"/>
              </a:rPr>
              <a:t>First</a:t>
            </a:r>
            <a:r>
              <a:rPr lang="es-ES" dirty="0">
                <a:ea typeface="+mn-lt"/>
                <a:cs typeface="+mn-lt"/>
              </a:rPr>
              <a:t> (móvil primero): Esta es la estrategia recomendada. Consiste en diseñar y estilizar primero para el tamaño de pantalla más pequeño (móviles). Luego, usas min-</a:t>
            </a:r>
            <a:r>
              <a:rPr lang="es-ES" dirty="0" err="1">
                <a:ea typeface="+mn-lt"/>
                <a:cs typeface="+mn-lt"/>
              </a:rPr>
              <a:t>width</a:t>
            </a:r>
            <a:r>
              <a:rPr lang="es-ES" dirty="0">
                <a:ea typeface="+mn-lt"/>
                <a:cs typeface="+mn-lt"/>
              </a:rPr>
              <a:t> para aplicar estilos a medida que la pantalla se hace más grande. Esto asegura un rendimiento óptimo en móviles, ya que se cargan menos estilos por defecto.</a:t>
            </a:r>
          </a:p>
          <a:p>
            <a:pPr lvl="1">
              <a:buFont typeface="Courier New" panose="020B0604020202020204" pitchFamily="34" charset="0"/>
              <a:buChar char="o"/>
            </a:pPr>
            <a:r>
              <a:rPr lang="es-ES" dirty="0">
                <a:ea typeface="+mn-lt"/>
                <a:cs typeface="+mn-lt"/>
              </a:rPr>
              <a:t>Desktop-</a:t>
            </a:r>
            <a:r>
              <a:rPr lang="es-ES" dirty="0" err="1">
                <a:ea typeface="+mn-lt"/>
                <a:cs typeface="+mn-lt"/>
              </a:rPr>
              <a:t>First</a:t>
            </a:r>
            <a:r>
              <a:rPr lang="es-ES" dirty="0">
                <a:ea typeface="+mn-lt"/>
                <a:cs typeface="+mn-lt"/>
              </a:rPr>
              <a:t> (escritorio primero): Empiezas diseñando para pantallas grandes y luego usas </a:t>
            </a:r>
            <a:r>
              <a:rPr lang="es-ES" dirty="0" err="1">
                <a:ea typeface="+mn-lt"/>
                <a:cs typeface="+mn-lt"/>
              </a:rPr>
              <a:t>max-width</a:t>
            </a:r>
            <a:r>
              <a:rPr lang="es-ES" dirty="0">
                <a:ea typeface="+mn-lt"/>
                <a:cs typeface="+mn-lt"/>
              </a:rPr>
              <a:t> para aplicar estilos a medida que la pantalla se hace más pequeña.</a:t>
            </a:r>
          </a:p>
          <a:p>
            <a:endParaRPr lang="es-ES" dirty="0"/>
          </a:p>
        </p:txBody>
      </p:sp>
    </p:spTree>
    <p:extLst>
      <p:ext uri="{BB962C8B-B14F-4D97-AF65-F5344CB8AC3E}">
        <p14:creationId xmlns:p14="http://schemas.microsoft.com/office/powerpoint/2010/main" val="314870489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C662FD-51E6-4995-AC2C-38F130E7D36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B6322EB-81BA-170C-5EBC-F7B70E438FEF}"/>
              </a:ext>
            </a:extLst>
          </p:cNvPr>
          <p:cNvSpPr>
            <a:spLocks noGrp="1"/>
          </p:cNvSpPr>
          <p:nvPr>
            <p:ph type="title"/>
          </p:nvPr>
        </p:nvSpPr>
        <p:spPr/>
        <p:txBody>
          <a:bodyPr/>
          <a:lstStyle/>
          <a:p>
            <a:r>
              <a:rPr lang="es-ES" b="0" dirty="0">
                <a:ea typeface="+mj-lt"/>
                <a:cs typeface="+mj-lt"/>
              </a:rPr>
              <a:t>2.3.1.2. Media </a:t>
            </a:r>
            <a:r>
              <a:rPr lang="es-ES" b="0" dirty="0" err="1">
                <a:ea typeface="+mj-lt"/>
                <a:cs typeface="+mj-lt"/>
              </a:rPr>
              <a:t>Queries</a:t>
            </a:r>
            <a:r>
              <a:rPr lang="es-ES" b="0" dirty="0">
                <a:ea typeface="+mj-lt"/>
                <a:cs typeface="+mj-lt"/>
              </a:rPr>
              <a:t>: sintaxis y aplicación.</a:t>
            </a:r>
            <a:endParaRPr lang="es-ES" dirty="0"/>
          </a:p>
        </p:txBody>
      </p:sp>
      <p:sp>
        <p:nvSpPr>
          <p:cNvPr id="3" name="Marcador de contenido 2">
            <a:extLst>
              <a:ext uri="{FF2B5EF4-FFF2-40B4-BE49-F238E27FC236}">
                <a16:creationId xmlns:a16="http://schemas.microsoft.com/office/drawing/2014/main" id="{8A7B2831-FDE4-54D9-0F69-706CCE344519}"/>
              </a:ext>
            </a:extLst>
          </p:cNvPr>
          <p:cNvSpPr>
            <a:spLocks noGrp="1"/>
          </p:cNvSpPr>
          <p:nvPr>
            <p:ph idx="1"/>
          </p:nvPr>
        </p:nvSpPr>
        <p:spPr/>
        <p:txBody>
          <a:bodyPr vert="horz" lIns="91440" tIns="45720" rIns="91440" bIns="45720" rtlCol="0" anchor="t">
            <a:normAutofit fontScale="77500" lnSpcReduction="20000"/>
          </a:bodyPr>
          <a:lstStyle/>
          <a:p>
            <a:r>
              <a:rPr lang="es-ES" dirty="0">
                <a:ea typeface="+mn-lt"/>
                <a:cs typeface="+mn-lt"/>
              </a:rPr>
              <a:t>Ejemplo de Mobile-</a:t>
            </a:r>
            <a:r>
              <a:rPr lang="es-ES" dirty="0" err="1">
                <a:ea typeface="+mn-lt"/>
                <a:cs typeface="+mn-lt"/>
              </a:rPr>
              <a:t>First</a:t>
            </a:r>
            <a:r>
              <a:rPr lang="es-ES" dirty="0">
                <a:ea typeface="+mn-lt"/>
                <a:cs typeface="+mn-lt"/>
              </a:rPr>
              <a:t>:</a:t>
            </a:r>
          </a:p>
          <a:p>
            <a:pPr marL="0" indent="0">
              <a:buNone/>
            </a:pPr>
            <a:r>
              <a:rPr lang="es-ES" b="1" dirty="0">
                <a:latin typeface="Courier New"/>
                <a:ea typeface="+mn-lt"/>
                <a:cs typeface="+mn-lt"/>
              </a:rPr>
              <a:t>/* Estilos por defecto para móviles (se aplican siempre) */</a:t>
            </a:r>
            <a:br>
              <a:rPr lang="es-ES" b="1" dirty="0">
                <a:latin typeface="Courier New"/>
                <a:ea typeface="+mn-lt"/>
                <a:cs typeface="+mn-lt"/>
              </a:rPr>
            </a:br>
            <a:r>
              <a:rPr lang="es-ES" b="1" dirty="0">
                <a:latin typeface="Courier New"/>
                <a:ea typeface="+mn-lt"/>
                <a:cs typeface="+mn-lt"/>
              </a:rPr>
              <a:t>.caja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width</a:t>
            </a:r>
            <a:r>
              <a:rPr lang="es-ES" b="1" dirty="0">
                <a:latin typeface="Courier New"/>
                <a:ea typeface="+mn-lt"/>
                <a:cs typeface="+mn-lt"/>
              </a:rPr>
              <a:t>: 90%;</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padding</a:t>
            </a:r>
            <a:r>
              <a:rPr lang="es-ES" b="1" dirty="0">
                <a:latin typeface="Courier New"/>
                <a:ea typeface="+mn-lt"/>
                <a:cs typeface="+mn-lt"/>
              </a:rPr>
              <a:t>: 1rem;</a:t>
            </a:r>
            <a:br>
              <a:rPr lang="es-ES" b="1" dirty="0">
                <a:latin typeface="Courier New"/>
                <a:ea typeface="+mn-lt"/>
                <a:cs typeface="+mn-lt"/>
              </a:rPr>
            </a:b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 A partir de tabletas */</a:t>
            </a:r>
            <a:br>
              <a:rPr lang="es-ES" b="1" dirty="0">
                <a:latin typeface="Courier New"/>
                <a:ea typeface="+mn-lt"/>
                <a:cs typeface="+mn-lt"/>
              </a:rPr>
            </a:br>
            <a:r>
              <a:rPr lang="es-ES" b="1" dirty="0">
                <a:latin typeface="Courier New"/>
                <a:ea typeface="+mn-lt"/>
                <a:cs typeface="+mn-lt"/>
              </a:rPr>
              <a:t>@media (min-</a:t>
            </a:r>
            <a:r>
              <a:rPr lang="es-ES" b="1" dirty="0" err="1">
                <a:latin typeface="Courier New"/>
                <a:ea typeface="+mn-lt"/>
                <a:cs typeface="+mn-lt"/>
              </a:rPr>
              <a:t>width</a:t>
            </a:r>
            <a:r>
              <a:rPr lang="es-ES" b="1" dirty="0">
                <a:latin typeface="Courier New"/>
                <a:ea typeface="+mn-lt"/>
                <a:cs typeface="+mn-lt"/>
              </a:rPr>
              <a:t>: 768px) {</a:t>
            </a:r>
            <a:br>
              <a:rPr lang="es-ES" b="1" dirty="0">
                <a:latin typeface="Courier New"/>
                <a:ea typeface="+mn-lt"/>
                <a:cs typeface="+mn-lt"/>
              </a:rPr>
            </a:br>
            <a:r>
              <a:rPr lang="es-ES" b="1" dirty="0">
                <a:latin typeface="Courier New"/>
                <a:ea typeface="+mn-lt"/>
                <a:cs typeface="+mn-lt"/>
              </a:rPr>
              <a:t>  .caja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width</a:t>
            </a:r>
            <a:r>
              <a:rPr lang="es-ES" b="1" dirty="0">
                <a:latin typeface="Courier New"/>
                <a:ea typeface="+mn-lt"/>
                <a:cs typeface="+mn-lt"/>
              </a:rPr>
              <a:t>: 60%;</a:t>
            </a:r>
            <a:br>
              <a:rPr lang="es-ES" b="1" dirty="0">
                <a:latin typeface="Courier New"/>
                <a:ea typeface="+mn-lt"/>
                <a:cs typeface="+mn-lt"/>
              </a:rPr>
            </a:b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 A partir de ordenadores */</a:t>
            </a:r>
            <a:br>
              <a:rPr lang="es-ES" b="1" dirty="0">
                <a:latin typeface="Courier New"/>
                <a:ea typeface="+mn-lt"/>
                <a:cs typeface="+mn-lt"/>
              </a:rPr>
            </a:br>
            <a:r>
              <a:rPr lang="es-ES" b="1" dirty="0">
                <a:latin typeface="Courier New"/>
                <a:ea typeface="+mn-lt"/>
                <a:cs typeface="+mn-lt"/>
              </a:rPr>
              <a:t>@media (min-</a:t>
            </a:r>
            <a:r>
              <a:rPr lang="es-ES" b="1" dirty="0" err="1">
                <a:latin typeface="Courier New"/>
                <a:ea typeface="+mn-lt"/>
                <a:cs typeface="+mn-lt"/>
              </a:rPr>
              <a:t>width</a:t>
            </a:r>
            <a:r>
              <a:rPr lang="es-ES" b="1" dirty="0">
                <a:latin typeface="Courier New"/>
                <a:ea typeface="+mn-lt"/>
                <a:cs typeface="+mn-lt"/>
              </a:rPr>
              <a:t>: 1024px) {</a:t>
            </a:r>
            <a:br>
              <a:rPr lang="es-ES" b="1" dirty="0">
                <a:latin typeface="Courier New"/>
                <a:ea typeface="+mn-lt"/>
                <a:cs typeface="+mn-lt"/>
              </a:rPr>
            </a:br>
            <a:r>
              <a:rPr lang="es-ES" b="1" dirty="0">
                <a:latin typeface="Courier New"/>
                <a:ea typeface="+mn-lt"/>
                <a:cs typeface="+mn-lt"/>
              </a:rPr>
              <a:t>  .caja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width</a:t>
            </a:r>
            <a:r>
              <a:rPr lang="es-ES" b="1" dirty="0">
                <a:latin typeface="Courier New"/>
                <a:ea typeface="+mn-lt"/>
                <a:cs typeface="+mn-lt"/>
              </a:rPr>
              <a:t>: 40%;</a:t>
            </a:r>
            <a:br>
              <a:rPr lang="es-ES" b="1" dirty="0">
                <a:latin typeface="Courier New"/>
                <a:ea typeface="+mn-lt"/>
                <a:cs typeface="+mn-lt"/>
              </a:rPr>
            </a:b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a:t>
            </a:r>
            <a:endParaRPr lang="es-ES" b="1" dirty="0">
              <a:latin typeface="Courier New"/>
              <a:cs typeface="Courier New"/>
            </a:endParaRPr>
          </a:p>
          <a:p>
            <a:endParaRPr lang="es-ES" dirty="0">
              <a:ea typeface="+mn-lt"/>
              <a:cs typeface="+mn-lt"/>
            </a:endParaRPr>
          </a:p>
          <a:p>
            <a:endParaRPr lang="es-ES" dirty="0"/>
          </a:p>
        </p:txBody>
      </p:sp>
    </p:spTree>
    <p:extLst>
      <p:ext uri="{BB962C8B-B14F-4D97-AF65-F5344CB8AC3E}">
        <p14:creationId xmlns:p14="http://schemas.microsoft.com/office/powerpoint/2010/main" val="392765684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0CC684-5F23-21E0-8795-C06F4223951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E1ED8C2-9BBB-77BF-2E26-D80732828B26}"/>
              </a:ext>
            </a:extLst>
          </p:cNvPr>
          <p:cNvSpPr>
            <a:spLocks noGrp="1"/>
          </p:cNvSpPr>
          <p:nvPr>
            <p:ph type="title"/>
          </p:nvPr>
        </p:nvSpPr>
        <p:spPr/>
        <p:txBody>
          <a:bodyPr/>
          <a:lstStyle/>
          <a:p>
            <a:r>
              <a:rPr lang="es-ES" b="0" dirty="0">
                <a:ea typeface="+mj-lt"/>
                <a:cs typeface="+mj-lt"/>
              </a:rPr>
              <a:t>2.3.2. Maquetación con </a:t>
            </a:r>
            <a:r>
              <a:rPr lang="es-ES" b="0" dirty="0" err="1">
                <a:ea typeface="+mj-lt"/>
                <a:cs typeface="+mj-lt"/>
              </a:rPr>
              <a:t>Flexbox</a:t>
            </a:r>
            <a:r>
              <a:rPr lang="es-ES" b="0" dirty="0">
                <a:ea typeface="+mj-lt"/>
                <a:cs typeface="+mj-lt"/>
              </a:rPr>
              <a:t> (Flexible Box </a:t>
            </a:r>
            <a:r>
              <a:rPr lang="es-ES" b="0" dirty="0" err="1">
                <a:ea typeface="+mj-lt"/>
                <a:cs typeface="+mj-lt"/>
              </a:rPr>
              <a:t>Layout</a:t>
            </a:r>
            <a:r>
              <a:rPr lang="es-ES" b="0" dirty="0">
                <a:ea typeface="+mj-lt"/>
                <a:cs typeface="+mj-lt"/>
              </a:rPr>
              <a:t>)</a:t>
            </a:r>
            <a:endParaRPr lang="es-ES" dirty="0"/>
          </a:p>
        </p:txBody>
      </p:sp>
      <p:sp>
        <p:nvSpPr>
          <p:cNvPr id="3" name="Marcador de contenido 2">
            <a:extLst>
              <a:ext uri="{FF2B5EF4-FFF2-40B4-BE49-F238E27FC236}">
                <a16:creationId xmlns:a16="http://schemas.microsoft.com/office/drawing/2014/main" id="{FECA2A1E-14DD-A473-DD74-2F6F0A1B6A24}"/>
              </a:ext>
            </a:extLst>
          </p:cNvPr>
          <p:cNvSpPr>
            <a:spLocks noGrp="1"/>
          </p:cNvSpPr>
          <p:nvPr>
            <p:ph idx="1"/>
          </p:nvPr>
        </p:nvSpPr>
        <p:spPr/>
        <p:txBody>
          <a:bodyPr vert="horz" lIns="91440" tIns="45720" rIns="91440" bIns="45720" rtlCol="0" anchor="t">
            <a:normAutofit fontScale="92500" lnSpcReduction="20000"/>
          </a:bodyPr>
          <a:lstStyle/>
          <a:p>
            <a:r>
              <a:rPr lang="es-ES" dirty="0" err="1">
                <a:ea typeface="+mn-lt"/>
                <a:cs typeface="+mn-lt"/>
              </a:rPr>
              <a:t>Flexbox</a:t>
            </a:r>
            <a:r>
              <a:rPr lang="es-ES" dirty="0">
                <a:ea typeface="+mn-lt"/>
                <a:cs typeface="+mn-lt"/>
              </a:rPr>
              <a:t> (Flexible Box </a:t>
            </a:r>
            <a:r>
              <a:rPr lang="es-ES" dirty="0" err="1">
                <a:ea typeface="+mn-lt"/>
                <a:cs typeface="+mn-lt"/>
              </a:rPr>
              <a:t>Layout</a:t>
            </a:r>
            <a:r>
              <a:rPr lang="es-ES" dirty="0">
                <a:ea typeface="+mn-lt"/>
                <a:cs typeface="+mn-lt"/>
              </a:rPr>
              <a:t>) es un modelo de maquetación unidimensional de CSS diseñado para distribuir el espacio y alinear los elementos de un contenedor. Es ideal para la creación de componentes, como barras de navegación, menús o galerías de imágenes, ya que facilita la alineación y el espaciado de los ítems a lo largo de un solo eje (horizontal o vertical).</a:t>
            </a:r>
            <a:endParaRPr lang="es-ES" dirty="0"/>
          </a:p>
          <a:p>
            <a:r>
              <a:rPr lang="es-ES" dirty="0">
                <a:ea typeface="+mn-lt"/>
                <a:cs typeface="+mn-lt"/>
              </a:rPr>
              <a:t>El modelo </a:t>
            </a:r>
            <a:r>
              <a:rPr lang="es-ES" dirty="0" err="1">
                <a:ea typeface="+mn-lt"/>
                <a:cs typeface="+mn-lt"/>
              </a:rPr>
              <a:t>Flexbox</a:t>
            </a:r>
            <a:r>
              <a:rPr lang="es-ES" dirty="0">
                <a:ea typeface="+mn-lt"/>
                <a:cs typeface="+mn-lt"/>
              </a:rPr>
              <a:t> se basa en una relación entre un contenedor padre y sus elementos hijos. El contenedor se convierte en el "Flex Container" y los elementos hijos en "Flex </a:t>
            </a:r>
            <a:r>
              <a:rPr lang="es-ES" dirty="0" err="1">
                <a:ea typeface="+mn-lt"/>
                <a:cs typeface="+mn-lt"/>
              </a:rPr>
              <a:t>Items</a:t>
            </a:r>
            <a:r>
              <a:rPr lang="es-ES" dirty="0">
                <a:ea typeface="+mn-lt"/>
                <a:cs typeface="+mn-lt"/>
              </a:rPr>
              <a:t>". Todas las propiedades de </a:t>
            </a:r>
            <a:r>
              <a:rPr lang="es-ES" dirty="0" err="1">
                <a:ea typeface="+mn-lt"/>
                <a:cs typeface="+mn-lt"/>
              </a:rPr>
              <a:t>Flexbox</a:t>
            </a:r>
            <a:r>
              <a:rPr lang="es-ES" dirty="0">
                <a:ea typeface="+mn-lt"/>
                <a:cs typeface="+mn-lt"/>
              </a:rPr>
              <a:t> se aplican al contenedor, a los ítems, o a ambos.</a:t>
            </a:r>
            <a:endParaRPr lang="es-ES" dirty="0"/>
          </a:p>
          <a:p>
            <a:pPr lvl="1">
              <a:buFont typeface="Courier New" panose="020B0604020202020204" pitchFamily="34" charset="0"/>
              <a:buChar char="o"/>
            </a:pPr>
            <a:r>
              <a:rPr lang="es-ES" dirty="0">
                <a:ea typeface="+mn-lt"/>
                <a:cs typeface="+mn-lt"/>
              </a:rPr>
              <a:t>Eje principal (</a:t>
            </a:r>
            <a:r>
              <a:rPr lang="es-ES" dirty="0" err="1">
                <a:ea typeface="+mn-lt"/>
                <a:cs typeface="+mn-lt"/>
              </a:rPr>
              <a:t>Main</a:t>
            </a:r>
            <a:r>
              <a:rPr lang="es-ES" dirty="0">
                <a:ea typeface="+mn-lt"/>
                <a:cs typeface="+mn-lt"/>
              </a:rPr>
              <a:t> Axis): Es el eje a lo largo del cual se colocan los Flex </a:t>
            </a:r>
            <a:r>
              <a:rPr lang="es-ES" dirty="0" err="1">
                <a:ea typeface="+mn-lt"/>
                <a:cs typeface="+mn-lt"/>
              </a:rPr>
              <a:t>Items</a:t>
            </a:r>
            <a:r>
              <a:rPr lang="es-ES" dirty="0">
                <a:ea typeface="+mn-lt"/>
                <a:cs typeface="+mn-lt"/>
              </a:rPr>
              <a:t>. Por defecto, es horizontal.</a:t>
            </a:r>
            <a:endParaRPr lang="es-ES" dirty="0"/>
          </a:p>
          <a:p>
            <a:pPr lvl="1">
              <a:buFont typeface="Courier New" panose="020B0604020202020204" pitchFamily="34" charset="0"/>
              <a:buChar char="o"/>
            </a:pPr>
            <a:r>
              <a:rPr lang="es-ES" dirty="0">
                <a:ea typeface="+mn-lt"/>
                <a:cs typeface="+mn-lt"/>
              </a:rPr>
              <a:t>Eje cruzado (Cross Axis): Es perpendicular al eje principal. Por defecto, es vertical.</a:t>
            </a:r>
            <a:endParaRPr lang="es-ES" dirty="0"/>
          </a:p>
          <a:p>
            <a:pPr lvl="1">
              <a:buFont typeface="Courier New" panose="020B0604020202020204" pitchFamily="34" charset="0"/>
              <a:buChar char="o"/>
            </a:pPr>
            <a:r>
              <a:rPr lang="es-ES" dirty="0">
                <a:ea typeface="+mn-lt"/>
                <a:cs typeface="+mn-lt"/>
              </a:rPr>
              <a:t>Dirección de flujo: La propiedad </a:t>
            </a:r>
            <a:r>
              <a:rPr lang="es-ES" dirty="0" err="1">
                <a:ea typeface="+mn-lt"/>
                <a:cs typeface="+mn-lt"/>
              </a:rPr>
              <a:t>flex-direction</a:t>
            </a:r>
            <a:r>
              <a:rPr lang="es-ES" dirty="0">
                <a:ea typeface="+mn-lt"/>
                <a:cs typeface="+mn-lt"/>
              </a:rPr>
              <a:t> define el eje principal. Puede ser </a:t>
            </a:r>
            <a:r>
              <a:rPr lang="es-ES" dirty="0" err="1">
                <a:ea typeface="+mn-lt"/>
                <a:cs typeface="+mn-lt"/>
              </a:rPr>
              <a:t>row</a:t>
            </a:r>
            <a:r>
              <a:rPr lang="es-ES" dirty="0">
                <a:ea typeface="+mn-lt"/>
                <a:cs typeface="+mn-lt"/>
              </a:rPr>
              <a:t> (fila) o </a:t>
            </a:r>
            <a:r>
              <a:rPr lang="es-ES" dirty="0" err="1">
                <a:ea typeface="+mn-lt"/>
                <a:cs typeface="+mn-lt"/>
              </a:rPr>
              <a:t>column</a:t>
            </a:r>
            <a:r>
              <a:rPr lang="es-ES" dirty="0">
                <a:ea typeface="+mn-lt"/>
                <a:cs typeface="+mn-lt"/>
              </a:rPr>
              <a:t> (columna). Esto determina la dirección en la que se disponen los ítems.</a:t>
            </a:r>
            <a:endParaRPr lang="es-ES" dirty="0"/>
          </a:p>
          <a:p>
            <a:r>
              <a:rPr lang="es-ES" dirty="0">
                <a:ea typeface="+mn-lt"/>
                <a:cs typeface="+mn-lt"/>
              </a:rPr>
              <a:t>Para activar </a:t>
            </a:r>
            <a:r>
              <a:rPr lang="es-ES" dirty="0" err="1">
                <a:ea typeface="+mn-lt"/>
                <a:cs typeface="+mn-lt"/>
              </a:rPr>
              <a:t>Flexbox</a:t>
            </a:r>
            <a:r>
              <a:rPr lang="es-ES" dirty="0">
                <a:ea typeface="+mn-lt"/>
                <a:cs typeface="+mn-lt"/>
              </a:rPr>
              <a:t>, simplemente aplica </a:t>
            </a:r>
            <a:r>
              <a:rPr lang="es-ES" dirty="0" err="1">
                <a:ea typeface="+mn-lt"/>
                <a:cs typeface="+mn-lt"/>
              </a:rPr>
              <a:t>display</a:t>
            </a:r>
            <a:r>
              <a:rPr lang="es-ES" dirty="0">
                <a:ea typeface="+mn-lt"/>
                <a:cs typeface="+mn-lt"/>
              </a:rPr>
              <a:t>: </a:t>
            </a:r>
            <a:r>
              <a:rPr lang="es-ES" dirty="0" err="1">
                <a:ea typeface="+mn-lt"/>
                <a:cs typeface="+mn-lt"/>
              </a:rPr>
              <a:t>flex</a:t>
            </a:r>
            <a:r>
              <a:rPr lang="es-ES" dirty="0">
                <a:ea typeface="+mn-lt"/>
                <a:cs typeface="+mn-lt"/>
              </a:rPr>
              <a:t>; al elemento padre que deseas convertir en un contenedor flexible. Una vez que lo haces, sus hijos se convierten automáticamente en Flex </a:t>
            </a:r>
            <a:r>
              <a:rPr lang="es-ES" dirty="0" err="1">
                <a:ea typeface="+mn-lt"/>
                <a:cs typeface="+mn-lt"/>
              </a:rPr>
              <a:t>Items</a:t>
            </a:r>
            <a:r>
              <a:rPr lang="es-ES" dirty="0">
                <a:ea typeface="+mn-lt"/>
                <a:cs typeface="+mn-lt"/>
              </a:rPr>
              <a:t>.</a:t>
            </a:r>
            <a:endParaRPr lang="es-ES" dirty="0"/>
          </a:p>
        </p:txBody>
      </p:sp>
    </p:spTree>
    <p:extLst>
      <p:ext uri="{BB962C8B-B14F-4D97-AF65-F5344CB8AC3E}">
        <p14:creationId xmlns:p14="http://schemas.microsoft.com/office/powerpoint/2010/main" val="109802046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AF4DBB-411E-EC47-3A1C-B8ABF1DDBC6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1FBF8BA-B68C-1724-A547-757EE23DF4EE}"/>
              </a:ext>
            </a:extLst>
          </p:cNvPr>
          <p:cNvSpPr>
            <a:spLocks noGrp="1"/>
          </p:cNvSpPr>
          <p:nvPr>
            <p:ph type="title"/>
          </p:nvPr>
        </p:nvSpPr>
        <p:spPr/>
        <p:txBody>
          <a:bodyPr/>
          <a:lstStyle/>
          <a:p>
            <a:r>
              <a:rPr lang="es-ES" b="0" dirty="0">
                <a:ea typeface="+mj-lt"/>
                <a:cs typeface="+mj-lt"/>
              </a:rPr>
              <a:t>2.3.2. Maquetación con </a:t>
            </a:r>
            <a:r>
              <a:rPr lang="es-ES" b="0" dirty="0" err="1">
                <a:ea typeface="+mj-lt"/>
                <a:cs typeface="+mj-lt"/>
              </a:rPr>
              <a:t>Flexbox</a:t>
            </a:r>
            <a:r>
              <a:rPr lang="es-ES" b="0" dirty="0">
                <a:ea typeface="+mj-lt"/>
                <a:cs typeface="+mj-lt"/>
              </a:rPr>
              <a:t> (Flexible Box </a:t>
            </a:r>
            <a:r>
              <a:rPr lang="es-ES" b="0" dirty="0" err="1">
                <a:ea typeface="+mj-lt"/>
                <a:cs typeface="+mj-lt"/>
              </a:rPr>
              <a:t>Layout</a:t>
            </a:r>
            <a:r>
              <a:rPr lang="es-ES" b="0" dirty="0">
                <a:ea typeface="+mj-lt"/>
                <a:cs typeface="+mj-lt"/>
              </a:rPr>
              <a:t>)</a:t>
            </a:r>
            <a:endParaRPr lang="es-ES" dirty="0"/>
          </a:p>
        </p:txBody>
      </p:sp>
      <p:sp>
        <p:nvSpPr>
          <p:cNvPr id="3" name="Marcador de contenido 2">
            <a:extLst>
              <a:ext uri="{FF2B5EF4-FFF2-40B4-BE49-F238E27FC236}">
                <a16:creationId xmlns:a16="http://schemas.microsoft.com/office/drawing/2014/main" id="{B39DC659-5F42-494F-09CC-0C04BE9F2E9C}"/>
              </a:ext>
            </a:extLst>
          </p:cNvPr>
          <p:cNvSpPr>
            <a:spLocks noGrp="1"/>
          </p:cNvSpPr>
          <p:nvPr>
            <p:ph idx="1"/>
          </p:nvPr>
        </p:nvSpPr>
        <p:spPr/>
        <p:txBody>
          <a:bodyPr vert="horz" lIns="91440" tIns="45720" rIns="91440" bIns="45720" rtlCol="0" anchor="t">
            <a:normAutofit fontScale="85000" lnSpcReduction="20000"/>
          </a:bodyPr>
          <a:lstStyle/>
          <a:p>
            <a:r>
              <a:rPr lang="es-ES" dirty="0" err="1">
                <a:ea typeface="+mn-lt"/>
                <a:cs typeface="+mn-lt"/>
              </a:rPr>
              <a:t>flex-direction</a:t>
            </a:r>
            <a:r>
              <a:rPr lang="es-ES" dirty="0">
                <a:ea typeface="+mn-lt"/>
                <a:cs typeface="+mn-lt"/>
              </a:rPr>
              <a:t>: Define la dirección del eje principal. Los valores más comunes son:</a:t>
            </a:r>
          </a:p>
          <a:p>
            <a:pPr lvl="1">
              <a:buFont typeface="Courier New" panose="020B0604020202020204" pitchFamily="34" charset="0"/>
              <a:buChar char="o"/>
            </a:pPr>
            <a:r>
              <a:rPr lang="es-ES" dirty="0" err="1">
                <a:ea typeface="+mn-lt"/>
                <a:cs typeface="+mn-lt"/>
              </a:rPr>
              <a:t>row</a:t>
            </a:r>
            <a:r>
              <a:rPr lang="es-ES" dirty="0">
                <a:ea typeface="+mn-lt"/>
                <a:cs typeface="+mn-lt"/>
              </a:rPr>
              <a:t> (por defecto): Los ítems se disponen en fila, de izquierda a derecha.</a:t>
            </a:r>
            <a:endParaRPr lang="es-ES" dirty="0"/>
          </a:p>
          <a:p>
            <a:pPr lvl="1">
              <a:buFont typeface="Courier New" panose="020B0604020202020204" pitchFamily="34" charset="0"/>
              <a:buChar char="o"/>
            </a:pPr>
            <a:r>
              <a:rPr lang="es-ES" dirty="0" err="1">
                <a:ea typeface="+mn-lt"/>
                <a:cs typeface="+mn-lt"/>
              </a:rPr>
              <a:t>column</a:t>
            </a:r>
            <a:r>
              <a:rPr lang="es-ES" dirty="0">
                <a:ea typeface="+mn-lt"/>
                <a:cs typeface="+mn-lt"/>
              </a:rPr>
              <a:t>: Los ítems se disponen en columna, de arriba abajo.</a:t>
            </a:r>
            <a:endParaRPr lang="es-ES" dirty="0"/>
          </a:p>
          <a:p>
            <a:r>
              <a:rPr lang="es-ES" dirty="0" err="1">
                <a:ea typeface="+mn-lt"/>
                <a:cs typeface="+mn-lt"/>
              </a:rPr>
              <a:t>justify-content</a:t>
            </a:r>
            <a:r>
              <a:rPr lang="es-ES" dirty="0">
                <a:ea typeface="+mn-lt"/>
                <a:cs typeface="+mn-lt"/>
              </a:rPr>
              <a:t>: Alinea los ítems a lo largo del eje principal. Los valores comunes son:</a:t>
            </a:r>
            <a:endParaRPr lang="es-ES" dirty="0"/>
          </a:p>
          <a:p>
            <a:pPr lvl="1">
              <a:buFont typeface="Courier New" panose="020B0604020202020204" pitchFamily="34" charset="0"/>
              <a:buChar char="o"/>
            </a:pPr>
            <a:r>
              <a:rPr lang="es-ES" dirty="0" err="1">
                <a:ea typeface="+mn-lt"/>
                <a:cs typeface="+mn-lt"/>
              </a:rPr>
              <a:t>flex-start</a:t>
            </a:r>
            <a:r>
              <a:rPr lang="es-ES" dirty="0">
                <a:ea typeface="+mn-lt"/>
                <a:cs typeface="+mn-lt"/>
              </a:rPr>
              <a:t>: Alinea los ítems al principio del eje.</a:t>
            </a:r>
          </a:p>
          <a:p>
            <a:pPr lvl="1">
              <a:buFont typeface="Courier New" panose="020B0604020202020204" pitchFamily="34" charset="0"/>
              <a:buChar char="o"/>
            </a:pPr>
            <a:r>
              <a:rPr lang="es-ES" dirty="0" err="1">
                <a:ea typeface="+mn-lt"/>
                <a:cs typeface="+mn-lt"/>
              </a:rPr>
              <a:t>flex-end</a:t>
            </a:r>
            <a:r>
              <a:rPr lang="es-ES" dirty="0">
                <a:ea typeface="+mn-lt"/>
                <a:cs typeface="+mn-lt"/>
              </a:rPr>
              <a:t>: Alinea los ítems al final del eje.</a:t>
            </a:r>
            <a:endParaRPr lang="es-ES" dirty="0"/>
          </a:p>
          <a:p>
            <a:pPr lvl="1">
              <a:buFont typeface="Courier New" panose="020B0604020202020204" pitchFamily="34" charset="0"/>
              <a:buChar char="o"/>
            </a:pPr>
            <a:r>
              <a:rPr lang="es-ES" dirty="0">
                <a:ea typeface="+mn-lt"/>
                <a:cs typeface="+mn-lt"/>
              </a:rPr>
              <a:t>center: Centra los ítems.</a:t>
            </a:r>
          </a:p>
          <a:p>
            <a:pPr lvl="1">
              <a:buFont typeface="Courier New" panose="020B0604020202020204" pitchFamily="34" charset="0"/>
              <a:buChar char="o"/>
            </a:pPr>
            <a:r>
              <a:rPr lang="es-ES" dirty="0" err="1">
                <a:ea typeface="+mn-lt"/>
                <a:cs typeface="+mn-lt"/>
              </a:rPr>
              <a:t>space-between</a:t>
            </a:r>
            <a:r>
              <a:rPr lang="es-ES" dirty="0">
                <a:ea typeface="+mn-lt"/>
                <a:cs typeface="+mn-lt"/>
              </a:rPr>
              <a:t>: Distribuye el espacio sobrante equitativamente entre los ítems.</a:t>
            </a:r>
            <a:endParaRPr lang="es-ES" dirty="0"/>
          </a:p>
          <a:p>
            <a:r>
              <a:rPr lang="es-ES" dirty="0" err="1">
                <a:ea typeface="+mn-lt"/>
                <a:cs typeface="+mn-lt"/>
              </a:rPr>
              <a:t>align-items</a:t>
            </a:r>
            <a:r>
              <a:rPr lang="es-ES" dirty="0">
                <a:ea typeface="+mn-lt"/>
                <a:cs typeface="+mn-lt"/>
              </a:rPr>
              <a:t>: Alinea los ítems a lo largo del eje cruzado. Los valores comunes son:</a:t>
            </a:r>
            <a:endParaRPr lang="es-ES" dirty="0"/>
          </a:p>
          <a:p>
            <a:pPr lvl="1">
              <a:buFont typeface="Courier New" panose="020B0604020202020204" pitchFamily="34" charset="0"/>
              <a:buChar char="o"/>
            </a:pPr>
            <a:r>
              <a:rPr lang="es-ES" dirty="0" err="1">
                <a:ea typeface="+mn-lt"/>
                <a:cs typeface="+mn-lt"/>
              </a:rPr>
              <a:t>flex-start</a:t>
            </a:r>
            <a:r>
              <a:rPr lang="es-ES" dirty="0">
                <a:ea typeface="+mn-lt"/>
                <a:cs typeface="+mn-lt"/>
              </a:rPr>
              <a:t>: Alinea los ítems al principio del eje cruzado.</a:t>
            </a:r>
          </a:p>
          <a:p>
            <a:pPr lvl="1">
              <a:buFont typeface="Courier New" panose="020B0604020202020204" pitchFamily="34" charset="0"/>
              <a:buChar char="o"/>
            </a:pPr>
            <a:r>
              <a:rPr lang="es-ES" dirty="0" err="1">
                <a:ea typeface="+mn-lt"/>
                <a:cs typeface="+mn-lt"/>
              </a:rPr>
              <a:t>flex-end</a:t>
            </a:r>
            <a:r>
              <a:rPr lang="es-ES" dirty="0">
                <a:ea typeface="+mn-lt"/>
                <a:cs typeface="+mn-lt"/>
              </a:rPr>
              <a:t>: Alinea los ítems al final.</a:t>
            </a:r>
          </a:p>
          <a:p>
            <a:pPr lvl="1">
              <a:buFont typeface="Courier New" panose="020B0604020202020204" pitchFamily="34" charset="0"/>
              <a:buChar char="o"/>
            </a:pPr>
            <a:r>
              <a:rPr lang="es-ES" dirty="0">
                <a:ea typeface="+mn-lt"/>
                <a:cs typeface="+mn-lt"/>
              </a:rPr>
              <a:t>center: Centra los ítems.</a:t>
            </a:r>
          </a:p>
          <a:p>
            <a:pPr lvl="1">
              <a:buFont typeface="Courier New" panose="020B0604020202020204" pitchFamily="34" charset="0"/>
              <a:buChar char="o"/>
            </a:pPr>
            <a:r>
              <a:rPr lang="es-ES" dirty="0" err="1">
                <a:ea typeface="+mn-lt"/>
                <a:cs typeface="+mn-lt"/>
              </a:rPr>
              <a:t>stretch</a:t>
            </a:r>
            <a:r>
              <a:rPr lang="es-ES" dirty="0">
                <a:ea typeface="+mn-lt"/>
                <a:cs typeface="+mn-lt"/>
              </a:rPr>
              <a:t> (por defecto): Estira los ítems para que ocupen todo el espacio del contenedor.</a:t>
            </a:r>
          </a:p>
          <a:p>
            <a:endParaRPr lang="es-ES" dirty="0"/>
          </a:p>
        </p:txBody>
      </p:sp>
    </p:spTree>
    <p:extLst>
      <p:ext uri="{BB962C8B-B14F-4D97-AF65-F5344CB8AC3E}">
        <p14:creationId xmlns:p14="http://schemas.microsoft.com/office/powerpoint/2010/main" val="239866317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DC5F13-F7B2-4F29-E2AB-22FCCF62E07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953EF65-7D4F-EA5C-C5B0-FBA9220107A7}"/>
              </a:ext>
            </a:extLst>
          </p:cNvPr>
          <p:cNvSpPr>
            <a:spLocks noGrp="1"/>
          </p:cNvSpPr>
          <p:nvPr>
            <p:ph type="title"/>
          </p:nvPr>
        </p:nvSpPr>
        <p:spPr/>
        <p:txBody>
          <a:bodyPr/>
          <a:lstStyle/>
          <a:p>
            <a:r>
              <a:rPr lang="es-ES" b="0" dirty="0">
                <a:ea typeface="+mj-lt"/>
                <a:cs typeface="+mj-lt"/>
              </a:rPr>
              <a:t>2.3.2.1. Conceptos de contenedor y elementos flexibles.</a:t>
            </a:r>
            <a:endParaRPr lang="es-ES" dirty="0"/>
          </a:p>
        </p:txBody>
      </p:sp>
      <p:sp>
        <p:nvSpPr>
          <p:cNvPr id="3" name="Marcador de contenido 2">
            <a:extLst>
              <a:ext uri="{FF2B5EF4-FFF2-40B4-BE49-F238E27FC236}">
                <a16:creationId xmlns:a16="http://schemas.microsoft.com/office/drawing/2014/main" id="{6A1E633B-3A9B-A3DD-CA0C-FAE69838C011}"/>
              </a:ext>
            </a:extLst>
          </p:cNvPr>
          <p:cNvSpPr>
            <a:spLocks noGrp="1"/>
          </p:cNvSpPr>
          <p:nvPr>
            <p:ph idx="1"/>
          </p:nvPr>
        </p:nvSpPr>
        <p:spPr/>
        <p:txBody>
          <a:bodyPr vert="horz" lIns="91440" tIns="45720" rIns="91440" bIns="45720" rtlCol="0" anchor="t">
            <a:normAutofit fontScale="92500" lnSpcReduction="20000"/>
          </a:bodyPr>
          <a:lstStyle/>
          <a:p>
            <a:r>
              <a:rPr lang="es-ES" dirty="0">
                <a:ea typeface="+mn-lt"/>
                <a:cs typeface="+mn-lt"/>
              </a:rPr>
              <a:t>El modelo </a:t>
            </a:r>
            <a:r>
              <a:rPr lang="es-ES" err="1">
                <a:ea typeface="+mn-lt"/>
                <a:cs typeface="+mn-lt"/>
              </a:rPr>
              <a:t>Flexbox</a:t>
            </a:r>
            <a:r>
              <a:rPr lang="es-ES" dirty="0">
                <a:ea typeface="+mn-lt"/>
                <a:cs typeface="+mn-lt"/>
              </a:rPr>
              <a:t> se fundamenta en dos conceptos principales que trabajan en conjunto para maquetar el contenido: el Contenedor Flexible (Flex Container) y los Elementos Flexibles (Flex </a:t>
            </a:r>
            <a:r>
              <a:rPr lang="es-ES" err="1">
                <a:ea typeface="+mn-lt"/>
                <a:cs typeface="+mn-lt"/>
              </a:rPr>
              <a:t>Items</a:t>
            </a:r>
            <a:r>
              <a:rPr lang="es-ES" dirty="0">
                <a:ea typeface="+mn-lt"/>
                <a:cs typeface="+mn-lt"/>
              </a:rPr>
              <a:t>). Comprender la función y las propiedades de cada uno es esencial para dominar </a:t>
            </a:r>
            <a:r>
              <a:rPr lang="es-ES" err="1">
                <a:ea typeface="+mn-lt"/>
                <a:cs typeface="+mn-lt"/>
              </a:rPr>
              <a:t>Flexbox</a:t>
            </a:r>
            <a:r>
              <a:rPr lang="es-ES" dirty="0">
                <a:ea typeface="+mn-lt"/>
                <a:cs typeface="+mn-lt"/>
              </a:rPr>
              <a:t>.</a:t>
            </a:r>
            <a:endParaRPr lang="es-ES" dirty="0"/>
          </a:p>
          <a:p>
            <a:r>
              <a:rPr lang="es-ES" dirty="0">
                <a:ea typeface="+mn-lt"/>
                <a:cs typeface="+mn-lt"/>
              </a:rPr>
              <a:t>El Contenedor Flexible es el elemento padre que contiene a todos los elementos que quieres maquetar con </a:t>
            </a:r>
            <a:r>
              <a:rPr lang="es-ES" err="1">
                <a:ea typeface="+mn-lt"/>
                <a:cs typeface="+mn-lt"/>
              </a:rPr>
              <a:t>Flexbox</a:t>
            </a:r>
            <a:r>
              <a:rPr lang="es-ES" dirty="0">
                <a:ea typeface="+mn-lt"/>
                <a:cs typeface="+mn-lt"/>
              </a:rPr>
              <a:t>. Para convertir cualquier elemento en un contenedor flexible, simplemente aplicas la propiedad CSS </a:t>
            </a:r>
            <a:r>
              <a:rPr lang="es-ES" err="1">
                <a:ea typeface="+mn-lt"/>
                <a:cs typeface="+mn-lt"/>
              </a:rPr>
              <a:t>display</a:t>
            </a:r>
            <a:r>
              <a:rPr lang="es-ES" dirty="0">
                <a:ea typeface="+mn-lt"/>
                <a:cs typeface="+mn-lt"/>
              </a:rPr>
              <a:t>: </a:t>
            </a:r>
            <a:r>
              <a:rPr lang="es-ES" err="1">
                <a:ea typeface="+mn-lt"/>
                <a:cs typeface="+mn-lt"/>
              </a:rPr>
              <a:t>flex</a:t>
            </a:r>
            <a:r>
              <a:rPr lang="es-ES" dirty="0">
                <a:ea typeface="+mn-lt"/>
                <a:cs typeface="+mn-lt"/>
              </a:rPr>
              <a:t>;. Una vez hecho esto, todos sus hijos directos se convierten automáticamente en elementos flexibles.</a:t>
            </a:r>
            <a:endParaRPr lang="es-ES" dirty="0"/>
          </a:p>
          <a:p>
            <a:r>
              <a:rPr lang="es-ES" dirty="0">
                <a:ea typeface="+mn-lt"/>
                <a:cs typeface="+mn-lt"/>
              </a:rPr>
              <a:t>Las propiedades que se aplican al Contenedor Flexible controlan la alineación y la distribución de sus elementos hijos. Estas propiedades no afectan a los elementos hijos directamente, sino que organizan el espacio en el que se encuentran.</a:t>
            </a:r>
          </a:p>
          <a:p>
            <a:r>
              <a:rPr lang="es-ES" dirty="0">
                <a:ea typeface="+mn-lt"/>
                <a:cs typeface="+mn-lt"/>
              </a:rPr>
              <a:t>Los Elementos Flexibles son los hijos directos del Contenedor Flexible. Por defecto, estos elementos: </a:t>
            </a:r>
            <a:endParaRPr lang="es-ES" dirty="0"/>
          </a:p>
          <a:p>
            <a:pPr lvl="1">
              <a:buFont typeface="Courier New" panose="020B0604020202020204" pitchFamily="34" charset="0"/>
              <a:buChar char="o"/>
            </a:pPr>
            <a:r>
              <a:rPr lang="es-ES" dirty="0">
                <a:ea typeface="+mn-lt"/>
                <a:cs typeface="+mn-lt"/>
              </a:rPr>
              <a:t>Se disponen en una fila. </a:t>
            </a:r>
            <a:endParaRPr lang="es-ES" dirty="0"/>
          </a:p>
          <a:p>
            <a:pPr lvl="1">
              <a:buFont typeface="Courier New" panose="020B0604020202020204" pitchFamily="34" charset="0"/>
              <a:buChar char="o"/>
            </a:pPr>
            <a:r>
              <a:rPr lang="es-ES" dirty="0">
                <a:ea typeface="+mn-lt"/>
                <a:cs typeface="+mn-lt"/>
              </a:rPr>
              <a:t>Se estiran para ocupar la altura completa del contenedor. </a:t>
            </a:r>
            <a:endParaRPr lang="es-ES" dirty="0"/>
          </a:p>
          <a:p>
            <a:pPr lvl="1">
              <a:buFont typeface="Courier New" panose="020B0604020202020204" pitchFamily="34" charset="0"/>
              <a:buChar char="o"/>
            </a:pPr>
            <a:r>
              <a:rPr lang="es-ES" dirty="0">
                <a:ea typeface="+mn-lt"/>
                <a:cs typeface="+mn-lt"/>
              </a:rPr>
              <a:t>No se desbordan de su contenedor, sino que se ajustan al espacio disponible.</a:t>
            </a:r>
            <a:endParaRPr lang="es-ES" dirty="0"/>
          </a:p>
        </p:txBody>
      </p:sp>
    </p:spTree>
    <p:extLst>
      <p:ext uri="{BB962C8B-B14F-4D97-AF65-F5344CB8AC3E}">
        <p14:creationId xmlns:p14="http://schemas.microsoft.com/office/powerpoint/2010/main" val="424957516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72CFA7-C547-84E8-6FED-C0130E21A90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71459BE-E9D6-B7C9-F3DF-586DFBBA776F}"/>
              </a:ext>
            </a:extLst>
          </p:cNvPr>
          <p:cNvSpPr>
            <a:spLocks noGrp="1"/>
          </p:cNvSpPr>
          <p:nvPr>
            <p:ph type="title"/>
          </p:nvPr>
        </p:nvSpPr>
        <p:spPr/>
        <p:txBody>
          <a:bodyPr/>
          <a:lstStyle/>
          <a:p>
            <a:r>
              <a:rPr lang="es-ES" b="0" dirty="0">
                <a:ea typeface="+mj-lt"/>
                <a:cs typeface="+mj-lt"/>
              </a:rPr>
              <a:t>2.3.2.1. Conceptos de contenedor y elementos flexibles.</a:t>
            </a:r>
            <a:endParaRPr lang="es-ES" dirty="0"/>
          </a:p>
        </p:txBody>
      </p:sp>
      <p:sp>
        <p:nvSpPr>
          <p:cNvPr id="3" name="Marcador de contenido 2">
            <a:extLst>
              <a:ext uri="{FF2B5EF4-FFF2-40B4-BE49-F238E27FC236}">
                <a16:creationId xmlns:a16="http://schemas.microsoft.com/office/drawing/2014/main" id="{A1A9259B-03A5-3AB8-C6A3-3DF82479D3C6}"/>
              </a:ext>
            </a:extLst>
          </p:cNvPr>
          <p:cNvSpPr>
            <a:spLocks noGrp="1"/>
          </p:cNvSpPr>
          <p:nvPr>
            <p:ph idx="1"/>
          </p:nvPr>
        </p:nvSpPr>
        <p:spPr/>
        <p:txBody>
          <a:bodyPr vert="horz" lIns="91440" tIns="45720" rIns="91440" bIns="45720" rtlCol="0" anchor="t">
            <a:normAutofit fontScale="85000" lnSpcReduction="10000"/>
          </a:bodyPr>
          <a:lstStyle/>
          <a:p>
            <a:r>
              <a:rPr lang="es-ES" dirty="0">
                <a:ea typeface="+mn-lt"/>
                <a:cs typeface="+mn-lt"/>
              </a:rPr>
              <a:t>Las propiedades que se aplican a los Elementos Flexibles controlan su comportamiento individual dentro del contenedor, como su orden, su capacidad para crecer o encogerse, y su alineación particular.</a:t>
            </a:r>
            <a:endParaRPr lang="es-ES" dirty="0"/>
          </a:p>
          <a:p>
            <a:r>
              <a:rPr lang="es-ES" dirty="0">
                <a:ea typeface="+mn-lt"/>
                <a:cs typeface="+mn-lt"/>
              </a:rPr>
              <a:t>Ejemplo: Relación entre contenedor y elementos. Considera la siguiente estructura HTML. Las propiedades que uses en .</a:t>
            </a:r>
            <a:r>
              <a:rPr lang="es-ES" dirty="0" err="1">
                <a:ea typeface="+mn-lt"/>
                <a:cs typeface="+mn-lt"/>
              </a:rPr>
              <a:t>flex</a:t>
            </a:r>
            <a:r>
              <a:rPr lang="es-ES" dirty="0">
                <a:ea typeface="+mn-lt"/>
                <a:cs typeface="+mn-lt"/>
              </a:rPr>
              <a:t>-container (como </a:t>
            </a:r>
            <a:r>
              <a:rPr lang="es-ES" dirty="0" err="1">
                <a:ea typeface="+mn-lt"/>
                <a:cs typeface="+mn-lt"/>
              </a:rPr>
              <a:t>justify-content</a:t>
            </a:r>
            <a:r>
              <a:rPr lang="es-ES" dirty="0">
                <a:ea typeface="+mn-lt"/>
                <a:cs typeface="+mn-lt"/>
              </a:rPr>
              <a:t> o </a:t>
            </a:r>
            <a:r>
              <a:rPr lang="es-ES" dirty="0" err="1">
                <a:ea typeface="+mn-lt"/>
                <a:cs typeface="+mn-lt"/>
              </a:rPr>
              <a:t>align-items</a:t>
            </a:r>
            <a:r>
              <a:rPr lang="es-ES" dirty="0">
                <a:ea typeface="+mn-lt"/>
                <a:cs typeface="+mn-lt"/>
              </a:rPr>
              <a:t>) afectarán a la disposición de los tres ítems como un grupo. En cambio, si usas una propiedad en .</a:t>
            </a:r>
            <a:r>
              <a:rPr lang="es-ES" dirty="0" err="1">
                <a:ea typeface="+mn-lt"/>
                <a:cs typeface="+mn-lt"/>
              </a:rPr>
              <a:t>flex-item</a:t>
            </a:r>
            <a:r>
              <a:rPr lang="es-ES" dirty="0">
                <a:ea typeface="+mn-lt"/>
                <a:cs typeface="+mn-lt"/>
              </a:rPr>
              <a:t> (como </a:t>
            </a:r>
            <a:r>
              <a:rPr lang="es-ES" dirty="0" err="1">
                <a:ea typeface="+mn-lt"/>
                <a:cs typeface="+mn-lt"/>
              </a:rPr>
              <a:t>order</a:t>
            </a:r>
            <a:r>
              <a:rPr lang="es-ES" dirty="0">
                <a:ea typeface="+mn-lt"/>
                <a:cs typeface="+mn-lt"/>
              </a:rPr>
              <a:t> o </a:t>
            </a:r>
            <a:r>
              <a:rPr lang="es-ES" dirty="0" err="1">
                <a:ea typeface="+mn-lt"/>
                <a:cs typeface="+mn-lt"/>
              </a:rPr>
              <a:t>flex-grow</a:t>
            </a:r>
            <a:r>
              <a:rPr lang="es-ES" dirty="0">
                <a:ea typeface="+mn-lt"/>
                <a:cs typeface="+mn-lt"/>
              </a:rPr>
              <a:t>), solo afectará a ese elemento específico. </a:t>
            </a:r>
            <a:endParaRPr lang="es-ES" dirty="0"/>
          </a:p>
          <a:p>
            <a:r>
              <a:rPr lang="es-ES" b="1" dirty="0">
                <a:latin typeface="Courier New"/>
                <a:ea typeface="+mn-lt"/>
                <a:cs typeface="+mn-lt"/>
              </a:rPr>
              <a:t>&lt;</a:t>
            </a:r>
            <a:r>
              <a:rPr lang="es-ES" b="1" dirty="0" err="1">
                <a:latin typeface="Courier New"/>
                <a:ea typeface="+mn-lt"/>
                <a:cs typeface="+mn-lt"/>
              </a:rPr>
              <a:t>div</a:t>
            </a:r>
            <a:r>
              <a:rPr lang="es-ES" b="1" dirty="0">
                <a:latin typeface="Courier New"/>
                <a:ea typeface="+mn-lt"/>
                <a:cs typeface="+mn-lt"/>
              </a:rPr>
              <a:t> </a:t>
            </a:r>
            <a:r>
              <a:rPr lang="es-ES" b="1" dirty="0" err="1">
                <a:latin typeface="Courier New"/>
                <a:ea typeface="+mn-lt"/>
                <a:cs typeface="+mn-lt"/>
              </a:rPr>
              <a:t>class</a:t>
            </a:r>
            <a:r>
              <a:rPr lang="es-ES" b="1" dirty="0">
                <a:latin typeface="Courier New"/>
                <a:ea typeface="+mn-lt"/>
                <a:cs typeface="+mn-lt"/>
              </a:rPr>
              <a:t>="</a:t>
            </a:r>
            <a:r>
              <a:rPr lang="es-ES" b="1" dirty="0" err="1">
                <a:latin typeface="Courier New"/>
                <a:ea typeface="+mn-lt"/>
                <a:cs typeface="+mn-lt"/>
              </a:rPr>
              <a:t>flex</a:t>
            </a:r>
            <a:r>
              <a:rPr lang="es-ES" b="1" dirty="0">
                <a:latin typeface="Courier New"/>
                <a:ea typeface="+mn-lt"/>
                <a:cs typeface="+mn-lt"/>
              </a:rPr>
              <a:t>-container"&gt;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div</a:t>
            </a:r>
            <a:r>
              <a:rPr lang="es-ES" b="1" dirty="0">
                <a:latin typeface="Courier New"/>
                <a:ea typeface="+mn-lt"/>
                <a:cs typeface="+mn-lt"/>
              </a:rPr>
              <a:t> </a:t>
            </a:r>
            <a:r>
              <a:rPr lang="es-ES" b="1" dirty="0" err="1">
                <a:latin typeface="Courier New"/>
                <a:ea typeface="+mn-lt"/>
                <a:cs typeface="+mn-lt"/>
              </a:rPr>
              <a:t>class</a:t>
            </a:r>
            <a:r>
              <a:rPr lang="es-ES" b="1" dirty="0">
                <a:latin typeface="Courier New"/>
                <a:ea typeface="+mn-lt"/>
                <a:cs typeface="+mn-lt"/>
              </a:rPr>
              <a:t>="</a:t>
            </a:r>
            <a:r>
              <a:rPr lang="es-ES" b="1" dirty="0" err="1">
                <a:latin typeface="Courier New"/>
                <a:ea typeface="+mn-lt"/>
                <a:cs typeface="+mn-lt"/>
              </a:rPr>
              <a:t>flex-item</a:t>
            </a:r>
            <a:r>
              <a:rPr lang="es-ES" b="1" dirty="0">
                <a:latin typeface="Courier New"/>
                <a:ea typeface="+mn-lt"/>
                <a:cs typeface="+mn-lt"/>
              </a:rPr>
              <a:t>"&gt;</a:t>
            </a:r>
            <a:r>
              <a:rPr lang="es-ES" b="1" dirty="0" err="1">
                <a:latin typeface="Courier New"/>
                <a:ea typeface="+mn-lt"/>
                <a:cs typeface="+mn-lt"/>
              </a:rPr>
              <a:t>Item</a:t>
            </a:r>
            <a:r>
              <a:rPr lang="es-ES" b="1" dirty="0">
                <a:latin typeface="Courier New"/>
                <a:ea typeface="+mn-lt"/>
                <a:cs typeface="+mn-lt"/>
              </a:rPr>
              <a:t> 1&lt;/</a:t>
            </a:r>
            <a:r>
              <a:rPr lang="es-ES" b="1" dirty="0" err="1">
                <a:latin typeface="Courier New"/>
                <a:ea typeface="+mn-lt"/>
                <a:cs typeface="+mn-lt"/>
              </a:rPr>
              <a:t>div</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div</a:t>
            </a:r>
            <a:r>
              <a:rPr lang="es-ES" b="1" dirty="0">
                <a:latin typeface="Courier New"/>
                <a:ea typeface="+mn-lt"/>
                <a:cs typeface="+mn-lt"/>
              </a:rPr>
              <a:t> </a:t>
            </a:r>
            <a:r>
              <a:rPr lang="es-ES" b="1" dirty="0" err="1">
                <a:latin typeface="Courier New"/>
                <a:ea typeface="+mn-lt"/>
                <a:cs typeface="+mn-lt"/>
              </a:rPr>
              <a:t>class</a:t>
            </a:r>
            <a:r>
              <a:rPr lang="es-ES" b="1" dirty="0">
                <a:latin typeface="Courier New"/>
                <a:ea typeface="+mn-lt"/>
                <a:cs typeface="+mn-lt"/>
              </a:rPr>
              <a:t>="</a:t>
            </a:r>
            <a:r>
              <a:rPr lang="es-ES" b="1" dirty="0" err="1">
                <a:latin typeface="Courier New"/>
                <a:ea typeface="+mn-lt"/>
                <a:cs typeface="+mn-lt"/>
              </a:rPr>
              <a:t>flex-item</a:t>
            </a:r>
            <a:r>
              <a:rPr lang="es-ES" b="1" dirty="0">
                <a:latin typeface="Courier New"/>
                <a:ea typeface="+mn-lt"/>
                <a:cs typeface="+mn-lt"/>
              </a:rPr>
              <a:t>"&gt;</a:t>
            </a:r>
            <a:r>
              <a:rPr lang="es-ES" b="1" dirty="0" err="1">
                <a:latin typeface="Courier New"/>
                <a:ea typeface="+mn-lt"/>
                <a:cs typeface="+mn-lt"/>
              </a:rPr>
              <a:t>Item</a:t>
            </a:r>
            <a:r>
              <a:rPr lang="es-ES" b="1" dirty="0">
                <a:latin typeface="Courier New"/>
                <a:ea typeface="+mn-lt"/>
                <a:cs typeface="+mn-lt"/>
              </a:rPr>
              <a:t> 2&lt;/</a:t>
            </a:r>
            <a:r>
              <a:rPr lang="es-ES" b="1" dirty="0" err="1">
                <a:latin typeface="Courier New"/>
                <a:ea typeface="+mn-lt"/>
                <a:cs typeface="+mn-lt"/>
              </a:rPr>
              <a:t>div</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div</a:t>
            </a:r>
            <a:r>
              <a:rPr lang="es-ES" b="1" dirty="0">
                <a:latin typeface="Courier New"/>
                <a:ea typeface="+mn-lt"/>
                <a:cs typeface="+mn-lt"/>
              </a:rPr>
              <a:t> </a:t>
            </a:r>
            <a:r>
              <a:rPr lang="es-ES" b="1" dirty="0" err="1">
                <a:latin typeface="Courier New"/>
                <a:ea typeface="+mn-lt"/>
                <a:cs typeface="+mn-lt"/>
              </a:rPr>
              <a:t>class</a:t>
            </a:r>
            <a:r>
              <a:rPr lang="es-ES" b="1" dirty="0">
                <a:latin typeface="Courier New"/>
                <a:ea typeface="+mn-lt"/>
                <a:cs typeface="+mn-lt"/>
              </a:rPr>
              <a:t>="</a:t>
            </a:r>
            <a:r>
              <a:rPr lang="es-ES" b="1" dirty="0" err="1">
                <a:latin typeface="Courier New"/>
                <a:ea typeface="+mn-lt"/>
                <a:cs typeface="+mn-lt"/>
              </a:rPr>
              <a:t>flex-item</a:t>
            </a:r>
            <a:r>
              <a:rPr lang="es-ES" b="1" dirty="0">
                <a:latin typeface="Courier New"/>
                <a:ea typeface="+mn-lt"/>
                <a:cs typeface="+mn-lt"/>
              </a:rPr>
              <a:t>"&gt;</a:t>
            </a:r>
            <a:r>
              <a:rPr lang="es-ES" b="1" dirty="0" err="1">
                <a:latin typeface="Courier New"/>
                <a:ea typeface="+mn-lt"/>
                <a:cs typeface="+mn-lt"/>
              </a:rPr>
              <a:t>Item</a:t>
            </a:r>
            <a:r>
              <a:rPr lang="es-ES" b="1" dirty="0">
                <a:latin typeface="Courier New"/>
                <a:ea typeface="+mn-lt"/>
                <a:cs typeface="+mn-lt"/>
              </a:rPr>
              <a:t> 3&lt;/</a:t>
            </a:r>
            <a:r>
              <a:rPr lang="es-ES" b="1" dirty="0" err="1">
                <a:latin typeface="Courier New"/>
                <a:ea typeface="+mn-lt"/>
                <a:cs typeface="+mn-lt"/>
              </a:rPr>
              <a:t>div</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&lt;/</a:t>
            </a:r>
            <a:r>
              <a:rPr lang="es-ES" b="1" dirty="0" err="1">
                <a:latin typeface="Courier New"/>
                <a:ea typeface="+mn-lt"/>
                <a:cs typeface="+mn-lt"/>
              </a:rPr>
              <a:t>div</a:t>
            </a:r>
            <a:r>
              <a:rPr lang="es-ES" b="1" dirty="0">
                <a:latin typeface="Courier New"/>
                <a:ea typeface="+mn-lt"/>
                <a:cs typeface="+mn-lt"/>
              </a:rPr>
              <a:t>&gt;</a:t>
            </a:r>
            <a:endParaRPr lang="es-ES" b="1" dirty="0">
              <a:latin typeface="Courier New"/>
            </a:endParaRPr>
          </a:p>
          <a:p>
            <a:r>
              <a:rPr lang="es-ES" dirty="0">
                <a:ea typeface="+mn-lt"/>
                <a:cs typeface="+mn-lt"/>
              </a:rPr>
              <a:t>En este caso:</a:t>
            </a:r>
            <a:endParaRPr lang="es-ES" dirty="0"/>
          </a:p>
          <a:p>
            <a:pPr lvl="1">
              <a:buFont typeface="Courier New" panose="020B0604020202020204" pitchFamily="34" charset="0"/>
              <a:buChar char="o"/>
            </a:pPr>
            <a:r>
              <a:rPr lang="es-ES" dirty="0">
                <a:ea typeface="+mn-lt"/>
                <a:cs typeface="+mn-lt"/>
              </a:rPr>
              <a:t>El </a:t>
            </a:r>
            <a:r>
              <a:rPr lang="es-ES" dirty="0" err="1">
                <a:ea typeface="+mn-lt"/>
                <a:cs typeface="+mn-lt"/>
              </a:rPr>
              <a:t>div</a:t>
            </a:r>
            <a:r>
              <a:rPr lang="es-ES" dirty="0">
                <a:ea typeface="+mn-lt"/>
                <a:cs typeface="+mn-lt"/>
              </a:rPr>
              <a:t> con la clase .</a:t>
            </a:r>
            <a:r>
              <a:rPr lang="es-ES" dirty="0" err="1">
                <a:ea typeface="+mn-lt"/>
                <a:cs typeface="+mn-lt"/>
              </a:rPr>
              <a:t>flex</a:t>
            </a:r>
            <a:r>
              <a:rPr lang="es-ES" dirty="0">
                <a:ea typeface="+mn-lt"/>
                <a:cs typeface="+mn-lt"/>
              </a:rPr>
              <a:t>-container es el Contenedor Flexible.</a:t>
            </a:r>
            <a:endParaRPr lang="es-ES" dirty="0"/>
          </a:p>
          <a:p>
            <a:pPr lvl="1">
              <a:buFont typeface="Courier New" panose="020B0604020202020204" pitchFamily="34" charset="0"/>
              <a:buChar char="o"/>
            </a:pPr>
            <a:r>
              <a:rPr lang="es-ES" dirty="0">
                <a:ea typeface="+mn-lt"/>
                <a:cs typeface="+mn-lt"/>
              </a:rPr>
              <a:t>Los tres </a:t>
            </a:r>
            <a:r>
              <a:rPr lang="es-ES" dirty="0" err="1">
                <a:ea typeface="+mn-lt"/>
                <a:cs typeface="+mn-lt"/>
              </a:rPr>
              <a:t>div</a:t>
            </a:r>
            <a:r>
              <a:rPr lang="es-ES" dirty="0">
                <a:ea typeface="+mn-lt"/>
                <a:cs typeface="+mn-lt"/>
              </a:rPr>
              <a:t> con la clase .</a:t>
            </a:r>
            <a:r>
              <a:rPr lang="es-ES" dirty="0" err="1">
                <a:ea typeface="+mn-lt"/>
                <a:cs typeface="+mn-lt"/>
              </a:rPr>
              <a:t>flex-item</a:t>
            </a:r>
            <a:r>
              <a:rPr lang="es-ES" dirty="0">
                <a:ea typeface="+mn-lt"/>
                <a:cs typeface="+mn-lt"/>
              </a:rPr>
              <a:t> son los Elementos Flexibles.</a:t>
            </a:r>
          </a:p>
          <a:p>
            <a:endParaRPr lang="es-ES" dirty="0"/>
          </a:p>
        </p:txBody>
      </p:sp>
    </p:spTree>
    <p:extLst>
      <p:ext uri="{BB962C8B-B14F-4D97-AF65-F5344CB8AC3E}">
        <p14:creationId xmlns:p14="http://schemas.microsoft.com/office/powerpoint/2010/main" val="147117583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4EE3F2-0252-D4B9-6A57-B239A122A0C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ADA1DBE-1D83-AA39-C14D-735B7E8D45DB}"/>
              </a:ext>
            </a:extLst>
          </p:cNvPr>
          <p:cNvSpPr>
            <a:spLocks noGrp="1"/>
          </p:cNvSpPr>
          <p:nvPr>
            <p:ph type="title"/>
          </p:nvPr>
        </p:nvSpPr>
        <p:spPr/>
        <p:txBody>
          <a:bodyPr/>
          <a:lstStyle/>
          <a:p>
            <a:r>
              <a:rPr lang="es-ES" b="0" dirty="0">
                <a:ea typeface="+mj-lt"/>
                <a:cs typeface="+mj-lt"/>
              </a:rPr>
              <a:t>2.3.2.2. Propiedades del contenedor (</a:t>
            </a:r>
            <a:r>
              <a:rPr lang="es-ES" b="0" dirty="0" err="1">
                <a:ea typeface="+mj-lt"/>
                <a:cs typeface="+mj-lt"/>
              </a:rPr>
              <a:t>flex-direction</a:t>
            </a:r>
            <a:r>
              <a:rPr lang="es-ES" b="0" dirty="0">
                <a:ea typeface="+mj-lt"/>
                <a:cs typeface="+mj-lt"/>
              </a:rPr>
              <a:t>, </a:t>
            </a:r>
            <a:r>
              <a:rPr lang="es-ES" b="0" dirty="0" err="1">
                <a:ea typeface="+mj-lt"/>
                <a:cs typeface="+mj-lt"/>
              </a:rPr>
              <a:t>justify-content</a:t>
            </a:r>
            <a:r>
              <a:rPr lang="es-ES" b="0" dirty="0">
                <a:ea typeface="+mj-lt"/>
                <a:cs typeface="+mj-lt"/>
              </a:rPr>
              <a:t>, </a:t>
            </a:r>
            <a:r>
              <a:rPr lang="es-ES" b="0" dirty="0" err="1">
                <a:ea typeface="+mj-lt"/>
                <a:cs typeface="+mj-lt"/>
              </a:rPr>
              <a:t>align-items</a:t>
            </a:r>
            <a:r>
              <a:rPr lang="es-ES" b="0" dirty="0">
                <a:ea typeface="+mj-lt"/>
                <a:cs typeface="+mj-lt"/>
              </a:rPr>
              <a:t>).</a:t>
            </a:r>
            <a:endParaRPr lang="es-ES" dirty="0"/>
          </a:p>
        </p:txBody>
      </p:sp>
      <p:sp>
        <p:nvSpPr>
          <p:cNvPr id="3" name="Marcador de contenido 2">
            <a:extLst>
              <a:ext uri="{FF2B5EF4-FFF2-40B4-BE49-F238E27FC236}">
                <a16:creationId xmlns:a16="http://schemas.microsoft.com/office/drawing/2014/main" id="{79D66D7E-4F80-AA0B-F286-05EB2F239164}"/>
              </a:ext>
            </a:extLst>
          </p:cNvPr>
          <p:cNvSpPr>
            <a:spLocks noGrp="1"/>
          </p:cNvSpPr>
          <p:nvPr>
            <p:ph idx="1"/>
          </p:nvPr>
        </p:nvSpPr>
        <p:spPr/>
        <p:txBody>
          <a:bodyPr vert="horz" lIns="91440" tIns="45720" rIns="91440" bIns="45720" rtlCol="0" anchor="t">
            <a:normAutofit/>
          </a:bodyPr>
          <a:lstStyle/>
          <a:p>
            <a:r>
              <a:rPr lang="es-ES" dirty="0">
                <a:ea typeface="+mn-lt"/>
                <a:cs typeface="+mn-lt"/>
              </a:rPr>
              <a:t>Las propiedades de </a:t>
            </a:r>
            <a:r>
              <a:rPr lang="es-ES" dirty="0" err="1">
                <a:ea typeface="+mn-lt"/>
                <a:cs typeface="+mn-lt"/>
              </a:rPr>
              <a:t>Flexbox</a:t>
            </a:r>
            <a:r>
              <a:rPr lang="es-ES" dirty="0">
                <a:ea typeface="+mn-lt"/>
                <a:cs typeface="+mn-lt"/>
              </a:rPr>
              <a:t> aplicadas al Contenedor Flexible (el elemento padre) son las que controlan la dirección, la alineación y el espaciado de sus elementos hijos. Dominar estas propiedades es esencial para crear la base de tu maquetación.</a:t>
            </a:r>
            <a:endParaRPr lang="es-ES" dirty="0"/>
          </a:p>
          <a:p>
            <a:r>
              <a:rPr lang="es-ES" b="1" dirty="0" err="1">
                <a:latin typeface="Courier New"/>
                <a:ea typeface="+mn-lt"/>
                <a:cs typeface="+mn-lt"/>
              </a:rPr>
              <a:t>display</a:t>
            </a:r>
            <a:r>
              <a:rPr lang="es-ES" dirty="0">
                <a:ea typeface="+mn-lt"/>
                <a:cs typeface="+mn-lt"/>
              </a:rPr>
              <a:t>: Esta es la propiedad más fundamental. Al establecer el valor </a:t>
            </a:r>
            <a:r>
              <a:rPr lang="es-ES" dirty="0" err="1">
                <a:ea typeface="+mn-lt"/>
                <a:cs typeface="+mn-lt"/>
              </a:rPr>
              <a:t>flex</a:t>
            </a:r>
            <a:r>
              <a:rPr lang="es-ES" dirty="0">
                <a:ea typeface="+mn-lt"/>
                <a:cs typeface="+mn-lt"/>
              </a:rPr>
              <a:t> o </a:t>
            </a:r>
            <a:r>
              <a:rPr lang="es-ES" dirty="0" err="1">
                <a:ea typeface="+mn-lt"/>
                <a:cs typeface="+mn-lt"/>
              </a:rPr>
              <a:t>inline-flex</a:t>
            </a:r>
            <a:r>
              <a:rPr lang="es-ES" dirty="0">
                <a:ea typeface="+mn-lt"/>
                <a:cs typeface="+mn-lt"/>
              </a:rPr>
              <a:t> en un elemento, lo conviertes en un contenedor flexible y todos sus hijos directos pasan a ser elementos flexibles.</a:t>
            </a:r>
            <a:endParaRPr lang="es-ES" dirty="0"/>
          </a:p>
          <a:p>
            <a:pPr lvl="1">
              <a:buFont typeface="Courier New" panose="020B0604020202020204" pitchFamily="34" charset="0"/>
              <a:buChar char="o"/>
            </a:pPr>
            <a:r>
              <a:rPr lang="es-ES" b="1" err="1">
                <a:latin typeface="Courier New"/>
                <a:ea typeface="+mn-lt"/>
                <a:cs typeface="+mn-lt"/>
              </a:rPr>
              <a:t>flex</a:t>
            </a:r>
            <a:r>
              <a:rPr lang="es-ES" dirty="0">
                <a:ea typeface="+mn-lt"/>
                <a:cs typeface="+mn-lt"/>
              </a:rPr>
              <a:t>: Convierte el elemento en un contenedor de bloque flexible. Ocupa todo el ancho disponible.</a:t>
            </a:r>
            <a:endParaRPr lang="es-ES" dirty="0"/>
          </a:p>
          <a:p>
            <a:pPr lvl="1">
              <a:buFont typeface="Courier New"/>
              <a:buChar char="o"/>
            </a:pPr>
            <a:r>
              <a:rPr lang="es-ES" b="1" err="1">
                <a:latin typeface="Courier New"/>
                <a:ea typeface="+mn-lt"/>
                <a:cs typeface="+mn-lt"/>
              </a:rPr>
              <a:t>inline-flex</a:t>
            </a:r>
            <a:r>
              <a:rPr lang="es-ES" dirty="0">
                <a:ea typeface="+mn-lt"/>
                <a:cs typeface="+mn-lt"/>
              </a:rPr>
              <a:t>: Convierte el elemento en un contenedor en línea flexible. Ocupa solo el espacio necesario para su contenido.</a:t>
            </a:r>
            <a:endParaRPr lang="es-ES"/>
          </a:p>
          <a:p>
            <a:pPr marL="0" indent="0">
              <a:buNone/>
            </a:pPr>
            <a:r>
              <a:rPr lang="es-ES" b="1" dirty="0">
                <a:latin typeface="Courier New"/>
                <a:ea typeface="+mn-lt"/>
                <a:cs typeface="+mn-lt"/>
              </a:rPr>
              <a:t>.contenedor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display</a:t>
            </a:r>
            <a:r>
              <a:rPr lang="es-ES" b="1" dirty="0">
                <a:latin typeface="Courier New"/>
                <a:ea typeface="+mn-lt"/>
                <a:cs typeface="+mn-lt"/>
              </a:rPr>
              <a:t>: </a:t>
            </a:r>
            <a:r>
              <a:rPr lang="es-ES" b="1" dirty="0" err="1">
                <a:latin typeface="Courier New"/>
                <a:ea typeface="+mn-lt"/>
                <a:cs typeface="+mn-lt"/>
              </a:rPr>
              <a:t>flex</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a:t>
            </a:r>
            <a:endParaRPr lang="es-ES" b="1" dirty="0">
              <a:latin typeface="Courier New"/>
              <a:cs typeface="Courier New"/>
            </a:endParaRPr>
          </a:p>
        </p:txBody>
      </p:sp>
    </p:spTree>
    <p:extLst>
      <p:ext uri="{BB962C8B-B14F-4D97-AF65-F5344CB8AC3E}">
        <p14:creationId xmlns:p14="http://schemas.microsoft.com/office/powerpoint/2010/main" val="32517374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166935-AC7F-CFD7-ECC4-45EA48685CF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B1F75B1-E2C8-F6F6-34EF-5FE67C27AC1D}"/>
              </a:ext>
            </a:extLst>
          </p:cNvPr>
          <p:cNvSpPr>
            <a:spLocks noGrp="1"/>
          </p:cNvSpPr>
          <p:nvPr>
            <p:ph type="title"/>
          </p:nvPr>
        </p:nvSpPr>
        <p:spPr/>
        <p:txBody>
          <a:bodyPr/>
          <a:lstStyle/>
          <a:p>
            <a:r>
              <a:rPr lang="es-ES" b="0" dirty="0">
                <a:ea typeface="+mj-lt"/>
                <a:cs typeface="+mj-lt"/>
              </a:rPr>
              <a:t>2.3.2.2. Propiedades del contenedor (</a:t>
            </a:r>
            <a:r>
              <a:rPr lang="es-ES" b="0" dirty="0" err="1">
                <a:ea typeface="+mj-lt"/>
                <a:cs typeface="+mj-lt"/>
              </a:rPr>
              <a:t>flex-direction</a:t>
            </a:r>
            <a:r>
              <a:rPr lang="es-ES" b="0" dirty="0">
                <a:ea typeface="+mj-lt"/>
                <a:cs typeface="+mj-lt"/>
              </a:rPr>
              <a:t>, </a:t>
            </a:r>
            <a:r>
              <a:rPr lang="es-ES" b="0" dirty="0" err="1">
                <a:ea typeface="+mj-lt"/>
                <a:cs typeface="+mj-lt"/>
              </a:rPr>
              <a:t>justify-content</a:t>
            </a:r>
            <a:r>
              <a:rPr lang="es-ES" b="0" dirty="0">
                <a:ea typeface="+mj-lt"/>
                <a:cs typeface="+mj-lt"/>
              </a:rPr>
              <a:t>, </a:t>
            </a:r>
            <a:r>
              <a:rPr lang="es-ES" b="0" dirty="0" err="1">
                <a:ea typeface="+mj-lt"/>
                <a:cs typeface="+mj-lt"/>
              </a:rPr>
              <a:t>align-items</a:t>
            </a:r>
            <a:r>
              <a:rPr lang="es-ES" b="0" dirty="0">
                <a:ea typeface="+mj-lt"/>
                <a:cs typeface="+mj-lt"/>
              </a:rPr>
              <a:t>).</a:t>
            </a:r>
            <a:endParaRPr lang="es-ES" dirty="0"/>
          </a:p>
        </p:txBody>
      </p:sp>
      <p:sp>
        <p:nvSpPr>
          <p:cNvPr id="3" name="Marcador de contenido 2">
            <a:extLst>
              <a:ext uri="{FF2B5EF4-FFF2-40B4-BE49-F238E27FC236}">
                <a16:creationId xmlns:a16="http://schemas.microsoft.com/office/drawing/2014/main" id="{512BF1F6-10C6-0765-FE77-FD587C4CDAE3}"/>
              </a:ext>
            </a:extLst>
          </p:cNvPr>
          <p:cNvSpPr>
            <a:spLocks noGrp="1"/>
          </p:cNvSpPr>
          <p:nvPr>
            <p:ph idx="1"/>
          </p:nvPr>
        </p:nvSpPr>
        <p:spPr/>
        <p:txBody>
          <a:bodyPr vert="horz" lIns="91440" tIns="45720" rIns="91440" bIns="45720" rtlCol="0" anchor="t">
            <a:normAutofit fontScale="70000" lnSpcReduction="20000"/>
          </a:bodyPr>
          <a:lstStyle/>
          <a:p>
            <a:r>
              <a:rPr lang="es-ES" b="1" dirty="0" err="1">
                <a:latin typeface="Courier New"/>
                <a:ea typeface="+mn-lt"/>
                <a:cs typeface="+mn-lt"/>
              </a:rPr>
              <a:t>flex-direction</a:t>
            </a:r>
            <a:r>
              <a:rPr lang="es-ES" dirty="0">
                <a:ea typeface="+mn-lt"/>
                <a:cs typeface="+mn-lt"/>
              </a:rPr>
              <a:t>: Define la dirección del eje principal a lo largo del cual se disponen los elementos flexibles.</a:t>
            </a:r>
          </a:p>
          <a:p>
            <a:pPr lvl="1">
              <a:buFont typeface="Courier New" panose="020B0604020202020204" pitchFamily="34" charset="0"/>
              <a:buChar char="o"/>
            </a:pPr>
            <a:r>
              <a:rPr lang="es-ES" b="1" dirty="0" err="1">
                <a:latin typeface="Courier New"/>
                <a:ea typeface="+mn-lt"/>
                <a:cs typeface="+mn-lt"/>
              </a:rPr>
              <a:t>row</a:t>
            </a:r>
            <a:r>
              <a:rPr lang="es-ES" b="1" dirty="0">
                <a:latin typeface="Courier New"/>
                <a:ea typeface="+mn-lt"/>
                <a:cs typeface="+mn-lt"/>
              </a:rPr>
              <a:t> </a:t>
            </a:r>
            <a:r>
              <a:rPr lang="es-ES" dirty="0">
                <a:ea typeface="+mn-lt"/>
                <a:cs typeface="+mn-lt"/>
              </a:rPr>
              <a:t>(por defecto): Los elementos se disponen de izquierda a derecha.</a:t>
            </a:r>
          </a:p>
          <a:p>
            <a:pPr lvl="1">
              <a:buFont typeface="Courier New" panose="020B0604020202020204" pitchFamily="34" charset="0"/>
              <a:buChar char="o"/>
            </a:pPr>
            <a:r>
              <a:rPr lang="es-ES" b="1" dirty="0" err="1">
                <a:latin typeface="Courier New"/>
                <a:ea typeface="+mn-lt"/>
                <a:cs typeface="+mn-lt"/>
              </a:rPr>
              <a:t>row</a:t>
            </a:r>
            <a:r>
              <a:rPr lang="es-ES" b="1" dirty="0">
                <a:latin typeface="Courier New"/>
                <a:ea typeface="+mn-lt"/>
                <a:cs typeface="+mn-lt"/>
              </a:rPr>
              <a:t>-reverse</a:t>
            </a:r>
            <a:r>
              <a:rPr lang="es-ES" dirty="0">
                <a:ea typeface="+mn-lt"/>
                <a:cs typeface="+mn-lt"/>
              </a:rPr>
              <a:t>: Los elementos se disponen de derecha a izquierda.</a:t>
            </a:r>
            <a:endParaRPr lang="es-ES" dirty="0"/>
          </a:p>
          <a:p>
            <a:pPr lvl="1">
              <a:buFont typeface="Courier New" panose="020B0604020202020204" pitchFamily="34" charset="0"/>
              <a:buChar char="o"/>
            </a:pPr>
            <a:r>
              <a:rPr lang="es-ES" b="1" dirty="0" err="1">
                <a:latin typeface="Courier New"/>
                <a:ea typeface="+mn-lt"/>
                <a:cs typeface="+mn-lt"/>
              </a:rPr>
              <a:t>column</a:t>
            </a:r>
            <a:r>
              <a:rPr lang="es-ES" dirty="0">
                <a:ea typeface="+mn-lt"/>
                <a:cs typeface="+mn-lt"/>
              </a:rPr>
              <a:t>: Los elementos se disponen de arriba abajo.</a:t>
            </a:r>
          </a:p>
          <a:p>
            <a:pPr lvl="1">
              <a:buFont typeface="Courier New" panose="020B0604020202020204" pitchFamily="34" charset="0"/>
              <a:buChar char="o"/>
            </a:pPr>
            <a:r>
              <a:rPr lang="es-ES" b="1" dirty="0" err="1">
                <a:latin typeface="Courier New"/>
                <a:ea typeface="+mn-lt"/>
                <a:cs typeface="+mn-lt"/>
              </a:rPr>
              <a:t>column</a:t>
            </a:r>
            <a:r>
              <a:rPr lang="es-ES" b="1" dirty="0">
                <a:latin typeface="Courier New"/>
                <a:ea typeface="+mn-lt"/>
                <a:cs typeface="+mn-lt"/>
              </a:rPr>
              <a:t>-reverse</a:t>
            </a:r>
            <a:r>
              <a:rPr lang="es-ES" dirty="0">
                <a:ea typeface="+mn-lt"/>
                <a:cs typeface="+mn-lt"/>
              </a:rPr>
              <a:t>: Los elementos se disponen de abajo arriba.</a:t>
            </a:r>
          </a:p>
          <a:p>
            <a:pPr marL="0" indent="0">
              <a:buNone/>
            </a:pPr>
            <a:r>
              <a:rPr lang="es-ES" b="1" dirty="0">
                <a:latin typeface="Courier New"/>
                <a:ea typeface="+mn-lt"/>
                <a:cs typeface="+mn-lt"/>
              </a:rPr>
              <a:t>.contenedor {</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flex-direction</a:t>
            </a:r>
            <a:r>
              <a:rPr lang="es-ES" b="1" dirty="0">
                <a:latin typeface="Courier New"/>
                <a:ea typeface="+mn-lt"/>
                <a:cs typeface="+mn-lt"/>
              </a:rPr>
              <a:t>: </a:t>
            </a:r>
            <a:r>
              <a:rPr lang="es-ES" b="1" err="1">
                <a:latin typeface="Courier New"/>
                <a:ea typeface="+mn-lt"/>
                <a:cs typeface="+mn-lt"/>
              </a:rPr>
              <a:t>column</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a:t>
            </a:r>
            <a:endParaRPr lang="es-ES" b="1" dirty="0">
              <a:latin typeface="Courier New"/>
              <a:cs typeface="Courier New"/>
            </a:endParaRPr>
          </a:p>
          <a:p>
            <a:r>
              <a:rPr lang="es-ES" b="1" err="1">
                <a:latin typeface="Courier New"/>
                <a:ea typeface="+mn-lt"/>
                <a:cs typeface="+mn-lt"/>
              </a:rPr>
              <a:t>flex-wrap</a:t>
            </a:r>
            <a:r>
              <a:rPr lang="es-ES" dirty="0">
                <a:ea typeface="+mn-lt"/>
                <a:cs typeface="+mn-lt"/>
              </a:rPr>
              <a:t>: Controla si los elementos flexibles se ajustan a una sola línea o pueden envolverse en múltiples líneas si no caben en el contenedor.</a:t>
            </a:r>
            <a:endParaRPr lang="es-ES" dirty="0"/>
          </a:p>
          <a:p>
            <a:pPr lvl="1">
              <a:buFont typeface="Courier New" panose="020B0604020202020204" pitchFamily="34" charset="0"/>
              <a:buChar char="o"/>
            </a:pPr>
            <a:r>
              <a:rPr lang="es-ES" b="1" err="1">
                <a:latin typeface="Courier New"/>
                <a:ea typeface="+mn-lt"/>
                <a:cs typeface="+mn-lt"/>
              </a:rPr>
              <a:t>nowrap</a:t>
            </a:r>
            <a:r>
              <a:rPr lang="es-ES" b="1" dirty="0">
                <a:latin typeface="Courier New"/>
                <a:ea typeface="+mn-lt"/>
                <a:cs typeface="+mn-lt"/>
              </a:rPr>
              <a:t> </a:t>
            </a:r>
            <a:r>
              <a:rPr lang="es-ES" dirty="0">
                <a:ea typeface="+mn-lt"/>
                <a:cs typeface="+mn-lt"/>
              </a:rPr>
              <a:t>(por defecto): Los elementos se comprimen para caber en una sola línea.</a:t>
            </a:r>
          </a:p>
          <a:p>
            <a:pPr lvl="1">
              <a:buFont typeface="Courier New" panose="020B0604020202020204" pitchFamily="34" charset="0"/>
              <a:buChar char="o"/>
            </a:pPr>
            <a:r>
              <a:rPr lang="es-ES" b="1" err="1">
                <a:latin typeface="Courier New"/>
                <a:ea typeface="+mn-lt"/>
                <a:cs typeface="+mn-lt"/>
              </a:rPr>
              <a:t>wrap</a:t>
            </a:r>
            <a:r>
              <a:rPr lang="es-ES" dirty="0">
                <a:ea typeface="+mn-lt"/>
                <a:cs typeface="+mn-lt"/>
              </a:rPr>
              <a:t>: Los elementos se envuelven en una nueva línea cuando no hay suficiente espacio.</a:t>
            </a:r>
          </a:p>
          <a:p>
            <a:pPr lvl="1">
              <a:buFont typeface="Courier New" panose="020B0604020202020204" pitchFamily="34" charset="0"/>
              <a:buChar char="o"/>
            </a:pPr>
            <a:r>
              <a:rPr lang="es-ES" b="1" err="1">
                <a:latin typeface="Courier New"/>
                <a:ea typeface="+mn-lt"/>
                <a:cs typeface="+mn-lt"/>
              </a:rPr>
              <a:t>wrap</a:t>
            </a:r>
            <a:r>
              <a:rPr lang="es-ES" b="1" dirty="0">
                <a:latin typeface="Courier New"/>
                <a:ea typeface="+mn-lt"/>
                <a:cs typeface="+mn-lt"/>
              </a:rPr>
              <a:t>-reverse</a:t>
            </a:r>
            <a:r>
              <a:rPr lang="es-ES" dirty="0">
                <a:ea typeface="+mn-lt"/>
                <a:cs typeface="+mn-lt"/>
              </a:rPr>
              <a:t>: Los elementos se envuelven en una nueva línea, pero en la dirección opuesta.</a:t>
            </a:r>
            <a:endParaRPr lang="es-ES"/>
          </a:p>
          <a:p>
            <a:pPr marL="0" indent="0">
              <a:buNone/>
            </a:pPr>
            <a:r>
              <a:rPr lang="es-ES" b="1" dirty="0">
                <a:latin typeface="Courier New"/>
                <a:ea typeface="+mn-lt"/>
                <a:cs typeface="+mn-lt"/>
              </a:rPr>
              <a:t>.contenedor {</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flex-wrap</a:t>
            </a:r>
            <a:r>
              <a:rPr lang="es-ES" b="1" dirty="0">
                <a:latin typeface="Courier New"/>
                <a:ea typeface="+mn-lt"/>
                <a:cs typeface="+mn-lt"/>
              </a:rPr>
              <a:t>: </a:t>
            </a:r>
            <a:r>
              <a:rPr lang="es-ES" b="1" err="1">
                <a:latin typeface="Courier New"/>
                <a:ea typeface="+mn-lt"/>
                <a:cs typeface="+mn-lt"/>
              </a:rPr>
              <a:t>wrap</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a:t>
            </a:r>
          </a:p>
        </p:txBody>
      </p:sp>
    </p:spTree>
    <p:extLst>
      <p:ext uri="{BB962C8B-B14F-4D97-AF65-F5344CB8AC3E}">
        <p14:creationId xmlns:p14="http://schemas.microsoft.com/office/powerpoint/2010/main" val="183529362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9BC2AC-FAA6-68B4-5FDD-37EB918F02D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B5D57DD-C30F-D5DD-FA3E-AFC2C9568DC3}"/>
              </a:ext>
            </a:extLst>
          </p:cNvPr>
          <p:cNvSpPr>
            <a:spLocks noGrp="1"/>
          </p:cNvSpPr>
          <p:nvPr>
            <p:ph type="title"/>
          </p:nvPr>
        </p:nvSpPr>
        <p:spPr/>
        <p:txBody>
          <a:bodyPr/>
          <a:lstStyle/>
          <a:p>
            <a:r>
              <a:rPr lang="es-ES" b="0" dirty="0">
                <a:ea typeface="+mj-lt"/>
                <a:cs typeface="+mj-lt"/>
              </a:rPr>
              <a:t>2.3.2.2. Propiedades del contenedor (</a:t>
            </a:r>
            <a:r>
              <a:rPr lang="es-ES" b="0" dirty="0" err="1">
                <a:ea typeface="+mj-lt"/>
                <a:cs typeface="+mj-lt"/>
              </a:rPr>
              <a:t>flex-direction</a:t>
            </a:r>
            <a:r>
              <a:rPr lang="es-ES" b="0" dirty="0">
                <a:ea typeface="+mj-lt"/>
                <a:cs typeface="+mj-lt"/>
              </a:rPr>
              <a:t>, </a:t>
            </a:r>
            <a:r>
              <a:rPr lang="es-ES" b="0" dirty="0" err="1">
                <a:ea typeface="+mj-lt"/>
                <a:cs typeface="+mj-lt"/>
              </a:rPr>
              <a:t>justify-content</a:t>
            </a:r>
            <a:r>
              <a:rPr lang="es-ES" b="0" dirty="0">
                <a:ea typeface="+mj-lt"/>
                <a:cs typeface="+mj-lt"/>
              </a:rPr>
              <a:t>, </a:t>
            </a:r>
            <a:r>
              <a:rPr lang="es-ES" b="0" dirty="0" err="1">
                <a:ea typeface="+mj-lt"/>
                <a:cs typeface="+mj-lt"/>
              </a:rPr>
              <a:t>align-items</a:t>
            </a:r>
            <a:r>
              <a:rPr lang="es-ES" b="0" dirty="0">
                <a:ea typeface="+mj-lt"/>
                <a:cs typeface="+mj-lt"/>
              </a:rPr>
              <a:t>).</a:t>
            </a:r>
            <a:endParaRPr lang="es-ES" dirty="0"/>
          </a:p>
        </p:txBody>
      </p:sp>
      <p:sp>
        <p:nvSpPr>
          <p:cNvPr id="3" name="Marcador de contenido 2">
            <a:extLst>
              <a:ext uri="{FF2B5EF4-FFF2-40B4-BE49-F238E27FC236}">
                <a16:creationId xmlns:a16="http://schemas.microsoft.com/office/drawing/2014/main" id="{9F2F4DF8-B48C-DAB7-442C-09209CE6ADCC}"/>
              </a:ext>
            </a:extLst>
          </p:cNvPr>
          <p:cNvSpPr>
            <a:spLocks noGrp="1"/>
          </p:cNvSpPr>
          <p:nvPr>
            <p:ph idx="1"/>
          </p:nvPr>
        </p:nvSpPr>
        <p:spPr/>
        <p:txBody>
          <a:bodyPr vert="horz" lIns="91440" tIns="45720" rIns="91440" bIns="45720" rtlCol="0" anchor="t">
            <a:normAutofit/>
          </a:bodyPr>
          <a:lstStyle/>
          <a:p>
            <a:r>
              <a:rPr lang="es-ES" b="1" dirty="0" err="1">
                <a:latin typeface="Courier New"/>
                <a:ea typeface="+mn-lt"/>
                <a:cs typeface="+mn-lt"/>
              </a:rPr>
              <a:t>justify-content</a:t>
            </a:r>
            <a:r>
              <a:rPr lang="es-ES" dirty="0">
                <a:ea typeface="+mn-lt"/>
                <a:cs typeface="+mn-lt"/>
              </a:rPr>
              <a:t>: Alinea los elementos a lo largo del eje principal del contenedor.</a:t>
            </a:r>
            <a:endParaRPr lang="es-ES"/>
          </a:p>
          <a:p>
            <a:pPr lvl="1">
              <a:buFont typeface="Courier New" panose="020B0604020202020204" pitchFamily="34" charset="0"/>
              <a:buChar char="o"/>
            </a:pPr>
            <a:r>
              <a:rPr lang="es-ES" b="1" err="1">
                <a:latin typeface="Courier New"/>
                <a:ea typeface="+mn-lt"/>
                <a:cs typeface="+mn-lt"/>
              </a:rPr>
              <a:t>flex-start</a:t>
            </a:r>
            <a:r>
              <a:rPr lang="es-ES" dirty="0">
                <a:ea typeface="+mn-lt"/>
                <a:cs typeface="+mn-lt"/>
              </a:rPr>
              <a:t>: Alinea los elementos al inicio del eje principal.</a:t>
            </a:r>
          </a:p>
          <a:p>
            <a:pPr lvl="1">
              <a:buFont typeface="Courier New" panose="020B0604020202020204" pitchFamily="34" charset="0"/>
              <a:buChar char="o"/>
            </a:pPr>
            <a:r>
              <a:rPr lang="es-ES" b="1" err="1">
                <a:latin typeface="Courier New"/>
                <a:ea typeface="+mn-lt"/>
                <a:cs typeface="+mn-lt"/>
              </a:rPr>
              <a:t>flex-end</a:t>
            </a:r>
            <a:r>
              <a:rPr lang="es-ES" dirty="0">
                <a:ea typeface="+mn-lt"/>
                <a:cs typeface="+mn-lt"/>
              </a:rPr>
              <a:t>: Alinea los elementos al final.</a:t>
            </a:r>
          </a:p>
          <a:p>
            <a:pPr lvl="1">
              <a:buFont typeface="Courier New" panose="020B0604020202020204" pitchFamily="34" charset="0"/>
              <a:buChar char="o"/>
            </a:pPr>
            <a:r>
              <a:rPr lang="es-ES" b="1" dirty="0">
                <a:latin typeface="Courier New"/>
                <a:ea typeface="+mn-lt"/>
                <a:cs typeface="+mn-lt"/>
              </a:rPr>
              <a:t>center</a:t>
            </a:r>
            <a:r>
              <a:rPr lang="es-ES" dirty="0">
                <a:ea typeface="+mn-lt"/>
                <a:cs typeface="+mn-lt"/>
              </a:rPr>
              <a:t>: Centra los elementos.</a:t>
            </a:r>
          </a:p>
          <a:p>
            <a:pPr lvl="1">
              <a:buFont typeface="Courier New" panose="020B0604020202020204" pitchFamily="34" charset="0"/>
              <a:buChar char="o"/>
            </a:pPr>
            <a:r>
              <a:rPr lang="es-ES" b="1" err="1">
                <a:latin typeface="Courier New"/>
                <a:ea typeface="+mn-lt"/>
                <a:cs typeface="+mn-lt"/>
              </a:rPr>
              <a:t>space-between</a:t>
            </a:r>
            <a:r>
              <a:rPr lang="es-ES" dirty="0">
                <a:ea typeface="+mn-lt"/>
                <a:cs typeface="+mn-lt"/>
              </a:rPr>
              <a:t>: Distribuye los elementos equitativamente, con el primer elemento al inicio y el último al final.</a:t>
            </a:r>
            <a:endParaRPr lang="es-ES"/>
          </a:p>
          <a:p>
            <a:pPr lvl="1">
              <a:buFont typeface="Courier New" panose="020B0604020202020204" pitchFamily="34" charset="0"/>
              <a:buChar char="o"/>
            </a:pPr>
            <a:r>
              <a:rPr lang="es-ES" b="1" err="1">
                <a:latin typeface="Courier New"/>
                <a:ea typeface="+mn-lt"/>
                <a:cs typeface="+mn-lt"/>
              </a:rPr>
              <a:t>space-around</a:t>
            </a:r>
            <a:r>
              <a:rPr lang="es-ES" dirty="0">
                <a:ea typeface="+mn-lt"/>
                <a:cs typeface="+mn-lt"/>
              </a:rPr>
              <a:t>: Distribuye los elementos con espacio igual a su alrededor.</a:t>
            </a:r>
          </a:p>
          <a:p>
            <a:pPr lvl="1">
              <a:buFont typeface="Courier New" panose="020B0604020202020204" pitchFamily="34" charset="0"/>
              <a:buChar char="o"/>
            </a:pPr>
            <a:r>
              <a:rPr lang="es-ES" b="1" err="1">
                <a:latin typeface="Courier New"/>
                <a:ea typeface="+mn-lt"/>
                <a:cs typeface="+mn-lt"/>
              </a:rPr>
              <a:t>space-evenly</a:t>
            </a:r>
            <a:r>
              <a:rPr lang="es-ES" dirty="0">
                <a:ea typeface="+mn-lt"/>
                <a:cs typeface="+mn-lt"/>
              </a:rPr>
              <a:t>: Distribuye los elementos con un espacio igual entre ellos y los bordes del contenedor.</a:t>
            </a:r>
          </a:p>
          <a:p>
            <a:r>
              <a:rPr lang="es-ES" b="1" dirty="0">
                <a:latin typeface="Courier New"/>
                <a:ea typeface="+mn-lt"/>
                <a:cs typeface="+mn-lt"/>
              </a:rPr>
              <a:t>.contenedor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justify-content</a:t>
            </a:r>
            <a:r>
              <a:rPr lang="es-ES" b="1" dirty="0">
                <a:latin typeface="Courier New"/>
                <a:ea typeface="+mn-lt"/>
                <a:cs typeface="+mn-lt"/>
              </a:rPr>
              <a:t>: </a:t>
            </a:r>
            <a:r>
              <a:rPr lang="es-ES" b="1" dirty="0" err="1">
                <a:latin typeface="Courier New"/>
                <a:ea typeface="+mn-lt"/>
                <a:cs typeface="+mn-lt"/>
              </a:rPr>
              <a:t>space-between</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a:t>
            </a:r>
            <a:endParaRPr lang="es-ES" b="1">
              <a:latin typeface="Courier New"/>
              <a:ea typeface="+mn-lt"/>
              <a:cs typeface="+mn-lt"/>
            </a:endParaRPr>
          </a:p>
        </p:txBody>
      </p:sp>
    </p:spTree>
    <p:extLst>
      <p:ext uri="{BB962C8B-B14F-4D97-AF65-F5344CB8AC3E}">
        <p14:creationId xmlns:p14="http://schemas.microsoft.com/office/powerpoint/2010/main" val="96569583"/>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C91C52-0B78-4FB0-34ED-88F5D40D461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2327C52-D73A-A047-F7CE-CFC9A005E40A}"/>
              </a:ext>
            </a:extLst>
          </p:cNvPr>
          <p:cNvSpPr>
            <a:spLocks noGrp="1"/>
          </p:cNvSpPr>
          <p:nvPr>
            <p:ph type="title"/>
          </p:nvPr>
        </p:nvSpPr>
        <p:spPr/>
        <p:txBody>
          <a:bodyPr/>
          <a:lstStyle/>
          <a:p>
            <a:r>
              <a:rPr lang="es-ES" b="0" dirty="0">
                <a:ea typeface="+mj-lt"/>
                <a:cs typeface="+mj-lt"/>
              </a:rPr>
              <a:t>2.3.2.2. Propiedades del contenedor (</a:t>
            </a:r>
            <a:r>
              <a:rPr lang="es-ES" b="0" dirty="0" err="1">
                <a:ea typeface="+mj-lt"/>
                <a:cs typeface="+mj-lt"/>
              </a:rPr>
              <a:t>flex-direction</a:t>
            </a:r>
            <a:r>
              <a:rPr lang="es-ES" b="0" dirty="0">
                <a:ea typeface="+mj-lt"/>
                <a:cs typeface="+mj-lt"/>
              </a:rPr>
              <a:t>, </a:t>
            </a:r>
            <a:r>
              <a:rPr lang="es-ES" b="0" dirty="0" err="1">
                <a:ea typeface="+mj-lt"/>
                <a:cs typeface="+mj-lt"/>
              </a:rPr>
              <a:t>justify-content</a:t>
            </a:r>
            <a:r>
              <a:rPr lang="es-ES" b="0" dirty="0">
                <a:ea typeface="+mj-lt"/>
                <a:cs typeface="+mj-lt"/>
              </a:rPr>
              <a:t>, </a:t>
            </a:r>
            <a:r>
              <a:rPr lang="es-ES" b="0" dirty="0" err="1">
                <a:ea typeface="+mj-lt"/>
                <a:cs typeface="+mj-lt"/>
              </a:rPr>
              <a:t>align-items</a:t>
            </a:r>
            <a:r>
              <a:rPr lang="es-ES" b="0" dirty="0">
                <a:ea typeface="+mj-lt"/>
                <a:cs typeface="+mj-lt"/>
              </a:rPr>
              <a:t>).</a:t>
            </a:r>
            <a:endParaRPr lang="es-ES" dirty="0"/>
          </a:p>
        </p:txBody>
      </p:sp>
      <p:sp>
        <p:nvSpPr>
          <p:cNvPr id="3" name="Marcador de contenido 2">
            <a:extLst>
              <a:ext uri="{FF2B5EF4-FFF2-40B4-BE49-F238E27FC236}">
                <a16:creationId xmlns:a16="http://schemas.microsoft.com/office/drawing/2014/main" id="{8B2723F7-636A-B1CC-1DCE-872CCC5623CC}"/>
              </a:ext>
            </a:extLst>
          </p:cNvPr>
          <p:cNvSpPr>
            <a:spLocks noGrp="1"/>
          </p:cNvSpPr>
          <p:nvPr>
            <p:ph idx="1"/>
          </p:nvPr>
        </p:nvSpPr>
        <p:spPr/>
        <p:txBody>
          <a:bodyPr vert="horz" lIns="91440" tIns="45720" rIns="91440" bIns="45720" rtlCol="0" anchor="t">
            <a:normAutofit/>
          </a:bodyPr>
          <a:lstStyle/>
          <a:p>
            <a:r>
              <a:rPr lang="es-ES" b="1" dirty="0" err="1">
                <a:latin typeface="Courier New"/>
                <a:ea typeface="+mn-lt"/>
                <a:cs typeface="Courier New"/>
              </a:rPr>
              <a:t>align-items</a:t>
            </a:r>
            <a:r>
              <a:rPr lang="es-ES" dirty="0">
                <a:ea typeface="+mn-lt"/>
                <a:cs typeface="+mn-lt"/>
              </a:rPr>
              <a:t>: Alinea los elementos a lo largo del eje cruzado del contenedor.</a:t>
            </a:r>
            <a:endParaRPr lang="es-ES"/>
          </a:p>
          <a:p>
            <a:pPr lvl="1">
              <a:buFont typeface="Courier New" panose="020B0604020202020204" pitchFamily="34" charset="0"/>
              <a:buChar char="o"/>
            </a:pPr>
            <a:r>
              <a:rPr lang="es-ES" b="1" err="1">
                <a:latin typeface="Courier New"/>
                <a:ea typeface="+mn-lt"/>
                <a:cs typeface="+mn-lt"/>
              </a:rPr>
              <a:t>flex-start</a:t>
            </a:r>
            <a:r>
              <a:rPr lang="es-ES" dirty="0">
                <a:ea typeface="+mn-lt"/>
                <a:cs typeface="+mn-lt"/>
              </a:rPr>
              <a:t>: Alinea los elementos al inicio del eje cruzado.</a:t>
            </a:r>
            <a:endParaRPr lang="es-ES"/>
          </a:p>
          <a:p>
            <a:pPr lvl="1">
              <a:buFont typeface="Courier New" panose="020B0604020202020204" pitchFamily="34" charset="0"/>
              <a:buChar char="o"/>
            </a:pPr>
            <a:r>
              <a:rPr lang="es-ES" b="1" err="1">
                <a:latin typeface="Courier New"/>
                <a:ea typeface="+mn-lt"/>
                <a:cs typeface="+mn-lt"/>
              </a:rPr>
              <a:t>flex-end</a:t>
            </a:r>
            <a:r>
              <a:rPr lang="es-ES" dirty="0">
                <a:ea typeface="+mn-lt"/>
                <a:cs typeface="+mn-lt"/>
              </a:rPr>
              <a:t>: Alinea los elementos al final.</a:t>
            </a:r>
            <a:endParaRPr lang="es-ES"/>
          </a:p>
          <a:p>
            <a:pPr lvl="1">
              <a:buFont typeface="Courier New" panose="020B0604020202020204" pitchFamily="34" charset="0"/>
              <a:buChar char="o"/>
            </a:pPr>
            <a:r>
              <a:rPr lang="es-ES" b="1" dirty="0">
                <a:latin typeface="Courier New"/>
                <a:ea typeface="+mn-lt"/>
                <a:cs typeface="+mn-lt"/>
              </a:rPr>
              <a:t>center</a:t>
            </a:r>
            <a:r>
              <a:rPr lang="es-ES" dirty="0">
                <a:ea typeface="+mn-lt"/>
                <a:cs typeface="+mn-lt"/>
              </a:rPr>
              <a:t>: Centra los elementos.</a:t>
            </a:r>
            <a:endParaRPr lang="es-ES"/>
          </a:p>
          <a:p>
            <a:pPr lvl="1">
              <a:buFont typeface="Courier New" panose="020B0604020202020204" pitchFamily="34" charset="0"/>
              <a:buChar char="o"/>
            </a:pPr>
            <a:r>
              <a:rPr lang="es-ES" b="1" err="1">
                <a:latin typeface="Courier New"/>
                <a:ea typeface="+mn-lt"/>
                <a:cs typeface="+mn-lt"/>
              </a:rPr>
              <a:t>stretch</a:t>
            </a:r>
            <a:r>
              <a:rPr lang="es-ES" b="1" dirty="0">
                <a:latin typeface="Courier New"/>
                <a:ea typeface="+mn-lt"/>
                <a:cs typeface="+mn-lt"/>
              </a:rPr>
              <a:t> </a:t>
            </a:r>
            <a:r>
              <a:rPr lang="es-ES" dirty="0">
                <a:ea typeface="+mn-lt"/>
                <a:cs typeface="+mn-lt"/>
              </a:rPr>
              <a:t>(por defecto): Estira los elementos para que ocupen todo el espacio disponible.</a:t>
            </a:r>
          </a:p>
          <a:p>
            <a:pPr lvl="1">
              <a:buFont typeface="Courier New" panose="020B0604020202020204" pitchFamily="34" charset="0"/>
              <a:buChar char="o"/>
            </a:pPr>
            <a:r>
              <a:rPr lang="es-ES" b="1" err="1">
                <a:latin typeface="Courier New"/>
                <a:ea typeface="+mn-lt"/>
                <a:cs typeface="+mn-lt"/>
              </a:rPr>
              <a:t>baseline</a:t>
            </a:r>
            <a:r>
              <a:rPr lang="es-ES" dirty="0">
                <a:ea typeface="+mn-lt"/>
                <a:cs typeface="+mn-lt"/>
              </a:rPr>
              <a:t>: Alinea los elementos con su línea de base de texto.</a:t>
            </a:r>
          </a:p>
          <a:p>
            <a:pPr marL="0" indent="0">
              <a:buNone/>
            </a:pPr>
            <a:r>
              <a:rPr lang="es-ES" b="1" dirty="0">
                <a:latin typeface="Courier New"/>
                <a:ea typeface="+mn-lt"/>
                <a:cs typeface="+mn-lt"/>
              </a:rPr>
              <a:t>.contenedor {</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height</a:t>
            </a:r>
            <a:r>
              <a:rPr lang="es-ES" b="1" dirty="0">
                <a:latin typeface="Courier New"/>
                <a:ea typeface="+mn-lt"/>
                <a:cs typeface="+mn-lt"/>
              </a:rPr>
              <a:t>: 200px;</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align-items</a:t>
            </a:r>
            <a:r>
              <a:rPr lang="es-ES" b="1" dirty="0">
                <a:latin typeface="Courier New"/>
                <a:ea typeface="+mn-lt"/>
                <a:cs typeface="+mn-lt"/>
              </a:rPr>
              <a:t>: center;</a:t>
            </a:r>
            <a:br>
              <a:rPr lang="es-ES" b="1" dirty="0">
                <a:latin typeface="Courier New"/>
                <a:ea typeface="+mn-lt"/>
                <a:cs typeface="+mn-lt"/>
              </a:rPr>
            </a:br>
            <a:r>
              <a:rPr lang="es-ES" b="1" dirty="0">
                <a:latin typeface="Courier New"/>
                <a:ea typeface="+mn-lt"/>
                <a:cs typeface="+mn-lt"/>
              </a:rPr>
              <a:t>}</a:t>
            </a:r>
          </a:p>
        </p:txBody>
      </p:sp>
    </p:spTree>
    <p:extLst>
      <p:ext uri="{BB962C8B-B14F-4D97-AF65-F5344CB8AC3E}">
        <p14:creationId xmlns:p14="http://schemas.microsoft.com/office/powerpoint/2010/main" val="268743369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D66E6F-FB29-7763-BD89-D3BF1A473C6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80BA672-F9BD-AA76-9C04-7FA4BB65B890}"/>
              </a:ext>
            </a:extLst>
          </p:cNvPr>
          <p:cNvSpPr>
            <a:spLocks noGrp="1"/>
          </p:cNvSpPr>
          <p:nvPr>
            <p:ph type="title"/>
          </p:nvPr>
        </p:nvSpPr>
        <p:spPr/>
        <p:txBody>
          <a:bodyPr/>
          <a:lstStyle/>
          <a:p>
            <a:r>
              <a:rPr lang="es-ES" b="0" dirty="0">
                <a:ea typeface="+mj-lt"/>
                <a:cs typeface="+mj-lt"/>
              </a:rPr>
              <a:t>2.3.2.2. Propiedades del contenedor (</a:t>
            </a:r>
            <a:r>
              <a:rPr lang="es-ES" b="0" dirty="0" err="1">
                <a:ea typeface="+mj-lt"/>
                <a:cs typeface="+mj-lt"/>
              </a:rPr>
              <a:t>flex-direction</a:t>
            </a:r>
            <a:r>
              <a:rPr lang="es-ES" b="0" dirty="0">
                <a:ea typeface="+mj-lt"/>
                <a:cs typeface="+mj-lt"/>
              </a:rPr>
              <a:t>, </a:t>
            </a:r>
            <a:r>
              <a:rPr lang="es-ES" b="0" dirty="0" err="1">
                <a:ea typeface="+mj-lt"/>
                <a:cs typeface="+mj-lt"/>
              </a:rPr>
              <a:t>justify-content</a:t>
            </a:r>
            <a:r>
              <a:rPr lang="es-ES" b="0" dirty="0">
                <a:ea typeface="+mj-lt"/>
                <a:cs typeface="+mj-lt"/>
              </a:rPr>
              <a:t>, </a:t>
            </a:r>
            <a:r>
              <a:rPr lang="es-ES" b="0" dirty="0" err="1">
                <a:ea typeface="+mj-lt"/>
                <a:cs typeface="+mj-lt"/>
              </a:rPr>
              <a:t>align-items</a:t>
            </a:r>
            <a:r>
              <a:rPr lang="es-ES" b="0" dirty="0">
                <a:ea typeface="+mj-lt"/>
                <a:cs typeface="+mj-lt"/>
              </a:rPr>
              <a:t>).</a:t>
            </a:r>
            <a:endParaRPr lang="es-ES" dirty="0"/>
          </a:p>
        </p:txBody>
      </p:sp>
      <p:sp>
        <p:nvSpPr>
          <p:cNvPr id="3" name="Marcador de contenido 2">
            <a:extLst>
              <a:ext uri="{FF2B5EF4-FFF2-40B4-BE49-F238E27FC236}">
                <a16:creationId xmlns:a16="http://schemas.microsoft.com/office/drawing/2014/main" id="{C654C6F3-00C7-BC91-2E1E-997DCE93DDD9}"/>
              </a:ext>
            </a:extLst>
          </p:cNvPr>
          <p:cNvSpPr>
            <a:spLocks noGrp="1"/>
          </p:cNvSpPr>
          <p:nvPr>
            <p:ph idx="1"/>
          </p:nvPr>
        </p:nvSpPr>
        <p:spPr/>
        <p:txBody>
          <a:bodyPr vert="horz" lIns="91440" tIns="45720" rIns="91440" bIns="45720" rtlCol="0" anchor="t">
            <a:normAutofit/>
          </a:bodyPr>
          <a:lstStyle/>
          <a:p>
            <a:r>
              <a:rPr lang="es-ES" b="1" err="1">
                <a:latin typeface="Courier New"/>
                <a:ea typeface="+mn-lt"/>
                <a:cs typeface="+mn-lt"/>
              </a:rPr>
              <a:t>align-content</a:t>
            </a:r>
            <a:r>
              <a:rPr lang="es-ES" dirty="0">
                <a:ea typeface="+mn-lt"/>
                <a:cs typeface="+mn-lt"/>
              </a:rPr>
              <a:t>: Esta propiedad es similar a </a:t>
            </a:r>
            <a:r>
              <a:rPr lang="es-ES" err="1">
                <a:ea typeface="+mn-lt"/>
                <a:cs typeface="+mn-lt"/>
              </a:rPr>
              <a:t>justify-content</a:t>
            </a:r>
            <a:r>
              <a:rPr lang="es-ES" dirty="0">
                <a:ea typeface="+mn-lt"/>
                <a:cs typeface="+mn-lt"/>
              </a:rPr>
              <a:t>, pero se aplica cuando los elementos se envuelven en múltiples líneas (</a:t>
            </a:r>
            <a:r>
              <a:rPr lang="es-ES" err="1">
                <a:ea typeface="+mn-lt"/>
                <a:cs typeface="+mn-lt"/>
              </a:rPr>
              <a:t>flex-wrap</a:t>
            </a:r>
            <a:r>
              <a:rPr lang="es-ES" dirty="0">
                <a:ea typeface="+mn-lt"/>
                <a:cs typeface="+mn-lt"/>
              </a:rPr>
              <a:t>: </a:t>
            </a:r>
            <a:r>
              <a:rPr lang="es-ES" err="1">
                <a:ea typeface="+mn-lt"/>
                <a:cs typeface="+mn-lt"/>
              </a:rPr>
              <a:t>wrap</a:t>
            </a:r>
            <a:r>
              <a:rPr lang="es-ES" dirty="0">
                <a:ea typeface="+mn-lt"/>
                <a:cs typeface="+mn-lt"/>
              </a:rPr>
              <a:t>;). </a:t>
            </a:r>
            <a:r>
              <a:rPr lang="es-ES" err="1">
                <a:ea typeface="+mn-lt"/>
                <a:cs typeface="+mn-lt"/>
              </a:rPr>
              <a:t>align-content</a:t>
            </a:r>
            <a:r>
              <a:rPr lang="es-ES" dirty="0">
                <a:ea typeface="+mn-lt"/>
                <a:cs typeface="+mn-lt"/>
              </a:rPr>
              <a:t> alinea las líneas enteras de elementos a lo largo del eje cruzado.</a:t>
            </a:r>
            <a:endParaRPr lang="es-ES" dirty="0">
              <a:ea typeface="+mn-lt"/>
              <a:cs typeface="Courier New"/>
            </a:endParaRPr>
          </a:p>
          <a:p>
            <a:pPr lvl="1">
              <a:buFont typeface="Courier New" panose="020B0604020202020204" pitchFamily="34" charset="0"/>
              <a:buChar char="o"/>
            </a:pPr>
            <a:r>
              <a:rPr lang="es-ES" b="1" dirty="0" err="1">
                <a:latin typeface="Courier New"/>
                <a:ea typeface="+mn-lt"/>
                <a:cs typeface="+mn-lt"/>
              </a:rPr>
              <a:t>flex-start</a:t>
            </a:r>
            <a:r>
              <a:rPr lang="es-ES" dirty="0">
                <a:ea typeface="+mn-lt"/>
                <a:cs typeface="+mn-lt"/>
              </a:rPr>
              <a:t>, </a:t>
            </a:r>
            <a:r>
              <a:rPr lang="es-ES" b="1" dirty="0" err="1">
                <a:latin typeface="Courier New"/>
                <a:ea typeface="+mn-lt"/>
                <a:cs typeface="+mn-lt"/>
              </a:rPr>
              <a:t>flex-end</a:t>
            </a:r>
            <a:r>
              <a:rPr lang="es-ES" dirty="0">
                <a:ea typeface="+mn-lt"/>
                <a:cs typeface="+mn-lt"/>
              </a:rPr>
              <a:t>, </a:t>
            </a:r>
            <a:r>
              <a:rPr lang="es-ES" b="1" dirty="0">
                <a:latin typeface="Courier New"/>
                <a:ea typeface="+mn-lt"/>
                <a:cs typeface="+mn-lt"/>
              </a:rPr>
              <a:t>center</a:t>
            </a:r>
            <a:r>
              <a:rPr lang="es-ES" dirty="0">
                <a:ea typeface="+mn-lt"/>
                <a:cs typeface="+mn-lt"/>
              </a:rPr>
              <a:t>, </a:t>
            </a:r>
            <a:r>
              <a:rPr lang="es-ES" b="1" dirty="0" err="1">
                <a:latin typeface="Courier New"/>
                <a:ea typeface="+mn-lt"/>
                <a:cs typeface="+mn-lt"/>
              </a:rPr>
              <a:t>space-between</a:t>
            </a:r>
            <a:r>
              <a:rPr lang="es-ES" dirty="0">
                <a:ea typeface="+mn-lt"/>
                <a:cs typeface="+mn-lt"/>
              </a:rPr>
              <a:t>, </a:t>
            </a:r>
            <a:r>
              <a:rPr lang="es-ES" b="1" dirty="0" err="1">
                <a:latin typeface="Courier New"/>
                <a:ea typeface="+mn-lt"/>
                <a:cs typeface="+mn-lt"/>
              </a:rPr>
              <a:t>space-around</a:t>
            </a:r>
            <a:r>
              <a:rPr lang="es-ES" dirty="0">
                <a:ea typeface="+mn-lt"/>
                <a:cs typeface="+mn-lt"/>
              </a:rPr>
              <a:t>, </a:t>
            </a:r>
            <a:r>
              <a:rPr lang="es-ES" b="1" dirty="0" err="1">
                <a:latin typeface="Courier New"/>
                <a:ea typeface="+mn-lt"/>
                <a:cs typeface="+mn-lt"/>
              </a:rPr>
              <a:t>stretch</a:t>
            </a:r>
            <a:r>
              <a:rPr lang="es-ES" dirty="0">
                <a:ea typeface="+mn-lt"/>
                <a:cs typeface="+mn-lt"/>
              </a:rPr>
              <a:t>.</a:t>
            </a:r>
          </a:p>
          <a:p>
            <a:pPr marL="0" indent="0">
              <a:buNone/>
            </a:pPr>
            <a:r>
              <a:rPr lang="es-ES" b="1" dirty="0">
                <a:latin typeface="Courier New"/>
                <a:ea typeface="+mn-lt"/>
                <a:cs typeface="+mn-lt"/>
              </a:rPr>
              <a:t>.contenedor {</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flex-wrap</a:t>
            </a:r>
            <a:r>
              <a:rPr lang="es-ES" b="1" dirty="0">
                <a:latin typeface="Courier New"/>
                <a:ea typeface="+mn-lt"/>
                <a:cs typeface="+mn-lt"/>
              </a:rPr>
              <a:t>: </a:t>
            </a:r>
            <a:r>
              <a:rPr lang="es-ES" b="1" err="1">
                <a:latin typeface="Courier New"/>
                <a:ea typeface="+mn-lt"/>
                <a:cs typeface="+mn-lt"/>
              </a:rPr>
              <a:t>wrap</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align-content</a:t>
            </a:r>
            <a:r>
              <a:rPr lang="es-ES" b="1" dirty="0">
                <a:latin typeface="Courier New"/>
                <a:ea typeface="+mn-lt"/>
                <a:cs typeface="+mn-lt"/>
              </a:rPr>
              <a:t>: </a:t>
            </a:r>
            <a:r>
              <a:rPr lang="es-ES" b="1" err="1">
                <a:latin typeface="Courier New"/>
                <a:ea typeface="+mn-lt"/>
                <a:cs typeface="+mn-lt"/>
              </a:rPr>
              <a:t>space-around</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a:t>
            </a:r>
            <a:endParaRPr lang="es-ES" dirty="0">
              <a:ea typeface="+mn-lt"/>
              <a:cs typeface="+mn-lt"/>
            </a:endParaRPr>
          </a:p>
        </p:txBody>
      </p:sp>
    </p:spTree>
    <p:extLst>
      <p:ext uri="{BB962C8B-B14F-4D97-AF65-F5344CB8AC3E}">
        <p14:creationId xmlns:p14="http://schemas.microsoft.com/office/powerpoint/2010/main" val="92610134"/>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7C9C5-546C-134D-58F8-C652E49411F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1EF4D49-2817-FC1B-3486-66F56D3EE347}"/>
              </a:ext>
            </a:extLst>
          </p:cNvPr>
          <p:cNvSpPr>
            <a:spLocks noGrp="1"/>
          </p:cNvSpPr>
          <p:nvPr>
            <p:ph type="title"/>
          </p:nvPr>
        </p:nvSpPr>
        <p:spPr/>
        <p:txBody>
          <a:bodyPr/>
          <a:lstStyle/>
          <a:p>
            <a:r>
              <a:rPr lang="es-ES" b="0" dirty="0">
                <a:ea typeface="+mj-lt"/>
                <a:cs typeface="+mj-lt"/>
              </a:rPr>
              <a:t>2.3.2.3. Propiedades de los elementos (</a:t>
            </a:r>
            <a:r>
              <a:rPr lang="es-ES" b="0" dirty="0" err="1">
                <a:ea typeface="+mj-lt"/>
                <a:cs typeface="+mj-lt"/>
              </a:rPr>
              <a:t>flex-grow</a:t>
            </a:r>
            <a:r>
              <a:rPr lang="es-ES" b="0" dirty="0">
                <a:ea typeface="+mj-lt"/>
                <a:cs typeface="+mj-lt"/>
              </a:rPr>
              <a:t>, </a:t>
            </a:r>
            <a:r>
              <a:rPr lang="es-ES" b="0" dirty="0" err="1">
                <a:ea typeface="+mj-lt"/>
                <a:cs typeface="+mj-lt"/>
              </a:rPr>
              <a:t>flex-shrink</a:t>
            </a:r>
            <a:r>
              <a:rPr lang="es-ES" b="0" dirty="0">
                <a:ea typeface="+mj-lt"/>
                <a:cs typeface="+mj-lt"/>
              </a:rPr>
              <a:t>, </a:t>
            </a:r>
            <a:r>
              <a:rPr lang="es-ES" b="0" dirty="0" err="1">
                <a:ea typeface="+mj-lt"/>
                <a:cs typeface="+mj-lt"/>
              </a:rPr>
              <a:t>flex</a:t>
            </a:r>
            <a:r>
              <a:rPr lang="es-ES" b="0" dirty="0">
                <a:ea typeface="+mj-lt"/>
                <a:cs typeface="+mj-lt"/>
              </a:rPr>
              <a:t>-basis).</a:t>
            </a:r>
            <a:endParaRPr lang="es-ES" dirty="0"/>
          </a:p>
        </p:txBody>
      </p:sp>
      <p:sp>
        <p:nvSpPr>
          <p:cNvPr id="3" name="Marcador de contenido 2">
            <a:extLst>
              <a:ext uri="{FF2B5EF4-FFF2-40B4-BE49-F238E27FC236}">
                <a16:creationId xmlns:a16="http://schemas.microsoft.com/office/drawing/2014/main" id="{505E1351-EB0C-3ED2-7A57-82DBB71DE602}"/>
              </a:ext>
            </a:extLst>
          </p:cNvPr>
          <p:cNvSpPr>
            <a:spLocks noGrp="1"/>
          </p:cNvSpPr>
          <p:nvPr>
            <p:ph idx="1"/>
          </p:nvPr>
        </p:nvSpPr>
        <p:spPr/>
        <p:txBody>
          <a:bodyPr vert="horz" lIns="91440" tIns="45720" rIns="91440" bIns="45720" rtlCol="0" anchor="t">
            <a:normAutofit fontScale="92500" lnSpcReduction="20000"/>
          </a:bodyPr>
          <a:lstStyle/>
          <a:p>
            <a:r>
              <a:rPr lang="es-ES" dirty="0">
                <a:ea typeface="+mn-lt"/>
                <a:cs typeface="+mn-lt"/>
              </a:rPr>
              <a:t>Mientras que las propiedades del contenedor </a:t>
            </a:r>
            <a:r>
              <a:rPr lang="es-ES" dirty="0" err="1">
                <a:ea typeface="+mn-lt"/>
                <a:cs typeface="+mn-lt"/>
              </a:rPr>
              <a:t>Flexbox</a:t>
            </a:r>
            <a:r>
              <a:rPr lang="es-ES" dirty="0">
                <a:ea typeface="+mn-lt"/>
                <a:cs typeface="+mn-lt"/>
              </a:rPr>
              <a:t> organizan a los elementos en grupo, las propiedades de los elementos hijos (</a:t>
            </a:r>
            <a:r>
              <a:rPr lang="es-ES" dirty="0" err="1">
                <a:ea typeface="+mn-lt"/>
                <a:cs typeface="+mn-lt"/>
              </a:rPr>
              <a:t>flex</a:t>
            </a:r>
            <a:r>
              <a:rPr lang="es-ES" dirty="0">
                <a:ea typeface="+mn-lt"/>
                <a:cs typeface="+mn-lt"/>
              </a:rPr>
              <a:t> </a:t>
            </a:r>
            <a:r>
              <a:rPr lang="es-ES" dirty="0" err="1">
                <a:ea typeface="+mn-lt"/>
                <a:cs typeface="+mn-lt"/>
              </a:rPr>
              <a:t>items</a:t>
            </a:r>
            <a:r>
              <a:rPr lang="es-ES" dirty="0">
                <a:ea typeface="+mn-lt"/>
                <a:cs typeface="+mn-lt"/>
              </a:rPr>
              <a:t>) te permiten controlar su comportamiento individual. Con ellas, puedes anular el comportamiento por defecto de un elemento, dándole un peso de crecimiento, un orden específico o una alineación particular.</a:t>
            </a:r>
            <a:endParaRPr lang="es-ES" dirty="0"/>
          </a:p>
          <a:p>
            <a:r>
              <a:rPr lang="es-ES" b="1" dirty="0" err="1">
                <a:latin typeface="Courier New"/>
                <a:ea typeface="+mn-lt"/>
                <a:cs typeface="+mn-lt"/>
              </a:rPr>
              <a:t>order</a:t>
            </a:r>
            <a:r>
              <a:rPr lang="es-ES" dirty="0">
                <a:ea typeface="+mn-lt"/>
                <a:cs typeface="+mn-lt"/>
              </a:rPr>
              <a:t>: La propiedad </a:t>
            </a:r>
            <a:r>
              <a:rPr lang="es-ES" dirty="0" err="1">
                <a:ea typeface="+mn-lt"/>
                <a:cs typeface="+mn-lt"/>
              </a:rPr>
              <a:t>order</a:t>
            </a:r>
            <a:r>
              <a:rPr lang="es-ES" dirty="0">
                <a:ea typeface="+mn-lt"/>
                <a:cs typeface="+mn-lt"/>
              </a:rPr>
              <a:t> establece el orden en que un elemento flexible es posicionado dentro del contenedor. Por defecto, todos los elementos tienen un </a:t>
            </a:r>
            <a:r>
              <a:rPr lang="es-ES" dirty="0" err="1">
                <a:ea typeface="+mn-lt"/>
                <a:cs typeface="+mn-lt"/>
              </a:rPr>
              <a:t>order</a:t>
            </a:r>
            <a:r>
              <a:rPr lang="es-ES" dirty="0">
                <a:ea typeface="+mn-lt"/>
                <a:cs typeface="+mn-lt"/>
              </a:rPr>
              <a:t> de 0. Al asignarles un valor (entero, positivo o negativo), puedes cambiar su posición en el flujo visual, sin alterar su posición en el código HTML. Los elementos se organizan de menor a mayor valor.</a:t>
            </a:r>
            <a:endParaRPr lang="es-ES" dirty="0"/>
          </a:p>
          <a:p>
            <a:pPr marL="0" indent="0">
              <a:buNone/>
            </a:pPr>
            <a:r>
              <a:rPr lang="es-ES" b="1" dirty="0">
                <a:latin typeface="Courier New"/>
                <a:ea typeface="+mn-lt"/>
                <a:cs typeface="+mn-lt"/>
              </a:rPr>
              <a:t>.item1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order</a:t>
            </a:r>
            <a:r>
              <a:rPr lang="es-ES" b="1" dirty="0">
                <a:latin typeface="Courier New"/>
                <a:ea typeface="+mn-lt"/>
                <a:cs typeface="+mn-lt"/>
              </a:rPr>
              <a:t>: 2;</a:t>
            </a:r>
            <a:br>
              <a:rPr lang="es-ES" b="1" dirty="0">
                <a:latin typeface="Courier New"/>
                <a:ea typeface="+mn-lt"/>
                <a:cs typeface="+mn-lt"/>
              </a:rPr>
            </a:b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.item2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order</a:t>
            </a:r>
            <a:r>
              <a:rPr lang="es-ES" b="1" dirty="0">
                <a:latin typeface="Courier New"/>
                <a:ea typeface="+mn-lt"/>
                <a:cs typeface="+mn-lt"/>
              </a:rPr>
              <a:t>: 1; /* Este elemento se mostrará primero */</a:t>
            </a:r>
            <a:br>
              <a:rPr lang="es-ES" b="1" dirty="0">
                <a:latin typeface="Courier New"/>
                <a:ea typeface="+mn-lt"/>
                <a:cs typeface="+mn-lt"/>
              </a:rPr>
            </a:br>
            <a:r>
              <a:rPr lang="es-ES" b="1" dirty="0">
                <a:latin typeface="Courier New"/>
                <a:ea typeface="+mn-lt"/>
                <a:cs typeface="+mn-lt"/>
              </a:rPr>
              <a:t>}</a:t>
            </a:r>
            <a:endParaRPr lang="es-ES" b="1" dirty="0">
              <a:latin typeface="Courier New"/>
              <a:cs typeface="Courier New"/>
            </a:endParaRPr>
          </a:p>
          <a:p>
            <a:endParaRPr lang="es-ES" dirty="0"/>
          </a:p>
        </p:txBody>
      </p:sp>
    </p:spTree>
    <p:extLst>
      <p:ext uri="{BB962C8B-B14F-4D97-AF65-F5344CB8AC3E}">
        <p14:creationId xmlns:p14="http://schemas.microsoft.com/office/powerpoint/2010/main" val="396532540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237E5D-200B-D4C6-62E8-84E7C5E707E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6D53767-3F71-DAC5-4B72-ADBC77FCDAD3}"/>
              </a:ext>
            </a:extLst>
          </p:cNvPr>
          <p:cNvSpPr>
            <a:spLocks noGrp="1"/>
          </p:cNvSpPr>
          <p:nvPr>
            <p:ph type="title"/>
          </p:nvPr>
        </p:nvSpPr>
        <p:spPr/>
        <p:txBody>
          <a:bodyPr/>
          <a:lstStyle/>
          <a:p>
            <a:r>
              <a:rPr lang="es-ES" b="0" dirty="0">
                <a:ea typeface="+mj-lt"/>
                <a:cs typeface="+mj-lt"/>
              </a:rPr>
              <a:t>2.3.2.3. Propiedades de los elementos (</a:t>
            </a:r>
            <a:r>
              <a:rPr lang="es-ES" b="0" dirty="0" err="1">
                <a:ea typeface="+mj-lt"/>
                <a:cs typeface="+mj-lt"/>
              </a:rPr>
              <a:t>flex-grow</a:t>
            </a:r>
            <a:r>
              <a:rPr lang="es-ES" b="0" dirty="0">
                <a:ea typeface="+mj-lt"/>
                <a:cs typeface="+mj-lt"/>
              </a:rPr>
              <a:t>, </a:t>
            </a:r>
            <a:r>
              <a:rPr lang="es-ES" b="0" dirty="0" err="1">
                <a:ea typeface="+mj-lt"/>
                <a:cs typeface="+mj-lt"/>
              </a:rPr>
              <a:t>flex-shrink</a:t>
            </a:r>
            <a:r>
              <a:rPr lang="es-ES" b="0" dirty="0">
                <a:ea typeface="+mj-lt"/>
                <a:cs typeface="+mj-lt"/>
              </a:rPr>
              <a:t>, </a:t>
            </a:r>
            <a:r>
              <a:rPr lang="es-ES" b="0" dirty="0" err="1">
                <a:ea typeface="+mj-lt"/>
                <a:cs typeface="+mj-lt"/>
              </a:rPr>
              <a:t>flex</a:t>
            </a:r>
            <a:r>
              <a:rPr lang="es-ES" b="0" dirty="0">
                <a:ea typeface="+mj-lt"/>
                <a:cs typeface="+mj-lt"/>
              </a:rPr>
              <a:t>-basis).</a:t>
            </a:r>
            <a:endParaRPr lang="es-ES" dirty="0"/>
          </a:p>
        </p:txBody>
      </p:sp>
      <p:sp>
        <p:nvSpPr>
          <p:cNvPr id="3" name="Marcador de contenido 2">
            <a:extLst>
              <a:ext uri="{FF2B5EF4-FFF2-40B4-BE49-F238E27FC236}">
                <a16:creationId xmlns:a16="http://schemas.microsoft.com/office/drawing/2014/main" id="{80A620D1-0C43-C793-BE59-E36A974FAE52}"/>
              </a:ext>
            </a:extLst>
          </p:cNvPr>
          <p:cNvSpPr>
            <a:spLocks noGrp="1"/>
          </p:cNvSpPr>
          <p:nvPr>
            <p:ph idx="1"/>
          </p:nvPr>
        </p:nvSpPr>
        <p:spPr/>
        <p:txBody>
          <a:bodyPr vert="horz" lIns="91440" tIns="45720" rIns="91440" bIns="45720" rtlCol="0" anchor="t">
            <a:normAutofit fontScale="70000" lnSpcReduction="20000"/>
          </a:bodyPr>
          <a:lstStyle/>
          <a:p>
            <a:r>
              <a:rPr lang="es-ES" b="1" dirty="0" err="1">
                <a:latin typeface="Courier New"/>
                <a:ea typeface="+mn-lt"/>
                <a:cs typeface="+mn-lt"/>
              </a:rPr>
              <a:t>flex-grow</a:t>
            </a:r>
            <a:r>
              <a:rPr lang="es-ES" dirty="0">
                <a:ea typeface="+mn-lt"/>
                <a:cs typeface="+mn-lt"/>
              </a:rPr>
              <a:t>: La propiedad </a:t>
            </a:r>
            <a:r>
              <a:rPr lang="es-ES" dirty="0" err="1">
                <a:ea typeface="+mn-lt"/>
                <a:cs typeface="+mn-lt"/>
              </a:rPr>
              <a:t>flex-grow</a:t>
            </a:r>
            <a:r>
              <a:rPr lang="es-ES" dirty="0">
                <a:ea typeface="+mn-lt"/>
                <a:cs typeface="+mn-lt"/>
              </a:rPr>
              <a:t> especifica la capacidad de un elemento para crecer y ocupar el espacio disponible dentro del contenedor flexible. Por defecto, su valor es 0, lo que significa que los elementos no crecen. Si le das un valor positivo, el elemento crecerá en proporción a ese valor.</a:t>
            </a:r>
          </a:p>
          <a:p>
            <a:pPr marL="0" indent="0">
              <a:buNone/>
            </a:pPr>
            <a:r>
              <a:rPr lang="es-ES" b="1" dirty="0">
                <a:latin typeface="Courier New"/>
                <a:ea typeface="+mn-lt"/>
                <a:cs typeface="+mn-lt"/>
              </a:rPr>
              <a:t>.item1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flex-grow</a:t>
            </a:r>
            <a:r>
              <a:rPr lang="es-ES" b="1" dirty="0">
                <a:latin typeface="Courier New"/>
                <a:ea typeface="+mn-lt"/>
                <a:cs typeface="+mn-lt"/>
              </a:rPr>
              <a:t>: 1;</a:t>
            </a:r>
            <a:br>
              <a:rPr lang="es-ES" b="1" dirty="0">
                <a:latin typeface="Courier New"/>
                <a:ea typeface="+mn-lt"/>
                <a:cs typeface="+mn-lt"/>
              </a:rPr>
            </a:b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.item2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flex-grow</a:t>
            </a:r>
            <a:r>
              <a:rPr lang="es-ES" b="1" dirty="0">
                <a:latin typeface="Courier New"/>
                <a:ea typeface="+mn-lt"/>
                <a:cs typeface="+mn-lt"/>
              </a:rPr>
              <a:t>: 2; /* Este elemento crecerá el doble que el item1 */</a:t>
            </a:r>
            <a:br>
              <a:rPr lang="es-ES" b="1" dirty="0">
                <a:latin typeface="Courier New"/>
                <a:ea typeface="+mn-lt"/>
                <a:cs typeface="+mn-lt"/>
              </a:rPr>
            </a:br>
            <a:r>
              <a:rPr lang="es-ES" b="1" dirty="0">
                <a:latin typeface="Courier New"/>
                <a:ea typeface="+mn-lt"/>
                <a:cs typeface="+mn-lt"/>
              </a:rPr>
              <a:t>}</a:t>
            </a:r>
            <a:endParaRPr lang="es-ES" b="1" dirty="0">
              <a:latin typeface="Courier New"/>
              <a:cs typeface="Courier New"/>
            </a:endParaRPr>
          </a:p>
          <a:p>
            <a:r>
              <a:rPr lang="es-ES" b="1" dirty="0" err="1">
                <a:latin typeface="Courier New"/>
                <a:ea typeface="+mn-lt"/>
                <a:cs typeface="+mn-lt"/>
              </a:rPr>
              <a:t>flex-shrink</a:t>
            </a:r>
            <a:r>
              <a:rPr lang="es-ES" dirty="0">
                <a:ea typeface="+mn-lt"/>
                <a:cs typeface="+mn-lt"/>
              </a:rPr>
              <a:t>: La propiedad </a:t>
            </a:r>
            <a:r>
              <a:rPr lang="es-ES" dirty="0" err="1">
                <a:ea typeface="+mn-lt"/>
                <a:cs typeface="+mn-lt"/>
              </a:rPr>
              <a:t>flex-shrink</a:t>
            </a:r>
            <a:r>
              <a:rPr lang="es-ES" dirty="0">
                <a:ea typeface="+mn-lt"/>
                <a:cs typeface="+mn-lt"/>
              </a:rPr>
              <a:t> especifica la capacidad de un elemento para encogerse cuando no hay suficiente espacio en el contenedor. Por defecto, su valor es 1, lo que significa que todos los elementos se encogerán por igual si es necesario. Un valor de 0 impide que el elemento se encoja.</a:t>
            </a:r>
          </a:p>
          <a:p>
            <a:pPr marL="0" indent="0">
              <a:buNone/>
            </a:pPr>
            <a:r>
              <a:rPr lang="es-ES" b="1" dirty="0">
                <a:latin typeface="Courier New"/>
                <a:ea typeface="+mn-lt"/>
                <a:cs typeface="+mn-lt"/>
              </a:rPr>
              <a:t>.</a:t>
            </a:r>
            <a:r>
              <a:rPr lang="es-ES" b="1" dirty="0" err="1">
                <a:latin typeface="Courier New"/>
                <a:ea typeface="+mn-lt"/>
                <a:cs typeface="+mn-lt"/>
              </a:rPr>
              <a:t>item</a:t>
            </a:r>
            <a:r>
              <a:rPr lang="es-ES" b="1" dirty="0">
                <a:latin typeface="Courier New"/>
                <a:ea typeface="+mn-lt"/>
                <a:cs typeface="+mn-lt"/>
              </a:rPr>
              <a:t>-a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flex-shrink</a:t>
            </a:r>
            <a:r>
              <a:rPr lang="es-ES" b="1" dirty="0">
                <a:latin typeface="Courier New"/>
                <a:ea typeface="+mn-lt"/>
                <a:cs typeface="+mn-lt"/>
              </a:rPr>
              <a:t>: 0; /* Este elemento no se encogerá */</a:t>
            </a:r>
            <a:br>
              <a:rPr lang="es-ES" b="1" dirty="0">
                <a:latin typeface="Courier New"/>
                <a:ea typeface="+mn-lt"/>
                <a:cs typeface="+mn-lt"/>
              </a:rPr>
            </a:b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a:t>
            </a:r>
            <a:r>
              <a:rPr lang="es-ES" b="1" dirty="0" err="1">
                <a:latin typeface="Courier New"/>
                <a:ea typeface="+mn-lt"/>
                <a:cs typeface="+mn-lt"/>
              </a:rPr>
              <a:t>item</a:t>
            </a:r>
            <a:r>
              <a:rPr lang="es-ES" b="1" dirty="0">
                <a:latin typeface="Courier New"/>
                <a:ea typeface="+mn-lt"/>
                <a:cs typeface="+mn-lt"/>
              </a:rPr>
              <a:t>-b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flex-shrink</a:t>
            </a:r>
            <a:r>
              <a:rPr lang="es-ES" b="1" dirty="0">
                <a:latin typeface="Courier New"/>
                <a:ea typeface="+mn-lt"/>
                <a:cs typeface="+mn-lt"/>
              </a:rPr>
              <a:t>: 2; /* Este elemento se encogerá el doble que los demás */</a:t>
            </a:r>
            <a:br>
              <a:rPr lang="es-ES" b="1" dirty="0">
                <a:latin typeface="Courier New"/>
                <a:ea typeface="+mn-lt"/>
                <a:cs typeface="+mn-lt"/>
              </a:rPr>
            </a:br>
            <a:r>
              <a:rPr lang="es-ES" b="1" dirty="0">
                <a:latin typeface="Courier New"/>
                <a:ea typeface="+mn-lt"/>
                <a:cs typeface="+mn-lt"/>
              </a:rPr>
              <a:t>}</a:t>
            </a:r>
          </a:p>
          <a:p>
            <a:endParaRPr lang="es-ES" dirty="0">
              <a:latin typeface="Bierstadt"/>
              <a:cs typeface="Courier New"/>
            </a:endParaRPr>
          </a:p>
          <a:p>
            <a:endParaRPr lang="es-ES" dirty="0"/>
          </a:p>
        </p:txBody>
      </p:sp>
    </p:spTree>
    <p:extLst>
      <p:ext uri="{BB962C8B-B14F-4D97-AF65-F5344CB8AC3E}">
        <p14:creationId xmlns:p14="http://schemas.microsoft.com/office/powerpoint/2010/main" val="1149578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174A8C-9C07-8C2C-25FE-2FF72072691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39463F0-8094-7F93-D04F-A86C13980803}"/>
              </a:ext>
            </a:extLst>
          </p:cNvPr>
          <p:cNvSpPr>
            <a:spLocks noGrp="1"/>
          </p:cNvSpPr>
          <p:nvPr>
            <p:ph type="title"/>
          </p:nvPr>
        </p:nvSpPr>
        <p:spPr/>
        <p:txBody>
          <a:bodyPr/>
          <a:lstStyle/>
          <a:p>
            <a:r>
              <a:rPr lang="es-ES" b="0" dirty="0">
                <a:ea typeface="+mj-lt"/>
                <a:cs typeface="+mj-lt"/>
              </a:rPr>
              <a:t>2.3.2.3. Propiedades de los elementos (</a:t>
            </a:r>
            <a:r>
              <a:rPr lang="es-ES" b="0" dirty="0" err="1">
                <a:ea typeface="+mj-lt"/>
                <a:cs typeface="+mj-lt"/>
              </a:rPr>
              <a:t>flex-grow</a:t>
            </a:r>
            <a:r>
              <a:rPr lang="es-ES" b="0" dirty="0">
                <a:ea typeface="+mj-lt"/>
                <a:cs typeface="+mj-lt"/>
              </a:rPr>
              <a:t>, </a:t>
            </a:r>
            <a:r>
              <a:rPr lang="es-ES" b="0" dirty="0" err="1">
                <a:ea typeface="+mj-lt"/>
                <a:cs typeface="+mj-lt"/>
              </a:rPr>
              <a:t>flex-shrink</a:t>
            </a:r>
            <a:r>
              <a:rPr lang="es-ES" b="0" dirty="0">
                <a:ea typeface="+mj-lt"/>
                <a:cs typeface="+mj-lt"/>
              </a:rPr>
              <a:t>, </a:t>
            </a:r>
            <a:r>
              <a:rPr lang="es-ES" b="0" dirty="0" err="1">
                <a:ea typeface="+mj-lt"/>
                <a:cs typeface="+mj-lt"/>
              </a:rPr>
              <a:t>flex</a:t>
            </a:r>
            <a:r>
              <a:rPr lang="es-ES" b="0" dirty="0">
                <a:ea typeface="+mj-lt"/>
                <a:cs typeface="+mj-lt"/>
              </a:rPr>
              <a:t>-basis).</a:t>
            </a:r>
            <a:endParaRPr lang="es-ES" dirty="0"/>
          </a:p>
        </p:txBody>
      </p:sp>
      <p:sp>
        <p:nvSpPr>
          <p:cNvPr id="3" name="Marcador de contenido 2">
            <a:extLst>
              <a:ext uri="{FF2B5EF4-FFF2-40B4-BE49-F238E27FC236}">
                <a16:creationId xmlns:a16="http://schemas.microsoft.com/office/drawing/2014/main" id="{721E2C34-5A03-5495-164F-9E7B7AE53F72}"/>
              </a:ext>
            </a:extLst>
          </p:cNvPr>
          <p:cNvSpPr>
            <a:spLocks noGrp="1"/>
          </p:cNvSpPr>
          <p:nvPr>
            <p:ph idx="1"/>
          </p:nvPr>
        </p:nvSpPr>
        <p:spPr/>
        <p:txBody>
          <a:bodyPr vert="horz" lIns="91440" tIns="45720" rIns="91440" bIns="45720" rtlCol="0" anchor="t">
            <a:normAutofit fontScale="92500" lnSpcReduction="20000"/>
          </a:bodyPr>
          <a:lstStyle/>
          <a:p>
            <a:r>
              <a:rPr lang="es-ES" b="1" dirty="0" err="1">
                <a:latin typeface="Courier New"/>
                <a:ea typeface="+mn-lt"/>
                <a:cs typeface="+mn-lt"/>
              </a:rPr>
              <a:t>flex</a:t>
            </a:r>
            <a:r>
              <a:rPr lang="es-ES" b="1" dirty="0">
                <a:latin typeface="Courier New"/>
                <a:ea typeface="+mn-lt"/>
                <a:cs typeface="+mn-lt"/>
              </a:rPr>
              <a:t>-basis</a:t>
            </a:r>
            <a:r>
              <a:rPr lang="es-ES" dirty="0">
                <a:ea typeface="+mn-lt"/>
                <a:cs typeface="+mn-lt"/>
              </a:rPr>
              <a:t>: La propiedad </a:t>
            </a:r>
            <a:r>
              <a:rPr lang="es-ES" dirty="0" err="1">
                <a:ea typeface="+mn-lt"/>
                <a:cs typeface="+mn-lt"/>
              </a:rPr>
              <a:t>flex</a:t>
            </a:r>
            <a:r>
              <a:rPr lang="es-ES" dirty="0">
                <a:ea typeface="+mn-lt"/>
                <a:cs typeface="+mn-lt"/>
              </a:rPr>
              <a:t>-basis establece el tamaño inicial de un elemento antes de que se distribuya el espacio restante. Puede aceptar cualquier unidad de medida (como </a:t>
            </a:r>
            <a:r>
              <a:rPr lang="es-ES" dirty="0" err="1">
                <a:ea typeface="+mn-lt"/>
                <a:cs typeface="+mn-lt"/>
              </a:rPr>
              <a:t>px</a:t>
            </a:r>
            <a:r>
              <a:rPr lang="es-ES" dirty="0">
                <a:ea typeface="+mn-lt"/>
                <a:cs typeface="+mn-lt"/>
              </a:rPr>
              <a:t>, %, rem, em). Si se define tanto un </a:t>
            </a:r>
            <a:r>
              <a:rPr lang="es-ES" dirty="0" err="1">
                <a:ea typeface="+mn-lt"/>
                <a:cs typeface="+mn-lt"/>
              </a:rPr>
              <a:t>width</a:t>
            </a:r>
            <a:r>
              <a:rPr lang="es-ES" dirty="0">
                <a:ea typeface="+mn-lt"/>
                <a:cs typeface="+mn-lt"/>
              </a:rPr>
              <a:t> como un </a:t>
            </a:r>
            <a:r>
              <a:rPr lang="es-ES" dirty="0" err="1">
                <a:ea typeface="+mn-lt"/>
                <a:cs typeface="+mn-lt"/>
              </a:rPr>
              <a:t>flex</a:t>
            </a:r>
            <a:r>
              <a:rPr lang="es-ES" dirty="0">
                <a:ea typeface="+mn-lt"/>
                <a:cs typeface="+mn-lt"/>
              </a:rPr>
              <a:t>-basis, </a:t>
            </a:r>
            <a:r>
              <a:rPr lang="es-ES" dirty="0" err="1">
                <a:ea typeface="+mn-lt"/>
                <a:cs typeface="+mn-lt"/>
              </a:rPr>
              <a:t>flex</a:t>
            </a:r>
            <a:r>
              <a:rPr lang="es-ES" dirty="0">
                <a:ea typeface="+mn-lt"/>
                <a:cs typeface="+mn-lt"/>
              </a:rPr>
              <a:t>-basis tiene prioridad.</a:t>
            </a:r>
          </a:p>
          <a:p>
            <a:pPr marL="0" indent="0">
              <a:buNone/>
            </a:pPr>
            <a:r>
              <a:rPr lang="es-ES" b="1" dirty="0">
                <a:latin typeface="Courier New"/>
                <a:ea typeface="+mn-lt"/>
                <a:cs typeface="+mn-lt"/>
              </a:rPr>
              <a:t>.</a:t>
            </a:r>
            <a:r>
              <a:rPr lang="es-ES" b="1" dirty="0" err="1">
                <a:latin typeface="Courier New"/>
                <a:ea typeface="+mn-lt"/>
                <a:cs typeface="+mn-lt"/>
              </a:rPr>
              <a:t>item</a:t>
            </a:r>
            <a:r>
              <a:rPr lang="es-ES" b="1" dirty="0">
                <a:latin typeface="Courier New"/>
                <a:ea typeface="+mn-lt"/>
                <a:cs typeface="+mn-lt"/>
              </a:rPr>
              <a:t>-con-</a:t>
            </a:r>
            <a:r>
              <a:rPr lang="es-ES" b="1" dirty="0" err="1">
                <a:latin typeface="Courier New"/>
                <a:ea typeface="+mn-lt"/>
                <a:cs typeface="+mn-lt"/>
              </a:rPr>
              <a:t>tamano</a:t>
            </a: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flex</a:t>
            </a:r>
            <a:r>
              <a:rPr lang="es-ES" b="1" dirty="0">
                <a:latin typeface="Courier New"/>
                <a:ea typeface="+mn-lt"/>
                <a:cs typeface="+mn-lt"/>
              </a:rPr>
              <a:t>-basis: 150px;</a:t>
            </a:r>
            <a:br>
              <a:rPr lang="es-ES" b="1" dirty="0">
                <a:latin typeface="Courier New"/>
                <a:ea typeface="+mn-lt"/>
                <a:cs typeface="+mn-lt"/>
              </a:rPr>
            </a:br>
            <a:r>
              <a:rPr lang="es-ES" b="1" dirty="0">
                <a:latin typeface="Courier New"/>
                <a:ea typeface="+mn-lt"/>
                <a:cs typeface="+mn-lt"/>
              </a:rPr>
              <a:t>}</a:t>
            </a:r>
          </a:p>
          <a:p>
            <a:r>
              <a:rPr lang="es-ES" b="1" dirty="0" err="1">
                <a:latin typeface="Courier New"/>
                <a:ea typeface="+mn-lt"/>
                <a:cs typeface="+mn-lt"/>
              </a:rPr>
              <a:t>flex</a:t>
            </a:r>
            <a:r>
              <a:rPr lang="es-ES" dirty="0">
                <a:ea typeface="+mn-lt"/>
                <a:cs typeface="+mn-lt"/>
              </a:rPr>
              <a:t>: Esta es una propiedad abreviada (</a:t>
            </a:r>
            <a:r>
              <a:rPr lang="es-ES" dirty="0" err="1">
                <a:ea typeface="+mn-lt"/>
                <a:cs typeface="+mn-lt"/>
              </a:rPr>
              <a:t>shorthand</a:t>
            </a:r>
            <a:r>
              <a:rPr lang="es-ES" dirty="0">
                <a:ea typeface="+mn-lt"/>
                <a:cs typeface="+mn-lt"/>
              </a:rPr>
              <a:t>) que combina </a:t>
            </a:r>
            <a:r>
              <a:rPr lang="es-ES" dirty="0" err="1">
                <a:ea typeface="+mn-lt"/>
                <a:cs typeface="+mn-lt"/>
              </a:rPr>
              <a:t>flex-grow</a:t>
            </a:r>
            <a:r>
              <a:rPr lang="es-ES" dirty="0">
                <a:ea typeface="+mn-lt"/>
                <a:cs typeface="+mn-lt"/>
              </a:rPr>
              <a:t>, </a:t>
            </a:r>
            <a:r>
              <a:rPr lang="es-ES" dirty="0" err="1">
                <a:ea typeface="+mn-lt"/>
                <a:cs typeface="+mn-lt"/>
              </a:rPr>
              <a:t>flex-shrink</a:t>
            </a:r>
            <a:r>
              <a:rPr lang="es-ES" dirty="0">
                <a:ea typeface="+mn-lt"/>
                <a:cs typeface="+mn-lt"/>
              </a:rPr>
              <a:t> y </a:t>
            </a:r>
            <a:r>
              <a:rPr lang="es-ES" dirty="0" err="1">
                <a:ea typeface="+mn-lt"/>
                <a:cs typeface="+mn-lt"/>
              </a:rPr>
              <a:t>flex</a:t>
            </a:r>
            <a:r>
              <a:rPr lang="es-ES" dirty="0">
                <a:ea typeface="+mn-lt"/>
                <a:cs typeface="+mn-lt"/>
              </a:rPr>
              <a:t>-basis en una sola declaración. Es la forma más recomendada de controlar el tamaño flexible de un elemento. Los valores por defecto son 0 1 auto.</a:t>
            </a:r>
          </a:p>
          <a:p>
            <a:pPr marL="0" indent="0">
              <a:buNone/>
            </a:pPr>
            <a:r>
              <a:rPr lang="es-ES" b="1" dirty="0">
                <a:latin typeface="Courier New"/>
                <a:ea typeface="+mn-lt"/>
                <a:cs typeface="+mn-lt"/>
              </a:rPr>
              <a:t>.</a:t>
            </a:r>
            <a:r>
              <a:rPr lang="es-ES" b="1" dirty="0" err="1">
                <a:latin typeface="Courier New"/>
                <a:ea typeface="+mn-lt"/>
                <a:cs typeface="+mn-lt"/>
              </a:rPr>
              <a:t>item</a:t>
            </a:r>
            <a:r>
              <a:rPr lang="es-ES" b="1" dirty="0">
                <a:latin typeface="Courier New"/>
                <a:ea typeface="+mn-lt"/>
                <a:cs typeface="+mn-lt"/>
              </a:rPr>
              <a:t>-flexible {</a:t>
            </a:r>
            <a:br>
              <a:rPr lang="es-ES" b="1" dirty="0">
                <a:latin typeface="Courier New"/>
                <a:ea typeface="+mn-lt"/>
                <a:cs typeface="+mn-lt"/>
              </a:rPr>
            </a:br>
            <a:r>
              <a:rPr lang="es-ES" b="1" dirty="0">
                <a:latin typeface="Courier New"/>
                <a:ea typeface="+mn-lt"/>
                <a:cs typeface="+mn-lt"/>
              </a:rPr>
              <a:t>  /* </a:t>
            </a:r>
            <a:r>
              <a:rPr lang="es-ES" b="1" dirty="0" err="1">
                <a:latin typeface="Courier New"/>
                <a:ea typeface="+mn-lt"/>
                <a:cs typeface="+mn-lt"/>
              </a:rPr>
              <a:t>grow</a:t>
            </a:r>
            <a:r>
              <a:rPr lang="es-ES" b="1" dirty="0">
                <a:latin typeface="Courier New"/>
                <a:ea typeface="+mn-lt"/>
                <a:cs typeface="+mn-lt"/>
              </a:rPr>
              <a:t> | </a:t>
            </a:r>
            <a:r>
              <a:rPr lang="es-ES" b="1" dirty="0" err="1">
                <a:latin typeface="Courier New"/>
                <a:ea typeface="+mn-lt"/>
                <a:cs typeface="+mn-lt"/>
              </a:rPr>
              <a:t>shrink</a:t>
            </a:r>
            <a:r>
              <a:rPr lang="es-ES" b="1" dirty="0">
                <a:latin typeface="Courier New"/>
                <a:ea typeface="+mn-lt"/>
                <a:cs typeface="+mn-lt"/>
              </a:rPr>
              <a:t> | basis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flex</a:t>
            </a:r>
            <a:r>
              <a:rPr lang="es-ES" b="1" dirty="0">
                <a:latin typeface="Courier New"/>
                <a:ea typeface="+mn-lt"/>
                <a:cs typeface="+mn-lt"/>
              </a:rPr>
              <a:t>: 1 1 200px;</a:t>
            </a:r>
            <a:br>
              <a:rPr lang="es-ES" b="1" dirty="0">
                <a:latin typeface="Courier New"/>
                <a:ea typeface="+mn-lt"/>
                <a:cs typeface="+mn-lt"/>
              </a:rPr>
            </a:br>
            <a:r>
              <a:rPr lang="es-ES" b="1" dirty="0">
                <a:latin typeface="Courier New"/>
                <a:ea typeface="+mn-lt"/>
                <a:cs typeface="+mn-lt"/>
              </a:rPr>
              <a:t>}</a:t>
            </a:r>
          </a:p>
          <a:p>
            <a:endParaRPr lang="es-ES" dirty="0">
              <a:latin typeface="Bierstadt"/>
              <a:cs typeface="Courier New"/>
            </a:endParaRPr>
          </a:p>
          <a:p>
            <a:endParaRPr lang="es-ES" dirty="0"/>
          </a:p>
        </p:txBody>
      </p:sp>
    </p:spTree>
    <p:extLst>
      <p:ext uri="{BB962C8B-B14F-4D97-AF65-F5344CB8AC3E}">
        <p14:creationId xmlns:p14="http://schemas.microsoft.com/office/powerpoint/2010/main" val="1128775120"/>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00D420-2186-5FC6-FDD0-18D90B888D5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CA00CD7-9097-96BF-4FBE-FBAC3693A176}"/>
              </a:ext>
            </a:extLst>
          </p:cNvPr>
          <p:cNvSpPr>
            <a:spLocks noGrp="1"/>
          </p:cNvSpPr>
          <p:nvPr>
            <p:ph type="title"/>
          </p:nvPr>
        </p:nvSpPr>
        <p:spPr/>
        <p:txBody>
          <a:bodyPr/>
          <a:lstStyle/>
          <a:p>
            <a:r>
              <a:rPr lang="es-ES" b="0" dirty="0">
                <a:ea typeface="+mj-lt"/>
                <a:cs typeface="+mj-lt"/>
              </a:rPr>
              <a:t>2.3.2.3. Propiedades de los elementos (</a:t>
            </a:r>
            <a:r>
              <a:rPr lang="es-ES" b="0" dirty="0" err="1">
                <a:ea typeface="+mj-lt"/>
                <a:cs typeface="+mj-lt"/>
              </a:rPr>
              <a:t>flex-grow</a:t>
            </a:r>
            <a:r>
              <a:rPr lang="es-ES" b="0" dirty="0">
                <a:ea typeface="+mj-lt"/>
                <a:cs typeface="+mj-lt"/>
              </a:rPr>
              <a:t>, </a:t>
            </a:r>
            <a:r>
              <a:rPr lang="es-ES" b="0" dirty="0" err="1">
                <a:ea typeface="+mj-lt"/>
                <a:cs typeface="+mj-lt"/>
              </a:rPr>
              <a:t>flex-shrink</a:t>
            </a:r>
            <a:r>
              <a:rPr lang="es-ES" b="0" dirty="0">
                <a:ea typeface="+mj-lt"/>
                <a:cs typeface="+mj-lt"/>
              </a:rPr>
              <a:t>, </a:t>
            </a:r>
            <a:r>
              <a:rPr lang="es-ES" b="0" dirty="0" err="1">
                <a:ea typeface="+mj-lt"/>
                <a:cs typeface="+mj-lt"/>
              </a:rPr>
              <a:t>flex</a:t>
            </a:r>
            <a:r>
              <a:rPr lang="es-ES" b="0" dirty="0">
                <a:ea typeface="+mj-lt"/>
                <a:cs typeface="+mj-lt"/>
              </a:rPr>
              <a:t>-basis).</a:t>
            </a:r>
            <a:endParaRPr lang="es-ES" dirty="0"/>
          </a:p>
        </p:txBody>
      </p:sp>
      <p:sp>
        <p:nvSpPr>
          <p:cNvPr id="3" name="Marcador de contenido 2">
            <a:extLst>
              <a:ext uri="{FF2B5EF4-FFF2-40B4-BE49-F238E27FC236}">
                <a16:creationId xmlns:a16="http://schemas.microsoft.com/office/drawing/2014/main" id="{200CAEF5-5810-8793-D4C6-292FF47B8CAA}"/>
              </a:ext>
            </a:extLst>
          </p:cNvPr>
          <p:cNvSpPr>
            <a:spLocks noGrp="1"/>
          </p:cNvSpPr>
          <p:nvPr>
            <p:ph idx="1"/>
          </p:nvPr>
        </p:nvSpPr>
        <p:spPr/>
        <p:txBody>
          <a:bodyPr vert="horz" lIns="91440" tIns="45720" rIns="91440" bIns="45720" rtlCol="0" anchor="t">
            <a:normAutofit/>
          </a:bodyPr>
          <a:lstStyle/>
          <a:p>
            <a:r>
              <a:rPr lang="es-ES" b="1" dirty="0" err="1">
                <a:latin typeface="Courier New"/>
                <a:ea typeface="+mn-lt"/>
                <a:cs typeface="+mn-lt"/>
              </a:rPr>
              <a:t>align-self</a:t>
            </a:r>
            <a:r>
              <a:rPr lang="es-ES" dirty="0">
                <a:ea typeface="+mn-lt"/>
                <a:cs typeface="+mn-lt"/>
              </a:rPr>
              <a:t>: La propiedad </a:t>
            </a:r>
            <a:r>
              <a:rPr lang="es-ES" dirty="0" err="1">
                <a:ea typeface="+mn-lt"/>
                <a:cs typeface="+mn-lt"/>
              </a:rPr>
              <a:t>align-self</a:t>
            </a:r>
            <a:r>
              <a:rPr lang="es-ES" dirty="0">
                <a:ea typeface="+mn-lt"/>
                <a:cs typeface="+mn-lt"/>
              </a:rPr>
              <a:t> permite anular la alineación por defecto del contenedor (</a:t>
            </a:r>
            <a:r>
              <a:rPr lang="es-ES" dirty="0" err="1">
                <a:ea typeface="+mn-lt"/>
                <a:cs typeface="+mn-lt"/>
              </a:rPr>
              <a:t>align-items</a:t>
            </a:r>
            <a:r>
              <a:rPr lang="es-ES" dirty="0">
                <a:ea typeface="+mn-lt"/>
                <a:cs typeface="+mn-lt"/>
              </a:rPr>
              <a:t>) y alinear un elemento individualmente a lo largo del eje cruzado. Acepta los mismos valores que </a:t>
            </a:r>
            <a:r>
              <a:rPr lang="es-ES" dirty="0" err="1">
                <a:ea typeface="+mn-lt"/>
                <a:cs typeface="+mn-lt"/>
              </a:rPr>
              <a:t>align-items</a:t>
            </a:r>
            <a:r>
              <a:rPr lang="es-ES" dirty="0">
                <a:ea typeface="+mn-lt"/>
                <a:cs typeface="+mn-lt"/>
              </a:rPr>
              <a:t> (</a:t>
            </a:r>
            <a:r>
              <a:rPr lang="es-ES" dirty="0" err="1">
                <a:ea typeface="+mn-lt"/>
                <a:cs typeface="+mn-lt"/>
              </a:rPr>
              <a:t>flex-start</a:t>
            </a:r>
            <a:r>
              <a:rPr lang="es-ES" dirty="0">
                <a:ea typeface="+mn-lt"/>
                <a:cs typeface="+mn-lt"/>
              </a:rPr>
              <a:t>, </a:t>
            </a:r>
            <a:r>
              <a:rPr lang="es-ES" dirty="0" err="1">
                <a:ea typeface="+mn-lt"/>
                <a:cs typeface="+mn-lt"/>
              </a:rPr>
              <a:t>flex-end</a:t>
            </a:r>
            <a:r>
              <a:rPr lang="es-ES" dirty="0">
                <a:ea typeface="+mn-lt"/>
                <a:cs typeface="+mn-lt"/>
              </a:rPr>
              <a:t>, center, </a:t>
            </a:r>
            <a:r>
              <a:rPr lang="es-ES" dirty="0" err="1">
                <a:ea typeface="+mn-lt"/>
                <a:cs typeface="+mn-lt"/>
              </a:rPr>
              <a:t>stretch</a:t>
            </a:r>
            <a:r>
              <a:rPr lang="es-ES" dirty="0">
                <a:ea typeface="+mn-lt"/>
                <a:cs typeface="+mn-lt"/>
              </a:rPr>
              <a:t>, </a:t>
            </a:r>
            <a:r>
              <a:rPr lang="es-ES" dirty="0" err="1">
                <a:ea typeface="+mn-lt"/>
                <a:cs typeface="+mn-lt"/>
              </a:rPr>
              <a:t>baseline</a:t>
            </a:r>
            <a:r>
              <a:rPr lang="es-ES" dirty="0">
                <a:ea typeface="+mn-lt"/>
                <a:cs typeface="+mn-lt"/>
              </a:rPr>
              <a:t>).</a:t>
            </a:r>
            <a:endParaRPr lang="es-ES" dirty="0"/>
          </a:p>
          <a:p>
            <a:pPr marL="0" indent="0">
              <a:buNone/>
            </a:pPr>
            <a:r>
              <a:rPr lang="es-ES" b="1" dirty="0">
                <a:latin typeface="Courier New"/>
                <a:ea typeface="+mn-lt"/>
                <a:cs typeface="+mn-lt"/>
              </a:rPr>
              <a:t>.</a:t>
            </a:r>
            <a:r>
              <a:rPr lang="es-ES" b="1" dirty="0" err="1">
                <a:latin typeface="Courier New"/>
                <a:ea typeface="+mn-lt"/>
                <a:cs typeface="+mn-lt"/>
              </a:rPr>
              <a:t>item</a:t>
            </a:r>
            <a:r>
              <a:rPr lang="es-ES" b="1" dirty="0">
                <a:latin typeface="Courier New"/>
                <a:ea typeface="+mn-lt"/>
                <a:cs typeface="+mn-lt"/>
              </a:rPr>
              <a:t>-diferente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align-self</a:t>
            </a:r>
            <a:r>
              <a:rPr lang="es-ES" b="1" dirty="0">
                <a:latin typeface="Courier New"/>
                <a:ea typeface="+mn-lt"/>
                <a:cs typeface="+mn-lt"/>
              </a:rPr>
              <a:t>: </a:t>
            </a:r>
            <a:r>
              <a:rPr lang="es-ES" b="1" dirty="0" err="1">
                <a:latin typeface="Courier New"/>
                <a:ea typeface="+mn-lt"/>
                <a:cs typeface="+mn-lt"/>
              </a:rPr>
              <a:t>flex-end</a:t>
            </a:r>
            <a:r>
              <a:rPr lang="es-ES" b="1" dirty="0">
                <a:latin typeface="Courier New"/>
                <a:ea typeface="+mn-lt"/>
                <a:cs typeface="+mn-lt"/>
              </a:rPr>
              <a:t>; /* Se alinea al final del eje cruzado */</a:t>
            </a:r>
            <a:br>
              <a:rPr lang="es-ES" b="1" dirty="0">
                <a:latin typeface="Courier New"/>
                <a:ea typeface="+mn-lt"/>
                <a:cs typeface="+mn-lt"/>
              </a:rPr>
            </a:br>
            <a:r>
              <a:rPr lang="es-ES" b="1" dirty="0">
                <a:latin typeface="Courier New"/>
                <a:ea typeface="+mn-lt"/>
                <a:cs typeface="+mn-lt"/>
              </a:rPr>
              <a:t>}</a:t>
            </a:r>
          </a:p>
          <a:p>
            <a:endParaRPr lang="es-ES" dirty="0">
              <a:ea typeface="+mn-lt"/>
              <a:cs typeface="+mn-lt"/>
            </a:endParaRPr>
          </a:p>
        </p:txBody>
      </p:sp>
    </p:spTree>
    <p:extLst>
      <p:ext uri="{BB962C8B-B14F-4D97-AF65-F5344CB8AC3E}">
        <p14:creationId xmlns:p14="http://schemas.microsoft.com/office/powerpoint/2010/main" val="3515297978"/>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2608AA-5018-93AD-5139-525344A1536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2BCFA21-326D-537A-9892-E2C237E98606}"/>
              </a:ext>
            </a:extLst>
          </p:cNvPr>
          <p:cNvSpPr>
            <a:spLocks noGrp="1"/>
          </p:cNvSpPr>
          <p:nvPr>
            <p:ph type="title"/>
          </p:nvPr>
        </p:nvSpPr>
        <p:spPr/>
        <p:txBody>
          <a:bodyPr/>
          <a:lstStyle/>
          <a:p>
            <a:r>
              <a:rPr lang="es-ES" b="0" dirty="0">
                <a:ea typeface="+mj-lt"/>
                <a:cs typeface="+mj-lt"/>
              </a:rPr>
              <a:t>2.3.2.4. Creación de menús y </a:t>
            </a:r>
            <a:r>
              <a:rPr lang="es-ES" b="0" dirty="0" err="1">
                <a:ea typeface="+mj-lt"/>
                <a:cs typeface="+mj-lt"/>
              </a:rPr>
              <a:t>layouts</a:t>
            </a:r>
            <a:r>
              <a:rPr lang="es-ES" b="0" dirty="0">
                <a:ea typeface="+mj-lt"/>
                <a:cs typeface="+mj-lt"/>
              </a:rPr>
              <a:t> complejos con </a:t>
            </a:r>
            <a:r>
              <a:rPr lang="es-ES" b="0" dirty="0" err="1">
                <a:ea typeface="+mj-lt"/>
                <a:cs typeface="+mj-lt"/>
              </a:rPr>
              <a:t>Flexbox</a:t>
            </a:r>
            <a:r>
              <a:rPr lang="es-ES" b="0" dirty="0">
                <a:ea typeface="+mj-lt"/>
                <a:cs typeface="+mj-lt"/>
              </a:rPr>
              <a:t>.</a:t>
            </a:r>
            <a:endParaRPr lang="es-ES" dirty="0"/>
          </a:p>
        </p:txBody>
      </p:sp>
      <p:sp>
        <p:nvSpPr>
          <p:cNvPr id="3" name="Marcador de contenido 2">
            <a:extLst>
              <a:ext uri="{FF2B5EF4-FFF2-40B4-BE49-F238E27FC236}">
                <a16:creationId xmlns:a16="http://schemas.microsoft.com/office/drawing/2014/main" id="{F6A8BC44-26DC-4BC1-8B0B-342EF842C7C8}"/>
              </a:ext>
            </a:extLst>
          </p:cNvPr>
          <p:cNvSpPr>
            <a:spLocks noGrp="1"/>
          </p:cNvSpPr>
          <p:nvPr>
            <p:ph idx="1"/>
          </p:nvPr>
        </p:nvSpPr>
        <p:spPr/>
        <p:txBody>
          <a:bodyPr vert="horz" lIns="91440" tIns="45720" rIns="91440" bIns="45720" rtlCol="0" anchor="t">
            <a:normAutofit fontScale="85000" lnSpcReduction="20000"/>
          </a:bodyPr>
          <a:lstStyle/>
          <a:p>
            <a:r>
              <a:rPr lang="es-ES" err="1">
                <a:ea typeface="+mn-lt"/>
                <a:cs typeface="+mn-lt"/>
              </a:rPr>
              <a:t>Flexbox</a:t>
            </a:r>
            <a:r>
              <a:rPr lang="es-ES" dirty="0">
                <a:ea typeface="+mn-lt"/>
                <a:cs typeface="+mn-lt"/>
              </a:rPr>
              <a:t> no es solo una herramienta para alinear elementos sencillos; es una poderosa solución para construir componentes de interfaz completos y </a:t>
            </a:r>
            <a:r>
              <a:rPr lang="es-ES" err="1">
                <a:ea typeface="+mn-lt"/>
                <a:cs typeface="+mn-lt"/>
              </a:rPr>
              <a:t>layouts</a:t>
            </a:r>
            <a:r>
              <a:rPr lang="es-ES" dirty="0">
                <a:ea typeface="+mn-lt"/>
                <a:cs typeface="+mn-lt"/>
              </a:rPr>
              <a:t> de página sofisticados. Su flexibilidad unidimensional (en una sola fila o columna) es ideal para la mayoría de los bloques de construcción que conforman una página web. A continuación, se presentan 10 ejemplos que ilustran cómo </a:t>
            </a:r>
            <a:r>
              <a:rPr lang="es-ES" err="1">
                <a:ea typeface="+mn-lt"/>
                <a:cs typeface="+mn-lt"/>
              </a:rPr>
              <a:t>Flexbox</a:t>
            </a:r>
            <a:r>
              <a:rPr lang="es-ES" dirty="0">
                <a:ea typeface="+mn-lt"/>
                <a:cs typeface="+mn-lt"/>
              </a:rPr>
              <a:t> puede resolver problemas de maquetación comunes, desde menús sencillos hasta </a:t>
            </a:r>
            <a:r>
              <a:rPr lang="es-ES" err="1">
                <a:ea typeface="+mn-lt"/>
                <a:cs typeface="+mn-lt"/>
              </a:rPr>
              <a:t>layouts</a:t>
            </a:r>
            <a:r>
              <a:rPr lang="es-ES" dirty="0">
                <a:ea typeface="+mn-lt"/>
                <a:cs typeface="+mn-lt"/>
              </a:rPr>
              <a:t> más avanzados.</a:t>
            </a:r>
          </a:p>
          <a:p>
            <a:r>
              <a:rPr lang="es-ES" dirty="0">
                <a:ea typeface="+mn-lt"/>
                <a:cs typeface="+mn-lt"/>
              </a:rPr>
              <a:t>Ejemplo: </a:t>
            </a:r>
            <a:r>
              <a:rPr lang="es-ES" dirty="0" err="1">
                <a:ea typeface="+mn-lt"/>
                <a:cs typeface="+mn-lt"/>
              </a:rPr>
              <a:t>Flexbox</a:t>
            </a:r>
            <a:r>
              <a:rPr lang="es-ES" dirty="0">
                <a:ea typeface="+mn-lt"/>
                <a:cs typeface="+mn-lt"/>
              </a:rPr>
              <a:t> es una forma sencilla de centrar un elemento tanto horizontal como verticalmente dentro de su padre.</a:t>
            </a:r>
            <a:endParaRPr lang="es-ES" dirty="0"/>
          </a:p>
          <a:p>
            <a:pPr marL="0" indent="0">
              <a:buNone/>
            </a:pPr>
            <a:r>
              <a:rPr lang="es-ES" b="1" dirty="0">
                <a:latin typeface="Courier New"/>
                <a:ea typeface="+mn-lt"/>
                <a:cs typeface="+mn-lt"/>
              </a:rPr>
              <a:t>&lt;</a:t>
            </a:r>
            <a:r>
              <a:rPr lang="es-ES" b="1" dirty="0" err="1">
                <a:latin typeface="Courier New"/>
                <a:ea typeface="+mn-lt"/>
                <a:cs typeface="+mn-lt"/>
              </a:rPr>
              <a:t>div</a:t>
            </a:r>
            <a:r>
              <a:rPr lang="es-ES" b="1" dirty="0">
                <a:latin typeface="Courier New"/>
                <a:ea typeface="+mn-lt"/>
                <a:cs typeface="+mn-lt"/>
              </a:rPr>
              <a:t> </a:t>
            </a:r>
            <a:r>
              <a:rPr lang="es-ES" b="1" dirty="0" err="1">
                <a:latin typeface="Courier New"/>
                <a:ea typeface="+mn-lt"/>
                <a:cs typeface="+mn-lt"/>
              </a:rPr>
              <a:t>class</a:t>
            </a:r>
            <a:r>
              <a:rPr lang="es-ES" b="1" dirty="0">
                <a:latin typeface="Courier New"/>
                <a:ea typeface="+mn-lt"/>
                <a:cs typeface="+mn-lt"/>
              </a:rPr>
              <a:t>="caja-padre"&gt;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div</a:t>
            </a:r>
            <a:r>
              <a:rPr lang="es-ES" b="1" dirty="0">
                <a:latin typeface="Courier New"/>
                <a:ea typeface="+mn-lt"/>
                <a:cs typeface="+mn-lt"/>
              </a:rPr>
              <a:t> </a:t>
            </a:r>
            <a:r>
              <a:rPr lang="es-ES" b="1" dirty="0" err="1">
                <a:latin typeface="Courier New"/>
                <a:ea typeface="+mn-lt"/>
                <a:cs typeface="+mn-lt"/>
              </a:rPr>
              <a:t>class</a:t>
            </a:r>
            <a:r>
              <a:rPr lang="es-ES" b="1" dirty="0">
                <a:latin typeface="Courier New"/>
                <a:ea typeface="+mn-lt"/>
                <a:cs typeface="+mn-lt"/>
              </a:rPr>
              <a:t>="caja-hijo"&gt;Centrado&lt;/</a:t>
            </a:r>
            <a:r>
              <a:rPr lang="es-ES" b="1" dirty="0" err="1">
                <a:latin typeface="Courier New"/>
                <a:ea typeface="+mn-lt"/>
                <a:cs typeface="+mn-lt"/>
              </a:rPr>
              <a:t>div</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&lt;/</a:t>
            </a:r>
            <a:r>
              <a:rPr lang="es-ES" b="1" dirty="0" err="1">
                <a:latin typeface="Courier New"/>
                <a:ea typeface="+mn-lt"/>
                <a:cs typeface="+mn-lt"/>
              </a:rPr>
              <a:t>div</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.caja-padre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display</a:t>
            </a:r>
            <a:r>
              <a:rPr lang="es-ES" b="1" dirty="0">
                <a:latin typeface="Courier New"/>
                <a:ea typeface="+mn-lt"/>
                <a:cs typeface="+mn-lt"/>
              </a:rPr>
              <a:t>: </a:t>
            </a:r>
            <a:r>
              <a:rPr lang="es-ES" b="1" dirty="0" err="1">
                <a:latin typeface="Courier New"/>
                <a:ea typeface="+mn-lt"/>
                <a:cs typeface="+mn-lt"/>
              </a:rPr>
              <a:t>flex</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justify-content</a:t>
            </a:r>
            <a:r>
              <a:rPr lang="es-ES" b="1" dirty="0">
                <a:latin typeface="Courier New"/>
                <a:ea typeface="+mn-lt"/>
                <a:cs typeface="+mn-lt"/>
              </a:rPr>
              <a:t>: center; /* Centrado horizontal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align-items</a:t>
            </a:r>
            <a:r>
              <a:rPr lang="es-ES" b="1" dirty="0">
                <a:latin typeface="Courier New"/>
                <a:ea typeface="+mn-lt"/>
                <a:cs typeface="+mn-lt"/>
              </a:rPr>
              <a:t>: center; /* Centrado vertical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height</a:t>
            </a:r>
            <a:r>
              <a:rPr lang="es-ES" b="1" dirty="0">
                <a:latin typeface="Courier New"/>
                <a:ea typeface="+mn-lt"/>
                <a:cs typeface="+mn-lt"/>
              </a:rPr>
              <a:t>: 200px;</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border</a:t>
            </a:r>
            <a:r>
              <a:rPr lang="es-ES" b="1" dirty="0">
                <a:latin typeface="Courier New"/>
                <a:ea typeface="+mn-lt"/>
                <a:cs typeface="+mn-lt"/>
              </a:rPr>
              <a:t>: 1px </a:t>
            </a:r>
            <a:r>
              <a:rPr lang="es-ES" b="1" dirty="0" err="1">
                <a:latin typeface="Courier New"/>
                <a:ea typeface="+mn-lt"/>
                <a:cs typeface="+mn-lt"/>
              </a:rPr>
              <a:t>solid</a:t>
            </a:r>
            <a:r>
              <a:rPr lang="es-ES" b="1" dirty="0">
                <a:latin typeface="Courier New"/>
                <a:ea typeface="+mn-lt"/>
                <a:cs typeface="+mn-lt"/>
              </a:rPr>
              <a:t> </a:t>
            </a:r>
            <a:r>
              <a:rPr lang="es-ES" b="1" dirty="0" err="1">
                <a:latin typeface="Courier New"/>
                <a:ea typeface="+mn-lt"/>
                <a:cs typeface="+mn-lt"/>
              </a:rPr>
              <a:t>black</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a:t>
            </a:r>
            <a:endParaRPr lang="es-ES" b="1" dirty="0">
              <a:latin typeface="Courier New"/>
              <a:cs typeface="Courier New"/>
            </a:endParaRPr>
          </a:p>
        </p:txBody>
      </p:sp>
    </p:spTree>
    <p:extLst>
      <p:ext uri="{BB962C8B-B14F-4D97-AF65-F5344CB8AC3E}">
        <p14:creationId xmlns:p14="http://schemas.microsoft.com/office/powerpoint/2010/main" val="2841012225"/>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DF9203-D1E2-7885-9D8C-9A487B3D56C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A816755-D287-634F-8966-1B0C2371D34A}"/>
              </a:ext>
            </a:extLst>
          </p:cNvPr>
          <p:cNvSpPr>
            <a:spLocks noGrp="1"/>
          </p:cNvSpPr>
          <p:nvPr>
            <p:ph type="title"/>
          </p:nvPr>
        </p:nvSpPr>
        <p:spPr/>
        <p:txBody>
          <a:bodyPr/>
          <a:lstStyle/>
          <a:p>
            <a:r>
              <a:rPr lang="es-ES" b="0" dirty="0">
                <a:ea typeface="+mj-lt"/>
                <a:cs typeface="+mj-lt"/>
              </a:rPr>
              <a:t>2.3.2.4. Creación de menús y </a:t>
            </a:r>
            <a:r>
              <a:rPr lang="es-ES" b="0" dirty="0" err="1">
                <a:ea typeface="+mj-lt"/>
                <a:cs typeface="+mj-lt"/>
              </a:rPr>
              <a:t>layouts</a:t>
            </a:r>
            <a:r>
              <a:rPr lang="es-ES" b="0" dirty="0">
                <a:ea typeface="+mj-lt"/>
                <a:cs typeface="+mj-lt"/>
              </a:rPr>
              <a:t> complejos con </a:t>
            </a:r>
            <a:r>
              <a:rPr lang="es-ES" b="0" dirty="0" err="1">
                <a:ea typeface="+mj-lt"/>
                <a:cs typeface="+mj-lt"/>
              </a:rPr>
              <a:t>Flexbox</a:t>
            </a:r>
            <a:r>
              <a:rPr lang="es-ES" b="0" dirty="0">
                <a:ea typeface="+mj-lt"/>
                <a:cs typeface="+mj-lt"/>
              </a:rPr>
              <a:t>.</a:t>
            </a:r>
            <a:endParaRPr lang="es-ES" dirty="0"/>
          </a:p>
        </p:txBody>
      </p:sp>
      <p:sp>
        <p:nvSpPr>
          <p:cNvPr id="3" name="Marcador de contenido 2">
            <a:extLst>
              <a:ext uri="{FF2B5EF4-FFF2-40B4-BE49-F238E27FC236}">
                <a16:creationId xmlns:a16="http://schemas.microsoft.com/office/drawing/2014/main" id="{762F80CA-E79A-1FD6-94F9-3C65B57E3180}"/>
              </a:ext>
            </a:extLst>
          </p:cNvPr>
          <p:cNvSpPr>
            <a:spLocks noGrp="1"/>
          </p:cNvSpPr>
          <p:nvPr>
            <p:ph idx="1"/>
          </p:nvPr>
        </p:nvSpPr>
        <p:spPr/>
        <p:txBody>
          <a:bodyPr vert="horz" lIns="91440" tIns="45720" rIns="91440" bIns="45720" rtlCol="0" anchor="t">
            <a:normAutofit fontScale="85000" lnSpcReduction="20000"/>
          </a:bodyPr>
          <a:lstStyle/>
          <a:p>
            <a:r>
              <a:rPr lang="es-ES" dirty="0">
                <a:ea typeface="+mn-lt"/>
                <a:cs typeface="+mn-lt"/>
              </a:rPr>
              <a:t>Ejemplo: Menú de navegación horizontal. Este es uno de los usos más comunes de </a:t>
            </a:r>
            <a:r>
              <a:rPr lang="es-ES" dirty="0" err="1">
                <a:ea typeface="+mn-lt"/>
                <a:cs typeface="+mn-lt"/>
              </a:rPr>
              <a:t>Flexbox</a:t>
            </a:r>
            <a:r>
              <a:rPr lang="es-ES" dirty="0">
                <a:ea typeface="+mn-lt"/>
                <a:cs typeface="+mn-lt"/>
              </a:rPr>
              <a:t>. Permite distribuir los elementos de un menú de manera uniforme a lo largo de un contenedor.</a:t>
            </a:r>
          </a:p>
          <a:p>
            <a:pPr marL="0" indent="0">
              <a:buNone/>
            </a:pPr>
            <a:r>
              <a:rPr lang="es-ES" b="1" dirty="0">
                <a:latin typeface="Courier New"/>
                <a:ea typeface="+mn-lt"/>
                <a:cs typeface="+mn-lt"/>
              </a:rPr>
              <a:t>&lt;</a:t>
            </a:r>
            <a:r>
              <a:rPr lang="es-ES" b="1" dirty="0" err="1">
                <a:latin typeface="Courier New"/>
                <a:ea typeface="+mn-lt"/>
                <a:cs typeface="+mn-lt"/>
              </a:rPr>
              <a:t>nav</a:t>
            </a:r>
            <a:r>
              <a:rPr lang="es-ES" b="1" dirty="0">
                <a:latin typeface="Courier New"/>
                <a:ea typeface="+mn-lt"/>
                <a:cs typeface="+mn-lt"/>
              </a:rPr>
              <a:t> </a:t>
            </a:r>
            <a:r>
              <a:rPr lang="es-ES" b="1" dirty="0" err="1">
                <a:latin typeface="Courier New"/>
                <a:ea typeface="+mn-lt"/>
                <a:cs typeface="+mn-lt"/>
              </a:rPr>
              <a:t>class</a:t>
            </a:r>
            <a:r>
              <a:rPr lang="es-ES" b="1" dirty="0">
                <a:latin typeface="Courier New"/>
                <a:ea typeface="+mn-lt"/>
                <a:cs typeface="+mn-lt"/>
              </a:rPr>
              <a:t>="</a:t>
            </a:r>
            <a:r>
              <a:rPr lang="es-ES" b="1" dirty="0" err="1">
                <a:latin typeface="Courier New"/>
                <a:ea typeface="+mn-lt"/>
                <a:cs typeface="+mn-lt"/>
              </a:rPr>
              <a:t>nav</a:t>
            </a:r>
            <a:r>
              <a:rPr lang="es-ES" b="1" dirty="0">
                <a:latin typeface="Courier New"/>
                <a:ea typeface="+mn-lt"/>
                <a:cs typeface="+mn-lt"/>
              </a:rPr>
              <a:t>-horizontal"&gt;</a:t>
            </a:r>
            <a:br>
              <a:rPr lang="es-ES" b="1" dirty="0">
                <a:latin typeface="Courier New"/>
                <a:ea typeface="+mn-lt"/>
                <a:cs typeface="+mn-lt"/>
              </a:rPr>
            </a:br>
            <a:r>
              <a:rPr lang="es-ES" b="1" dirty="0">
                <a:latin typeface="Courier New"/>
                <a:ea typeface="+mn-lt"/>
                <a:cs typeface="+mn-lt"/>
              </a:rPr>
              <a:t>  &lt;a </a:t>
            </a:r>
            <a:r>
              <a:rPr lang="es-ES" b="1" dirty="0" err="1">
                <a:latin typeface="Courier New"/>
                <a:ea typeface="+mn-lt"/>
                <a:cs typeface="+mn-lt"/>
              </a:rPr>
              <a:t>href</a:t>
            </a:r>
            <a:r>
              <a:rPr lang="es-ES" b="1" dirty="0">
                <a:latin typeface="Courier New"/>
                <a:ea typeface="+mn-lt"/>
                <a:cs typeface="+mn-lt"/>
              </a:rPr>
              <a:t>="#"&gt;Inicio&lt;/a&gt;</a:t>
            </a:r>
            <a:br>
              <a:rPr lang="es-ES" b="1" dirty="0">
                <a:latin typeface="Courier New"/>
                <a:ea typeface="+mn-lt"/>
                <a:cs typeface="+mn-lt"/>
              </a:rPr>
            </a:br>
            <a:r>
              <a:rPr lang="es-ES" b="1" dirty="0">
                <a:latin typeface="Courier New"/>
                <a:ea typeface="+mn-lt"/>
                <a:cs typeface="+mn-lt"/>
              </a:rPr>
              <a:t>  &lt;a </a:t>
            </a:r>
            <a:r>
              <a:rPr lang="es-ES" b="1" dirty="0" err="1">
                <a:latin typeface="Courier New"/>
                <a:ea typeface="+mn-lt"/>
                <a:cs typeface="+mn-lt"/>
              </a:rPr>
              <a:t>href</a:t>
            </a:r>
            <a:r>
              <a:rPr lang="es-ES" b="1" dirty="0">
                <a:latin typeface="Courier New"/>
                <a:ea typeface="+mn-lt"/>
                <a:cs typeface="+mn-lt"/>
              </a:rPr>
              <a:t>="#"&gt;Servicios&lt;/a&gt;</a:t>
            </a:r>
            <a:br>
              <a:rPr lang="es-ES" b="1" dirty="0">
                <a:latin typeface="Courier New"/>
                <a:ea typeface="+mn-lt"/>
                <a:cs typeface="+mn-lt"/>
              </a:rPr>
            </a:br>
            <a:r>
              <a:rPr lang="es-ES" b="1" dirty="0">
                <a:latin typeface="Courier New"/>
                <a:ea typeface="+mn-lt"/>
                <a:cs typeface="+mn-lt"/>
              </a:rPr>
              <a:t>  &lt;a </a:t>
            </a:r>
            <a:r>
              <a:rPr lang="es-ES" b="1" dirty="0" err="1">
                <a:latin typeface="Courier New"/>
                <a:ea typeface="+mn-lt"/>
                <a:cs typeface="+mn-lt"/>
              </a:rPr>
              <a:t>href</a:t>
            </a:r>
            <a:r>
              <a:rPr lang="es-ES" b="1" dirty="0">
                <a:latin typeface="Courier New"/>
                <a:ea typeface="+mn-lt"/>
                <a:cs typeface="+mn-lt"/>
              </a:rPr>
              <a:t>="#"&gt;Contacto&lt;/a&gt;</a:t>
            </a:r>
            <a:br>
              <a:rPr lang="es-ES" b="1" dirty="0">
                <a:latin typeface="Courier New"/>
                <a:ea typeface="+mn-lt"/>
                <a:cs typeface="+mn-lt"/>
              </a:rPr>
            </a:br>
            <a:r>
              <a:rPr lang="es-ES" b="1" dirty="0">
                <a:latin typeface="Courier New"/>
                <a:ea typeface="+mn-lt"/>
                <a:cs typeface="+mn-lt"/>
              </a:rPr>
              <a:t>&lt;/</a:t>
            </a:r>
            <a:r>
              <a:rPr lang="es-ES" b="1" dirty="0" err="1">
                <a:latin typeface="Courier New"/>
                <a:ea typeface="+mn-lt"/>
                <a:cs typeface="+mn-lt"/>
              </a:rPr>
              <a:t>nav</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a:t>
            </a:r>
            <a:r>
              <a:rPr lang="es-ES" b="1" dirty="0" err="1">
                <a:latin typeface="Courier New"/>
                <a:ea typeface="+mn-lt"/>
                <a:cs typeface="+mn-lt"/>
              </a:rPr>
              <a:t>nav</a:t>
            </a:r>
            <a:r>
              <a:rPr lang="es-ES" b="1" dirty="0">
                <a:latin typeface="Courier New"/>
                <a:ea typeface="+mn-lt"/>
                <a:cs typeface="+mn-lt"/>
              </a:rPr>
              <a:t>-horizontal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display</a:t>
            </a:r>
            <a:r>
              <a:rPr lang="es-ES" b="1" dirty="0">
                <a:latin typeface="Courier New"/>
                <a:ea typeface="+mn-lt"/>
                <a:cs typeface="+mn-lt"/>
              </a:rPr>
              <a:t>: </a:t>
            </a:r>
            <a:r>
              <a:rPr lang="es-ES" b="1" dirty="0" err="1">
                <a:latin typeface="Courier New"/>
                <a:ea typeface="+mn-lt"/>
                <a:cs typeface="+mn-lt"/>
              </a:rPr>
              <a:t>flex</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justify-content</a:t>
            </a:r>
            <a:r>
              <a:rPr lang="es-ES" b="1" dirty="0">
                <a:latin typeface="Courier New"/>
                <a:ea typeface="+mn-lt"/>
                <a:cs typeface="+mn-lt"/>
              </a:rPr>
              <a:t>: </a:t>
            </a:r>
            <a:r>
              <a:rPr lang="es-ES" b="1" dirty="0" err="1">
                <a:latin typeface="Courier New"/>
                <a:ea typeface="+mn-lt"/>
                <a:cs typeface="+mn-lt"/>
              </a:rPr>
              <a:t>space-around</a:t>
            </a:r>
            <a:r>
              <a:rPr lang="es-ES" b="1" dirty="0">
                <a:latin typeface="Courier New"/>
                <a:ea typeface="+mn-lt"/>
                <a:cs typeface="+mn-lt"/>
              </a:rPr>
              <a:t>; /* Distribuye el espacio equitativamente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align-items</a:t>
            </a:r>
            <a:r>
              <a:rPr lang="es-ES" b="1" dirty="0">
                <a:latin typeface="Courier New"/>
                <a:ea typeface="+mn-lt"/>
                <a:cs typeface="+mn-lt"/>
              </a:rPr>
              <a:t>: center; /* Alinea los enlaces verticalmente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background</a:t>
            </a:r>
            <a:r>
              <a:rPr lang="es-ES" b="1" dirty="0">
                <a:latin typeface="Courier New"/>
                <a:ea typeface="+mn-lt"/>
                <a:cs typeface="+mn-lt"/>
              </a:rPr>
              <a:t>-color: #333;</a:t>
            </a:r>
            <a:br>
              <a:rPr lang="es-ES" b="1" dirty="0">
                <a:latin typeface="Courier New"/>
                <a:ea typeface="+mn-lt"/>
                <a:cs typeface="+mn-lt"/>
              </a:rPr>
            </a:b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a:t>
            </a:r>
            <a:r>
              <a:rPr lang="es-ES" b="1" dirty="0" err="1">
                <a:latin typeface="Courier New"/>
                <a:ea typeface="+mn-lt"/>
                <a:cs typeface="+mn-lt"/>
              </a:rPr>
              <a:t>nav</a:t>
            </a:r>
            <a:r>
              <a:rPr lang="es-ES" b="1" dirty="0">
                <a:latin typeface="Courier New"/>
                <a:ea typeface="+mn-lt"/>
                <a:cs typeface="+mn-lt"/>
              </a:rPr>
              <a:t>-horizontal a {</a:t>
            </a:r>
            <a:br>
              <a:rPr lang="es-ES" b="1" dirty="0">
                <a:latin typeface="Courier New"/>
                <a:ea typeface="+mn-lt"/>
                <a:cs typeface="+mn-lt"/>
              </a:rPr>
            </a:br>
            <a:r>
              <a:rPr lang="es-ES" b="1" dirty="0">
                <a:latin typeface="Courier New"/>
                <a:ea typeface="+mn-lt"/>
                <a:cs typeface="+mn-lt"/>
              </a:rPr>
              <a:t>  color: </a:t>
            </a:r>
            <a:r>
              <a:rPr lang="es-ES" b="1" dirty="0" err="1">
                <a:latin typeface="Courier New"/>
                <a:ea typeface="+mn-lt"/>
                <a:cs typeface="+mn-lt"/>
              </a:rPr>
              <a:t>white</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padding</a:t>
            </a:r>
            <a:r>
              <a:rPr lang="es-ES" b="1" dirty="0">
                <a:latin typeface="Courier New"/>
                <a:ea typeface="+mn-lt"/>
                <a:cs typeface="+mn-lt"/>
              </a:rPr>
              <a:t>: 15px;</a:t>
            </a:r>
            <a:br>
              <a:rPr lang="es-ES" b="1" dirty="0">
                <a:latin typeface="Courier New"/>
                <a:ea typeface="+mn-lt"/>
                <a:cs typeface="+mn-lt"/>
              </a:rPr>
            </a:br>
            <a:r>
              <a:rPr lang="es-ES" b="1" dirty="0">
                <a:latin typeface="Courier New"/>
                <a:ea typeface="+mn-lt"/>
                <a:cs typeface="+mn-lt"/>
              </a:rPr>
              <a:t>}</a:t>
            </a:r>
          </a:p>
          <a:p>
            <a:endParaRPr lang="es-ES" dirty="0">
              <a:latin typeface="Bierstadt"/>
              <a:cs typeface="Courier New"/>
            </a:endParaRPr>
          </a:p>
        </p:txBody>
      </p:sp>
    </p:spTree>
    <p:extLst>
      <p:ext uri="{BB962C8B-B14F-4D97-AF65-F5344CB8AC3E}">
        <p14:creationId xmlns:p14="http://schemas.microsoft.com/office/powerpoint/2010/main" val="1052319022"/>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04E455-CF2D-8FDD-7DE8-177DCAB3576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BD5D069-52FE-728C-BE74-E674CD98B722}"/>
              </a:ext>
            </a:extLst>
          </p:cNvPr>
          <p:cNvSpPr>
            <a:spLocks noGrp="1"/>
          </p:cNvSpPr>
          <p:nvPr>
            <p:ph type="title"/>
          </p:nvPr>
        </p:nvSpPr>
        <p:spPr/>
        <p:txBody>
          <a:bodyPr/>
          <a:lstStyle/>
          <a:p>
            <a:r>
              <a:rPr lang="es-ES" b="0" dirty="0">
                <a:ea typeface="+mj-lt"/>
                <a:cs typeface="+mj-lt"/>
              </a:rPr>
              <a:t>2.3.2.4. Creación de menús y </a:t>
            </a:r>
            <a:r>
              <a:rPr lang="es-ES" b="0" dirty="0" err="1">
                <a:ea typeface="+mj-lt"/>
                <a:cs typeface="+mj-lt"/>
              </a:rPr>
              <a:t>layouts</a:t>
            </a:r>
            <a:r>
              <a:rPr lang="es-ES" b="0" dirty="0">
                <a:ea typeface="+mj-lt"/>
                <a:cs typeface="+mj-lt"/>
              </a:rPr>
              <a:t> complejos con </a:t>
            </a:r>
            <a:r>
              <a:rPr lang="es-ES" b="0" dirty="0" err="1">
                <a:ea typeface="+mj-lt"/>
                <a:cs typeface="+mj-lt"/>
              </a:rPr>
              <a:t>Flexbox</a:t>
            </a:r>
            <a:r>
              <a:rPr lang="es-ES" b="0" dirty="0">
                <a:ea typeface="+mj-lt"/>
                <a:cs typeface="+mj-lt"/>
              </a:rPr>
              <a:t>.</a:t>
            </a:r>
            <a:endParaRPr lang="es-ES" dirty="0"/>
          </a:p>
        </p:txBody>
      </p:sp>
      <p:sp>
        <p:nvSpPr>
          <p:cNvPr id="3" name="Marcador de contenido 2">
            <a:extLst>
              <a:ext uri="{FF2B5EF4-FFF2-40B4-BE49-F238E27FC236}">
                <a16:creationId xmlns:a16="http://schemas.microsoft.com/office/drawing/2014/main" id="{C601316A-8375-9972-7DE5-807484A50F47}"/>
              </a:ext>
            </a:extLst>
          </p:cNvPr>
          <p:cNvSpPr>
            <a:spLocks noGrp="1"/>
          </p:cNvSpPr>
          <p:nvPr>
            <p:ph idx="1"/>
          </p:nvPr>
        </p:nvSpPr>
        <p:spPr/>
        <p:txBody>
          <a:bodyPr vert="horz" lIns="91440" tIns="45720" rIns="91440" bIns="45720" rtlCol="0" anchor="t">
            <a:normAutofit fontScale="62500" lnSpcReduction="20000"/>
          </a:bodyPr>
          <a:lstStyle/>
          <a:p>
            <a:r>
              <a:rPr lang="es-ES" dirty="0">
                <a:ea typeface="+mn-lt"/>
                <a:cs typeface="+mn-lt"/>
              </a:rPr>
              <a:t>Ejemplo: </a:t>
            </a:r>
            <a:r>
              <a:rPr lang="es-ES" dirty="0" err="1">
                <a:ea typeface="+mn-lt"/>
                <a:cs typeface="+mn-lt"/>
              </a:rPr>
              <a:t>Flexbox</a:t>
            </a:r>
            <a:r>
              <a:rPr lang="es-ES" dirty="0">
                <a:ea typeface="+mn-lt"/>
                <a:cs typeface="+mn-lt"/>
              </a:rPr>
              <a:t> resuelve fácilmente el problema de las columnas de igual altura. Los </a:t>
            </a:r>
            <a:r>
              <a:rPr lang="es-ES" dirty="0" err="1">
                <a:ea typeface="+mn-lt"/>
                <a:cs typeface="+mn-lt"/>
              </a:rPr>
              <a:t>flex</a:t>
            </a:r>
            <a:r>
              <a:rPr lang="es-ES" dirty="0">
                <a:ea typeface="+mn-lt"/>
                <a:cs typeface="+mn-lt"/>
              </a:rPr>
              <a:t> </a:t>
            </a:r>
            <a:r>
              <a:rPr lang="es-ES" dirty="0" err="1">
                <a:ea typeface="+mn-lt"/>
                <a:cs typeface="+mn-lt"/>
              </a:rPr>
              <a:t>items</a:t>
            </a:r>
            <a:r>
              <a:rPr lang="es-ES" dirty="0">
                <a:ea typeface="+mn-lt"/>
                <a:cs typeface="+mn-lt"/>
              </a:rPr>
              <a:t> por defecto tienen un </a:t>
            </a:r>
            <a:r>
              <a:rPr lang="es-ES" dirty="0" err="1">
                <a:ea typeface="+mn-lt"/>
                <a:cs typeface="+mn-lt"/>
              </a:rPr>
              <a:t>align-items</a:t>
            </a:r>
            <a:r>
              <a:rPr lang="es-ES" dirty="0">
                <a:ea typeface="+mn-lt"/>
                <a:cs typeface="+mn-lt"/>
              </a:rPr>
              <a:t>: </a:t>
            </a:r>
            <a:r>
              <a:rPr lang="es-ES" dirty="0" err="1">
                <a:ea typeface="+mn-lt"/>
                <a:cs typeface="+mn-lt"/>
              </a:rPr>
              <a:t>stretch</a:t>
            </a:r>
            <a:r>
              <a:rPr lang="es-ES" dirty="0">
                <a:ea typeface="+mn-lt"/>
                <a:cs typeface="+mn-lt"/>
              </a:rPr>
              <a:t>, que los estira para que ocupen la altura del contenedor.</a:t>
            </a:r>
          </a:p>
          <a:p>
            <a:pPr marL="0" indent="0">
              <a:buNone/>
            </a:pPr>
            <a:r>
              <a:rPr lang="es-ES" b="1" dirty="0">
                <a:latin typeface="Courier New"/>
                <a:ea typeface="+mn-lt"/>
                <a:cs typeface="+mn-lt"/>
              </a:rPr>
              <a:t>&lt;</a:t>
            </a:r>
            <a:r>
              <a:rPr lang="es-ES" b="1" dirty="0" err="1">
                <a:latin typeface="Courier New"/>
                <a:ea typeface="+mn-lt"/>
                <a:cs typeface="+mn-lt"/>
              </a:rPr>
              <a:t>div</a:t>
            </a:r>
            <a:r>
              <a:rPr lang="es-ES" b="1" dirty="0">
                <a:latin typeface="Courier New"/>
                <a:ea typeface="+mn-lt"/>
                <a:cs typeface="+mn-lt"/>
              </a:rPr>
              <a:t> </a:t>
            </a:r>
            <a:r>
              <a:rPr lang="es-ES" b="1" dirty="0" err="1">
                <a:latin typeface="Courier New"/>
                <a:ea typeface="+mn-lt"/>
                <a:cs typeface="+mn-lt"/>
              </a:rPr>
              <a:t>class</a:t>
            </a:r>
            <a:r>
              <a:rPr lang="es-ES" b="1" dirty="0">
                <a:latin typeface="Courier New"/>
                <a:ea typeface="+mn-lt"/>
                <a:cs typeface="+mn-lt"/>
              </a:rPr>
              <a:t>="columnas-iguales"&gt;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div</a:t>
            </a:r>
            <a:r>
              <a:rPr lang="es-ES" b="1" dirty="0">
                <a:latin typeface="Courier New"/>
                <a:ea typeface="+mn-lt"/>
                <a:cs typeface="+mn-lt"/>
              </a:rPr>
              <a:t> </a:t>
            </a:r>
            <a:r>
              <a:rPr lang="es-ES" b="1" dirty="0" err="1">
                <a:latin typeface="Courier New"/>
                <a:ea typeface="+mn-lt"/>
                <a:cs typeface="+mn-lt"/>
              </a:rPr>
              <a:t>class</a:t>
            </a:r>
            <a:r>
              <a:rPr lang="es-ES" b="1" dirty="0">
                <a:latin typeface="Courier New"/>
                <a:ea typeface="+mn-lt"/>
                <a:cs typeface="+mn-lt"/>
              </a:rPr>
              <a:t>="columna"&gt;</a:t>
            </a:r>
            <a:br>
              <a:rPr lang="es-ES" b="1" dirty="0">
                <a:latin typeface="Courier New"/>
                <a:ea typeface="+mn-lt"/>
                <a:cs typeface="+mn-lt"/>
              </a:rPr>
            </a:br>
            <a:r>
              <a:rPr lang="es-ES" b="1" dirty="0">
                <a:latin typeface="Courier New"/>
                <a:ea typeface="+mn-lt"/>
                <a:cs typeface="+mn-lt"/>
              </a:rPr>
              <a:t>    &lt;h3&gt;Columna 1&lt;/h3&gt;</a:t>
            </a:r>
            <a:br>
              <a:rPr lang="es-ES" b="1" dirty="0">
                <a:latin typeface="Courier New"/>
                <a:ea typeface="+mn-lt"/>
                <a:cs typeface="+mn-lt"/>
              </a:rPr>
            </a:br>
            <a:r>
              <a:rPr lang="es-ES" b="1" dirty="0">
                <a:latin typeface="Courier New"/>
                <a:ea typeface="+mn-lt"/>
                <a:cs typeface="+mn-lt"/>
              </a:rPr>
              <a:t>    &lt;p&gt;Contenido más corto.&lt;/p&gt;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div</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div</a:t>
            </a:r>
            <a:r>
              <a:rPr lang="es-ES" b="1" dirty="0">
                <a:latin typeface="Courier New"/>
                <a:ea typeface="+mn-lt"/>
                <a:cs typeface="+mn-lt"/>
              </a:rPr>
              <a:t> </a:t>
            </a:r>
            <a:r>
              <a:rPr lang="es-ES" b="1" dirty="0" err="1">
                <a:latin typeface="Courier New"/>
                <a:ea typeface="+mn-lt"/>
                <a:cs typeface="+mn-lt"/>
              </a:rPr>
              <a:t>class</a:t>
            </a:r>
            <a:r>
              <a:rPr lang="es-ES" b="1" dirty="0">
                <a:latin typeface="Courier New"/>
                <a:ea typeface="+mn-lt"/>
                <a:cs typeface="+mn-lt"/>
              </a:rPr>
              <a:t>="columna"&gt;</a:t>
            </a:r>
            <a:br>
              <a:rPr lang="es-ES" b="1" dirty="0">
                <a:latin typeface="Courier New"/>
                <a:ea typeface="+mn-lt"/>
                <a:cs typeface="+mn-lt"/>
              </a:rPr>
            </a:br>
            <a:r>
              <a:rPr lang="es-ES" b="1" dirty="0">
                <a:latin typeface="Courier New"/>
                <a:ea typeface="+mn-lt"/>
                <a:cs typeface="+mn-lt"/>
              </a:rPr>
              <a:t>    &lt;h3&gt;Columna 2&lt;/h3&gt;</a:t>
            </a:r>
            <a:br>
              <a:rPr lang="es-ES" b="1" dirty="0">
                <a:latin typeface="Courier New"/>
                <a:ea typeface="+mn-lt"/>
                <a:cs typeface="+mn-lt"/>
              </a:rPr>
            </a:br>
            <a:r>
              <a:rPr lang="es-ES" b="1" dirty="0">
                <a:latin typeface="Courier New"/>
                <a:ea typeface="+mn-lt"/>
                <a:cs typeface="+mn-lt"/>
              </a:rPr>
              <a:t>    &lt;p&gt;Contenido mucho más largo que el de la otra columna.&lt;/p&gt;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div</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&lt;/</a:t>
            </a:r>
            <a:r>
              <a:rPr lang="es-ES" b="1" dirty="0" err="1">
                <a:latin typeface="Courier New"/>
                <a:ea typeface="+mn-lt"/>
                <a:cs typeface="+mn-lt"/>
              </a:rPr>
              <a:t>div</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.columnas-iguales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display</a:t>
            </a:r>
            <a:r>
              <a:rPr lang="es-ES" b="1" dirty="0">
                <a:latin typeface="Courier New"/>
                <a:ea typeface="+mn-lt"/>
                <a:cs typeface="+mn-lt"/>
              </a:rPr>
              <a:t>: </a:t>
            </a:r>
            <a:r>
              <a:rPr lang="es-ES" b="1" dirty="0" err="1">
                <a:latin typeface="Courier New"/>
                <a:ea typeface="+mn-lt"/>
                <a:cs typeface="+mn-lt"/>
              </a:rPr>
              <a:t>flex</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border</a:t>
            </a:r>
            <a:r>
              <a:rPr lang="es-ES" b="1" dirty="0">
                <a:latin typeface="Courier New"/>
                <a:ea typeface="+mn-lt"/>
                <a:cs typeface="+mn-lt"/>
              </a:rPr>
              <a:t>: 1px </a:t>
            </a:r>
            <a:r>
              <a:rPr lang="es-ES" b="1" dirty="0" err="1">
                <a:latin typeface="Courier New"/>
                <a:ea typeface="+mn-lt"/>
                <a:cs typeface="+mn-lt"/>
              </a:rPr>
              <a:t>solid</a:t>
            </a:r>
            <a:r>
              <a:rPr lang="es-ES" b="1" dirty="0">
                <a:latin typeface="Courier New"/>
                <a:ea typeface="+mn-lt"/>
                <a:cs typeface="+mn-lt"/>
              </a:rPr>
              <a:t> #ccc;</a:t>
            </a:r>
            <a:br>
              <a:rPr lang="es-ES" b="1" dirty="0">
                <a:latin typeface="Courier New"/>
                <a:ea typeface="+mn-lt"/>
                <a:cs typeface="+mn-lt"/>
              </a:rPr>
            </a:b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.columna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background</a:t>
            </a:r>
            <a:r>
              <a:rPr lang="es-ES" b="1" dirty="0">
                <a:latin typeface="Courier New"/>
                <a:ea typeface="+mn-lt"/>
                <a:cs typeface="+mn-lt"/>
              </a:rPr>
              <a:t>-color: #f2f2f2;</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border</a:t>
            </a:r>
            <a:r>
              <a:rPr lang="es-ES" b="1" dirty="0">
                <a:latin typeface="Courier New"/>
                <a:ea typeface="+mn-lt"/>
                <a:cs typeface="+mn-lt"/>
              </a:rPr>
              <a:t>: 1px </a:t>
            </a:r>
            <a:r>
              <a:rPr lang="es-ES" b="1" dirty="0" err="1">
                <a:latin typeface="Courier New"/>
                <a:ea typeface="+mn-lt"/>
                <a:cs typeface="+mn-lt"/>
              </a:rPr>
              <a:t>solid</a:t>
            </a:r>
            <a:r>
              <a:rPr lang="es-ES" b="1" dirty="0">
                <a:latin typeface="Courier New"/>
                <a:ea typeface="+mn-lt"/>
                <a:cs typeface="+mn-lt"/>
              </a:rPr>
              <a:t> #ddd;</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padding</a:t>
            </a:r>
            <a:r>
              <a:rPr lang="es-ES" b="1" dirty="0">
                <a:latin typeface="Courier New"/>
                <a:ea typeface="+mn-lt"/>
                <a:cs typeface="+mn-lt"/>
              </a:rPr>
              <a:t>: 20px;</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flex</a:t>
            </a:r>
            <a:r>
              <a:rPr lang="es-ES" b="1" dirty="0">
                <a:latin typeface="Courier New"/>
                <a:ea typeface="+mn-lt"/>
                <a:cs typeface="+mn-lt"/>
              </a:rPr>
              <a:t>: 1; /* Permite que cada columna ocupe un espacio igual */</a:t>
            </a:r>
            <a:br>
              <a:rPr lang="es-ES" b="1" dirty="0">
                <a:latin typeface="Courier New"/>
                <a:ea typeface="+mn-lt"/>
                <a:cs typeface="+mn-lt"/>
              </a:rPr>
            </a:br>
            <a:r>
              <a:rPr lang="es-ES" b="1" dirty="0">
                <a:latin typeface="Courier New"/>
                <a:ea typeface="+mn-lt"/>
                <a:cs typeface="+mn-lt"/>
              </a:rPr>
              <a:t>}</a:t>
            </a:r>
          </a:p>
          <a:p>
            <a:endParaRPr lang="es-ES" dirty="0">
              <a:latin typeface="Bierstadt"/>
              <a:ea typeface="+mn-lt"/>
              <a:cs typeface="+mn-lt"/>
            </a:endParaRPr>
          </a:p>
          <a:p>
            <a:endParaRPr lang="es-ES" dirty="0">
              <a:latin typeface="Bierstadt"/>
              <a:cs typeface="Courier New"/>
            </a:endParaRPr>
          </a:p>
        </p:txBody>
      </p:sp>
    </p:spTree>
    <p:extLst>
      <p:ext uri="{BB962C8B-B14F-4D97-AF65-F5344CB8AC3E}">
        <p14:creationId xmlns:p14="http://schemas.microsoft.com/office/powerpoint/2010/main" val="385088241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7117E4-56A6-7BF7-C06B-81E54D547E7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ADD3C5B-CD85-51CE-9904-25C0F8087620}"/>
              </a:ext>
            </a:extLst>
          </p:cNvPr>
          <p:cNvSpPr>
            <a:spLocks noGrp="1"/>
          </p:cNvSpPr>
          <p:nvPr>
            <p:ph type="title"/>
          </p:nvPr>
        </p:nvSpPr>
        <p:spPr/>
        <p:txBody>
          <a:bodyPr/>
          <a:lstStyle/>
          <a:p>
            <a:r>
              <a:rPr lang="es-ES" b="0" dirty="0">
                <a:ea typeface="+mj-lt"/>
                <a:cs typeface="+mj-lt"/>
              </a:rPr>
              <a:t>2.3.2.4. Creación de menús y </a:t>
            </a:r>
            <a:r>
              <a:rPr lang="es-ES" b="0" dirty="0" err="1">
                <a:ea typeface="+mj-lt"/>
                <a:cs typeface="+mj-lt"/>
              </a:rPr>
              <a:t>layouts</a:t>
            </a:r>
            <a:r>
              <a:rPr lang="es-ES" b="0" dirty="0">
                <a:ea typeface="+mj-lt"/>
                <a:cs typeface="+mj-lt"/>
              </a:rPr>
              <a:t> complejos con </a:t>
            </a:r>
            <a:r>
              <a:rPr lang="es-ES" b="0" dirty="0" err="1">
                <a:ea typeface="+mj-lt"/>
                <a:cs typeface="+mj-lt"/>
              </a:rPr>
              <a:t>Flexbox</a:t>
            </a:r>
            <a:r>
              <a:rPr lang="es-ES" b="0" dirty="0">
                <a:ea typeface="+mj-lt"/>
                <a:cs typeface="+mj-lt"/>
              </a:rPr>
              <a:t>.</a:t>
            </a:r>
            <a:endParaRPr lang="es-ES" dirty="0"/>
          </a:p>
        </p:txBody>
      </p:sp>
      <p:sp>
        <p:nvSpPr>
          <p:cNvPr id="3" name="Marcador de contenido 2">
            <a:extLst>
              <a:ext uri="{FF2B5EF4-FFF2-40B4-BE49-F238E27FC236}">
                <a16:creationId xmlns:a16="http://schemas.microsoft.com/office/drawing/2014/main" id="{7B83F4EE-55AE-822C-059D-9E4789EA5A51}"/>
              </a:ext>
            </a:extLst>
          </p:cNvPr>
          <p:cNvSpPr>
            <a:spLocks noGrp="1"/>
          </p:cNvSpPr>
          <p:nvPr>
            <p:ph idx="1"/>
          </p:nvPr>
        </p:nvSpPr>
        <p:spPr/>
        <p:txBody>
          <a:bodyPr vert="horz" lIns="91440" tIns="45720" rIns="91440" bIns="45720" rtlCol="0" anchor="t">
            <a:normAutofit fontScale="62500" lnSpcReduction="20000"/>
          </a:bodyPr>
          <a:lstStyle/>
          <a:p>
            <a:r>
              <a:rPr lang="es-ES" dirty="0">
                <a:ea typeface="+mn-lt"/>
                <a:cs typeface="+mn-lt"/>
              </a:rPr>
              <a:t>Ejemplo: Distribución de elementos con </a:t>
            </a:r>
            <a:r>
              <a:rPr lang="es-ES" dirty="0" err="1">
                <a:ea typeface="+mn-lt"/>
                <a:cs typeface="+mn-lt"/>
              </a:rPr>
              <a:t>space-between</a:t>
            </a:r>
            <a:r>
              <a:rPr lang="es-ES" dirty="0">
                <a:ea typeface="+mn-lt"/>
                <a:cs typeface="+mn-lt"/>
              </a:rPr>
              <a:t>. Ideal para barras de navegación donde quieres un elemento a la izquierda, otro a la derecha, y el resto en el medio.</a:t>
            </a:r>
          </a:p>
          <a:p>
            <a:pPr marL="0" indent="0">
              <a:buNone/>
            </a:pPr>
            <a:r>
              <a:rPr lang="es-ES" b="1" dirty="0">
                <a:latin typeface="Courier New"/>
                <a:ea typeface="+mn-lt"/>
                <a:cs typeface="+mn-lt"/>
              </a:rPr>
              <a:t>&lt;</a:t>
            </a:r>
            <a:r>
              <a:rPr lang="es-ES" b="1" dirty="0" err="1">
                <a:latin typeface="Courier New"/>
                <a:ea typeface="+mn-lt"/>
                <a:cs typeface="+mn-lt"/>
              </a:rPr>
              <a:t>div</a:t>
            </a:r>
            <a:r>
              <a:rPr lang="es-ES" b="1" dirty="0">
                <a:latin typeface="Courier New"/>
                <a:ea typeface="+mn-lt"/>
                <a:cs typeface="+mn-lt"/>
              </a:rPr>
              <a:t> </a:t>
            </a:r>
            <a:r>
              <a:rPr lang="es-ES" b="1" dirty="0" err="1">
                <a:latin typeface="Courier New"/>
                <a:ea typeface="+mn-lt"/>
                <a:cs typeface="+mn-lt"/>
              </a:rPr>
              <a:t>class</a:t>
            </a:r>
            <a:r>
              <a:rPr lang="es-ES" b="1" dirty="0">
                <a:latin typeface="Courier New"/>
                <a:ea typeface="+mn-lt"/>
                <a:cs typeface="+mn-lt"/>
              </a:rPr>
              <a:t>="</a:t>
            </a:r>
            <a:r>
              <a:rPr lang="es-ES" b="1" dirty="0" err="1">
                <a:latin typeface="Courier New"/>
                <a:ea typeface="+mn-lt"/>
                <a:cs typeface="+mn-lt"/>
              </a:rPr>
              <a:t>header</a:t>
            </a:r>
            <a:r>
              <a:rPr lang="es-ES" b="1" dirty="0">
                <a:latin typeface="Courier New"/>
                <a:ea typeface="+mn-lt"/>
                <a:cs typeface="+mn-lt"/>
              </a:rPr>
              <a:t>-app"&gt;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div</a:t>
            </a:r>
            <a:r>
              <a:rPr lang="es-ES" b="1" dirty="0">
                <a:latin typeface="Courier New"/>
                <a:ea typeface="+mn-lt"/>
                <a:cs typeface="+mn-lt"/>
              </a:rPr>
              <a:t> </a:t>
            </a:r>
            <a:r>
              <a:rPr lang="es-ES" b="1" dirty="0" err="1">
                <a:latin typeface="Courier New"/>
                <a:ea typeface="+mn-lt"/>
                <a:cs typeface="+mn-lt"/>
              </a:rPr>
              <a:t>class</a:t>
            </a:r>
            <a:r>
              <a:rPr lang="es-ES" b="1" dirty="0">
                <a:latin typeface="Courier New"/>
                <a:ea typeface="+mn-lt"/>
                <a:cs typeface="+mn-lt"/>
              </a:rPr>
              <a:t>="logo"&gt;Logo&lt;/</a:t>
            </a:r>
            <a:r>
              <a:rPr lang="es-ES" b="1" dirty="0" err="1">
                <a:latin typeface="Courier New"/>
                <a:ea typeface="+mn-lt"/>
                <a:cs typeface="+mn-lt"/>
              </a:rPr>
              <a:t>div</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nav</a:t>
            </a:r>
            <a:r>
              <a:rPr lang="es-ES" b="1" dirty="0">
                <a:latin typeface="Courier New"/>
                <a:ea typeface="+mn-lt"/>
                <a:cs typeface="+mn-lt"/>
              </a:rPr>
              <a:t> </a:t>
            </a:r>
            <a:r>
              <a:rPr lang="es-ES" b="1" dirty="0" err="1">
                <a:latin typeface="Courier New"/>
                <a:ea typeface="+mn-lt"/>
                <a:cs typeface="+mn-lt"/>
              </a:rPr>
              <a:t>class</a:t>
            </a:r>
            <a:r>
              <a:rPr lang="es-ES" b="1" dirty="0">
                <a:latin typeface="Courier New"/>
                <a:ea typeface="+mn-lt"/>
                <a:cs typeface="+mn-lt"/>
              </a:rPr>
              <a:t>="</a:t>
            </a:r>
            <a:r>
              <a:rPr lang="es-ES" b="1" dirty="0" err="1">
                <a:latin typeface="Courier New"/>
                <a:ea typeface="+mn-lt"/>
                <a:cs typeface="+mn-lt"/>
              </a:rPr>
              <a:t>menu</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&lt;a </a:t>
            </a:r>
            <a:r>
              <a:rPr lang="es-ES" b="1" dirty="0" err="1">
                <a:latin typeface="Courier New"/>
                <a:ea typeface="+mn-lt"/>
                <a:cs typeface="+mn-lt"/>
              </a:rPr>
              <a:t>href</a:t>
            </a:r>
            <a:r>
              <a:rPr lang="es-ES" b="1" dirty="0">
                <a:latin typeface="Courier New"/>
                <a:ea typeface="+mn-lt"/>
                <a:cs typeface="+mn-lt"/>
              </a:rPr>
              <a:t>="#"&gt;Link 1&lt;/a&gt;</a:t>
            </a:r>
            <a:br>
              <a:rPr lang="es-ES" b="1" dirty="0">
                <a:latin typeface="Courier New"/>
                <a:ea typeface="+mn-lt"/>
                <a:cs typeface="+mn-lt"/>
              </a:rPr>
            </a:br>
            <a:r>
              <a:rPr lang="es-ES" b="1" dirty="0">
                <a:latin typeface="Courier New"/>
                <a:ea typeface="+mn-lt"/>
                <a:cs typeface="+mn-lt"/>
              </a:rPr>
              <a:t>    &lt;a </a:t>
            </a:r>
            <a:r>
              <a:rPr lang="es-ES" b="1" dirty="0" err="1">
                <a:latin typeface="Courier New"/>
                <a:ea typeface="+mn-lt"/>
                <a:cs typeface="+mn-lt"/>
              </a:rPr>
              <a:t>href</a:t>
            </a:r>
            <a:r>
              <a:rPr lang="es-ES" b="1" dirty="0">
                <a:latin typeface="Courier New"/>
                <a:ea typeface="+mn-lt"/>
                <a:cs typeface="+mn-lt"/>
              </a:rPr>
              <a:t>="#"&gt;Link 2&lt;/a&gt;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nav</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div</a:t>
            </a:r>
            <a:r>
              <a:rPr lang="es-ES" b="1" dirty="0">
                <a:latin typeface="Courier New"/>
                <a:ea typeface="+mn-lt"/>
                <a:cs typeface="+mn-lt"/>
              </a:rPr>
              <a:t> </a:t>
            </a:r>
            <a:r>
              <a:rPr lang="es-ES" b="1" dirty="0" err="1">
                <a:latin typeface="Courier New"/>
                <a:ea typeface="+mn-lt"/>
                <a:cs typeface="+mn-lt"/>
              </a:rPr>
              <a:t>class</a:t>
            </a:r>
            <a:r>
              <a:rPr lang="es-ES" b="1" dirty="0">
                <a:latin typeface="Courier New"/>
                <a:ea typeface="+mn-lt"/>
                <a:cs typeface="+mn-lt"/>
              </a:rPr>
              <a:t>="acciones"&gt;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button</a:t>
            </a:r>
            <a:r>
              <a:rPr lang="es-ES" b="1" dirty="0">
                <a:latin typeface="Courier New"/>
                <a:ea typeface="+mn-lt"/>
                <a:cs typeface="+mn-lt"/>
              </a:rPr>
              <a:t>&gt;</a:t>
            </a:r>
            <a:r>
              <a:rPr lang="es-ES" b="1" dirty="0" err="1">
                <a:latin typeface="Courier New"/>
                <a:ea typeface="+mn-lt"/>
                <a:cs typeface="+mn-lt"/>
              </a:rPr>
              <a:t>Login</a:t>
            </a:r>
            <a:r>
              <a:rPr lang="es-ES" b="1" dirty="0">
                <a:latin typeface="Courier New"/>
                <a:ea typeface="+mn-lt"/>
                <a:cs typeface="+mn-lt"/>
              </a:rPr>
              <a:t>&lt;/</a:t>
            </a:r>
            <a:r>
              <a:rPr lang="es-ES" b="1" dirty="0" err="1">
                <a:latin typeface="Courier New"/>
                <a:ea typeface="+mn-lt"/>
                <a:cs typeface="+mn-lt"/>
              </a:rPr>
              <a:t>button</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div</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&lt;/</a:t>
            </a:r>
            <a:r>
              <a:rPr lang="es-ES" b="1" dirty="0" err="1">
                <a:latin typeface="Courier New"/>
                <a:ea typeface="+mn-lt"/>
                <a:cs typeface="+mn-lt"/>
              </a:rPr>
              <a:t>div</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a:t>
            </a:r>
            <a:r>
              <a:rPr lang="es-ES" b="1" dirty="0" err="1">
                <a:latin typeface="Courier New"/>
                <a:ea typeface="+mn-lt"/>
                <a:cs typeface="+mn-lt"/>
              </a:rPr>
              <a:t>header</a:t>
            </a:r>
            <a:r>
              <a:rPr lang="es-ES" b="1" dirty="0">
                <a:latin typeface="Courier New"/>
                <a:ea typeface="+mn-lt"/>
                <a:cs typeface="+mn-lt"/>
              </a:rPr>
              <a:t>-app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display</a:t>
            </a:r>
            <a:r>
              <a:rPr lang="es-ES" b="1" dirty="0">
                <a:latin typeface="Courier New"/>
                <a:ea typeface="+mn-lt"/>
                <a:cs typeface="+mn-lt"/>
              </a:rPr>
              <a:t>: </a:t>
            </a:r>
            <a:r>
              <a:rPr lang="es-ES" b="1" dirty="0" err="1">
                <a:latin typeface="Courier New"/>
                <a:ea typeface="+mn-lt"/>
                <a:cs typeface="+mn-lt"/>
              </a:rPr>
              <a:t>flex</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justify-content</a:t>
            </a:r>
            <a:r>
              <a:rPr lang="es-ES" b="1" dirty="0">
                <a:latin typeface="Courier New"/>
                <a:ea typeface="+mn-lt"/>
                <a:cs typeface="+mn-lt"/>
              </a:rPr>
              <a:t>: </a:t>
            </a:r>
            <a:r>
              <a:rPr lang="es-ES" b="1" dirty="0" err="1">
                <a:latin typeface="Courier New"/>
                <a:ea typeface="+mn-lt"/>
                <a:cs typeface="+mn-lt"/>
              </a:rPr>
              <a:t>space-between</a:t>
            </a:r>
            <a:r>
              <a:rPr lang="es-ES" b="1" dirty="0">
                <a:latin typeface="Courier New"/>
                <a:ea typeface="+mn-lt"/>
                <a:cs typeface="+mn-lt"/>
              </a:rPr>
              <a:t>; /* Distribuye los ítems en los extremos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align-items</a:t>
            </a:r>
            <a:r>
              <a:rPr lang="es-ES" b="1" dirty="0">
                <a:latin typeface="Courier New"/>
                <a:ea typeface="+mn-lt"/>
                <a:cs typeface="+mn-lt"/>
              </a:rPr>
              <a:t>: center;</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background</a:t>
            </a:r>
            <a:r>
              <a:rPr lang="es-ES" b="1" dirty="0">
                <a:latin typeface="Courier New"/>
                <a:ea typeface="+mn-lt"/>
                <a:cs typeface="+mn-lt"/>
              </a:rPr>
              <a:t>-color: #333;</a:t>
            </a:r>
            <a:br>
              <a:rPr lang="es-ES" b="1" dirty="0">
                <a:latin typeface="Courier New"/>
                <a:ea typeface="+mn-lt"/>
                <a:cs typeface="+mn-lt"/>
              </a:rPr>
            </a:br>
            <a:r>
              <a:rPr lang="es-ES" b="1" dirty="0">
                <a:latin typeface="Courier New"/>
                <a:ea typeface="+mn-lt"/>
                <a:cs typeface="+mn-lt"/>
              </a:rPr>
              <a:t>  color: </a:t>
            </a:r>
            <a:r>
              <a:rPr lang="es-ES" b="1" dirty="0" err="1">
                <a:latin typeface="Courier New"/>
                <a:ea typeface="+mn-lt"/>
                <a:cs typeface="+mn-lt"/>
              </a:rPr>
              <a:t>white</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padding</a:t>
            </a:r>
            <a:r>
              <a:rPr lang="es-ES" b="1" dirty="0">
                <a:latin typeface="Courier New"/>
                <a:ea typeface="+mn-lt"/>
                <a:cs typeface="+mn-lt"/>
              </a:rPr>
              <a:t>: 10px;</a:t>
            </a:r>
            <a:br>
              <a:rPr lang="es-ES" b="1" dirty="0">
                <a:latin typeface="Courier New"/>
                <a:ea typeface="+mn-lt"/>
                <a:cs typeface="+mn-lt"/>
              </a:rPr>
            </a:br>
            <a:r>
              <a:rPr lang="es-ES" b="1" dirty="0">
                <a:latin typeface="Courier New"/>
                <a:ea typeface="+mn-lt"/>
                <a:cs typeface="+mn-lt"/>
              </a:rPr>
              <a:t>}</a:t>
            </a:r>
          </a:p>
          <a:p>
            <a:endParaRPr lang="es-ES" dirty="0">
              <a:latin typeface="Bierstadt"/>
              <a:ea typeface="+mn-lt"/>
              <a:cs typeface="+mn-lt"/>
            </a:endParaRPr>
          </a:p>
          <a:p>
            <a:endParaRPr lang="es-ES" dirty="0">
              <a:latin typeface="Bierstadt"/>
              <a:ea typeface="+mn-lt"/>
              <a:cs typeface="+mn-lt"/>
            </a:endParaRPr>
          </a:p>
          <a:p>
            <a:endParaRPr lang="es-ES" dirty="0">
              <a:latin typeface="Bierstadt"/>
              <a:cs typeface="Courier New"/>
            </a:endParaRPr>
          </a:p>
        </p:txBody>
      </p:sp>
    </p:spTree>
    <p:extLst>
      <p:ext uri="{BB962C8B-B14F-4D97-AF65-F5344CB8AC3E}">
        <p14:creationId xmlns:p14="http://schemas.microsoft.com/office/powerpoint/2010/main" val="499541677"/>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F437F3-51F5-EC70-167E-DD4BCE44B13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6631550-A692-1CEE-2317-7FD269501101}"/>
              </a:ext>
            </a:extLst>
          </p:cNvPr>
          <p:cNvSpPr>
            <a:spLocks noGrp="1"/>
          </p:cNvSpPr>
          <p:nvPr>
            <p:ph type="title"/>
          </p:nvPr>
        </p:nvSpPr>
        <p:spPr/>
        <p:txBody>
          <a:bodyPr/>
          <a:lstStyle/>
          <a:p>
            <a:r>
              <a:rPr lang="es-ES" b="0" dirty="0">
                <a:ea typeface="+mj-lt"/>
                <a:cs typeface="+mj-lt"/>
              </a:rPr>
              <a:t>2.3.2.4. Creación de menús y </a:t>
            </a:r>
            <a:r>
              <a:rPr lang="es-ES" b="0" dirty="0" err="1">
                <a:ea typeface="+mj-lt"/>
                <a:cs typeface="+mj-lt"/>
              </a:rPr>
              <a:t>layouts</a:t>
            </a:r>
            <a:r>
              <a:rPr lang="es-ES" b="0" dirty="0">
                <a:ea typeface="+mj-lt"/>
                <a:cs typeface="+mj-lt"/>
              </a:rPr>
              <a:t> complejos con </a:t>
            </a:r>
            <a:r>
              <a:rPr lang="es-ES" b="0" dirty="0" err="1">
                <a:ea typeface="+mj-lt"/>
                <a:cs typeface="+mj-lt"/>
              </a:rPr>
              <a:t>Flexbox</a:t>
            </a:r>
            <a:r>
              <a:rPr lang="es-ES" b="0" dirty="0">
                <a:ea typeface="+mj-lt"/>
                <a:cs typeface="+mj-lt"/>
              </a:rPr>
              <a:t>.</a:t>
            </a:r>
            <a:endParaRPr lang="es-ES" dirty="0"/>
          </a:p>
        </p:txBody>
      </p:sp>
      <p:sp>
        <p:nvSpPr>
          <p:cNvPr id="3" name="Marcador de contenido 2">
            <a:extLst>
              <a:ext uri="{FF2B5EF4-FFF2-40B4-BE49-F238E27FC236}">
                <a16:creationId xmlns:a16="http://schemas.microsoft.com/office/drawing/2014/main" id="{33FE93FC-B052-D493-4D8B-1E4BEFC1E4AE}"/>
              </a:ext>
            </a:extLst>
          </p:cNvPr>
          <p:cNvSpPr>
            <a:spLocks noGrp="1"/>
          </p:cNvSpPr>
          <p:nvPr>
            <p:ph idx="1"/>
          </p:nvPr>
        </p:nvSpPr>
        <p:spPr/>
        <p:txBody>
          <a:bodyPr vert="horz" lIns="91440" tIns="45720" rIns="91440" bIns="45720" rtlCol="0" anchor="t">
            <a:normAutofit fontScale="77500" lnSpcReduction="20000"/>
          </a:bodyPr>
          <a:lstStyle/>
          <a:p>
            <a:r>
              <a:rPr lang="es-ES" dirty="0">
                <a:ea typeface="+mn-lt"/>
                <a:cs typeface="+mn-lt"/>
              </a:rPr>
              <a:t>Ejemplo: </a:t>
            </a:r>
            <a:r>
              <a:rPr lang="es-ES" dirty="0" err="1">
                <a:ea typeface="+mn-lt"/>
                <a:cs typeface="+mn-lt"/>
              </a:rPr>
              <a:t>Layout</a:t>
            </a:r>
            <a:r>
              <a:rPr lang="es-ES" dirty="0">
                <a:ea typeface="+mn-lt"/>
                <a:cs typeface="+mn-lt"/>
              </a:rPr>
              <a:t> de tarjetas (</a:t>
            </a:r>
            <a:r>
              <a:rPr lang="es-ES" dirty="0" err="1">
                <a:ea typeface="+mn-lt"/>
                <a:cs typeface="+mn-lt"/>
              </a:rPr>
              <a:t>card</a:t>
            </a:r>
            <a:r>
              <a:rPr lang="es-ES" dirty="0">
                <a:ea typeface="+mn-lt"/>
                <a:cs typeface="+mn-lt"/>
              </a:rPr>
              <a:t> </a:t>
            </a:r>
            <a:r>
              <a:rPr lang="es-ES" dirty="0" err="1">
                <a:ea typeface="+mn-lt"/>
                <a:cs typeface="+mn-lt"/>
              </a:rPr>
              <a:t>layout</a:t>
            </a:r>
            <a:r>
              <a:rPr lang="es-ES" dirty="0">
                <a:ea typeface="+mn-lt"/>
                <a:cs typeface="+mn-lt"/>
              </a:rPr>
              <a:t>) Puedes crear filas de tarjetas que se envuelven en una nueva línea cuando el espacio es insuficiente.</a:t>
            </a:r>
          </a:p>
          <a:p>
            <a:pPr marL="0" indent="0">
              <a:buNone/>
            </a:pPr>
            <a:r>
              <a:rPr lang="es-ES" b="1" dirty="0">
                <a:latin typeface="Courier New"/>
                <a:ea typeface="+mn-lt"/>
                <a:cs typeface="+mn-lt"/>
              </a:rPr>
              <a:t>&lt;</a:t>
            </a:r>
            <a:r>
              <a:rPr lang="es-ES" b="1" dirty="0" err="1">
                <a:latin typeface="Courier New"/>
                <a:ea typeface="+mn-lt"/>
                <a:cs typeface="+mn-lt"/>
              </a:rPr>
              <a:t>div</a:t>
            </a:r>
            <a:r>
              <a:rPr lang="es-ES" b="1" dirty="0">
                <a:latin typeface="Courier New"/>
                <a:ea typeface="+mn-lt"/>
                <a:cs typeface="+mn-lt"/>
              </a:rPr>
              <a:t> </a:t>
            </a:r>
            <a:r>
              <a:rPr lang="es-ES" b="1" dirty="0" err="1">
                <a:latin typeface="Courier New"/>
                <a:ea typeface="+mn-lt"/>
                <a:cs typeface="+mn-lt"/>
              </a:rPr>
              <a:t>class</a:t>
            </a:r>
            <a:r>
              <a:rPr lang="es-ES" b="1" dirty="0">
                <a:latin typeface="Courier New"/>
                <a:ea typeface="+mn-lt"/>
                <a:cs typeface="+mn-lt"/>
              </a:rPr>
              <a:t>="</a:t>
            </a:r>
            <a:r>
              <a:rPr lang="es-ES" b="1" dirty="0" err="1">
                <a:latin typeface="Courier New"/>
                <a:ea typeface="+mn-lt"/>
                <a:cs typeface="+mn-lt"/>
              </a:rPr>
              <a:t>galeria</a:t>
            </a:r>
            <a:r>
              <a:rPr lang="es-ES" b="1" dirty="0">
                <a:latin typeface="Courier New"/>
                <a:ea typeface="+mn-lt"/>
                <a:cs typeface="+mn-lt"/>
              </a:rPr>
              <a:t>-tarjetas"&gt;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div</a:t>
            </a:r>
            <a:r>
              <a:rPr lang="es-ES" b="1" dirty="0">
                <a:latin typeface="Courier New"/>
                <a:ea typeface="+mn-lt"/>
                <a:cs typeface="+mn-lt"/>
              </a:rPr>
              <a:t> </a:t>
            </a:r>
            <a:r>
              <a:rPr lang="es-ES" b="1" dirty="0" err="1">
                <a:latin typeface="Courier New"/>
                <a:ea typeface="+mn-lt"/>
                <a:cs typeface="+mn-lt"/>
              </a:rPr>
              <a:t>class</a:t>
            </a:r>
            <a:r>
              <a:rPr lang="es-ES" b="1" dirty="0">
                <a:latin typeface="Courier New"/>
                <a:ea typeface="+mn-lt"/>
                <a:cs typeface="+mn-lt"/>
              </a:rPr>
              <a:t>="tarjeta"&gt;Tarjeta 1&lt;/</a:t>
            </a:r>
            <a:r>
              <a:rPr lang="es-ES" b="1" dirty="0" err="1">
                <a:latin typeface="Courier New"/>
                <a:ea typeface="+mn-lt"/>
                <a:cs typeface="+mn-lt"/>
              </a:rPr>
              <a:t>div</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div</a:t>
            </a:r>
            <a:r>
              <a:rPr lang="es-ES" b="1" dirty="0">
                <a:latin typeface="Courier New"/>
                <a:ea typeface="+mn-lt"/>
                <a:cs typeface="+mn-lt"/>
              </a:rPr>
              <a:t> </a:t>
            </a:r>
            <a:r>
              <a:rPr lang="es-ES" b="1" dirty="0" err="1">
                <a:latin typeface="Courier New"/>
                <a:ea typeface="+mn-lt"/>
                <a:cs typeface="+mn-lt"/>
              </a:rPr>
              <a:t>class</a:t>
            </a:r>
            <a:r>
              <a:rPr lang="es-ES" b="1" dirty="0">
                <a:latin typeface="Courier New"/>
                <a:ea typeface="+mn-lt"/>
                <a:cs typeface="+mn-lt"/>
              </a:rPr>
              <a:t>="tarjeta"&gt;Tarjeta 2&lt;/</a:t>
            </a:r>
            <a:r>
              <a:rPr lang="es-ES" b="1" dirty="0" err="1">
                <a:latin typeface="Courier New"/>
                <a:ea typeface="+mn-lt"/>
                <a:cs typeface="+mn-lt"/>
              </a:rPr>
              <a:t>div</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div</a:t>
            </a:r>
            <a:r>
              <a:rPr lang="es-ES" b="1" dirty="0">
                <a:latin typeface="Courier New"/>
                <a:ea typeface="+mn-lt"/>
                <a:cs typeface="+mn-lt"/>
              </a:rPr>
              <a:t> </a:t>
            </a:r>
            <a:r>
              <a:rPr lang="es-ES" b="1" dirty="0" err="1">
                <a:latin typeface="Courier New"/>
                <a:ea typeface="+mn-lt"/>
                <a:cs typeface="+mn-lt"/>
              </a:rPr>
              <a:t>class</a:t>
            </a:r>
            <a:r>
              <a:rPr lang="es-ES" b="1" dirty="0">
                <a:latin typeface="Courier New"/>
                <a:ea typeface="+mn-lt"/>
                <a:cs typeface="+mn-lt"/>
              </a:rPr>
              <a:t>="tarjeta"&gt;Tarjeta 3&lt;/</a:t>
            </a:r>
            <a:r>
              <a:rPr lang="es-ES" b="1" dirty="0" err="1">
                <a:latin typeface="Courier New"/>
                <a:ea typeface="+mn-lt"/>
                <a:cs typeface="+mn-lt"/>
              </a:rPr>
              <a:t>div</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div</a:t>
            </a:r>
            <a:r>
              <a:rPr lang="es-ES" b="1" dirty="0">
                <a:latin typeface="Courier New"/>
                <a:ea typeface="+mn-lt"/>
                <a:cs typeface="+mn-lt"/>
              </a:rPr>
              <a:t> </a:t>
            </a:r>
            <a:r>
              <a:rPr lang="es-ES" b="1" dirty="0" err="1">
                <a:latin typeface="Courier New"/>
                <a:ea typeface="+mn-lt"/>
                <a:cs typeface="+mn-lt"/>
              </a:rPr>
              <a:t>class</a:t>
            </a:r>
            <a:r>
              <a:rPr lang="es-ES" b="1" dirty="0">
                <a:latin typeface="Courier New"/>
                <a:ea typeface="+mn-lt"/>
                <a:cs typeface="+mn-lt"/>
              </a:rPr>
              <a:t>="tarjeta"&gt;Tarjeta 4&lt;/</a:t>
            </a:r>
            <a:r>
              <a:rPr lang="es-ES" b="1" dirty="0" err="1">
                <a:latin typeface="Courier New"/>
                <a:ea typeface="+mn-lt"/>
                <a:cs typeface="+mn-lt"/>
              </a:rPr>
              <a:t>div</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&lt;/</a:t>
            </a:r>
            <a:r>
              <a:rPr lang="es-ES" b="1" dirty="0" err="1">
                <a:latin typeface="Courier New"/>
                <a:ea typeface="+mn-lt"/>
                <a:cs typeface="+mn-lt"/>
              </a:rPr>
              <a:t>div</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a:t>
            </a:r>
            <a:r>
              <a:rPr lang="es-ES" b="1" dirty="0" err="1">
                <a:latin typeface="Courier New"/>
                <a:ea typeface="+mn-lt"/>
                <a:cs typeface="+mn-lt"/>
              </a:rPr>
              <a:t>galeria</a:t>
            </a:r>
            <a:r>
              <a:rPr lang="es-ES" b="1" dirty="0">
                <a:latin typeface="Courier New"/>
                <a:ea typeface="+mn-lt"/>
                <a:cs typeface="+mn-lt"/>
              </a:rPr>
              <a:t>-tarjetas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display</a:t>
            </a:r>
            <a:r>
              <a:rPr lang="es-ES" b="1" dirty="0">
                <a:latin typeface="Courier New"/>
                <a:ea typeface="+mn-lt"/>
                <a:cs typeface="+mn-lt"/>
              </a:rPr>
              <a:t>: </a:t>
            </a:r>
            <a:r>
              <a:rPr lang="es-ES" b="1" dirty="0" err="1">
                <a:latin typeface="Courier New"/>
                <a:ea typeface="+mn-lt"/>
                <a:cs typeface="+mn-lt"/>
              </a:rPr>
              <a:t>flex</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flex-wrap</a:t>
            </a:r>
            <a:r>
              <a:rPr lang="es-ES" b="1" dirty="0">
                <a:latin typeface="Courier New"/>
                <a:ea typeface="+mn-lt"/>
                <a:cs typeface="+mn-lt"/>
              </a:rPr>
              <a:t>: </a:t>
            </a:r>
            <a:r>
              <a:rPr lang="es-ES" b="1" dirty="0" err="1">
                <a:latin typeface="Courier New"/>
                <a:ea typeface="+mn-lt"/>
                <a:cs typeface="+mn-lt"/>
              </a:rPr>
              <a:t>wrap</a:t>
            </a:r>
            <a:r>
              <a:rPr lang="es-ES" b="1" dirty="0">
                <a:latin typeface="Courier New"/>
                <a:ea typeface="+mn-lt"/>
                <a:cs typeface="+mn-lt"/>
              </a:rPr>
              <a:t>; /* Permite que los ítems se envuelvan */</a:t>
            </a:r>
            <a:br>
              <a:rPr lang="es-ES" b="1" dirty="0">
                <a:latin typeface="Courier New"/>
                <a:ea typeface="+mn-lt"/>
                <a:cs typeface="+mn-lt"/>
              </a:rPr>
            </a:br>
            <a:r>
              <a:rPr lang="es-ES" b="1" dirty="0">
                <a:latin typeface="Courier New"/>
                <a:ea typeface="+mn-lt"/>
                <a:cs typeface="+mn-lt"/>
              </a:rPr>
              <a:t>  gap: 20px; /* Espacio entre los ítems */</a:t>
            </a:r>
            <a:br>
              <a:rPr lang="es-ES" b="1" dirty="0">
                <a:latin typeface="Courier New"/>
                <a:ea typeface="+mn-lt"/>
                <a:cs typeface="+mn-lt"/>
              </a:rPr>
            </a:b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.tarjeta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flex</a:t>
            </a:r>
            <a:r>
              <a:rPr lang="es-ES" b="1" dirty="0">
                <a:latin typeface="Courier New"/>
                <a:ea typeface="+mn-lt"/>
                <a:cs typeface="+mn-lt"/>
              </a:rPr>
              <a:t>: 1 1 250px; /* Crece y se encoge, con un tamaño base de 250px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background</a:t>
            </a:r>
            <a:r>
              <a:rPr lang="es-ES" b="1" dirty="0">
                <a:latin typeface="Courier New"/>
                <a:ea typeface="+mn-lt"/>
                <a:cs typeface="+mn-lt"/>
              </a:rPr>
              <a:t>-color: </a:t>
            </a:r>
            <a:r>
              <a:rPr lang="es-ES" b="1" dirty="0" err="1">
                <a:latin typeface="Courier New"/>
                <a:ea typeface="+mn-lt"/>
                <a:cs typeface="+mn-lt"/>
              </a:rPr>
              <a:t>lightcoral</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padding</a:t>
            </a:r>
            <a:r>
              <a:rPr lang="es-ES" b="1" dirty="0">
                <a:latin typeface="Courier New"/>
                <a:ea typeface="+mn-lt"/>
                <a:cs typeface="+mn-lt"/>
              </a:rPr>
              <a:t>: 20px;</a:t>
            </a:r>
            <a:br>
              <a:rPr lang="es-ES" b="1" dirty="0">
                <a:latin typeface="Courier New"/>
                <a:ea typeface="+mn-lt"/>
                <a:cs typeface="+mn-lt"/>
              </a:rPr>
            </a:br>
            <a:r>
              <a:rPr lang="es-ES" b="1" dirty="0">
                <a:latin typeface="Courier New"/>
                <a:ea typeface="+mn-lt"/>
                <a:cs typeface="+mn-lt"/>
              </a:rPr>
              <a:t>}</a:t>
            </a:r>
          </a:p>
          <a:p>
            <a:endParaRPr lang="es-ES" dirty="0">
              <a:latin typeface="Bierstadt"/>
              <a:ea typeface="+mn-lt"/>
              <a:cs typeface="+mn-lt"/>
            </a:endParaRPr>
          </a:p>
          <a:p>
            <a:endParaRPr lang="es-ES" dirty="0">
              <a:latin typeface="Bierstadt"/>
              <a:ea typeface="+mn-lt"/>
              <a:cs typeface="+mn-lt"/>
            </a:endParaRPr>
          </a:p>
          <a:p>
            <a:endParaRPr lang="es-ES" dirty="0">
              <a:latin typeface="Bierstadt"/>
              <a:cs typeface="Courier New"/>
            </a:endParaRPr>
          </a:p>
        </p:txBody>
      </p:sp>
    </p:spTree>
    <p:extLst>
      <p:ext uri="{BB962C8B-B14F-4D97-AF65-F5344CB8AC3E}">
        <p14:creationId xmlns:p14="http://schemas.microsoft.com/office/powerpoint/2010/main" val="3712293290"/>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D112C1-83CD-96BD-25F7-D4AAC8C13DB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6B5916C-452C-7C11-BF52-9381AA695AD6}"/>
              </a:ext>
            </a:extLst>
          </p:cNvPr>
          <p:cNvSpPr>
            <a:spLocks noGrp="1"/>
          </p:cNvSpPr>
          <p:nvPr>
            <p:ph type="title"/>
          </p:nvPr>
        </p:nvSpPr>
        <p:spPr/>
        <p:txBody>
          <a:bodyPr/>
          <a:lstStyle/>
          <a:p>
            <a:r>
              <a:rPr lang="es-ES" b="0" dirty="0">
                <a:ea typeface="+mj-lt"/>
                <a:cs typeface="+mj-lt"/>
              </a:rPr>
              <a:t>2.3.2.4. Creación de menús y </a:t>
            </a:r>
            <a:r>
              <a:rPr lang="es-ES" b="0" dirty="0" err="1">
                <a:ea typeface="+mj-lt"/>
                <a:cs typeface="+mj-lt"/>
              </a:rPr>
              <a:t>layouts</a:t>
            </a:r>
            <a:r>
              <a:rPr lang="es-ES" b="0" dirty="0">
                <a:ea typeface="+mj-lt"/>
                <a:cs typeface="+mj-lt"/>
              </a:rPr>
              <a:t> complejos con </a:t>
            </a:r>
            <a:r>
              <a:rPr lang="es-ES" b="0" dirty="0" err="1">
                <a:ea typeface="+mj-lt"/>
                <a:cs typeface="+mj-lt"/>
              </a:rPr>
              <a:t>Flexbox</a:t>
            </a:r>
            <a:r>
              <a:rPr lang="es-ES" b="0" dirty="0">
                <a:ea typeface="+mj-lt"/>
                <a:cs typeface="+mj-lt"/>
              </a:rPr>
              <a:t>.</a:t>
            </a:r>
            <a:endParaRPr lang="es-ES" dirty="0"/>
          </a:p>
        </p:txBody>
      </p:sp>
      <p:sp>
        <p:nvSpPr>
          <p:cNvPr id="3" name="Marcador de contenido 2">
            <a:extLst>
              <a:ext uri="{FF2B5EF4-FFF2-40B4-BE49-F238E27FC236}">
                <a16:creationId xmlns:a16="http://schemas.microsoft.com/office/drawing/2014/main" id="{8E737161-5139-8B14-FEB8-4D0E5903B551}"/>
              </a:ext>
            </a:extLst>
          </p:cNvPr>
          <p:cNvSpPr>
            <a:spLocks noGrp="1"/>
          </p:cNvSpPr>
          <p:nvPr>
            <p:ph idx="1"/>
          </p:nvPr>
        </p:nvSpPr>
        <p:spPr/>
        <p:txBody>
          <a:bodyPr vert="horz" lIns="91440" tIns="45720" rIns="91440" bIns="45720" rtlCol="0" anchor="t">
            <a:normAutofit fontScale="92500" lnSpcReduction="20000"/>
          </a:bodyPr>
          <a:lstStyle/>
          <a:p>
            <a:r>
              <a:rPr lang="es-ES" dirty="0">
                <a:ea typeface="+mn-lt"/>
                <a:cs typeface="+mn-lt"/>
              </a:rPr>
              <a:t>Ejemplo: Orden de elementos flexible. Utiliza la propiedad </a:t>
            </a:r>
            <a:r>
              <a:rPr lang="es-ES" dirty="0" err="1">
                <a:ea typeface="+mn-lt"/>
                <a:cs typeface="+mn-lt"/>
              </a:rPr>
              <a:t>order</a:t>
            </a:r>
            <a:r>
              <a:rPr lang="es-ES" dirty="0">
                <a:ea typeface="+mn-lt"/>
                <a:cs typeface="+mn-lt"/>
              </a:rPr>
              <a:t> para cambiar el orden visual de los elementos sin modificar el HTML.</a:t>
            </a:r>
          </a:p>
          <a:p>
            <a:pPr marL="0" indent="0">
              <a:buNone/>
            </a:pPr>
            <a:r>
              <a:rPr lang="es-ES" b="1" dirty="0">
                <a:latin typeface="Courier New"/>
                <a:ea typeface="+mn-lt"/>
                <a:cs typeface="+mn-lt"/>
              </a:rPr>
              <a:t>&lt;</a:t>
            </a:r>
            <a:r>
              <a:rPr lang="es-ES" b="1" dirty="0" err="1">
                <a:latin typeface="Courier New"/>
                <a:ea typeface="+mn-lt"/>
                <a:cs typeface="+mn-lt"/>
              </a:rPr>
              <a:t>div</a:t>
            </a:r>
            <a:r>
              <a:rPr lang="es-ES" b="1" dirty="0">
                <a:latin typeface="Courier New"/>
                <a:ea typeface="+mn-lt"/>
                <a:cs typeface="+mn-lt"/>
              </a:rPr>
              <a:t> </a:t>
            </a:r>
            <a:r>
              <a:rPr lang="es-ES" b="1" dirty="0" err="1">
                <a:latin typeface="Courier New"/>
                <a:ea typeface="+mn-lt"/>
                <a:cs typeface="+mn-lt"/>
              </a:rPr>
              <a:t>class</a:t>
            </a:r>
            <a:r>
              <a:rPr lang="es-ES" b="1" dirty="0">
                <a:latin typeface="Courier New"/>
                <a:ea typeface="+mn-lt"/>
                <a:cs typeface="+mn-lt"/>
              </a:rPr>
              <a:t>="contenedor-orden"&gt;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div</a:t>
            </a:r>
            <a:r>
              <a:rPr lang="es-ES" b="1" dirty="0">
                <a:latin typeface="Courier New"/>
                <a:ea typeface="+mn-lt"/>
                <a:cs typeface="+mn-lt"/>
              </a:rPr>
              <a:t> </a:t>
            </a:r>
            <a:r>
              <a:rPr lang="es-ES" b="1" dirty="0" err="1">
                <a:latin typeface="Courier New"/>
                <a:ea typeface="+mn-lt"/>
                <a:cs typeface="+mn-lt"/>
              </a:rPr>
              <a:t>class</a:t>
            </a:r>
            <a:r>
              <a:rPr lang="es-ES" b="1" dirty="0">
                <a:latin typeface="Courier New"/>
                <a:ea typeface="+mn-lt"/>
                <a:cs typeface="+mn-lt"/>
              </a:rPr>
              <a:t>="</a:t>
            </a:r>
            <a:r>
              <a:rPr lang="es-ES" b="1" dirty="0" err="1">
                <a:latin typeface="Courier New"/>
                <a:ea typeface="+mn-lt"/>
                <a:cs typeface="+mn-lt"/>
              </a:rPr>
              <a:t>item</a:t>
            </a:r>
            <a:r>
              <a:rPr lang="es-ES" b="1" dirty="0">
                <a:latin typeface="Courier New"/>
                <a:ea typeface="+mn-lt"/>
                <a:cs typeface="+mn-lt"/>
              </a:rPr>
              <a:t> item-1"&gt;</a:t>
            </a:r>
            <a:r>
              <a:rPr lang="es-ES" b="1" dirty="0" err="1">
                <a:latin typeface="Courier New"/>
                <a:ea typeface="+mn-lt"/>
                <a:cs typeface="+mn-lt"/>
              </a:rPr>
              <a:t>Item</a:t>
            </a:r>
            <a:r>
              <a:rPr lang="es-ES" b="1" dirty="0">
                <a:latin typeface="Courier New"/>
                <a:ea typeface="+mn-lt"/>
                <a:cs typeface="+mn-lt"/>
              </a:rPr>
              <a:t> 1&lt;/</a:t>
            </a:r>
            <a:r>
              <a:rPr lang="es-ES" b="1" dirty="0" err="1">
                <a:latin typeface="Courier New"/>
                <a:ea typeface="+mn-lt"/>
                <a:cs typeface="+mn-lt"/>
              </a:rPr>
              <a:t>div</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div</a:t>
            </a:r>
            <a:r>
              <a:rPr lang="es-ES" b="1" dirty="0">
                <a:latin typeface="Courier New"/>
                <a:ea typeface="+mn-lt"/>
                <a:cs typeface="+mn-lt"/>
              </a:rPr>
              <a:t> </a:t>
            </a:r>
            <a:r>
              <a:rPr lang="es-ES" b="1" dirty="0" err="1">
                <a:latin typeface="Courier New"/>
                <a:ea typeface="+mn-lt"/>
                <a:cs typeface="+mn-lt"/>
              </a:rPr>
              <a:t>class</a:t>
            </a:r>
            <a:r>
              <a:rPr lang="es-ES" b="1" dirty="0">
                <a:latin typeface="Courier New"/>
                <a:ea typeface="+mn-lt"/>
                <a:cs typeface="+mn-lt"/>
              </a:rPr>
              <a:t>="</a:t>
            </a:r>
            <a:r>
              <a:rPr lang="es-ES" b="1" dirty="0" err="1">
                <a:latin typeface="Courier New"/>
                <a:ea typeface="+mn-lt"/>
                <a:cs typeface="+mn-lt"/>
              </a:rPr>
              <a:t>item</a:t>
            </a:r>
            <a:r>
              <a:rPr lang="es-ES" b="1" dirty="0">
                <a:latin typeface="Courier New"/>
                <a:ea typeface="+mn-lt"/>
                <a:cs typeface="+mn-lt"/>
              </a:rPr>
              <a:t> item-2"&gt;</a:t>
            </a:r>
            <a:r>
              <a:rPr lang="es-ES" b="1" dirty="0" err="1">
                <a:latin typeface="Courier New"/>
                <a:ea typeface="+mn-lt"/>
                <a:cs typeface="+mn-lt"/>
              </a:rPr>
              <a:t>Item</a:t>
            </a:r>
            <a:r>
              <a:rPr lang="es-ES" b="1" dirty="0">
                <a:latin typeface="Courier New"/>
                <a:ea typeface="+mn-lt"/>
                <a:cs typeface="+mn-lt"/>
              </a:rPr>
              <a:t> 2&lt;/</a:t>
            </a:r>
            <a:r>
              <a:rPr lang="es-ES" b="1" dirty="0" err="1">
                <a:latin typeface="Courier New"/>
                <a:ea typeface="+mn-lt"/>
                <a:cs typeface="+mn-lt"/>
              </a:rPr>
              <a:t>div</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div</a:t>
            </a:r>
            <a:r>
              <a:rPr lang="es-ES" b="1" dirty="0">
                <a:latin typeface="Courier New"/>
                <a:ea typeface="+mn-lt"/>
                <a:cs typeface="+mn-lt"/>
              </a:rPr>
              <a:t> </a:t>
            </a:r>
            <a:r>
              <a:rPr lang="es-ES" b="1" dirty="0" err="1">
                <a:latin typeface="Courier New"/>
                <a:ea typeface="+mn-lt"/>
                <a:cs typeface="+mn-lt"/>
              </a:rPr>
              <a:t>class</a:t>
            </a:r>
            <a:r>
              <a:rPr lang="es-ES" b="1" dirty="0">
                <a:latin typeface="Courier New"/>
                <a:ea typeface="+mn-lt"/>
                <a:cs typeface="+mn-lt"/>
              </a:rPr>
              <a:t>="</a:t>
            </a:r>
            <a:r>
              <a:rPr lang="es-ES" b="1" dirty="0" err="1">
                <a:latin typeface="Courier New"/>
                <a:ea typeface="+mn-lt"/>
                <a:cs typeface="+mn-lt"/>
              </a:rPr>
              <a:t>item</a:t>
            </a:r>
            <a:r>
              <a:rPr lang="es-ES" b="1" dirty="0">
                <a:latin typeface="Courier New"/>
                <a:ea typeface="+mn-lt"/>
                <a:cs typeface="+mn-lt"/>
              </a:rPr>
              <a:t> item-3"&gt;</a:t>
            </a:r>
            <a:r>
              <a:rPr lang="es-ES" b="1" dirty="0" err="1">
                <a:latin typeface="Courier New"/>
                <a:ea typeface="+mn-lt"/>
                <a:cs typeface="+mn-lt"/>
              </a:rPr>
              <a:t>Item</a:t>
            </a:r>
            <a:r>
              <a:rPr lang="es-ES" b="1" dirty="0">
                <a:latin typeface="Courier New"/>
                <a:ea typeface="+mn-lt"/>
                <a:cs typeface="+mn-lt"/>
              </a:rPr>
              <a:t> 3&lt;/</a:t>
            </a:r>
            <a:r>
              <a:rPr lang="es-ES" b="1" dirty="0" err="1">
                <a:latin typeface="Courier New"/>
                <a:ea typeface="+mn-lt"/>
                <a:cs typeface="+mn-lt"/>
              </a:rPr>
              <a:t>div</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&lt;/</a:t>
            </a:r>
            <a:r>
              <a:rPr lang="es-ES" b="1" dirty="0" err="1">
                <a:latin typeface="Courier New"/>
                <a:ea typeface="+mn-lt"/>
                <a:cs typeface="+mn-lt"/>
              </a:rPr>
              <a:t>div</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.contenedor-orden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display</a:t>
            </a:r>
            <a:r>
              <a:rPr lang="es-ES" b="1" dirty="0">
                <a:latin typeface="Courier New"/>
                <a:ea typeface="+mn-lt"/>
                <a:cs typeface="+mn-lt"/>
              </a:rPr>
              <a:t>: </a:t>
            </a:r>
            <a:r>
              <a:rPr lang="es-ES" b="1" dirty="0" err="1">
                <a:latin typeface="Courier New"/>
                <a:ea typeface="+mn-lt"/>
                <a:cs typeface="+mn-lt"/>
              </a:rPr>
              <a:t>flex</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height</a:t>
            </a:r>
            <a:r>
              <a:rPr lang="es-ES" b="1" dirty="0">
                <a:latin typeface="Courier New"/>
                <a:ea typeface="+mn-lt"/>
                <a:cs typeface="+mn-lt"/>
              </a:rPr>
              <a:t>: 100px;</a:t>
            </a:r>
            <a:br>
              <a:rPr lang="es-ES" b="1" dirty="0">
                <a:latin typeface="Courier New"/>
                <a:ea typeface="+mn-lt"/>
                <a:cs typeface="+mn-lt"/>
              </a:rPr>
            </a:b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.item-1 { </a:t>
            </a:r>
            <a:r>
              <a:rPr lang="es-ES" b="1" dirty="0" err="1">
                <a:latin typeface="Courier New"/>
                <a:ea typeface="+mn-lt"/>
                <a:cs typeface="+mn-lt"/>
              </a:rPr>
              <a:t>order</a:t>
            </a:r>
            <a:r>
              <a:rPr lang="es-ES" b="1" dirty="0">
                <a:latin typeface="Courier New"/>
                <a:ea typeface="+mn-lt"/>
                <a:cs typeface="+mn-lt"/>
              </a:rPr>
              <a:t>: 2; }</a:t>
            </a:r>
            <a:br>
              <a:rPr lang="es-ES" b="1" dirty="0">
                <a:latin typeface="Courier New"/>
                <a:ea typeface="+mn-lt"/>
                <a:cs typeface="+mn-lt"/>
              </a:rPr>
            </a:br>
            <a:r>
              <a:rPr lang="es-ES" b="1" dirty="0">
                <a:latin typeface="Courier New"/>
                <a:ea typeface="+mn-lt"/>
                <a:cs typeface="+mn-lt"/>
              </a:rPr>
              <a:t>.item-2 { </a:t>
            </a:r>
            <a:r>
              <a:rPr lang="es-ES" b="1" dirty="0" err="1">
                <a:latin typeface="Courier New"/>
                <a:ea typeface="+mn-lt"/>
                <a:cs typeface="+mn-lt"/>
              </a:rPr>
              <a:t>order</a:t>
            </a:r>
            <a:r>
              <a:rPr lang="es-ES" b="1" dirty="0">
                <a:latin typeface="Courier New"/>
                <a:ea typeface="+mn-lt"/>
                <a:cs typeface="+mn-lt"/>
              </a:rPr>
              <a:t>: 3; }</a:t>
            </a:r>
            <a:br>
              <a:rPr lang="es-ES" b="1" dirty="0">
                <a:latin typeface="Courier New"/>
                <a:ea typeface="+mn-lt"/>
                <a:cs typeface="+mn-lt"/>
              </a:rPr>
            </a:br>
            <a:r>
              <a:rPr lang="es-ES" b="1" dirty="0">
                <a:latin typeface="Courier New"/>
                <a:ea typeface="+mn-lt"/>
                <a:cs typeface="+mn-lt"/>
              </a:rPr>
              <a:t>.item-3 { </a:t>
            </a:r>
            <a:r>
              <a:rPr lang="es-ES" b="1" dirty="0" err="1">
                <a:latin typeface="Courier New"/>
                <a:ea typeface="+mn-lt"/>
                <a:cs typeface="+mn-lt"/>
              </a:rPr>
              <a:t>order</a:t>
            </a:r>
            <a:r>
              <a:rPr lang="es-ES" b="1" dirty="0">
                <a:latin typeface="Courier New"/>
                <a:ea typeface="+mn-lt"/>
                <a:cs typeface="+mn-lt"/>
              </a:rPr>
              <a:t>: 1; } /* Este ítem se mostrará primero */</a:t>
            </a:r>
          </a:p>
          <a:p>
            <a:endParaRPr lang="es-ES" dirty="0">
              <a:latin typeface="Bierstadt"/>
              <a:ea typeface="+mn-lt"/>
              <a:cs typeface="+mn-lt"/>
            </a:endParaRPr>
          </a:p>
          <a:p>
            <a:endParaRPr lang="es-ES" dirty="0">
              <a:latin typeface="Bierstadt"/>
              <a:cs typeface="Courier New"/>
            </a:endParaRPr>
          </a:p>
        </p:txBody>
      </p:sp>
    </p:spTree>
    <p:extLst>
      <p:ext uri="{BB962C8B-B14F-4D97-AF65-F5344CB8AC3E}">
        <p14:creationId xmlns:p14="http://schemas.microsoft.com/office/powerpoint/2010/main" val="1364046546"/>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0FD197-7869-3816-A75D-05B3971B889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9721FD7-0900-C4F7-DF99-87BCA52375F5}"/>
              </a:ext>
            </a:extLst>
          </p:cNvPr>
          <p:cNvSpPr>
            <a:spLocks noGrp="1"/>
          </p:cNvSpPr>
          <p:nvPr>
            <p:ph type="title"/>
          </p:nvPr>
        </p:nvSpPr>
        <p:spPr/>
        <p:txBody>
          <a:bodyPr/>
          <a:lstStyle/>
          <a:p>
            <a:r>
              <a:rPr lang="es-ES" b="0" dirty="0">
                <a:ea typeface="+mj-lt"/>
                <a:cs typeface="+mj-lt"/>
              </a:rPr>
              <a:t>2.3.2.4. Creación de menús y </a:t>
            </a:r>
            <a:r>
              <a:rPr lang="es-ES" b="0" dirty="0" err="1">
                <a:ea typeface="+mj-lt"/>
                <a:cs typeface="+mj-lt"/>
              </a:rPr>
              <a:t>layouts</a:t>
            </a:r>
            <a:r>
              <a:rPr lang="es-ES" b="0" dirty="0">
                <a:ea typeface="+mj-lt"/>
                <a:cs typeface="+mj-lt"/>
              </a:rPr>
              <a:t> complejos con </a:t>
            </a:r>
            <a:r>
              <a:rPr lang="es-ES" b="0" dirty="0" err="1">
                <a:ea typeface="+mj-lt"/>
                <a:cs typeface="+mj-lt"/>
              </a:rPr>
              <a:t>Flexbox</a:t>
            </a:r>
            <a:r>
              <a:rPr lang="es-ES" b="0" dirty="0">
                <a:ea typeface="+mj-lt"/>
                <a:cs typeface="+mj-lt"/>
              </a:rPr>
              <a:t>.</a:t>
            </a:r>
            <a:endParaRPr lang="es-ES" dirty="0"/>
          </a:p>
        </p:txBody>
      </p:sp>
      <p:sp>
        <p:nvSpPr>
          <p:cNvPr id="3" name="Marcador de contenido 2">
            <a:extLst>
              <a:ext uri="{FF2B5EF4-FFF2-40B4-BE49-F238E27FC236}">
                <a16:creationId xmlns:a16="http://schemas.microsoft.com/office/drawing/2014/main" id="{1C453A2B-EF7F-F6AB-A5FA-6350F589A149}"/>
              </a:ext>
            </a:extLst>
          </p:cNvPr>
          <p:cNvSpPr>
            <a:spLocks noGrp="1"/>
          </p:cNvSpPr>
          <p:nvPr>
            <p:ph idx="1"/>
          </p:nvPr>
        </p:nvSpPr>
        <p:spPr/>
        <p:txBody>
          <a:bodyPr vert="horz" lIns="91440" tIns="45720" rIns="91440" bIns="45720" rtlCol="0" anchor="t">
            <a:normAutofit fontScale="85000" lnSpcReduction="20000"/>
          </a:bodyPr>
          <a:lstStyle/>
          <a:p>
            <a:r>
              <a:rPr lang="es-ES" dirty="0">
                <a:ea typeface="+mn-lt"/>
                <a:cs typeface="+mn-lt"/>
              </a:rPr>
              <a:t>Ejemplo: Barra lateral y contenido principal. Puedes crear un </a:t>
            </a:r>
            <a:r>
              <a:rPr lang="es-ES" dirty="0" err="1">
                <a:ea typeface="+mn-lt"/>
                <a:cs typeface="+mn-lt"/>
              </a:rPr>
              <a:t>layout</a:t>
            </a:r>
            <a:r>
              <a:rPr lang="es-ES" dirty="0">
                <a:ea typeface="+mn-lt"/>
                <a:cs typeface="+mn-lt"/>
              </a:rPr>
              <a:t> con una barra lateral de ancho fijo y un contenido principal que ocupe el resto del espacio disponible.</a:t>
            </a:r>
          </a:p>
          <a:p>
            <a:pPr marL="0" indent="0">
              <a:buNone/>
            </a:pPr>
            <a:r>
              <a:rPr lang="es-ES" b="1" dirty="0">
                <a:latin typeface="Courier New"/>
                <a:ea typeface="+mn-lt"/>
                <a:cs typeface="+mn-lt"/>
              </a:rPr>
              <a:t>&lt;</a:t>
            </a:r>
            <a:r>
              <a:rPr lang="es-ES" b="1" dirty="0" err="1">
                <a:latin typeface="Courier New"/>
                <a:ea typeface="+mn-lt"/>
                <a:cs typeface="+mn-lt"/>
              </a:rPr>
              <a:t>div</a:t>
            </a:r>
            <a:r>
              <a:rPr lang="es-ES" b="1" dirty="0">
                <a:latin typeface="Courier New"/>
                <a:ea typeface="+mn-lt"/>
                <a:cs typeface="+mn-lt"/>
              </a:rPr>
              <a:t> </a:t>
            </a:r>
            <a:r>
              <a:rPr lang="es-ES" b="1" dirty="0" err="1">
                <a:latin typeface="Courier New"/>
                <a:ea typeface="+mn-lt"/>
                <a:cs typeface="+mn-lt"/>
              </a:rPr>
              <a:t>class</a:t>
            </a:r>
            <a:r>
              <a:rPr lang="es-ES" b="1" dirty="0">
                <a:latin typeface="Courier New"/>
                <a:ea typeface="+mn-lt"/>
                <a:cs typeface="+mn-lt"/>
              </a:rPr>
              <a:t>="</a:t>
            </a:r>
            <a:r>
              <a:rPr lang="es-ES" b="1" dirty="0" err="1">
                <a:latin typeface="Courier New"/>
                <a:ea typeface="+mn-lt"/>
                <a:cs typeface="+mn-lt"/>
              </a:rPr>
              <a:t>layout</a:t>
            </a:r>
            <a:r>
              <a:rPr lang="es-ES" b="1" dirty="0">
                <a:latin typeface="Courier New"/>
                <a:ea typeface="+mn-lt"/>
                <a:cs typeface="+mn-lt"/>
              </a:rPr>
              <a:t>-pagina"&gt;</a:t>
            </a:r>
            <a:br>
              <a:rPr lang="es-ES" b="1" dirty="0">
                <a:latin typeface="Courier New"/>
                <a:ea typeface="+mn-lt"/>
                <a:cs typeface="+mn-lt"/>
              </a:rPr>
            </a:br>
            <a:r>
              <a:rPr lang="es-ES" b="1" dirty="0">
                <a:latin typeface="Courier New"/>
                <a:ea typeface="+mn-lt"/>
                <a:cs typeface="+mn-lt"/>
              </a:rPr>
              <a:t>  &lt;aside </a:t>
            </a:r>
            <a:r>
              <a:rPr lang="es-ES" b="1" dirty="0" err="1">
                <a:latin typeface="Courier New"/>
                <a:ea typeface="+mn-lt"/>
                <a:cs typeface="+mn-lt"/>
              </a:rPr>
              <a:t>class</a:t>
            </a:r>
            <a:r>
              <a:rPr lang="es-ES" b="1" dirty="0">
                <a:latin typeface="Courier New"/>
                <a:ea typeface="+mn-lt"/>
                <a:cs typeface="+mn-lt"/>
              </a:rPr>
              <a:t>="</a:t>
            </a:r>
            <a:r>
              <a:rPr lang="es-ES" b="1" dirty="0" err="1">
                <a:latin typeface="Courier New"/>
                <a:ea typeface="+mn-lt"/>
                <a:cs typeface="+mn-lt"/>
              </a:rPr>
              <a:t>sidebar</a:t>
            </a:r>
            <a:r>
              <a:rPr lang="es-ES" b="1" dirty="0">
                <a:latin typeface="Courier New"/>
                <a:ea typeface="+mn-lt"/>
                <a:cs typeface="+mn-lt"/>
              </a:rPr>
              <a:t>"&gt;Barra Lateral&lt;/aside&gt;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main</a:t>
            </a:r>
            <a:r>
              <a:rPr lang="es-ES" b="1" dirty="0">
                <a:latin typeface="Courier New"/>
                <a:ea typeface="+mn-lt"/>
                <a:cs typeface="+mn-lt"/>
              </a:rPr>
              <a:t> </a:t>
            </a:r>
            <a:r>
              <a:rPr lang="es-ES" b="1" dirty="0" err="1">
                <a:latin typeface="Courier New"/>
                <a:ea typeface="+mn-lt"/>
                <a:cs typeface="+mn-lt"/>
              </a:rPr>
              <a:t>class</a:t>
            </a:r>
            <a:r>
              <a:rPr lang="es-ES" b="1" dirty="0">
                <a:latin typeface="Courier New"/>
                <a:ea typeface="+mn-lt"/>
                <a:cs typeface="+mn-lt"/>
              </a:rPr>
              <a:t>="contenido-principal"&gt;Contenido Principal&lt;/</a:t>
            </a:r>
            <a:r>
              <a:rPr lang="es-ES" b="1" dirty="0" err="1">
                <a:latin typeface="Courier New"/>
                <a:ea typeface="+mn-lt"/>
                <a:cs typeface="+mn-lt"/>
              </a:rPr>
              <a:t>main</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&lt;/</a:t>
            </a:r>
            <a:r>
              <a:rPr lang="es-ES" b="1" dirty="0" err="1">
                <a:latin typeface="Courier New"/>
                <a:ea typeface="+mn-lt"/>
                <a:cs typeface="+mn-lt"/>
              </a:rPr>
              <a:t>div</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a:t>
            </a:r>
            <a:r>
              <a:rPr lang="es-ES" b="1" dirty="0" err="1">
                <a:latin typeface="Courier New"/>
                <a:ea typeface="+mn-lt"/>
                <a:cs typeface="+mn-lt"/>
              </a:rPr>
              <a:t>layout</a:t>
            </a:r>
            <a:r>
              <a:rPr lang="es-ES" b="1" dirty="0">
                <a:latin typeface="Courier New"/>
                <a:ea typeface="+mn-lt"/>
                <a:cs typeface="+mn-lt"/>
              </a:rPr>
              <a:t>-pagina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display</a:t>
            </a:r>
            <a:r>
              <a:rPr lang="es-ES" b="1" dirty="0">
                <a:latin typeface="Courier New"/>
                <a:ea typeface="+mn-lt"/>
                <a:cs typeface="+mn-lt"/>
              </a:rPr>
              <a:t>: </a:t>
            </a:r>
            <a:r>
              <a:rPr lang="es-ES" b="1" dirty="0" err="1">
                <a:latin typeface="Courier New"/>
                <a:ea typeface="+mn-lt"/>
                <a:cs typeface="+mn-lt"/>
              </a:rPr>
              <a:t>flex</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a:t>
            </a:r>
            <a:r>
              <a:rPr lang="es-ES" b="1" dirty="0" err="1">
                <a:latin typeface="Courier New"/>
                <a:ea typeface="+mn-lt"/>
                <a:cs typeface="+mn-lt"/>
              </a:rPr>
              <a:t>sidebar</a:t>
            </a: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width</a:t>
            </a:r>
            <a:r>
              <a:rPr lang="es-ES" b="1" dirty="0">
                <a:latin typeface="Courier New"/>
                <a:ea typeface="+mn-lt"/>
                <a:cs typeface="+mn-lt"/>
              </a:rPr>
              <a:t>: 200px; /* Ancho fijo para la barra lateral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background</a:t>
            </a:r>
            <a:r>
              <a:rPr lang="es-ES" b="1" dirty="0">
                <a:latin typeface="Courier New"/>
                <a:ea typeface="+mn-lt"/>
                <a:cs typeface="+mn-lt"/>
              </a:rPr>
              <a:t>-color: #f2f2f2;</a:t>
            </a:r>
            <a:br>
              <a:rPr lang="es-ES" b="1" dirty="0">
                <a:latin typeface="Courier New"/>
                <a:ea typeface="+mn-lt"/>
                <a:cs typeface="+mn-lt"/>
              </a:rPr>
            </a:b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.contenido-principal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flex</a:t>
            </a:r>
            <a:r>
              <a:rPr lang="es-ES" b="1" dirty="0">
                <a:latin typeface="Courier New"/>
                <a:ea typeface="+mn-lt"/>
                <a:cs typeface="+mn-lt"/>
              </a:rPr>
              <a:t>: 1; /* El contenido principal ocupa el resto del espacio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padding</a:t>
            </a:r>
            <a:r>
              <a:rPr lang="es-ES" b="1" dirty="0">
                <a:latin typeface="Courier New"/>
                <a:ea typeface="+mn-lt"/>
                <a:cs typeface="+mn-lt"/>
              </a:rPr>
              <a:t>: 20px;</a:t>
            </a:r>
            <a:br>
              <a:rPr lang="es-ES" b="1" dirty="0">
                <a:latin typeface="Courier New"/>
                <a:ea typeface="+mn-lt"/>
                <a:cs typeface="+mn-lt"/>
              </a:rPr>
            </a:br>
            <a:r>
              <a:rPr lang="es-ES" b="1" dirty="0">
                <a:latin typeface="Courier New"/>
                <a:ea typeface="+mn-lt"/>
                <a:cs typeface="+mn-lt"/>
              </a:rPr>
              <a:t>}</a:t>
            </a:r>
            <a:endParaRPr lang="es-ES" b="1" dirty="0">
              <a:latin typeface="Courier New"/>
              <a:cs typeface="Courier New"/>
            </a:endParaRPr>
          </a:p>
          <a:p>
            <a:endParaRPr lang="es-ES" dirty="0">
              <a:latin typeface="Bierstadt"/>
              <a:ea typeface="+mn-lt"/>
              <a:cs typeface="+mn-lt"/>
            </a:endParaRPr>
          </a:p>
          <a:p>
            <a:endParaRPr lang="es-ES" dirty="0">
              <a:latin typeface="Bierstadt"/>
              <a:ea typeface="+mn-lt"/>
              <a:cs typeface="+mn-lt"/>
            </a:endParaRPr>
          </a:p>
          <a:p>
            <a:endParaRPr lang="es-ES" dirty="0">
              <a:latin typeface="Bierstadt"/>
              <a:cs typeface="Courier New"/>
            </a:endParaRPr>
          </a:p>
        </p:txBody>
      </p:sp>
    </p:spTree>
    <p:extLst>
      <p:ext uri="{BB962C8B-B14F-4D97-AF65-F5344CB8AC3E}">
        <p14:creationId xmlns:p14="http://schemas.microsoft.com/office/powerpoint/2010/main" val="934813772"/>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4AE349-D939-A2FC-B1DC-FF8894A4D99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F134208-8BC6-128A-5B82-339555A18541}"/>
              </a:ext>
            </a:extLst>
          </p:cNvPr>
          <p:cNvSpPr>
            <a:spLocks noGrp="1"/>
          </p:cNvSpPr>
          <p:nvPr>
            <p:ph type="title"/>
          </p:nvPr>
        </p:nvSpPr>
        <p:spPr/>
        <p:txBody>
          <a:bodyPr/>
          <a:lstStyle/>
          <a:p>
            <a:r>
              <a:rPr lang="es-ES" b="0" dirty="0">
                <a:ea typeface="+mj-lt"/>
                <a:cs typeface="+mj-lt"/>
              </a:rPr>
              <a:t>2.3.2.4. Creación de menús y </a:t>
            </a:r>
            <a:r>
              <a:rPr lang="es-ES" b="0" dirty="0" err="1">
                <a:ea typeface="+mj-lt"/>
                <a:cs typeface="+mj-lt"/>
              </a:rPr>
              <a:t>layouts</a:t>
            </a:r>
            <a:r>
              <a:rPr lang="es-ES" b="0" dirty="0">
                <a:ea typeface="+mj-lt"/>
                <a:cs typeface="+mj-lt"/>
              </a:rPr>
              <a:t> complejos con </a:t>
            </a:r>
            <a:r>
              <a:rPr lang="es-ES" b="0" dirty="0" err="1">
                <a:ea typeface="+mj-lt"/>
                <a:cs typeface="+mj-lt"/>
              </a:rPr>
              <a:t>Flexbox</a:t>
            </a:r>
            <a:r>
              <a:rPr lang="es-ES" b="0" dirty="0">
                <a:ea typeface="+mj-lt"/>
                <a:cs typeface="+mj-lt"/>
              </a:rPr>
              <a:t>.</a:t>
            </a:r>
            <a:endParaRPr lang="es-ES" dirty="0"/>
          </a:p>
        </p:txBody>
      </p:sp>
      <p:sp>
        <p:nvSpPr>
          <p:cNvPr id="3" name="Marcador de contenido 2">
            <a:extLst>
              <a:ext uri="{FF2B5EF4-FFF2-40B4-BE49-F238E27FC236}">
                <a16:creationId xmlns:a16="http://schemas.microsoft.com/office/drawing/2014/main" id="{AC4FC942-5B1C-657C-EA02-36CF90BD911B}"/>
              </a:ext>
            </a:extLst>
          </p:cNvPr>
          <p:cNvSpPr>
            <a:spLocks noGrp="1"/>
          </p:cNvSpPr>
          <p:nvPr>
            <p:ph idx="1"/>
          </p:nvPr>
        </p:nvSpPr>
        <p:spPr/>
        <p:txBody>
          <a:bodyPr vert="horz" lIns="91440" tIns="45720" rIns="91440" bIns="45720" rtlCol="0" anchor="t">
            <a:normAutofit fontScale="92500" lnSpcReduction="20000"/>
          </a:bodyPr>
          <a:lstStyle/>
          <a:p>
            <a:r>
              <a:rPr lang="es-ES" dirty="0">
                <a:ea typeface="+mn-lt"/>
                <a:cs typeface="+mn-lt"/>
              </a:rPr>
              <a:t>Ejemplo: </a:t>
            </a:r>
            <a:r>
              <a:rPr lang="es-ES" dirty="0" err="1">
                <a:ea typeface="+mn-lt"/>
                <a:cs typeface="+mn-lt"/>
              </a:rPr>
              <a:t>Footer</a:t>
            </a:r>
            <a:r>
              <a:rPr lang="es-ES" dirty="0">
                <a:ea typeface="+mn-lt"/>
                <a:cs typeface="+mn-lt"/>
              </a:rPr>
              <a:t> con elementos distribuidos. Ideal para el pie de página, donde quieres alinear elementos al inicio, al final y en el centro.</a:t>
            </a:r>
          </a:p>
          <a:p>
            <a:r>
              <a:rPr lang="es-ES" b="1" dirty="0">
                <a:latin typeface="Courier New"/>
                <a:ea typeface="+mn-lt"/>
                <a:cs typeface="+mn-lt"/>
              </a:rPr>
              <a:t>&lt;</a:t>
            </a:r>
            <a:r>
              <a:rPr lang="es-ES" b="1" dirty="0" err="1">
                <a:latin typeface="Courier New"/>
                <a:ea typeface="+mn-lt"/>
                <a:cs typeface="+mn-lt"/>
              </a:rPr>
              <a:t>footer</a:t>
            </a:r>
            <a:r>
              <a:rPr lang="es-ES" b="1" dirty="0">
                <a:latin typeface="Courier New"/>
                <a:ea typeface="+mn-lt"/>
                <a:cs typeface="+mn-lt"/>
              </a:rPr>
              <a:t> </a:t>
            </a:r>
            <a:r>
              <a:rPr lang="es-ES" b="1" dirty="0" err="1">
                <a:latin typeface="Courier New"/>
                <a:ea typeface="+mn-lt"/>
                <a:cs typeface="+mn-lt"/>
              </a:rPr>
              <a:t>class</a:t>
            </a:r>
            <a:r>
              <a:rPr lang="es-ES" b="1" dirty="0">
                <a:latin typeface="Courier New"/>
                <a:ea typeface="+mn-lt"/>
                <a:cs typeface="+mn-lt"/>
              </a:rPr>
              <a:t>="pie-pagina"&gt;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span</a:t>
            </a:r>
            <a:r>
              <a:rPr lang="es-ES" b="1" dirty="0">
                <a:latin typeface="Courier New"/>
                <a:ea typeface="+mn-lt"/>
                <a:cs typeface="+mn-lt"/>
              </a:rPr>
              <a:t>&gt;© 2024 Mi Sitio&lt;/</a:t>
            </a:r>
            <a:r>
              <a:rPr lang="es-ES" b="1" dirty="0" err="1">
                <a:latin typeface="Courier New"/>
                <a:ea typeface="+mn-lt"/>
                <a:cs typeface="+mn-lt"/>
              </a:rPr>
              <a:t>span</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&lt;a </a:t>
            </a:r>
            <a:r>
              <a:rPr lang="es-ES" b="1" dirty="0" err="1">
                <a:latin typeface="Courier New"/>
                <a:ea typeface="+mn-lt"/>
                <a:cs typeface="+mn-lt"/>
              </a:rPr>
              <a:t>href</a:t>
            </a:r>
            <a:r>
              <a:rPr lang="es-ES" b="1" dirty="0">
                <a:latin typeface="Courier New"/>
                <a:ea typeface="+mn-lt"/>
                <a:cs typeface="+mn-lt"/>
              </a:rPr>
              <a:t>="#"&gt;Términos&lt;/a&gt;</a:t>
            </a:r>
            <a:br>
              <a:rPr lang="es-ES" b="1" dirty="0">
                <a:latin typeface="Courier New"/>
                <a:ea typeface="+mn-lt"/>
                <a:cs typeface="+mn-lt"/>
              </a:rPr>
            </a:br>
            <a:r>
              <a:rPr lang="es-ES" b="1" dirty="0">
                <a:latin typeface="Courier New"/>
                <a:ea typeface="+mn-lt"/>
                <a:cs typeface="+mn-lt"/>
              </a:rPr>
              <a:t>  &lt;a </a:t>
            </a:r>
            <a:r>
              <a:rPr lang="es-ES" b="1" dirty="0" err="1">
                <a:latin typeface="Courier New"/>
                <a:ea typeface="+mn-lt"/>
                <a:cs typeface="+mn-lt"/>
              </a:rPr>
              <a:t>href</a:t>
            </a:r>
            <a:r>
              <a:rPr lang="es-ES" b="1" dirty="0">
                <a:latin typeface="Courier New"/>
                <a:ea typeface="+mn-lt"/>
                <a:cs typeface="+mn-lt"/>
              </a:rPr>
              <a:t>="#"&gt;Privacidad&lt;/a&gt;</a:t>
            </a:r>
            <a:br>
              <a:rPr lang="es-ES" b="1" dirty="0">
                <a:latin typeface="Courier New"/>
                <a:ea typeface="+mn-lt"/>
                <a:cs typeface="+mn-lt"/>
              </a:rPr>
            </a:br>
            <a:r>
              <a:rPr lang="es-ES" b="1" dirty="0">
                <a:latin typeface="Courier New"/>
                <a:ea typeface="+mn-lt"/>
                <a:cs typeface="+mn-lt"/>
              </a:rPr>
              <a:t>&lt;/</a:t>
            </a:r>
            <a:r>
              <a:rPr lang="es-ES" b="1" dirty="0" err="1">
                <a:latin typeface="Courier New"/>
                <a:ea typeface="+mn-lt"/>
                <a:cs typeface="+mn-lt"/>
              </a:rPr>
              <a:t>footer</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.pie-pagina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display</a:t>
            </a:r>
            <a:r>
              <a:rPr lang="es-ES" b="1" dirty="0">
                <a:latin typeface="Courier New"/>
                <a:ea typeface="+mn-lt"/>
                <a:cs typeface="+mn-lt"/>
              </a:rPr>
              <a:t>: </a:t>
            </a:r>
            <a:r>
              <a:rPr lang="es-ES" b="1" dirty="0" err="1">
                <a:latin typeface="Courier New"/>
                <a:ea typeface="+mn-lt"/>
                <a:cs typeface="+mn-lt"/>
              </a:rPr>
              <a:t>flex</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justify-content</a:t>
            </a:r>
            <a:r>
              <a:rPr lang="es-ES" b="1" dirty="0">
                <a:latin typeface="Courier New"/>
                <a:ea typeface="+mn-lt"/>
                <a:cs typeface="+mn-lt"/>
              </a:rPr>
              <a:t>: center;</a:t>
            </a:r>
            <a:br>
              <a:rPr lang="es-ES" b="1" dirty="0">
                <a:latin typeface="Courier New"/>
                <a:ea typeface="+mn-lt"/>
                <a:cs typeface="+mn-lt"/>
              </a:rPr>
            </a:br>
            <a:r>
              <a:rPr lang="es-ES" b="1" dirty="0">
                <a:latin typeface="Courier New"/>
                <a:ea typeface="+mn-lt"/>
                <a:cs typeface="+mn-lt"/>
              </a:rPr>
              <a:t>  gap: 15px; /* Espacio entre los enlaces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background</a:t>
            </a:r>
            <a:r>
              <a:rPr lang="es-ES" b="1" dirty="0">
                <a:latin typeface="Courier New"/>
                <a:ea typeface="+mn-lt"/>
                <a:cs typeface="+mn-lt"/>
              </a:rPr>
              <a:t>-color: #333;</a:t>
            </a:r>
            <a:br>
              <a:rPr lang="es-ES" b="1" dirty="0">
                <a:latin typeface="Courier New"/>
                <a:ea typeface="+mn-lt"/>
                <a:cs typeface="+mn-lt"/>
              </a:rPr>
            </a:br>
            <a:r>
              <a:rPr lang="es-ES" b="1" dirty="0">
                <a:latin typeface="Courier New"/>
                <a:ea typeface="+mn-lt"/>
                <a:cs typeface="+mn-lt"/>
              </a:rPr>
              <a:t>  color: </a:t>
            </a:r>
            <a:r>
              <a:rPr lang="es-ES" b="1" dirty="0" err="1">
                <a:latin typeface="Courier New"/>
                <a:ea typeface="+mn-lt"/>
                <a:cs typeface="+mn-lt"/>
              </a:rPr>
              <a:t>white</a:t>
            </a:r>
            <a:r>
              <a:rPr lang="es-ES" b="1" dirty="0">
                <a:latin typeface="Courier New"/>
                <a:ea typeface="+mn-lt"/>
                <a:cs typeface="+mn-lt"/>
              </a:rPr>
              <a:t>;</a:t>
            </a:r>
            <a:br>
              <a:rPr lang="en-US" b="1" dirty="0">
                <a:latin typeface="Courier New"/>
              </a:rPr>
            </a:br>
            <a:r>
              <a:rPr lang="es-ES" b="1" dirty="0">
                <a:latin typeface="Courier New"/>
                <a:ea typeface="+mn-lt"/>
                <a:cs typeface="+mn-lt"/>
              </a:rPr>
              <a:t>  </a:t>
            </a:r>
            <a:r>
              <a:rPr lang="es-ES" b="1" dirty="0" err="1">
                <a:latin typeface="Courier New"/>
                <a:ea typeface="+mn-lt"/>
                <a:cs typeface="+mn-lt"/>
              </a:rPr>
              <a:t>padding</a:t>
            </a:r>
            <a:r>
              <a:rPr lang="es-ES" b="1" dirty="0">
                <a:latin typeface="Courier New"/>
                <a:ea typeface="+mn-lt"/>
                <a:cs typeface="+mn-lt"/>
              </a:rPr>
              <a:t>: 20px;</a:t>
            </a:r>
            <a:br>
              <a:rPr lang="es-ES" b="1" dirty="0">
                <a:latin typeface="Courier New"/>
                <a:ea typeface="+mn-lt"/>
                <a:cs typeface="+mn-lt"/>
              </a:rPr>
            </a:br>
            <a:r>
              <a:rPr lang="es-ES" b="1" dirty="0">
                <a:latin typeface="Courier New"/>
                <a:ea typeface="+mn-lt"/>
                <a:cs typeface="+mn-lt"/>
              </a:rPr>
              <a:t>}</a:t>
            </a:r>
          </a:p>
          <a:p>
            <a:endParaRPr lang="es-ES" dirty="0">
              <a:latin typeface="Bierstadt"/>
              <a:ea typeface="+mn-lt"/>
              <a:cs typeface="+mn-lt"/>
            </a:endParaRPr>
          </a:p>
          <a:p>
            <a:endParaRPr lang="es-ES" dirty="0">
              <a:latin typeface="Bierstadt"/>
              <a:ea typeface="+mn-lt"/>
              <a:cs typeface="Courier New"/>
            </a:endParaRPr>
          </a:p>
        </p:txBody>
      </p:sp>
    </p:spTree>
    <p:extLst>
      <p:ext uri="{BB962C8B-B14F-4D97-AF65-F5344CB8AC3E}">
        <p14:creationId xmlns:p14="http://schemas.microsoft.com/office/powerpoint/2010/main" val="3870140006"/>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DA41F6-E52C-E76D-4DA9-420DBBB447F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FDCDF92-4708-0A8E-534D-E5030ECDED27}"/>
              </a:ext>
            </a:extLst>
          </p:cNvPr>
          <p:cNvSpPr>
            <a:spLocks noGrp="1"/>
          </p:cNvSpPr>
          <p:nvPr>
            <p:ph type="title"/>
          </p:nvPr>
        </p:nvSpPr>
        <p:spPr/>
        <p:txBody>
          <a:bodyPr/>
          <a:lstStyle/>
          <a:p>
            <a:r>
              <a:rPr lang="es-ES" b="0" dirty="0">
                <a:ea typeface="+mj-lt"/>
                <a:cs typeface="+mj-lt"/>
              </a:rPr>
              <a:t>2.3.2.4. Creación de menús y </a:t>
            </a:r>
            <a:r>
              <a:rPr lang="es-ES" b="0" dirty="0" err="1">
                <a:ea typeface="+mj-lt"/>
                <a:cs typeface="+mj-lt"/>
              </a:rPr>
              <a:t>layouts</a:t>
            </a:r>
            <a:r>
              <a:rPr lang="es-ES" b="0" dirty="0">
                <a:ea typeface="+mj-lt"/>
                <a:cs typeface="+mj-lt"/>
              </a:rPr>
              <a:t> complejos con </a:t>
            </a:r>
            <a:r>
              <a:rPr lang="es-ES" b="0" dirty="0" err="1">
                <a:ea typeface="+mj-lt"/>
                <a:cs typeface="+mj-lt"/>
              </a:rPr>
              <a:t>Flexbox</a:t>
            </a:r>
            <a:r>
              <a:rPr lang="es-ES" b="0" dirty="0">
                <a:ea typeface="+mj-lt"/>
                <a:cs typeface="+mj-lt"/>
              </a:rPr>
              <a:t>.</a:t>
            </a:r>
            <a:endParaRPr lang="es-ES" dirty="0"/>
          </a:p>
        </p:txBody>
      </p:sp>
      <p:sp>
        <p:nvSpPr>
          <p:cNvPr id="3" name="Marcador de contenido 2">
            <a:extLst>
              <a:ext uri="{FF2B5EF4-FFF2-40B4-BE49-F238E27FC236}">
                <a16:creationId xmlns:a16="http://schemas.microsoft.com/office/drawing/2014/main" id="{F936D3F9-08F0-93F6-D38A-9579785C3990}"/>
              </a:ext>
            </a:extLst>
          </p:cNvPr>
          <p:cNvSpPr>
            <a:spLocks noGrp="1"/>
          </p:cNvSpPr>
          <p:nvPr>
            <p:ph idx="1"/>
          </p:nvPr>
        </p:nvSpPr>
        <p:spPr/>
        <p:txBody>
          <a:bodyPr vert="horz" lIns="91440" tIns="45720" rIns="91440" bIns="45720" rtlCol="0" anchor="t">
            <a:normAutofit fontScale="92500" lnSpcReduction="20000"/>
          </a:bodyPr>
          <a:lstStyle/>
          <a:p>
            <a:r>
              <a:rPr lang="es-ES" dirty="0">
                <a:ea typeface="+mn-lt"/>
                <a:cs typeface="+mn-lt"/>
              </a:rPr>
              <a:t>Ejemplo: </a:t>
            </a:r>
            <a:r>
              <a:rPr lang="es-ES" dirty="0" err="1">
                <a:ea typeface="+mn-lt"/>
                <a:cs typeface="+mn-lt"/>
              </a:rPr>
              <a:t>Layout</a:t>
            </a:r>
            <a:r>
              <a:rPr lang="es-ES" dirty="0">
                <a:ea typeface="+mn-lt"/>
                <a:cs typeface="+mn-lt"/>
              </a:rPr>
              <a:t> de formulario en una columna. </a:t>
            </a:r>
            <a:r>
              <a:rPr lang="es-ES" dirty="0" err="1">
                <a:ea typeface="+mn-lt"/>
                <a:cs typeface="+mn-lt"/>
              </a:rPr>
              <a:t>Flexbox</a:t>
            </a:r>
            <a:r>
              <a:rPr lang="es-ES" dirty="0">
                <a:ea typeface="+mn-lt"/>
                <a:cs typeface="+mn-lt"/>
              </a:rPr>
              <a:t> con </a:t>
            </a:r>
            <a:r>
              <a:rPr lang="es-ES" dirty="0" err="1">
                <a:ea typeface="+mn-lt"/>
                <a:cs typeface="+mn-lt"/>
              </a:rPr>
              <a:t>flex-direction</a:t>
            </a:r>
            <a:r>
              <a:rPr lang="es-ES" dirty="0">
                <a:ea typeface="+mn-lt"/>
                <a:cs typeface="+mn-lt"/>
              </a:rPr>
              <a:t>: </a:t>
            </a:r>
            <a:r>
              <a:rPr lang="es-ES" dirty="0" err="1">
                <a:ea typeface="+mn-lt"/>
                <a:cs typeface="+mn-lt"/>
              </a:rPr>
              <a:t>column</a:t>
            </a:r>
            <a:r>
              <a:rPr lang="es-ES" dirty="0">
                <a:ea typeface="+mn-lt"/>
                <a:cs typeface="+mn-lt"/>
              </a:rPr>
              <a:t> es perfecto para organizar los campos de un formulario de forma vertical.</a:t>
            </a:r>
          </a:p>
          <a:p>
            <a:pPr marL="0" indent="0">
              <a:buNone/>
            </a:pPr>
            <a:r>
              <a:rPr lang="es-ES" b="1" dirty="0">
                <a:latin typeface="Courier New"/>
                <a:ea typeface="+mn-lt"/>
                <a:cs typeface="+mn-lt"/>
              </a:rPr>
              <a:t>&lt;</a:t>
            </a:r>
            <a:r>
              <a:rPr lang="es-ES" b="1" dirty="0" err="1">
                <a:latin typeface="Courier New"/>
                <a:ea typeface="+mn-lt"/>
                <a:cs typeface="+mn-lt"/>
              </a:rPr>
              <a:t>form</a:t>
            </a:r>
            <a:r>
              <a:rPr lang="es-ES" b="1" dirty="0">
                <a:latin typeface="Courier New"/>
                <a:ea typeface="+mn-lt"/>
                <a:cs typeface="+mn-lt"/>
              </a:rPr>
              <a:t> </a:t>
            </a:r>
            <a:r>
              <a:rPr lang="es-ES" b="1" dirty="0" err="1">
                <a:latin typeface="Courier New"/>
                <a:ea typeface="+mn-lt"/>
                <a:cs typeface="+mn-lt"/>
              </a:rPr>
              <a:t>class</a:t>
            </a:r>
            <a:r>
              <a:rPr lang="es-ES" b="1" dirty="0">
                <a:latin typeface="Courier New"/>
                <a:ea typeface="+mn-lt"/>
                <a:cs typeface="+mn-lt"/>
              </a:rPr>
              <a:t>="formulario"&gt;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label</a:t>
            </a:r>
            <a:r>
              <a:rPr lang="es-ES" b="1" dirty="0">
                <a:latin typeface="Courier New"/>
                <a:ea typeface="+mn-lt"/>
                <a:cs typeface="+mn-lt"/>
              </a:rPr>
              <a:t> </a:t>
            </a:r>
            <a:r>
              <a:rPr lang="es-ES" b="1" dirty="0" err="1">
                <a:latin typeface="Courier New"/>
                <a:ea typeface="+mn-lt"/>
                <a:cs typeface="+mn-lt"/>
              </a:rPr>
              <a:t>for</a:t>
            </a:r>
            <a:r>
              <a:rPr lang="es-ES" b="1" dirty="0">
                <a:latin typeface="Courier New"/>
                <a:ea typeface="+mn-lt"/>
                <a:cs typeface="+mn-lt"/>
              </a:rPr>
              <a:t>="nombre"&gt;Nombre&lt;/</a:t>
            </a:r>
            <a:r>
              <a:rPr lang="es-ES" b="1" dirty="0" err="1">
                <a:latin typeface="Courier New"/>
                <a:ea typeface="+mn-lt"/>
                <a:cs typeface="+mn-lt"/>
              </a:rPr>
              <a:t>label</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&lt;input </a:t>
            </a:r>
            <a:r>
              <a:rPr lang="es-ES" b="1" dirty="0" err="1">
                <a:latin typeface="Courier New"/>
                <a:ea typeface="+mn-lt"/>
                <a:cs typeface="+mn-lt"/>
              </a:rPr>
              <a:t>type</a:t>
            </a:r>
            <a:r>
              <a:rPr lang="es-ES" b="1" dirty="0">
                <a:latin typeface="Courier New"/>
                <a:ea typeface="+mn-lt"/>
                <a:cs typeface="+mn-lt"/>
              </a:rPr>
              <a:t>="</a:t>
            </a:r>
            <a:r>
              <a:rPr lang="es-ES" b="1" dirty="0" err="1">
                <a:latin typeface="Courier New"/>
                <a:ea typeface="+mn-lt"/>
                <a:cs typeface="+mn-lt"/>
              </a:rPr>
              <a:t>text</a:t>
            </a:r>
            <a:r>
              <a:rPr lang="es-ES" b="1" dirty="0">
                <a:latin typeface="Courier New"/>
                <a:ea typeface="+mn-lt"/>
                <a:cs typeface="+mn-lt"/>
              </a:rPr>
              <a:t>" id="nombre"&gt;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label</a:t>
            </a:r>
            <a:r>
              <a:rPr lang="es-ES" b="1" dirty="0">
                <a:latin typeface="Courier New"/>
                <a:ea typeface="+mn-lt"/>
                <a:cs typeface="+mn-lt"/>
              </a:rPr>
              <a:t> </a:t>
            </a:r>
            <a:r>
              <a:rPr lang="es-ES" b="1" dirty="0" err="1">
                <a:latin typeface="Courier New"/>
                <a:ea typeface="+mn-lt"/>
                <a:cs typeface="+mn-lt"/>
              </a:rPr>
              <a:t>for</a:t>
            </a:r>
            <a:r>
              <a:rPr lang="es-ES" b="1" dirty="0">
                <a:latin typeface="Courier New"/>
                <a:ea typeface="+mn-lt"/>
                <a:cs typeface="+mn-lt"/>
              </a:rPr>
              <a:t>="email"&gt;Email&lt;/</a:t>
            </a:r>
            <a:r>
              <a:rPr lang="es-ES" b="1" dirty="0" err="1">
                <a:latin typeface="Courier New"/>
                <a:ea typeface="+mn-lt"/>
                <a:cs typeface="+mn-lt"/>
              </a:rPr>
              <a:t>label</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&lt;input </a:t>
            </a:r>
            <a:r>
              <a:rPr lang="es-ES" b="1" dirty="0" err="1">
                <a:latin typeface="Courier New"/>
                <a:ea typeface="+mn-lt"/>
                <a:cs typeface="+mn-lt"/>
              </a:rPr>
              <a:t>type</a:t>
            </a:r>
            <a:r>
              <a:rPr lang="es-ES" b="1" dirty="0">
                <a:latin typeface="Courier New"/>
                <a:ea typeface="+mn-lt"/>
                <a:cs typeface="+mn-lt"/>
              </a:rPr>
              <a:t>="email" id="email"&gt;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button</a:t>
            </a:r>
            <a:r>
              <a:rPr lang="es-ES" b="1" dirty="0">
                <a:latin typeface="Courier New"/>
                <a:ea typeface="+mn-lt"/>
                <a:cs typeface="+mn-lt"/>
              </a:rPr>
              <a:t> </a:t>
            </a:r>
            <a:r>
              <a:rPr lang="es-ES" b="1" dirty="0" err="1">
                <a:latin typeface="Courier New"/>
                <a:ea typeface="+mn-lt"/>
                <a:cs typeface="+mn-lt"/>
              </a:rPr>
              <a:t>type</a:t>
            </a:r>
            <a:r>
              <a:rPr lang="es-ES" b="1" dirty="0">
                <a:latin typeface="Courier New"/>
                <a:ea typeface="+mn-lt"/>
                <a:cs typeface="+mn-lt"/>
              </a:rPr>
              <a:t>="</a:t>
            </a:r>
            <a:r>
              <a:rPr lang="es-ES" b="1" dirty="0" err="1">
                <a:latin typeface="Courier New"/>
                <a:ea typeface="+mn-lt"/>
                <a:cs typeface="+mn-lt"/>
              </a:rPr>
              <a:t>submit</a:t>
            </a:r>
            <a:r>
              <a:rPr lang="es-ES" b="1" dirty="0">
                <a:latin typeface="Courier New"/>
                <a:ea typeface="+mn-lt"/>
                <a:cs typeface="+mn-lt"/>
              </a:rPr>
              <a:t>"&gt;Enviar&lt;/</a:t>
            </a:r>
            <a:r>
              <a:rPr lang="es-ES" b="1" dirty="0" err="1">
                <a:latin typeface="Courier New"/>
                <a:ea typeface="+mn-lt"/>
                <a:cs typeface="+mn-lt"/>
              </a:rPr>
              <a:t>button</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&lt;/</a:t>
            </a:r>
            <a:r>
              <a:rPr lang="es-ES" b="1" dirty="0" err="1">
                <a:latin typeface="Courier New"/>
                <a:ea typeface="+mn-lt"/>
                <a:cs typeface="+mn-lt"/>
              </a:rPr>
              <a:t>form</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.formulario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display</a:t>
            </a:r>
            <a:r>
              <a:rPr lang="es-ES" b="1" dirty="0">
                <a:latin typeface="Courier New"/>
                <a:ea typeface="+mn-lt"/>
                <a:cs typeface="+mn-lt"/>
              </a:rPr>
              <a:t>: </a:t>
            </a:r>
            <a:r>
              <a:rPr lang="es-ES" b="1" dirty="0" err="1">
                <a:latin typeface="Courier New"/>
                <a:ea typeface="+mn-lt"/>
                <a:cs typeface="+mn-lt"/>
              </a:rPr>
              <a:t>flex</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flex-direction</a:t>
            </a:r>
            <a:r>
              <a:rPr lang="es-ES" b="1" dirty="0">
                <a:latin typeface="Courier New"/>
                <a:ea typeface="+mn-lt"/>
                <a:cs typeface="+mn-lt"/>
              </a:rPr>
              <a:t>: </a:t>
            </a:r>
            <a:r>
              <a:rPr lang="es-ES" b="1" dirty="0" err="1">
                <a:latin typeface="Courier New"/>
                <a:ea typeface="+mn-lt"/>
                <a:cs typeface="+mn-lt"/>
              </a:rPr>
              <a:t>column</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  gap: 10px;</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width</a:t>
            </a:r>
            <a:r>
              <a:rPr lang="es-ES" b="1" dirty="0">
                <a:latin typeface="Courier New"/>
                <a:ea typeface="+mn-lt"/>
                <a:cs typeface="+mn-lt"/>
              </a:rPr>
              <a:t>: 300px;</a:t>
            </a:r>
            <a:br>
              <a:rPr lang="es-ES" b="1" dirty="0">
                <a:latin typeface="Courier New"/>
                <a:ea typeface="+mn-lt"/>
                <a:cs typeface="+mn-lt"/>
              </a:rPr>
            </a:br>
            <a:r>
              <a:rPr lang="es-ES" b="1" dirty="0">
                <a:latin typeface="Courier New"/>
                <a:ea typeface="+mn-lt"/>
                <a:cs typeface="+mn-lt"/>
              </a:rPr>
              <a:t>}</a:t>
            </a:r>
          </a:p>
          <a:p>
            <a:endParaRPr lang="es-ES" dirty="0">
              <a:latin typeface="Bierstadt"/>
              <a:ea typeface="+mn-lt"/>
              <a:cs typeface="+mn-lt"/>
            </a:endParaRPr>
          </a:p>
          <a:p>
            <a:endParaRPr lang="es-ES" dirty="0">
              <a:latin typeface="Bierstadt"/>
              <a:ea typeface="+mn-lt"/>
              <a:cs typeface="Courier New"/>
            </a:endParaRPr>
          </a:p>
        </p:txBody>
      </p:sp>
    </p:spTree>
    <p:extLst>
      <p:ext uri="{BB962C8B-B14F-4D97-AF65-F5344CB8AC3E}">
        <p14:creationId xmlns:p14="http://schemas.microsoft.com/office/powerpoint/2010/main" val="1791445065"/>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B8AEB0-6A8A-ABBA-E223-ADA480C3388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9D744DB-8C3F-D08E-39B8-9D67F11F8B34}"/>
              </a:ext>
            </a:extLst>
          </p:cNvPr>
          <p:cNvSpPr>
            <a:spLocks noGrp="1"/>
          </p:cNvSpPr>
          <p:nvPr>
            <p:ph type="title"/>
          </p:nvPr>
        </p:nvSpPr>
        <p:spPr/>
        <p:txBody>
          <a:bodyPr/>
          <a:lstStyle/>
          <a:p>
            <a:r>
              <a:rPr lang="es-ES" b="0" dirty="0">
                <a:ea typeface="+mj-lt"/>
                <a:cs typeface="+mj-lt"/>
              </a:rPr>
              <a:t>2.3.2.4. Creación de menús y </a:t>
            </a:r>
            <a:r>
              <a:rPr lang="es-ES" b="0" dirty="0" err="1">
                <a:ea typeface="+mj-lt"/>
                <a:cs typeface="+mj-lt"/>
              </a:rPr>
              <a:t>layouts</a:t>
            </a:r>
            <a:r>
              <a:rPr lang="es-ES" b="0" dirty="0">
                <a:ea typeface="+mj-lt"/>
                <a:cs typeface="+mj-lt"/>
              </a:rPr>
              <a:t> complejos con </a:t>
            </a:r>
            <a:r>
              <a:rPr lang="es-ES" b="0" dirty="0" err="1">
                <a:ea typeface="+mj-lt"/>
                <a:cs typeface="+mj-lt"/>
              </a:rPr>
              <a:t>Flexbox</a:t>
            </a:r>
            <a:r>
              <a:rPr lang="es-ES" b="0" dirty="0">
                <a:ea typeface="+mj-lt"/>
                <a:cs typeface="+mj-lt"/>
              </a:rPr>
              <a:t>.</a:t>
            </a:r>
            <a:endParaRPr lang="es-ES" dirty="0"/>
          </a:p>
        </p:txBody>
      </p:sp>
      <p:sp>
        <p:nvSpPr>
          <p:cNvPr id="3" name="Marcador de contenido 2">
            <a:extLst>
              <a:ext uri="{FF2B5EF4-FFF2-40B4-BE49-F238E27FC236}">
                <a16:creationId xmlns:a16="http://schemas.microsoft.com/office/drawing/2014/main" id="{FD29F958-B7DF-01D5-57A6-C38C0A37CDD5}"/>
              </a:ext>
            </a:extLst>
          </p:cNvPr>
          <p:cNvSpPr>
            <a:spLocks noGrp="1"/>
          </p:cNvSpPr>
          <p:nvPr>
            <p:ph idx="1"/>
          </p:nvPr>
        </p:nvSpPr>
        <p:spPr/>
        <p:txBody>
          <a:bodyPr vert="horz" lIns="91440" tIns="45720" rIns="91440" bIns="45720" rtlCol="0" anchor="t">
            <a:normAutofit lnSpcReduction="10000"/>
          </a:bodyPr>
          <a:lstStyle/>
          <a:p>
            <a:r>
              <a:rPr lang="es-ES" dirty="0">
                <a:ea typeface="+mn-lt"/>
                <a:cs typeface="+mn-lt"/>
              </a:rPr>
              <a:t>Ejemplo: </a:t>
            </a:r>
            <a:r>
              <a:rPr lang="es-ES" dirty="0" err="1">
                <a:ea typeface="+mn-lt"/>
                <a:cs typeface="+mn-lt"/>
              </a:rPr>
              <a:t>Flexbox</a:t>
            </a:r>
            <a:r>
              <a:rPr lang="es-ES" dirty="0">
                <a:ea typeface="+mn-lt"/>
                <a:cs typeface="+mn-lt"/>
              </a:rPr>
              <a:t> te permite alinear un icono y un texto dentro de un botón de forma sencilla, garantizando que estén siempre centrados.</a:t>
            </a:r>
          </a:p>
          <a:p>
            <a:pPr marL="0" indent="0">
              <a:buNone/>
            </a:pPr>
            <a:r>
              <a:rPr lang="es-ES" b="1" dirty="0">
                <a:latin typeface="Courier New"/>
                <a:ea typeface="+mn-lt"/>
                <a:cs typeface="+mn-lt"/>
              </a:rPr>
              <a:t>&lt;</a:t>
            </a:r>
            <a:r>
              <a:rPr lang="es-ES" b="1" dirty="0" err="1">
                <a:latin typeface="Courier New"/>
                <a:ea typeface="+mn-lt"/>
                <a:cs typeface="+mn-lt"/>
              </a:rPr>
              <a:t>button</a:t>
            </a:r>
            <a:r>
              <a:rPr lang="es-ES" b="1" dirty="0">
                <a:latin typeface="Courier New"/>
                <a:ea typeface="+mn-lt"/>
                <a:cs typeface="+mn-lt"/>
              </a:rPr>
              <a:t> </a:t>
            </a:r>
            <a:r>
              <a:rPr lang="es-ES" b="1" dirty="0" err="1">
                <a:latin typeface="Courier New"/>
                <a:ea typeface="+mn-lt"/>
                <a:cs typeface="+mn-lt"/>
              </a:rPr>
              <a:t>class</a:t>
            </a:r>
            <a:r>
              <a:rPr lang="es-ES" b="1" dirty="0">
                <a:latin typeface="Courier New"/>
                <a:ea typeface="+mn-lt"/>
                <a:cs typeface="+mn-lt"/>
              </a:rPr>
              <a:t>="</a:t>
            </a:r>
            <a:r>
              <a:rPr lang="es-ES" b="1" dirty="0" err="1">
                <a:latin typeface="Courier New"/>
                <a:ea typeface="+mn-lt"/>
                <a:cs typeface="+mn-lt"/>
              </a:rPr>
              <a:t>btn</a:t>
            </a:r>
            <a:r>
              <a:rPr lang="es-ES" b="1" dirty="0">
                <a:latin typeface="Courier New"/>
                <a:ea typeface="+mn-lt"/>
                <a:cs typeface="+mn-lt"/>
              </a:rPr>
              <a:t>-con-icono"&gt;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span</a:t>
            </a:r>
            <a:r>
              <a:rPr lang="es-ES" b="1" dirty="0">
                <a:latin typeface="Courier New"/>
                <a:ea typeface="+mn-lt"/>
                <a:cs typeface="+mn-lt"/>
              </a:rPr>
              <a:t> </a:t>
            </a:r>
            <a:r>
              <a:rPr lang="es-ES" b="1" dirty="0" err="1">
                <a:latin typeface="Courier New"/>
                <a:ea typeface="+mn-lt"/>
                <a:cs typeface="+mn-lt"/>
              </a:rPr>
              <a:t>class</a:t>
            </a:r>
            <a:r>
              <a:rPr lang="es-ES" b="1" dirty="0">
                <a:latin typeface="Courier New"/>
                <a:ea typeface="+mn-lt"/>
                <a:cs typeface="+mn-lt"/>
              </a:rPr>
              <a:t>="icono"&gt;👍&lt;/</a:t>
            </a:r>
            <a:r>
              <a:rPr lang="es-ES" b="1" dirty="0" err="1">
                <a:latin typeface="Courier New"/>
                <a:ea typeface="+mn-lt"/>
                <a:cs typeface="+mn-lt"/>
              </a:rPr>
              <a:t>span</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span</a:t>
            </a:r>
            <a:r>
              <a:rPr lang="es-ES" b="1" dirty="0">
                <a:latin typeface="Courier New"/>
                <a:ea typeface="+mn-lt"/>
                <a:cs typeface="+mn-lt"/>
              </a:rPr>
              <a:t>&gt;Me gusta&lt;/</a:t>
            </a:r>
            <a:r>
              <a:rPr lang="es-ES" b="1" dirty="0" err="1">
                <a:latin typeface="Courier New"/>
                <a:ea typeface="+mn-lt"/>
                <a:cs typeface="+mn-lt"/>
              </a:rPr>
              <a:t>span</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&lt;/</a:t>
            </a:r>
            <a:r>
              <a:rPr lang="es-ES" b="1" dirty="0" err="1">
                <a:latin typeface="Courier New"/>
                <a:ea typeface="+mn-lt"/>
                <a:cs typeface="+mn-lt"/>
              </a:rPr>
              <a:t>button</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a:t>
            </a:r>
            <a:r>
              <a:rPr lang="es-ES" b="1" dirty="0" err="1">
                <a:latin typeface="Courier New"/>
                <a:ea typeface="+mn-lt"/>
                <a:cs typeface="+mn-lt"/>
              </a:rPr>
              <a:t>btn</a:t>
            </a:r>
            <a:r>
              <a:rPr lang="es-ES" b="1" dirty="0">
                <a:latin typeface="Courier New"/>
                <a:ea typeface="+mn-lt"/>
                <a:cs typeface="+mn-lt"/>
              </a:rPr>
              <a:t>-con-icono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display</a:t>
            </a:r>
            <a:r>
              <a:rPr lang="es-ES" b="1" dirty="0">
                <a:latin typeface="Courier New"/>
                <a:ea typeface="+mn-lt"/>
                <a:cs typeface="+mn-lt"/>
              </a:rPr>
              <a:t>: </a:t>
            </a:r>
            <a:r>
              <a:rPr lang="es-ES" b="1" dirty="0" err="1">
                <a:latin typeface="Courier New"/>
                <a:ea typeface="+mn-lt"/>
                <a:cs typeface="+mn-lt"/>
              </a:rPr>
              <a:t>flex</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align-items</a:t>
            </a:r>
            <a:r>
              <a:rPr lang="es-ES" b="1" dirty="0">
                <a:latin typeface="Courier New"/>
                <a:ea typeface="+mn-lt"/>
                <a:cs typeface="+mn-lt"/>
              </a:rPr>
              <a:t>: center; /* Alinea el icono y el texto verticalmente */</a:t>
            </a:r>
            <a:br>
              <a:rPr lang="es-ES" b="1" dirty="0">
                <a:latin typeface="Courier New"/>
                <a:ea typeface="+mn-lt"/>
                <a:cs typeface="+mn-lt"/>
              </a:rPr>
            </a:br>
            <a:r>
              <a:rPr lang="es-ES" b="1" dirty="0">
                <a:latin typeface="Courier New"/>
                <a:ea typeface="+mn-lt"/>
                <a:cs typeface="+mn-lt"/>
              </a:rPr>
              <a:t>  gap: 8px; /* Espacio entre el icono y el texto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padding</a:t>
            </a:r>
            <a:r>
              <a:rPr lang="es-ES" b="1" dirty="0">
                <a:latin typeface="Courier New"/>
                <a:ea typeface="+mn-lt"/>
                <a:cs typeface="+mn-lt"/>
              </a:rPr>
              <a:t>: 10px 15px;</a:t>
            </a:r>
            <a:br>
              <a:rPr lang="es-ES" b="1" dirty="0">
                <a:latin typeface="Courier New"/>
                <a:ea typeface="+mn-lt"/>
                <a:cs typeface="+mn-lt"/>
              </a:rPr>
            </a:br>
            <a:r>
              <a:rPr lang="es-ES" b="1" dirty="0">
                <a:latin typeface="Courier New"/>
                <a:ea typeface="+mn-lt"/>
                <a:cs typeface="+mn-lt"/>
              </a:rPr>
              <a:t>}</a:t>
            </a:r>
          </a:p>
          <a:p>
            <a:endParaRPr lang="es-ES" dirty="0">
              <a:latin typeface="Bierstadt"/>
              <a:ea typeface="+mn-lt"/>
              <a:cs typeface="+mn-lt"/>
            </a:endParaRPr>
          </a:p>
          <a:p>
            <a:endParaRPr lang="es-ES" dirty="0">
              <a:latin typeface="Bierstadt"/>
              <a:ea typeface="+mn-lt"/>
              <a:cs typeface="Courier New"/>
            </a:endParaRPr>
          </a:p>
        </p:txBody>
      </p:sp>
    </p:spTree>
    <p:extLst>
      <p:ext uri="{BB962C8B-B14F-4D97-AF65-F5344CB8AC3E}">
        <p14:creationId xmlns:p14="http://schemas.microsoft.com/office/powerpoint/2010/main" val="3475503958"/>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AC010E-3232-1044-1E03-A65DD5E881D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328A36D-9D9F-ABF3-E426-A7A28C58F40E}"/>
              </a:ext>
            </a:extLst>
          </p:cNvPr>
          <p:cNvSpPr>
            <a:spLocks noGrp="1"/>
          </p:cNvSpPr>
          <p:nvPr>
            <p:ph type="title"/>
          </p:nvPr>
        </p:nvSpPr>
        <p:spPr/>
        <p:txBody>
          <a:bodyPr/>
          <a:lstStyle/>
          <a:p>
            <a:r>
              <a:rPr lang="es-ES" b="0" dirty="0">
                <a:ea typeface="+mj-lt"/>
                <a:cs typeface="+mj-lt"/>
              </a:rPr>
              <a:t>2.3.3. Maquetación con CSS </a:t>
            </a:r>
            <a:r>
              <a:rPr lang="es-ES" b="0" dirty="0" err="1">
                <a:ea typeface="+mj-lt"/>
                <a:cs typeface="+mj-lt"/>
              </a:rPr>
              <a:t>Grid</a:t>
            </a:r>
            <a:r>
              <a:rPr lang="es-ES" b="0" dirty="0">
                <a:ea typeface="+mj-lt"/>
                <a:cs typeface="+mj-lt"/>
              </a:rPr>
              <a:t> (</a:t>
            </a:r>
            <a:r>
              <a:rPr lang="es-ES" b="0" dirty="0" err="1">
                <a:ea typeface="+mj-lt"/>
                <a:cs typeface="+mj-lt"/>
              </a:rPr>
              <a:t>Grid</a:t>
            </a:r>
            <a:r>
              <a:rPr lang="es-ES" b="0" dirty="0">
                <a:ea typeface="+mj-lt"/>
                <a:cs typeface="+mj-lt"/>
              </a:rPr>
              <a:t> </a:t>
            </a:r>
            <a:r>
              <a:rPr lang="es-ES" b="0" dirty="0" err="1">
                <a:ea typeface="+mj-lt"/>
                <a:cs typeface="+mj-lt"/>
              </a:rPr>
              <a:t>Layout</a:t>
            </a:r>
            <a:r>
              <a:rPr lang="es-ES" b="0" dirty="0">
                <a:ea typeface="+mj-lt"/>
                <a:cs typeface="+mj-lt"/>
              </a:rPr>
              <a:t>)</a:t>
            </a:r>
            <a:endParaRPr lang="es-ES" dirty="0"/>
          </a:p>
        </p:txBody>
      </p:sp>
      <p:sp>
        <p:nvSpPr>
          <p:cNvPr id="3" name="Marcador de contenido 2">
            <a:extLst>
              <a:ext uri="{FF2B5EF4-FFF2-40B4-BE49-F238E27FC236}">
                <a16:creationId xmlns:a16="http://schemas.microsoft.com/office/drawing/2014/main" id="{2CF469D5-AF76-337F-24B6-F996B40C4DDF}"/>
              </a:ext>
            </a:extLst>
          </p:cNvPr>
          <p:cNvSpPr>
            <a:spLocks noGrp="1"/>
          </p:cNvSpPr>
          <p:nvPr>
            <p:ph idx="1"/>
          </p:nvPr>
        </p:nvSpPr>
        <p:spPr/>
        <p:txBody>
          <a:bodyPr vert="horz" lIns="91440" tIns="45720" rIns="91440" bIns="45720" rtlCol="0" anchor="t">
            <a:normAutofit fontScale="92500"/>
          </a:bodyPr>
          <a:lstStyle/>
          <a:p>
            <a:r>
              <a:rPr lang="es-ES" dirty="0">
                <a:ea typeface="+mn-lt"/>
                <a:cs typeface="+mn-lt"/>
              </a:rPr>
              <a:t>CSS </a:t>
            </a:r>
            <a:r>
              <a:rPr lang="es-ES" dirty="0" err="1">
                <a:ea typeface="+mn-lt"/>
                <a:cs typeface="+mn-lt"/>
              </a:rPr>
              <a:t>Grid</a:t>
            </a:r>
            <a:r>
              <a:rPr lang="es-ES" dirty="0">
                <a:ea typeface="+mn-lt"/>
                <a:cs typeface="+mn-lt"/>
              </a:rPr>
              <a:t> </a:t>
            </a:r>
            <a:r>
              <a:rPr lang="es-ES" dirty="0" err="1">
                <a:ea typeface="+mn-lt"/>
                <a:cs typeface="+mn-lt"/>
              </a:rPr>
              <a:t>Layout</a:t>
            </a:r>
            <a:r>
              <a:rPr lang="es-ES" dirty="0">
                <a:ea typeface="+mn-lt"/>
                <a:cs typeface="+mn-lt"/>
              </a:rPr>
              <a:t>, a menudo conocido simplemente como </a:t>
            </a:r>
            <a:r>
              <a:rPr lang="es-ES" dirty="0" err="1">
                <a:ea typeface="+mn-lt"/>
                <a:cs typeface="+mn-lt"/>
              </a:rPr>
              <a:t>Grid</a:t>
            </a:r>
            <a:r>
              <a:rPr lang="es-ES" dirty="0">
                <a:ea typeface="+mn-lt"/>
                <a:cs typeface="+mn-lt"/>
              </a:rPr>
              <a:t>, es un sistema de maquetación bidimensional en CSS. A diferencia de </a:t>
            </a:r>
            <a:r>
              <a:rPr lang="es-ES" dirty="0" err="1">
                <a:ea typeface="+mn-lt"/>
                <a:cs typeface="+mn-lt"/>
              </a:rPr>
              <a:t>Flexbox</a:t>
            </a:r>
            <a:r>
              <a:rPr lang="es-ES" dirty="0">
                <a:ea typeface="+mn-lt"/>
                <a:cs typeface="+mn-lt"/>
              </a:rPr>
              <a:t>, que trabaja con elementos en un solo eje (fila o columna), </a:t>
            </a:r>
            <a:r>
              <a:rPr lang="es-ES" dirty="0" err="1">
                <a:ea typeface="+mn-lt"/>
                <a:cs typeface="+mn-lt"/>
              </a:rPr>
              <a:t>Grid</a:t>
            </a:r>
            <a:r>
              <a:rPr lang="es-ES" dirty="0">
                <a:ea typeface="+mn-lt"/>
                <a:cs typeface="+mn-lt"/>
              </a:rPr>
              <a:t> te permite organizar el contenido en filas y columnas al mismo tiempo. Esto lo convierte en la herramienta perfecta para diseñar la estructura de una página completa, como la cabecera, el pie de página, las barras laterales y el área de contenido principal.</a:t>
            </a:r>
            <a:endParaRPr lang="es-ES" dirty="0"/>
          </a:p>
          <a:p>
            <a:r>
              <a:rPr lang="es-ES" dirty="0">
                <a:ea typeface="+mn-lt"/>
                <a:cs typeface="+mn-lt"/>
              </a:rPr>
              <a:t>El modelo de </a:t>
            </a:r>
            <a:r>
              <a:rPr lang="es-ES" dirty="0" err="1">
                <a:ea typeface="+mn-lt"/>
                <a:cs typeface="+mn-lt"/>
              </a:rPr>
              <a:t>Grid</a:t>
            </a:r>
            <a:r>
              <a:rPr lang="es-ES" dirty="0">
                <a:ea typeface="+mn-lt"/>
                <a:cs typeface="+mn-lt"/>
              </a:rPr>
              <a:t> se basa en dos conceptos principales, muy parecidos a los de </a:t>
            </a:r>
            <a:r>
              <a:rPr lang="es-ES" dirty="0" err="1">
                <a:ea typeface="+mn-lt"/>
                <a:cs typeface="+mn-lt"/>
              </a:rPr>
              <a:t>Flexbox</a:t>
            </a:r>
            <a:r>
              <a:rPr lang="es-ES" dirty="0">
                <a:ea typeface="+mn-lt"/>
                <a:cs typeface="+mn-lt"/>
              </a:rPr>
              <a:t>:</a:t>
            </a:r>
            <a:endParaRPr lang="es-ES" dirty="0"/>
          </a:p>
          <a:p>
            <a:pPr lvl="1">
              <a:buFont typeface="Courier New" panose="020B0604020202020204" pitchFamily="34" charset="0"/>
              <a:buChar char="o"/>
            </a:pPr>
            <a:r>
              <a:rPr lang="es-ES" dirty="0">
                <a:ea typeface="+mn-lt"/>
                <a:cs typeface="+mn-lt"/>
              </a:rPr>
              <a:t>Contenedor de la Rejilla (</a:t>
            </a:r>
            <a:r>
              <a:rPr lang="es-ES" dirty="0" err="1">
                <a:ea typeface="+mn-lt"/>
                <a:cs typeface="+mn-lt"/>
              </a:rPr>
              <a:t>Grid</a:t>
            </a:r>
            <a:r>
              <a:rPr lang="es-ES" dirty="0">
                <a:ea typeface="+mn-lt"/>
                <a:cs typeface="+mn-lt"/>
              </a:rPr>
              <a:t> Container): Es el elemento padre al que aplicas </a:t>
            </a:r>
            <a:r>
              <a:rPr lang="es-ES" dirty="0" err="1">
                <a:ea typeface="+mn-lt"/>
                <a:cs typeface="+mn-lt"/>
              </a:rPr>
              <a:t>display</a:t>
            </a:r>
            <a:r>
              <a:rPr lang="es-ES" dirty="0">
                <a:ea typeface="+mn-lt"/>
                <a:cs typeface="+mn-lt"/>
              </a:rPr>
              <a:t>: </a:t>
            </a:r>
            <a:r>
              <a:rPr lang="es-ES" dirty="0" err="1">
                <a:ea typeface="+mn-lt"/>
                <a:cs typeface="+mn-lt"/>
              </a:rPr>
              <a:t>grid</a:t>
            </a:r>
            <a:r>
              <a:rPr lang="es-ES" dirty="0">
                <a:ea typeface="+mn-lt"/>
                <a:cs typeface="+mn-lt"/>
              </a:rPr>
              <a:t>;. Todos sus hijos directos se convierten en Ítems de la Rejilla (</a:t>
            </a:r>
            <a:r>
              <a:rPr lang="es-ES" dirty="0" err="1">
                <a:ea typeface="+mn-lt"/>
                <a:cs typeface="+mn-lt"/>
              </a:rPr>
              <a:t>Grid</a:t>
            </a:r>
            <a:r>
              <a:rPr lang="es-ES" dirty="0">
                <a:ea typeface="+mn-lt"/>
                <a:cs typeface="+mn-lt"/>
              </a:rPr>
              <a:t> </a:t>
            </a:r>
            <a:r>
              <a:rPr lang="es-ES" dirty="0" err="1">
                <a:ea typeface="+mn-lt"/>
                <a:cs typeface="+mn-lt"/>
              </a:rPr>
              <a:t>Items</a:t>
            </a:r>
            <a:r>
              <a:rPr lang="es-ES" dirty="0">
                <a:ea typeface="+mn-lt"/>
                <a:cs typeface="+mn-lt"/>
              </a:rPr>
              <a:t>).</a:t>
            </a:r>
            <a:endParaRPr lang="es-ES" dirty="0"/>
          </a:p>
          <a:p>
            <a:pPr lvl="1">
              <a:buFont typeface="Courier New" panose="020B0604020202020204" pitchFamily="34" charset="0"/>
              <a:buChar char="o"/>
            </a:pPr>
            <a:r>
              <a:rPr lang="es-ES" dirty="0">
                <a:ea typeface="+mn-lt"/>
                <a:cs typeface="+mn-lt"/>
              </a:rPr>
              <a:t>Líneas de la Rejilla: Son las líneas horizontales y verticales que forman la estructura de la rejilla. Puedes referirte a ellas por un número o un nombre.</a:t>
            </a:r>
            <a:endParaRPr lang="es-ES" dirty="0"/>
          </a:p>
          <a:p>
            <a:pPr lvl="1">
              <a:buFont typeface="Courier New" panose="020B0604020202020204" pitchFamily="34" charset="0"/>
              <a:buChar char="o"/>
            </a:pPr>
            <a:r>
              <a:rPr lang="es-ES" dirty="0">
                <a:ea typeface="+mn-lt"/>
                <a:cs typeface="+mn-lt"/>
              </a:rPr>
              <a:t>Celdas de la Rejilla: Son los espacios individuales que se crean en la intersección de una fila y una columna.</a:t>
            </a:r>
            <a:endParaRPr lang="es-ES" dirty="0"/>
          </a:p>
          <a:p>
            <a:pPr lvl="1">
              <a:buFont typeface="Courier New" panose="020B0604020202020204" pitchFamily="34" charset="0"/>
              <a:buChar char="o"/>
            </a:pPr>
            <a:r>
              <a:rPr lang="es-ES" dirty="0">
                <a:ea typeface="+mn-lt"/>
                <a:cs typeface="+mn-lt"/>
              </a:rPr>
              <a:t>Áreas de la Rejilla: Son grupos de celdas que puedes nombrar y combinar para posicionar elementos de forma sencilla.</a:t>
            </a:r>
            <a:endParaRPr lang="es-ES" dirty="0"/>
          </a:p>
          <a:p>
            <a:endParaRPr lang="es-ES" dirty="0"/>
          </a:p>
        </p:txBody>
      </p:sp>
    </p:spTree>
    <p:extLst>
      <p:ext uri="{BB962C8B-B14F-4D97-AF65-F5344CB8AC3E}">
        <p14:creationId xmlns:p14="http://schemas.microsoft.com/office/powerpoint/2010/main" val="1753556059"/>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2824F9-696A-3482-9920-2563ED538CE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CB0B730-F8C2-6A41-CF40-E67BED06F1F9}"/>
              </a:ext>
            </a:extLst>
          </p:cNvPr>
          <p:cNvSpPr>
            <a:spLocks noGrp="1"/>
          </p:cNvSpPr>
          <p:nvPr>
            <p:ph type="title"/>
          </p:nvPr>
        </p:nvSpPr>
        <p:spPr/>
        <p:txBody>
          <a:bodyPr/>
          <a:lstStyle/>
          <a:p>
            <a:r>
              <a:rPr lang="es-ES" b="0" dirty="0">
                <a:ea typeface="+mj-lt"/>
                <a:cs typeface="+mj-lt"/>
              </a:rPr>
              <a:t>2.3.3. Maquetación con CSS </a:t>
            </a:r>
            <a:r>
              <a:rPr lang="es-ES" b="0" dirty="0" err="1">
                <a:ea typeface="+mj-lt"/>
                <a:cs typeface="+mj-lt"/>
              </a:rPr>
              <a:t>Grid</a:t>
            </a:r>
            <a:r>
              <a:rPr lang="es-ES" b="0" dirty="0">
                <a:ea typeface="+mj-lt"/>
                <a:cs typeface="+mj-lt"/>
              </a:rPr>
              <a:t> (</a:t>
            </a:r>
            <a:r>
              <a:rPr lang="es-ES" b="0" dirty="0" err="1">
                <a:ea typeface="+mj-lt"/>
                <a:cs typeface="+mj-lt"/>
              </a:rPr>
              <a:t>Grid</a:t>
            </a:r>
            <a:r>
              <a:rPr lang="es-ES" b="0" dirty="0">
                <a:ea typeface="+mj-lt"/>
                <a:cs typeface="+mj-lt"/>
              </a:rPr>
              <a:t> </a:t>
            </a:r>
            <a:r>
              <a:rPr lang="es-ES" b="0" dirty="0" err="1">
                <a:ea typeface="+mj-lt"/>
                <a:cs typeface="+mj-lt"/>
              </a:rPr>
              <a:t>Layout</a:t>
            </a:r>
            <a:r>
              <a:rPr lang="es-ES" b="0" dirty="0">
                <a:ea typeface="+mj-lt"/>
                <a:cs typeface="+mj-lt"/>
              </a:rPr>
              <a:t>)</a:t>
            </a:r>
            <a:endParaRPr lang="es-ES" dirty="0"/>
          </a:p>
        </p:txBody>
      </p:sp>
      <p:sp>
        <p:nvSpPr>
          <p:cNvPr id="3" name="Marcador de contenido 2">
            <a:extLst>
              <a:ext uri="{FF2B5EF4-FFF2-40B4-BE49-F238E27FC236}">
                <a16:creationId xmlns:a16="http://schemas.microsoft.com/office/drawing/2014/main" id="{226909AD-6C73-53F5-3EAD-B713B6D6F2F8}"/>
              </a:ext>
            </a:extLst>
          </p:cNvPr>
          <p:cNvSpPr>
            <a:spLocks noGrp="1"/>
          </p:cNvSpPr>
          <p:nvPr>
            <p:ph idx="1"/>
          </p:nvPr>
        </p:nvSpPr>
        <p:spPr/>
        <p:txBody>
          <a:bodyPr vert="horz" lIns="91440" tIns="45720" rIns="91440" bIns="45720" rtlCol="0" anchor="t">
            <a:normAutofit fontScale="92500" lnSpcReduction="20000"/>
          </a:bodyPr>
          <a:lstStyle/>
          <a:p>
            <a:r>
              <a:rPr lang="es-ES" dirty="0">
                <a:ea typeface="+mn-lt"/>
                <a:cs typeface="+mn-lt"/>
              </a:rPr>
              <a:t>Para activar el sistema de rejilla, simplemente establece la propiedad </a:t>
            </a:r>
            <a:r>
              <a:rPr lang="es-ES" dirty="0" err="1">
                <a:ea typeface="+mn-lt"/>
                <a:cs typeface="+mn-lt"/>
              </a:rPr>
              <a:t>display</a:t>
            </a:r>
            <a:r>
              <a:rPr lang="es-ES" dirty="0">
                <a:ea typeface="+mn-lt"/>
                <a:cs typeface="+mn-lt"/>
              </a:rPr>
              <a:t>: </a:t>
            </a:r>
            <a:r>
              <a:rPr lang="es-ES" dirty="0" err="1">
                <a:ea typeface="+mn-lt"/>
                <a:cs typeface="+mn-lt"/>
              </a:rPr>
              <a:t>grid</a:t>
            </a:r>
            <a:r>
              <a:rPr lang="es-ES" dirty="0">
                <a:ea typeface="+mn-lt"/>
                <a:cs typeface="+mn-lt"/>
              </a:rPr>
              <a:t>; en el elemento padre. Las siguientes propiedades te permiten definir la estructura de la rejilla.</a:t>
            </a:r>
          </a:p>
          <a:p>
            <a:pPr lvl="1">
              <a:buFont typeface="Courier New" panose="020B0604020202020204" pitchFamily="34" charset="0"/>
              <a:buChar char="o"/>
            </a:pPr>
            <a:r>
              <a:rPr lang="es-ES" dirty="0" err="1">
                <a:ea typeface="+mn-lt"/>
                <a:cs typeface="+mn-lt"/>
              </a:rPr>
              <a:t>grid-template-columns</a:t>
            </a:r>
            <a:r>
              <a:rPr lang="es-ES" dirty="0">
                <a:ea typeface="+mn-lt"/>
                <a:cs typeface="+mn-lt"/>
              </a:rPr>
              <a:t>: Define las columnas de la rejilla. Puedes usar unidades como </a:t>
            </a:r>
            <a:r>
              <a:rPr lang="es-ES" dirty="0" err="1">
                <a:ea typeface="+mn-lt"/>
                <a:cs typeface="+mn-lt"/>
              </a:rPr>
              <a:t>px</a:t>
            </a:r>
            <a:r>
              <a:rPr lang="es-ES" dirty="0">
                <a:ea typeface="+mn-lt"/>
                <a:cs typeface="+mn-lt"/>
              </a:rPr>
              <a:t>, %, em, rem, o la unidad fraccional fr.</a:t>
            </a:r>
            <a:endParaRPr lang="es-ES" dirty="0"/>
          </a:p>
          <a:p>
            <a:pPr lvl="2">
              <a:buFont typeface="Wingdings" panose="020B0604020202020204" pitchFamily="34" charset="0"/>
              <a:buChar char="§"/>
            </a:pPr>
            <a:r>
              <a:rPr lang="es-ES" dirty="0">
                <a:ea typeface="+mn-lt"/>
                <a:cs typeface="+mn-lt"/>
              </a:rPr>
              <a:t>Ejemplo: </a:t>
            </a:r>
            <a:r>
              <a:rPr lang="es-ES" dirty="0" err="1">
                <a:ea typeface="+mn-lt"/>
                <a:cs typeface="+mn-lt"/>
              </a:rPr>
              <a:t>grid-template-columns</a:t>
            </a:r>
            <a:r>
              <a:rPr lang="es-ES" dirty="0">
                <a:ea typeface="+mn-lt"/>
                <a:cs typeface="+mn-lt"/>
              </a:rPr>
              <a:t>: 100px 1fr 2fr; crea una primera columna de 100px, una segunda columna que ocupa 1 parte del espacio restante y una tercera que ocupa 2 partes.</a:t>
            </a:r>
            <a:endParaRPr lang="es-ES" dirty="0"/>
          </a:p>
          <a:p>
            <a:pPr lvl="1">
              <a:buFont typeface="Courier New" panose="020B0604020202020204" pitchFamily="34" charset="0"/>
              <a:buChar char="o"/>
            </a:pPr>
            <a:r>
              <a:rPr lang="es-ES" dirty="0" err="1">
                <a:ea typeface="+mn-lt"/>
                <a:cs typeface="+mn-lt"/>
              </a:rPr>
              <a:t>grid-template-rows</a:t>
            </a:r>
            <a:r>
              <a:rPr lang="es-ES" dirty="0">
                <a:ea typeface="+mn-lt"/>
                <a:cs typeface="+mn-lt"/>
              </a:rPr>
              <a:t>: Define las filas de la rejilla, con una sintaxis similar a las columnas.</a:t>
            </a:r>
          </a:p>
          <a:p>
            <a:pPr lvl="2">
              <a:buFont typeface="Wingdings" panose="020B0604020202020204" pitchFamily="34" charset="0"/>
              <a:buChar char="§"/>
            </a:pPr>
            <a:r>
              <a:rPr lang="es-ES" dirty="0">
                <a:ea typeface="+mn-lt"/>
                <a:cs typeface="+mn-lt"/>
              </a:rPr>
              <a:t>Ejemplo: </a:t>
            </a:r>
            <a:r>
              <a:rPr lang="es-ES" dirty="0" err="1">
                <a:ea typeface="+mn-lt"/>
                <a:cs typeface="+mn-lt"/>
              </a:rPr>
              <a:t>grid-template-rows</a:t>
            </a:r>
            <a:r>
              <a:rPr lang="es-ES" dirty="0">
                <a:ea typeface="+mn-lt"/>
                <a:cs typeface="+mn-lt"/>
              </a:rPr>
              <a:t>: auto 200px; crea una primera fila que se ajusta automáticamente al contenido y una segunda con una altura fija de 200px.</a:t>
            </a:r>
          </a:p>
          <a:p>
            <a:pPr lvl="1">
              <a:buFont typeface="Courier New" panose="020B0604020202020204" pitchFamily="34" charset="0"/>
              <a:buChar char="o"/>
            </a:pPr>
            <a:r>
              <a:rPr lang="es-ES" dirty="0">
                <a:ea typeface="+mn-lt"/>
                <a:cs typeface="+mn-lt"/>
              </a:rPr>
              <a:t>gap, </a:t>
            </a:r>
            <a:r>
              <a:rPr lang="es-ES" dirty="0" err="1">
                <a:ea typeface="+mn-lt"/>
                <a:cs typeface="+mn-lt"/>
              </a:rPr>
              <a:t>row</a:t>
            </a:r>
            <a:r>
              <a:rPr lang="es-ES" dirty="0">
                <a:ea typeface="+mn-lt"/>
                <a:cs typeface="+mn-lt"/>
              </a:rPr>
              <a:t>-gap, </a:t>
            </a:r>
            <a:r>
              <a:rPr lang="es-ES" dirty="0" err="1">
                <a:ea typeface="+mn-lt"/>
                <a:cs typeface="+mn-lt"/>
              </a:rPr>
              <a:t>column</a:t>
            </a:r>
            <a:r>
              <a:rPr lang="es-ES" dirty="0">
                <a:ea typeface="+mn-lt"/>
                <a:cs typeface="+mn-lt"/>
              </a:rPr>
              <a:t>-gap: Establecen el espacio (canal) entre las celdas de la rejilla. gap es la propiedad abreviada para ambas.</a:t>
            </a:r>
            <a:endParaRPr lang="es-ES" dirty="0"/>
          </a:p>
          <a:p>
            <a:pPr lvl="2">
              <a:buFont typeface="Wingdings" panose="020B0604020202020204" pitchFamily="34" charset="0"/>
              <a:buChar char="§"/>
            </a:pPr>
            <a:r>
              <a:rPr lang="es-ES" dirty="0">
                <a:ea typeface="+mn-lt"/>
                <a:cs typeface="+mn-lt"/>
              </a:rPr>
              <a:t>Ejemplo: gap: 15px; crea un espacio de 15 píxeles entre todas las celdas.</a:t>
            </a:r>
            <a:endParaRPr lang="es-ES" dirty="0"/>
          </a:p>
          <a:p>
            <a:pPr lvl="1">
              <a:buFont typeface="Courier New" panose="020B0604020202020204" pitchFamily="34" charset="0"/>
              <a:buChar char="o"/>
            </a:pPr>
            <a:r>
              <a:rPr lang="es-ES" dirty="0" err="1">
                <a:ea typeface="+mn-lt"/>
                <a:cs typeface="+mn-lt"/>
              </a:rPr>
              <a:t>grid-template-areas</a:t>
            </a:r>
            <a:r>
              <a:rPr lang="es-ES" dirty="0">
                <a:ea typeface="+mn-lt"/>
                <a:cs typeface="+mn-lt"/>
              </a:rPr>
              <a:t>: Te permite nombrar áreas de la rejilla para luego posicionar elementos en ellas de forma muy intuitiva.</a:t>
            </a:r>
            <a:endParaRPr lang="es-ES" dirty="0"/>
          </a:p>
          <a:p>
            <a:pPr lvl="2">
              <a:buFont typeface="Wingdings" panose="020B0604020202020204" pitchFamily="34" charset="0"/>
              <a:buChar char="§"/>
            </a:pPr>
            <a:r>
              <a:rPr lang="es-ES" dirty="0">
                <a:ea typeface="+mn-lt"/>
                <a:cs typeface="+mn-lt"/>
              </a:rPr>
              <a:t>Ejemplo: </a:t>
            </a:r>
            <a:r>
              <a:rPr lang="es-ES" dirty="0" err="1">
                <a:ea typeface="+mn-lt"/>
                <a:cs typeface="+mn-lt"/>
              </a:rPr>
              <a:t>grid-template-areas</a:t>
            </a:r>
            <a:r>
              <a:rPr lang="es-ES" dirty="0">
                <a:ea typeface="+mn-lt"/>
                <a:cs typeface="+mn-lt"/>
              </a:rPr>
              <a:t>: "</a:t>
            </a:r>
            <a:r>
              <a:rPr lang="es-ES" dirty="0" err="1">
                <a:ea typeface="+mn-lt"/>
                <a:cs typeface="+mn-lt"/>
              </a:rPr>
              <a:t>header</a:t>
            </a:r>
            <a:r>
              <a:rPr lang="es-ES" dirty="0">
                <a:ea typeface="+mn-lt"/>
                <a:cs typeface="+mn-lt"/>
              </a:rPr>
              <a:t> </a:t>
            </a:r>
            <a:r>
              <a:rPr lang="es-ES" dirty="0" err="1">
                <a:ea typeface="+mn-lt"/>
                <a:cs typeface="+mn-lt"/>
              </a:rPr>
              <a:t>header</a:t>
            </a:r>
            <a:r>
              <a:rPr lang="es-ES" dirty="0">
                <a:ea typeface="+mn-lt"/>
                <a:cs typeface="+mn-lt"/>
              </a:rPr>
              <a:t>" "</a:t>
            </a:r>
            <a:r>
              <a:rPr lang="es-ES" dirty="0" err="1">
                <a:ea typeface="+mn-lt"/>
                <a:cs typeface="+mn-lt"/>
              </a:rPr>
              <a:t>sidebar</a:t>
            </a:r>
            <a:r>
              <a:rPr lang="es-ES" dirty="0">
                <a:ea typeface="+mn-lt"/>
                <a:cs typeface="+mn-lt"/>
              </a:rPr>
              <a:t> </a:t>
            </a:r>
            <a:r>
              <a:rPr lang="es-ES" dirty="0" err="1">
                <a:ea typeface="+mn-lt"/>
                <a:cs typeface="+mn-lt"/>
              </a:rPr>
              <a:t>content</a:t>
            </a:r>
            <a:r>
              <a:rPr lang="es-ES" dirty="0">
                <a:ea typeface="+mn-lt"/>
                <a:cs typeface="+mn-lt"/>
              </a:rPr>
              <a:t>"; crea una cabecera que ocupa dos columnas, y luego una barra lateral y un área de contenido.</a:t>
            </a:r>
          </a:p>
          <a:p>
            <a:endParaRPr lang="es-ES" dirty="0"/>
          </a:p>
        </p:txBody>
      </p:sp>
    </p:spTree>
    <p:extLst>
      <p:ext uri="{BB962C8B-B14F-4D97-AF65-F5344CB8AC3E}">
        <p14:creationId xmlns:p14="http://schemas.microsoft.com/office/powerpoint/2010/main" val="1441819295"/>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864533-814B-EE8B-C5D7-944C6C1DA4B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1C26617-EE2F-A1F8-6F93-EF0ECBCC2623}"/>
              </a:ext>
            </a:extLst>
          </p:cNvPr>
          <p:cNvSpPr>
            <a:spLocks noGrp="1"/>
          </p:cNvSpPr>
          <p:nvPr>
            <p:ph type="title"/>
          </p:nvPr>
        </p:nvSpPr>
        <p:spPr/>
        <p:txBody>
          <a:bodyPr/>
          <a:lstStyle/>
          <a:p>
            <a:r>
              <a:rPr lang="es-ES" b="0" dirty="0">
                <a:ea typeface="+mj-lt"/>
                <a:cs typeface="+mj-lt"/>
              </a:rPr>
              <a:t>2.3.3. Maquetación con CSS </a:t>
            </a:r>
            <a:r>
              <a:rPr lang="es-ES" b="0" dirty="0" err="1">
                <a:ea typeface="+mj-lt"/>
                <a:cs typeface="+mj-lt"/>
              </a:rPr>
              <a:t>Grid</a:t>
            </a:r>
            <a:r>
              <a:rPr lang="es-ES" b="0" dirty="0">
                <a:ea typeface="+mj-lt"/>
                <a:cs typeface="+mj-lt"/>
              </a:rPr>
              <a:t> (</a:t>
            </a:r>
            <a:r>
              <a:rPr lang="es-ES" b="0" dirty="0" err="1">
                <a:ea typeface="+mj-lt"/>
                <a:cs typeface="+mj-lt"/>
              </a:rPr>
              <a:t>Grid</a:t>
            </a:r>
            <a:r>
              <a:rPr lang="es-ES" b="0" dirty="0">
                <a:ea typeface="+mj-lt"/>
                <a:cs typeface="+mj-lt"/>
              </a:rPr>
              <a:t> </a:t>
            </a:r>
            <a:r>
              <a:rPr lang="es-ES" b="0" dirty="0" err="1">
                <a:ea typeface="+mj-lt"/>
                <a:cs typeface="+mj-lt"/>
              </a:rPr>
              <a:t>Layout</a:t>
            </a:r>
            <a:r>
              <a:rPr lang="es-ES" b="0" dirty="0">
                <a:ea typeface="+mj-lt"/>
                <a:cs typeface="+mj-lt"/>
              </a:rPr>
              <a:t>)</a:t>
            </a:r>
            <a:endParaRPr lang="es-ES" dirty="0"/>
          </a:p>
        </p:txBody>
      </p:sp>
      <p:sp>
        <p:nvSpPr>
          <p:cNvPr id="3" name="Marcador de contenido 2">
            <a:extLst>
              <a:ext uri="{FF2B5EF4-FFF2-40B4-BE49-F238E27FC236}">
                <a16:creationId xmlns:a16="http://schemas.microsoft.com/office/drawing/2014/main" id="{50066EC1-203F-D4BD-AC53-C545118B984E}"/>
              </a:ext>
            </a:extLst>
          </p:cNvPr>
          <p:cNvSpPr>
            <a:spLocks noGrp="1"/>
          </p:cNvSpPr>
          <p:nvPr>
            <p:ph idx="1"/>
          </p:nvPr>
        </p:nvSpPr>
        <p:spPr/>
        <p:txBody>
          <a:bodyPr vert="horz" lIns="91440" tIns="45720" rIns="91440" bIns="45720" rtlCol="0" anchor="t">
            <a:normAutofit fontScale="40000" lnSpcReduction="20000"/>
          </a:bodyPr>
          <a:lstStyle/>
          <a:p>
            <a:r>
              <a:rPr lang="es-ES" dirty="0">
                <a:ea typeface="+mn-lt"/>
                <a:cs typeface="+mn-lt"/>
              </a:rPr>
              <a:t>Ejemplo: </a:t>
            </a:r>
            <a:r>
              <a:rPr lang="es-ES" dirty="0" err="1">
                <a:ea typeface="+mn-lt"/>
                <a:cs typeface="+mn-lt"/>
              </a:rPr>
              <a:t>Layout</a:t>
            </a:r>
            <a:r>
              <a:rPr lang="es-ES" dirty="0">
                <a:ea typeface="+mn-lt"/>
                <a:cs typeface="+mn-lt"/>
              </a:rPr>
              <a:t> de página básico. Imagina que quieres crear un </a:t>
            </a:r>
            <a:r>
              <a:rPr lang="es-ES" dirty="0" err="1">
                <a:ea typeface="+mn-lt"/>
                <a:cs typeface="+mn-lt"/>
              </a:rPr>
              <a:t>layout</a:t>
            </a:r>
            <a:r>
              <a:rPr lang="es-ES" dirty="0">
                <a:ea typeface="+mn-lt"/>
                <a:cs typeface="+mn-lt"/>
              </a:rPr>
              <a:t> simple de dos columnas. En este ejemplo, la rejilla bidimensional se encarga de posicionar cada elemento en el lugar exacto de la estructura, sin necesidad de flotadores o posicionamientos complejos.</a:t>
            </a:r>
          </a:p>
          <a:p>
            <a:pPr marL="0" indent="0">
              <a:buNone/>
            </a:pPr>
            <a:r>
              <a:rPr lang="es-ES" b="1" dirty="0">
                <a:latin typeface="Courier New"/>
                <a:ea typeface="+mn-lt"/>
                <a:cs typeface="+mn-lt"/>
              </a:rPr>
              <a:t>&lt;</a:t>
            </a:r>
            <a:r>
              <a:rPr lang="es-ES" b="1" dirty="0" err="1">
                <a:latin typeface="Courier New"/>
                <a:ea typeface="+mn-lt"/>
                <a:cs typeface="+mn-lt"/>
              </a:rPr>
              <a:t>div</a:t>
            </a:r>
            <a:r>
              <a:rPr lang="es-ES" b="1" dirty="0">
                <a:latin typeface="Courier New"/>
                <a:ea typeface="+mn-lt"/>
                <a:cs typeface="+mn-lt"/>
              </a:rPr>
              <a:t> </a:t>
            </a:r>
            <a:r>
              <a:rPr lang="es-ES" b="1" dirty="0" err="1">
                <a:latin typeface="Courier New"/>
                <a:ea typeface="+mn-lt"/>
                <a:cs typeface="+mn-lt"/>
              </a:rPr>
              <a:t>class</a:t>
            </a:r>
            <a:r>
              <a:rPr lang="es-ES" b="1" dirty="0">
                <a:latin typeface="Courier New"/>
                <a:ea typeface="+mn-lt"/>
                <a:cs typeface="+mn-lt"/>
              </a:rPr>
              <a:t>="</a:t>
            </a:r>
            <a:r>
              <a:rPr lang="es-ES" b="1" dirty="0" err="1">
                <a:latin typeface="Courier New"/>
                <a:ea typeface="+mn-lt"/>
                <a:cs typeface="+mn-lt"/>
              </a:rPr>
              <a:t>grid</a:t>
            </a:r>
            <a:r>
              <a:rPr lang="es-ES" b="1" dirty="0">
                <a:latin typeface="Courier New"/>
                <a:ea typeface="+mn-lt"/>
                <a:cs typeface="+mn-lt"/>
              </a:rPr>
              <a:t>-container"&gt;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header</a:t>
            </a:r>
            <a:r>
              <a:rPr lang="es-ES" b="1" dirty="0">
                <a:latin typeface="Courier New"/>
                <a:ea typeface="+mn-lt"/>
                <a:cs typeface="+mn-lt"/>
              </a:rPr>
              <a:t>&gt;Cabecera&lt;/</a:t>
            </a:r>
            <a:r>
              <a:rPr lang="es-ES" b="1" dirty="0" err="1">
                <a:latin typeface="Courier New"/>
                <a:ea typeface="+mn-lt"/>
                <a:cs typeface="+mn-lt"/>
              </a:rPr>
              <a:t>header</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&lt;aside&gt;Barra Lateral&lt;/aside&gt;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main</a:t>
            </a:r>
            <a:r>
              <a:rPr lang="es-ES" b="1" dirty="0">
                <a:latin typeface="Courier New"/>
                <a:ea typeface="+mn-lt"/>
                <a:cs typeface="+mn-lt"/>
              </a:rPr>
              <a:t>&gt;Contenido Principal&lt;/</a:t>
            </a:r>
            <a:r>
              <a:rPr lang="es-ES" b="1" dirty="0" err="1">
                <a:latin typeface="Courier New"/>
                <a:ea typeface="+mn-lt"/>
                <a:cs typeface="+mn-lt"/>
              </a:rPr>
              <a:t>main</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footer</a:t>
            </a:r>
            <a:r>
              <a:rPr lang="es-ES" b="1" dirty="0">
                <a:latin typeface="Courier New"/>
                <a:ea typeface="+mn-lt"/>
                <a:cs typeface="+mn-lt"/>
              </a:rPr>
              <a:t>&gt;Pie de página&lt;/</a:t>
            </a:r>
            <a:r>
              <a:rPr lang="es-ES" b="1" dirty="0" err="1">
                <a:latin typeface="Courier New"/>
                <a:ea typeface="+mn-lt"/>
                <a:cs typeface="+mn-lt"/>
              </a:rPr>
              <a:t>footer</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&lt;/</a:t>
            </a:r>
            <a:r>
              <a:rPr lang="es-ES" b="1" dirty="0" err="1">
                <a:latin typeface="Courier New"/>
                <a:ea typeface="+mn-lt"/>
                <a:cs typeface="+mn-lt"/>
              </a:rPr>
              <a:t>div</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a:t>
            </a:r>
            <a:r>
              <a:rPr lang="es-ES" b="1" dirty="0" err="1">
                <a:latin typeface="Courier New"/>
                <a:ea typeface="+mn-lt"/>
                <a:cs typeface="+mn-lt"/>
              </a:rPr>
              <a:t>grid</a:t>
            </a:r>
            <a:r>
              <a:rPr lang="es-ES" b="1" dirty="0">
                <a:latin typeface="Courier New"/>
                <a:ea typeface="+mn-lt"/>
                <a:cs typeface="+mn-lt"/>
              </a:rPr>
              <a:t>-container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display</a:t>
            </a:r>
            <a:r>
              <a:rPr lang="es-ES" b="1" dirty="0">
                <a:latin typeface="Courier New"/>
                <a:ea typeface="+mn-lt"/>
                <a:cs typeface="+mn-lt"/>
              </a:rPr>
              <a:t>: </a:t>
            </a:r>
            <a:r>
              <a:rPr lang="es-ES" b="1" dirty="0" err="1">
                <a:latin typeface="Courier New"/>
                <a:ea typeface="+mn-lt"/>
                <a:cs typeface="+mn-lt"/>
              </a:rPr>
              <a:t>grid</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grid-template-columns</a:t>
            </a:r>
            <a:r>
              <a:rPr lang="es-ES" b="1" dirty="0">
                <a:latin typeface="Courier New"/>
                <a:ea typeface="+mn-lt"/>
                <a:cs typeface="+mn-lt"/>
              </a:rPr>
              <a:t>: 1fr 3fr; /* La primera columna ocupa 1 parte, la segunda 3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grid-template-rows</a:t>
            </a:r>
            <a:r>
              <a:rPr lang="es-ES" b="1" dirty="0">
                <a:latin typeface="Courier New"/>
                <a:ea typeface="+mn-lt"/>
                <a:cs typeface="+mn-lt"/>
              </a:rPr>
              <a:t>: auto 1fr auto; /* Filas para la cabecera, contenido y pie */</a:t>
            </a:r>
            <a:br>
              <a:rPr lang="es-ES" b="1" dirty="0">
                <a:latin typeface="Courier New"/>
                <a:ea typeface="+mn-lt"/>
                <a:cs typeface="+mn-lt"/>
              </a:rPr>
            </a:br>
            <a:r>
              <a:rPr lang="es-ES" b="1" dirty="0">
                <a:latin typeface="Courier New"/>
                <a:ea typeface="+mn-lt"/>
                <a:cs typeface="+mn-lt"/>
              </a:rPr>
              <a:t>  gap: 10px;</a:t>
            </a:r>
            <a:br>
              <a:rPr lang="es-ES" b="1" dirty="0">
                <a:latin typeface="Courier New"/>
                <a:ea typeface="+mn-lt"/>
                <a:cs typeface="+mn-lt"/>
              </a:rPr>
            </a:br>
            <a:r>
              <a:rPr lang="es-ES" b="1" dirty="0">
                <a:latin typeface="Courier New"/>
                <a:ea typeface="+mn-lt"/>
                <a:cs typeface="+mn-lt"/>
              </a:rPr>
              <a:t>}</a:t>
            </a:r>
            <a:br>
              <a:rPr lang="es-ES" b="1" dirty="0">
                <a:latin typeface="Courier New"/>
                <a:ea typeface="+mn-lt"/>
                <a:cs typeface="+mn-lt"/>
              </a:rPr>
            </a:br>
            <a:r>
              <a:rPr lang="es-ES" b="1" dirty="0" err="1">
                <a:latin typeface="Courier New"/>
                <a:ea typeface="+mn-lt"/>
                <a:cs typeface="+mn-lt"/>
              </a:rPr>
              <a:t>header</a:t>
            </a:r>
            <a:r>
              <a:rPr lang="es-ES" b="1" dirty="0">
                <a:latin typeface="Courier New"/>
                <a:ea typeface="+mn-lt"/>
                <a:cs typeface="+mn-lt"/>
              </a:rPr>
              <a:t>, </a:t>
            </a:r>
            <a:r>
              <a:rPr lang="es-ES" b="1" dirty="0" err="1">
                <a:latin typeface="Courier New"/>
                <a:ea typeface="+mn-lt"/>
                <a:cs typeface="+mn-lt"/>
              </a:rPr>
              <a:t>footer</a:t>
            </a: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grid-column</a:t>
            </a:r>
            <a:r>
              <a:rPr lang="es-ES" b="1" dirty="0">
                <a:latin typeface="Courier New"/>
                <a:ea typeface="+mn-lt"/>
                <a:cs typeface="+mn-lt"/>
              </a:rPr>
              <a:t>: 1 / 3; /* Ocupan desde la línea 1 hasta la 3 (las dos columnas)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background</a:t>
            </a:r>
            <a:r>
              <a:rPr lang="es-ES" b="1" dirty="0">
                <a:latin typeface="Courier New"/>
                <a:ea typeface="+mn-lt"/>
                <a:cs typeface="+mn-lt"/>
              </a:rPr>
              <a:t>-color: </a:t>
            </a:r>
            <a:r>
              <a:rPr lang="es-ES" b="1" dirty="0" err="1">
                <a:latin typeface="Courier New"/>
                <a:ea typeface="+mn-lt"/>
                <a:cs typeface="+mn-lt"/>
              </a:rPr>
              <a:t>lightblue</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padding</a:t>
            </a:r>
            <a:r>
              <a:rPr lang="es-ES" b="1" dirty="0">
                <a:latin typeface="Courier New"/>
                <a:ea typeface="+mn-lt"/>
                <a:cs typeface="+mn-lt"/>
              </a:rPr>
              <a:t>: 20px;</a:t>
            </a:r>
            <a:br>
              <a:rPr lang="es-ES" b="1" dirty="0">
                <a:latin typeface="Courier New"/>
                <a:ea typeface="+mn-lt"/>
                <a:cs typeface="+mn-lt"/>
              </a:rPr>
            </a:b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aside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grid-column</a:t>
            </a:r>
            <a:r>
              <a:rPr lang="es-ES" b="1" dirty="0">
                <a:latin typeface="Courier New"/>
                <a:ea typeface="+mn-lt"/>
                <a:cs typeface="+mn-lt"/>
              </a:rPr>
              <a:t>: 1; /* Se posiciona en la primera columna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background</a:t>
            </a:r>
            <a:r>
              <a:rPr lang="es-ES" b="1" dirty="0">
                <a:latin typeface="Courier New"/>
                <a:ea typeface="+mn-lt"/>
                <a:cs typeface="+mn-lt"/>
              </a:rPr>
              <a:t>-color: </a:t>
            </a:r>
            <a:r>
              <a:rPr lang="es-ES" b="1" dirty="0" err="1">
                <a:latin typeface="Courier New"/>
                <a:ea typeface="+mn-lt"/>
                <a:cs typeface="+mn-lt"/>
              </a:rPr>
              <a:t>lightgreen</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padding</a:t>
            </a:r>
            <a:r>
              <a:rPr lang="es-ES" b="1" dirty="0">
                <a:latin typeface="Courier New"/>
                <a:ea typeface="+mn-lt"/>
                <a:cs typeface="+mn-lt"/>
              </a:rPr>
              <a:t>: 20px;</a:t>
            </a:r>
            <a:br>
              <a:rPr lang="es-ES" b="1" dirty="0">
                <a:latin typeface="Courier New"/>
                <a:ea typeface="+mn-lt"/>
                <a:cs typeface="+mn-lt"/>
              </a:rPr>
            </a:br>
            <a:r>
              <a:rPr lang="es-ES" b="1" dirty="0">
                <a:latin typeface="Courier New"/>
                <a:ea typeface="+mn-lt"/>
                <a:cs typeface="+mn-lt"/>
              </a:rPr>
              <a:t>}</a:t>
            </a:r>
            <a:br>
              <a:rPr lang="es-ES" b="1" dirty="0">
                <a:latin typeface="Courier New"/>
                <a:ea typeface="+mn-lt"/>
                <a:cs typeface="+mn-lt"/>
              </a:rPr>
            </a:br>
            <a:r>
              <a:rPr lang="es-ES" b="1" dirty="0" err="1">
                <a:latin typeface="Courier New"/>
                <a:ea typeface="+mn-lt"/>
                <a:cs typeface="+mn-lt"/>
              </a:rPr>
              <a:t>main</a:t>
            </a: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grid-column</a:t>
            </a:r>
            <a:r>
              <a:rPr lang="es-ES" b="1" dirty="0">
                <a:latin typeface="Courier New"/>
                <a:ea typeface="+mn-lt"/>
                <a:cs typeface="+mn-lt"/>
              </a:rPr>
              <a:t>: 2; /* Se posiciona en la segunda columna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background</a:t>
            </a:r>
            <a:r>
              <a:rPr lang="es-ES" b="1" dirty="0">
                <a:latin typeface="Courier New"/>
                <a:ea typeface="+mn-lt"/>
                <a:cs typeface="+mn-lt"/>
              </a:rPr>
              <a:t>-color: </a:t>
            </a:r>
            <a:r>
              <a:rPr lang="es-ES" b="1" dirty="0" err="1">
                <a:latin typeface="Courier New"/>
                <a:ea typeface="+mn-lt"/>
                <a:cs typeface="+mn-lt"/>
              </a:rPr>
              <a:t>lightgrey</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padding</a:t>
            </a:r>
            <a:r>
              <a:rPr lang="es-ES" b="1" dirty="0">
                <a:latin typeface="Courier New"/>
                <a:ea typeface="+mn-lt"/>
                <a:cs typeface="+mn-lt"/>
              </a:rPr>
              <a:t>: 20px;</a:t>
            </a:r>
            <a:br>
              <a:rPr lang="es-ES" b="1" dirty="0">
                <a:latin typeface="Courier New"/>
                <a:ea typeface="+mn-lt"/>
                <a:cs typeface="+mn-lt"/>
              </a:rPr>
            </a:br>
            <a:r>
              <a:rPr lang="es-ES" b="1" dirty="0">
                <a:latin typeface="Courier New"/>
                <a:ea typeface="+mn-lt"/>
                <a:cs typeface="+mn-lt"/>
              </a:rPr>
              <a:t>}</a:t>
            </a:r>
            <a:endParaRPr lang="es-ES" b="1" dirty="0">
              <a:latin typeface="Courier New"/>
              <a:cs typeface="Courier New"/>
            </a:endParaRPr>
          </a:p>
        </p:txBody>
      </p:sp>
    </p:spTree>
    <p:extLst>
      <p:ext uri="{BB962C8B-B14F-4D97-AF65-F5344CB8AC3E}">
        <p14:creationId xmlns:p14="http://schemas.microsoft.com/office/powerpoint/2010/main" val="3535261130"/>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29E672-4EFE-119D-5D27-8E8450D7F9D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0905701-F2BD-5EE3-99E7-57C19147030D}"/>
              </a:ext>
            </a:extLst>
          </p:cNvPr>
          <p:cNvSpPr>
            <a:spLocks noGrp="1"/>
          </p:cNvSpPr>
          <p:nvPr>
            <p:ph type="title"/>
          </p:nvPr>
        </p:nvSpPr>
        <p:spPr/>
        <p:txBody>
          <a:bodyPr/>
          <a:lstStyle/>
          <a:p>
            <a:r>
              <a:rPr lang="es-ES" b="0" dirty="0">
                <a:ea typeface="+mj-lt"/>
                <a:cs typeface="+mj-lt"/>
              </a:rPr>
              <a:t>2.3.3.1. Conceptos de contenedor y elementos de rejilla.</a:t>
            </a:r>
            <a:endParaRPr lang="es-ES" dirty="0"/>
          </a:p>
        </p:txBody>
      </p:sp>
      <p:sp>
        <p:nvSpPr>
          <p:cNvPr id="3" name="Marcador de contenido 2">
            <a:extLst>
              <a:ext uri="{FF2B5EF4-FFF2-40B4-BE49-F238E27FC236}">
                <a16:creationId xmlns:a16="http://schemas.microsoft.com/office/drawing/2014/main" id="{B529BBE2-91D8-F362-F2A7-3B50188938B0}"/>
              </a:ext>
            </a:extLst>
          </p:cNvPr>
          <p:cNvSpPr>
            <a:spLocks noGrp="1"/>
          </p:cNvSpPr>
          <p:nvPr>
            <p:ph idx="1"/>
          </p:nvPr>
        </p:nvSpPr>
        <p:spPr/>
        <p:txBody>
          <a:bodyPr vert="horz" lIns="91440" tIns="45720" rIns="91440" bIns="45720" rtlCol="0" anchor="t">
            <a:normAutofit lnSpcReduction="10000"/>
          </a:bodyPr>
          <a:lstStyle/>
          <a:p>
            <a:r>
              <a:rPr lang="es-ES" dirty="0">
                <a:ea typeface="+mn-lt"/>
                <a:cs typeface="+mn-lt"/>
              </a:rPr>
              <a:t>Al igual que en </a:t>
            </a:r>
            <a:r>
              <a:rPr lang="es-ES" dirty="0" err="1">
                <a:ea typeface="+mn-lt"/>
                <a:cs typeface="+mn-lt"/>
              </a:rPr>
              <a:t>Flexbox</a:t>
            </a:r>
            <a:r>
              <a:rPr lang="es-ES" dirty="0">
                <a:ea typeface="+mn-lt"/>
                <a:cs typeface="+mn-lt"/>
              </a:rPr>
              <a:t>, el modelo de CSS </a:t>
            </a:r>
            <a:r>
              <a:rPr lang="es-ES" dirty="0" err="1">
                <a:ea typeface="+mn-lt"/>
                <a:cs typeface="+mn-lt"/>
              </a:rPr>
              <a:t>Grid</a:t>
            </a:r>
            <a:r>
              <a:rPr lang="es-ES" dirty="0">
                <a:ea typeface="+mn-lt"/>
                <a:cs typeface="+mn-lt"/>
              </a:rPr>
              <a:t> se basa en una relación fundamental entre un elemento padre y sus hijos. Para trabajar con </a:t>
            </a:r>
            <a:r>
              <a:rPr lang="es-ES" dirty="0" err="1">
                <a:ea typeface="+mn-lt"/>
                <a:cs typeface="+mn-lt"/>
              </a:rPr>
              <a:t>Grid</a:t>
            </a:r>
            <a:r>
              <a:rPr lang="es-ES" dirty="0">
                <a:ea typeface="+mn-lt"/>
                <a:cs typeface="+mn-lt"/>
              </a:rPr>
              <a:t>, es crucial entender el papel de cada uno de estos componentes.</a:t>
            </a:r>
            <a:endParaRPr lang="es-ES" dirty="0"/>
          </a:p>
          <a:p>
            <a:r>
              <a:rPr lang="es-ES" dirty="0">
                <a:ea typeface="+mn-lt"/>
                <a:cs typeface="+mn-lt"/>
              </a:rPr>
              <a:t>El Contenedor de la Rejilla es el elemento padre que define la estructura general de tu </a:t>
            </a:r>
            <a:r>
              <a:rPr lang="es-ES" dirty="0" err="1">
                <a:ea typeface="+mn-lt"/>
                <a:cs typeface="+mn-lt"/>
              </a:rPr>
              <a:t>layout</a:t>
            </a:r>
            <a:r>
              <a:rPr lang="es-ES" dirty="0">
                <a:ea typeface="+mn-lt"/>
                <a:cs typeface="+mn-lt"/>
              </a:rPr>
              <a:t>. Para convertir cualquier elemento HTML en un contenedor de rejilla, simplemente aplicas la propiedad CSS </a:t>
            </a:r>
            <a:r>
              <a:rPr lang="es-ES" dirty="0" err="1">
                <a:ea typeface="+mn-lt"/>
                <a:cs typeface="+mn-lt"/>
              </a:rPr>
              <a:t>display</a:t>
            </a:r>
            <a:r>
              <a:rPr lang="es-ES" dirty="0">
                <a:ea typeface="+mn-lt"/>
                <a:cs typeface="+mn-lt"/>
              </a:rPr>
              <a:t>: </a:t>
            </a:r>
            <a:r>
              <a:rPr lang="es-ES" dirty="0" err="1">
                <a:ea typeface="+mn-lt"/>
                <a:cs typeface="+mn-lt"/>
              </a:rPr>
              <a:t>grid</a:t>
            </a:r>
            <a:r>
              <a:rPr lang="es-ES" dirty="0">
                <a:ea typeface="+mn-lt"/>
                <a:cs typeface="+mn-lt"/>
              </a:rPr>
              <a:t>;.</a:t>
            </a:r>
            <a:endParaRPr lang="es-ES" dirty="0"/>
          </a:p>
          <a:p>
            <a:r>
              <a:rPr lang="es-ES" dirty="0">
                <a:ea typeface="+mn-lt"/>
                <a:cs typeface="+mn-lt"/>
              </a:rPr>
              <a:t>Las propiedades que se aplican al </a:t>
            </a:r>
            <a:r>
              <a:rPr lang="es-ES" dirty="0" err="1">
                <a:ea typeface="+mn-lt"/>
                <a:cs typeface="+mn-lt"/>
              </a:rPr>
              <a:t>Grid</a:t>
            </a:r>
            <a:r>
              <a:rPr lang="es-ES" dirty="0">
                <a:ea typeface="+mn-lt"/>
                <a:cs typeface="+mn-lt"/>
              </a:rPr>
              <a:t> Container son las que definen la estructura bidimensional de la rejilla, como el número y el tamaño de las filas y columnas. Estas propiedades organizan el espacio disponible para que los elementos hijos se puedan colocar en él.</a:t>
            </a:r>
            <a:endParaRPr lang="es-ES" dirty="0"/>
          </a:p>
          <a:p>
            <a:pPr lvl="1">
              <a:buFont typeface="Courier New" panose="020B0604020202020204" pitchFamily="34" charset="0"/>
              <a:buChar char="o"/>
            </a:pPr>
            <a:r>
              <a:rPr lang="es-ES" dirty="0" err="1">
                <a:ea typeface="+mn-lt"/>
                <a:cs typeface="+mn-lt"/>
              </a:rPr>
              <a:t>display</a:t>
            </a:r>
            <a:r>
              <a:rPr lang="es-ES" dirty="0">
                <a:ea typeface="+mn-lt"/>
                <a:cs typeface="+mn-lt"/>
              </a:rPr>
              <a:t>: </a:t>
            </a:r>
            <a:r>
              <a:rPr lang="es-ES" dirty="0" err="1">
                <a:ea typeface="+mn-lt"/>
                <a:cs typeface="+mn-lt"/>
              </a:rPr>
              <a:t>grid</a:t>
            </a:r>
            <a:r>
              <a:rPr lang="es-ES" dirty="0">
                <a:ea typeface="+mn-lt"/>
                <a:cs typeface="+mn-lt"/>
              </a:rPr>
              <a:t>;: Convierte el elemento en un contenedor de rejilla.</a:t>
            </a:r>
            <a:endParaRPr lang="es-ES"/>
          </a:p>
          <a:p>
            <a:pPr lvl="1">
              <a:buFont typeface="Courier New" panose="020B0604020202020204" pitchFamily="34" charset="0"/>
              <a:buChar char="o"/>
            </a:pPr>
            <a:r>
              <a:rPr lang="es-ES" dirty="0" err="1">
                <a:ea typeface="+mn-lt"/>
                <a:cs typeface="+mn-lt"/>
              </a:rPr>
              <a:t>grid-template-columns</a:t>
            </a:r>
            <a:r>
              <a:rPr lang="es-ES" dirty="0">
                <a:ea typeface="+mn-lt"/>
                <a:cs typeface="+mn-lt"/>
              </a:rPr>
              <a:t>: Define las columnas de la rejilla.</a:t>
            </a:r>
            <a:endParaRPr lang="es-ES" dirty="0"/>
          </a:p>
          <a:p>
            <a:pPr lvl="1">
              <a:buFont typeface="Courier New" panose="020B0604020202020204" pitchFamily="34" charset="0"/>
              <a:buChar char="o"/>
            </a:pPr>
            <a:r>
              <a:rPr lang="es-ES" dirty="0" err="1">
                <a:ea typeface="+mn-lt"/>
                <a:cs typeface="+mn-lt"/>
              </a:rPr>
              <a:t>grid-template-rows</a:t>
            </a:r>
            <a:r>
              <a:rPr lang="es-ES" dirty="0">
                <a:ea typeface="+mn-lt"/>
                <a:cs typeface="+mn-lt"/>
              </a:rPr>
              <a:t>: Define las filas de la rejilla.</a:t>
            </a:r>
            <a:endParaRPr lang="es-ES" dirty="0"/>
          </a:p>
          <a:p>
            <a:pPr lvl="1">
              <a:buFont typeface="Courier New" panose="020B0604020202020204" pitchFamily="34" charset="0"/>
              <a:buChar char="o"/>
            </a:pPr>
            <a:r>
              <a:rPr lang="es-ES" dirty="0">
                <a:ea typeface="+mn-lt"/>
                <a:cs typeface="+mn-lt"/>
              </a:rPr>
              <a:t>gap: Establece el espacio entre las celdas de la rejilla.</a:t>
            </a:r>
            <a:endParaRPr lang="es-ES" dirty="0"/>
          </a:p>
        </p:txBody>
      </p:sp>
    </p:spTree>
    <p:extLst>
      <p:ext uri="{BB962C8B-B14F-4D97-AF65-F5344CB8AC3E}">
        <p14:creationId xmlns:p14="http://schemas.microsoft.com/office/powerpoint/2010/main" val="35478603"/>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F041E3-91C4-3CEA-A86B-90C53CAD773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0EE3DDC-F6C1-F773-E718-4A8DF0322AA1}"/>
              </a:ext>
            </a:extLst>
          </p:cNvPr>
          <p:cNvSpPr>
            <a:spLocks noGrp="1"/>
          </p:cNvSpPr>
          <p:nvPr>
            <p:ph type="title"/>
          </p:nvPr>
        </p:nvSpPr>
        <p:spPr/>
        <p:txBody>
          <a:bodyPr/>
          <a:lstStyle/>
          <a:p>
            <a:r>
              <a:rPr lang="es-ES" b="0" dirty="0">
                <a:ea typeface="+mj-lt"/>
                <a:cs typeface="+mj-lt"/>
              </a:rPr>
              <a:t>2.3.3.1. Conceptos de contenedor y elementos de rejilla.</a:t>
            </a:r>
            <a:endParaRPr lang="es-ES" dirty="0"/>
          </a:p>
        </p:txBody>
      </p:sp>
      <p:sp>
        <p:nvSpPr>
          <p:cNvPr id="3" name="Marcador de contenido 2">
            <a:extLst>
              <a:ext uri="{FF2B5EF4-FFF2-40B4-BE49-F238E27FC236}">
                <a16:creationId xmlns:a16="http://schemas.microsoft.com/office/drawing/2014/main" id="{DE2894B3-A805-88D8-A26C-27E006A7F2DE}"/>
              </a:ext>
            </a:extLst>
          </p:cNvPr>
          <p:cNvSpPr>
            <a:spLocks noGrp="1"/>
          </p:cNvSpPr>
          <p:nvPr>
            <p:ph idx="1"/>
          </p:nvPr>
        </p:nvSpPr>
        <p:spPr/>
        <p:txBody>
          <a:bodyPr vert="horz" lIns="91440" tIns="45720" rIns="91440" bIns="45720" rtlCol="0" anchor="t">
            <a:normAutofit/>
          </a:bodyPr>
          <a:lstStyle/>
          <a:p>
            <a:r>
              <a:rPr lang="es-ES" dirty="0">
                <a:ea typeface="+mn-lt"/>
                <a:cs typeface="+mn-lt"/>
              </a:rPr>
              <a:t>Los Elementos de la Rejilla son los hijos directos del </a:t>
            </a:r>
            <a:r>
              <a:rPr lang="es-ES" dirty="0" err="1">
                <a:ea typeface="+mn-lt"/>
                <a:cs typeface="+mn-lt"/>
              </a:rPr>
              <a:t>Grid</a:t>
            </a:r>
            <a:r>
              <a:rPr lang="es-ES" dirty="0">
                <a:ea typeface="+mn-lt"/>
                <a:cs typeface="+mn-lt"/>
              </a:rPr>
              <a:t> Container. Por defecto, cada elemento se coloca automáticamente en una celda de la rejilla en el orden en que aparecen en el código HTML.</a:t>
            </a:r>
            <a:endParaRPr lang="es-ES" dirty="0"/>
          </a:p>
          <a:p>
            <a:r>
              <a:rPr lang="es-ES" dirty="0">
                <a:ea typeface="+mn-lt"/>
                <a:cs typeface="+mn-lt"/>
              </a:rPr>
              <a:t>Las propiedades que se aplican a los </a:t>
            </a:r>
            <a:r>
              <a:rPr lang="es-ES" dirty="0" err="1">
                <a:ea typeface="+mn-lt"/>
                <a:cs typeface="+mn-lt"/>
              </a:rPr>
              <a:t>Grid</a:t>
            </a:r>
            <a:r>
              <a:rPr lang="es-ES" dirty="0">
                <a:ea typeface="+mn-lt"/>
                <a:cs typeface="+mn-lt"/>
              </a:rPr>
              <a:t> </a:t>
            </a:r>
            <a:r>
              <a:rPr lang="es-ES" dirty="0" err="1">
                <a:ea typeface="+mn-lt"/>
                <a:cs typeface="+mn-lt"/>
              </a:rPr>
              <a:t>Items</a:t>
            </a:r>
            <a:r>
              <a:rPr lang="es-ES" dirty="0">
                <a:ea typeface="+mn-lt"/>
                <a:cs typeface="+mn-lt"/>
              </a:rPr>
              <a:t> te permiten controlar su posición individual dentro del </a:t>
            </a:r>
            <a:r>
              <a:rPr lang="es-ES" dirty="0" err="1">
                <a:ea typeface="+mn-lt"/>
                <a:cs typeface="+mn-lt"/>
              </a:rPr>
              <a:t>layout</a:t>
            </a:r>
            <a:r>
              <a:rPr lang="es-ES" dirty="0">
                <a:ea typeface="+mn-lt"/>
                <a:cs typeface="+mn-lt"/>
              </a:rPr>
              <a:t>. Puedes hacer que un elemento ocupe una o varias celdas, o incluso un área completa de la rejilla. Esto te da un control muy preciso sobre la maquetación.</a:t>
            </a:r>
          </a:p>
          <a:p>
            <a:pPr lvl="1">
              <a:buFont typeface="Courier New" panose="020B0604020202020204" pitchFamily="34" charset="0"/>
              <a:buChar char="o"/>
            </a:pPr>
            <a:r>
              <a:rPr lang="es-ES" dirty="0" err="1">
                <a:ea typeface="+mn-lt"/>
                <a:cs typeface="+mn-lt"/>
              </a:rPr>
              <a:t>grid-column-start</a:t>
            </a:r>
            <a:r>
              <a:rPr lang="es-ES" dirty="0">
                <a:ea typeface="+mn-lt"/>
                <a:cs typeface="+mn-lt"/>
              </a:rPr>
              <a:t> / </a:t>
            </a:r>
            <a:r>
              <a:rPr lang="es-ES" dirty="0" err="1">
                <a:ea typeface="+mn-lt"/>
                <a:cs typeface="+mn-lt"/>
              </a:rPr>
              <a:t>grid-column-end</a:t>
            </a:r>
            <a:r>
              <a:rPr lang="es-ES" dirty="0">
                <a:ea typeface="+mn-lt"/>
                <a:cs typeface="+mn-lt"/>
              </a:rPr>
              <a:t>: Definen dónde empieza y termina el elemento en las columnas.</a:t>
            </a:r>
          </a:p>
          <a:p>
            <a:pPr lvl="1">
              <a:buFont typeface="Courier New" panose="020B0604020202020204" pitchFamily="34" charset="0"/>
              <a:buChar char="o"/>
            </a:pPr>
            <a:r>
              <a:rPr lang="es-ES" dirty="0" err="1">
                <a:ea typeface="+mn-lt"/>
                <a:cs typeface="+mn-lt"/>
              </a:rPr>
              <a:t>grid-row-start</a:t>
            </a:r>
            <a:r>
              <a:rPr lang="es-ES" dirty="0">
                <a:ea typeface="+mn-lt"/>
                <a:cs typeface="+mn-lt"/>
              </a:rPr>
              <a:t> / </a:t>
            </a:r>
            <a:r>
              <a:rPr lang="es-ES" dirty="0" err="1">
                <a:ea typeface="+mn-lt"/>
                <a:cs typeface="+mn-lt"/>
              </a:rPr>
              <a:t>grid-row-end</a:t>
            </a:r>
            <a:r>
              <a:rPr lang="es-ES" dirty="0">
                <a:ea typeface="+mn-lt"/>
                <a:cs typeface="+mn-lt"/>
              </a:rPr>
              <a:t>: Definen dónde empieza y termina el elemento en las filas.</a:t>
            </a:r>
          </a:p>
          <a:p>
            <a:pPr lvl="1">
              <a:buFont typeface="Courier New" panose="020B0604020202020204" pitchFamily="34" charset="0"/>
              <a:buChar char="o"/>
            </a:pPr>
            <a:r>
              <a:rPr lang="es-ES" dirty="0" err="1">
                <a:ea typeface="+mn-lt"/>
                <a:cs typeface="+mn-lt"/>
              </a:rPr>
              <a:t>grid-column</a:t>
            </a:r>
            <a:r>
              <a:rPr lang="es-ES" dirty="0">
                <a:ea typeface="+mn-lt"/>
                <a:cs typeface="+mn-lt"/>
              </a:rPr>
              <a:t> / </a:t>
            </a:r>
            <a:r>
              <a:rPr lang="es-ES" dirty="0" err="1">
                <a:ea typeface="+mn-lt"/>
                <a:cs typeface="+mn-lt"/>
              </a:rPr>
              <a:t>grid-row</a:t>
            </a:r>
            <a:r>
              <a:rPr lang="es-ES" dirty="0">
                <a:ea typeface="+mn-lt"/>
                <a:cs typeface="+mn-lt"/>
              </a:rPr>
              <a:t>: Propiedades abreviadas para las anteriores.</a:t>
            </a:r>
            <a:endParaRPr lang="es-ES" dirty="0"/>
          </a:p>
          <a:p>
            <a:pPr lvl="1">
              <a:buFont typeface="Courier New" panose="020B0604020202020204" pitchFamily="34" charset="0"/>
              <a:buChar char="o"/>
            </a:pPr>
            <a:r>
              <a:rPr lang="es-ES" dirty="0" err="1">
                <a:ea typeface="+mn-lt"/>
                <a:cs typeface="+mn-lt"/>
              </a:rPr>
              <a:t>grid-area</a:t>
            </a:r>
            <a:r>
              <a:rPr lang="es-ES" dirty="0">
                <a:ea typeface="+mn-lt"/>
                <a:cs typeface="+mn-lt"/>
              </a:rPr>
              <a:t>: Asigna un nombre a un elemento para posicionarlo en un área previamente definida.</a:t>
            </a:r>
          </a:p>
        </p:txBody>
      </p:sp>
    </p:spTree>
    <p:extLst>
      <p:ext uri="{BB962C8B-B14F-4D97-AF65-F5344CB8AC3E}">
        <p14:creationId xmlns:p14="http://schemas.microsoft.com/office/powerpoint/2010/main" val="580080468"/>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EB16BE-D7D9-4D78-2AD3-902438EFB5F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1064AC2-E169-65B0-81BE-B0F443ADF381}"/>
              </a:ext>
            </a:extLst>
          </p:cNvPr>
          <p:cNvSpPr>
            <a:spLocks noGrp="1"/>
          </p:cNvSpPr>
          <p:nvPr>
            <p:ph type="title"/>
          </p:nvPr>
        </p:nvSpPr>
        <p:spPr/>
        <p:txBody>
          <a:bodyPr/>
          <a:lstStyle/>
          <a:p>
            <a:r>
              <a:rPr lang="es-ES" b="0" dirty="0">
                <a:ea typeface="+mj-lt"/>
                <a:cs typeface="+mj-lt"/>
              </a:rPr>
              <a:t>2.3.3.1. Conceptos de contenedor y elementos de rejilla.</a:t>
            </a:r>
            <a:endParaRPr lang="es-ES" dirty="0"/>
          </a:p>
        </p:txBody>
      </p:sp>
      <p:sp>
        <p:nvSpPr>
          <p:cNvPr id="3" name="Marcador de contenido 2">
            <a:extLst>
              <a:ext uri="{FF2B5EF4-FFF2-40B4-BE49-F238E27FC236}">
                <a16:creationId xmlns:a16="http://schemas.microsoft.com/office/drawing/2014/main" id="{98897104-A601-4D62-6882-D57162392C8E}"/>
              </a:ext>
            </a:extLst>
          </p:cNvPr>
          <p:cNvSpPr>
            <a:spLocks noGrp="1"/>
          </p:cNvSpPr>
          <p:nvPr>
            <p:ph idx="1"/>
          </p:nvPr>
        </p:nvSpPr>
        <p:spPr/>
        <p:txBody>
          <a:bodyPr vert="horz" lIns="91440" tIns="45720" rIns="91440" bIns="45720" rtlCol="0" anchor="t">
            <a:normAutofit fontScale="55000" lnSpcReduction="20000"/>
          </a:bodyPr>
          <a:lstStyle/>
          <a:p>
            <a:r>
              <a:rPr lang="es-ES" dirty="0">
                <a:ea typeface="+mn-lt"/>
                <a:cs typeface="+mn-lt"/>
              </a:rPr>
              <a:t>Ejemplo: Considera la siguiente estructura. El </a:t>
            </a:r>
            <a:r>
              <a:rPr lang="es-ES" dirty="0" err="1">
                <a:ea typeface="+mn-lt"/>
                <a:cs typeface="+mn-lt"/>
              </a:rPr>
              <a:t>div</a:t>
            </a:r>
            <a:r>
              <a:rPr lang="es-ES" dirty="0">
                <a:ea typeface="+mn-lt"/>
                <a:cs typeface="+mn-lt"/>
              </a:rPr>
              <a:t> es el contenedor que define las filas y columnas. El </a:t>
            </a:r>
            <a:r>
              <a:rPr lang="es-ES" dirty="0" err="1">
                <a:ea typeface="+mn-lt"/>
                <a:cs typeface="+mn-lt"/>
              </a:rPr>
              <a:t>header</a:t>
            </a:r>
            <a:r>
              <a:rPr lang="es-ES" dirty="0">
                <a:ea typeface="+mn-lt"/>
                <a:cs typeface="+mn-lt"/>
              </a:rPr>
              <a:t>, aside y </a:t>
            </a:r>
            <a:r>
              <a:rPr lang="es-ES" dirty="0" err="1">
                <a:ea typeface="+mn-lt"/>
                <a:cs typeface="+mn-lt"/>
              </a:rPr>
              <a:t>main</a:t>
            </a:r>
            <a:r>
              <a:rPr lang="es-ES" dirty="0">
                <a:ea typeface="+mn-lt"/>
                <a:cs typeface="+mn-lt"/>
              </a:rPr>
              <a:t> son los elementos de la rejilla, y cada uno tiene su propia propiedad para posicionarse dentro de la estructura definida.</a:t>
            </a:r>
          </a:p>
          <a:p>
            <a:pPr marL="0" indent="0">
              <a:buNone/>
            </a:pPr>
            <a:r>
              <a:rPr lang="es-ES" b="1" dirty="0">
                <a:latin typeface="Courier New"/>
                <a:ea typeface="+mn-lt"/>
                <a:cs typeface="+mn-lt"/>
              </a:rPr>
              <a:t>&lt;</a:t>
            </a:r>
            <a:r>
              <a:rPr lang="es-ES" b="1" dirty="0" err="1">
                <a:latin typeface="Courier New"/>
                <a:ea typeface="+mn-lt"/>
                <a:cs typeface="+mn-lt"/>
              </a:rPr>
              <a:t>div</a:t>
            </a:r>
            <a:r>
              <a:rPr lang="es-ES" b="1" dirty="0">
                <a:latin typeface="Courier New"/>
                <a:ea typeface="+mn-lt"/>
                <a:cs typeface="+mn-lt"/>
              </a:rPr>
              <a:t> </a:t>
            </a:r>
            <a:r>
              <a:rPr lang="es-ES" b="1" dirty="0" err="1">
                <a:latin typeface="Courier New"/>
                <a:ea typeface="+mn-lt"/>
                <a:cs typeface="+mn-lt"/>
              </a:rPr>
              <a:t>class</a:t>
            </a:r>
            <a:r>
              <a:rPr lang="es-ES" b="1" dirty="0">
                <a:latin typeface="Courier New"/>
                <a:ea typeface="+mn-lt"/>
                <a:cs typeface="+mn-lt"/>
              </a:rPr>
              <a:t>="</a:t>
            </a:r>
            <a:r>
              <a:rPr lang="es-ES" b="1" dirty="0" err="1">
                <a:latin typeface="Courier New"/>
                <a:ea typeface="+mn-lt"/>
                <a:cs typeface="+mn-lt"/>
              </a:rPr>
              <a:t>grid</a:t>
            </a:r>
            <a:r>
              <a:rPr lang="es-ES" b="1" dirty="0">
                <a:latin typeface="Courier New"/>
                <a:ea typeface="+mn-lt"/>
                <a:cs typeface="+mn-lt"/>
              </a:rPr>
              <a:t>-container"&gt;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header</a:t>
            </a:r>
            <a:r>
              <a:rPr lang="es-ES" b="1" dirty="0">
                <a:latin typeface="Courier New"/>
                <a:ea typeface="+mn-lt"/>
                <a:cs typeface="+mn-lt"/>
              </a:rPr>
              <a:t> </a:t>
            </a:r>
            <a:r>
              <a:rPr lang="es-ES" b="1" dirty="0" err="1">
                <a:latin typeface="Courier New"/>
                <a:ea typeface="+mn-lt"/>
                <a:cs typeface="+mn-lt"/>
              </a:rPr>
              <a:t>class</a:t>
            </a:r>
            <a:r>
              <a:rPr lang="es-ES" b="1" dirty="0">
                <a:latin typeface="Courier New"/>
                <a:ea typeface="+mn-lt"/>
                <a:cs typeface="+mn-lt"/>
              </a:rPr>
              <a:t>="</a:t>
            </a:r>
            <a:r>
              <a:rPr lang="es-ES" b="1" dirty="0" err="1">
                <a:latin typeface="Courier New"/>
                <a:ea typeface="+mn-lt"/>
                <a:cs typeface="+mn-lt"/>
              </a:rPr>
              <a:t>header</a:t>
            </a:r>
            <a:r>
              <a:rPr lang="es-ES" b="1" dirty="0">
                <a:latin typeface="Courier New"/>
                <a:ea typeface="+mn-lt"/>
                <a:cs typeface="+mn-lt"/>
              </a:rPr>
              <a:t>"&gt;Cabecera&lt;/</a:t>
            </a:r>
            <a:r>
              <a:rPr lang="es-ES" b="1" dirty="0" err="1">
                <a:latin typeface="Courier New"/>
                <a:ea typeface="+mn-lt"/>
                <a:cs typeface="+mn-lt"/>
              </a:rPr>
              <a:t>header</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&lt;aside </a:t>
            </a:r>
            <a:r>
              <a:rPr lang="es-ES" b="1" dirty="0" err="1">
                <a:latin typeface="Courier New"/>
                <a:ea typeface="+mn-lt"/>
                <a:cs typeface="+mn-lt"/>
              </a:rPr>
              <a:t>class</a:t>
            </a:r>
            <a:r>
              <a:rPr lang="es-ES" b="1" dirty="0">
                <a:latin typeface="Courier New"/>
                <a:ea typeface="+mn-lt"/>
                <a:cs typeface="+mn-lt"/>
              </a:rPr>
              <a:t>="</a:t>
            </a:r>
            <a:r>
              <a:rPr lang="es-ES" b="1" dirty="0" err="1">
                <a:latin typeface="Courier New"/>
                <a:ea typeface="+mn-lt"/>
                <a:cs typeface="+mn-lt"/>
              </a:rPr>
              <a:t>sidebar</a:t>
            </a:r>
            <a:r>
              <a:rPr lang="es-ES" b="1" dirty="0">
                <a:latin typeface="Courier New"/>
                <a:ea typeface="+mn-lt"/>
                <a:cs typeface="+mn-lt"/>
              </a:rPr>
              <a:t>"&gt;Barra Lateral&lt;/aside&gt;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main</a:t>
            </a:r>
            <a:r>
              <a:rPr lang="es-ES" b="1" dirty="0">
                <a:latin typeface="Courier New"/>
                <a:ea typeface="+mn-lt"/>
                <a:cs typeface="+mn-lt"/>
              </a:rPr>
              <a:t> </a:t>
            </a:r>
            <a:r>
              <a:rPr lang="es-ES" b="1" dirty="0" err="1">
                <a:latin typeface="Courier New"/>
                <a:ea typeface="+mn-lt"/>
                <a:cs typeface="+mn-lt"/>
              </a:rPr>
              <a:t>class</a:t>
            </a:r>
            <a:r>
              <a:rPr lang="es-ES" b="1" dirty="0">
                <a:latin typeface="Courier New"/>
                <a:ea typeface="+mn-lt"/>
                <a:cs typeface="+mn-lt"/>
              </a:rPr>
              <a:t>="</a:t>
            </a:r>
            <a:r>
              <a:rPr lang="es-ES" b="1" dirty="0" err="1">
                <a:latin typeface="Courier New"/>
                <a:ea typeface="+mn-lt"/>
                <a:cs typeface="+mn-lt"/>
              </a:rPr>
              <a:t>content</a:t>
            </a:r>
            <a:r>
              <a:rPr lang="es-ES" b="1" dirty="0">
                <a:latin typeface="Courier New"/>
                <a:ea typeface="+mn-lt"/>
                <a:cs typeface="+mn-lt"/>
              </a:rPr>
              <a:t>"&gt;Contenido&lt;/</a:t>
            </a:r>
            <a:r>
              <a:rPr lang="es-ES" b="1" dirty="0" err="1">
                <a:latin typeface="Courier New"/>
                <a:ea typeface="+mn-lt"/>
                <a:cs typeface="+mn-lt"/>
              </a:rPr>
              <a:t>main</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&lt;/</a:t>
            </a:r>
            <a:r>
              <a:rPr lang="es-ES" b="1" dirty="0" err="1">
                <a:latin typeface="Courier New"/>
                <a:ea typeface="+mn-lt"/>
                <a:cs typeface="+mn-lt"/>
              </a:rPr>
              <a:t>div</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a:t>
            </a:r>
            <a:r>
              <a:rPr lang="es-ES" b="1" dirty="0" err="1">
                <a:latin typeface="Courier New"/>
                <a:ea typeface="+mn-lt"/>
                <a:cs typeface="+mn-lt"/>
              </a:rPr>
              <a:t>grid</a:t>
            </a:r>
            <a:r>
              <a:rPr lang="es-ES" b="1" dirty="0">
                <a:latin typeface="Courier New"/>
                <a:ea typeface="+mn-lt"/>
                <a:cs typeface="+mn-lt"/>
              </a:rPr>
              <a:t>-container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display</a:t>
            </a:r>
            <a:r>
              <a:rPr lang="es-ES" b="1" dirty="0">
                <a:latin typeface="Courier New"/>
                <a:ea typeface="+mn-lt"/>
                <a:cs typeface="+mn-lt"/>
              </a:rPr>
              <a:t>: </a:t>
            </a:r>
            <a:r>
              <a:rPr lang="es-ES" b="1" dirty="0" err="1">
                <a:latin typeface="Courier New"/>
                <a:ea typeface="+mn-lt"/>
                <a:cs typeface="+mn-lt"/>
              </a:rPr>
              <a:t>grid</a:t>
            </a:r>
            <a:r>
              <a:rPr lang="es-ES" b="1" dirty="0">
                <a:latin typeface="Courier New"/>
                <a:ea typeface="+mn-lt"/>
                <a:cs typeface="+mn-lt"/>
              </a:rPr>
              <a:t>; /* El contenedor padre es la rejilla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grid-template-columns</a:t>
            </a:r>
            <a:r>
              <a:rPr lang="es-ES" b="1" dirty="0">
                <a:latin typeface="Courier New"/>
                <a:ea typeface="+mn-lt"/>
                <a:cs typeface="+mn-lt"/>
              </a:rPr>
              <a:t>: 200px 1fr; /* 2 columnas: 1 fija, 1 flexible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grid-template-rows</a:t>
            </a:r>
            <a:r>
              <a:rPr lang="es-ES" b="1" dirty="0">
                <a:latin typeface="Courier New"/>
                <a:ea typeface="+mn-lt"/>
                <a:cs typeface="+mn-lt"/>
              </a:rPr>
              <a:t>: 80px 1fr; /* 2 filas: 1 fija, 1 flexible */</a:t>
            </a:r>
            <a:br>
              <a:rPr lang="es-ES" b="1" dirty="0">
                <a:latin typeface="Courier New"/>
                <a:ea typeface="+mn-lt"/>
                <a:cs typeface="+mn-lt"/>
              </a:rPr>
            </a:br>
            <a:r>
              <a:rPr lang="es-ES" b="1" dirty="0">
                <a:latin typeface="Courier New"/>
                <a:ea typeface="+mn-lt"/>
                <a:cs typeface="+mn-lt"/>
              </a:rPr>
              <a:t>  gap: 10px; /* Espacio entre los elementos */</a:t>
            </a:r>
            <a:br>
              <a:rPr lang="es-ES" b="1" dirty="0">
                <a:latin typeface="Courier New"/>
                <a:ea typeface="+mn-lt"/>
                <a:cs typeface="+mn-lt"/>
              </a:rPr>
            </a:b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 Los elementos hijos se posicionan dentro de la rejilla */</a:t>
            </a:r>
            <a:br>
              <a:rPr lang="es-ES" b="1" dirty="0">
                <a:latin typeface="Courier New"/>
                <a:ea typeface="+mn-lt"/>
                <a:cs typeface="+mn-lt"/>
              </a:rPr>
            </a:br>
            <a:r>
              <a:rPr lang="es-ES" b="1" dirty="0">
                <a:latin typeface="Courier New"/>
                <a:ea typeface="+mn-lt"/>
                <a:cs typeface="+mn-lt"/>
              </a:rPr>
              <a:t>.</a:t>
            </a:r>
            <a:r>
              <a:rPr lang="es-ES" b="1" dirty="0" err="1">
                <a:latin typeface="Courier New"/>
                <a:ea typeface="+mn-lt"/>
                <a:cs typeface="+mn-lt"/>
              </a:rPr>
              <a:t>header</a:t>
            </a: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grid-column</a:t>
            </a:r>
            <a:r>
              <a:rPr lang="es-ES" b="1" dirty="0">
                <a:latin typeface="Courier New"/>
                <a:ea typeface="+mn-lt"/>
                <a:cs typeface="+mn-lt"/>
              </a:rPr>
              <a:t>: 1 / 3; /* Ocupa desde la línea 1 hasta la 3 (las 2 columnas) */</a:t>
            </a:r>
            <a:br>
              <a:rPr lang="es-ES" b="1" dirty="0">
                <a:latin typeface="Courier New"/>
                <a:ea typeface="+mn-lt"/>
                <a:cs typeface="+mn-lt"/>
              </a:rPr>
            </a:b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a:t>
            </a:r>
            <a:r>
              <a:rPr lang="es-ES" b="1" dirty="0" err="1">
                <a:latin typeface="Courier New"/>
                <a:ea typeface="+mn-lt"/>
                <a:cs typeface="+mn-lt"/>
              </a:rPr>
              <a:t>sidebar</a:t>
            </a: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grid-row</a:t>
            </a:r>
            <a:r>
              <a:rPr lang="es-ES" b="1" dirty="0">
                <a:latin typeface="Courier New"/>
                <a:ea typeface="+mn-lt"/>
                <a:cs typeface="+mn-lt"/>
              </a:rPr>
              <a:t>: 2 / 3; /* Ocupa la fila 2 */</a:t>
            </a:r>
            <a:br>
              <a:rPr lang="es-ES" b="1" dirty="0">
                <a:latin typeface="Courier New"/>
                <a:ea typeface="+mn-lt"/>
                <a:cs typeface="+mn-lt"/>
              </a:rPr>
            </a:b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a:t>
            </a:r>
            <a:r>
              <a:rPr lang="es-ES" b="1" dirty="0" err="1">
                <a:latin typeface="Courier New"/>
                <a:ea typeface="+mn-lt"/>
                <a:cs typeface="+mn-lt"/>
              </a:rPr>
              <a:t>content</a:t>
            </a: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grid-column</a:t>
            </a:r>
            <a:r>
              <a:rPr lang="es-ES" b="1" dirty="0">
                <a:latin typeface="Courier New"/>
                <a:ea typeface="+mn-lt"/>
                <a:cs typeface="+mn-lt"/>
              </a:rPr>
              <a:t>: 2 / 3;</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grid-row</a:t>
            </a:r>
            <a:r>
              <a:rPr lang="es-ES" b="1" dirty="0">
                <a:latin typeface="Courier New"/>
                <a:ea typeface="+mn-lt"/>
                <a:cs typeface="+mn-lt"/>
              </a:rPr>
              <a:t>: 2 / 3; /* Ocupa la columna 2 y la fila 2 */</a:t>
            </a:r>
            <a:br>
              <a:rPr lang="es-ES" b="1" dirty="0">
                <a:latin typeface="Courier New"/>
                <a:ea typeface="+mn-lt"/>
                <a:cs typeface="+mn-lt"/>
              </a:rPr>
            </a:br>
            <a:r>
              <a:rPr lang="es-ES" b="1" dirty="0">
                <a:latin typeface="Courier New"/>
                <a:ea typeface="+mn-lt"/>
                <a:cs typeface="+mn-lt"/>
              </a:rPr>
              <a:t>}</a:t>
            </a:r>
            <a:endParaRPr lang="es-ES" b="1" dirty="0">
              <a:latin typeface="Courier New"/>
              <a:cs typeface="Courier New"/>
            </a:endParaRPr>
          </a:p>
          <a:p>
            <a:endParaRPr lang="es-ES" dirty="0">
              <a:ea typeface="+mn-lt"/>
              <a:cs typeface="+mn-lt"/>
            </a:endParaRPr>
          </a:p>
        </p:txBody>
      </p:sp>
    </p:spTree>
    <p:extLst>
      <p:ext uri="{BB962C8B-B14F-4D97-AF65-F5344CB8AC3E}">
        <p14:creationId xmlns:p14="http://schemas.microsoft.com/office/powerpoint/2010/main" val="3901435185"/>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944E4C-7513-0844-7533-02FFFF603B9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CE9DE53-FDE8-46B5-A477-3DC6932A4862}"/>
              </a:ext>
            </a:extLst>
          </p:cNvPr>
          <p:cNvSpPr>
            <a:spLocks noGrp="1"/>
          </p:cNvSpPr>
          <p:nvPr>
            <p:ph type="title"/>
          </p:nvPr>
        </p:nvSpPr>
        <p:spPr/>
        <p:txBody>
          <a:bodyPr/>
          <a:lstStyle/>
          <a:p>
            <a:r>
              <a:rPr lang="es-ES" b="0" dirty="0">
                <a:ea typeface="+mj-lt"/>
                <a:cs typeface="+mj-lt"/>
              </a:rPr>
              <a:t>2.3.3.2. Propiedades del contenedor (</a:t>
            </a:r>
            <a:r>
              <a:rPr lang="es-ES" b="0" dirty="0" err="1">
                <a:ea typeface="+mj-lt"/>
                <a:cs typeface="+mj-lt"/>
              </a:rPr>
              <a:t>grid-template-columns</a:t>
            </a:r>
            <a:r>
              <a:rPr lang="es-ES" b="0" dirty="0">
                <a:ea typeface="+mj-lt"/>
                <a:cs typeface="+mj-lt"/>
              </a:rPr>
              <a:t>, </a:t>
            </a:r>
            <a:r>
              <a:rPr lang="es-ES" b="0" dirty="0" err="1">
                <a:ea typeface="+mj-lt"/>
                <a:cs typeface="+mj-lt"/>
              </a:rPr>
              <a:t>grid-template-rows</a:t>
            </a:r>
            <a:r>
              <a:rPr lang="es-ES" b="0" dirty="0">
                <a:ea typeface="+mj-lt"/>
                <a:cs typeface="+mj-lt"/>
              </a:rPr>
              <a:t>, gap).</a:t>
            </a:r>
            <a:endParaRPr lang="es-ES" dirty="0"/>
          </a:p>
        </p:txBody>
      </p:sp>
      <p:sp>
        <p:nvSpPr>
          <p:cNvPr id="3" name="Marcador de contenido 2">
            <a:extLst>
              <a:ext uri="{FF2B5EF4-FFF2-40B4-BE49-F238E27FC236}">
                <a16:creationId xmlns:a16="http://schemas.microsoft.com/office/drawing/2014/main" id="{20A89924-18C0-AB42-7FB5-964E6AAFEEEC}"/>
              </a:ext>
            </a:extLst>
          </p:cNvPr>
          <p:cNvSpPr>
            <a:spLocks noGrp="1"/>
          </p:cNvSpPr>
          <p:nvPr>
            <p:ph idx="1"/>
          </p:nvPr>
        </p:nvSpPr>
        <p:spPr/>
        <p:txBody>
          <a:bodyPr vert="horz" lIns="91440" tIns="45720" rIns="91440" bIns="45720" rtlCol="0" anchor="t">
            <a:normAutofit lnSpcReduction="10000"/>
          </a:bodyPr>
          <a:lstStyle/>
          <a:p>
            <a:r>
              <a:rPr lang="es-ES" dirty="0">
                <a:ea typeface="+mn-lt"/>
                <a:cs typeface="+mn-lt"/>
              </a:rPr>
              <a:t>Las propiedades aplicadas al Contenedor de la Rejilla (el elemento padre con </a:t>
            </a:r>
            <a:r>
              <a:rPr lang="es-ES" dirty="0" err="1">
                <a:ea typeface="+mn-lt"/>
                <a:cs typeface="+mn-lt"/>
              </a:rPr>
              <a:t>display</a:t>
            </a:r>
            <a:r>
              <a:rPr lang="es-ES" dirty="0">
                <a:ea typeface="+mn-lt"/>
                <a:cs typeface="+mn-lt"/>
              </a:rPr>
              <a:t>: </a:t>
            </a:r>
            <a:r>
              <a:rPr lang="es-ES" dirty="0" err="1">
                <a:ea typeface="+mn-lt"/>
                <a:cs typeface="+mn-lt"/>
              </a:rPr>
              <a:t>grid</a:t>
            </a:r>
            <a:r>
              <a:rPr lang="es-ES" dirty="0">
                <a:ea typeface="+mn-lt"/>
                <a:cs typeface="+mn-lt"/>
              </a:rPr>
              <a:t>;) son las que definen la estructura principal del </a:t>
            </a:r>
            <a:r>
              <a:rPr lang="es-ES" dirty="0" err="1">
                <a:ea typeface="+mn-lt"/>
                <a:cs typeface="+mn-lt"/>
              </a:rPr>
              <a:t>layout</a:t>
            </a:r>
            <a:r>
              <a:rPr lang="es-ES" dirty="0">
                <a:ea typeface="+mn-lt"/>
                <a:cs typeface="+mn-lt"/>
              </a:rPr>
              <a:t>. Estas propiedades te permiten crear y controlar las filas y columnas, establecer el espaciado entre ellas y alinear el contenido de toda la rejilla.</a:t>
            </a:r>
            <a:endParaRPr lang="es-ES" dirty="0"/>
          </a:p>
          <a:p>
            <a:r>
              <a:rPr lang="es-ES" b="1" dirty="0" err="1">
                <a:latin typeface="Courier New"/>
                <a:ea typeface="+mn-lt"/>
                <a:cs typeface="+mn-lt"/>
              </a:rPr>
              <a:t>display</a:t>
            </a:r>
            <a:r>
              <a:rPr lang="es-ES" dirty="0">
                <a:ea typeface="+mn-lt"/>
                <a:cs typeface="+mn-lt"/>
              </a:rPr>
              <a:t>: Esta es la propiedad más importante. Al establecer el valor </a:t>
            </a:r>
            <a:r>
              <a:rPr lang="es-ES" dirty="0" err="1">
                <a:ea typeface="+mn-lt"/>
                <a:cs typeface="+mn-lt"/>
              </a:rPr>
              <a:t>grid</a:t>
            </a:r>
            <a:r>
              <a:rPr lang="es-ES" dirty="0">
                <a:ea typeface="+mn-lt"/>
                <a:cs typeface="+mn-lt"/>
              </a:rPr>
              <a:t> o </a:t>
            </a:r>
            <a:r>
              <a:rPr lang="es-ES" dirty="0" err="1">
                <a:ea typeface="+mn-lt"/>
                <a:cs typeface="+mn-lt"/>
              </a:rPr>
              <a:t>inline-grid</a:t>
            </a:r>
            <a:r>
              <a:rPr lang="es-ES" dirty="0">
                <a:ea typeface="+mn-lt"/>
                <a:cs typeface="+mn-lt"/>
              </a:rPr>
              <a:t> en un elemento, lo conviertes en un contenedor de rejilla y sus hijos directos se transforman en elementos de la rejilla.</a:t>
            </a:r>
            <a:endParaRPr lang="es-ES" dirty="0"/>
          </a:p>
          <a:p>
            <a:r>
              <a:rPr lang="es-ES" dirty="0">
                <a:ea typeface="+mn-lt"/>
                <a:cs typeface="+mn-lt"/>
              </a:rPr>
              <a:t>    </a:t>
            </a:r>
            <a:r>
              <a:rPr lang="es-ES" b="1" err="1">
                <a:latin typeface="Courier New"/>
                <a:ea typeface="+mn-lt"/>
                <a:cs typeface="+mn-lt"/>
              </a:rPr>
              <a:t>display</a:t>
            </a:r>
            <a:r>
              <a:rPr lang="es-ES" b="1" dirty="0">
                <a:latin typeface="Courier New"/>
                <a:ea typeface="+mn-lt"/>
                <a:cs typeface="+mn-lt"/>
              </a:rPr>
              <a:t>: </a:t>
            </a:r>
            <a:r>
              <a:rPr lang="es-ES" b="1" err="1">
                <a:latin typeface="Courier New"/>
                <a:ea typeface="+mn-lt"/>
                <a:cs typeface="+mn-lt"/>
              </a:rPr>
              <a:t>grid</a:t>
            </a:r>
            <a:r>
              <a:rPr lang="es-ES" b="1" dirty="0">
                <a:latin typeface="Courier New"/>
                <a:ea typeface="+mn-lt"/>
                <a:cs typeface="+mn-lt"/>
              </a:rPr>
              <a:t>;</a:t>
            </a:r>
            <a:r>
              <a:rPr lang="es-ES" dirty="0">
                <a:ea typeface="+mn-lt"/>
                <a:cs typeface="+mn-lt"/>
              </a:rPr>
              <a:t>: El contenedor ocupa todo el ancho disponible.</a:t>
            </a:r>
            <a:endParaRPr lang="es-ES" dirty="0"/>
          </a:p>
          <a:p>
            <a:r>
              <a:rPr lang="es-ES" dirty="0">
                <a:ea typeface="+mn-lt"/>
                <a:cs typeface="+mn-lt"/>
              </a:rPr>
              <a:t>    </a:t>
            </a:r>
            <a:r>
              <a:rPr lang="es-ES" b="1" err="1">
                <a:latin typeface="Courier New"/>
                <a:ea typeface="+mn-lt"/>
                <a:cs typeface="+mn-lt"/>
              </a:rPr>
              <a:t>display</a:t>
            </a:r>
            <a:r>
              <a:rPr lang="es-ES" b="1" dirty="0">
                <a:latin typeface="Courier New"/>
                <a:ea typeface="+mn-lt"/>
                <a:cs typeface="+mn-lt"/>
              </a:rPr>
              <a:t>: </a:t>
            </a:r>
            <a:r>
              <a:rPr lang="es-ES" b="1" err="1">
                <a:latin typeface="Courier New"/>
                <a:ea typeface="+mn-lt"/>
                <a:cs typeface="+mn-lt"/>
              </a:rPr>
              <a:t>inline-grid</a:t>
            </a:r>
            <a:r>
              <a:rPr lang="es-ES" b="1" dirty="0">
                <a:latin typeface="Courier New"/>
                <a:ea typeface="+mn-lt"/>
                <a:cs typeface="+mn-lt"/>
              </a:rPr>
              <a:t>;</a:t>
            </a:r>
            <a:r>
              <a:rPr lang="es-ES" dirty="0">
                <a:ea typeface="+mn-lt"/>
                <a:cs typeface="+mn-lt"/>
              </a:rPr>
              <a:t>: El contenedor se comporta como un elemento en línea y solo ocupa el espacio necesario.</a:t>
            </a:r>
            <a:endParaRPr lang="es-ES" dirty="0"/>
          </a:p>
          <a:p>
            <a:pPr marL="0" indent="0">
              <a:buNone/>
            </a:pPr>
            <a:r>
              <a:rPr lang="es-ES" b="1" dirty="0">
                <a:latin typeface="Courier New"/>
                <a:ea typeface="+mn-lt"/>
                <a:cs typeface="+mn-lt"/>
              </a:rPr>
              <a:t>.contenedor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display</a:t>
            </a:r>
            <a:r>
              <a:rPr lang="es-ES" b="1" dirty="0">
                <a:latin typeface="Courier New"/>
                <a:ea typeface="+mn-lt"/>
                <a:cs typeface="+mn-lt"/>
              </a:rPr>
              <a:t>: </a:t>
            </a:r>
            <a:r>
              <a:rPr lang="es-ES" b="1" dirty="0" err="1">
                <a:latin typeface="Courier New"/>
                <a:ea typeface="+mn-lt"/>
                <a:cs typeface="+mn-lt"/>
              </a:rPr>
              <a:t>grid</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a:t>
            </a:r>
            <a:endParaRPr lang="es-ES" b="1" dirty="0">
              <a:latin typeface="Courier New"/>
              <a:cs typeface="Courier New"/>
            </a:endParaRPr>
          </a:p>
          <a:p>
            <a:endParaRPr lang="es-ES" dirty="0"/>
          </a:p>
        </p:txBody>
      </p:sp>
    </p:spTree>
    <p:extLst>
      <p:ext uri="{BB962C8B-B14F-4D97-AF65-F5344CB8AC3E}">
        <p14:creationId xmlns:p14="http://schemas.microsoft.com/office/powerpoint/2010/main" val="2536788911"/>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3A7A50-7426-6F4F-9077-5CB1BE32924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A8E44DB-8CF9-528C-EE10-05529A699FA5}"/>
              </a:ext>
            </a:extLst>
          </p:cNvPr>
          <p:cNvSpPr>
            <a:spLocks noGrp="1"/>
          </p:cNvSpPr>
          <p:nvPr>
            <p:ph type="title"/>
          </p:nvPr>
        </p:nvSpPr>
        <p:spPr/>
        <p:txBody>
          <a:bodyPr/>
          <a:lstStyle/>
          <a:p>
            <a:r>
              <a:rPr lang="es-ES" b="0" dirty="0">
                <a:ea typeface="+mj-lt"/>
                <a:cs typeface="+mj-lt"/>
              </a:rPr>
              <a:t>2.3.3.2. Propiedades del contenedor (</a:t>
            </a:r>
            <a:r>
              <a:rPr lang="es-ES" b="0" dirty="0" err="1">
                <a:ea typeface="+mj-lt"/>
                <a:cs typeface="+mj-lt"/>
              </a:rPr>
              <a:t>grid-template-columns</a:t>
            </a:r>
            <a:r>
              <a:rPr lang="es-ES" b="0" dirty="0">
                <a:ea typeface="+mj-lt"/>
                <a:cs typeface="+mj-lt"/>
              </a:rPr>
              <a:t>, </a:t>
            </a:r>
            <a:r>
              <a:rPr lang="es-ES" b="0" dirty="0" err="1">
                <a:ea typeface="+mj-lt"/>
                <a:cs typeface="+mj-lt"/>
              </a:rPr>
              <a:t>grid-template-rows</a:t>
            </a:r>
            <a:r>
              <a:rPr lang="es-ES" b="0" dirty="0">
                <a:ea typeface="+mj-lt"/>
                <a:cs typeface="+mj-lt"/>
              </a:rPr>
              <a:t>, gap).</a:t>
            </a:r>
            <a:endParaRPr lang="es-ES" dirty="0"/>
          </a:p>
        </p:txBody>
      </p:sp>
      <p:sp>
        <p:nvSpPr>
          <p:cNvPr id="3" name="Marcador de contenido 2">
            <a:extLst>
              <a:ext uri="{FF2B5EF4-FFF2-40B4-BE49-F238E27FC236}">
                <a16:creationId xmlns:a16="http://schemas.microsoft.com/office/drawing/2014/main" id="{578F1748-E608-54EF-4911-F3837C1F8D77}"/>
              </a:ext>
            </a:extLst>
          </p:cNvPr>
          <p:cNvSpPr>
            <a:spLocks noGrp="1"/>
          </p:cNvSpPr>
          <p:nvPr>
            <p:ph idx="1"/>
          </p:nvPr>
        </p:nvSpPr>
        <p:spPr/>
        <p:txBody>
          <a:bodyPr vert="horz" lIns="91440" tIns="45720" rIns="91440" bIns="45720" rtlCol="0" anchor="t">
            <a:normAutofit fontScale="92500" lnSpcReduction="20000"/>
          </a:bodyPr>
          <a:lstStyle/>
          <a:p>
            <a:r>
              <a:rPr lang="es-ES" b="1" err="1">
                <a:latin typeface="Courier New"/>
                <a:ea typeface="+mn-lt"/>
                <a:cs typeface="+mn-lt"/>
              </a:rPr>
              <a:t>grid-template-columns</a:t>
            </a:r>
            <a:r>
              <a:rPr lang="es-ES" dirty="0">
                <a:ea typeface="+mn-lt"/>
                <a:cs typeface="+mn-lt"/>
              </a:rPr>
              <a:t> y </a:t>
            </a:r>
            <a:r>
              <a:rPr lang="es-ES" b="1" dirty="0" err="1">
                <a:latin typeface="Courier New"/>
                <a:ea typeface="+mn-lt"/>
                <a:cs typeface="+mn-lt"/>
              </a:rPr>
              <a:t>grid-template-rows</a:t>
            </a:r>
            <a:r>
              <a:rPr lang="es-ES" dirty="0">
                <a:ea typeface="+mn-lt"/>
                <a:cs typeface="+mn-lt"/>
              </a:rPr>
              <a:t>: Estas propiedades son la base de la maquetación con </a:t>
            </a:r>
            <a:r>
              <a:rPr lang="es-ES" dirty="0" err="1">
                <a:ea typeface="+mn-lt"/>
                <a:cs typeface="+mn-lt"/>
              </a:rPr>
              <a:t>Grid</a:t>
            </a:r>
            <a:r>
              <a:rPr lang="es-ES" dirty="0">
                <a:ea typeface="+mn-lt"/>
                <a:cs typeface="+mn-lt"/>
              </a:rPr>
              <a:t>, ya que definen la estructura de la rejilla.</a:t>
            </a:r>
          </a:p>
          <a:p>
            <a:pPr lvl="1">
              <a:buFont typeface="Courier New" panose="020B0604020202020204" pitchFamily="34" charset="0"/>
              <a:buChar char="o"/>
            </a:pPr>
            <a:r>
              <a:rPr lang="es-ES" b="1" dirty="0" err="1">
                <a:latin typeface="Courier New"/>
                <a:ea typeface="+mn-lt"/>
                <a:cs typeface="+mn-lt"/>
              </a:rPr>
              <a:t>grid-template-columns</a:t>
            </a:r>
            <a:r>
              <a:rPr lang="es-ES" dirty="0">
                <a:ea typeface="+mn-lt"/>
                <a:cs typeface="+mn-lt"/>
              </a:rPr>
              <a:t>: Define el número y tamaño de las columnas.</a:t>
            </a:r>
          </a:p>
          <a:p>
            <a:pPr lvl="1">
              <a:buFont typeface="Courier New" panose="020B0604020202020204" pitchFamily="34" charset="0"/>
              <a:buChar char="o"/>
            </a:pPr>
            <a:r>
              <a:rPr lang="es-ES" b="1" dirty="0" err="1">
                <a:latin typeface="Courier New"/>
                <a:ea typeface="+mn-lt"/>
                <a:cs typeface="+mn-lt"/>
              </a:rPr>
              <a:t>grid-template-rows</a:t>
            </a:r>
            <a:r>
              <a:rPr lang="es-ES" dirty="0">
                <a:ea typeface="+mn-lt"/>
                <a:cs typeface="+mn-lt"/>
              </a:rPr>
              <a:t>: Define el número y tamaño de las filas.</a:t>
            </a:r>
          </a:p>
          <a:p>
            <a:r>
              <a:rPr lang="es-ES" dirty="0">
                <a:ea typeface="+mn-lt"/>
                <a:cs typeface="+mn-lt"/>
              </a:rPr>
              <a:t>Puedes usar varias unidades de medida, incluyendo la unidad fraccional </a:t>
            </a:r>
            <a:r>
              <a:rPr lang="es-ES" dirty="0" err="1">
                <a:ea typeface="+mn-lt"/>
                <a:cs typeface="+mn-lt"/>
              </a:rPr>
              <a:t>fr</a:t>
            </a:r>
            <a:r>
              <a:rPr lang="es-ES" dirty="0">
                <a:ea typeface="+mn-lt"/>
                <a:cs typeface="+mn-lt"/>
              </a:rPr>
              <a:t> que divide el espacio disponible.</a:t>
            </a:r>
          </a:p>
          <a:p>
            <a:pPr marL="0" indent="0">
              <a:buNone/>
            </a:pPr>
            <a:r>
              <a:rPr lang="es-ES" b="1" dirty="0">
                <a:latin typeface="Courier New"/>
                <a:ea typeface="+mn-lt"/>
                <a:cs typeface="+mn-lt"/>
              </a:rPr>
              <a:t>/* Tres columnas: 100px, una parte del espacio libre y dos partes */</a:t>
            </a:r>
            <a:br>
              <a:rPr lang="es-ES" b="1" dirty="0">
                <a:latin typeface="Courier New"/>
                <a:ea typeface="+mn-lt"/>
                <a:cs typeface="+mn-lt"/>
              </a:rPr>
            </a:br>
            <a:r>
              <a:rPr lang="es-ES" b="1" dirty="0">
                <a:latin typeface="Courier New"/>
                <a:ea typeface="+mn-lt"/>
                <a:cs typeface="+mn-lt"/>
              </a:rPr>
              <a:t>.contenedor-columnas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grid-template-columns</a:t>
            </a:r>
            <a:r>
              <a:rPr lang="es-ES" b="1" dirty="0">
                <a:latin typeface="Courier New"/>
                <a:ea typeface="+mn-lt"/>
                <a:cs typeface="+mn-lt"/>
              </a:rPr>
              <a:t>: 100px 1fr 2fr;</a:t>
            </a:r>
            <a:br>
              <a:rPr lang="es-ES" b="1" dirty="0">
                <a:latin typeface="Courier New"/>
                <a:ea typeface="+mn-lt"/>
                <a:cs typeface="+mn-lt"/>
              </a:rPr>
            </a:b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 Dos filas: una automática según el contenido y otra de 200px */</a:t>
            </a:r>
            <a:br>
              <a:rPr lang="es-ES" b="1" dirty="0">
                <a:latin typeface="Courier New"/>
                <a:ea typeface="+mn-lt"/>
                <a:cs typeface="+mn-lt"/>
              </a:rPr>
            </a:br>
            <a:r>
              <a:rPr lang="es-ES" b="1" dirty="0">
                <a:latin typeface="Courier New"/>
                <a:ea typeface="+mn-lt"/>
                <a:cs typeface="+mn-lt"/>
              </a:rPr>
              <a:t>.contenedor-filas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grid-template-rows</a:t>
            </a:r>
            <a:r>
              <a:rPr lang="es-ES" b="1" dirty="0">
                <a:latin typeface="Courier New"/>
                <a:ea typeface="+mn-lt"/>
                <a:cs typeface="+mn-lt"/>
              </a:rPr>
              <a:t>: auto 200px;</a:t>
            </a:r>
            <a:br>
              <a:rPr lang="es-ES" b="1" dirty="0">
                <a:latin typeface="Courier New"/>
                <a:ea typeface="+mn-lt"/>
                <a:cs typeface="+mn-lt"/>
              </a:rPr>
            </a:br>
            <a:r>
              <a:rPr lang="es-ES" b="1" dirty="0">
                <a:latin typeface="Courier New"/>
                <a:ea typeface="+mn-lt"/>
                <a:cs typeface="+mn-lt"/>
              </a:rPr>
              <a:t>}</a:t>
            </a:r>
            <a:endParaRPr lang="es-ES" b="1" dirty="0">
              <a:latin typeface="Courier New"/>
              <a:cs typeface="Courier New"/>
            </a:endParaRPr>
          </a:p>
        </p:txBody>
      </p:sp>
    </p:spTree>
    <p:extLst>
      <p:ext uri="{BB962C8B-B14F-4D97-AF65-F5344CB8AC3E}">
        <p14:creationId xmlns:p14="http://schemas.microsoft.com/office/powerpoint/2010/main" val="1168047520"/>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5FF4F3-1874-102D-BADC-074AEDD8AD2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7BB7DBF-869A-FD41-7EFF-3A514AFF5B8E}"/>
              </a:ext>
            </a:extLst>
          </p:cNvPr>
          <p:cNvSpPr>
            <a:spLocks noGrp="1"/>
          </p:cNvSpPr>
          <p:nvPr>
            <p:ph type="title"/>
          </p:nvPr>
        </p:nvSpPr>
        <p:spPr/>
        <p:txBody>
          <a:bodyPr/>
          <a:lstStyle/>
          <a:p>
            <a:r>
              <a:rPr lang="es-ES" b="0" dirty="0">
                <a:ea typeface="+mj-lt"/>
                <a:cs typeface="+mj-lt"/>
              </a:rPr>
              <a:t>2.3.3.2. Propiedades del contenedor (</a:t>
            </a:r>
            <a:r>
              <a:rPr lang="es-ES" b="0" dirty="0" err="1">
                <a:ea typeface="+mj-lt"/>
                <a:cs typeface="+mj-lt"/>
              </a:rPr>
              <a:t>grid-template-columns</a:t>
            </a:r>
            <a:r>
              <a:rPr lang="es-ES" b="0" dirty="0">
                <a:ea typeface="+mj-lt"/>
                <a:cs typeface="+mj-lt"/>
              </a:rPr>
              <a:t>, </a:t>
            </a:r>
            <a:r>
              <a:rPr lang="es-ES" b="0" dirty="0" err="1">
                <a:ea typeface="+mj-lt"/>
                <a:cs typeface="+mj-lt"/>
              </a:rPr>
              <a:t>grid-template-rows</a:t>
            </a:r>
            <a:r>
              <a:rPr lang="es-ES" b="0" dirty="0">
                <a:ea typeface="+mj-lt"/>
                <a:cs typeface="+mj-lt"/>
              </a:rPr>
              <a:t>, gap).</a:t>
            </a:r>
            <a:endParaRPr lang="es-ES" dirty="0"/>
          </a:p>
        </p:txBody>
      </p:sp>
      <p:sp>
        <p:nvSpPr>
          <p:cNvPr id="3" name="Marcador de contenido 2">
            <a:extLst>
              <a:ext uri="{FF2B5EF4-FFF2-40B4-BE49-F238E27FC236}">
                <a16:creationId xmlns:a16="http://schemas.microsoft.com/office/drawing/2014/main" id="{36D62EB8-B075-2FB1-238D-D71EB0DF5E13}"/>
              </a:ext>
            </a:extLst>
          </p:cNvPr>
          <p:cNvSpPr>
            <a:spLocks noGrp="1"/>
          </p:cNvSpPr>
          <p:nvPr>
            <p:ph idx="1"/>
          </p:nvPr>
        </p:nvSpPr>
        <p:spPr/>
        <p:txBody>
          <a:bodyPr vert="horz" lIns="91440" tIns="45720" rIns="91440" bIns="45720" rtlCol="0" anchor="t">
            <a:normAutofit/>
          </a:bodyPr>
          <a:lstStyle/>
          <a:p>
            <a:r>
              <a:rPr lang="es-ES" b="1" dirty="0">
                <a:latin typeface="Courier New"/>
                <a:ea typeface="+mn-lt"/>
                <a:cs typeface="+mn-lt"/>
              </a:rPr>
              <a:t>gap</a:t>
            </a:r>
            <a:r>
              <a:rPr lang="es-ES" dirty="0">
                <a:ea typeface="+mn-lt"/>
                <a:cs typeface="+mn-lt"/>
              </a:rPr>
              <a:t>, </a:t>
            </a:r>
            <a:r>
              <a:rPr lang="es-ES" b="1" dirty="0" err="1">
                <a:latin typeface="Courier New"/>
                <a:ea typeface="+mn-lt"/>
                <a:cs typeface="+mn-lt"/>
              </a:rPr>
              <a:t>row</a:t>
            </a:r>
            <a:r>
              <a:rPr lang="es-ES" b="1" dirty="0">
                <a:latin typeface="Courier New"/>
                <a:ea typeface="+mn-lt"/>
                <a:cs typeface="+mn-lt"/>
              </a:rPr>
              <a:t>-gap</a:t>
            </a:r>
            <a:r>
              <a:rPr lang="es-ES" dirty="0">
                <a:ea typeface="+mn-lt"/>
                <a:cs typeface="+mn-lt"/>
              </a:rPr>
              <a:t> y </a:t>
            </a:r>
            <a:r>
              <a:rPr lang="es-ES" b="1" dirty="0" err="1">
                <a:latin typeface="Courier New"/>
                <a:ea typeface="+mn-lt"/>
                <a:cs typeface="+mn-lt"/>
              </a:rPr>
              <a:t>column-gap</a:t>
            </a:r>
            <a:r>
              <a:rPr lang="es-ES" dirty="0" err="1">
                <a:ea typeface="+mn-lt"/>
                <a:cs typeface="+mn-lt"/>
              </a:rPr>
              <a:t>:Estas</a:t>
            </a:r>
            <a:r>
              <a:rPr lang="es-ES" dirty="0">
                <a:ea typeface="+mn-lt"/>
                <a:cs typeface="+mn-lt"/>
              </a:rPr>
              <a:t> propiedades establecen el espacio entre las celdas de la rejilla, creando un efecto de "canal" que separa los elementos.</a:t>
            </a:r>
          </a:p>
          <a:p>
            <a:pPr lvl="1">
              <a:buFont typeface="Courier New" panose="020B0604020202020204" pitchFamily="34" charset="0"/>
              <a:buChar char="o"/>
            </a:pPr>
            <a:r>
              <a:rPr lang="es-ES" b="1" dirty="0">
                <a:latin typeface="Courier New"/>
                <a:ea typeface="+mn-lt"/>
                <a:cs typeface="+mn-lt"/>
              </a:rPr>
              <a:t>gap</a:t>
            </a:r>
            <a:r>
              <a:rPr lang="es-ES" dirty="0">
                <a:ea typeface="+mn-lt"/>
                <a:cs typeface="+mn-lt"/>
              </a:rPr>
              <a:t>: Es una propiedad abreviada para establecer tanto el espacio entre filas como entre columnas.</a:t>
            </a:r>
          </a:p>
          <a:p>
            <a:pPr lvl="1">
              <a:buFont typeface="Courier New" panose="020B0604020202020204" pitchFamily="34" charset="0"/>
              <a:buChar char="o"/>
            </a:pPr>
            <a:r>
              <a:rPr lang="es-ES" b="1" dirty="0" err="1">
                <a:latin typeface="Courier New"/>
                <a:ea typeface="+mn-lt"/>
                <a:cs typeface="+mn-lt"/>
              </a:rPr>
              <a:t>row</a:t>
            </a:r>
            <a:r>
              <a:rPr lang="es-ES" b="1" dirty="0">
                <a:latin typeface="Courier New"/>
                <a:ea typeface="+mn-lt"/>
                <a:cs typeface="+mn-lt"/>
              </a:rPr>
              <a:t>-gap</a:t>
            </a:r>
            <a:r>
              <a:rPr lang="es-ES" dirty="0">
                <a:ea typeface="+mn-lt"/>
                <a:cs typeface="+mn-lt"/>
              </a:rPr>
              <a:t>: Establece solo el espacio vertical entre filas.</a:t>
            </a:r>
          </a:p>
          <a:p>
            <a:pPr lvl="1">
              <a:buFont typeface="Courier New" panose="020B0604020202020204" pitchFamily="34" charset="0"/>
              <a:buChar char="o"/>
            </a:pPr>
            <a:r>
              <a:rPr lang="es-ES" b="1" dirty="0" err="1">
                <a:latin typeface="Courier New"/>
                <a:ea typeface="+mn-lt"/>
                <a:cs typeface="+mn-lt"/>
              </a:rPr>
              <a:t>column</a:t>
            </a:r>
            <a:r>
              <a:rPr lang="es-ES" b="1" dirty="0">
                <a:latin typeface="Courier New"/>
                <a:ea typeface="+mn-lt"/>
                <a:cs typeface="+mn-lt"/>
              </a:rPr>
              <a:t>-gap</a:t>
            </a:r>
            <a:r>
              <a:rPr lang="es-ES" dirty="0">
                <a:ea typeface="+mn-lt"/>
                <a:cs typeface="+mn-lt"/>
              </a:rPr>
              <a:t>: Establece solo el espacio horizontal entre columnas.</a:t>
            </a:r>
          </a:p>
          <a:p>
            <a:r>
              <a:rPr lang="es-ES" b="1" dirty="0">
                <a:latin typeface="Courier New"/>
                <a:ea typeface="+mn-lt"/>
                <a:cs typeface="+mn-lt"/>
              </a:rPr>
              <a:t>.contenedor {</a:t>
            </a:r>
            <a:br>
              <a:rPr lang="es-ES" b="1" dirty="0">
                <a:latin typeface="Courier New"/>
                <a:ea typeface="+mn-lt"/>
                <a:cs typeface="+mn-lt"/>
              </a:rPr>
            </a:br>
            <a:r>
              <a:rPr lang="es-ES" b="1" dirty="0">
                <a:latin typeface="Courier New"/>
                <a:ea typeface="+mn-lt"/>
                <a:cs typeface="+mn-lt"/>
              </a:rPr>
              <a:t>  gap: 15px; /* 15px de espacio entre filas y columnas */</a:t>
            </a:r>
            <a:br>
              <a:rPr lang="es-ES" b="1" dirty="0">
                <a:latin typeface="Courier New"/>
                <a:ea typeface="+mn-lt"/>
                <a:cs typeface="+mn-lt"/>
              </a:rPr>
            </a:br>
            <a:r>
              <a:rPr lang="es-ES" b="1" dirty="0">
                <a:latin typeface="Courier New"/>
                <a:ea typeface="+mn-lt"/>
                <a:cs typeface="+mn-lt"/>
              </a:rPr>
              <a:t>}</a:t>
            </a:r>
          </a:p>
        </p:txBody>
      </p:sp>
    </p:spTree>
    <p:extLst>
      <p:ext uri="{BB962C8B-B14F-4D97-AF65-F5344CB8AC3E}">
        <p14:creationId xmlns:p14="http://schemas.microsoft.com/office/powerpoint/2010/main" val="1032590971"/>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90060E-4F54-6B24-1DA5-1B78C454EEE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93539D7-59CA-5A6C-9F7F-A869A3068380}"/>
              </a:ext>
            </a:extLst>
          </p:cNvPr>
          <p:cNvSpPr>
            <a:spLocks noGrp="1"/>
          </p:cNvSpPr>
          <p:nvPr>
            <p:ph type="title"/>
          </p:nvPr>
        </p:nvSpPr>
        <p:spPr/>
        <p:txBody>
          <a:bodyPr/>
          <a:lstStyle/>
          <a:p>
            <a:r>
              <a:rPr lang="es-ES" b="0" dirty="0">
                <a:ea typeface="+mj-lt"/>
                <a:cs typeface="+mj-lt"/>
              </a:rPr>
              <a:t>2.3.3.2. Propiedades del contenedor (</a:t>
            </a:r>
            <a:r>
              <a:rPr lang="es-ES" b="0" dirty="0" err="1">
                <a:ea typeface="+mj-lt"/>
                <a:cs typeface="+mj-lt"/>
              </a:rPr>
              <a:t>grid-template-columns</a:t>
            </a:r>
            <a:r>
              <a:rPr lang="es-ES" b="0" dirty="0">
                <a:ea typeface="+mj-lt"/>
                <a:cs typeface="+mj-lt"/>
              </a:rPr>
              <a:t>, </a:t>
            </a:r>
            <a:r>
              <a:rPr lang="es-ES" b="0" dirty="0" err="1">
                <a:ea typeface="+mj-lt"/>
                <a:cs typeface="+mj-lt"/>
              </a:rPr>
              <a:t>grid-template-rows</a:t>
            </a:r>
            <a:r>
              <a:rPr lang="es-ES" b="0" dirty="0">
                <a:ea typeface="+mj-lt"/>
                <a:cs typeface="+mj-lt"/>
              </a:rPr>
              <a:t>, gap).</a:t>
            </a:r>
            <a:endParaRPr lang="es-ES" dirty="0"/>
          </a:p>
        </p:txBody>
      </p:sp>
      <p:sp>
        <p:nvSpPr>
          <p:cNvPr id="3" name="Marcador de contenido 2">
            <a:extLst>
              <a:ext uri="{FF2B5EF4-FFF2-40B4-BE49-F238E27FC236}">
                <a16:creationId xmlns:a16="http://schemas.microsoft.com/office/drawing/2014/main" id="{2C237ADB-3EF1-2497-5128-798B25265050}"/>
              </a:ext>
            </a:extLst>
          </p:cNvPr>
          <p:cNvSpPr>
            <a:spLocks noGrp="1"/>
          </p:cNvSpPr>
          <p:nvPr>
            <p:ph idx="1"/>
          </p:nvPr>
        </p:nvSpPr>
        <p:spPr/>
        <p:txBody>
          <a:bodyPr vert="horz" lIns="91440" tIns="45720" rIns="91440" bIns="45720" rtlCol="0" anchor="t">
            <a:normAutofit fontScale="62500" lnSpcReduction="20000"/>
          </a:bodyPr>
          <a:lstStyle/>
          <a:p>
            <a:r>
              <a:rPr lang="es-ES" b="1" dirty="0">
                <a:latin typeface="Courier New"/>
                <a:ea typeface="+mn-lt"/>
                <a:cs typeface="+mn-lt"/>
              </a:rPr>
              <a:t>gap</a:t>
            </a:r>
            <a:r>
              <a:rPr lang="es-ES" dirty="0">
                <a:ea typeface="+mn-lt"/>
                <a:cs typeface="+mn-lt"/>
              </a:rPr>
              <a:t>, </a:t>
            </a:r>
            <a:r>
              <a:rPr lang="es-ES" b="1" err="1">
                <a:latin typeface="Courier New"/>
                <a:ea typeface="+mn-lt"/>
                <a:cs typeface="+mn-lt"/>
              </a:rPr>
              <a:t>row</a:t>
            </a:r>
            <a:r>
              <a:rPr lang="es-ES" b="1" dirty="0">
                <a:latin typeface="Courier New"/>
                <a:ea typeface="+mn-lt"/>
                <a:cs typeface="+mn-lt"/>
              </a:rPr>
              <a:t>-gap</a:t>
            </a:r>
            <a:r>
              <a:rPr lang="es-ES" dirty="0">
                <a:ea typeface="+mn-lt"/>
                <a:cs typeface="+mn-lt"/>
              </a:rPr>
              <a:t> y </a:t>
            </a:r>
            <a:r>
              <a:rPr lang="es-ES" b="1" err="1">
                <a:latin typeface="Courier New"/>
                <a:ea typeface="+mn-lt"/>
                <a:cs typeface="+mn-lt"/>
              </a:rPr>
              <a:t>column-gap</a:t>
            </a:r>
            <a:r>
              <a:rPr lang="es-ES" err="1">
                <a:ea typeface="+mn-lt"/>
                <a:cs typeface="+mn-lt"/>
              </a:rPr>
              <a:t>:Estas</a:t>
            </a:r>
            <a:r>
              <a:rPr lang="es-ES" dirty="0">
                <a:ea typeface="+mn-lt"/>
                <a:cs typeface="+mn-lt"/>
              </a:rPr>
              <a:t> propiedades establecen el espacio entre las celdas de la rejilla, creando un efecto de "canal" que separa los elementos.</a:t>
            </a:r>
          </a:p>
          <a:p>
            <a:pPr lvl="1">
              <a:buFont typeface="Courier New" panose="020B0604020202020204" pitchFamily="34" charset="0"/>
              <a:buChar char="o"/>
            </a:pPr>
            <a:r>
              <a:rPr lang="es-ES" b="1" dirty="0">
                <a:latin typeface="Courier New"/>
                <a:ea typeface="+mn-lt"/>
                <a:cs typeface="+mn-lt"/>
              </a:rPr>
              <a:t>gap</a:t>
            </a:r>
            <a:r>
              <a:rPr lang="es-ES" dirty="0">
                <a:ea typeface="+mn-lt"/>
                <a:cs typeface="+mn-lt"/>
              </a:rPr>
              <a:t>: Es una propiedad abreviada para establecer tanto el espacio entre filas como entre columnas.</a:t>
            </a:r>
          </a:p>
          <a:p>
            <a:pPr lvl="1">
              <a:buFont typeface="Courier New" panose="020B0604020202020204" pitchFamily="34" charset="0"/>
              <a:buChar char="o"/>
            </a:pPr>
            <a:r>
              <a:rPr lang="es-ES" b="1" dirty="0" err="1">
                <a:latin typeface="Courier New"/>
                <a:ea typeface="+mn-lt"/>
                <a:cs typeface="+mn-lt"/>
              </a:rPr>
              <a:t>row</a:t>
            </a:r>
            <a:r>
              <a:rPr lang="es-ES" b="1" dirty="0">
                <a:latin typeface="Courier New"/>
                <a:ea typeface="+mn-lt"/>
                <a:cs typeface="+mn-lt"/>
              </a:rPr>
              <a:t>-gap</a:t>
            </a:r>
            <a:r>
              <a:rPr lang="es-ES" dirty="0">
                <a:ea typeface="+mn-lt"/>
                <a:cs typeface="+mn-lt"/>
              </a:rPr>
              <a:t>: Establece solo el espacio vertical entre filas.</a:t>
            </a:r>
          </a:p>
          <a:p>
            <a:pPr lvl="1">
              <a:buFont typeface="Courier New" panose="020B0604020202020204" pitchFamily="34" charset="0"/>
              <a:buChar char="o"/>
            </a:pPr>
            <a:r>
              <a:rPr lang="es-ES" b="1" dirty="0" err="1">
                <a:latin typeface="Courier New"/>
                <a:ea typeface="+mn-lt"/>
                <a:cs typeface="+mn-lt"/>
              </a:rPr>
              <a:t>column</a:t>
            </a:r>
            <a:r>
              <a:rPr lang="es-ES" b="1" dirty="0">
                <a:latin typeface="Courier New"/>
                <a:ea typeface="+mn-lt"/>
                <a:cs typeface="+mn-lt"/>
              </a:rPr>
              <a:t>-gap</a:t>
            </a:r>
            <a:r>
              <a:rPr lang="es-ES" dirty="0">
                <a:ea typeface="+mn-lt"/>
                <a:cs typeface="+mn-lt"/>
              </a:rPr>
              <a:t>: Establece solo el espacio horizontal entre columnas.</a:t>
            </a:r>
          </a:p>
          <a:p>
            <a:pPr marL="0" indent="0">
              <a:buNone/>
            </a:pPr>
            <a:r>
              <a:rPr lang="es-ES" b="1" dirty="0">
                <a:latin typeface="Courier New"/>
                <a:ea typeface="+mn-lt"/>
                <a:cs typeface="+mn-lt"/>
              </a:rPr>
              <a:t>.contenedor {</a:t>
            </a:r>
            <a:br>
              <a:rPr lang="es-ES" b="1" dirty="0">
                <a:latin typeface="Courier New"/>
                <a:ea typeface="+mn-lt"/>
                <a:cs typeface="+mn-lt"/>
              </a:rPr>
            </a:br>
            <a:r>
              <a:rPr lang="es-ES" b="1" dirty="0">
                <a:latin typeface="Courier New"/>
                <a:ea typeface="+mn-lt"/>
                <a:cs typeface="+mn-lt"/>
              </a:rPr>
              <a:t>  gap: 15px; /* 15px de espacio entre filas y columnas */</a:t>
            </a:r>
            <a:br>
              <a:rPr lang="es-ES" b="1" dirty="0">
                <a:latin typeface="Courier New"/>
                <a:ea typeface="+mn-lt"/>
                <a:cs typeface="+mn-lt"/>
              </a:rPr>
            </a:br>
            <a:r>
              <a:rPr lang="es-ES" b="1" dirty="0">
                <a:latin typeface="Courier New"/>
                <a:ea typeface="+mn-lt"/>
                <a:cs typeface="+mn-lt"/>
              </a:rPr>
              <a:t>}</a:t>
            </a:r>
          </a:p>
          <a:p>
            <a:r>
              <a:rPr lang="es-ES" b="1" err="1">
                <a:latin typeface="Courier New"/>
                <a:ea typeface="+mn-lt"/>
                <a:cs typeface="+mn-lt"/>
              </a:rPr>
              <a:t>grid-template-areas</a:t>
            </a:r>
            <a:r>
              <a:rPr lang="es-ES" dirty="0">
                <a:ea typeface="+mn-lt"/>
                <a:cs typeface="+mn-lt"/>
              </a:rPr>
              <a:t>: Esta propiedad te permite crear un diseño de forma visual y semántica. Defines un mapa de la rejilla asignando nombres a las celdas y luego posicionas los elementos por nombre.</a:t>
            </a:r>
            <a:endParaRPr lang="es-ES" b="1" dirty="0">
              <a:latin typeface="Courier New"/>
              <a:ea typeface="+mn-lt"/>
              <a:cs typeface="+mn-lt"/>
            </a:endParaRPr>
          </a:p>
          <a:p>
            <a:pPr marL="0" indent="0">
              <a:buNone/>
            </a:pPr>
            <a:r>
              <a:rPr lang="es-ES" b="1" dirty="0">
                <a:latin typeface="Courier New"/>
                <a:ea typeface="+mn-lt"/>
                <a:cs typeface="+mn-lt"/>
              </a:rPr>
              <a:t>.contenedor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grid-template-areas</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header</a:t>
            </a:r>
            <a:r>
              <a:rPr lang="es-ES" b="1" dirty="0">
                <a:latin typeface="Courier New"/>
                <a:ea typeface="+mn-lt"/>
                <a:cs typeface="+mn-lt"/>
              </a:rPr>
              <a:t> </a:t>
            </a:r>
            <a:r>
              <a:rPr lang="es-ES" b="1" dirty="0" err="1">
                <a:latin typeface="Courier New"/>
                <a:ea typeface="+mn-lt"/>
                <a:cs typeface="+mn-lt"/>
              </a:rPr>
              <a:t>header</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sidebar</a:t>
            </a:r>
            <a:r>
              <a:rPr lang="es-ES" b="1" dirty="0">
                <a:latin typeface="Courier New"/>
                <a:ea typeface="+mn-lt"/>
                <a:cs typeface="+mn-lt"/>
              </a:rPr>
              <a:t> </a:t>
            </a:r>
            <a:r>
              <a:rPr lang="es-ES" b="1" dirty="0" err="1">
                <a:latin typeface="Courier New"/>
                <a:ea typeface="+mn-lt"/>
                <a:cs typeface="+mn-lt"/>
              </a:rPr>
              <a:t>main</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footer</a:t>
            </a:r>
            <a:r>
              <a:rPr lang="es-ES" b="1" dirty="0">
                <a:latin typeface="Courier New"/>
                <a:ea typeface="+mn-lt"/>
                <a:cs typeface="+mn-lt"/>
              </a:rPr>
              <a:t> </a:t>
            </a:r>
            <a:r>
              <a:rPr lang="es-ES" b="1" dirty="0" err="1">
                <a:latin typeface="Courier New"/>
                <a:ea typeface="+mn-lt"/>
                <a:cs typeface="+mn-lt"/>
              </a:rPr>
              <a:t>footer</a:t>
            </a:r>
            <a:r>
              <a:rPr lang="es-ES" b="1" dirty="0">
                <a:latin typeface="Courier New"/>
                <a:ea typeface="+mn-lt"/>
                <a:cs typeface="+mn-lt"/>
              </a:rPr>
              <a:t>";</a:t>
            </a:r>
            <a:br>
              <a:rPr lang="es-ES" b="1" dirty="0">
                <a:latin typeface="Courier New"/>
                <a:ea typeface="+mn-lt"/>
                <a:cs typeface="+mn-lt"/>
              </a:rPr>
            </a:br>
            <a:r>
              <a:rPr lang="es-ES" b="1" dirty="0">
                <a:latin typeface="Courier New"/>
                <a:cs typeface="Courier New"/>
              </a:rPr>
              <a:t>}</a:t>
            </a:r>
            <a:br>
              <a:rPr lang="es-ES" b="1" dirty="0">
                <a:latin typeface="Courier New"/>
              </a:rPr>
            </a:br>
            <a:r>
              <a:rPr lang="es-ES" b="1" dirty="0">
                <a:latin typeface="Courier New"/>
                <a:ea typeface="+mn-lt"/>
                <a:cs typeface="+mn-lt"/>
              </a:rPr>
              <a:t>.</a:t>
            </a:r>
            <a:r>
              <a:rPr lang="es-ES" b="1" dirty="0" err="1">
                <a:latin typeface="Courier New"/>
                <a:ea typeface="+mn-lt"/>
                <a:cs typeface="+mn-lt"/>
              </a:rPr>
              <a:t>item-header</a:t>
            </a: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grid-area</a:t>
            </a:r>
            <a:r>
              <a:rPr lang="es-ES" b="1" dirty="0">
                <a:latin typeface="Courier New"/>
                <a:ea typeface="+mn-lt"/>
                <a:cs typeface="+mn-lt"/>
              </a:rPr>
              <a:t>: </a:t>
            </a:r>
            <a:r>
              <a:rPr lang="es-ES" b="1" dirty="0" err="1">
                <a:latin typeface="Courier New"/>
                <a:ea typeface="+mn-lt"/>
                <a:cs typeface="+mn-lt"/>
              </a:rPr>
              <a:t>header</a:t>
            </a:r>
            <a:r>
              <a:rPr lang="es-ES" b="1" dirty="0">
                <a:latin typeface="Courier New"/>
                <a:ea typeface="+mn-lt"/>
                <a:cs typeface="+mn-lt"/>
              </a:rPr>
              <a:t>; /* Se posiciona en el área "</a:t>
            </a:r>
            <a:r>
              <a:rPr lang="es-ES" b="1" dirty="0" err="1">
                <a:latin typeface="Courier New"/>
                <a:ea typeface="+mn-lt"/>
                <a:cs typeface="+mn-lt"/>
              </a:rPr>
              <a:t>header</a:t>
            </a: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a:t>
            </a:r>
            <a:endParaRPr lang="es-ES" b="1" dirty="0">
              <a:latin typeface="Courier New"/>
              <a:cs typeface="Courier New"/>
            </a:endParaRPr>
          </a:p>
        </p:txBody>
      </p:sp>
    </p:spTree>
    <p:extLst>
      <p:ext uri="{BB962C8B-B14F-4D97-AF65-F5344CB8AC3E}">
        <p14:creationId xmlns:p14="http://schemas.microsoft.com/office/powerpoint/2010/main" val="3951153560"/>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6CCBFE-FD6D-1FEF-3389-FBF75B659DF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EA9C60C-F00E-F4B1-DF75-D1E07F1EF775}"/>
              </a:ext>
            </a:extLst>
          </p:cNvPr>
          <p:cNvSpPr>
            <a:spLocks noGrp="1"/>
          </p:cNvSpPr>
          <p:nvPr>
            <p:ph type="title"/>
          </p:nvPr>
        </p:nvSpPr>
        <p:spPr/>
        <p:txBody>
          <a:bodyPr/>
          <a:lstStyle/>
          <a:p>
            <a:r>
              <a:rPr lang="es-ES" b="0" dirty="0">
                <a:ea typeface="+mj-lt"/>
                <a:cs typeface="+mj-lt"/>
              </a:rPr>
              <a:t>2.3.3.2. Propiedades del contenedor (</a:t>
            </a:r>
            <a:r>
              <a:rPr lang="es-ES" b="0" dirty="0" err="1">
                <a:ea typeface="+mj-lt"/>
                <a:cs typeface="+mj-lt"/>
              </a:rPr>
              <a:t>grid-template-columns</a:t>
            </a:r>
            <a:r>
              <a:rPr lang="es-ES" b="0" dirty="0">
                <a:ea typeface="+mj-lt"/>
                <a:cs typeface="+mj-lt"/>
              </a:rPr>
              <a:t>, </a:t>
            </a:r>
            <a:r>
              <a:rPr lang="es-ES" b="0" dirty="0" err="1">
                <a:ea typeface="+mj-lt"/>
                <a:cs typeface="+mj-lt"/>
              </a:rPr>
              <a:t>grid-template-rows</a:t>
            </a:r>
            <a:r>
              <a:rPr lang="es-ES" b="0" dirty="0">
                <a:ea typeface="+mj-lt"/>
                <a:cs typeface="+mj-lt"/>
              </a:rPr>
              <a:t>, gap).</a:t>
            </a:r>
            <a:endParaRPr lang="es-ES" dirty="0"/>
          </a:p>
        </p:txBody>
      </p:sp>
      <p:sp>
        <p:nvSpPr>
          <p:cNvPr id="3" name="Marcador de contenido 2">
            <a:extLst>
              <a:ext uri="{FF2B5EF4-FFF2-40B4-BE49-F238E27FC236}">
                <a16:creationId xmlns:a16="http://schemas.microsoft.com/office/drawing/2014/main" id="{762B6AD9-59E9-7C95-E1E0-C1F40DC750E2}"/>
              </a:ext>
            </a:extLst>
          </p:cNvPr>
          <p:cNvSpPr>
            <a:spLocks noGrp="1"/>
          </p:cNvSpPr>
          <p:nvPr>
            <p:ph idx="1"/>
          </p:nvPr>
        </p:nvSpPr>
        <p:spPr/>
        <p:txBody>
          <a:bodyPr vert="horz" lIns="91440" tIns="45720" rIns="91440" bIns="45720" rtlCol="0" anchor="t">
            <a:normAutofit/>
          </a:bodyPr>
          <a:lstStyle/>
          <a:p>
            <a:r>
              <a:rPr lang="es-ES" b="1" err="1">
                <a:latin typeface="Courier New"/>
                <a:ea typeface="+mn-lt"/>
                <a:cs typeface="+mn-lt"/>
              </a:rPr>
              <a:t>justify-items</a:t>
            </a:r>
            <a:r>
              <a:rPr lang="es-ES" dirty="0">
                <a:ea typeface="+mn-lt"/>
                <a:cs typeface="+mn-lt"/>
              </a:rPr>
              <a:t> y </a:t>
            </a:r>
            <a:r>
              <a:rPr lang="es-ES" b="1" err="1">
                <a:latin typeface="Courier New"/>
                <a:ea typeface="+mn-lt"/>
                <a:cs typeface="+mn-lt"/>
              </a:rPr>
              <a:t>align-items</a:t>
            </a:r>
            <a:r>
              <a:rPr lang="es-ES" dirty="0">
                <a:ea typeface="+mn-lt"/>
                <a:cs typeface="+mn-lt"/>
              </a:rPr>
              <a:t>: Estas propiedades alinean el contenido dentro de cada celda de la rejilla.</a:t>
            </a:r>
          </a:p>
          <a:p>
            <a:pPr lvl="1">
              <a:buFont typeface="Courier New" panose="020B0604020202020204" pitchFamily="34" charset="0"/>
              <a:buChar char="o"/>
            </a:pPr>
            <a:r>
              <a:rPr lang="es-ES" b="1" err="1">
                <a:latin typeface="Courier New"/>
                <a:ea typeface="+mn-lt"/>
                <a:cs typeface="+mn-lt"/>
              </a:rPr>
              <a:t>justify-items</a:t>
            </a:r>
            <a:r>
              <a:rPr lang="es-ES" dirty="0">
                <a:ea typeface="+mn-lt"/>
                <a:cs typeface="+mn-lt"/>
              </a:rPr>
              <a:t>: Alinea el contenido a lo largo del eje de la columna.</a:t>
            </a:r>
          </a:p>
          <a:p>
            <a:pPr lvl="1">
              <a:buFont typeface="Courier New" panose="020B0604020202020204" pitchFamily="34" charset="0"/>
              <a:buChar char="o"/>
            </a:pPr>
            <a:r>
              <a:rPr lang="es-ES" b="1" err="1">
                <a:latin typeface="Courier New"/>
                <a:ea typeface="+mn-lt"/>
                <a:cs typeface="+mn-lt"/>
              </a:rPr>
              <a:t>align-items</a:t>
            </a:r>
            <a:r>
              <a:rPr lang="es-ES" dirty="0">
                <a:ea typeface="+mn-lt"/>
                <a:cs typeface="+mn-lt"/>
              </a:rPr>
              <a:t>: Alinea el contenido a lo largo del eje de la fila.</a:t>
            </a:r>
          </a:p>
          <a:p>
            <a:r>
              <a:rPr lang="es-ES" dirty="0">
                <a:ea typeface="+mn-lt"/>
                <a:cs typeface="+mn-lt"/>
              </a:rPr>
              <a:t>Valores comunes para ambas: </a:t>
            </a:r>
            <a:r>
              <a:rPr lang="es-ES" dirty="0" err="1">
                <a:ea typeface="+mn-lt"/>
                <a:cs typeface="+mn-lt"/>
              </a:rPr>
              <a:t>start</a:t>
            </a:r>
            <a:r>
              <a:rPr lang="es-ES" dirty="0">
                <a:ea typeface="+mn-lt"/>
                <a:cs typeface="+mn-lt"/>
              </a:rPr>
              <a:t>, </a:t>
            </a:r>
            <a:r>
              <a:rPr lang="es-ES" dirty="0" err="1">
                <a:ea typeface="+mn-lt"/>
                <a:cs typeface="+mn-lt"/>
              </a:rPr>
              <a:t>end</a:t>
            </a:r>
            <a:r>
              <a:rPr lang="es-ES" dirty="0">
                <a:ea typeface="+mn-lt"/>
                <a:cs typeface="+mn-lt"/>
              </a:rPr>
              <a:t>, center, </a:t>
            </a:r>
            <a:r>
              <a:rPr lang="es-ES" dirty="0" err="1">
                <a:ea typeface="+mn-lt"/>
                <a:cs typeface="+mn-lt"/>
              </a:rPr>
              <a:t>stretch</a:t>
            </a:r>
            <a:r>
              <a:rPr lang="es-ES" dirty="0">
                <a:ea typeface="+mn-lt"/>
                <a:cs typeface="+mn-lt"/>
              </a:rPr>
              <a:t>.</a:t>
            </a:r>
          </a:p>
          <a:p>
            <a:pPr marL="0" indent="0">
              <a:buNone/>
            </a:pPr>
            <a:r>
              <a:rPr lang="es-ES" b="1" dirty="0">
                <a:latin typeface="Courier New"/>
                <a:ea typeface="+mn-lt"/>
                <a:cs typeface="+mn-lt"/>
              </a:rPr>
              <a:t>.contenedor {</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justify-items</a:t>
            </a:r>
            <a:r>
              <a:rPr lang="es-ES" b="1" dirty="0">
                <a:latin typeface="Courier New"/>
                <a:ea typeface="+mn-lt"/>
                <a:cs typeface="+mn-lt"/>
              </a:rPr>
              <a:t>: center; /* Centra el contenido horizontalmente en cada celda */</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align-items</a:t>
            </a:r>
            <a:r>
              <a:rPr lang="es-ES" b="1" dirty="0">
                <a:latin typeface="Courier New"/>
                <a:ea typeface="+mn-lt"/>
                <a:cs typeface="+mn-lt"/>
              </a:rPr>
              <a:t>: center; /* Centra el contenido verticalmente en cada celda */</a:t>
            </a:r>
            <a:br>
              <a:rPr lang="es-ES" b="1" dirty="0">
                <a:latin typeface="Courier New"/>
                <a:ea typeface="+mn-lt"/>
                <a:cs typeface="+mn-lt"/>
              </a:rPr>
            </a:br>
            <a:r>
              <a:rPr lang="es-ES" b="1" dirty="0">
                <a:latin typeface="Courier New"/>
                <a:ea typeface="+mn-lt"/>
                <a:cs typeface="+mn-lt"/>
              </a:rPr>
              <a:t>}</a:t>
            </a:r>
            <a:endParaRPr lang="es-ES" dirty="0">
              <a:ea typeface="+mn-lt"/>
              <a:cs typeface="+mn-lt"/>
            </a:endParaRPr>
          </a:p>
        </p:txBody>
      </p:sp>
    </p:spTree>
    <p:extLst>
      <p:ext uri="{BB962C8B-B14F-4D97-AF65-F5344CB8AC3E}">
        <p14:creationId xmlns:p14="http://schemas.microsoft.com/office/powerpoint/2010/main" val="3609633336"/>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7BFB52-7D51-C4B7-5604-381E7906C6C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C0D84F3-9FB6-FD59-CDD2-2C108CF39877}"/>
              </a:ext>
            </a:extLst>
          </p:cNvPr>
          <p:cNvSpPr>
            <a:spLocks noGrp="1"/>
          </p:cNvSpPr>
          <p:nvPr>
            <p:ph type="title"/>
          </p:nvPr>
        </p:nvSpPr>
        <p:spPr/>
        <p:txBody>
          <a:bodyPr/>
          <a:lstStyle/>
          <a:p>
            <a:r>
              <a:rPr lang="es-ES" b="0" dirty="0">
                <a:ea typeface="+mj-lt"/>
                <a:cs typeface="+mj-lt"/>
              </a:rPr>
              <a:t>2.3.3.3. Posicionamiento de elementos (</a:t>
            </a:r>
            <a:r>
              <a:rPr lang="es-ES" b="0" dirty="0" err="1">
                <a:ea typeface="+mj-lt"/>
                <a:cs typeface="+mj-lt"/>
              </a:rPr>
              <a:t>grid-column</a:t>
            </a:r>
            <a:r>
              <a:rPr lang="es-ES" b="0" dirty="0">
                <a:ea typeface="+mj-lt"/>
                <a:cs typeface="+mj-lt"/>
              </a:rPr>
              <a:t>, </a:t>
            </a:r>
            <a:r>
              <a:rPr lang="es-ES" b="0" dirty="0" err="1">
                <a:ea typeface="+mj-lt"/>
                <a:cs typeface="+mj-lt"/>
              </a:rPr>
              <a:t>grid-row</a:t>
            </a:r>
            <a:r>
              <a:rPr lang="es-ES" b="0" dirty="0">
                <a:ea typeface="+mj-lt"/>
                <a:cs typeface="+mj-lt"/>
              </a:rPr>
              <a:t>).</a:t>
            </a:r>
            <a:endParaRPr lang="es-ES" dirty="0"/>
          </a:p>
        </p:txBody>
      </p:sp>
      <p:sp>
        <p:nvSpPr>
          <p:cNvPr id="3" name="Marcador de contenido 2">
            <a:extLst>
              <a:ext uri="{FF2B5EF4-FFF2-40B4-BE49-F238E27FC236}">
                <a16:creationId xmlns:a16="http://schemas.microsoft.com/office/drawing/2014/main" id="{027F6D5D-0E2B-FBBC-79D8-4235025C1AD4}"/>
              </a:ext>
            </a:extLst>
          </p:cNvPr>
          <p:cNvSpPr>
            <a:spLocks noGrp="1"/>
          </p:cNvSpPr>
          <p:nvPr>
            <p:ph idx="1"/>
          </p:nvPr>
        </p:nvSpPr>
        <p:spPr/>
        <p:txBody>
          <a:bodyPr vert="horz" lIns="91440" tIns="45720" rIns="91440" bIns="45720" rtlCol="0" anchor="t">
            <a:normAutofit lnSpcReduction="10000"/>
          </a:bodyPr>
          <a:lstStyle/>
          <a:p>
            <a:r>
              <a:rPr lang="es-ES" dirty="0">
                <a:ea typeface="+mn-lt"/>
                <a:cs typeface="+mn-lt"/>
              </a:rPr>
              <a:t>Las propiedades de los elementos de la rejilla te permiten posicionar y dimensionar elementos individuales dentro del Contenedor de la Rejilla. A diferencia de las propiedades del contenedor, que definen la estructura global, estas propiedades te dan un control preciso sobre la ubicación de cada elemento hijo.</a:t>
            </a:r>
            <a:endParaRPr lang="es-ES" dirty="0"/>
          </a:p>
          <a:p>
            <a:r>
              <a:rPr lang="es-ES" dirty="0">
                <a:ea typeface="+mn-lt"/>
                <a:cs typeface="+mn-lt"/>
              </a:rPr>
              <a:t>Posicionamiento por líneas: Cada rejilla tiene líneas numeradas que dividen las columnas y filas. Puedes usar estas líneas para definir dónde debe empezar y terminar un elemento.</a:t>
            </a:r>
            <a:endParaRPr lang="es-ES" dirty="0"/>
          </a:p>
          <a:p>
            <a:pPr lvl="1">
              <a:buFont typeface="Courier New" panose="020B0604020202020204" pitchFamily="34" charset="0"/>
              <a:buChar char="o"/>
            </a:pPr>
            <a:r>
              <a:rPr lang="es-ES" dirty="0" err="1">
                <a:ea typeface="+mn-lt"/>
                <a:cs typeface="+mn-lt"/>
              </a:rPr>
              <a:t>grid-column-start</a:t>
            </a:r>
            <a:r>
              <a:rPr lang="es-ES" dirty="0">
                <a:ea typeface="+mn-lt"/>
                <a:cs typeface="+mn-lt"/>
              </a:rPr>
              <a:t>: Define la línea de columna donde el elemento debe empezar.</a:t>
            </a:r>
            <a:endParaRPr lang="es-ES" dirty="0"/>
          </a:p>
          <a:p>
            <a:pPr lvl="1">
              <a:buFont typeface="Courier New" panose="020B0604020202020204" pitchFamily="34" charset="0"/>
              <a:buChar char="o"/>
            </a:pPr>
            <a:r>
              <a:rPr lang="es-ES" dirty="0" err="1">
                <a:ea typeface="+mn-lt"/>
                <a:cs typeface="+mn-lt"/>
              </a:rPr>
              <a:t>grid-column-end</a:t>
            </a:r>
            <a:r>
              <a:rPr lang="es-ES" dirty="0">
                <a:ea typeface="+mn-lt"/>
                <a:cs typeface="+mn-lt"/>
              </a:rPr>
              <a:t>: Define la línea de columna donde el elemento debe terminar.</a:t>
            </a:r>
            <a:endParaRPr lang="es-ES" dirty="0"/>
          </a:p>
          <a:p>
            <a:pPr lvl="1">
              <a:buFont typeface="Courier New" panose="020B0604020202020204" pitchFamily="34" charset="0"/>
              <a:buChar char="o"/>
            </a:pPr>
            <a:r>
              <a:rPr lang="es-ES" dirty="0" err="1">
                <a:ea typeface="+mn-lt"/>
                <a:cs typeface="+mn-lt"/>
              </a:rPr>
              <a:t>grid-row-start</a:t>
            </a:r>
            <a:r>
              <a:rPr lang="es-ES" dirty="0">
                <a:ea typeface="+mn-lt"/>
                <a:cs typeface="+mn-lt"/>
              </a:rPr>
              <a:t>: Define la línea de fila donde el elemento debe empezar.</a:t>
            </a:r>
            <a:endParaRPr lang="es-ES" dirty="0"/>
          </a:p>
          <a:p>
            <a:pPr lvl="1">
              <a:buFont typeface="Courier New" panose="020B0604020202020204" pitchFamily="34" charset="0"/>
              <a:buChar char="o"/>
            </a:pPr>
            <a:r>
              <a:rPr lang="es-ES" dirty="0" err="1">
                <a:ea typeface="+mn-lt"/>
                <a:cs typeface="+mn-lt"/>
              </a:rPr>
              <a:t>grid-row-end</a:t>
            </a:r>
            <a:r>
              <a:rPr lang="es-ES" dirty="0">
                <a:ea typeface="+mn-lt"/>
                <a:cs typeface="+mn-lt"/>
              </a:rPr>
              <a:t>: Define la línea de fila donde el elemento debe terminar.</a:t>
            </a:r>
            <a:endParaRPr lang="es-ES"/>
          </a:p>
          <a:p>
            <a:r>
              <a:rPr lang="es-ES" dirty="0">
                <a:ea typeface="+mn-lt"/>
                <a:cs typeface="+mn-lt"/>
              </a:rPr>
              <a:t>Estas propiedades se pueden abreviar con </a:t>
            </a:r>
            <a:r>
              <a:rPr lang="es-ES" dirty="0" err="1">
                <a:ea typeface="+mn-lt"/>
                <a:cs typeface="+mn-lt"/>
              </a:rPr>
              <a:t>grid-column</a:t>
            </a:r>
            <a:r>
              <a:rPr lang="es-ES" dirty="0">
                <a:ea typeface="+mn-lt"/>
                <a:cs typeface="+mn-lt"/>
              </a:rPr>
              <a:t> y </a:t>
            </a:r>
            <a:r>
              <a:rPr lang="es-ES" dirty="0" err="1">
                <a:ea typeface="+mn-lt"/>
                <a:cs typeface="+mn-lt"/>
              </a:rPr>
              <a:t>grid-row</a:t>
            </a:r>
            <a:r>
              <a:rPr lang="es-ES" dirty="0">
                <a:ea typeface="+mn-lt"/>
                <a:cs typeface="+mn-lt"/>
              </a:rPr>
              <a:t>, que aceptan los valores de inicio y fin separados por una barra diagonal (/).</a:t>
            </a:r>
            <a:endParaRPr lang="es-ES" dirty="0"/>
          </a:p>
        </p:txBody>
      </p:sp>
    </p:spTree>
    <p:extLst>
      <p:ext uri="{BB962C8B-B14F-4D97-AF65-F5344CB8AC3E}">
        <p14:creationId xmlns:p14="http://schemas.microsoft.com/office/powerpoint/2010/main" val="3665200030"/>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80735-004A-024E-2899-7ECE3A786DA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B4E81D9-F35E-EB45-C82D-6765763BCADC}"/>
              </a:ext>
            </a:extLst>
          </p:cNvPr>
          <p:cNvSpPr>
            <a:spLocks noGrp="1"/>
          </p:cNvSpPr>
          <p:nvPr>
            <p:ph type="title"/>
          </p:nvPr>
        </p:nvSpPr>
        <p:spPr/>
        <p:txBody>
          <a:bodyPr/>
          <a:lstStyle/>
          <a:p>
            <a:r>
              <a:rPr lang="es-ES" b="0" dirty="0">
                <a:ea typeface="+mj-lt"/>
                <a:cs typeface="+mj-lt"/>
              </a:rPr>
              <a:t>2.3.3.3. Posicionamiento de elementos (</a:t>
            </a:r>
            <a:r>
              <a:rPr lang="es-ES" b="0" dirty="0" err="1">
                <a:ea typeface="+mj-lt"/>
                <a:cs typeface="+mj-lt"/>
              </a:rPr>
              <a:t>grid-column</a:t>
            </a:r>
            <a:r>
              <a:rPr lang="es-ES" b="0" dirty="0">
                <a:ea typeface="+mj-lt"/>
                <a:cs typeface="+mj-lt"/>
              </a:rPr>
              <a:t>, </a:t>
            </a:r>
            <a:r>
              <a:rPr lang="es-ES" b="0" dirty="0" err="1">
                <a:ea typeface="+mj-lt"/>
                <a:cs typeface="+mj-lt"/>
              </a:rPr>
              <a:t>grid-row</a:t>
            </a:r>
            <a:r>
              <a:rPr lang="es-ES" b="0" dirty="0">
                <a:ea typeface="+mj-lt"/>
                <a:cs typeface="+mj-lt"/>
              </a:rPr>
              <a:t>).</a:t>
            </a:r>
            <a:endParaRPr lang="es-ES" dirty="0"/>
          </a:p>
        </p:txBody>
      </p:sp>
      <p:sp>
        <p:nvSpPr>
          <p:cNvPr id="3" name="Marcador de contenido 2">
            <a:extLst>
              <a:ext uri="{FF2B5EF4-FFF2-40B4-BE49-F238E27FC236}">
                <a16:creationId xmlns:a16="http://schemas.microsoft.com/office/drawing/2014/main" id="{C407B49D-80AF-BDB5-BA7B-C71AE05A9804}"/>
              </a:ext>
            </a:extLst>
          </p:cNvPr>
          <p:cNvSpPr>
            <a:spLocks noGrp="1"/>
          </p:cNvSpPr>
          <p:nvPr>
            <p:ph idx="1"/>
          </p:nvPr>
        </p:nvSpPr>
        <p:spPr/>
        <p:txBody>
          <a:bodyPr vert="horz" lIns="91440" tIns="45720" rIns="91440" bIns="45720" rtlCol="0" anchor="t">
            <a:normAutofit/>
          </a:bodyPr>
          <a:lstStyle/>
          <a:p>
            <a:r>
              <a:rPr lang="es-ES" dirty="0">
                <a:ea typeface="+mn-lt"/>
                <a:cs typeface="+mn-lt"/>
              </a:rPr>
              <a:t>Ejemplo:</a:t>
            </a:r>
          </a:p>
          <a:p>
            <a:pPr marL="0" indent="0">
              <a:buNone/>
            </a:pPr>
            <a:r>
              <a:rPr lang="es-ES" b="1" dirty="0">
                <a:latin typeface="Courier New"/>
                <a:ea typeface="+mn-lt"/>
                <a:cs typeface="+mn-lt"/>
              </a:rPr>
              <a:t>.item1 {</a:t>
            </a:r>
            <a:br>
              <a:rPr lang="es-ES" b="1" dirty="0">
                <a:latin typeface="Courier New"/>
                <a:ea typeface="+mn-lt"/>
                <a:cs typeface="+mn-lt"/>
              </a:rPr>
            </a:br>
            <a:r>
              <a:rPr lang="es-ES" b="1" dirty="0">
                <a:latin typeface="Courier New"/>
                <a:ea typeface="+mn-lt"/>
                <a:cs typeface="+mn-lt"/>
              </a:rPr>
              <a:t>  /* Empieza en la línea 1 y termina en la línea 3 (ocupa 2 columnas)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grid-column</a:t>
            </a:r>
            <a:r>
              <a:rPr lang="es-ES" b="1" dirty="0">
                <a:latin typeface="Courier New"/>
                <a:ea typeface="+mn-lt"/>
                <a:cs typeface="+mn-lt"/>
              </a:rPr>
              <a:t>: 1 / 3;</a:t>
            </a:r>
            <a:br>
              <a:rPr lang="es-ES" b="1" dirty="0">
                <a:latin typeface="Courier New"/>
                <a:ea typeface="+mn-lt"/>
                <a:cs typeface="+mn-lt"/>
              </a:rPr>
            </a:b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.item2 {</a:t>
            </a:r>
            <a:br>
              <a:rPr lang="es-ES" b="1" dirty="0">
                <a:latin typeface="Courier New"/>
                <a:ea typeface="+mn-lt"/>
                <a:cs typeface="+mn-lt"/>
              </a:rPr>
            </a:br>
            <a:r>
              <a:rPr lang="es-ES" b="1" dirty="0">
                <a:latin typeface="Courier New"/>
                <a:ea typeface="+mn-lt"/>
                <a:cs typeface="+mn-lt"/>
              </a:rPr>
              <a:t>  /* Empieza en la línea 2 y termina en la línea 4 (ocupa 2 filas)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grid-row</a:t>
            </a:r>
            <a:r>
              <a:rPr lang="es-ES" b="1" dirty="0">
                <a:latin typeface="Courier New"/>
                <a:ea typeface="+mn-lt"/>
                <a:cs typeface="+mn-lt"/>
              </a:rPr>
              <a:t>: 2 / 4;</a:t>
            </a:r>
            <a:br>
              <a:rPr lang="es-ES" b="1" dirty="0">
                <a:latin typeface="Courier New"/>
                <a:ea typeface="+mn-lt"/>
                <a:cs typeface="+mn-lt"/>
              </a:rPr>
            </a:br>
            <a:r>
              <a:rPr lang="es-ES" b="1" dirty="0">
                <a:latin typeface="Courier New"/>
                <a:ea typeface="+mn-lt"/>
                <a:cs typeface="+mn-lt"/>
              </a:rPr>
              <a:t>}</a:t>
            </a:r>
            <a:endParaRPr lang="es-ES" b="1" dirty="0">
              <a:latin typeface="Courier New"/>
            </a:endParaRPr>
          </a:p>
          <a:p>
            <a:endParaRPr lang="es-ES" dirty="0"/>
          </a:p>
        </p:txBody>
      </p:sp>
    </p:spTree>
    <p:extLst>
      <p:ext uri="{BB962C8B-B14F-4D97-AF65-F5344CB8AC3E}">
        <p14:creationId xmlns:p14="http://schemas.microsoft.com/office/powerpoint/2010/main" val="531134866"/>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49C95E-20D7-4A74-B14F-41E71D33224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EC67EFA-4A0E-6C74-AC49-59B6EE92BD68}"/>
              </a:ext>
            </a:extLst>
          </p:cNvPr>
          <p:cNvSpPr>
            <a:spLocks noGrp="1"/>
          </p:cNvSpPr>
          <p:nvPr>
            <p:ph type="title"/>
          </p:nvPr>
        </p:nvSpPr>
        <p:spPr/>
        <p:txBody>
          <a:bodyPr/>
          <a:lstStyle/>
          <a:p>
            <a:r>
              <a:rPr lang="es-ES" b="0" dirty="0">
                <a:ea typeface="+mj-lt"/>
                <a:cs typeface="+mj-lt"/>
              </a:rPr>
              <a:t>2.3.3.3. Posicionamiento de elementos (</a:t>
            </a:r>
            <a:r>
              <a:rPr lang="es-ES" b="0" dirty="0" err="1">
                <a:ea typeface="+mj-lt"/>
                <a:cs typeface="+mj-lt"/>
              </a:rPr>
              <a:t>grid-column</a:t>
            </a:r>
            <a:r>
              <a:rPr lang="es-ES" b="0" dirty="0">
                <a:ea typeface="+mj-lt"/>
                <a:cs typeface="+mj-lt"/>
              </a:rPr>
              <a:t>, </a:t>
            </a:r>
            <a:r>
              <a:rPr lang="es-ES" b="0" dirty="0" err="1">
                <a:ea typeface="+mj-lt"/>
                <a:cs typeface="+mj-lt"/>
              </a:rPr>
              <a:t>grid-row</a:t>
            </a:r>
            <a:r>
              <a:rPr lang="es-ES" b="0" dirty="0">
                <a:ea typeface="+mj-lt"/>
                <a:cs typeface="+mj-lt"/>
              </a:rPr>
              <a:t>).</a:t>
            </a:r>
            <a:endParaRPr lang="es-ES" dirty="0"/>
          </a:p>
        </p:txBody>
      </p:sp>
      <p:sp>
        <p:nvSpPr>
          <p:cNvPr id="3" name="Marcador de contenido 2">
            <a:extLst>
              <a:ext uri="{FF2B5EF4-FFF2-40B4-BE49-F238E27FC236}">
                <a16:creationId xmlns:a16="http://schemas.microsoft.com/office/drawing/2014/main" id="{A975E967-2510-3D37-24BC-44F47584BADF}"/>
              </a:ext>
            </a:extLst>
          </p:cNvPr>
          <p:cNvSpPr>
            <a:spLocks noGrp="1"/>
          </p:cNvSpPr>
          <p:nvPr>
            <p:ph idx="1"/>
          </p:nvPr>
        </p:nvSpPr>
        <p:spPr/>
        <p:txBody>
          <a:bodyPr vert="horz" lIns="91440" tIns="45720" rIns="91440" bIns="45720" rtlCol="0" anchor="t">
            <a:normAutofit fontScale="70000" lnSpcReduction="20000"/>
          </a:bodyPr>
          <a:lstStyle/>
          <a:p>
            <a:r>
              <a:rPr lang="es-ES" dirty="0">
                <a:ea typeface="+mn-lt"/>
                <a:cs typeface="+mn-lt"/>
              </a:rPr>
              <a:t>Posicionamiento por áreas: Si has definido áreas con </a:t>
            </a:r>
            <a:r>
              <a:rPr lang="es-ES" dirty="0" err="1">
                <a:ea typeface="+mn-lt"/>
                <a:cs typeface="+mn-lt"/>
              </a:rPr>
              <a:t>grid-template-areas</a:t>
            </a:r>
            <a:r>
              <a:rPr lang="es-ES" dirty="0">
                <a:ea typeface="+mn-lt"/>
                <a:cs typeface="+mn-lt"/>
              </a:rPr>
              <a:t> en el contenedor, puedes posicionar los elementos directamente por el nombre del área con la propiedad </a:t>
            </a:r>
            <a:r>
              <a:rPr lang="es-ES" dirty="0" err="1">
                <a:ea typeface="+mn-lt"/>
                <a:cs typeface="+mn-lt"/>
              </a:rPr>
              <a:t>grid-area</a:t>
            </a:r>
            <a:r>
              <a:rPr lang="es-ES" dirty="0">
                <a:ea typeface="+mn-lt"/>
                <a:cs typeface="+mn-lt"/>
              </a:rPr>
              <a:t>. Esto es ideal para </a:t>
            </a:r>
            <a:r>
              <a:rPr lang="es-ES" dirty="0" err="1">
                <a:ea typeface="+mn-lt"/>
                <a:cs typeface="+mn-lt"/>
              </a:rPr>
              <a:t>layouts</a:t>
            </a:r>
            <a:r>
              <a:rPr lang="es-ES" dirty="0">
                <a:ea typeface="+mn-lt"/>
                <a:cs typeface="+mn-lt"/>
              </a:rPr>
              <a:t> complejos, ya que hace el código más legible.</a:t>
            </a:r>
            <a:endParaRPr lang="es-ES"/>
          </a:p>
          <a:p>
            <a:r>
              <a:rPr lang="es-ES" dirty="0">
                <a:ea typeface="+mn-lt"/>
                <a:cs typeface="+mn-lt"/>
              </a:rPr>
              <a:t>Ejemplo:</a:t>
            </a:r>
          </a:p>
          <a:p>
            <a:pPr marL="0" indent="0">
              <a:buNone/>
            </a:pPr>
            <a:r>
              <a:rPr lang="es-ES" b="1" dirty="0">
                <a:latin typeface="Courier New"/>
                <a:ea typeface="+mn-lt"/>
                <a:cs typeface="+mn-lt"/>
              </a:rPr>
              <a:t>&lt;</a:t>
            </a:r>
            <a:r>
              <a:rPr lang="es-ES" b="1" dirty="0" err="1">
                <a:latin typeface="Courier New"/>
                <a:ea typeface="+mn-lt"/>
                <a:cs typeface="+mn-lt"/>
              </a:rPr>
              <a:t>div</a:t>
            </a:r>
            <a:r>
              <a:rPr lang="es-ES" b="1" dirty="0">
                <a:latin typeface="Courier New"/>
                <a:ea typeface="+mn-lt"/>
                <a:cs typeface="+mn-lt"/>
              </a:rPr>
              <a:t> </a:t>
            </a:r>
            <a:r>
              <a:rPr lang="es-ES" b="1" dirty="0" err="1">
                <a:latin typeface="Courier New"/>
                <a:ea typeface="+mn-lt"/>
                <a:cs typeface="+mn-lt"/>
              </a:rPr>
              <a:t>class</a:t>
            </a:r>
            <a:r>
              <a:rPr lang="es-ES" b="1" dirty="0">
                <a:latin typeface="Courier New"/>
                <a:ea typeface="+mn-lt"/>
                <a:cs typeface="+mn-lt"/>
              </a:rPr>
              <a:t>="contenedor"&gt;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header</a:t>
            </a:r>
            <a:r>
              <a:rPr lang="es-ES" b="1" dirty="0">
                <a:latin typeface="Courier New"/>
                <a:ea typeface="+mn-lt"/>
                <a:cs typeface="+mn-lt"/>
              </a:rPr>
              <a:t> </a:t>
            </a:r>
            <a:r>
              <a:rPr lang="es-ES" b="1" dirty="0" err="1">
                <a:latin typeface="Courier New"/>
                <a:ea typeface="+mn-lt"/>
                <a:cs typeface="+mn-lt"/>
              </a:rPr>
              <a:t>class</a:t>
            </a:r>
            <a:r>
              <a:rPr lang="es-ES" b="1" dirty="0">
                <a:latin typeface="Courier New"/>
                <a:ea typeface="+mn-lt"/>
                <a:cs typeface="+mn-lt"/>
              </a:rPr>
              <a:t>="</a:t>
            </a:r>
            <a:r>
              <a:rPr lang="es-ES" b="1" dirty="0" err="1">
                <a:latin typeface="Courier New"/>
                <a:ea typeface="+mn-lt"/>
                <a:cs typeface="+mn-lt"/>
              </a:rPr>
              <a:t>header</a:t>
            </a:r>
            <a:r>
              <a:rPr lang="es-ES" b="1" dirty="0">
                <a:latin typeface="Courier New"/>
                <a:ea typeface="+mn-lt"/>
                <a:cs typeface="+mn-lt"/>
              </a:rPr>
              <a:t>"&gt;...&lt;/</a:t>
            </a:r>
            <a:r>
              <a:rPr lang="es-ES" b="1" dirty="0" err="1">
                <a:latin typeface="Courier New"/>
                <a:ea typeface="+mn-lt"/>
                <a:cs typeface="+mn-lt"/>
              </a:rPr>
              <a:t>header</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main</a:t>
            </a:r>
            <a:r>
              <a:rPr lang="es-ES" b="1" dirty="0">
                <a:latin typeface="Courier New"/>
                <a:ea typeface="+mn-lt"/>
                <a:cs typeface="+mn-lt"/>
              </a:rPr>
              <a:t> </a:t>
            </a:r>
            <a:r>
              <a:rPr lang="es-ES" b="1" dirty="0" err="1">
                <a:latin typeface="Courier New"/>
                <a:ea typeface="+mn-lt"/>
                <a:cs typeface="+mn-lt"/>
              </a:rPr>
              <a:t>class</a:t>
            </a:r>
            <a:r>
              <a:rPr lang="es-ES" b="1" dirty="0">
                <a:latin typeface="Courier New"/>
                <a:ea typeface="+mn-lt"/>
                <a:cs typeface="+mn-lt"/>
              </a:rPr>
              <a:t>="</a:t>
            </a:r>
            <a:r>
              <a:rPr lang="es-ES" b="1" dirty="0" err="1">
                <a:latin typeface="Courier New"/>
                <a:ea typeface="+mn-lt"/>
                <a:cs typeface="+mn-lt"/>
              </a:rPr>
              <a:t>main</a:t>
            </a:r>
            <a:r>
              <a:rPr lang="es-ES" b="1" dirty="0">
                <a:latin typeface="Courier New"/>
                <a:ea typeface="+mn-lt"/>
                <a:cs typeface="+mn-lt"/>
              </a:rPr>
              <a:t>"&gt;...&lt;/</a:t>
            </a:r>
            <a:r>
              <a:rPr lang="es-ES" b="1" dirty="0" err="1">
                <a:latin typeface="Courier New"/>
                <a:ea typeface="+mn-lt"/>
                <a:cs typeface="+mn-lt"/>
              </a:rPr>
              <a:t>main</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&lt;/</a:t>
            </a:r>
            <a:r>
              <a:rPr lang="es-ES" b="1" dirty="0" err="1">
                <a:latin typeface="Courier New"/>
                <a:ea typeface="+mn-lt"/>
                <a:cs typeface="+mn-lt"/>
              </a:rPr>
              <a:t>div</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.contenedor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display</a:t>
            </a:r>
            <a:r>
              <a:rPr lang="es-ES" b="1" dirty="0">
                <a:latin typeface="Courier New"/>
                <a:ea typeface="+mn-lt"/>
                <a:cs typeface="+mn-lt"/>
              </a:rPr>
              <a:t>: </a:t>
            </a:r>
            <a:r>
              <a:rPr lang="es-ES" b="1" dirty="0" err="1">
                <a:latin typeface="Courier New"/>
                <a:ea typeface="+mn-lt"/>
                <a:cs typeface="+mn-lt"/>
              </a:rPr>
              <a:t>grid</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grid-template-areas</a:t>
            </a:r>
            <a:r>
              <a:rPr lang="es-ES" b="1" dirty="0">
                <a:latin typeface="Courier New"/>
                <a:ea typeface="+mn-lt"/>
                <a:cs typeface="+mn-lt"/>
              </a:rPr>
              <a:t>: "</a:t>
            </a:r>
            <a:r>
              <a:rPr lang="es-ES" b="1" dirty="0" err="1">
                <a:latin typeface="Courier New"/>
                <a:ea typeface="+mn-lt"/>
                <a:cs typeface="+mn-lt"/>
              </a:rPr>
              <a:t>header</a:t>
            </a:r>
            <a:r>
              <a:rPr lang="es-ES" b="1" dirty="0">
                <a:latin typeface="Courier New"/>
                <a:ea typeface="+mn-lt"/>
                <a:cs typeface="+mn-lt"/>
              </a:rPr>
              <a:t> </a:t>
            </a:r>
            <a:r>
              <a:rPr lang="es-ES" b="1" dirty="0" err="1">
                <a:latin typeface="Courier New"/>
                <a:ea typeface="+mn-lt"/>
                <a:cs typeface="+mn-lt"/>
              </a:rPr>
              <a:t>header</a:t>
            </a:r>
            <a:r>
              <a:rPr lang="es-ES" b="1" dirty="0">
                <a:latin typeface="Courier New"/>
                <a:ea typeface="+mn-lt"/>
                <a:cs typeface="+mn-lt"/>
              </a:rPr>
              <a:t>" "</a:t>
            </a:r>
            <a:r>
              <a:rPr lang="es-ES" b="1" dirty="0" err="1">
                <a:latin typeface="Courier New"/>
                <a:ea typeface="+mn-lt"/>
                <a:cs typeface="+mn-lt"/>
              </a:rPr>
              <a:t>main</a:t>
            </a:r>
            <a:r>
              <a:rPr lang="es-ES" b="1" dirty="0">
                <a:latin typeface="Courier New"/>
                <a:ea typeface="+mn-lt"/>
                <a:cs typeface="+mn-lt"/>
              </a:rPr>
              <a:t> </a:t>
            </a:r>
            <a:r>
              <a:rPr lang="es-ES" b="1" dirty="0" err="1">
                <a:latin typeface="Courier New"/>
                <a:ea typeface="+mn-lt"/>
                <a:cs typeface="+mn-lt"/>
              </a:rPr>
              <a:t>main</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a:t>
            </a:r>
            <a:r>
              <a:rPr lang="es-ES" b="1" dirty="0" err="1">
                <a:latin typeface="Courier New"/>
                <a:ea typeface="+mn-lt"/>
                <a:cs typeface="+mn-lt"/>
              </a:rPr>
              <a:t>header</a:t>
            </a: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 Se posiciona en el área nombrada "</a:t>
            </a:r>
            <a:r>
              <a:rPr lang="es-ES" b="1" dirty="0" err="1">
                <a:latin typeface="Courier New"/>
                <a:ea typeface="+mn-lt"/>
                <a:cs typeface="+mn-lt"/>
              </a:rPr>
              <a:t>header</a:t>
            </a: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grid-area</a:t>
            </a:r>
            <a:r>
              <a:rPr lang="es-ES" b="1" dirty="0">
                <a:latin typeface="Courier New"/>
                <a:ea typeface="+mn-lt"/>
                <a:cs typeface="+mn-lt"/>
              </a:rPr>
              <a:t>: </a:t>
            </a:r>
            <a:r>
              <a:rPr lang="es-ES" b="1" dirty="0" err="1">
                <a:latin typeface="Courier New"/>
                <a:ea typeface="+mn-lt"/>
                <a:cs typeface="+mn-lt"/>
              </a:rPr>
              <a:t>header</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a:t>
            </a:r>
            <a:r>
              <a:rPr lang="es-ES" b="1" dirty="0" err="1">
                <a:latin typeface="Courier New"/>
                <a:ea typeface="+mn-lt"/>
                <a:cs typeface="+mn-lt"/>
              </a:rPr>
              <a:t>main</a:t>
            </a: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 Se posiciona en el área nombrada "</a:t>
            </a:r>
            <a:r>
              <a:rPr lang="es-ES" b="1" dirty="0" err="1">
                <a:latin typeface="Courier New"/>
                <a:ea typeface="+mn-lt"/>
                <a:cs typeface="+mn-lt"/>
              </a:rPr>
              <a:t>main</a:t>
            </a: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grid-area</a:t>
            </a:r>
            <a:r>
              <a:rPr lang="es-ES" b="1" dirty="0">
                <a:latin typeface="Courier New"/>
                <a:ea typeface="+mn-lt"/>
                <a:cs typeface="+mn-lt"/>
              </a:rPr>
              <a:t>: </a:t>
            </a:r>
            <a:r>
              <a:rPr lang="es-ES" b="1" dirty="0" err="1">
                <a:latin typeface="Courier New"/>
                <a:ea typeface="+mn-lt"/>
                <a:cs typeface="+mn-lt"/>
              </a:rPr>
              <a:t>main</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a:t>
            </a:r>
            <a:endParaRPr lang="es-ES" b="1" dirty="0">
              <a:latin typeface="Courier New"/>
              <a:cs typeface="Courier New"/>
            </a:endParaRPr>
          </a:p>
        </p:txBody>
      </p:sp>
    </p:spTree>
    <p:extLst>
      <p:ext uri="{BB962C8B-B14F-4D97-AF65-F5344CB8AC3E}">
        <p14:creationId xmlns:p14="http://schemas.microsoft.com/office/powerpoint/2010/main" val="3962921036"/>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13E900-F756-E4F4-1785-48E3018E90B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6443DC7-DC53-6183-6D91-C1A4F51F3F27}"/>
              </a:ext>
            </a:extLst>
          </p:cNvPr>
          <p:cNvSpPr>
            <a:spLocks noGrp="1"/>
          </p:cNvSpPr>
          <p:nvPr>
            <p:ph type="title"/>
          </p:nvPr>
        </p:nvSpPr>
        <p:spPr/>
        <p:txBody>
          <a:bodyPr/>
          <a:lstStyle/>
          <a:p>
            <a:r>
              <a:rPr lang="es-ES" b="0" dirty="0">
                <a:ea typeface="+mj-lt"/>
                <a:cs typeface="+mj-lt"/>
              </a:rPr>
              <a:t>2.3.3.3. Posicionamiento de elementos (</a:t>
            </a:r>
            <a:r>
              <a:rPr lang="es-ES" b="0" dirty="0" err="1">
                <a:ea typeface="+mj-lt"/>
                <a:cs typeface="+mj-lt"/>
              </a:rPr>
              <a:t>grid-column</a:t>
            </a:r>
            <a:r>
              <a:rPr lang="es-ES" b="0" dirty="0">
                <a:ea typeface="+mj-lt"/>
                <a:cs typeface="+mj-lt"/>
              </a:rPr>
              <a:t>, </a:t>
            </a:r>
            <a:r>
              <a:rPr lang="es-ES" b="0" dirty="0" err="1">
                <a:ea typeface="+mj-lt"/>
                <a:cs typeface="+mj-lt"/>
              </a:rPr>
              <a:t>grid-row</a:t>
            </a:r>
            <a:r>
              <a:rPr lang="es-ES" b="0" dirty="0">
                <a:ea typeface="+mj-lt"/>
                <a:cs typeface="+mj-lt"/>
              </a:rPr>
              <a:t>).</a:t>
            </a:r>
            <a:endParaRPr lang="es-ES" dirty="0"/>
          </a:p>
        </p:txBody>
      </p:sp>
      <p:sp>
        <p:nvSpPr>
          <p:cNvPr id="3" name="Marcador de contenido 2">
            <a:extLst>
              <a:ext uri="{FF2B5EF4-FFF2-40B4-BE49-F238E27FC236}">
                <a16:creationId xmlns:a16="http://schemas.microsoft.com/office/drawing/2014/main" id="{7D1658C1-6F79-88A5-84C5-D8A15BE71ADD}"/>
              </a:ext>
            </a:extLst>
          </p:cNvPr>
          <p:cNvSpPr>
            <a:spLocks noGrp="1"/>
          </p:cNvSpPr>
          <p:nvPr>
            <p:ph idx="1"/>
          </p:nvPr>
        </p:nvSpPr>
        <p:spPr/>
        <p:txBody>
          <a:bodyPr vert="horz" lIns="91440" tIns="45720" rIns="91440" bIns="45720" rtlCol="0" anchor="t">
            <a:normAutofit fontScale="92500" lnSpcReduction="10000"/>
          </a:bodyPr>
          <a:lstStyle/>
          <a:p>
            <a:r>
              <a:rPr lang="es-ES" dirty="0">
                <a:ea typeface="+mn-lt"/>
                <a:cs typeface="+mn-lt"/>
              </a:rPr>
              <a:t>Propiedades de alineación de ítems: A diferencia de </a:t>
            </a:r>
            <a:r>
              <a:rPr lang="es-ES" dirty="0" err="1">
                <a:ea typeface="+mn-lt"/>
                <a:cs typeface="+mn-lt"/>
              </a:rPr>
              <a:t>justify-items</a:t>
            </a:r>
            <a:r>
              <a:rPr lang="es-ES" dirty="0">
                <a:ea typeface="+mn-lt"/>
                <a:cs typeface="+mn-lt"/>
              </a:rPr>
              <a:t> y </a:t>
            </a:r>
            <a:r>
              <a:rPr lang="es-ES" dirty="0" err="1">
                <a:ea typeface="+mn-lt"/>
                <a:cs typeface="+mn-lt"/>
              </a:rPr>
              <a:t>align-items</a:t>
            </a:r>
            <a:r>
              <a:rPr lang="es-ES" dirty="0">
                <a:ea typeface="+mn-lt"/>
                <a:cs typeface="+mn-lt"/>
              </a:rPr>
              <a:t> del contenedor (que alinean todos los ítems), las propiedades </a:t>
            </a:r>
            <a:r>
              <a:rPr lang="es-ES" dirty="0" err="1">
                <a:ea typeface="+mn-lt"/>
                <a:cs typeface="+mn-lt"/>
              </a:rPr>
              <a:t>justify-self</a:t>
            </a:r>
            <a:r>
              <a:rPr lang="es-ES" dirty="0">
                <a:ea typeface="+mn-lt"/>
                <a:cs typeface="+mn-lt"/>
              </a:rPr>
              <a:t> y </a:t>
            </a:r>
            <a:r>
              <a:rPr lang="es-ES" dirty="0" err="1">
                <a:ea typeface="+mn-lt"/>
                <a:cs typeface="+mn-lt"/>
              </a:rPr>
              <a:t>align-self</a:t>
            </a:r>
            <a:r>
              <a:rPr lang="es-ES" dirty="0">
                <a:ea typeface="+mn-lt"/>
                <a:cs typeface="+mn-lt"/>
              </a:rPr>
              <a:t> te permiten alinear un elemento individualmente dentro de su propia celda.</a:t>
            </a:r>
          </a:p>
          <a:p>
            <a:pPr lvl="1">
              <a:buFont typeface="Courier New" panose="020B0604020202020204" pitchFamily="34" charset="0"/>
              <a:buChar char="o"/>
            </a:pPr>
            <a:r>
              <a:rPr lang="es-ES" dirty="0" err="1">
                <a:ea typeface="+mn-lt"/>
                <a:cs typeface="+mn-lt"/>
              </a:rPr>
              <a:t>justify-self</a:t>
            </a:r>
            <a:r>
              <a:rPr lang="es-ES" dirty="0">
                <a:ea typeface="+mn-lt"/>
                <a:cs typeface="+mn-lt"/>
              </a:rPr>
              <a:t>: Alinea el elemento a lo largo del eje de la columna.</a:t>
            </a:r>
          </a:p>
          <a:p>
            <a:pPr lvl="1">
              <a:buFont typeface="Courier New" panose="020B0604020202020204" pitchFamily="34" charset="0"/>
              <a:buChar char="o"/>
            </a:pPr>
            <a:r>
              <a:rPr lang="es-ES" dirty="0" err="1">
                <a:ea typeface="+mn-lt"/>
                <a:cs typeface="+mn-lt"/>
              </a:rPr>
              <a:t>align-self</a:t>
            </a:r>
            <a:r>
              <a:rPr lang="es-ES" dirty="0">
                <a:ea typeface="+mn-lt"/>
                <a:cs typeface="+mn-lt"/>
              </a:rPr>
              <a:t>: Alinea el elemento a lo largo del eje de la fila.</a:t>
            </a:r>
          </a:p>
          <a:p>
            <a:r>
              <a:rPr lang="es-ES" dirty="0">
                <a:ea typeface="+mn-lt"/>
                <a:cs typeface="+mn-lt"/>
              </a:rPr>
              <a:t>Valores comunes: </a:t>
            </a:r>
            <a:r>
              <a:rPr lang="es-ES" dirty="0" err="1">
                <a:ea typeface="+mn-lt"/>
                <a:cs typeface="+mn-lt"/>
              </a:rPr>
              <a:t>start</a:t>
            </a:r>
            <a:r>
              <a:rPr lang="es-ES" dirty="0">
                <a:ea typeface="+mn-lt"/>
                <a:cs typeface="+mn-lt"/>
              </a:rPr>
              <a:t>, </a:t>
            </a:r>
            <a:r>
              <a:rPr lang="es-ES" dirty="0" err="1">
                <a:ea typeface="+mn-lt"/>
                <a:cs typeface="+mn-lt"/>
              </a:rPr>
              <a:t>end</a:t>
            </a:r>
            <a:r>
              <a:rPr lang="es-ES" dirty="0">
                <a:ea typeface="+mn-lt"/>
                <a:cs typeface="+mn-lt"/>
              </a:rPr>
              <a:t>, center, </a:t>
            </a:r>
            <a:r>
              <a:rPr lang="es-ES" dirty="0" err="1">
                <a:ea typeface="+mn-lt"/>
                <a:cs typeface="+mn-lt"/>
              </a:rPr>
              <a:t>stretch</a:t>
            </a:r>
            <a:r>
              <a:rPr lang="es-ES" dirty="0">
                <a:ea typeface="+mn-lt"/>
                <a:cs typeface="+mn-lt"/>
              </a:rPr>
              <a:t> (por defecto).</a:t>
            </a:r>
            <a:endParaRPr lang="es-ES" dirty="0"/>
          </a:p>
          <a:p>
            <a:r>
              <a:rPr lang="es-ES" dirty="0">
                <a:ea typeface="+mn-lt"/>
                <a:cs typeface="+mn-lt"/>
              </a:rPr>
              <a:t>Ejemplo:</a:t>
            </a:r>
          </a:p>
          <a:p>
            <a:pPr marL="0" indent="0">
              <a:buNone/>
            </a:pPr>
            <a:r>
              <a:rPr lang="es-ES" b="1" dirty="0">
                <a:latin typeface="Courier New"/>
                <a:ea typeface="+mn-lt"/>
                <a:cs typeface="+mn-lt"/>
              </a:rPr>
              <a:t>.</a:t>
            </a:r>
            <a:r>
              <a:rPr lang="es-ES" b="1" dirty="0" err="1">
                <a:latin typeface="Courier New"/>
                <a:ea typeface="+mn-lt"/>
                <a:cs typeface="+mn-lt"/>
              </a:rPr>
              <a:t>item</a:t>
            </a:r>
            <a:r>
              <a:rPr lang="es-ES" b="1" dirty="0">
                <a:latin typeface="Courier New"/>
                <a:ea typeface="+mn-lt"/>
                <a:cs typeface="+mn-lt"/>
              </a:rPr>
              <a:t>-diferente {</a:t>
            </a:r>
            <a:br>
              <a:rPr lang="es-ES" b="1" dirty="0">
                <a:latin typeface="Courier New"/>
                <a:ea typeface="+mn-lt"/>
                <a:cs typeface="+mn-lt"/>
              </a:rPr>
            </a:br>
            <a:r>
              <a:rPr lang="es-ES" b="1" dirty="0">
                <a:latin typeface="Courier New"/>
                <a:ea typeface="+mn-lt"/>
                <a:cs typeface="+mn-lt"/>
              </a:rPr>
              <a:t>  /* Alinea este ítem al final de su celda, independientemente de los demás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justify-self</a:t>
            </a:r>
            <a:r>
              <a:rPr lang="es-ES" b="1" dirty="0">
                <a:latin typeface="Courier New"/>
                <a:ea typeface="+mn-lt"/>
                <a:cs typeface="+mn-lt"/>
              </a:rPr>
              <a:t>: </a:t>
            </a:r>
            <a:r>
              <a:rPr lang="es-ES" b="1" dirty="0" err="1">
                <a:latin typeface="Courier New"/>
                <a:ea typeface="+mn-lt"/>
                <a:cs typeface="+mn-lt"/>
              </a:rPr>
              <a:t>end</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align-self</a:t>
            </a:r>
            <a:r>
              <a:rPr lang="es-ES" b="1" dirty="0">
                <a:latin typeface="Courier New"/>
                <a:ea typeface="+mn-lt"/>
                <a:cs typeface="+mn-lt"/>
              </a:rPr>
              <a:t>: center;</a:t>
            </a:r>
            <a:br>
              <a:rPr lang="es-ES" b="1" dirty="0">
                <a:latin typeface="Courier New"/>
                <a:ea typeface="+mn-lt"/>
                <a:cs typeface="+mn-lt"/>
              </a:rPr>
            </a:br>
            <a:r>
              <a:rPr lang="es-ES" b="1" dirty="0">
                <a:latin typeface="Courier New"/>
                <a:ea typeface="+mn-lt"/>
                <a:cs typeface="+mn-lt"/>
              </a:rPr>
              <a:t>}</a:t>
            </a:r>
          </a:p>
        </p:txBody>
      </p:sp>
    </p:spTree>
    <p:extLst>
      <p:ext uri="{BB962C8B-B14F-4D97-AF65-F5344CB8AC3E}">
        <p14:creationId xmlns:p14="http://schemas.microsoft.com/office/powerpoint/2010/main" val="2656780825"/>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7F648A-0FFE-DDC2-29E2-72D11178D79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CCD17A6-E346-B201-FC50-C4E6CB4B7B5A}"/>
              </a:ext>
            </a:extLst>
          </p:cNvPr>
          <p:cNvSpPr>
            <a:spLocks noGrp="1"/>
          </p:cNvSpPr>
          <p:nvPr>
            <p:ph type="title"/>
          </p:nvPr>
        </p:nvSpPr>
        <p:spPr/>
        <p:txBody>
          <a:bodyPr/>
          <a:lstStyle/>
          <a:p>
            <a:r>
              <a:rPr lang="es-ES" b="0" dirty="0">
                <a:ea typeface="+mj-lt"/>
                <a:cs typeface="+mj-lt"/>
              </a:rPr>
              <a:t>2.3.3.4. Maquetación de diseños de dos dimensiones.</a:t>
            </a:r>
            <a:endParaRPr lang="es-ES" dirty="0"/>
          </a:p>
        </p:txBody>
      </p:sp>
      <p:sp>
        <p:nvSpPr>
          <p:cNvPr id="3" name="Marcador de contenido 2">
            <a:extLst>
              <a:ext uri="{FF2B5EF4-FFF2-40B4-BE49-F238E27FC236}">
                <a16:creationId xmlns:a16="http://schemas.microsoft.com/office/drawing/2014/main" id="{A0B21933-0FAD-BA12-CE1E-F3B970A83EE9}"/>
              </a:ext>
            </a:extLst>
          </p:cNvPr>
          <p:cNvSpPr>
            <a:spLocks noGrp="1"/>
          </p:cNvSpPr>
          <p:nvPr>
            <p:ph idx="1"/>
          </p:nvPr>
        </p:nvSpPr>
        <p:spPr/>
        <p:txBody>
          <a:bodyPr vert="horz" lIns="91440" tIns="45720" rIns="91440" bIns="45720" rtlCol="0" anchor="t">
            <a:normAutofit fontScale="85000" lnSpcReduction="20000"/>
          </a:bodyPr>
          <a:lstStyle/>
          <a:p>
            <a:r>
              <a:rPr lang="es-ES" dirty="0">
                <a:ea typeface="+mn-lt"/>
                <a:cs typeface="+mn-lt"/>
              </a:rPr>
              <a:t>La maquetación bidimensional se refiere a la organización de elementos en un espacio que tiene tanto filas como columnas. Esta es la función principal de CSS </a:t>
            </a:r>
            <a:r>
              <a:rPr lang="es-ES" dirty="0" err="1">
                <a:ea typeface="+mn-lt"/>
                <a:cs typeface="+mn-lt"/>
              </a:rPr>
              <a:t>Grid</a:t>
            </a:r>
            <a:r>
              <a:rPr lang="es-ES" dirty="0">
                <a:ea typeface="+mn-lt"/>
                <a:cs typeface="+mn-lt"/>
              </a:rPr>
              <a:t>, la herramienta más poderosa para crear </a:t>
            </a:r>
            <a:r>
              <a:rPr lang="es-ES" dirty="0" err="1">
                <a:ea typeface="+mn-lt"/>
                <a:cs typeface="+mn-lt"/>
              </a:rPr>
              <a:t>layouts</a:t>
            </a:r>
            <a:r>
              <a:rPr lang="es-ES" dirty="0">
                <a:ea typeface="+mn-lt"/>
                <a:cs typeface="+mn-lt"/>
              </a:rPr>
              <a:t> complejos y completos de páginas web. A diferencia de </a:t>
            </a:r>
            <a:r>
              <a:rPr lang="es-ES" dirty="0" err="1">
                <a:ea typeface="+mn-lt"/>
                <a:cs typeface="+mn-lt"/>
              </a:rPr>
              <a:t>Flexbox</a:t>
            </a:r>
            <a:r>
              <a:rPr lang="es-ES" dirty="0">
                <a:ea typeface="+mn-lt"/>
                <a:cs typeface="+mn-lt"/>
              </a:rPr>
              <a:t>, que se enfoca en una dimensión, </a:t>
            </a:r>
            <a:r>
              <a:rPr lang="es-ES" dirty="0" err="1">
                <a:ea typeface="+mn-lt"/>
                <a:cs typeface="+mn-lt"/>
              </a:rPr>
              <a:t>Grid</a:t>
            </a:r>
            <a:r>
              <a:rPr lang="es-ES" dirty="0">
                <a:ea typeface="+mn-lt"/>
                <a:cs typeface="+mn-lt"/>
              </a:rPr>
              <a:t> te permite construir una estructura de diseño con áreas bien definidas, lo que simplifica enormemente la creación de interfaces complejas.</a:t>
            </a:r>
            <a:endParaRPr lang="es-ES" dirty="0"/>
          </a:p>
          <a:p>
            <a:r>
              <a:rPr lang="es-ES" dirty="0">
                <a:ea typeface="+mn-lt"/>
                <a:cs typeface="+mn-lt"/>
              </a:rPr>
              <a:t>Galería de imágenes responsiva: galería que se adapta automáticamente al tamaño de la pantalla, manteniendo un tamaño de celda mínimo.</a:t>
            </a:r>
            <a:endParaRPr lang="es-ES" dirty="0"/>
          </a:p>
          <a:p>
            <a:pPr marL="0" indent="0">
              <a:buNone/>
            </a:pPr>
            <a:r>
              <a:rPr lang="es-ES" b="1" dirty="0">
                <a:latin typeface="Courier New"/>
                <a:ea typeface="+mn-lt"/>
                <a:cs typeface="+mn-lt"/>
              </a:rPr>
              <a:t>&lt;</a:t>
            </a:r>
            <a:r>
              <a:rPr lang="es-ES" b="1" dirty="0" err="1">
                <a:latin typeface="Courier New"/>
                <a:ea typeface="+mn-lt"/>
                <a:cs typeface="+mn-lt"/>
              </a:rPr>
              <a:t>div</a:t>
            </a:r>
            <a:r>
              <a:rPr lang="es-ES" b="1" dirty="0">
                <a:latin typeface="Courier New"/>
                <a:ea typeface="+mn-lt"/>
                <a:cs typeface="+mn-lt"/>
              </a:rPr>
              <a:t> </a:t>
            </a:r>
            <a:r>
              <a:rPr lang="es-ES" b="1" dirty="0" err="1">
                <a:latin typeface="Courier New"/>
                <a:ea typeface="+mn-lt"/>
                <a:cs typeface="+mn-lt"/>
              </a:rPr>
              <a:t>class</a:t>
            </a:r>
            <a:r>
              <a:rPr lang="es-ES" b="1" dirty="0">
                <a:latin typeface="Courier New"/>
                <a:ea typeface="+mn-lt"/>
                <a:cs typeface="+mn-lt"/>
              </a:rPr>
              <a:t>="</a:t>
            </a:r>
            <a:r>
              <a:rPr lang="es-ES" b="1" dirty="0" err="1">
                <a:latin typeface="Courier New"/>
                <a:ea typeface="+mn-lt"/>
                <a:cs typeface="+mn-lt"/>
              </a:rPr>
              <a:t>galeria</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div</a:t>
            </a:r>
            <a:r>
              <a:rPr lang="es-ES" b="1" dirty="0">
                <a:latin typeface="Courier New"/>
                <a:ea typeface="+mn-lt"/>
                <a:cs typeface="+mn-lt"/>
              </a:rPr>
              <a:t>&gt;&lt;</a:t>
            </a:r>
            <a:r>
              <a:rPr lang="es-ES" b="1" dirty="0" err="1">
                <a:latin typeface="Courier New"/>
                <a:ea typeface="+mn-lt"/>
                <a:cs typeface="+mn-lt"/>
              </a:rPr>
              <a:t>img</a:t>
            </a:r>
            <a:r>
              <a:rPr lang="es-ES" b="1" dirty="0">
                <a:latin typeface="Courier New"/>
                <a:ea typeface="+mn-lt"/>
                <a:cs typeface="+mn-lt"/>
              </a:rPr>
              <a:t> </a:t>
            </a:r>
            <a:r>
              <a:rPr lang="es-ES" b="1" dirty="0" err="1">
                <a:latin typeface="Courier New"/>
                <a:ea typeface="+mn-lt"/>
                <a:cs typeface="+mn-lt"/>
              </a:rPr>
              <a:t>src</a:t>
            </a:r>
            <a:r>
              <a:rPr lang="es-ES" b="1" dirty="0">
                <a:latin typeface="Courier New"/>
                <a:ea typeface="+mn-lt"/>
                <a:cs typeface="+mn-lt"/>
              </a:rPr>
              <a:t>="..."/&gt;&lt;/</a:t>
            </a:r>
            <a:r>
              <a:rPr lang="es-ES" b="1" dirty="0" err="1">
                <a:latin typeface="Courier New"/>
                <a:ea typeface="+mn-lt"/>
                <a:cs typeface="+mn-lt"/>
              </a:rPr>
              <a:t>div</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div</a:t>
            </a:r>
            <a:r>
              <a:rPr lang="es-ES" b="1" dirty="0">
                <a:latin typeface="Courier New"/>
                <a:ea typeface="+mn-lt"/>
                <a:cs typeface="+mn-lt"/>
              </a:rPr>
              <a:t>&gt;&lt;</a:t>
            </a:r>
            <a:r>
              <a:rPr lang="es-ES" b="1" dirty="0" err="1">
                <a:latin typeface="Courier New"/>
                <a:ea typeface="+mn-lt"/>
                <a:cs typeface="+mn-lt"/>
              </a:rPr>
              <a:t>img</a:t>
            </a:r>
            <a:r>
              <a:rPr lang="es-ES" b="1" dirty="0">
                <a:latin typeface="Courier New"/>
                <a:ea typeface="+mn-lt"/>
                <a:cs typeface="+mn-lt"/>
              </a:rPr>
              <a:t> </a:t>
            </a:r>
            <a:r>
              <a:rPr lang="es-ES" b="1" dirty="0" err="1">
                <a:latin typeface="Courier New"/>
                <a:ea typeface="+mn-lt"/>
                <a:cs typeface="+mn-lt"/>
              </a:rPr>
              <a:t>src</a:t>
            </a:r>
            <a:r>
              <a:rPr lang="es-ES" b="1" dirty="0">
                <a:latin typeface="Courier New"/>
                <a:ea typeface="+mn-lt"/>
                <a:cs typeface="+mn-lt"/>
              </a:rPr>
              <a:t>="..."/&gt;&lt;/</a:t>
            </a:r>
            <a:r>
              <a:rPr lang="es-ES" b="1" dirty="0" err="1">
                <a:latin typeface="Courier New"/>
                <a:ea typeface="+mn-lt"/>
                <a:cs typeface="+mn-lt"/>
              </a:rPr>
              <a:t>div</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div</a:t>
            </a:r>
            <a:r>
              <a:rPr lang="es-ES" b="1" dirty="0">
                <a:latin typeface="Courier New"/>
                <a:ea typeface="+mn-lt"/>
                <a:cs typeface="+mn-lt"/>
              </a:rPr>
              <a:t>&gt;&lt;</a:t>
            </a:r>
            <a:r>
              <a:rPr lang="es-ES" b="1" dirty="0" err="1">
                <a:latin typeface="Courier New"/>
                <a:ea typeface="+mn-lt"/>
                <a:cs typeface="+mn-lt"/>
              </a:rPr>
              <a:t>img</a:t>
            </a:r>
            <a:r>
              <a:rPr lang="es-ES" b="1" dirty="0">
                <a:latin typeface="Courier New"/>
                <a:ea typeface="+mn-lt"/>
                <a:cs typeface="+mn-lt"/>
              </a:rPr>
              <a:t> </a:t>
            </a:r>
            <a:r>
              <a:rPr lang="es-ES" b="1" dirty="0" err="1">
                <a:latin typeface="Courier New"/>
                <a:ea typeface="+mn-lt"/>
                <a:cs typeface="+mn-lt"/>
              </a:rPr>
              <a:t>src</a:t>
            </a:r>
            <a:r>
              <a:rPr lang="es-ES" b="1" dirty="0">
                <a:latin typeface="Courier New"/>
                <a:ea typeface="+mn-lt"/>
                <a:cs typeface="+mn-lt"/>
              </a:rPr>
              <a:t>="..."/&gt;&lt;/</a:t>
            </a:r>
            <a:r>
              <a:rPr lang="es-ES" b="1" dirty="0" err="1">
                <a:latin typeface="Courier New"/>
                <a:ea typeface="+mn-lt"/>
                <a:cs typeface="+mn-lt"/>
              </a:rPr>
              <a:t>div</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div</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a:t>
            </a:r>
            <a:r>
              <a:rPr lang="es-ES" b="1" dirty="0" err="1">
                <a:latin typeface="Courier New"/>
                <a:ea typeface="+mn-lt"/>
                <a:cs typeface="+mn-lt"/>
              </a:rPr>
              <a:t>galeria</a:t>
            </a: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display</a:t>
            </a:r>
            <a:r>
              <a:rPr lang="es-ES" b="1" dirty="0">
                <a:latin typeface="Courier New"/>
                <a:ea typeface="+mn-lt"/>
                <a:cs typeface="+mn-lt"/>
              </a:rPr>
              <a:t>: </a:t>
            </a:r>
            <a:r>
              <a:rPr lang="es-ES" b="1" dirty="0" err="1">
                <a:latin typeface="Courier New"/>
                <a:ea typeface="+mn-lt"/>
                <a:cs typeface="+mn-lt"/>
              </a:rPr>
              <a:t>grid</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grid-template-columns</a:t>
            </a:r>
            <a:r>
              <a:rPr lang="es-ES" b="1" dirty="0">
                <a:latin typeface="Courier New"/>
                <a:ea typeface="+mn-lt"/>
                <a:cs typeface="+mn-lt"/>
              </a:rPr>
              <a:t>: </a:t>
            </a:r>
            <a:r>
              <a:rPr lang="es-ES" b="1" dirty="0" err="1">
                <a:latin typeface="Courier New"/>
                <a:ea typeface="+mn-lt"/>
                <a:cs typeface="+mn-lt"/>
              </a:rPr>
              <a:t>repeat</a:t>
            </a:r>
            <a:r>
              <a:rPr lang="es-ES" b="1" dirty="0">
                <a:latin typeface="Courier New"/>
                <a:ea typeface="+mn-lt"/>
                <a:cs typeface="+mn-lt"/>
              </a:rPr>
              <a:t>(</a:t>
            </a:r>
            <a:r>
              <a:rPr lang="es-ES" b="1" dirty="0" err="1">
                <a:latin typeface="Courier New"/>
                <a:ea typeface="+mn-lt"/>
                <a:cs typeface="+mn-lt"/>
              </a:rPr>
              <a:t>auto-fit</a:t>
            </a:r>
            <a:r>
              <a:rPr lang="es-ES" b="1" dirty="0">
                <a:latin typeface="Courier New"/>
                <a:ea typeface="+mn-lt"/>
                <a:cs typeface="+mn-lt"/>
              </a:rPr>
              <a:t>, </a:t>
            </a:r>
            <a:r>
              <a:rPr lang="es-ES" b="1" dirty="0" err="1">
                <a:latin typeface="Courier New"/>
                <a:ea typeface="+mn-lt"/>
                <a:cs typeface="+mn-lt"/>
              </a:rPr>
              <a:t>minmax</a:t>
            </a:r>
            <a:r>
              <a:rPr lang="es-ES" b="1" dirty="0">
                <a:latin typeface="Courier New"/>
                <a:ea typeface="+mn-lt"/>
                <a:cs typeface="+mn-lt"/>
              </a:rPr>
              <a:t>(200px, 1fr));</a:t>
            </a:r>
            <a:br>
              <a:rPr lang="es-ES" b="1" dirty="0">
                <a:latin typeface="Courier New"/>
                <a:ea typeface="+mn-lt"/>
                <a:cs typeface="+mn-lt"/>
              </a:rPr>
            </a:br>
            <a:r>
              <a:rPr lang="es-ES" b="1" dirty="0">
                <a:latin typeface="Courier New"/>
                <a:ea typeface="+mn-lt"/>
                <a:cs typeface="+mn-lt"/>
              </a:rPr>
              <a:t>  gap: 15px;</a:t>
            </a:r>
            <a:br>
              <a:rPr lang="es-ES" b="1" dirty="0">
                <a:latin typeface="Courier New"/>
                <a:ea typeface="+mn-lt"/>
                <a:cs typeface="+mn-lt"/>
              </a:rPr>
            </a:br>
            <a:r>
              <a:rPr lang="es-ES" b="1" dirty="0">
                <a:latin typeface="Courier New"/>
                <a:ea typeface="+mn-lt"/>
                <a:cs typeface="+mn-lt"/>
              </a:rPr>
              <a:t>}</a:t>
            </a:r>
            <a:endParaRPr lang="es-ES" b="1" dirty="0">
              <a:latin typeface="Courier New"/>
              <a:cs typeface="Courier New"/>
            </a:endParaRPr>
          </a:p>
        </p:txBody>
      </p:sp>
    </p:spTree>
    <p:extLst>
      <p:ext uri="{BB962C8B-B14F-4D97-AF65-F5344CB8AC3E}">
        <p14:creationId xmlns:p14="http://schemas.microsoft.com/office/powerpoint/2010/main" val="289923177"/>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62D87E-ABF7-55E0-5CAB-0C671C41C9F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C3D0E8D-6E9F-36FC-4B7B-7291C1304F3C}"/>
              </a:ext>
            </a:extLst>
          </p:cNvPr>
          <p:cNvSpPr>
            <a:spLocks noGrp="1"/>
          </p:cNvSpPr>
          <p:nvPr>
            <p:ph type="title"/>
          </p:nvPr>
        </p:nvSpPr>
        <p:spPr/>
        <p:txBody>
          <a:bodyPr/>
          <a:lstStyle/>
          <a:p>
            <a:r>
              <a:rPr lang="es-ES" b="0" dirty="0">
                <a:ea typeface="+mj-lt"/>
                <a:cs typeface="+mj-lt"/>
              </a:rPr>
              <a:t>2.3.3.4. Maquetación de diseños de dos dimensiones.</a:t>
            </a:r>
            <a:endParaRPr lang="es-ES" dirty="0"/>
          </a:p>
        </p:txBody>
      </p:sp>
      <p:sp>
        <p:nvSpPr>
          <p:cNvPr id="3" name="Marcador de contenido 2">
            <a:extLst>
              <a:ext uri="{FF2B5EF4-FFF2-40B4-BE49-F238E27FC236}">
                <a16:creationId xmlns:a16="http://schemas.microsoft.com/office/drawing/2014/main" id="{82A5F4FF-964E-0415-CAB0-5AC3148B771B}"/>
              </a:ext>
            </a:extLst>
          </p:cNvPr>
          <p:cNvSpPr>
            <a:spLocks noGrp="1"/>
          </p:cNvSpPr>
          <p:nvPr>
            <p:ph idx="1"/>
          </p:nvPr>
        </p:nvSpPr>
        <p:spPr/>
        <p:txBody>
          <a:bodyPr vert="horz" lIns="91440" tIns="45720" rIns="91440" bIns="45720" rtlCol="0" anchor="t">
            <a:normAutofit fontScale="77500" lnSpcReduction="20000"/>
          </a:bodyPr>
          <a:lstStyle/>
          <a:p>
            <a:r>
              <a:rPr lang="es-ES" dirty="0" err="1">
                <a:ea typeface="+mn-lt"/>
                <a:cs typeface="+mn-lt"/>
              </a:rPr>
              <a:t>Layout</a:t>
            </a:r>
            <a:r>
              <a:rPr lang="es-ES" dirty="0">
                <a:ea typeface="+mn-lt"/>
                <a:cs typeface="+mn-lt"/>
              </a:rPr>
              <a:t> de página clásico (</a:t>
            </a:r>
            <a:r>
              <a:rPr lang="es-ES" dirty="0" err="1">
                <a:ea typeface="+mn-lt"/>
                <a:cs typeface="+mn-lt"/>
              </a:rPr>
              <a:t>Holy</a:t>
            </a:r>
            <a:r>
              <a:rPr lang="es-ES" dirty="0">
                <a:ea typeface="+mn-lt"/>
                <a:cs typeface="+mn-lt"/>
              </a:rPr>
              <a:t> </a:t>
            </a:r>
            <a:r>
              <a:rPr lang="es-ES" dirty="0" err="1">
                <a:ea typeface="+mn-lt"/>
                <a:cs typeface="+mn-lt"/>
              </a:rPr>
              <a:t>Grail</a:t>
            </a:r>
            <a:r>
              <a:rPr lang="es-ES" dirty="0">
                <a:ea typeface="+mn-lt"/>
                <a:cs typeface="+mn-lt"/>
              </a:rPr>
              <a:t>): Este diseño es un pilar del desarrollo web, con una cabecera, una barra lateral izquierda, un contenido principal, una barra lateral derecha y un pie de página.</a:t>
            </a:r>
          </a:p>
          <a:p>
            <a:r>
              <a:rPr lang="es-ES" b="1" dirty="0">
                <a:latin typeface="Courier New"/>
                <a:ea typeface="+mn-lt"/>
                <a:cs typeface="+mn-lt"/>
              </a:rPr>
              <a:t>&lt;</a:t>
            </a:r>
            <a:r>
              <a:rPr lang="es-ES" b="1" dirty="0" err="1">
                <a:latin typeface="Courier New"/>
                <a:ea typeface="+mn-lt"/>
                <a:cs typeface="+mn-lt"/>
              </a:rPr>
              <a:t>div</a:t>
            </a:r>
            <a:r>
              <a:rPr lang="es-ES" b="1" dirty="0">
                <a:latin typeface="Courier New"/>
                <a:ea typeface="+mn-lt"/>
                <a:cs typeface="+mn-lt"/>
              </a:rPr>
              <a:t> </a:t>
            </a:r>
            <a:r>
              <a:rPr lang="es-ES" b="1" dirty="0" err="1">
                <a:latin typeface="Courier New"/>
                <a:ea typeface="+mn-lt"/>
                <a:cs typeface="+mn-lt"/>
              </a:rPr>
              <a:t>class</a:t>
            </a:r>
            <a:r>
              <a:rPr lang="es-ES" b="1" dirty="0">
                <a:latin typeface="Courier New"/>
                <a:ea typeface="+mn-lt"/>
                <a:cs typeface="+mn-lt"/>
              </a:rPr>
              <a:t>="</a:t>
            </a:r>
            <a:r>
              <a:rPr lang="es-ES" b="1" dirty="0" err="1">
                <a:latin typeface="Courier New"/>
                <a:ea typeface="+mn-lt"/>
                <a:cs typeface="+mn-lt"/>
              </a:rPr>
              <a:t>holy-grail-layout</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header</a:t>
            </a:r>
            <a:r>
              <a:rPr lang="es-ES" b="1" dirty="0">
                <a:latin typeface="Courier New"/>
                <a:ea typeface="+mn-lt"/>
                <a:cs typeface="+mn-lt"/>
              </a:rPr>
              <a:t>&gt;Cabecera&lt;/</a:t>
            </a:r>
            <a:r>
              <a:rPr lang="es-ES" b="1" dirty="0" err="1">
                <a:latin typeface="Courier New"/>
                <a:ea typeface="+mn-lt"/>
                <a:cs typeface="+mn-lt"/>
              </a:rPr>
              <a:t>header</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nav</a:t>
            </a:r>
            <a:r>
              <a:rPr lang="es-ES" b="1" dirty="0">
                <a:latin typeface="Courier New"/>
                <a:ea typeface="+mn-lt"/>
                <a:cs typeface="+mn-lt"/>
              </a:rPr>
              <a:t>&gt;Navegación&lt;/</a:t>
            </a:r>
            <a:r>
              <a:rPr lang="es-ES" b="1" dirty="0" err="1">
                <a:latin typeface="Courier New"/>
                <a:ea typeface="+mn-lt"/>
                <a:cs typeface="+mn-lt"/>
              </a:rPr>
              <a:t>nav</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main</a:t>
            </a:r>
            <a:r>
              <a:rPr lang="es-ES" b="1" dirty="0">
                <a:latin typeface="Courier New"/>
                <a:ea typeface="+mn-lt"/>
                <a:cs typeface="+mn-lt"/>
              </a:rPr>
              <a:t>&gt;Contenido principal&lt;/</a:t>
            </a:r>
            <a:r>
              <a:rPr lang="es-ES" b="1" dirty="0" err="1">
                <a:latin typeface="Courier New"/>
                <a:ea typeface="+mn-lt"/>
                <a:cs typeface="+mn-lt"/>
              </a:rPr>
              <a:t>main</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&lt;aside&gt;Publicidad&lt;/aside&gt;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footer</a:t>
            </a:r>
            <a:r>
              <a:rPr lang="es-ES" b="1" dirty="0">
                <a:latin typeface="Courier New"/>
                <a:ea typeface="+mn-lt"/>
                <a:cs typeface="+mn-lt"/>
              </a:rPr>
              <a:t>&gt;Pie de página&lt;/</a:t>
            </a:r>
            <a:r>
              <a:rPr lang="es-ES" b="1" dirty="0" err="1">
                <a:latin typeface="Courier New"/>
                <a:ea typeface="+mn-lt"/>
                <a:cs typeface="+mn-lt"/>
              </a:rPr>
              <a:t>footer</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&lt;/</a:t>
            </a:r>
            <a:r>
              <a:rPr lang="es-ES" b="1" dirty="0" err="1">
                <a:latin typeface="Courier New"/>
                <a:ea typeface="+mn-lt"/>
                <a:cs typeface="+mn-lt"/>
              </a:rPr>
              <a:t>div</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a:t>
            </a:r>
            <a:r>
              <a:rPr lang="es-ES" b="1" dirty="0" err="1">
                <a:latin typeface="Courier New"/>
                <a:ea typeface="+mn-lt"/>
                <a:cs typeface="+mn-lt"/>
              </a:rPr>
              <a:t>holy-grail-layout</a:t>
            </a: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display</a:t>
            </a:r>
            <a:r>
              <a:rPr lang="es-ES" b="1" dirty="0">
                <a:latin typeface="Courier New"/>
                <a:ea typeface="+mn-lt"/>
                <a:cs typeface="+mn-lt"/>
              </a:rPr>
              <a:t>: </a:t>
            </a:r>
            <a:r>
              <a:rPr lang="es-ES" b="1" dirty="0" err="1">
                <a:latin typeface="Courier New"/>
                <a:ea typeface="+mn-lt"/>
                <a:cs typeface="+mn-lt"/>
              </a:rPr>
              <a:t>grid</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grid-template-areas</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header</a:t>
            </a:r>
            <a:r>
              <a:rPr lang="es-ES" b="1" dirty="0">
                <a:latin typeface="Courier New"/>
                <a:ea typeface="+mn-lt"/>
                <a:cs typeface="+mn-lt"/>
              </a:rPr>
              <a:t> </a:t>
            </a:r>
            <a:r>
              <a:rPr lang="es-ES" b="1" dirty="0" err="1">
                <a:latin typeface="Courier New"/>
                <a:ea typeface="+mn-lt"/>
                <a:cs typeface="+mn-lt"/>
              </a:rPr>
              <a:t>header</a:t>
            </a:r>
            <a:r>
              <a:rPr lang="es-ES" b="1" dirty="0">
                <a:latin typeface="Courier New"/>
                <a:ea typeface="+mn-lt"/>
                <a:cs typeface="+mn-lt"/>
              </a:rPr>
              <a:t> </a:t>
            </a:r>
            <a:r>
              <a:rPr lang="es-ES" b="1" dirty="0" err="1">
                <a:latin typeface="Courier New"/>
                <a:ea typeface="+mn-lt"/>
                <a:cs typeface="+mn-lt"/>
              </a:rPr>
              <a:t>header</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nav</a:t>
            </a:r>
            <a:r>
              <a:rPr lang="es-ES" b="1" dirty="0">
                <a:latin typeface="Courier New"/>
                <a:ea typeface="+mn-lt"/>
                <a:cs typeface="+mn-lt"/>
              </a:rPr>
              <a:t> </a:t>
            </a:r>
            <a:r>
              <a:rPr lang="es-ES" b="1" dirty="0" err="1">
                <a:latin typeface="Courier New"/>
                <a:ea typeface="+mn-lt"/>
                <a:cs typeface="+mn-lt"/>
              </a:rPr>
              <a:t>main</a:t>
            </a:r>
            <a:r>
              <a:rPr lang="es-ES" b="1" dirty="0">
                <a:latin typeface="Courier New"/>
                <a:ea typeface="+mn-lt"/>
                <a:cs typeface="+mn-lt"/>
              </a:rPr>
              <a:t> aside"</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footer</a:t>
            </a:r>
            <a:r>
              <a:rPr lang="es-ES" b="1" dirty="0">
                <a:latin typeface="Courier New"/>
                <a:ea typeface="+mn-lt"/>
                <a:cs typeface="+mn-lt"/>
              </a:rPr>
              <a:t> </a:t>
            </a:r>
            <a:r>
              <a:rPr lang="es-ES" b="1" dirty="0" err="1">
                <a:latin typeface="Courier New"/>
                <a:ea typeface="+mn-lt"/>
                <a:cs typeface="+mn-lt"/>
              </a:rPr>
              <a:t>footer</a:t>
            </a:r>
            <a:r>
              <a:rPr lang="es-ES" b="1" dirty="0">
                <a:latin typeface="Courier New"/>
                <a:ea typeface="+mn-lt"/>
                <a:cs typeface="+mn-lt"/>
              </a:rPr>
              <a:t> </a:t>
            </a:r>
            <a:r>
              <a:rPr lang="es-ES" b="1" dirty="0" err="1">
                <a:latin typeface="Courier New"/>
                <a:ea typeface="+mn-lt"/>
                <a:cs typeface="+mn-lt"/>
              </a:rPr>
              <a:t>footer</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grid-template-columns</a:t>
            </a:r>
            <a:r>
              <a:rPr lang="es-ES" b="1" dirty="0">
                <a:latin typeface="Courier New"/>
                <a:ea typeface="+mn-lt"/>
                <a:cs typeface="+mn-lt"/>
              </a:rPr>
              <a:t>: 200px 1fr 200px;</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grid-template-rows</a:t>
            </a:r>
            <a:r>
              <a:rPr lang="es-ES" b="1" dirty="0">
                <a:latin typeface="Courier New"/>
                <a:ea typeface="+mn-lt"/>
                <a:cs typeface="+mn-lt"/>
              </a:rPr>
              <a:t>: auto 1fr auto;</a:t>
            </a:r>
            <a:br>
              <a:rPr lang="es-ES" b="1" dirty="0">
                <a:latin typeface="Courier New"/>
                <a:ea typeface="+mn-lt"/>
                <a:cs typeface="+mn-lt"/>
              </a:rPr>
            </a:br>
            <a:r>
              <a:rPr lang="es-ES" b="1" dirty="0">
                <a:latin typeface="Courier New"/>
                <a:ea typeface="+mn-lt"/>
                <a:cs typeface="+mn-lt"/>
              </a:rPr>
              <a:t>}</a:t>
            </a:r>
          </a:p>
        </p:txBody>
      </p:sp>
    </p:spTree>
    <p:extLst>
      <p:ext uri="{BB962C8B-B14F-4D97-AF65-F5344CB8AC3E}">
        <p14:creationId xmlns:p14="http://schemas.microsoft.com/office/powerpoint/2010/main" val="3127312648"/>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3548F9-20BB-DABD-5442-67FBDCAC93D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3C4F45A-52D7-CBB4-BB90-FADCD6F80690}"/>
              </a:ext>
            </a:extLst>
          </p:cNvPr>
          <p:cNvSpPr>
            <a:spLocks noGrp="1"/>
          </p:cNvSpPr>
          <p:nvPr>
            <p:ph type="title"/>
          </p:nvPr>
        </p:nvSpPr>
        <p:spPr/>
        <p:txBody>
          <a:bodyPr/>
          <a:lstStyle/>
          <a:p>
            <a:r>
              <a:rPr lang="es-ES" b="0" dirty="0">
                <a:ea typeface="+mj-lt"/>
                <a:cs typeface="+mj-lt"/>
              </a:rPr>
              <a:t>2.3.3.4. Maquetación de diseños de dos dimensiones.</a:t>
            </a:r>
            <a:endParaRPr lang="es-ES" dirty="0"/>
          </a:p>
        </p:txBody>
      </p:sp>
      <p:sp>
        <p:nvSpPr>
          <p:cNvPr id="3" name="Marcador de contenido 2">
            <a:extLst>
              <a:ext uri="{FF2B5EF4-FFF2-40B4-BE49-F238E27FC236}">
                <a16:creationId xmlns:a16="http://schemas.microsoft.com/office/drawing/2014/main" id="{6F545448-FFD2-727B-E08C-92DCA9DCA3B4}"/>
              </a:ext>
            </a:extLst>
          </p:cNvPr>
          <p:cNvSpPr>
            <a:spLocks noGrp="1"/>
          </p:cNvSpPr>
          <p:nvPr>
            <p:ph idx="1"/>
          </p:nvPr>
        </p:nvSpPr>
        <p:spPr/>
        <p:txBody>
          <a:bodyPr vert="horz" lIns="91440" tIns="45720" rIns="91440" bIns="45720" rtlCol="0" anchor="t">
            <a:normAutofit/>
          </a:bodyPr>
          <a:lstStyle/>
          <a:p>
            <a:r>
              <a:rPr lang="es-ES" dirty="0" err="1">
                <a:ea typeface="+mn-lt"/>
                <a:cs typeface="+mn-lt"/>
              </a:rPr>
              <a:t>Layout</a:t>
            </a:r>
            <a:r>
              <a:rPr lang="es-ES" dirty="0">
                <a:ea typeface="+mn-lt"/>
                <a:cs typeface="+mn-lt"/>
              </a:rPr>
              <a:t> de dos columnas: Un diseño simple y común para blogs o noticias, con una barra lateral y un área de contenido.</a:t>
            </a:r>
          </a:p>
          <a:p>
            <a:pPr marL="0" indent="0">
              <a:buNone/>
            </a:pPr>
            <a:r>
              <a:rPr lang="es-ES" b="1" dirty="0">
                <a:latin typeface="Courier New"/>
                <a:ea typeface="+mn-lt"/>
                <a:cs typeface="+mn-lt"/>
              </a:rPr>
              <a:t>&lt;</a:t>
            </a:r>
            <a:r>
              <a:rPr lang="es-ES" b="1" dirty="0" err="1">
                <a:latin typeface="Courier New"/>
                <a:ea typeface="+mn-lt"/>
                <a:cs typeface="+mn-lt"/>
              </a:rPr>
              <a:t>div</a:t>
            </a:r>
            <a:r>
              <a:rPr lang="es-ES" b="1" dirty="0">
                <a:latin typeface="Courier New"/>
                <a:ea typeface="+mn-lt"/>
                <a:cs typeface="+mn-lt"/>
              </a:rPr>
              <a:t> </a:t>
            </a:r>
            <a:r>
              <a:rPr lang="es-ES" b="1" dirty="0" err="1">
                <a:latin typeface="Courier New"/>
                <a:ea typeface="+mn-lt"/>
                <a:cs typeface="+mn-lt"/>
              </a:rPr>
              <a:t>class</a:t>
            </a:r>
            <a:r>
              <a:rPr lang="es-ES" b="1" dirty="0">
                <a:latin typeface="Courier New"/>
                <a:ea typeface="+mn-lt"/>
                <a:cs typeface="+mn-lt"/>
              </a:rPr>
              <a:t>="dos-columnas"&gt;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main</a:t>
            </a:r>
            <a:r>
              <a:rPr lang="es-ES" b="1" dirty="0">
                <a:latin typeface="Courier New"/>
                <a:ea typeface="+mn-lt"/>
                <a:cs typeface="+mn-lt"/>
              </a:rPr>
              <a:t>&gt;Contenido principal&lt;/</a:t>
            </a:r>
            <a:r>
              <a:rPr lang="es-ES" b="1" dirty="0" err="1">
                <a:latin typeface="Courier New"/>
                <a:ea typeface="+mn-lt"/>
                <a:cs typeface="+mn-lt"/>
              </a:rPr>
              <a:t>main</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&lt;aside&gt;Barra lateral&lt;/aside&gt;</a:t>
            </a:r>
            <a:br>
              <a:rPr lang="es-ES" b="1" dirty="0">
                <a:latin typeface="Courier New"/>
                <a:ea typeface="+mn-lt"/>
                <a:cs typeface="+mn-lt"/>
              </a:rPr>
            </a:br>
            <a:r>
              <a:rPr lang="es-ES" b="1" dirty="0">
                <a:latin typeface="Courier New"/>
                <a:ea typeface="+mn-lt"/>
                <a:cs typeface="+mn-lt"/>
              </a:rPr>
              <a:t>&lt;/</a:t>
            </a:r>
            <a:r>
              <a:rPr lang="es-ES" b="1" dirty="0" err="1">
                <a:latin typeface="Courier New"/>
                <a:ea typeface="+mn-lt"/>
                <a:cs typeface="+mn-lt"/>
              </a:rPr>
              <a:t>div</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.dos-columnas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display</a:t>
            </a:r>
            <a:r>
              <a:rPr lang="es-ES" b="1" dirty="0">
                <a:latin typeface="Courier New"/>
                <a:ea typeface="+mn-lt"/>
                <a:cs typeface="+mn-lt"/>
              </a:rPr>
              <a:t>: </a:t>
            </a:r>
            <a:r>
              <a:rPr lang="es-ES" b="1" dirty="0" err="1">
                <a:latin typeface="Courier New"/>
                <a:ea typeface="+mn-lt"/>
                <a:cs typeface="+mn-lt"/>
              </a:rPr>
              <a:t>grid</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grid-template-columns</a:t>
            </a:r>
            <a:r>
              <a:rPr lang="es-ES" b="1" dirty="0">
                <a:latin typeface="Courier New"/>
                <a:ea typeface="+mn-lt"/>
                <a:cs typeface="+mn-lt"/>
              </a:rPr>
              <a:t>: 1fr 300px;</a:t>
            </a:r>
            <a:br>
              <a:rPr lang="es-ES" b="1" dirty="0">
                <a:latin typeface="Courier New"/>
                <a:ea typeface="+mn-lt"/>
                <a:cs typeface="+mn-lt"/>
              </a:rPr>
            </a:br>
            <a:r>
              <a:rPr lang="es-ES" b="1" dirty="0">
                <a:latin typeface="Courier New"/>
                <a:ea typeface="+mn-lt"/>
                <a:cs typeface="+mn-lt"/>
              </a:rPr>
              <a:t>  gap: 20px;</a:t>
            </a:r>
            <a:br>
              <a:rPr lang="es-ES" b="1" dirty="0">
                <a:latin typeface="Courier New"/>
                <a:ea typeface="+mn-lt"/>
                <a:cs typeface="+mn-lt"/>
              </a:rPr>
            </a:br>
            <a:r>
              <a:rPr lang="es-ES" b="1" dirty="0">
                <a:latin typeface="Courier New"/>
                <a:ea typeface="+mn-lt"/>
                <a:cs typeface="+mn-lt"/>
              </a:rPr>
              <a:t>}</a:t>
            </a:r>
          </a:p>
        </p:txBody>
      </p:sp>
    </p:spTree>
    <p:extLst>
      <p:ext uri="{BB962C8B-B14F-4D97-AF65-F5344CB8AC3E}">
        <p14:creationId xmlns:p14="http://schemas.microsoft.com/office/powerpoint/2010/main" val="1564877304"/>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E5C8BE-3859-3367-5A0B-22325C03E15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6BEC717-591E-CBA1-DD0B-9F188E88C14A}"/>
              </a:ext>
            </a:extLst>
          </p:cNvPr>
          <p:cNvSpPr>
            <a:spLocks noGrp="1"/>
          </p:cNvSpPr>
          <p:nvPr>
            <p:ph type="title"/>
          </p:nvPr>
        </p:nvSpPr>
        <p:spPr/>
        <p:txBody>
          <a:bodyPr/>
          <a:lstStyle/>
          <a:p>
            <a:r>
              <a:rPr lang="es-ES" b="0" dirty="0">
                <a:ea typeface="+mj-lt"/>
                <a:cs typeface="+mj-lt"/>
              </a:rPr>
              <a:t>2.3.3.4. Maquetación de diseños de dos dimensiones.</a:t>
            </a:r>
            <a:endParaRPr lang="es-ES" dirty="0"/>
          </a:p>
        </p:txBody>
      </p:sp>
      <p:sp>
        <p:nvSpPr>
          <p:cNvPr id="3" name="Marcador de contenido 2">
            <a:extLst>
              <a:ext uri="{FF2B5EF4-FFF2-40B4-BE49-F238E27FC236}">
                <a16:creationId xmlns:a16="http://schemas.microsoft.com/office/drawing/2014/main" id="{A2010A83-41C8-5747-6FB4-D4EE9C2B2543}"/>
              </a:ext>
            </a:extLst>
          </p:cNvPr>
          <p:cNvSpPr>
            <a:spLocks noGrp="1"/>
          </p:cNvSpPr>
          <p:nvPr>
            <p:ph idx="1"/>
          </p:nvPr>
        </p:nvSpPr>
        <p:spPr/>
        <p:txBody>
          <a:bodyPr vert="horz" lIns="91440" tIns="45720" rIns="91440" bIns="45720" rtlCol="0" anchor="t">
            <a:normAutofit/>
          </a:bodyPr>
          <a:lstStyle/>
          <a:p>
            <a:r>
              <a:rPr lang="es-ES" dirty="0">
                <a:ea typeface="+mn-lt"/>
                <a:cs typeface="+mn-lt"/>
              </a:rPr>
              <a:t>Centrado de un elemento en la rejilla: </a:t>
            </a:r>
            <a:r>
              <a:rPr lang="es-ES" dirty="0" err="1">
                <a:ea typeface="+mn-lt"/>
                <a:cs typeface="+mn-lt"/>
              </a:rPr>
              <a:t>Grid</a:t>
            </a:r>
            <a:r>
              <a:rPr lang="es-ES" dirty="0">
                <a:ea typeface="+mn-lt"/>
                <a:cs typeface="+mn-lt"/>
              </a:rPr>
              <a:t> facilita el centrado horizontal y vertical de un elemento.</a:t>
            </a:r>
          </a:p>
          <a:p>
            <a:pPr marL="0" indent="0">
              <a:buNone/>
            </a:pPr>
            <a:r>
              <a:rPr lang="es-ES" b="1" dirty="0">
                <a:latin typeface="Courier New"/>
                <a:ea typeface="+mn-lt"/>
                <a:cs typeface="+mn-lt"/>
              </a:rPr>
              <a:t>&lt;</a:t>
            </a:r>
            <a:r>
              <a:rPr lang="es-ES" b="1" dirty="0" err="1">
                <a:latin typeface="Courier New"/>
                <a:ea typeface="+mn-lt"/>
                <a:cs typeface="+mn-lt"/>
              </a:rPr>
              <a:t>div</a:t>
            </a:r>
            <a:r>
              <a:rPr lang="es-ES" b="1" dirty="0">
                <a:latin typeface="Courier New"/>
                <a:ea typeface="+mn-lt"/>
                <a:cs typeface="+mn-lt"/>
              </a:rPr>
              <a:t> </a:t>
            </a:r>
            <a:r>
              <a:rPr lang="es-ES" b="1" dirty="0" err="1">
                <a:latin typeface="Courier New"/>
                <a:ea typeface="+mn-lt"/>
                <a:cs typeface="+mn-lt"/>
              </a:rPr>
              <a:t>class</a:t>
            </a:r>
            <a:r>
              <a:rPr lang="es-ES" b="1" dirty="0">
                <a:latin typeface="Courier New"/>
                <a:ea typeface="+mn-lt"/>
                <a:cs typeface="+mn-lt"/>
              </a:rPr>
              <a:t>="contenedor-centrado"&gt;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div</a:t>
            </a:r>
            <a:r>
              <a:rPr lang="es-ES" b="1" dirty="0">
                <a:latin typeface="Courier New"/>
                <a:ea typeface="+mn-lt"/>
                <a:cs typeface="+mn-lt"/>
              </a:rPr>
              <a:t> </a:t>
            </a:r>
            <a:r>
              <a:rPr lang="es-ES" b="1" dirty="0" err="1">
                <a:latin typeface="Courier New"/>
                <a:ea typeface="+mn-lt"/>
                <a:cs typeface="+mn-lt"/>
              </a:rPr>
              <a:t>class</a:t>
            </a:r>
            <a:r>
              <a:rPr lang="es-ES" b="1" dirty="0">
                <a:latin typeface="Courier New"/>
                <a:ea typeface="+mn-lt"/>
                <a:cs typeface="+mn-lt"/>
              </a:rPr>
              <a:t>="centro"&gt;Centrado&lt;/</a:t>
            </a:r>
            <a:r>
              <a:rPr lang="es-ES" b="1" dirty="0" err="1">
                <a:latin typeface="Courier New"/>
                <a:ea typeface="+mn-lt"/>
                <a:cs typeface="+mn-lt"/>
              </a:rPr>
              <a:t>div</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&lt;/</a:t>
            </a:r>
            <a:r>
              <a:rPr lang="es-ES" b="1" dirty="0" err="1">
                <a:latin typeface="Courier New"/>
                <a:ea typeface="+mn-lt"/>
                <a:cs typeface="+mn-lt"/>
              </a:rPr>
              <a:t>div</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.contenedor-centrado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display</a:t>
            </a:r>
            <a:r>
              <a:rPr lang="es-ES" b="1" dirty="0">
                <a:latin typeface="Courier New"/>
                <a:ea typeface="+mn-lt"/>
                <a:cs typeface="+mn-lt"/>
              </a:rPr>
              <a:t>: </a:t>
            </a:r>
            <a:r>
              <a:rPr lang="es-ES" b="1" dirty="0" err="1">
                <a:latin typeface="Courier New"/>
                <a:ea typeface="+mn-lt"/>
                <a:cs typeface="+mn-lt"/>
              </a:rPr>
              <a:t>grid</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  place-</a:t>
            </a:r>
            <a:r>
              <a:rPr lang="es-ES" b="1" dirty="0" err="1">
                <a:latin typeface="Courier New"/>
                <a:ea typeface="+mn-lt"/>
                <a:cs typeface="+mn-lt"/>
              </a:rPr>
              <a:t>items</a:t>
            </a:r>
            <a:r>
              <a:rPr lang="es-ES" b="1" dirty="0">
                <a:latin typeface="Courier New"/>
                <a:ea typeface="+mn-lt"/>
                <a:cs typeface="+mn-lt"/>
              </a:rPr>
              <a:t>: center; /* Centra el contenido en ambas dimensiones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height</a:t>
            </a:r>
            <a:r>
              <a:rPr lang="es-ES" b="1" dirty="0">
                <a:latin typeface="Courier New"/>
                <a:ea typeface="+mn-lt"/>
                <a:cs typeface="+mn-lt"/>
              </a:rPr>
              <a:t>: 300px;</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border</a:t>
            </a:r>
            <a:r>
              <a:rPr lang="es-ES" b="1" dirty="0">
                <a:latin typeface="Courier New"/>
                <a:ea typeface="+mn-lt"/>
                <a:cs typeface="+mn-lt"/>
              </a:rPr>
              <a:t>: 1px </a:t>
            </a:r>
            <a:r>
              <a:rPr lang="es-ES" b="1" dirty="0" err="1">
                <a:latin typeface="Courier New"/>
                <a:ea typeface="+mn-lt"/>
                <a:cs typeface="+mn-lt"/>
              </a:rPr>
              <a:t>solid</a:t>
            </a:r>
            <a:r>
              <a:rPr lang="es-ES" b="1" dirty="0">
                <a:latin typeface="Courier New"/>
                <a:ea typeface="+mn-lt"/>
                <a:cs typeface="+mn-lt"/>
              </a:rPr>
              <a:t> </a:t>
            </a:r>
            <a:r>
              <a:rPr lang="es-ES" b="1" dirty="0" err="1">
                <a:latin typeface="Courier New"/>
                <a:ea typeface="+mn-lt"/>
                <a:cs typeface="+mn-lt"/>
              </a:rPr>
              <a:t>black</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a:t>
            </a:r>
          </a:p>
        </p:txBody>
      </p:sp>
    </p:spTree>
    <p:extLst>
      <p:ext uri="{BB962C8B-B14F-4D97-AF65-F5344CB8AC3E}">
        <p14:creationId xmlns:p14="http://schemas.microsoft.com/office/powerpoint/2010/main" val="2374273230"/>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3E93AA-6690-A143-824F-95A2CDF1483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3B11F0D-30B0-2F6E-3FFF-3FAC57F1C58F}"/>
              </a:ext>
            </a:extLst>
          </p:cNvPr>
          <p:cNvSpPr>
            <a:spLocks noGrp="1"/>
          </p:cNvSpPr>
          <p:nvPr>
            <p:ph type="title"/>
          </p:nvPr>
        </p:nvSpPr>
        <p:spPr/>
        <p:txBody>
          <a:bodyPr/>
          <a:lstStyle/>
          <a:p>
            <a:r>
              <a:rPr lang="es-ES" b="0" dirty="0">
                <a:ea typeface="+mj-lt"/>
                <a:cs typeface="+mj-lt"/>
              </a:rPr>
              <a:t>2.3.3.4. Maquetación de diseños de dos dimensiones.</a:t>
            </a:r>
            <a:endParaRPr lang="es-ES" dirty="0"/>
          </a:p>
        </p:txBody>
      </p:sp>
      <p:sp>
        <p:nvSpPr>
          <p:cNvPr id="3" name="Marcador de contenido 2">
            <a:extLst>
              <a:ext uri="{FF2B5EF4-FFF2-40B4-BE49-F238E27FC236}">
                <a16:creationId xmlns:a16="http://schemas.microsoft.com/office/drawing/2014/main" id="{F5B0DC76-FC99-1491-18CA-2D1879538922}"/>
              </a:ext>
            </a:extLst>
          </p:cNvPr>
          <p:cNvSpPr>
            <a:spLocks noGrp="1"/>
          </p:cNvSpPr>
          <p:nvPr>
            <p:ph idx="1"/>
          </p:nvPr>
        </p:nvSpPr>
        <p:spPr/>
        <p:txBody>
          <a:bodyPr vert="horz" lIns="91440" tIns="45720" rIns="91440" bIns="45720" rtlCol="0" anchor="t">
            <a:normAutofit fontScale="92500" lnSpcReduction="20000"/>
          </a:bodyPr>
          <a:lstStyle/>
          <a:p>
            <a:r>
              <a:rPr lang="es-ES" dirty="0" err="1">
                <a:ea typeface="+mn-lt"/>
                <a:cs typeface="+mn-lt"/>
              </a:rPr>
              <a:t>Layout</a:t>
            </a:r>
            <a:r>
              <a:rPr lang="es-ES" dirty="0">
                <a:ea typeface="+mn-lt"/>
                <a:cs typeface="+mn-lt"/>
              </a:rPr>
              <a:t> de cuadrícula con superposición: Permite que los elementos se superpongan en la misma celda de la rejilla.</a:t>
            </a:r>
          </a:p>
          <a:p>
            <a:pPr marL="0" indent="0">
              <a:buNone/>
            </a:pPr>
            <a:r>
              <a:rPr lang="es-ES" b="1" dirty="0">
                <a:latin typeface="Courier New"/>
                <a:ea typeface="+mn-lt"/>
                <a:cs typeface="+mn-lt"/>
              </a:rPr>
              <a:t>&lt;</a:t>
            </a:r>
            <a:r>
              <a:rPr lang="es-ES" b="1" dirty="0" err="1">
                <a:latin typeface="Courier New"/>
                <a:ea typeface="+mn-lt"/>
                <a:cs typeface="+mn-lt"/>
              </a:rPr>
              <a:t>div</a:t>
            </a:r>
            <a:r>
              <a:rPr lang="es-ES" b="1" dirty="0">
                <a:latin typeface="Courier New"/>
                <a:ea typeface="+mn-lt"/>
                <a:cs typeface="+mn-lt"/>
              </a:rPr>
              <a:t> </a:t>
            </a:r>
            <a:r>
              <a:rPr lang="es-ES" b="1" dirty="0" err="1">
                <a:latin typeface="Courier New"/>
                <a:ea typeface="+mn-lt"/>
                <a:cs typeface="+mn-lt"/>
              </a:rPr>
              <a:t>class</a:t>
            </a:r>
            <a:r>
              <a:rPr lang="es-ES" b="1" dirty="0">
                <a:latin typeface="Courier New"/>
                <a:ea typeface="+mn-lt"/>
                <a:cs typeface="+mn-lt"/>
              </a:rPr>
              <a:t>="superpuesto"&gt;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div</a:t>
            </a:r>
            <a:r>
              <a:rPr lang="es-ES" b="1" dirty="0">
                <a:latin typeface="Courier New"/>
                <a:ea typeface="+mn-lt"/>
                <a:cs typeface="+mn-lt"/>
              </a:rPr>
              <a:t> </a:t>
            </a:r>
            <a:r>
              <a:rPr lang="es-ES" b="1" dirty="0" err="1">
                <a:latin typeface="Courier New"/>
                <a:ea typeface="+mn-lt"/>
                <a:cs typeface="+mn-lt"/>
              </a:rPr>
              <a:t>class</a:t>
            </a:r>
            <a:r>
              <a:rPr lang="es-ES" b="1" dirty="0">
                <a:latin typeface="Courier New"/>
                <a:ea typeface="+mn-lt"/>
                <a:cs typeface="+mn-lt"/>
              </a:rPr>
              <a:t>="fondo"&gt;Fondo&lt;/</a:t>
            </a:r>
            <a:r>
              <a:rPr lang="es-ES" b="1" dirty="0" err="1">
                <a:latin typeface="Courier New"/>
                <a:ea typeface="+mn-lt"/>
                <a:cs typeface="+mn-lt"/>
              </a:rPr>
              <a:t>div</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div</a:t>
            </a:r>
            <a:r>
              <a:rPr lang="es-ES" b="1" dirty="0">
                <a:latin typeface="Courier New"/>
                <a:ea typeface="+mn-lt"/>
                <a:cs typeface="+mn-lt"/>
              </a:rPr>
              <a:t> </a:t>
            </a:r>
            <a:r>
              <a:rPr lang="es-ES" b="1" dirty="0" err="1">
                <a:latin typeface="Courier New"/>
                <a:ea typeface="+mn-lt"/>
                <a:cs typeface="+mn-lt"/>
              </a:rPr>
              <a:t>class</a:t>
            </a:r>
            <a:r>
              <a:rPr lang="es-ES" b="1" dirty="0">
                <a:latin typeface="Courier New"/>
                <a:ea typeface="+mn-lt"/>
                <a:cs typeface="+mn-lt"/>
              </a:rPr>
              <a:t>="frente"&gt;Frente&lt;/</a:t>
            </a:r>
            <a:r>
              <a:rPr lang="es-ES" b="1" dirty="0" err="1">
                <a:latin typeface="Courier New"/>
                <a:ea typeface="+mn-lt"/>
                <a:cs typeface="+mn-lt"/>
              </a:rPr>
              <a:t>div</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&lt;/</a:t>
            </a:r>
            <a:r>
              <a:rPr lang="es-ES" b="1" dirty="0" err="1">
                <a:latin typeface="Courier New"/>
                <a:ea typeface="+mn-lt"/>
                <a:cs typeface="+mn-lt"/>
              </a:rPr>
              <a:t>div</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.superpuesto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display</a:t>
            </a:r>
            <a:r>
              <a:rPr lang="es-ES" b="1" dirty="0">
                <a:latin typeface="Courier New"/>
                <a:ea typeface="+mn-lt"/>
                <a:cs typeface="+mn-lt"/>
              </a:rPr>
              <a:t>: </a:t>
            </a:r>
            <a:r>
              <a:rPr lang="es-ES" b="1" dirty="0" err="1">
                <a:latin typeface="Courier New"/>
                <a:ea typeface="+mn-lt"/>
                <a:cs typeface="+mn-lt"/>
              </a:rPr>
              <a:t>grid</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grid-template-columns</a:t>
            </a:r>
            <a:r>
              <a:rPr lang="es-ES" b="1" dirty="0">
                <a:latin typeface="Courier New"/>
                <a:ea typeface="+mn-lt"/>
                <a:cs typeface="+mn-lt"/>
              </a:rPr>
              <a:t>: 1fr;</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grid-template-rows</a:t>
            </a:r>
            <a:r>
              <a:rPr lang="es-ES" b="1" dirty="0">
                <a:latin typeface="Courier New"/>
                <a:ea typeface="+mn-lt"/>
                <a:cs typeface="+mn-lt"/>
              </a:rPr>
              <a:t>: 1fr;</a:t>
            </a:r>
            <a:br>
              <a:rPr lang="es-ES" b="1" dirty="0">
                <a:latin typeface="Courier New"/>
                <a:ea typeface="+mn-lt"/>
                <a:cs typeface="+mn-lt"/>
              </a:rPr>
            </a:b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.fondo, .frente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grid-area</a:t>
            </a:r>
            <a:r>
              <a:rPr lang="es-ES" b="1" dirty="0">
                <a:latin typeface="Courier New"/>
                <a:ea typeface="+mn-lt"/>
                <a:cs typeface="+mn-lt"/>
              </a:rPr>
              <a:t>: 1 / 1 / 2 / 2; /* Ocupan la misma celda */</a:t>
            </a:r>
            <a:br>
              <a:rPr lang="es-ES" b="1" dirty="0">
                <a:latin typeface="Courier New"/>
                <a:ea typeface="+mn-lt"/>
                <a:cs typeface="+mn-lt"/>
              </a:rPr>
            </a:br>
            <a:r>
              <a:rPr lang="es-ES" b="1" dirty="0">
                <a:latin typeface="Courier New"/>
                <a:ea typeface="+mn-lt"/>
                <a:cs typeface="+mn-lt"/>
              </a:rPr>
              <a:t>}</a:t>
            </a:r>
          </a:p>
        </p:txBody>
      </p:sp>
    </p:spTree>
    <p:extLst>
      <p:ext uri="{BB962C8B-B14F-4D97-AF65-F5344CB8AC3E}">
        <p14:creationId xmlns:p14="http://schemas.microsoft.com/office/powerpoint/2010/main" val="421236003"/>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1CF48-D69A-4F78-0B7A-3DC0764E911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1961C17-7BB4-4D22-6D71-3EE2D7569FFA}"/>
              </a:ext>
            </a:extLst>
          </p:cNvPr>
          <p:cNvSpPr>
            <a:spLocks noGrp="1"/>
          </p:cNvSpPr>
          <p:nvPr>
            <p:ph type="title"/>
          </p:nvPr>
        </p:nvSpPr>
        <p:spPr/>
        <p:txBody>
          <a:bodyPr/>
          <a:lstStyle/>
          <a:p>
            <a:r>
              <a:rPr lang="es-ES" b="0" dirty="0">
                <a:ea typeface="+mj-lt"/>
                <a:cs typeface="+mj-lt"/>
              </a:rPr>
              <a:t>2.3.3.4. Maquetación de diseños de dos dimensiones.</a:t>
            </a:r>
            <a:endParaRPr lang="es-ES" dirty="0"/>
          </a:p>
        </p:txBody>
      </p:sp>
      <p:sp>
        <p:nvSpPr>
          <p:cNvPr id="3" name="Marcador de contenido 2">
            <a:extLst>
              <a:ext uri="{FF2B5EF4-FFF2-40B4-BE49-F238E27FC236}">
                <a16:creationId xmlns:a16="http://schemas.microsoft.com/office/drawing/2014/main" id="{32A493D5-A728-4450-0158-5F4AADDD1F27}"/>
              </a:ext>
            </a:extLst>
          </p:cNvPr>
          <p:cNvSpPr>
            <a:spLocks noGrp="1"/>
          </p:cNvSpPr>
          <p:nvPr>
            <p:ph idx="1"/>
          </p:nvPr>
        </p:nvSpPr>
        <p:spPr/>
        <p:txBody>
          <a:bodyPr vert="horz" lIns="91440" tIns="45720" rIns="91440" bIns="45720" rtlCol="0" anchor="t">
            <a:normAutofit fontScale="92500" lnSpcReduction="20000"/>
          </a:bodyPr>
          <a:lstStyle/>
          <a:p>
            <a:r>
              <a:rPr lang="es-ES" dirty="0">
                <a:ea typeface="+mn-lt"/>
                <a:cs typeface="+mn-lt"/>
              </a:rPr>
              <a:t>Tablero de juego: Una aplicación perfecta para </a:t>
            </a:r>
            <a:r>
              <a:rPr lang="es-ES" dirty="0" err="1">
                <a:ea typeface="+mn-lt"/>
                <a:cs typeface="+mn-lt"/>
              </a:rPr>
              <a:t>Grid</a:t>
            </a:r>
            <a:r>
              <a:rPr lang="es-ES" dirty="0">
                <a:ea typeface="+mn-lt"/>
                <a:cs typeface="+mn-lt"/>
              </a:rPr>
              <a:t> es la creación de un tablero, donde cada celda es un elemento.</a:t>
            </a:r>
          </a:p>
          <a:p>
            <a:pPr marL="0" indent="0">
              <a:buNone/>
            </a:pPr>
            <a:r>
              <a:rPr lang="es-ES" b="1" dirty="0">
                <a:latin typeface="Courier New"/>
                <a:ea typeface="+mn-lt"/>
                <a:cs typeface="+mn-lt"/>
              </a:rPr>
              <a:t>&lt;</a:t>
            </a:r>
            <a:r>
              <a:rPr lang="es-ES" b="1" dirty="0" err="1">
                <a:latin typeface="Courier New"/>
                <a:ea typeface="+mn-lt"/>
                <a:cs typeface="+mn-lt"/>
              </a:rPr>
              <a:t>div</a:t>
            </a:r>
            <a:r>
              <a:rPr lang="es-ES" b="1" dirty="0">
                <a:latin typeface="Courier New"/>
                <a:ea typeface="+mn-lt"/>
                <a:cs typeface="+mn-lt"/>
              </a:rPr>
              <a:t> </a:t>
            </a:r>
            <a:r>
              <a:rPr lang="es-ES" b="1" dirty="0" err="1">
                <a:latin typeface="Courier New"/>
                <a:ea typeface="+mn-lt"/>
                <a:cs typeface="+mn-lt"/>
              </a:rPr>
              <a:t>class</a:t>
            </a:r>
            <a:r>
              <a:rPr lang="es-ES" b="1" dirty="0">
                <a:latin typeface="Courier New"/>
                <a:ea typeface="+mn-lt"/>
                <a:cs typeface="+mn-lt"/>
              </a:rPr>
              <a:t>="tablero"&gt;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div</a:t>
            </a:r>
            <a:r>
              <a:rPr lang="es-ES" b="1" dirty="0">
                <a:latin typeface="Courier New"/>
                <a:ea typeface="+mn-lt"/>
                <a:cs typeface="+mn-lt"/>
              </a:rPr>
              <a:t>&gt;&lt;/</a:t>
            </a:r>
            <a:r>
              <a:rPr lang="es-ES" b="1" dirty="0" err="1">
                <a:latin typeface="Courier New"/>
                <a:ea typeface="+mn-lt"/>
                <a:cs typeface="+mn-lt"/>
              </a:rPr>
              <a:t>div</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div</a:t>
            </a:r>
            <a:r>
              <a:rPr lang="es-ES" b="1" dirty="0">
                <a:latin typeface="Courier New"/>
                <a:ea typeface="+mn-lt"/>
                <a:cs typeface="+mn-lt"/>
              </a:rPr>
              <a:t>&gt;&lt;/</a:t>
            </a:r>
            <a:r>
              <a:rPr lang="es-ES" b="1" dirty="0" err="1">
                <a:latin typeface="Courier New"/>
                <a:ea typeface="+mn-lt"/>
                <a:cs typeface="+mn-lt"/>
              </a:rPr>
              <a:t>div</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div</a:t>
            </a:r>
            <a:r>
              <a:rPr lang="es-ES" b="1" dirty="0">
                <a:latin typeface="Courier New"/>
                <a:ea typeface="+mn-lt"/>
                <a:cs typeface="+mn-lt"/>
              </a:rPr>
              <a:t>&gt;&lt;/</a:t>
            </a:r>
            <a:r>
              <a:rPr lang="es-ES" b="1" dirty="0" err="1">
                <a:latin typeface="Courier New"/>
                <a:ea typeface="+mn-lt"/>
                <a:cs typeface="+mn-lt"/>
              </a:rPr>
              <a:t>div</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div</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.tablero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display</a:t>
            </a:r>
            <a:r>
              <a:rPr lang="es-ES" b="1" dirty="0">
                <a:latin typeface="Courier New"/>
                <a:ea typeface="+mn-lt"/>
                <a:cs typeface="+mn-lt"/>
              </a:rPr>
              <a:t>: </a:t>
            </a:r>
            <a:r>
              <a:rPr lang="es-ES" b="1" dirty="0" err="1">
                <a:latin typeface="Courier New"/>
                <a:ea typeface="+mn-lt"/>
                <a:cs typeface="+mn-lt"/>
              </a:rPr>
              <a:t>grid</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grid-template-columns</a:t>
            </a:r>
            <a:r>
              <a:rPr lang="es-ES" b="1" dirty="0">
                <a:latin typeface="Courier New"/>
                <a:ea typeface="+mn-lt"/>
                <a:cs typeface="+mn-lt"/>
              </a:rPr>
              <a:t>: </a:t>
            </a:r>
            <a:r>
              <a:rPr lang="es-ES" b="1" dirty="0" err="1">
                <a:latin typeface="Courier New"/>
                <a:ea typeface="+mn-lt"/>
                <a:cs typeface="+mn-lt"/>
              </a:rPr>
              <a:t>repeat</a:t>
            </a:r>
            <a:r>
              <a:rPr lang="es-ES" b="1" dirty="0">
                <a:latin typeface="Courier New"/>
                <a:ea typeface="+mn-lt"/>
                <a:cs typeface="+mn-lt"/>
              </a:rPr>
              <a:t>(3, 1fr);</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grid-template-rows</a:t>
            </a:r>
            <a:r>
              <a:rPr lang="es-ES" b="1" dirty="0">
                <a:latin typeface="Courier New"/>
                <a:ea typeface="+mn-lt"/>
                <a:cs typeface="+mn-lt"/>
              </a:rPr>
              <a:t>: </a:t>
            </a:r>
            <a:r>
              <a:rPr lang="es-ES" b="1" dirty="0" err="1">
                <a:latin typeface="Courier New"/>
                <a:ea typeface="+mn-lt"/>
                <a:cs typeface="+mn-lt"/>
              </a:rPr>
              <a:t>repeat</a:t>
            </a:r>
            <a:r>
              <a:rPr lang="es-ES" b="1" dirty="0">
                <a:latin typeface="Courier New"/>
                <a:ea typeface="+mn-lt"/>
                <a:cs typeface="+mn-lt"/>
              </a:rPr>
              <a:t>(3, 1fr);</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width</a:t>
            </a:r>
            <a:r>
              <a:rPr lang="es-ES" b="1" dirty="0">
                <a:latin typeface="Courier New"/>
                <a:ea typeface="+mn-lt"/>
                <a:cs typeface="+mn-lt"/>
              </a:rPr>
              <a:t>: 300px;</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height</a:t>
            </a:r>
            <a:r>
              <a:rPr lang="es-ES" b="1" dirty="0">
                <a:latin typeface="Courier New"/>
                <a:ea typeface="+mn-lt"/>
                <a:cs typeface="+mn-lt"/>
              </a:rPr>
              <a:t>: 300px;</a:t>
            </a:r>
            <a:br>
              <a:rPr lang="es-ES" b="1" dirty="0">
                <a:latin typeface="Courier New"/>
                <a:ea typeface="+mn-lt"/>
                <a:cs typeface="+mn-lt"/>
              </a:rPr>
            </a:br>
            <a:r>
              <a:rPr lang="es-ES" b="1" dirty="0">
                <a:latin typeface="Courier New"/>
                <a:ea typeface="+mn-lt"/>
                <a:cs typeface="+mn-lt"/>
              </a:rPr>
              <a:t>  gap: 5px;</a:t>
            </a:r>
            <a:br>
              <a:rPr lang="es-ES" b="1" dirty="0">
                <a:latin typeface="Courier New"/>
                <a:ea typeface="+mn-lt"/>
                <a:cs typeface="+mn-lt"/>
              </a:rPr>
            </a:br>
            <a:r>
              <a:rPr lang="es-ES" b="1" dirty="0">
                <a:latin typeface="Courier New"/>
                <a:ea typeface="+mn-lt"/>
                <a:cs typeface="+mn-lt"/>
              </a:rPr>
              <a:t>}</a:t>
            </a:r>
          </a:p>
        </p:txBody>
      </p:sp>
    </p:spTree>
    <p:extLst>
      <p:ext uri="{BB962C8B-B14F-4D97-AF65-F5344CB8AC3E}">
        <p14:creationId xmlns:p14="http://schemas.microsoft.com/office/powerpoint/2010/main" val="375971660"/>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C6354B-5138-666F-1EAD-9230CF6FC95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453B098-04CB-8ABE-8ECF-65E824E72901}"/>
              </a:ext>
            </a:extLst>
          </p:cNvPr>
          <p:cNvSpPr>
            <a:spLocks noGrp="1"/>
          </p:cNvSpPr>
          <p:nvPr>
            <p:ph type="title"/>
          </p:nvPr>
        </p:nvSpPr>
        <p:spPr/>
        <p:txBody>
          <a:bodyPr/>
          <a:lstStyle/>
          <a:p>
            <a:r>
              <a:rPr lang="es-ES" b="0" dirty="0">
                <a:ea typeface="+mj-lt"/>
                <a:cs typeface="+mj-lt"/>
              </a:rPr>
              <a:t>2.3.3.4. Maquetación de diseños de dos dimensiones.</a:t>
            </a:r>
            <a:endParaRPr lang="es-ES" dirty="0"/>
          </a:p>
        </p:txBody>
      </p:sp>
      <p:sp>
        <p:nvSpPr>
          <p:cNvPr id="3" name="Marcador de contenido 2">
            <a:extLst>
              <a:ext uri="{FF2B5EF4-FFF2-40B4-BE49-F238E27FC236}">
                <a16:creationId xmlns:a16="http://schemas.microsoft.com/office/drawing/2014/main" id="{DAF02FC2-6DEA-A49F-713D-1C6094DD0137}"/>
              </a:ext>
            </a:extLst>
          </p:cNvPr>
          <p:cNvSpPr>
            <a:spLocks noGrp="1"/>
          </p:cNvSpPr>
          <p:nvPr>
            <p:ph idx="1"/>
          </p:nvPr>
        </p:nvSpPr>
        <p:spPr/>
        <p:txBody>
          <a:bodyPr vert="horz" lIns="91440" tIns="45720" rIns="91440" bIns="45720" rtlCol="0" anchor="t">
            <a:normAutofit fontScale="92500" lnSpcReduction="20000"/>
          </a:bodyPr>
          <a:lstStyle/>
          <a:p>
            <a:r>
              <a:rPr lang="es-ES" dirty="0" err="1">
                <a:ea typeface="+mn-lt"/>
                <a:cs typeface="+mn-lt"/>
              </a:rPr>
              <a:t>Layout</a:t>
            </a:r>
            <a:r>
              <a:rPr lang="es-ES" dirty="0">
                <a:ea typeface="+mn-lt"/>
                <a:cs typeface="+mn-lt"/>
              </a:rPr>
              <a:t> con área de chat: Un diseño ideal para una aplicación de chat, con una cabecera, un área de mensajes que se desplaza y una barra de entrada.</a:t>
            </a:r>
          </a:p>
          <a:p>
            <a:pPr marL="0" indent="0">
              <a:buNone/>
            </a:pPr>
            <a:r>
              <a:rPr lang="es-ES" b="1" dirty="0">
                <a:latin typeface="Courier New"/>
                <a:ea typeface="+mn-lt"/>
                <a:cs typeface="+mn-lt"/>
              </a:rPr>
              <a:t>&lt;</a:t>
            </a:r>
            <a:r>
              <a:rPr lang="es-ES" b="1" dirty="0" err="1">
                <a:latin typeface="Courier New"/>
                <a:ea typeface="+mn-lt"/>
                <a:cs typeface="+mn-lt"/>
              </a:rPr>
              <a:t>div</a:t>
            </a:r>
            <a:r>
              <a:rPr lang="es-ES" b="1" dirty="0">
                <a:latin typeface="Courier New"/>
                <a:ea typeface="+mn-lt"/>
                <a:cs typeface="+mn-lt"/>
              </a:rPr>
              <a:t> </a:t>
            </a:r>
            <a:r>
              <a:rPr lang="es-ES" b="1" dirty="0" err="1">
                <a:latin typeface="Courier New"/>
                <a:ea typeface="+mn-lt"/>
                <a:cs typeface="+mn-lt"/>
              </a:rPr>
              <a:t>class</a:t>
            </a:r>
            <a:r>
              <a:rPr lang="es-ES" b="1" dirty="0">
                <a:latin typeface="Courier New"/>
                <a:ea typeface="+mn-lt"/>
                <a:cs typeface="+mn-lt"/>
              </a:rPr>
              <a:t>="app-chat"&gt;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header</a:t>
            </a:r>
            <a:r>
              <a:rPr lang="es-ES" b="1" dirty="0">
                <a:latin typeface="Courier New"/>
                <a:ea typeface="+mn-lt"/>
                <a:cs typeface="+mn-lt"/>
              </a:rPr>
              <a:t>&gt;Chat&lt;/</a:t>
            </a:r>
            <a:r>
              <a:rPr lang="es-ES" b="1" dirty="0" err="1">
                <a:latin typeface="Courier New"/>
                <a:ea typeface="+mn-lt"/>
                <a:cs typeface="+mn-lt"/>
              </a:rPr>
              <a:t>header</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main</a:t>
            </a:r>
            <a:r>
              <a:rPr lang="es-ES" b="1" dirty="0">
                <a:latin typeface="Courier New"/>
                <a:ea typeface="+mn-lt"/>
                <a:cs typeface="+mn-lt"/>
              </a:rPr>
              <a:t>&gt;Área de mensajes&lt;/</a:t>
            </a:r>
            <a:r>
              <a:rPr lang="es-ES" b="1" dirty="0" err="1">
                <a:latin typeface="Courier New"/>
                <a:ea typeface="+mn-lt"/>
                <a:cs typeface="+mn-lt"/>
              </a:rPr>
              <a:t>main</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footer</a:t>
            </a:r>
            <a:r>
              <a:rPr lang="es-ES" b="1" dirty="0">
                <a:latin typeface="Courier New"/>
                <a:ea typeface="+mn-lt"/>
                <a:cs typeface="+mn-lt"/>
              </a:rPr>
              <a:t>&gt;Barra de entrada&lt;/</a:t>
            </a:r>
            <a:r>
              <a:rPr lang="es-ES" b="1" dirty="0" err="1">
                <a:latin typeface="Courier New"/>
                <a:ea typeface="+mn-lt"/>
                <a:cs typeface="+mn-lt"/>
              </a:rPr>
              <a:t>footer</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&lt;/</a:t>
            </a:r>
            <a:r>
              <a:rPr lang="es-ES" b="1" dirty="0" err="1">
                <a:latin typeface="Courier New"/>
                <a:ea typeface="+mn-lt"/>
                <a:cs typeface="+mn-lt"/>
              </a:rPr>
              <a:t>div</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.app-chat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display</a:t>
            </a:r>
            <a:r>
              <a:rPr lang="es-ES" b="1" dirty="0">
                <a:latin typeface="Courier New"/>
                <a:ea typeface="+mn-lt"/>
                <a:cs typeface="+mn-lt"/>
              </a:rPr>
              <a:t>: </a:t>
            </a:r>
            <a:r>
              <a:rPr lang="es-ES" b="1" dirty="0" err="1">
                <a:latin typeface="Courier New"/>
                <a:ea typeface="+mn-lt"/>
                <a:cs typeface="+mn-lt"/>
              </a:rPr>
              <a:t>grid</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grid-template-rows</a:t>
            </a:r>
            <a:r>
              <a:rPr lang="es-ES" b="1" dirty="0">
                <a:latin typeface="Courier New"/>
                <a:ea typeface="+mn-lt"/>
                <a:cs typeface="+mn-lt"/>
              </a:rPr>
              <a:t>: auto 1fr auto; /* 3 filas para el </a:t>
            </a:r>
            <a:r>
              <a:rPr lang="es-ES" b="1" dirty="0" err="1">
                <a:latin typeface="Courier New"/>
                <a:ea typeface="+mn-lt"/>
                <a:cs typeface="+mn-lt"/>
              </a:rPr>
              <a:t>header</a:t>
            </a:r>
            <a:r>
              <a:rPr lang="es-ES" b="1" dirty="0">
                <a:latin typeface="Courier New"/>
                <a:ea typeface="+mn-lt"/>
                <a:cs typeface="+mn-lt"/>
              </a:rPr>
              <a:t>, </a:t>
            </a:r>
            <a:r>
              <a:rPr lang="es-ES" b="1" dirty="0" err="1">
                <a:latin typeface="Courier New"/>
                <a:ea typeface="+mn-lt"/>
                <a:cs typeface="+mn-lt"/>
              </a:rPr>
              <a:t>main</a:t>
            </a:r>
            <a:r>
              <a:rPr lang="es-ES" b="1" dirty="0">
                <a:latin typeface="Courier New"/>
                <a:ea typeface="+mn-lt"/>
                <a:cs typeface="+mn-lt"/>
              </a:rPr>
              <a:t> y </a:t>
            </a:r>
            <a:r>
              <a:rPr lang="es-ES" b="1" dirty="0" err="1">
                <a:latin typeface="Courier New"/>
                <a:ea typeface="+mn-lt"/>
                <a:cs typeface="+mn-lt"/>
              </a:rPr>
              <a:t>footer</a:t>
            </a: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height</a:t>
            </a:r>
            <a:r>
              <a:rPr lang="es-ES" b="1" dirty="0">
                <a:latin typeface="Courier New"/>
                <a:ea typeface="+mn-lt"/>
                <a:cs typeface="+mn-lt"/>
              </a:rPr>
              <a:t>: 100vh;</a:t>
            </a:r>
            <a:br>
              <a:rPr lang="es-ES" b="1" dirty="0">
                <a:latin typeface="Courier New"/>
                <a:ea typeface="+mn-lt"/>
                <a:cs typeface="+mn-lt"/>
              </a:rPr>
            </a:b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.app-chat </a:t>
            </a:r>
            <a:r>
              <a:rPr lang="es-ES" b="1" dirty="0" err="1">
                <a:latin typeface="Courier New"/>
                <a:ea typeface="+mn-lt"/>
                <a:cs typeface="+mn-lt"/>
              </a:rPr>
              <a:t>main</a:t>
            </a: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overflow</a:t>
            </a:r>
            <a:r>
              <a:rPr lang="es-ES" b="1" dirty="0">
                <a:latin typeface="Courier New"/>
                <a:ea typeface="+mn-lt"/>
                <a:cs typeface="+mn-lt"/>
              </a:rPr>
              <a:t>-y: </a:t>
            </a:r>
            <a:r>
              <a:rPr lang="es-ES" b="1" dirty="0" err="1">
                <a:latin typeface="Courier New"/>
                <a:ea typeface="+mn-lt"/>
                <a:cs typeface="+mn-lt"/>
              </a:rPr>
              <a:t>scroll</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a:t>
            </a:r>
          </a:p>
        </p:txBody>
      </p:sp>
    </p:spTree>
    <p:extLst>
      <p:ext uri="{BB962C8B-B14F-4D97-AF65-F5344CB8AC3E}">
        <p14:creationId xmlns:p14="http://schemas.microsoft.com/office/powerpoint/2010/main" val="1567287025"/>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97C723-763D-4A71-C990-67D4948843F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59703CB-AAC6-CF0B-2EAA-47DE39632925}"/>
              </a:ext>
            </a:extLst>
          </p:cNvPr>
          <p:cNvSpPr>
            <a:spLocks noGrp="1"/>
          </p:cNvSpPr>
          <p:nvPr>
            <p:ph type="title"/>
          </p:nvPr>
        </p:nvSpPr>
        <p:spPr/>
        <p:txBody>
          <a:bodyPr/>
          <a:lstStyle/>
          <a:p>
            <a:r>
              <a:rPr lang="es-ES" b="0" dirty="0">
                <a:ea typeface="+mj-lt"/>
                <a:cs typeface="+mj-lt"/>
              </a:rPr>
              <a:t>2.3.3.4. Maquetación de diseños de dos dimensiones.</a:t>
            </a:r>
            <a:endParaRPr lang="es-ES" dirty="0"/>
          </a:p>
        </p:txBody>
      </p:sp>
      <p:sp>
        <p:nvSpPr>
          <p:cNvPr id="3" name="Marcador de contenido 2">
            <a:extLst>
              <a:ext uri="{FF2B5EF4-FFF2-40B4-BE49-F238E27FC236}">
                <a16:creationId xmlns:a16="http://schemas.microsoft.com/office/drawing/2014/main" id="{4B0DD3C1-B0D9-97EB-3C10-3B2CC042D2E1}"/>
              </a:ext>
            </a:extLst>
          </p:cNvPr>
          <p:cNvSpPr>
            <a:spLocks noGrp="1"/>
          </p:cNvSpPr>
          <p:nvPr>
            <p:ph idx="1"/>
          </p:nvPr>
        </p:nvSpPr>
        <p:spPr/>
        <p:txBody>
          <a:bodyPr vert="horz" lIns="91440" tIns="45720" rIns="91440" bIns="45720" rtlCol="0" anchor="t">
            <a:normAutofit fontScale="85000" lnSpcReduction="20000"/>
          </a:bodyPr>
          <a:lstStyle/>
          <a:p>
            <a:r>
              <a:rPr lang="es-ES" dirty="0" err="1">
                <a:ea typeface="+mn-lt"/>
                <a:cs typeface="+mn-lt"/>
              </a:rPr>
              <a:t>Layout</a:t>
            </a:r>
            <a:r>
              <a:rPr lang="es-ES" dirty="0">
                <a:ea typeface="+mn-lt"/>
                <a:cs typeface="+mn-lt"/>
              </a:rPr>
              <a:t> de "</a:t>
            </a:r>
            <a:r>
              <a:rPr lang="es-ES" dirty="0" err="1">
                <a:ea typeface="+mn-lt"/>
                <a:cs typeface="+mn-lt"/>
              </a:rPr>
              <a:t>Dashboard</a:t>
            </a:r>
            <a:r>
              <a:rPr lang="es-ES" dirty="0">
                <a:ea typeface="+mn-lt"/>
                <a:cs typeface="+mn-lt"/>
              </a:rPr>
              <a:t>": Un diseño común para paneles de administración, con una estructura compleja de varias columnas y filas.</a:t>
            </a:r>
          </a:p>
          <a:p>
            <a:pPr marL="0" indent="0">
              <a:buNone/>
            </a:pPr>
            <a:r>
              <a:rPr lang="es-ES" b="1" dirty="0">
                <a:latin typeface="Courier New"/>
                <a:ea typeface="+mn-lt"/>
                <a:cs typeface="+mn-lt"/>
              </a:rPr>
              <a:t>&lt;</a:t>
            </a:r>
            <a:r>
              <a:rPr lang="es-ES" b="1" dirty="0" err="1">
                <a:latin typeface="Courier New"/>
                <a:ea typeface="+mn-lt"/>
                <a:cs typeface="+mn-lt"/>
              </a:rPr>
              <a:t>div</a:t>
            </a:r>
            <a:r>
              <a:rPr lang="es-ES" b="1" dirty="0">
                <a:latin typeface="Courier New"/>
                <a:ea typeface="+mn-lt"/>
                <a:cs typeface="+mn-lt"/>
              </a:rPr>
              <a:t> </a:t>
            </a:r>
            <a:r>
              <a:rPr lang="es-ES" b="1" dirty="0" err="1">
                <a:latin typeface="Courier New"/>
                <a:ea typeface="+mn-lt"/>
                <a:cs typeface="+mn-lt"/>
              </a:rPr>
              <a:t>class</a:t>
            </a:r>
            <a:r>
              <a:rPr lang="es-ES" b="1" dirty="0">
                <a:latin typeface="Courier New"/>
                <a:ea typeface="+mn-lt"/>
                <a:cs typeface="+mn-lt"/>
              </a:rPr>
              <a:t>="</a:t>
            </a:r>
            <a:r>
              <a:rPr lang="es-ES" b="1" dirty="0" err="1">
                <a:latin typeface="Courier New"/>
                <a:ea typeface="+mn-lt"/>
                <a:cs typeface="+mn-lt"/>
              </a:rPr>
              <a:t>dashboard</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header</a:t>
            </a:r>
            <a:r>
              <a:rPr lang="es-ES" b="1" dirty="0">
                <a:latin typeface="Courier New"/>
                <a:ea typeface="+mn-lt"/>
                <a:cs typeface="+mn-lt"/>
              </a:rPr>
              <a:t>&gt;</a:t>
            </a:r>
            <a:r>
              <a:rPr lang="es-ES" b="1" dirty="0" err="1">
                <a:latin typeface="Courier New"/>
                <a:ea typeface="+mn-lt"/>
                <a:cs typeface="+mn-lt"/>
              </a:rPr>
              <a:t>Header</a:t>
            </a:r>
            <a:r>
              <a:rPr lang="es-ES" b="1" dirty="0">
                <a:latin typeface="Courier New"/>
                <a:ea typeface="+mn-lt"/>
                <a:cs typeface="+mn-lt"/>
              </a:rPr>
              <a:t>&lt;/</a:t>
            </a:r>
            <a:r>
              <a:rPr lang="es-ES" b="1" dirty="0" err="1">
                <a:latin typeface="Courier New"/>
                <a:ea typeface="+mn-lt"/>
                <a:cs typeface="+mn-lt"/>
              </a:rPr>
              <a:t>header</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&lt;aside&gt;Navegación&lt;/aside&gt;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main</a:t>
            </a:r>
            <a:r>
              <a:rPr lang="es-ES" b="1" dirty="0">
                <a:latin typeface="Courier New"/>
                <a:ea typeface="+mn-lt"/>
                <a:cs typeface="+mn-lt"/>
              </a:rPr>
              <a:t> </a:t>
            </a:r>
            <a:r>
              <a:rPr lang="es-ES" b="1" dirty="0" err="1">
                <a:latin typeface="Courier New"/>
                <a:ea typeface="+mn-lt"/>
                <a:cs typeface="+mn-lt"/>
              </a:rPr>
              <a:t>class</a:t>
            </a:r>
            <a:r>
              <a:rPr lang="es-ES" b="1" dirty="0">
                <a:latin typeface="Courier New"/>
                <a:ea typeface="+mn-lt"/>
                <a:cs typeface="+mn-lt"/>
              </a:rPr>
              <a:t>="widget-principal"&gt;Widget&lt;/</a:t>
            </a:r>
            <a:r>
              <a:rPr lang="es-ES" b="1" dirty="0" err="1">
                <a:latin typeface="Courier New"/>
                <a:ea typeface="+mn-lt"/>
                <a:cs typeface="+mn-lt"/>
              </a:rPr>
              <a:t>main</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div</a:t>
            </a:r>
            <a:r>
              <a:rPr lang="es-ES" b="1" dirty="0">
                <a:latin typeface="Courier New"/>
                <a:ea typeface="+mn-lt"/>
                <a:cs typeface="+mn-lt"/>
              </a:rPr>
              <a:t> </a:t>
            </a:r>
            <a:r>
              <a:rPr lang="es-ES" b="1" dirty="0" err="1">
                <a:latin typeface="Courier New"/>
                <a:ea typeface="+mn-lt"/>
                <a:cs typeface="+mn-lt"/>
              </a:rPr>
              <a:t>class</a:t>
            </a:r>
            <a:r>
              <a:rPr lang="es-ES" b="1" dirty="0">
                <a:latin typeface="Courier New"/>
                <a:ea typeface="+mn-lt"/>
                <a:cs typeface="+mn-lt"/>
              </a:rPr>
              <a:t>="widget-secundario"&gt;Otro widget&lt;/</a:t>
            </a:r>
            <a:r>
              <a:rPr lang="es-ES" b="1" dirty="0" err="1">
                <a:latin typeface="Courier New"/>
                <a:ea typeface="+mn-lt"/>
                <a:cs typeface="+mn-lt"/>
              </a:rPr>
              <a:t>div</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&lt;/</a:t>
            </a:r>
            <a:r>
              <a:rPr lang="es-ES" b="1" dirty="0" err="1">
                <a:latin typeface="Courier New"/>
                <a:ea typeface="+mn-lt"/>
                <a:cs typeface="+mn-lt"/>
              </a:rPr>
              <a:t>div</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a:t>
            </a:r>
            <a:r>
              <a:rPr lang="es-ES" b="1" dirty="0" err="1">
                <a:latin typeface="Courier New"/>
                <a:ea typeface="+mn-lt"/>
                <a:cs typeface="+mn-lt"/>
              </a:rPr>
              <a:t>dashboard</a:t>
            </a: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display</a:t>
            </a:r>
            <a:r>
              <a:rPr lang="es-ES" b="1" dirty="0">
                <a:latin typeface="Courier New"/>
                <a:ea typeface="+mn-lt"/>
                <a:cs typeface="+mn-lt"/>
              </a:rPr>
              <a:t>: </a:t>
            </a:r>
            <a:r>
              <a:rPr lang="es-ES" b="1" dirty="0" err="1">
                <a:latin typeface="Courier New"/>
                <a:ea typeface="+mn-lt"/>
                <a:cs typeface="+mn-lt"/>
              </a:rPr>
              <a:t>grid</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grid-template-columns</a:t>
            </a:r>
            <a:r>
              <a:rPr lang="es-ES" b="1" dirty="0">
                <a:latin typeface="Courier New"/>
                <a:ea typeface="+mn-lt"/>
                <a:cs typeface="+mn-lt"/>
              </a:rPr>
              <a:t>: 200px 1fr </a:t>
            </a:r>
            <a:r>
              <a:rPr lang="es-ES" b="1" dirty="0" err="1">
                <a:latin typeface="Courier New"/>
                <a:ea typeface="+mn-lt"/>
                <a:cs typeface="+mn-lt"/>
              </a:rPr>
              <a:t>1fr</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grid-template-rows</a:t>
            </a:r>
            <a:r>
              <a:rPr lang="es-ES" b="1" dirty="0">
                <a:latin typeface="Courier New"/>
                <a:ea typeface="+mn-lt"/>
                <a:cs typeface="+mn-lt"/>
              </a:rPr>
              <a:t>: 80px 1fr;</a:t>
            </a:r>
            <a:br>
              <a:rPr lang="es-ES" b="1" dirty="0">
                <a:latin typeface="Courier New"/>
                <a:ea typeface="+mn-lt"/>
                <a:cs typeface="+mn-lt"/>
              </a:rPr>
            </a:br>
            <a:r>
              <a:rPr lang="es-ES" b="1" dirty="0">
                <a:latin typeface="Courier New"/>
                <a:ea typeface="+mn-lt"/>
                <a:cs typeface="+mn-lt"/>
              </a:rPr>
              <a:t>  gap: 10px;</a:t>
            </a:r>
            <a:br>
              <a:rPr lang="es-ES" b="1" dirty="0">
                <a:latin typeface="Courier New"/>
                <a:ea typeface="+mn-lt"/>
                <a:cs typeface="+mn-lt"/>
              </a:rPr>
            </a:b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a:t>
            </a:r>
            <a:r>
              <a:rPr lang="es-ES" b="1" dirty="0" err="1">
                <a:latin typeface="Courier New"/>
                <a:ea typeface="+mn-lt"/>
                <a:cs typeface="+mn-lt"/>
              </a:rPr>
              <a:t>dashboard</a:t>
            </a:r>
            <a:r>
              <a:rPr lang="es-ES" b="1" dirty="0">
                <a:latin typeface="Courier New"/>
                <a:ea typeface="+mn-lt"/>
                <a:cs typeface="+mn-lt"/>
              </a:rPr>
              <a:t> </a:t>
            </a:r>
            <a:r>
              <a:rPr lang="es-ES" b="1" dirty="0" err="1">
                <a:latin typeface="Courier New"/>
                <a:ea typeface="+mn-lt"/>
                <a:cs typeface="+mn-lt"/>
              </a:rPr>
              <a:t>header</a:t>
            </a:r>
            <a:r>
              <a:rPr lang="es-ES" b="1" dirty="0">
                <a:latin typeface="Courier New"/>
                <a:ea typeface="+mn-lt"/>
                <a:cs typeface="+mn-lt"/>
              </a:rPr>
              <a:t> { </a:t>
            </a:r>
            <a:r>
              <a:rPr lang="es-ES" b="1" dirty="0" err="1">
                <a:latin typeface="Courier New"/>
                <a:ea typeface="+mn-lt"/>
                <a:cs typeface="+mn-lt"/>
              </a:rPr>
              <a:t>grid-column</a:t>
            </a:r>
            <a:r>
              <a:rPr lang="es-ES" b="1" dirty="0">
                <a:latin typeface="Courier New"/>
                <a:ea typeface="+mn-lt"/>
                <a:cs typeface="+mn-lt"/>
              </a:rPr>
              <a:t>: 1 / -1; } /* Ocupa todas las columnas */</a:t>
            </a:r>
            <a:br>
              <a:rPr lang="es-ES" b="1" dirty="0">
                <a:latin typeface="Courier New"/>
                <a:ea typeface="+mn-lt"/>
                <a:cs typeface="+mn-lt"/>
              </a:rPr>
            </a:br>
            <a:r>
              <a:rPr lang="es-ES" b="1" dirty="0">
                <a:latin typeface="Courier New"/>
                <a:ea typeface="+mn-lt"/>
                <a:cs typeface="+mn-lt"/>
              </a:rPr>
              <a:t>.</a:t>
            </a:r>
            <a:r>
              <a:rPr lang="es-ES" b="1" dirty="0" err="1">
                <a:latin typeface="Courier New"/>
                <a:ea typeface="+mn-lt"/>
                <a:cs typeface="+mn-lt"/>
              </a:rPr>
              <a:t>dashboard</a:t>
            </a:r>
            <a:r>
              <a:rPr lang="es-ES" b="1" dirty="0">
                <a:latin typeface="Courier New"/>
                <a:ea typeface="+mn-lt"/>
                <a:cs typeface="+mn-lt"/>
              </a:rPr>
              <a:t> aside { </a:t>
            </a:r>
            <a:r>
              <a:rPr lang="es-ES" b="1" dirty="0" err="1">
                <a:latin typeface="Courier New"/>
                <a:ea typeface="+mn-lt"/>
                <a:cs typeface="+mn-lt"/>
              </a:rPr>
              <a:t>grid-row</a:t>
            </a:r>
            <a:r>
              <a:rPr lang="es-ES" b="1" dirty="0">
                <a:latin typeface="Courier New"/>
                <a:ea typeface="+mn-lt"/>
                <a:cs typeface="+mn-lt"/>
              </a:rPr>
              <a:t>: 2; }</a:t>
            </a:r>
            <a:br>
              <a:rPr lang="es-ES" b="1" dirty="0">
                <a:latin typeface="Courier New"/>
                <a:ea typeface="+mn-lt"/>
                <a:cs typeface="+mn-lt"/>
              </a:rPr>
            </a:br>
            <a:r>
              <a:rPr lang="es-ES" b="1" dirty="0">
                <a:latin typeface="Courier New"/>
                <a:ea typeface="+mn-lt"/>
                <a:cs typeface="+mn-lt"/>
              </a:rPr>
              <a:t>.</a:t>
            </a:r>
            <a:r>
              <a:rPr lang="es-ES" b="1" dirty="0" err="1">
                <a:latin typeface="Courier New"/>
                <a:ea typeface="+mn-lt"/>
                <a:cs typeface="+mn-lt"/>
              </a:rPr>
              <a:t>dashboard</a:t>
            </a:r>
            <a:r>
              <a:rPr lang="es-ES" b="1" dirty="0">
                <a:latin typeface="Courier New"/>
                <a:ea typeface="+mn-lt"/>
                <a:cs typeface="+mn-lt"/>
              </a:rPr>
              <a:t> </a:t>
            </a:r>
            <a:r>
              <a:rPr lang="es-ES" b="1" dirty="0" err="1">
                <a:latin typeface="Courier New"/>
                <a:ea typeface="+mn-lt"/>
                <a:cs typeface="+mn-lt"/>
              </a:rPr>
              <a:t>main</a:t>
            </a:r>
            <a:r>
              <a:rPr lang="es-ES" b="1" dirty="0">
                <a:latin typeface="Courier New"/>
                <a:ea typeface="+mn-lt"/>
                <a:cs typeface="+mn-lt"/>
              </a:rPr>
              <a:t> { </a:t>
            </a:r>
            <a:r>
              <a:rPr lang="es-ES" b="1" dirty="0" err="1">
                <a:latin typeface="Courier New"/>
                <a:ea typeface="+mn-lt"/>
                <a:cs typeface="+mn-lt"/>
              </a:rPr>
              <a:t>grid-column</a:t>
            </a:r>
            <a:r>
              <a:rPr lang="es-ES" b="1" dirty="0">
                <a:latin typeface="Courier New"/>
                <a:ea typeface="+mn-lt"/>
                <a:cs typeface="+mn-lt"/>
              </a:rPr>
              <a:t>: 2 / 4; </a:t>
            </a:r>
            <a:r>
              <a:rPr lang="es-ES" b="1" dirty="0" err="1">
                <a:latin typeface="Courier New"/>
                <a:ea typeface="+mn-lt"/>
                <a:cs typeface="+mn-lt"/>
              </a:rPr>
              <a:t>grid-row</a:t>
            </a:r>
            <a:r>
              <a:rPr lang="es-ES" b="1" dirty="0">
                <a:latin typeface="Courier New"/>
                <a:ea typeface="+mn-lt"/>
                <a:cs typeface="+mn-lt"/>
              </a:rPr>
              <a:t>: 2; }</a:t>
            </a:r>
            <a:endParaRPr lang="es-ES" b="1">
              <a:latin typeface="Courier New"/>
              <a:ea typeface="+mn-lt"/>
              <a:cs typeface="+mn-lt"/>
            </a:endParaRPr>
          </a:p>
        </p:txBody>
      </p:sp>
    </p:spTree>
    <p:extLst>
      <p:ext uri="{BB962C8B-B14F-4D97-AF65-F5344CB8AC3E}">
        <p14:creationId xmlns:p14="http://schemas.microsoft.com/office/powerpoint/2010/main" val="1616491931"/>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696F90-5C10-054B-44E6-A54F0FE5409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4FCB012-136A-94E0-9295-34FFD4839B80}"/>
              </a:ext>
            </a:extLst>
          </p:cNvPr>
          <p:cNvSpPr>
            <a:spLocks noGrp="1"/>
          </p:cNvSpPr>
          <p:nvPr>
            <p:ph type="title"/>
          </p:nvPr>
        </p:nvSpPr>
        <p:spPr/>
        <p:txBody>
          <a:bodyPr/>
          <a:lstStyle/>
          <a:p>
            <a:r>
              <a:rPr lang="es-ES" b="0" dirty="0">
                <a:ea typeface="+mj-lt"/>
                <a:cs typeface="+mj-lt"/>
              </a:rPr>
              <a:t>2.3.3.4. Maquetación de diseños de dos dimensiones.</a:t>
            </a:r>
            <a:endParaRPr lang="es-ES" dirty="0"/>
          </a:p>
        </p:txBody>
      </p:sp>
      <p:sp>
        <p:nvSpPr>
          <p:cNvPr id="3" name="Marcador de contenido 2">
            <a:extLst>
              <a:ext uri="{FF2B5EF4-FFF2-40B4-BE49-F238E27FC236}">
                <a16:creationId xmlns:a16="http://schemas.microsoft.com/office/drawing/2014/main" id="{B11348AE-AFD1-BE4D-EC3D-64FF90CC06F7}"/>
              </a:ext>
            </a:extLst>
          </p:cNvPr>
          <p:cNvSpPr>
            <a:spLocks noGrp="1"/>
          </p:cNvSpPr>
          <p:nvPr>
            <p:ph idx="1"/>
          </p:nvPr>
        </p:nvSpPr>
        <p:spPr/>
        <p:txBody>
          <a:bodyPr vert="horz" lIns="91440" tIns="45720" rIns="91440" bIns="45720" rtlCol="0" anchor="t">
            <a:normAutofit fontScale="92500"/>
          </a:bodyPr>
          <a:lstStyle/>
          <a:p>
            <a:r>
              <a:rPr lang="es-ES" dirty="0" err="1">
                <a:ea typeface="+mn-lt"/>
                <a:cs typeface="+mn-lt"/>
              </a:rPr>
              <a:t>Layout</a:t>
            </a:r>
            <a:r>
              <a:rPr lang="es-ES" dirty="0">
                <a:ea typeface="+mn-lt"/>
                <a:cs typeface="+mn-lt"/>
              </a:rPr>
              <a:t> de formulario: </a:t>
            </a:r>
            <a:r>
              <a:rPr lang="es-ES" dirty="0" err="1">
                <a:ea typeface="+mn-lt"/>
                <a:cs typeface="+mn-lt"/>
              </a:rPr>
              <a:t>Grid</a:t>
            </a:r>
            <a:r>
              <a:rPr lang="es-ES" dirty="0">
                <a:ea typeface="+mn-lt"/>
                <a:cs typeface="+mn-lt"/>
              </a:rPr>
              <a:t> simplifica la creación de formularios con campos y etiquetas perfectamente alineados.</a:t>
            </a:r>
          </a:p>
          <a:p>
            <a:pPr marL="0" indent="0">
              <a:buNone/>
            </a:pPr>
            <a:r>
              <a:rPr lang="es-ES" b="1" dirty="0">
                <a:latin typeface="Courier New"/>
                <a:ea typeface="+mn-lt"/>
                <a:cs typeface="+mn-lt"/>
              </a:rPr>
              <a:t>&lt;</a:t>
            </a:r>
            <a:r>
              <a:rPr lang="es-ES" b="1" dirty="0" err="1">
                <a:latin typeface="Courier New"/>
                <a:ea typeface="+mn-lt"/>
                <a:cs typeface="+mn-lt"/>
              </a:rPr>
              <a:t>form</a:t>
            </a:r>
            <a:r>
              <a:rPr lang="es-ES" b="1" dirty="0">
                <a:latin typeface="Courier New"/>
                <a:ea typeface="+mn-lt"/>
                <a:cs typeface="+mn-lt"/>
              </a:rPr>
              <a:t> </a:t>
            </a:r>
            <a:r>
              <a:rPr lang="es-ES" b="1" dirty="0" err="1">
                <a:latin typeface="Courier New"/>
                <a:ea typeface="+mn-lt"/>
                <a:cs typeface="+mn-lt"/>
              </a:rPr>
              <a:t>class</a:t>
            </a:r>
            <a:r>
              <a:rPr lang="es-ES" b="1" dirty="0">
                <a:latin typeface="Courier New"/>
                <a:ea typeface="+mn-lt"/>
                <a:cs typeface="+mn-lt"/>
              </a:rPr>
              <a:t>="formulario-</a:t>
            </a:r>
            <a:r>
              <a:rPr lang="es-ES" b="1" dirty="0" err="1">
                <a:latin typeface="Courier New"/>
                <a:ea typeface="+mn-lt"/>
                <a:cs typeface="+mn-lt"/>
              </a:rPr>
              <a:t>grid</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label</a:t>
            </a:r>
            <a:r>
              <a:rPr lang="es-ES" b="1" dirty="0">
                <a:latin typeface="Courier New"/>
                <a:ea typeface="+mn-lt"/>
                <a:cs typeface="+mn-lt"/>
              </a:rPr>
              <a:t> </a:t>
            </a:r>
            <a:r>
              <a:rPr lang="es-ES" b="1" dirty="0" err="1">
                <a:latin typeface="Courier New"/>
                <a:ea typeface="+mn-lt"/>
                <a:cs typeface="+mn-lt"/>
              </a:rPr>
              <a:t>for</a:t>
            </a:r>
            <a:r>
              <a:rPr lang="es-ES" b="1" dirty="0">
                <a:latin typeface="Courier New"/>
                <a:ea typeface="+mn-lt"/>
                <a:cs typeface="+mn-lt"/>
              </a:rPr>
              <a:t>="nombre"&gt;Nombre&lt;/</a:t>
            </a:r>
            <a:r>
              <a:rPr lang="es-ES" b="1" dirty="0" err="1">
                <a:latin typeface="Courier New"/>
                <a:ea typeface="+mn-lt"/>
                <a:cs typeface="+mn-lt"/>
              </a:rPr>
              <a:t>label</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&lt;input </a:t>
            </a:r>
            <a:r>
              <a:rPr lang="es-ES" b="1" dirty="0" err="1">
                <a:latin typeface="Courier New"/>
                <a:ea typeface="+mn-lt"/>
                <a:cs typeface="+mn-lt"/>
              </a:rPr>
              <a:t>type</a:t>
            </a:r>
            <a:r>
              <a:rPr lang="es-ES" b="1" dirty="0">
                <a:latin typeface="Courier New"/>
                <a:ea typeface="+mn-lt"/>
                <a:cs typeface="+mn-lt"/>
              </a:rPr>
              <a:t>="</a:t>
            </a:r>
            <a:r>
              <a:rPr lang="es-ES" b="1" dirty="0" err="1">
                <a:latin typeface="Courier New"/>
                <a:ea typeface="+mn-lt"/>
                <a:cs typeface="+mn-lt"/>
              </a:rPr>
              <a:t>text</a:t>
            </a:r>
            <a:r>
              <a:rPr lang="es-ES" b="1" dirty="0">
                <a:latin typeface="Courier New"/>
                <a:ea typeface="+mn-lt"/>
                <a:cs typeface="+mn-lt"/>
              </a:rPr>
              <a:t>" id="nombre"&gt;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label</a:t>
            </a:r>
            <a:r>
              <a:rPr lang="es-ES" b="1" dirty="0">
                <a:latin typeface="Courier New"/>
                <a:ea typeface="+mn-lt"/>
                <a:cs typeface="+mn-lt"/>
              </a:rPr>
              <a:t> </a:t>
            </a:r>
            <a:r>
              <a:rPr lang="es-ES" b="1" dirty="0" err="1">
                <a:latin typeface="Courier New"/>
                <a:ea typeface="+mn-lt"/>
                <a:cs typeface="+mn-lt"/>
              </a:rPr>
              <a:t>for</a:t>
            </a:r>
            <a:r>
              <a:rPr lang="es-ES" b="1" dirty="0">
                <a:latin typeface="Courier New"/>
                <a:ea typeface="+mn-lt"/>
                <a:cs typeface="+mn-lt"/>
              </a:rPr>
              <a:t>="email"&gt;Email&lt;/</a:t>
            </a:r>
            <a:r>
              <a:rPr lang="es-ES" b="1" dirty="0" err="1">
                <a:latin typeface="Courier New"/>
                <a:ea typeface="+mn-lt"/>
                <a:cs typeface="+mn-lt"/>
              </a:rPr>
              <a:t>label</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&lt;input </a:t>
            </a:r>
            <a:r>
              <a:rPr lang="es-ES" b="1" dirty="0" err="1">
                <a:latin typeface="Courier New"/>
                <a:ea typeface="+mn-lt"/>
                <a:cs typeface="+mn-lt"/>
              </a:rPr>
              <a:t>type</a:t>
            </a:r>
            <a:r>
              <a:rPr lang="es-ES" b="1" dirty="0">
                <a:latin typeface="Courier New"/>
                <a:ea typeface="+mn-lt"/>
                <a:cs typeface="+mn-lt"/>
              </a:rPr>
              <a:t>="email" id="email"&gt;</a:t>
            </a:r>
            <a:br>
              <a:rPr lang="es-ES" b="1" dirty="0">
                <a:latin typeface="Courier New"/>
                <a:ea typeface="+mn-lt"/>
                <a:cs typeface="+mn-lt"/>
              </a:rPr>
            </a:br>
            <a:r>
              <a:rPr lang="es-ES" b="1" dirty="0">
                <a:latin typeface="Courier New"/>
                <a:ea typeface="+mn-lt"/>
                <a:cs typeface="+mn-lt"/>
              </a:rPr>
              <a:t>&lt;/</a:t>
            </a:r>
            <a:r>
              <a:rPr lang="es-ES" b="1" dirty="0" err="1">
                <a:latin typeface="Courier New"/>
                <a:ea typeface="+mn-lt"/>
                <a:cs typeface="+mn-lt"/>
              </a:rPr>
              <a:t>form</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.formulario-</a:t>
            </a:r>
            <a:r>
              <a:rPr lang="es-ES" b="1" dirty="0" err="1">
                <a:latin typeface="Courier New"/>
                <a:ea typeface="+mn-lt"/>
                <a:cs typeface="+mn-lt"/>
              </a:rPr>
              <a:t>grid</a:t>
            </a: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display</a:t>
            </a:r>
            <a:r>
              <a:rPr lang="es-ES" b="1" dirty="0">
                <a:latin typeface="Courier New"/>
                <a:ea typeface="+mn-lt"/>
                <a:cs typeface="+mn-lt"/>
              </a:rPr>
              <a:t>: </a:t>
            </a:r>
            <a:r>
              <a:rPr lang="es-ES" b="1" dirty="0" err="1">
                <a:latin typeface="Courier New"/>
                <a:ea typeface="+mn-lt"/>
                <a:cs typeface="+mn-lt"/>
              </a:rPr>
              <a:t>grid</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grid-template-columns</a:t>
            </a:r>
            <a:r>
              <a:rPr lang="es-ES" b="1" dirty="0">
                <a:latin typeface="Courier New"/>
                <a:ea typeface="+mn-lt"/>
                <a:cs typeface="+mn-lt"/>
              </a:rPr>
              <a:t>: auto 1fr;</a:t>
            </a:r>
            <a:br>
              <a:rPr lang="es-ES" b="1" dirty="0">
                <a:latin typeface="Courier New"/>
                <a:ea typeface="+mn-lt"/>
                <a:cs typeface="+mn-lt"/>
              </a:rPr>
            </a:br>
            <a:r>
              <a:rPr lang="es-ES" b="1" dirty="0">
                <a:latin typeface="Courier New"/>
                <a:ea typeface="+mn-lt"/>
                <a:cs typeface="+mn-lt"/>
              </a:rPr>
              <a:t>  gap: 10px;</a:t>
            </a:r>
            <a:br>
              <a:rPr lang="es-ES" b="1" dirty="0">
                <a:latin typeface="Courier New"/>
                <a:ea typeface="+mn-lt"/>
                <a:cs typeface="+mn-lt"/>
              </a:rPr>
            </a:br>
            <a:r>
              <a:rPr lang="es-ES" b="1" dirty="0">
                <a:latin typeface="Courier New"/>
                <a:ea typeface="+mn-lt"/>
                <a:cs typeface="+mn-lt"/>
              </a:rPr>
              <a:t>}</a:t>
            </a:r>
          </a:p>
        </p:txBody>
      </p:sp>
    </p:spTree>
    <p:extLst>
      <p:ext uri="{BB962C8B-B14F-4D97-AF65-F5344CB8AC3E}">
        <p14:creationId xmlns:p14="http://schemas.microsoft.com/office/powerpoint/2010/main" val="1342954983"/>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614B54-DA36-4F6C-620F-A931A6AE30D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368CF62-52F1-466B-4DF0-D309BB97873C}"/>
              </a:ext>
            </a:extLst>
          </p:cNvPr>
          <p:cNvSpPr>
            <a:spLocks noGrp="1"/>
          </p:cNvSpPr>
          <p:nvPr>
            <p:ph type="title"/>
          </p:nvPr>
        </p:nvSpPr>
        <p:spPr/>
        <p:txBody>
          <a:bodyPr/>
          <a:lstStyle/>
          <a:p>
            <a:r>
              <a:rPr lang="es-ES" b="0" dirty="0">
                <a:ea typeface="+mj-lt"/>
                <a:cs typeface="+mj-lt"/>
              </a:rPr>
              <a:t>2.3.3.4. Maquetación de diseños de dos dimensiones.</a:t>
            </a:r>
            <a:endParaRPr lang="es-ES" dirty="0"/>
          </a:p>
        </p:txBody>
      </p:sp>
      <p:sp>
        <p:nvSpPr>
          <p:cNvPr id="3" name="Marcador de contenido 2">
            <a:extLst>
              <a:ext uri="{FF2B5EF4-FFF2-40B4-BE49-F238E27FC236}">
                <a16:creationId xmlns:a16="http://schemas.microsoft.com/office/drawing/2014/main" id="{FF646EE7-B368-A142-E1D3-494D7E3FA7DE}"/>
              </a:ext>
            </a:extLst>
          </p:cNvPr>
          <p:cNvSpPr>
            <a:spLocks noGrp="1"/>
          </p:cNvSpPr>
          <p:nvPr>
            <p:ph idx="1"/>
          </p:nvPr>
        </p:nvSpPr>
        <p:spPr/>
        <p:txBody>
          <a:bodyPr vert="horz" lIns="91440" tIns="45720" rIns="91440" bIns="45720" rtlCol="0" anchor="t">
            <a:normAutofit fontScale="85000" lnSpcReduction="10000"/>
          </a:bodyPr>
          <a:lstStyle/>
          <a:p>
            <a:r>
              <a:rPr lang="es-ES" dirty="0" err="1">
                <a:ea typeface="+mn-lt"/>
                <a:cs typeface="+mn-lt"/>
              </a:rPr>
              <a:t>Layout</a:t>
            </a:r>
            <a:r>
              <a:rPr lang="es-ES" dirty="0">
                <a:ea typeface="+mn-lt"/>
                <a:cs typeface="+mn-lt"/>
              </a:rPr>
              <a:t> de blog con artículos: Un diseño para una página de blog, con un artículo destacado y varios artículos más pequeños.</a:t>
            </a:r>
          </a:p>
          <a:p>
            <a:pPr marL="0" indent="0">
              <a:buNone/>
            </a:pPr>
            <a:r>
              <a:rPr lang="es-ES" b="1" dirty="0">
                <a:latin typeface="Courier New"/>
                <a:ea typeface="+mn-lt"/>
                <a:cs typeface="+mn-lt"/>
              </a:rPr>
              <a:t>&lt;</a:t>
            </a:r>
            <a:r>
              <a:rPr lang="es-ES" b="1" dirty="0" err="1">
                <a:latin typeface="Courier New"/>
                <a:ea typeface="+mn-lt"/>
                <a:cs typeface="+mn-lt"/>
              </a:rPr>
              <a:t>div</a:t>
            </a:r>
            <a:r>
              <a:rPr lang="es-ES" b="1" dirty="0">
                <a:latin typeface="Courier New"/>
                <a:ea typeface="+mn-lt"/>
                <a:cs typeface="+mn-lt"/>
              </a:rPr>
              <a:t> </a:t>
            </a:r>
            <a:r>
              <a:rPr lang="es-ES" b="1" dirty="0" err="1">
                <a:latin typeface="Courier New"/>
                <a:ea typeface="+mn-lt"/>
                <a:cs typeface="+mn-lt"/>
              </a:rPr>
              <a:t>class</a:t>
            </a:r>
            <a:r>
              <a:rPr lang="es-ES" b="1" dirty="0">
                <a:latin typeface="Courier New"/>
                <a:ea typeface="+mn-lt"/>
                <a:cs typeface="+mn-lt"/>
              </a:rPr>
              <a:t>="</a:t>
            </a:r>
            <a:r>
              <a:rPr lang="es-ES" b="1" dirty="0" err="1">
                <a:latin typeface="Courier New"/>
                <a:ea typeface="+mn-lt"/>
                <a:cs typeface="+mn-lt"/>
              </a:rPr>
              <a:t>layout</a:t>
            </a:r>
            <a:r>
              <a:rPr lang="es-ES" b="1" dirty="0">
                <a:latin typeface="Courier New"/>
                <a:ea typeface="+mn-lt"/>
                <a:cs typeface="+mn-lt"/>
              </a:rPr>
              <a:t>-blog"&gt;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article</a:t>
            </a:r>
            <a:r>
              <a:rPr lang="es-ES" b="1" dirty="0">
                <a:latin typeface="Courier New"/>
                <a:ea typeface="+mn-lt"/>
                <a:cs typeface="+mn-lt"/>
              </a:rPr>
              <a:t> </a:t>
            </a:r>
            <a:r>
              <a:rPr lang="es-ES" b="1" dirty="0" err="1">
                <a:latin typeface="Courier New"/>
                <a:ea typeface="+mn-lt"/>
                <a:cs typeface="+mn-lt"/>
              </a:rPr>
              <a:t>class</a:t>
            </a:r>
            <a:r>
              <a:rPr lang="es-ES" b="1" dirty="0">
                <a:latin typeface="Courier New"/>
                <a:ea typeface="+mn-lt"/>
                <a:cs typeface="+mn-lt"/>
              </a:rPr>
              <a:t>="destacado"&gt;Artículo Destacado&lt;/</a:t>
            </a:r>
            <a:r>
              <a:rPr lang="es-ES" b="1" dirty="0" err="1">
                <a:latin typeface="Courier New"/>
                <a:ea typeface="+mn-lt"/>
                <a:cs typeface="+mn-lt"/>
              </a:rPr>
              <a:t>article</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article</a:t>
            </a:r>
            <a:r>
              <a:rPr lang="es-ES" b="1" dirty="0">
                <a:latin typeface="Courier New"/>
                <a:ea typeface="+mn-lt"/>
                <a:cs typeface="+mn-lt"/>
              </a:rPr>
              <a:t>&gt;Artículo 1&lt;/</a:t>
            </a:r>
            <a:r>
              <a:rPr lang="es-ES" b="1" dirty="0" err="1">
                <a:latin typeface="Courier New"/>
                <a:ea typeface="+mn-lt"/>
                <a:cs typeface="+mn-lt"/>
              </a:rPr>
              <a:t>article</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article</a:t>
            </a:r>
            <a:r>
              <a:rPr lang="es-ES" b="1" dirty="0">
                <a:latin typeface="Courier New"/>
                <a:ea typeface="+mn-lt"/>
                <a:cs typeface="+mn-lt"/>
              </a:rPr>
              <a:t>&gt;Artículo 2&lt;/</a:t>
            </a:r>
            <a:r>
              <a:rPr lang="es-ES" b="1" dirty="0" err="1">
                <a:latin typeface="Courier New"/>
                <a:ea typeface="+mn-lt"/>
                <a:cs typeface="+mn-lt"/>
              </a:rPr>
              <a:t>article</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article</a:t>
            </a:r>
            <a:r>
              <a:rPr lang="es-ES" b="1" dirty="0">
                <a:latin typeface="Courier New"/>
                <a:ea typeface="+mn-lt"/>
                <a:cs typeface="+mn-lt"/>
              </a:rPr>
              <a:t>&gt;Artículo 3&lt;/</a:t>
            </a:r>
            <a:r>
              <a:rPr lang="es-ES" b="1" dirty="0" err="1">
                <a:latin typeface="Courier New"/>
                <a:ea typeface="+mn-lt"/>
                <a:cs typeface="+mn-lt"/>
              </a:rPr>
              <a:t>article</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&lt;/</a:t>
            </a:r>
            <a:r>
              <a:rPr lang="es-ES" b="1" dirty="0" err="1">
                <a:latin typeface="Courier New"/>
                <a:ea typeface="+mn-lt"/>
                <a:cs typeface="+mn-lt"/>
              </a:rPr>
              <a:t>div</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a:t>
            </a:r>
            <a:r>
              <a:rPr lang="es-ES" b="1" dirty="0" err="1">
                <a:latin typeface="Courier New"/>
                <a:ea typeface="+mn-lt"/>
                <a:cs typeface="+mn-lt"/>
              </a:rPr>
              <a:t>layout</a:t>
            </a:r>
            <a:r>
              <a:rPr lang="es-ES" b="1" dirty="0">
                <a:latin typeface="Courier New"/>
                <a:ea typeface="+mn-lt"/>
                <a:cs typeface="+mn-lt"/>
              </a:rPr>
              <a:t>-blog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display</a:t>
            </a:r>
            <a:r>
              <a:rPr lang="es-ES" b="1" dirty="0">
                <a:latin typeface="Courier New"/>
                <a:ea typeface="+mn-lt"/>
                <a:cs typeface="+mn-lt"/>
              </a:rPr>
              <a:t>: </a:t>
            </a:r>
            <a:r>
              <a:rPr lang="es-ES" b="1" dirty="0" err="1">
                <a:latin typeface="Courier New"/>
                <a:ea typeface="+mn-lt"/>
                <a:cs typeface="+mn-lt"/>
              </a:rPr>
              <a:t>grid</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grid-template-columns</a:t>
            </a:r>
            <a:r>
              <a:rPr lang="es-ES" b="1" dirty="0">
                <a:latin typeface="Courier New"/>
                <a:ea typeface="+mn-lt"/>
                <a:cs typeface="+mn-lt"/>
              </a:rPr>
              <a:t>: </a:t>
            </a:r>
            <a:r>
              <a:rPr lang="es-ES" b="1" dirty="0" err="1">
                <a:latin typeface="Courier New"/>
                <a:ea typeface="+mn-lt"/>
                <a:cs typeface="+mn-lt"/>
              </a:rPr>
              <a:t>repeat</a:t>
            </a:r>
            <a:r>
              <a:rPr lang="es-ES" b="1" dirty="0">
                <a:latin typeface="Courier New"/>
                <a:ea typeface="+mn-lt"/>
                <a:cs typeface="+mn-lt"/>
              </a:rPr>
              <a:t>(3, 1fr);</a:t>
            </a:r>
            <a:br>
              <a:rPr lang="es-ES" b="1" dirty="0">
                <a:latin typeface="Courier New"/>
                <a:ea typeface="+mn-lt"/>
                <a:cs typeface="+mn-lt"/>
              </a:rPr>
            </a:br>
            <a:r>
              <a:rPr lang="es-ES" b="1" dirty="0">
                <a:latin typeface="Courier New"/>
                <a:ea typeface="+mn-lt"/>
                <a:cs typeface="+mn-lt"/>
              </a:rPr>
              <a:t>  gap: 20px;</a:t>
            </a:r>
            <a:br>
              <a:rPr lang="es-ES" b="1" dirty="0">
                <a:latin typeface="Courier New"/>
                <a:ea typeface="+mn-lt"/>
                <a:cs typeface="+mn-lt"/>
              </a:rPr>
            </a:b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.destacado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grid-column</a:t>
            </a:r>
            <a:r>
              <a:rPr lang="es-ES" b="1" dirty="0">
                <a:latin typeface="Courier New"/>
                <a:ea typeface="+mn-lt"/>
                <a:cs typeface="+mn-lt"/>
              </a:rPr>
              <a:t>: 1 / -1; /* Ocupa todo el ancho */</a:t>
            </a:r>
            <a:br>
              <a:rPr lang="es-ES" b="1" dirty="0">
                <a:latin typeface="Courier New"/>
                <a:ea typeface="+mn-lt"/>
                <a:cs typeface="+mn-lt"/>
              </a:rPr>
            </a:br>
            <a:r>
              <a:rPr lang="es-ES" b="1" dirty="0">
                <a:latin typeface="Courier New"/>
                <a:ea typeface="+mn-lt"/>
                <a:cs typeface="+mn-lt"/>
              </a:rPr>
              <a:t>}</a:t>
            </a:r>
          </a:p>
        </p:txBody>
      </p:sp>
    </p:spTree>
    <p:extLst>
      <p:ext uri="{BB962C8B-B14F-4D97-AF65-F5344CB8AC3E}">
        <p14:creationId xmlns:p14="http://schemas.microsoft.com/office/powerpoint/2010/main" val="927551582"/>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E6AA44-CA25-5391-F0BE-23645519E27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52A8E56-09A7-70CC-B2C8-AB1ECC374B44}"/>
              </a:ext>
            </a:extLst>
          </p:cNvPr>
          <p:cNvSpPr>
            <a:spLocks noGrp="1"/>
          </p:cNvSpPr>
          <p:nvPr>
            <p:ph type="title"/>
          </p:nvPr>
        </p:nvSpPr>
        <p:spPr/>
        <p:txBody>
          <a:bodyPr/>
          <a:lstStyle/>
          <a:p>
            <a:r>
              <a:rPr lang="es-ES" b="0" dirty="0">
                <a:ea typeface="+mj-lt"/>
                <a:cs typeface="+mj-lt"/>
              </a:rPr>
              <a:t>2.3.4. </a:t>
            </a:r>
            <a:r>
              <a:rPr lang="es-ES" b="0" dirty="0" err="1">
                <a:ea typeface="+mj-lt"/>
                <a:cs typeface="+mj-lt"/>
              </a:rPr>
              <a:t>Frameworks</a:t>
            </a:r>
            <a:r>
              <a:rPr lang="es-ES" b="0" dirty="0">
                <a:ea typeface="+mj-lt"/>
                <a:cs typeface="+mj-lt"/>
              </a:rPr>
              <a:t> CSS para diseño responsive</a:t>
            </a:r>
            <a:endParaRPr lang="es-ES" dirty="0"/>
          </a:p>
        </p:txBody>
      </p:sp>
      <p:sp>
        <p:nvSpPr>
          <p:cNvPr id="3" name="Marcador de contenido 2">
            <a:extLst>
              <a:ext uri="{FF2B5EF4-FFF2-40B4-BE49-F238E27FC236}">
                <a16:creationId xmlns:a16="http://schemas.microsoft.com/office/drawing/2014/main" id="{7A1988F0-23A7-43AE-42AB-34F726558966}"/>
              </a:ext>
            </a:extLst>
          </p:cNvPr>
          <p:cNvSpPr>
            <a:spLocks noGrp="1"/>
          </p:cNvSpPr>
          <p:nvPr>
            <p:ph idx="1"/>
          </p:nvPr>
        </p:nvSpPr>
        <p:spPr/>
        <p:txBody>
          <a:bodyPr vert="horz" lIns="91440" tIns="45720" rIns="91440" bIns="45720" rtlCol="0" anchor="t">
            <a:normAutofit fontScale="92500" lnSpcReduction="20000"/>
          </a:bodyPr>
          <a:lstStyle/>
          <a:p>
            <a:r>
              <a:rPr lang="es-ES" dirty="0">
                <a:ea typeface="+mn-lt"/>
                <a:cs typeface="+mn-lt"/>
              </a:rPr>
              <a:t>Los </a:t>
            </a:r>
            <a:r>
              <a:rPr lang="es-ES" err="1">
                <a:ea typeface="+mn-lt"/>
                <a:cs typeface="+mn-lt"/>
              </a:rPr>
              <a:t>Frameworks</a:t>
            </a:r>
            <a:r>
              <a:rPr lang="es-ES" dirty="0">
                <a:ea typeface="+mn-lt"/>
                <a:cs typeface="+mn-lt"/>
              </a:rPr>
              <a:t> CSS son colecciones de archivos y bibliotecas de CSS y JavaScript </a:t>
            </a:r>
            <a:r>
              <a:rPr lang="es-ES" err="1">
                <a:ea typeface="+mn-lt"/>
                <a:cs typeface="+mn-lt"/>
              </a:rPr>
              <a:t>pre-escritos</a:t>
            </a:r>
            <a:r>
              <a:rPr lang="es-ES" dirty="0">
                <a:ea typeface="+mn-lt"/>
                <a:cs typeface="+mn-lt"/>
              </a:rPr>
              <a:t>. Su objetivo principal es acelerar el desarrollo web, ofreciendo un conjunto de estilos, componentes y sistemas de cuadrícula listos para usar. Esto permite a los desarrolladores construir interfaces de usuario complejas y totalmente responsivas de forma rápida y eficiente, sin tener que escribir cada línea de CSS desde cero.</a:t>
            </a:r>
            <a:endParaRPr lang="es-ES" dirty="0"/>
          </a:p>
          <a:p>
            <a:r>
              <a:rPr lang="es-ES" dirty="0">
                <a:ea typeface="+mn-lt"/>
                <a:cs typeface="+mn-lt"/>
              </a:rPr>
              <a:t>Ventajas de usar un Framework CSS</a:t>
            </a:r>
            <a:endParaRPr lang="es-ES"/>
          </a:p>
          <a:p>
            <a:pPr lvl="1">
              <a:buFont typeface="Courier New" panose="020B0604020202020204" pitchFamily="34" charset="0"/>
              <a:buChar char="o"/>
            </a:pPr>
            <a:r>
              <a:rPr lang="es-ES">
                <a:ea typeface="+mn-lt"/>
                <a:cs typeface="+mn-lt"/>
              </a:rPr>
              <a:t>Velocidad de desarrollo: Los </a:t>
            </a:r>
            <a:r>
              <a:rPr lang="es-ES" err="1">
                <a:ea typeface="+mn-lt"/>
                <a:cs typeface="+mn-lt"/>
              </a:rPr>
              <a:t>frameworks</a:t>
            </a:r>
            <a:r>
              <a:rPr lang="es-ES">
                <a:ea typeface="+mn-lt"/>
                <a:cs typeface="+mn-lt"/>
              </a:rPr>
              <a:t> vienen con clases y componentes predefinidos para elementos comunes como botones, formularios, y tarjetas, lo que reduce drásticamente el tiempo de codificación.</a:t>
            </a:r>
            <a:endParaRPr lang="es-ES"/>
          </a:p>
          <a:p>
            <a:pPr lvl="1">
              <a:buFont typeface="Courier New" panose="020B0604020202020204" pitchFamily="34" charset="0"/>
              <a:buChar char="o"/>
            </a:pPr>
            <a:r>
              <a:rPr lang="es-ES" dirty="0">
                <a:ea typeface="+mn-lt"/>
                <a:cs typeface="+mn-lt"/>
              </a:rPr>
              <a:t>Consistencia: Proporcionan un diseño y una apariencia coherentes en todo el sitio web, y aseguran que los elementos se vean bien en todos los navegadores.</a:t>
            </a:r>
            <a:endParaRPr lang="es-ES" dirty="0"/>
          </a:p>
          <a:p>
            <a:pPr lvl="1">
              <a:buFont typeface="Courier New" panose="020B0604020202020204" pitchFamily="34" charset="0"/>
              <a:buChar char="o"/>
            </a:pPr>
            <a:r>
              <a:rPr lang="es-ES" dirty="0">
                <a:ea typeface="+mn-lt"/>
                <a:cs typeface="+mn-lt"/>
              </a:rPr>
              <a:t>Diseño responsive por defecto: La mayoría de los </a:t>
            </a:r>
            <a:r>
              <a:rPr lang="es-ES" dirty="0" err="1">
                <a:ea typeface="+mn-lt"/>
                <a:cs typeface="+mn-lt"/>
              </a:rPr>
              <a:t>frameworks</a:t>
            </a:r>
            <a:r>
              <a:rPr lang="es-ES" dirty="0">
                <a:ea typeface="+mn-lt"/>
                <a:cs typeface="+mn-lt"/>
              </a:rPr>
              <a:t> modernos están construidos con un enfoque de "</a:t>
            </a:r>
            <a:r>
              <a:rPr lang="es-ES" dirty="0" err="1">
                <a:ea typeface="+mn-lt"/>
                <a:cs typeface="+mn-lt"/>
              </a:rPr>
              <a:t>mobile-first</a:t>
            </a:r>
            <a:r>
              <a:rPr lang="es-ES" dirty="0">
                <a:ea typeface="+mn-lt"/>
                <a:cs typeface="+mn-lt"/>
              </a:rPr>
              <a:t>", y sus sistemas de cuadrícula (basados en </a:t>
            </a:r>
            <a:r>
              <a:rPr lang="es-ES" dirty="0" err="1">
                <a:ea typeface="+mn-lt"/>
                <a:cs typeface="+mn-lt"/>
              </a:rPr>
              <a:t>Flexbox</a:t>
            </a:r>
            <a:r>
              <a:rPr lang="es-ES" dirty="0">
                <a:ea typeface="+mn-lt"/>
                <a:cs typeface="+mn-lt"/>
              </a:rPr>
              <a:t> o </a:t>
            </a:r>
            <a:r>
              <a:rPr lang="es-ES" dirty="0" err="1">
                <a:ea typeface="+mn-lt"/>
                <a:cs typeface="+mn-lt"/>
              </a:rPr>
              <a:t>Grid</a:t>
            </a:r>
            <a:r>
              <a:rPr lang="es-ES" dirty="0">
                <a:ea typeface="+mn-lt"/>
                <a:cs typeface="+mn-lt"/>
              </a:rPr>
              <a:t>) facilitan la creación de </a:t>
            </a:r>
            <a:r>
              <a:rPr lang="es-ES" dirty="0" err="1">
                <a:ea typeface="+mn-lt"/>
                <a:cs typeface="+mn-lt"/>
              </a:rPr>
              <a:t>layouts</a:t>
            </a:r>
            <a:r>
              <a:rPr lang="es-ES" dirty="0">
                <a:ea typeface="+mn-lt"/>
                <a:cs typeface="+mn-lt"/>
              </a:rPr>
              <a:t> que se adaptan automáticamente a cualquier tamaño de pantalla.</a:t>
            </a:r>
          </a:p>
          <a:p>
            <a:pPr lvl="1">
              <a:buFont typeface="Courier New" panose="020B0604020202020204" pitchFamily="34" charset="0"/>
              <a:buChar char="o"/>
            </a:pPr>
            <a:r>
              <a:rPr lang="es-ES" dirty="0">
                <a:ea typeface="+mn-lt"/>
                <a:cs typeface="+mn-lt"/>
              </a:rPr>
              <a:t>Comunidad y documentación: Los </a:t>
            </a:r>
            <a:r>
              <a:rPr lang="es-ES" dirty="0" err="1">
                <a:ea typeface="+mn-lt"/>
                <a:cs typeface="+mn-lt"/>
              </a:rPr>
              <a:t>frameworks</a:t>
            </a:r>
            <a:r>
              <a:rPr lang="es-ES" dirty="0">
                <a:ea typeface="+mn-lt"/>
                <a:cs typeface="+mn-lt"/>
              </a:rPr>
              <a:t> más populares, como Bootstrap, tienen una documentación extensa y comunidades grandes que ofrecen soporte y recursos.</a:t>
            </a:r>
            <a:endParaRPr lang="es-ES" dirty="0"/>
          </a:p>
        </p:txBody>
      </p:sp>
    </p:spTree>
    <p:extLst>
      <p:ext uri="{BB962C8B-B14F-4D97-AF65-F5344CB8AC3E}">
        <p14:creationId xmlns:p14="http://schemas.microsoft.com/office/powerpoint/2010/main" val="1502898609"/>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B7A1C4-4F88-1E5F-A3B9-C6793C3F181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0153FBA-D6CF-E7F2-9D8A-02D8DC47EC94}"/>
              </a:ext>
            </a:extLst>
          </p:cNvPr>
          <p:cNvSpPr>
            <a:spLocks noGrp="1"/>
          </p:cNvSpPr>
          <p:nvPr>
            <p:ph type="title"/>
          </p:nvPr>
        </p:nvSpPr>
        <p:spPr/>
        <p:txBody>
          <a:bodyPr/>
          <a:lstStyle/>
          <a:p>
            <a:r>
              <a:rPr lang="es-ES" b="0" dirty="0">
                <a:ea typeface="+mj-lt"/>
                <a:cs typeface="+mj-lt"/>
              </a:rPr>
              <a:t>2.3.4. </a:t>
            </a:r>
            <a:r>
              <a:rPr lang="es-ES" b="0" dirty="0" err="1">
                <a:ea typeface="+mj-lt"/>
                <a:cs typeface="+mj-lt"/>
              </a:rPr>
              <a:t>Frameworks</a:t>
            </a:r>
            <a:r>
              <a:rPr lang="es-ES" b="0" dirty="0">
                <a:ea typeface="+mj-lt"/>
                <a:cs typeface="+mj-lt"/>
              </a:rPr>
              <a:t> CSS para diseño responsive</a:t>
            </a:r>
            <a:endParaRPr lang="es-ES" dirty="0"/>
          </a:p>
        </p:txBody>
      </p:sp>
      <p:sp>
        <p:nvSpPr>
          <p:cNvPr id="3" name="Marcador de contenido 2">
            <a:extLst>
              <a:ext uri="{FF2B5EF4-FFF2-40B4-BE49-F238E27FC236}">
                <a16:creationId xmlns:a16="http://schemas.microsoft.com/office/drawing/2014/main" id="{E154347D-F4E8-96DB-783F-D391D1233CB3}"/>
              </a:ext>
            </a:extLst>
          </p:cNvPr>
          <p:cNvSpPr>
            <a:spLocks noGrp="1"/>
          </p:cNvSpPr>
          <p:nvPr>
            <p:ph idx="1"/>
          </p:nvPr>
        </p:nvSpPr>
        <p:spPr/>
        <p:txBody>
          <a:bodyPr vert="horz" lIns="91440" tIns="45720" rIns="91440" bIns="45720" rtlCol="0" anchor="t">
            <a:normAutofit/>
          </a:bodyPr>
          <a:lstStyle/>
          <a:p>
            <a:r>
              <a:rPr lang="es-ES" dirty="0" err="1">
                <a:ea typeface="+mn-lt"/>
                <a:cs typeface="+mn-lt"/>
              </a:rPr>
              <a:t>Frameworks</a:t>
            </a:r>
            <a:r>
              <a:rPr lang="es-ES" dirty="0">
                <a:ea typeface="+mn-lt"/>
                <a:cs typeface="+mn-lt"/>
              </a:rPr>
              <a:t> populares:</a:t>
            </a:r>
            <a:endParaRPr lang="es-ES" dirty="0"/>
          </a:p>
          <a:p>
            <a:pPr lvl="1">
              <a:buFont typeface="Courier New" panose="020B0604020202020204" pitchFamily="34" charset="0"/>
              <a:buChar char="o"/>
            </a:pPr>
            <a:r>
              <a:rPr lang="es-ES" dirty="0">
                <a:ea typeface="+mn-lt"/>
                <a:cs typeface="+mn-lt"/>
              </a:rPr>
              <a:t>Bootstrap: Es el </a:t>
            </a:r>
            <a:r>
              <a:rPr lang="es-ES" dirty="0" err="1">
                <a:ea typeface="+mn-lt"/>
                <a:cs typeface="+mn-lt"/>
              </a:rPr>
              <a:t>framework</a:t>
            </a:r>
            <a:r>
              <a:rPr lang="es-ES" dirty="0">
                <a:ea typeface="+mn-lt"/>
                <a:cs typeface="+mn-lt"/>
              </a:rPr>
              <a:t> más popular y completo del mundo. Creado por Twitter, Bootstrap es una solución integral que incluye un sistema de cuadrícula responsivo, componentes de JavaScript (como menús desplegables y modales) y una amplia variedad de componentes de interfaz de usuario.</a:t>
            </a:r>
          </a:p>
          <a:p>
            <a:pPr lvl="1">
              <a:buFont typeface="Courier New" panose="020B0604020202020204" pitchFamily="34" charset="0"/>
              <a:buChar char="o"/>
            </a:pPr>
            <a:r>
              <a:rPr lang="es-ES" dirty="0" err="1">
                <a:ea typeface="+mn-lt"/>
                <a:cs typeface="+mn-lt"/>
              </a:rPr>
              <a:t>Tailwind</a:t>
            </a:r>
            <a:r>
              <a:rPr lang="es-ES" dirty="0">
                <a:ea typeface="+mn-lt"/>
                <a:cs typeface="+mn-lt"/>
              </a:rPr>
              <a:t> CSS: Este </a:t>
            </a:r>
            <a:r>
              <a:rPr lang="es-ES" dirty="0" err="1">
                <a:ea typeface="+mn-lt"/>
                <a:cs typeface="+mn-lt"/>
              </a:rPr>
              <a:t>framework</a:t>
            </a:r>
            <a:r>
              <a:rPr lang="es-ES" dirty="0">
                <a:ea typeface="+mn-lt"/>
                <a:cs typeface="+mn-lt"/>
              </a:rPr>
              <a:t> adopta un enfoque diferente, conocido como "</a:t>
            </a:r>
            <a:r>
              <a:rPr lang="es-ES" dirty="0" err="1">
                <a:ea typeface="+mn-lt"/>
                <a:cs typeface="+mn-lt"/>
              </a:rPr>
              <a:t>utility-first</a:t>
            </a:r>
            <a:r>
              <a:rPr lang="es-ES" dirty="0">
                <a:ea typeface="+mn-lt"/>
                <a:cs typeface="+mn-lt"/>
              </a:rPr>
              <a:t>". En lugar de ofrecer componentes </a:t>
            </a:r>
            <a:r>
              <a:rPr lang="es-ES" dirty="0" err="1">
                <a:ea typeface="+mn-lt"/>
                <a:cs typeface="+mn-lt"/>
              </a:rPr>
              <a:t>pre-construidos</a:t>
            </a:r>
            <a:r>
              <a:rPr lang="es-ES" dirty="0">
                <a:ea typeface="+mn-lt"/>
                <a:cs typeface="+mn-lt"/>
              </a:rPr>
              <a:t>, </a:t>
            </a:r>
            <a:r>
              <a:rPr lang="es-ES" dirty="0" err="1">
                <a:ea typeface="+mn-lt"/>
                <a:cs typeface="+mn-lt"/>
              </a:rPr>
              <a:t>Tailwind</a:t>
            </a:r>
            <a:r>
              <a:rPr lang="es-ES" dirty="0">
                <a:ea typeface="+mn-lt"/>
                <a:cs typeface="+mn-lt"/>
              </a:rPr>
              <a:t> proporciona miles de clases de utilidad de bajo nivel (por ejemplo, </a:t>
            </a:r>
            <a:r>
              <a:rPr lang="es-ES" dirty="0" err="1">
                <a:ea typeface="+mn-lt"/>
                <a:cs typeface="+mn-lt"/>
              </a:rPr>
              <a:t>flex</a:t>
            </a:r>
            <a:r>
              <a:rPr lang="es-ES" dirty="0">
                <a:ea typeface="+mn-lt"/>
                <a:cs typeface="+mn-lt"/>
              </a:rPr>
              <a:t>, pt-4, </a:t>
            </a:r>
            <a:r>
              <a:rPr lang="es-ES" dirty="0" err="1">
                <a:ea typeface="+mn-lt"/>
                <a:cs typeface="+mn-lt"/>
              </a:rPr>
              <a:t>text</a:t>
            </a:r>
            <a:r>
              <a:rPr lang="es-ES" dirty="0">
                <a:ea typeface="+mn-lt"/>
                <a:cs typeface="+mn-lt"/>
              </a:rPr>
              <a:t>-center) que puedes combinar directamente en tu HTML para construir diseños personalizados de forma rápida y sin sobrescribir estilos.</a:t>
            </a:r>
          </a:p>
          <a:p>
            <a:pPr lvl="1">
              <a:buFont typeface="Courier New" panose="020B0604020202020204" pitchFamily="34" charset="0"/>
              <a:buChar char="o"/>
            </a:pPr>
            <a:r>
              <a:rPr lang="es-ES" dirty="0" err="1">
                <a:ea typeface="+mn-lt"/>
                <a:cs typeface="+mn-lt"/>
              </a:rPr>
              <a:t>Bulma</a:t>
            </a:r>
            <a:r>
              <a:rPr lang="es-ES" dirty="0">
                <a:ea typeface="+mn-lt"/>
                <a:cs typeface="+mn-lt"/>
              </a:rPr>
              <a:t>: Un </a:t>
            </a:r>
            <a:r>
              <a:rPr lang="es-ES" dirty="0" err="1">
                <a:ea typeface="+mn-lt"/>
                <a:cs typeface="+mn-lt"/>
              </a:rPr>
              <a:t>framework</a:t>
            </a:r>
            <a:r>
              <a:rPr lang="es-ES" dirty="0">
                <a:ea typeface="+mn-lt"/>
                <a:cs typeface="+mn-lt"/>
              </a:rPr>
              <a:t> ligero y completamente basado en CSS (sin JavaScript). Es conocido por su sintaxis intuitiva y por estar construido sobre </a:t>
            </a:r>
            <a:r>
              <a:rPr lang="es-ES" dirty="0" err="1">
                <a:ea typeface="+mn-lt"/>
                <a:cs typeface="+mn-lt"/>
              </a:rPr>
              <a:t>Flexbox</a:t>
            </a:r>
            <a:r>
              <a:rPr lang="es-ES" dirty="0">
                <a:ea typeface="+mn-lt"/>
                <a:cs typeface="+mn-lt"/>
              </a:rPr>
              <a:t>, lo que lo hace fácil de aprender y usar para maquetaciones responsivas.</a:t>
            </a:r>
          </a:p>
          <a:p>
            <a:pPr lvl="1">
              <a:buFont typeface="Courier New" panose="020B0604020202020204" pitchFamily="34" charset="0"/>
              <a:buChar char="o"/>
            </a:pPr>
            <a:r>
              <a:rPr lang="es-ES" dirty="0" err="1">
                <a:ea typeface="+mn-lt"/>
                <a:cs typeface="+mn-lt"/>
              </a:rPr>
              <a:t>Foundation</a:t>
            </a:r>
            <a:r>
              <a:rPr lang="es-ES" dirty="0">
                <a:ea typeface="+mn-lt"/>
                <a:cs typeface="+mn-lt"/>
              </a:rPr>
              <a:t>: Un </a:t>
            </a:r>
            <a:r>
              <a:rPr lang="es-ES" dirty="0" err="1">
                <a:ea typeface="+mn-lt"/>
                <a:cs typeface="+mn-lt"/>
              </a:rPr>
              <a:t>framework</a:t>
            </a:r>
            <a:r>
              <a:rPr lang="es-ES" dirty="0">
                <a:ea typeface="+mn-lt"/>
                <a:cs typeface="+mn-lt"/>
              </a:rPr>
              <a:t> potente y flexible, popular entre los diseñadores y desarrolladores que necesitan un alto grado de personalización.</a:t>
            </a:r>
          </a:p>
          <a:p>
            <a:endParaRPr lang="es-ES" dirty="0"/>
          </a:p>
        </p:txBody>
      </p:sp>
    </p:spTree>
    <p:extLst>
      <p:ext uri="{BB962C8B-B14F-4D97-AF65-F5344CB8AC3E}">
        <p14:creationId xmlns:p14="http://schemas.microsoft.com/office/powerpoint/2010/main" val="1777222423"/>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0FB6A6-E3B4-A62F-B569-E8F47E113C0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58E55B5-2F4F-F904-5DCD-2FC6F67E48AC}"/>
              </a:ext>
            </a:extLst>
          </p:cNvPr>
          <p:cNvSpPr>
            <a:spLocks noGrp="1"/>
          </p:cNvSpPr>
          <p:nvPr>
            <p:ph type="title"/>
          </p:nvPr>
        </p:nvSpPr>
        <p:spPr/>
        <p:txBody>
          <a:bodyPr/>
          <a:lstStyle/>
          <a:p>
            <a:r>
              <a:rPr lang="es-ES" b="0" dirty="0">
                <a:ea typeface="+mj-lt"/>
                <a:cs typeface="+mj-lt"/>
              </a:rPr>
              <a:t>2.3.4.1. Introducción a Bootstrap.</a:t>
            </a:r>
            <a:endParaRPr lang="es-ES" dirty="0"/>
          </a:p>
        </p:txBody>
      </p:sp>
      <p:sp>
        <p:nvSpPr>
          <p:cNvPr id="3" name="Marcador de contenido 2">
            <a:extLst>
              <a:ext uri="{FF2B5EF4-FFF2-40B4-BE49-F238E27FC236}">
                <a16:creationId xmlns:a16="http://schemas.microsoft.com/office/drawing/2014/main" id="{F0693DD4-5415-622B-921E-D1E1D2F53603}"/>
              </a:ext>
            </a:extLst>
          </p:cNvPr>
          <p:cNvSpPr>
            <a:spLocks noGrp="1"/>
          </p:cNvSpPr>
          <p:nvPr>
            <p:ph idx="1"/>
          </p:nvPr>
        </p:nvSpPr>
        <p:spPr/>
        <p:txBody>
          <a:bodyPr vert="horz" lIns="91440" tIns="45720" rIns="91440" bIns="45720" rtlCol="0" anchor="t">
            <a:normAutofit fontScale="92500" lnSpcReduction="20000"/>
          </a:bodyPr>
          <a:lstStyle/>
          <a:p>
            <a:r>
              <a:rPr lang="es-ES" dirty="0">
                <a:ea typeface="+mn-lt"/>
                <a:cs typeface="+mn-lt"/>
              </a:rPr>
              <a:t>Bootstrap es el </a:t>
            </a:r>
            <a:r>
              <a:rPr lang="es-ES" err="1">
                <a:ea typeface="+mn-lt"/>
                <a:cs typeface="+mn-lt"/>
              </a:rPr>
              <a:t>framework</a:t>
            </a:r>
            <a:r>
              <a:rPr lang="es-ES" dirty="0">
                <a:ea typeface="+mn-lt"/>
                <a:cs typeface="+mn-lt"/>
              </a:rPr>
              <a:t> de código abierto para HTML, CSS y JavaScript más popular del mundo. Fue creado por desarrolladores de Twitter para estandarizar sus herramientas de desarrollo, y desde entonces se ha convertido en un pilar del diseño web moderno. Su principal objetivo es permitir a los desarrolladores y diseñadores construir sitios web responsivos y de alto rendimiento de forma rápida y sencilla.</a:t>
            </a:r>
            <a:endParaRPr lang="es-ES" dirty="0"/>
          </a:p>
          <a:p>
            <a:r>
              <a:rPr lang="es-ES" dirty="0">
                <a:ea typeface="+mn-lt"/>
                <a:cs typeface="+mn-lt"/>
              </a:rPr>
              <a:t>Bootstrap no es solo un archivo de CSS. Es un kit de herramientas completo que incluye:</a:t>
            </a:r>
            <a:endParaRPr lang="es-ES" dirty="0"/>
          </a:p>
          <a:p>
            <a:pPr lvl="1">
              <a:buFont typeface="Courier New" panose="020B0604020202020204" pitchFamily="34" charset="0"/>
              <a:buChar char="o"/>
            </a:pPr>
            <a:r>
              <a:rPr lang="es-ES" dirty="0">
                <a:ea typeface="+mn-lt"/>
                <a:cs typeface="+mn-lt"/>
              </a:rPr>
              <a:t>Sistema de cuadrícula (</a:t>
            </a:r>
            <a:r>
              <a:rPr lang="es-ES" err="1">
                <a:ea typeface="+mn-lt"/>
                <a:cs typeface="+mn-lt"/>
              </a:rPr>
              <a:t>Grid</a:t>
            </a:r>
            <a:r>
              <a:rPr lang="es-ES" dirty="0">
                <a:ea typeface="+mn-lt"/>
                <a:cs typeface="+mn-lt"/>
              </a:rPr>
              <a:t> </a:t>
            </a:r>
            <a:r>
              <a:rPr lang="es-ES" err="1">
                <a:ea typeface="+mn-lt"/>
                <a:cs typeface="+mn-lt"/>
              </a:rPr>
              <a:t>System</a:t>
            </a:r>
            <a:r>
              <a:rPr lang="es-ES" dirty="0">
                <a:ea typeface="+mn-lt"/>
                <a:cs typeface="+mn-lt"/>
              </a:rPr>
              <a:t>): Es la característica más destacada de Bootstrap. Un sistema de 12 columnas, totalmente flexible y responsivo, que te permite crear </a:t>
            </a:r>
            <a:r>
              <a:rPr lang="es-ES" err="1">
                <a:ea typeface="+mn-lt"/>
                <a:cs typeface="+mn-lt"/>
              </a:rPr>
              <a:t>layouts</a:t>
            </a:r>
            <a:r>
              <a:rPr lang="es-ES" dirty="0">
                <a:ea typeface="+mn-lt"/>
                <a:cs typeface="+mn-lt"/>
              </a:rPr>
              <a:t> complejos y que se adaptan a cualquier tamaño de pantalla. Este sistema se basa en </a:t>
            </a:r>
            <a:r>
              <a:rPr lang="es-ES" err="1">
                <a:ea typeface="+mn-lt"/>
                <a:cs typeface="+mn-lt"/>
              </a:rPr>
              <a:t>Flexbox</a:t>
            </a:r>
            <a:r>
              <a:rPr lang="es-ES" dirty="0">
                <a:ea typeface="+mn-lt"/>
                <a:cs typeface="+mn-lt"/>
              </a:rPr>
              <a:t>.</a:t>
            </a:r>
            <a:endParaRPr lang="es-ES" dirty="0"/>
          </a:p>
          <a:p>
            <a:pPr lvl="1">
              <a:buFont typeface="Courier New" panose="020B0604020202020204" pitchFamily="34" charset="0"/>
              <a:buChar char="o"/>
            </a:pPr>
            <a:r>
              <a:rPr lang="es-ES" dirty="0">
                <a:ea typeface="+mn-lt"/>
                <a:cs typeface="+mn-lt"/>
              </a:rPr>
              <a:t>Componentes de CSS: Vienen con una vasta biblioteca de componentes estilizados y listos para usar, como botones, tarjetas (</a:t>
            </a:r>
            <a:r>
              <a:rPr lang="es-ES" err="1">
                <a:ea typeface="+mn-lt"/>
                <a:cs typeface="+mn-lt"/>
              </a:rPr>
              <a:t>cards</a:t>
            </a:r>
            <a:r>
              <a:rPr lang="es-ES" dirty="0">
                <a:ea typeface="+mn-lt"/>
                <a:cs typeface="+mn-lt"/>
              </a:rPr>
              <a:t>), formularios, barras de navegación, alertas, y más. Esto evita que tengas que estilizar estos elementos desde cero.</a:t>
            </a:r>
            <a:endParaRPr lang="es-ES" dirty="0"/>
          </a:p>
          <a:p>
            <a:pPr lvl="1">
              <a:buFont typeface="Courier New" panose="020B0604020202020204" pitchFamily="34" charset="0"/>
              <a:buChar char="o"/>
            </a:pPr>
            <a:r>
              <a:rPr lang="es-ES" err="1">
                <a:ea typeface="+mn-lt"/>
                <a:cs typeface="+mn-lt"/>
              </a:rPr>
              <a:t>Plugins</a:t>
            </a:r>
            <a:r>
              <a:rPr lang="es-ES" dirty="0">
                <a:ea typeface="+mn-lt"/>
                <a:cs typeface="+mn-lt"/>
              </a:rPr>
              <a:t> de JavaScript: Ofrece componentes interactivos como modales (ventanas emergentes), carruseles de imágenes, menús desplegables y </a:t>
            </a:r>
            <a:r>
              <a:rPr lang="es-ES" err="1">
                <a:ea typeface="+mn-lt"/>
                <a:cs typeface="+mn-lt"/>
              </a:rPr>
              <a:t>tooltips</a:t>
            </a:r>
            <a:r>
              <a:rPr lang="es-ES" dirty="0">
                <a:ea typeface="+mn-lt"/>
                <a:cs typeface="+mn-lt"/>
              </a:rPr>
              <a:t>, todos controlados con JavaScript.</a:t>
            </a:r>
          </a:p>
          <a:p>
            <a:pPr lvl="1">
              <a:buFont typeface="Courier New" panose="020B0604020202020204" pitchFamily="34" charset="0"/>
              <a:buChar char="o"/>
            </a:pPr>
            <a:r>
              <a:rPr lang="es-ES" dirty="0">
                <a:ea typeface="+mn-lt"/>
                <a:cs typeface="+mn-lt"/>
              </a:rPr>
              <a:t>Utilidades: Incluye clases de utilidad de bajo nivel que te permiten aplicar estilos de forma rápida, como márgenes, rellenos, alineación de texto y colores de fondo. </a:t>
            </a:r>
          </a:p>
        </p:txBody>
      </p:sp>
    </p:spTree>
    <p:extLst>
      <p:ext uri="{BB962C8B-B14F-4D97-AF65-F5344CB8AC3E}">
        <p14:creationId xmlns:p14="http://schemas.microsoft.com/office/powerpoint/2010/main" val="825224975"/>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CE06F5-B233-6D90-B093-4F3FCD14B94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0EB505A-ECFD-F172-42E7-EF4B80489FEF}"/>
              </a:ext>
            </a:extLst>
          </p:cNvPr>
          <p:cNvSpPr>
            <a:spLocks noGrp="1"/>
          </p:cNvSpPr>
          <p:nvPr>
            <p:ph type="title"/>
          </p:nvPr>
        </p:nvSpPr>
        <p:spPr/>
        <p:txBody>
          <a:bodyPr/>
          <a:lstStyle/>
          <a:p>
            <a:r>
              <a:rPr lang="es-ES" b="0" dirty="0">
                <a:ea typeface="+mj-lt"/>
                <a:cs typeface="+mj-lt"/>
              </a:rPr>
              <a:t>2.3.4.1. Introducción a Bootstrap.</a:t>
            </a:r>
            <a:endParaRPr lang="es-ES" dirty="0"/>
          </a:p>
        </p:txBody>
      </p:sp>
      <p:sp>
        <p:nvSpPr>
          <p:cNvPr id="3" name="Marcador de contenido 2">
            <a:extLst>
              <a:ext uri="{FF2B5EF4-FFF2-40B4-BE49-F238E27FC236}">
                <a16:creationId xmlns:a16="http://schemas.microsoft.com/office/drawing/2014/main" id="{0F2E0B0B-5F6D-F554-C739-2BB6E014BFB8}"/>
              </a:ext>
            </a:extLst>
          </p:cNvPr>
          <p:cNvSpPr>
            <a:spLocks noGrp="1"/>
          </p:cNvSpPr>
          <p:nvPr>
            <p:ph idx="1"/>
          </p:nvPr>
        </p:nvSpPr>
        <p:spPr/>
        <p:txBody>
          <a:bodyPr vert="horz" lIns="91440" tIns="45720" rIns="91440" bIns="45720" rtlCol="0" anchor="t">
            <a:normAutofit fontScale="92500" lnSpcReduction="20000"/>
          </a:bodyPr>
          <a:lstStyle/>
          <a:p>
            <a:r>
              <a:rPr lang="es-ES" dirty="0">
                <a:ea typeface="+mn-lt"/>
                <a:cs typeface="+mn-lt"/>
              </a:rPr>
              <a:t>Bootstrap se basa en una filosofía de desarrollo "</a:t>
            </a:r>
            <a:r>
              <a:rPr lang="es-ES" dirty="0" err="1">
                <a:ea typeface="+mn-lt"/>
                <a:cs typeface="+mn-lt"/>
              </a:rPr>
              <a:t>mobile-first</a:t>
            </a:r>
            <a:r>
              <a:rPr lang="es-ES" dirty="0">
                <a:ea typeface="+mn-lt"/>
                <a:cs typeface="+mn-lt"/>
              </a:rPr>
              <a:t>". Esto significa que los estilos por defecto están optimizados para dispositivos móviles (los más pequeños). Luego, se utilizan media </a:t>
            </a:r>
            <a:r>
              <a:rPr lang="es-ES" dirty="0" err="1">
                <a:ea typeface="+mn-lt"/>
                <a:cs typeface="+mn-lt"/>
              </a:rPr>
              <a:t>queries</a:t>
            </a:r>
            <a:r>
              <a:rPr lang="es-ES" dirty="0">
                <a:ea typeface="+mn-lt"/>
                <a:cs typeface="+mn-lt"/>
              </a:rPr>
              <a:t> para aplicar estilos a medida que la pantalla se hace más grande, garantizando que el sitio web se vea y funcione bien en todos los dispositivos, desde el principio.</a:t>
            </a:r>
          </a:p>
          <a:p>
            <a:r>
              <a:rPr lang="es-ES" dirty="0">
                <a:ea typeface="+mn-lt"/>
                <a:cs typeface="+mn-lt"/>
              </a:rPr>
              <a:t>La forma más sencilla de comenzar a usar Bootstrap es a través de su CDN (Content </a:t>
            </a:r>
            <a:r>
              <a:rPr lang="es-ES" dirty="0" err="1">
                <a:ea typeface="+mn-lt"/>
                <a:cs typeface="+mn-lt"/>
              </a:rPr>
              <a:t>Delivery</a:t>
            </a:r>
            <a:r>
              <a:rPr lang="es-ES" dirty="0">
                <a:ea typeface="+mn-lt"/>
                <a:cs typeface="+mn-lt"/>
              </a:rPr>
              <a:t> Network). Simplemente añade las siguientes líneas de código en la sección &lt;head&gt; de tu archivo HTML para incluir los archivos CSS y JS necesarios.</a:t>
            </a:r>
            <a:endParaRPr lang="es-ES" dirty="0"/>
          </a:p>
          <a:p>
            <a:r>
              <a:rPr lang="es-ES" b="1" dirty="0">
                <a:latin typeface="Courier New"/>
                <a:ea typeface="+mn-lt"/>
                <a:cs typeface="+mn-lt"/>
              </a:rPr>
              <a:t>&lt;link </a:t>
            </a:r>
            <a:r>
              <a:rPr lang="es-ES" b="1" dirty="0">
                <a:latin typeface="Courier New"/>
                <a:ea typeface="+mn-lt"/>
                <a:cs typeface="+mn-lt"/>
                <a:hlinkClick r:id="rId2"/>
              </a:rPr>
              <a:t>href="https://cdn.jsdelivr.net/npm/bootstrap@5.3.3/dist/css/bootstrap.min.css</a:t>
            </a:r>
            <a:r>
              <a:rPr lang="es-ES" b="1" dirty="0">
                <a:latin typeface="Courier New"/>
                <a:ea typeface="+mn-lt"/>
                <a:cs typeface="+mn-lt"/>
              </a:rPr>
              <a:t>" </a:t>
            </a:r>
            <a:r>
              <a:rPr lang="es-ES" b="1" dirty="0" err="1">
                <a:latin typeface="Courier New"/>
                <a:ea typeface="+mn-lt"/>
                <a:cs typeface="+mn-lt"/>
              </a:rPr>
              <a:t>rel</a:t>
            </a:r>
            <a:r>
              <a:rPr lang="es-ES" b="1" dirty="0">
                <a:latin typeface="Courier New"/>
                <a:ea typeface="+mn-lt"/>
                <a:cs typeface="+mn-lt"/>
              </a:rPr>
              <a:t>="</a:t>
            </a:r>
            <a:r>
              <a:rPr lang="es-ES" b="1" dirty="0" err="1">
                <a:latin typeface="Courier New"/>
                <a:ea typeface="+mn-lt"/>
                <a:cs typeface="+mn-lt"/>
              </a:rPr>
              <a:t>stylesheet</a:t>
            </a:r>
            <a:r>
              <a:rPr lang="es-ES" b="1" dirty="0">
                <a:latin typeface="Courier New"/>
                <a:ea typeface="+mn-lt"/>
                <a:cs typeface="+mn-lt"/>
              </a:rPr>
              <a:t>"&gt;</a:t>
            </a:r>
            <a:endParaRPr lang="es-ES" b="1">
              <a:latin typeface="Courier New"/>
              <a:cs typeface="Courier New"/>
            </a:endParaRPr>
          </a:p>
          <a:p>
            <a:r>
              <a:rPr lang="es-ES" b="1" dirty="0">
                <a:latin typeface="Courier New"/>
                <a:ea typeface="+mn-lt"/>
                <a:cs typeface="+mn-lt"/>
              </a:rPr>
              <a:t>&lt;script </a:t>
            </a:r>
            <a:r>
              <a:rPr lang="es-ES" b="1" dirty="0" err="1">
                <a:latin typeface="Courier New"/>
                <a:ea typeface="+mn-lt"/>
                <a:cs typeface="+mn-lt"/>
              </a:rPr>
              <a:t>src</a:t>
            </a:r>
            <a:r>
              <a:rPr lang="es-ES" b="1" dirty="0">
                <a:latin typeface="Courier New"/>
                <a:ea typeface="+mn-lt"/>
                <a:cs typeface="+mn-lt"/>
              </a:rPr>
              <a:t>="https://cdn.jsdelivr.net/</a:t>
            </a:r>
            <a:r>
              <a:rPr lang="es-ES" b="1" dirty="0" err="1">
                <a:latin typeface="Courier New"/>
                <a:ea typeface="+mn-lt"/>
                <a:cs typeface="+mn-lt"/>
              </a:rPr>
              <a:t>npm</a:t>
            </a:r>
            <a:r>
              <a:rPr lang="es-ES" b="1" dirty="0">
                <a:latin typeface="Courier New"/>
                <a:ea typeface="+mn-lt"/>
                <a:cs typeface="+mn-lt"/>
              </a:rPr>
              <a:t>/bootstrap@5.3.3/</a:t>
            </a:r>
            <a:r>
              <a:rPr lang="es-ES" b="1" dirty="0" err="1">
                <a:latin typeface="Courier New"/>
                <a:ea typeface="+mn-lt"/>
                <a:cs typeface="+mn-lt"/>
              </a:rPr>
              <a:t>dist</a:t>
            </a:r>
            <a:r>
              <a:rPr lang="es-ES" b="1" dirty="0">
                <a:latin typeface="Courier New"/>
                <a:ea typeface="+mn-lt"/>
                <a:cs typeface="+mn-lt"/>
              </a:rPr>
              <a:t>/</a:t>
            </a:r>
            <a:r>
              <a:rPr lang="es-ES" b="1" dirty="0" err="1">
                <a:latin typeface="Courier New"/>
                <a:ea typeface="+mn-lt"/>
                <a:cs typeface="+mn-lt"/>
              </a:rPr>
              <a:t>js</a:t>
            </a:r>
            <a:r>
              <a:rPr lang="es-ES" b="1" dirty="0">
                <a:latin typeface="Courier New"/>
                <a:ea typeface="+mn-lt"/>
                <a:cs typeface="+mn-lt"/>
              </a:rPr>
              <a:t>/bootstrap.bundle.min.js"&gt;&lt;/script&gt;</a:t>
            </a:r>
            <a:endParaRPr lang="es-ES" b="1" dirty="0">
              <a:latin typeface="Courier New"/>
            </a:endParaRPr>
          </a:p>
        </p:txBody>
      </p:sp>
    </p:spTree>
    <p:extLst>
      <p:ext uri="{BB962C8B-B14F-4D97-AF65-F5344CB8AC3E}">
        <p14:creationId xmlns:p14="http://schemas.microsoft.com/office/powerpoint/2010/main" val="3318824522"/>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B202FD-A1EC-DEB9-502F-9FE53BA694E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CD39232-291B-C5A8-DA3F-5461DA0C8416}"/>
              </a:ext>
            </a:extLst>
          </p:cNvPr>
          <p:cNvSpPr>
            <a:spLocks noGrp="1"/>
          </p:cNvSpPr>
          <p:nvPr>
            <p:ph type="title"/>
          </p:nvPr>
        </p:nvSpPr>
        <p:spPr/>
        <p:txBody>
          <a:bodyPr/>
          <a:lstStyle/>
          <a:p>
            <a:r>
              <a:rPr lang="es-ES" b="0" dirty="0">
                <a:ea typeface="+mj-lt"/>
                <a:cs typeface="+mj-lt"/>
              </a:rPr>
              <a:t>2.3.4.1. Introducción a Bootstrap.</a:t>
            </a:r>
            <a:endParaRPr lang="es-ES" dirty="0"/>
          </a:p>
        </p:txBody>
      </p:sp>
      <p:sp>
        <p:nvSpPr>
          <p:cNvPr id="3" name="Marcador de contenido 2">
            <a:extLst>
              <a:ext uri="{FF2B5EF4-FFF2-40B4-BE49-F238E27FC236}">
                <a16:creationId xmlns:a16="http://schemas.microsoft.com/office/drawing/2014/main" id="{68EDB416-4A7E-9BF3-B3B2-F19A3F2AF227}"/>
              </a:ext>
            </a:extLst>
          </p:cNvPr>
          <p:cNvSpPr>
            <a:spLocks noGrp="1"/>
          </p:cNvSpPr>
          <p:nvPr>
            <p:ph idx="1"/>
          </p:nvPr>
        </p:nvSpPr>
        <p:spPr/>
        <p:txBody>
          <a:bodyPr vert="horz" lIns="91440" tIns="45720" rIns="91440" bIns="45720" rtlCol="0" anchor="t">
            <a:normAutofit fontScale="92500" lnSpcReduction="20000"/>
          </a:bodyPr>
          <a:lstStyle/>
          <a:p>
            <a:r>
              <a:rPr lang="es-ES" dirty="0">
                <a:ea typeface="+mn-lt"/>
                <a:cs typeface="+mn-lt"/>
              </a:rPr>
              <a:t>Ejemplo: cómo usar el sistema de cuadrícula de Bootstrap para crear un </a:t>
            </a:r>
            <a:r>
              <a:rPr lang="es-ES" err="1">
                <a:ea typeface="+mn-lt"/>
                <a:cs typeface="+mn-lt"/>
              </a:rPr>
              <a:t>layout</a:t>
            </a:r>
            <a:r>
              <a:rPr lang="es-ES">
                <a:ea typeface="+mn-lt"/>
                <a:cs typeface="+mn-lt"/>
              </a:rPr>
              <a:t> de dos columnas que se adapta a móviles.</a:t>
            </a:r>
            <a:endParaRPr lang="es-ES"/>
          </a:p>
          <a:p>
            <a:pPr marL="0" indent="0">
              <a:buNone/>
            </a:pPr>
            <a:r>
              <a:rPr lang="es-ES" b="1" dirty="0">
                <a:latin typeface="Courier New"/>
                <a:ea typeface="+mn-lt"/>
                <a:cs typeface="+mn-lt"/>
              </a:rPr>
              <a:t>&lt;!DOCTYPE </a:t>
            </a:r>
            <a:r>
              <a:rPr lang="es-ES" b="1" err="1">
                <a:latin typeface="Courier New"/>
                <a:ea typeface="+mn-lt"/>
                <a:cs typeface="+mn-lt"/>
              </a:rPr>
              <a:t>html</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&lt;</a:t>
            </a:r>
            <a:r>
              <a:rPr lang="es-ES" b="1" err="1">
                <a:latin typeface="Courier New"/>
                <a:ea typeface="+mn-lt"/>
                <a:cs typeface="+mn-lt"/>
              </a:rPr>
              <a:t>html</a:t>
            </a:r>
            <a:r>
              <a:rPr lang="es-ES" b="1" dirty="0">
                <a:latin typeface="Courier New"/>
                <a:ea typeface="+mn-lt"/>
                <a:cs typeface="+mn-lt"/>
              </a:rPr>
              <a:t> </a:t>
            </a:r>
            <a:r>
              <a:rPr lang="es-ES" b="1" err="1">
                <a:latin typeface="Courier New"/>
                <a:ea typeface="+mn-lt"/>
                <a:cs typeface="+mn-lt"/>
              </a:rPr>
              <a:t>lang</a:t>
            </a:r>
            <a:r>
              <a:rPr lang="es-ES" b="1" dirty="0">
                <a:latin typeface="Courier New"/>
                <a:ea typeface="+mn-lt"/>
                <a:cs typeface="+mn-lt"/>
              </a:rPr>
              <a:t>="es"&gt;</a:t>
            </a:r>
            <a:br>
              <a:rPr lang="es-ES" b="1" dirty="0">
                <a:latin typeface="Courier New"/>
                <a:ea typeface="+mn-lt"/>
                <a:cs typeface="+mn-lt"/>
              </a:rPr>
            </a:br>
            <a:r>
              <a:rPr lang="es-ES" b="1" dirty="0">
                <a:latin typeface="Courier New"/>
                <a:ea typeface="+mn-lt"/>
                <a:cs typeface="+mn-lt"/>
              </a:rPr>
              <a:t>&lt;head&gt;</a:t>
            </a:r>
            <a:br>
              <a:rPr lang="es-ES" b="1" dirty="0">
                <a:latin typeface="Courier New"/>
                <a:ea typeface="+mn-lt"/>
                <a:cs typeface="+mn-lt"/>
              </a:rPr>
            </a:br>
            <a:r>
              <a:rPr lang="es-ES" b="1" dirty="0">
                <a:latin typeface="Courier New"/>
                <a:ea typeface="+mn-lt"/>
                <a:cs typeface="+mn-lt"/>
              </a:rPr>
              <a:t>  &lt;meta </a:t>
            </a:r>
            <a:r>
              <a:rPr lang="es-ES" b="1" err="1">
                <a:latin typeface="Courier New"/>
                <a:ea typeface="+mn-lt"/>
                <a:cs typeface="+mn-lt"/>
              </a:rPr>
              <a:t>charset</a:t>
            </a:r>
            <a:r>
              <a:rPr lang="es-ES" b="1" dirty="0">
                <a:latin typeface="Courier New"/>
                <a:ea typeface="+mn-lt"/>
                <a:cs typeface="+mn-lt"/>
              </a:rPr>
              <a:t>="UTF-8"&gt;</a:t>
            </a:r>
            <a:br>
              <a:rPr lang="es-ES" b="1" dirty="0">
                <a:latin typeface="Courier New"/>
                <a:ea typeface="+mn-lt"/>
                <a:cs typeface="+mn-lt"/>
              </a:rPr>
            </a:br>
            <a:r>
              <a:rPr lang="es-ES" b="1" dirty="0">
                <a:latin typeface="Courier New"/>
                <a:ea typeface="+mn-lt"/>
                <a:cs typeface="+mn-lt"/>
              </a:rPr>
              <a:t>  &lt;meta </a:t>
            </a:r>
            <a:r>
              <a:rPr lang="es-ES" b="1" err="1">
                <a:latin typeface="Courier New"/>
                <a:ea typeface="+mn-lt"/>
                <a:cs typeface="+mn-lt"/>
              </a:rPr>
              <a:t>name</a:t>
            </a:r>
            <a:r>
              <a:rPr lang="es-ES" b="1" dirty="0">
                <a:latin typeface="Courier New"/>
                <a:ea typeface="+mn-lt"/>
                <a:cs typeface="+mn-lt"/>
              </a:rPr>
              <a:t>="</a:t>
            </a:r>
            <a:r>
              <a:rPr lang="es-ES" b="1" err="1">
                <a:latin typeface="Courier New"/>
                <a:ea typeface="+mn-lt"/>
                <a:cs typeface="+mn-lt"/>
              </a:rPr>
              <a:t>viewport</a:t>
            </a:r>
            <a:r>
              <a:rPr lang="es-ES" b="1" dirty="0">
                <a:latin typeface="Courier New"/>
                <a:ea typeface="+mn-lt"/>
                <a:cs typeface="+mn-lt"/>
              </a:rPr>
              <a:t>" </a:t>
            </a:r>
            <a:r>
              <a:rPr lang="es-ES" b="1" err="1">
                <a:latin typeface="Courier New"/>
                <a:ea typeface="+mn-lt"/>
                <a:cs typeface="+mn-lt"/>
              </a:rPr>
              <a:t>content</a:t>
            </a:r>
            <a:r>
              <a:rPr lang="es-ES" b="1" dirty="0">
                <a:latin typeface="Courier New"/>
                <a:ea typeface="+mn-lt"/>
                <a:cs typeface="+mn-lt"/>
              </a:rPr>
              <a:t>="</a:t>
            </a:r>
            <a:r>
              <a:rPr lang="es-ES" b="1" err="1">
                <a:latin typeface="Courier New"/>
                <a:ea typeface="+mn-lt"/>
                <a:cs typeface="+mn-lt"/>
              </a:rPr>
              <a:t>width</a:t>
            </a:r>
            <a:r>
              <a:rPr lang="es-ES" b="1" dirty="0">
                <a:latin typeface="Courier New"/>
                <a:ea typeface="+mn-lt"/>
                <a:cs typeface="+mn-lt"/>
              </a:rPr>
              <a:t>=</a:t>
            </a:r>
            <a:r>
              <a:rPr lang="es-ES" b="1" err="1">
                <a:latin typeface="Courier New"/>
                <a:ea typeface="+mn-lt"/>
                <a:cs typeface="+mn-lt"/>
              </a:rPr>
              <a:t>device-width</a:t>
            </a:r>
            <a:r>
              <a:rPr lang="es-ES" b="1" dirty="0">
                <a:latin typeface="Courier New"/>
                <a:ea typeface="+mn-lt"/>
                <a:cs typeface="+mn-lt"/>
              </a:rPr>
              <a:t>, </a:t>
            </a:r>
            <a:r>
              <a:rPr lang="es-ES" b="1" err="1">
                <a:latin typeface="Courier New"/>
                <a:ea typeface="+mn-lt"/>
                <a:cs typeface="+mn-lt"/>
              </a:rPr>
              <a:t>initial-scale</a:t>
            </a:r>
            <a:r>
              <a:rPr lang="es-ES" b="1" dirty="0">
                <a:latin typeface="Courier New"/>
                <a:ea typeface="+mn-lt"/>
                <a:cs typeface="+mn-lt"/>
              </a:rPr>
              <a:t>=1.0"&gt;</a:t>
            </a:r>
            <a:br>
              <a:rPr lang="es-ES" b="1" dirty="0">
                <a:latin typeface="Courier New"/>
                <a:ea typeface="+mn-lt"/>
                <a:cs typeface="+mn-lt"/>
              </a:rPr>
            </a:br>
            <a:r>
              <a:rPr lang="es-ES" b="1" dirty="0">
                <a:latin typeface="Courier New"/>
                <a:ea typeface="+mn-lt"/>
                <a:cs typeface="+mn-lt"/>
              </a:rPr>
              <a:t>  &lt;</a:t>
            </a:r>
            <a:r>
              <a:rPr lang="es-ES" b="1" err="1">
                <a:latin typeface="Courier New"/>
                <a:ea typeface="+mn-lt"/>
                <a:cs typeface="+mn-lt"/>
              </a:rPr>
              <a:t>title</a:t>
            </a:r>
            <a:r>
              <a:rPr lang="es-ES" b="1" dirty="0">
                <a:latin typeface="Courier New"/>
                <a:ea typeface="+mn-lt"/>
                <a:cs typeface="+mn-lt"/>
              </a:rPr>
              <a:t>&gt;Mi Sitio con Bootstrap&lt;/</a:t>
            </a:r>
            <a:r>
              <a:rPr lang="es-ES" b="1" err="1">
                <a:latin typeface="Courier New"/>
                <a:ea typeface="+mn-lt"/>
                <a:cs typeface="+mn-lt"/>
              </a:rPr>
              <a:t>title</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&lt;link </a:t>
            </a:r>
            <a:r>
              <a:rPr lang="es-ES" b="1" dirty="0">
                <a:latin typeface="Courier New"/>
                <a:ea typeface="+mn-lt"/>
                <a:cs typeface="+mn-lt"/>
                <a:hlinkClick r:id="rId2"/>
              </a:rPr>
              <a:t>href="https://cdn.jsdelivr.net/npm/bootstrap@5.3.3/dist/css/bootstrap.min.css</a:t>
            </a:r>
            <a:r>
              <a:rPr lang="es-ES" b="1" dirty="0">
                <a:latin typeface="Courier New"/>
                <a:ea typeface="+mn-lt"/>
                <a:cs typeface="+mn-lt"/>
              </a:rPr>
              <a:t>" </a:t>
            </a:r>
            <a:r>
              <a:rPr lang="es-ES" b="1" err="1">
                <a:latin typeface="Courier New"/>
                <a:ea typeface="+mn-lt"/>
                <a:cs typeface="+mn-lt"/>
              </a:rPr>
              <a:t>rel</a:t>
            </a:r>
            <a:r>
              <a:rPr lang="es-ES" b="1" dirty="0">
                <a:latin typeface="Courier New"/>
                <a:ea typeface="+mn-lt"/>
                <a:cs typeface="+mn-lt"/>
              </a:rPr>
              <a:t>="</a:t>
            </a:r>
            <a:r>
              <a:rPr lang="es-ES" b="1" err="1">
                <a:latin typeface="Courier New"/>
                <a:ea typeface="+mn-lt"/>
                <a:cs typeface="+mn-lt"/>
              </a:rPr>
              <a:t>stylesheet</a:t>
            </a:r>
            <a:r>
              <a:rPr lang="es-ES" b="1" dirty="0">
                <a:latin typeface="Courier New"/>
                <a:ea typeface="+mn-lt"/>
                <a:cs typeface="+mn-lt"/>
              </a:rPr>
              <a:t>" </a:t>
            </a:r>
            <a:r>
              <a:rPr lang="es-ES" b="1" err="1">
                <a:latin typeface="Courier New"/>
                <a:ea typeface="+mn-lt"/>
                <a:cs typeface="+mn-lt"/>
              </a:rPr>
              <a:t>integrity</a:t>
            </a:r>
            <a:r>
              <a:rPr lang="es-ES" b="1" dirty="0">
                <a:latin typeface="Courier New"/>
                <a:ea typeface="+mn-lt"/>
                <a:cs typeface="+mn-lt"/>
              </a:rPr>
              <a:t>="sha384-QWTKZyjpPEjISv5WaRU9OFeRpok6YctnYmDr5pNlyT2bRjXh0JMhjY6hW+ALEwIH" </a:t>
            </a:r>
            <a:r>
              <a:rPr lang="es-ES" b="1" err="1">
                <a:latin typeface="Courier New"/>
                <a:ea typeface="+mn-lt"/>
                <a:cs typeface="+mn-lt"/>
              </a:rPr>
              <a:t>crossorigin</a:t>
            </a:r>
            <a:r>
              <a:rPr lang="es-ES" b="1" dirty="0">
                <a:latin typeface="Courier New"/>
                <a:ea typeface="+mn-lt"/>
                <a:cs typeface="+mn-lt"/>
              </a:rPr>
              <a:t>="</a:t>
            </a:r>
            <a:r>
              <a:rPr lang="es-ES" b="1" err="1">
                <a:latin typeface="Courier New"/>
                <a:ea typeface="+mn-lt"/>
                <a:cs typeface="+mn-lt"/>
              </a:rPr>
              <a:t>anonymous</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&lt;/head&gt;</a:t>
            </a:r>
          </a:p>
          <a:p>
            <a:endParaRPr lang="es-ES" dirty="0">
              <a:latin typeface="Bierstadt"/>
            </a:endParaRPr>
          </a:p>
        </p:txBody>
      </p:sp>
    </p:spTree>
    <p:extLst>
      <p:ext uri="{BB962C8B-B14F-4D97-AF65-F5344CB8AC3E}">
        <p14:creationId xmlns:p14="http://schemas.microsoft.com/office/powerpoint/2010/main" val="599495045"/>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88CF88-F3B5-15C6-770B-631925597DA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D79FC0B-2546-7FFC-A1AD-EC281A32B822}"/>
              </a:ext>
            </a:extLst>
          </p:cNvPr>
          <p:cNvSpPr>
            <a:spLocks noGrp="1"/>
          </p:cNvSpPr>
          <p:nvPr>
            <p:ph type="title"/>
          </p:nvPr>
        </p:nvSpPr>
        <p:spPr/>
        <p:txBody>
          <a:bodyPr/>
          <a:lstStyle/>
          <a:p>
            <a:r>
              <a:rPr lang="es-ES" b="0" dirty="0">
                <a:ea typeface="+mj-lt"/>
                <a:cs typeface="+mj-lt"/>
              </a:rPr>
              <a:t>2.3.4.1. Introducción a Bootstrap.</a:t>
            </a:r>
            <a:endParaRPr lang="es-ES" dirty="0"/>
          </a:p>
        </p:txBody>
      </p:sp>
      <p:sp>
        <p:nvSpPr>
          <p:cNvPr id="3" name="Marcador de contenido 2">
            <a:extLst>
              <a:ext uri="{FF2B5EF4-FFF2-40B4-BE49-F238E27FC236}">
                <a16:creationId xmlns:a16="http://schemas.microsoft.com/office/drawing/2014/main" id="{44FE981C-4FD7-EB62-05E1-825DCB19A6F1}"/>
              </a:ext>
            </a:extLst>
          </p:cNvPr>
          <p:cNvSpPr>
            <a:spLocks noGrp="1"/>
          </p:cNvSpPr>
          <p:nvPr>
            <p:ph idx="1"/>
          </p:nvPr>
        </p:nvSpPr>
        <p:spPr/>
        <p:txBody>
          <a:bodyPr vert="horz" lIns="91440" tIns="45720" rIns="91440" bIns="45720" rtlCol="0" anchor="t">
            <a:normAutofit fontScale="85000" lnSpcReduction="20000"/>
          </a:bodyPr>
          <a:lstStyle/>
          <a:p>
            <a:pPr marL="0" indent="0">
              <a:buNone/>
            </a:pPr>
            <a:r>
              <a:rPr lang="es-ES" b="1" dirty="0">
                <a:latin typeface="Courier New"/>
                <a:ea typeface="+mn-lt"/>
                <a:cs typeface="+mn-lt"/>
              </a:rPr>
              <a:t>&lt;</a:t>
            </a:r>
            <a:r>
              <a:rPr lang="es-ES" b="1" dirty="0" err="1">
                <a:latin typeface="Courier New"/>
                <a:ea typeface="+mn-lt"/>
                <a:cs typeface="+mn-lt"/>
              </a:rPr>
              <a:t>body</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nav</a:t>
            </a:r>
            <a:r>
              <a:rPr lang="es-ES" b="1" dirty="0">
                <a:latin typeface="Courier New"/>
                <a:ea typeface="+mn-lt"/>
                <a:cs typeface="+mn-lt"/>
              </a:rPr>
              <a:t> </a:t>
            </a:r>
            <a:r>
              <a:rPr lang="es-ES" b="1" dirty="0" err="1">
                <a:latin typeface="Courier New"/>
                <a:ea typeface="+mn-lt"/>
                <a:cs typeface="+mn-lt"/>
              </a:rPr>
              <a:t>class</a:t>
            </a:r>
            <a:r>
              <a:rPr lang="es-ES" b="1" dirty="0">
                <a:latin typeface="Courier New"/>
                <a:ea typeface="+mn-lt"/>
                <a:cs typeface="+mn-lt"/>
              </a:rPr>
              <a:t>="</a:t>
            </a:r>
            <a:r>
              <a:rPr lang="es-ES" b="1" dirty="0" err="1">
                <a:latin typeface="Courier New"/>
                <a:ea typeface="+mn-lt"/>
                <a:cs typeface="+mn-lt"/>
              </a:rPr>
              <a:t>navbar</a:t>
            </a:r>
            <a:r>
              <a:rPr lang="es-ES" b="1" dirty="0">
                <a:latin typeface="Courier New"/>
                <a:ea typeface="+mn-lt"/>
                <a:cs typeface="+mn-lt"/>
              </a:rPr>
              <a:t> </a:t>
            </a:r>
            <a:r>
              <a:rPr lang="es-ES" b="1" dirty="0" err="1">
                <a:latin typeface="Courier New"/>
                <a:ea typeface="+mn-lt"/>
                <a:cs typeface="+mn-lt"/>
              </a:rPr>
              <a:t>navbar-expand-lg</a:t>
            </a:r>
            <a:r>
              <a:rPr lang="es-ES" b="1" dirty="0">
                <a:latin typeface="Courier New"/>
                <a:ea typeface="+mn-lt"/>
                <a:cs typeface="+mn-lt"/>
              </a:rPr>
              <a:t> </a:t>
            </a:r>
            <a:r>
              <a:rPr lang="es-ES" b="1" dirty="0" err="1">
                <a:latin typeface="Courier New"/>
                <a:ea typeface="+mn-lt"/>
                <a:cs typeface="+mn-lt"/>
              </a:rPr>
              <a:t>navbar-dark</a:t>
            </a:r>
            <a:r>
              <a:rPr lang="es-ES" b="1" dirty="0">
                <a:latin typeface="Courier New"/>
                <a:ea typeface="+mn-lt"/>
                <a:cs typeface="+mn-lt"/>
              </a:rPr>
              <a:t> </a:t>
            </a:r>
            <a:r>
              <a:rPr lang="es-ES" b="1" dirty="0" err="1">
                <a:latin typeface="Courier New"/>
                <a:ea typeface="+mn-lt"/>
                <a:cs typeface="+mn-lt"/>
              </a:rPr>
              <a:t>bg-dark</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div</a:t>
            </a:r>
            <a:r>
              <a:rPr lang="es-ES" b="1" dirty="0">
                <a:latin typeface="Courier New"/>
                <a:ea typeface="+mn-lt"/>
                <a:cs typeface="+mn-lt"/>
              </a:rPr>
              <a:t> </a:t>
            </a:r>
            <a:r>
              <a:rPr lang="es-ES" b="1" dirty="0" err="1">
                <a:latin typeface="Courier New"/>
                <a:ea typeface="+mn-lt"/>
                <a:cs typeface="+mn-lt"/>
              </a:rPr>
              <a:t>class</a:t>
            </a:r>
            <a:r>
              <a:rPr lang="es-ES" b="1" dirty="0">
                <a:latin typeface="Courier New"/>
                <a:ea typeface="+mn-lt"/>
                <a:cs typeface="+mn-lt"/>
              </a:rPr>
              <a:t>="container"&gt;</a:t>
            </a:r>
            <a:br>
              <a:rPr lang="es-ES" b="1" dirty="0">
                <a:latin typeface="Courier New"/>
                <a:ea typeface="+mn-lt"/>
                <a:cs typeface="+mn-lt"/>
              </a:rPr>
            </a:br>
            <a:r>
              <a:rPr lang="es-ES" b="1" dirty="0">
                <a:latin typeface="Courier New"/>
                <a:ea typeface="+mn-lt"/>
                <a:cs typeface="+mn-lt"/>
              </a:rPr>
              <a:t>      &lt;a </a:t>
            </a:r>
            <a:r>
              <a:rPr lang="es-ES" b="1" dirty="0" err="1">
                <a:latin typeface="Courier New"/>
                <a:ea typeface="+mn-lt"/>
                <a:cs typeface="+mn-lt"/>
              </a:rPr>
              <a:t>class</a:t>
            </a:r>
            <a:r>
              <a:rPr lang="es-ES" b="1" dirty="0">
                <a:latin typeface="Courier New"/>
                <a:ea typeface="+mn-lt"/>
                <a:cs typeface="+mn-lt"/>
              </a:rPr>
              <a:t>="</a:t>
            </a:r>
            <a:r>
              <a:rPr lang="es-ES" b="1" dirty="0" err="1">
                <a:latin typeface="Courier New"/>
                <a:ea typeface="+mn-lt"/>
                <a:cs typeface="+mn-lt"/>
              </a:rPr>
              <a:t>navbar-brand</a:t>
            </a:r>
            <a:r>
              <a:rPr lang="es-ES" b="1" dirty="0">
                <a:latin typeface="Courier New"/>
                <a:ea typeface="+mn-lt"/>
                <a:cs typeface="+mn-lt"/>
              </a:rPr>
              <a:t>" </a:t>
            </a:r>
            <a:r>
              <a:rPr lang="es-ES" b="1" dirty="0" err="1">
                <a:latin typeface="Courier New"/>
                <a:ea typeface="+mn-lt"/>
                <a:cs typeface="+mn-lt"/>
              </a:rPr>
              <a:t>href</a:t>
            </a:r>
            <a:r>
              <a:rPr lang="es-ES" b="1" dirty="0">
                <a:latin typeface="Courier New"/>
                <a:ea typeface="+mn-lt"/>
                <a:cs typeface="+mn-lt"/>
              </a:rPr>
              <a:t>="#"&gt;Mi Marca&lt;/a&gt;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div</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nav</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div</a:t>
            </a:r>
            <a:r>
              <a:rPr lang="es-ES" b="1" dirty="0">
                <a:latin typeface="Courier New"/>
                <a:ea typeface="+mn-lt"/>
                <a:cs typeface="+mn-lt"/>
              </a:rPr>
              <a:t> </a:t>
            </a:r>
            <a:r>
              <a:rPr lang="es-ES" b="1" dirty="0" err="1">
                <a:latin typeface="Courier New"/>
                <a:ea typeface="+mn-lt"/>
                <a:cs typeface="+mn-lt"/>
              </a:rPr>
              <a:t>class</a:t>
            </a:r>
            <a:r>
              <a:rPr lang="es-ES" b="1" dirty="0">
                <a:latin typeface="Courier New"/>
                <a:ea typeface="+mn-lt"/>
                <a:cs typeface="+mn-lt"/>
              </a:rPr>
              <a:t>="container my-5"&gt;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div</a:t>
            </a:r>
            <a:r>
              <a:rPr lang="es-ES" b="1" dirty="0">
                <a:latin typeface="Courier New"/>
                <a:ea typeface="+mn-lt"/>
                <a:cs typeface="+mn-lt"/>
              </a:rPr>
              <a:t> </a:t>
            </a:r>
            <a:r>
              <a:rPr lang="es-ES" b="1" dirty="0" err="1">
                <a:latin typeface="Courier New"/>
                <a:ea typeface="+mn-lt"/>
                <a:cs typeface="+mn-lt"/>
              </a:rPr>
              <a:t>class</a:t>
            </a:r>
            <a:r>
              <a:rPr lang="es-ES" b="1" dirty="0">
                <a:latin typeface="Courier New"/>
                <a:ea typeface="+mn-lt"/>
                <a:cs typeface="+mn-lt"/>
              </a:rPr>
              <a:t>="</a:t>
            </a:r>
            <a:r>
              <a:rPr lang="es-ES" b="1" dirty="0" err="1">
                <a:latin typeface="Courier New"/>
                <a:ea typeface="+mn-lt"/>
                <a:cs typeface="+mn-lt"/>
              </a:rPr>
              <a:t>row</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div</a:t>
            </a:r>
            <a:r>
              <a:rPr lang="es-ES" b="1" dirty="0">
                <a:latin typeface="Courier New"/>
                <a:ea typeface="+mn-lt"/>
                <a:cs typeface="+mn-lt"/>
              </a:rPr>
              <a:t> </a:t>
            </a:r>
            <a:r>
              <a:rPr lang="es-ES" b="1" dirty="0" err="1">
                <a:latin typeface="Courier New"/>
                <a:ea typeface="+mn-lt"/>
                <a:cs typeface="+mn-lt"/>
              </a:rPr>
              <a:t>class</a:t>
            </a:r>
            <a:r>
              <a:rPr lang="es-ES" b="1" dirty="0">
                <a:latin typeface="Courier New"/>
                <a:ea typeface="+mn-lt"/>
                <a:cs typeface="+mn-lt"/>
              </a:rPr>
              <a:t>="col-md-8 mb-4"&gt;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div</a:t>
            </a:r>
            <a:r>
              <a:rPr lang="es-ES" b="1" dirty="0">
                <a:latin typeface="Courier New"/>
                <a:ea typeface="+mn-lt"/>
                <a:cs typeface="+mn-lt"/>
              </a:rPr>
              <a:t> </a:t>
            </a:r>
            <a:r>
              <a:rPr lang="es-ES" b="1" dirty="0" err="1">
                <a:latin typeface="Courier New"/>
                <a:ea typeface="+mn-lt"/>
                <a:cs typeface="+mn-lt"/>
              </a:rPr>
              <a:t>class</a:t>
            </a:r>
            <a:r>
              <a:rPr lang="es-ES" b="1" dirty="0">
                <a:latin typeface="Courier New"/>
                <a:ea typeface="+mn-lt"/>
                <a:cs typeface="+mn-lt"/>
              </a:rPr>
              <a:t>="</a:t>
            </a:r>
            <a:r>
              <a:rPr lang="es-ES" b="1" dirty="0" err="1">
                <a:latin typeface="Courier New"/>
                <a:ea typeface="+mn-lt"/>
                <a:cs typeface="+mn-lt"/>
              </a:rPr>
              <a:t>card</a:t>
            </a:r>
            <a:r>
              <a:rPr lang="es-ES" b="1" dirty="0">
                <a:latin typeface="Courier New"/>
                <a:ea typeface="+mn-lt"/>
                <a:cs typeface="+mn-lt"/>
              </a:rPr>
              <a:t> p-3"&gt;</a:t>
            </a:r>
            <a:br>
              <a:rPr lang="es-ES" b="1" dirty="0">
                <a:latin typeface="Courier New"/>
                <a:ea typeface="+mn-lt"/>
                <a:cs typeface="+mn-lt"/>
              </a:rPr>
            </a:br>
            <a:r>
              <a:rPr lang="es-ES" b="1" dirty="0">
                <a:latin typeface="Courier New"/>
                <a:ea typeface="+mn-lt"/>
                <a:cs typeface="+mn-lt"/>
              </a:rPr>
              <a:t>          &lt;h2 </a:t>
            </a:r>
            <a:r>
              <a:rPr lang="es-ES" b="1" dirty="0" err="1">
                <a:latin typeface="Courier New"/>
                <a:ea typeface="+mn-lt"/>
                <a:cs typeface="+mn-lt"/>
              </a:rPr>
              <a:t>class</a:t>
            </a:r>
            <a:r>
              <a:rPr lang="es-ES" b="1" dirty="0">
                <a:latin typeface="Courier New"/>
                <a:ea typeface="+mn-lt"/>
                <a:cs typeface="+mn-lt"/>
              </a:rPr>
              <a:t>="</a:t>
            </a:r>
            <a:r>
              <a:rPr lang="es-ES" b="1" dirty="0" err="1">
                <a:latin typeface="Courier New"/>
                <a:ea typeface="+mn-lt"/>
                <a:cs typeface="+mn-lt"/>
              </a:rPr>
              <a:t>card-title</a:t>
            </a:r>
            <a:r>
              <a:rPr lang="es-ES" b="1" dirty="0">
                <a:latin typeface="Courier New"/>
                <a:ea typeface="+mn-lt"/>
                <a:cs typeface="+mn-lt"/>
              </a:rPr>
              <a:t>"&gt;Título del Contenido&lt;/h2&gt;</a:t>
            </a:r>
            <a:br>
              <a:rPr lang="es-ES" b="1" dirty="0">
                <a:latin typeface="Courier New"/>
                <a:ea typeface="+mn-lt"/>
                <a:cs typeface="+mn-lt"/>
              </a:rPr>
            </a:br>
            <a:r>
              <a:rPr lang="es-ES" b="1" dirty="0">
                <a:latin typeface="Courier New"/>
                <a:ea typeface="+mn-lt"/>
                <a:cs typeface="+mn-lt"/>
              </a:rPr>
              <a:t>          &lt;p </a:t>
            </a:r>
            <a:r>
              <a:rPr lang="es-ES" b="1" dirty="0" err="1">
                <a:latin typeface="Courier New"/>
                <a:ea typeface="+mn-lt"/>
                <a:cs typeface="+mn-lt"/>
              </a:rPr>
              <a:t>class</a:t>
            </a:r>
            <a:r>
              <a:rPr lang="es-ES" b="1" dirty="0">
                <a:latin typeface="Courier New"/>
                <a:ea typeface="+mn-lt"/>
                <a:cs typeface="+mn-lt"/>
              </a:rPr>
              <a:t>="</a:t>
            </a:r>
            <a:r>
              <a:rPr lang="es-ES" b="1" dirty="0" err="1">
                <a:latin typeface="Courier New"/>
                <a:ea typeface="+mn-lt"/>
                <a:cs typeface="+mn-lt"/>
              </a:rPr>
              <a:t>card-text</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Este es un ejemplo de una tarjeta usando el sistema de cuadrícula de Bootstrap. </a:t>
            </a:r>
            <a:br>
              <a:rPr lang="es-ES" b="1" dirty="0">
                <a:latin typeface="Courier New"/>
                <a:ea typeface="+mn-lt"/>
                <a:cs typeface="+mn-lt"/>
              </a:rPr>
            </a:br>
            <a:r>
              <a:rPr lang="es-ES" b="1" dirty="0">
                <a:latin typeface="Courier New"/>
                <a:ea typeface="+mn-lt"/>
                <a:cs typeface="+mn-lt"/>
              </a:rPr>
              <a:t>            En pantallas grandes (</a:t>
            </a:r>
            <a:r>
              <a:rPr lang="es-ES" b="1" dirty="0" err="1">
                <a:latin typeface="Courier New"/>
                <a:ea typeface="+mn-lt"/>
                <a:cs typeface="+mn-lt"/>
              </a:rPr>
              <a:t>lg</a:t>
            </a:r>
            <a:r>
              <a:rPr lang="es-ES" b="1" dirty="0">
                <a:latin typeface="Courier New"/>
                <a:ea typeface="+mn-lt"/>
                <a:cs typeface="+mn-lt"/>
              </a:rPr>
              <a:t>), esta columna ocupa la mitad del ancho.</a:t>
            </a:r>
            <a:br>
              <a:rPr lang="es-ES" b="1" dirty="0">
                <a:latin typeface="Courier New"/>
                <a:ea typeface="+mn-lt"/>
                <a:cs typeface="+mn-lt"/>
              </a:rPr>
            </a:br>
            <a:r>
              <a:rPr lang="es-ES" b="1" dirty="0">
                <a:latin typeface="Courier New"/>
                <a:ea typeface="+mn-lt"/>
                <a:cs typeface="+mn-lt"/>
              </a:rPr>
              <a:t>          &lt;/p&gt;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div</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div</a:t>
            </a:r>
            <a:r>
              <a:rPr lang="es-ES" b="1" dirty="0">
                <a:latin typeface="Courier New"/>
                <a:ea typeface="+mn-lt"/>
                <a:cs typeface="+mn-lt"/>
              </a:rPr>
              <a:t>&gt;</a:t>
            </a:r>
            <a:endParaRPr lang="es-ES"/>
          </a:p>
        </p:txBody>
      </p:sp>
    </p:spTree>
    <p:extLst>
      <p:ext uri="{BB962C8B-B14F-4D97-AF65-F5344CB8AC3E}">
        <p14:creationId xmlns:p14="http://schemas.microsoft.com/office/powerpoint/2010/main" val="3795468620"/>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8ABBFB-01D0-456A-D6FD-627A8D0B8EE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76DB714-47A0-169E-1C56-7CDD0F0022B2}"/>
              </a:ext>
            </a:extLst>
          </p:cNvPr>
          <p:cNvSpPr>
            <a:spLocks noGrp="1"/>
          </p:cNvSpPr>
          <p:nvPr>
            <p:ph type="title"/>
          </p:nvPr>
        </p:nvSpPr>
        <p:spPr/>
        <p:txBody>
          <a:bodyPr/>
          <a:lstStyle/>
          <a:p>
            <a:r>
              <a:rPr lang="es-ES" b="0" dirty="0">
                <a:ea typeface="+mj-lt"/>
                <a:cs typeface="+mj-lt"/>
              </a:rPr>
              <a:t>2.3.4.1. Introducción a Bootstrap.</a:t>
            </a:r>
            <a:endParaRPr lang="es-ES" dirty="0"/>
          </a:p>
        </p:txBody>
      </p:sp>
      <p:sp>
        <p:nvSpPr>
          <p:cNvPr id="3" name="Marcador de contenido 2">
            <a:extLst>
              <a:ext uri="{FF2B5EF4-FFF2-40B4-BE49-F238E27FC236}">
                <a16:creationId xmlns:a16="http://schemas.microsoft.com/office/drawing/2014/main" id="{24533952-34D0-D9AE-63B3-392528792119}"/>
              </a:ext>
            </a:extLst>
          </p:cNvPr>
          <p:cNvSpPr>
            <a:spLocks noGrp="1"/>
          </p:cNvSpPr>
          <p:nvPr>
            <p:ph idx="1"/>
          </p:nvPr>
        </p:nvSpPr>
        <p:spPr/>
        <p:txBody>
          <a:bodyPr vert="horz" lIns="91440" tIns="45720" rIns="91440" bIns="45720" rtlCol="0" anchor="t">
            <a:normAutofit fontScale="70000" lnSpcReduction="20000"/>
          </a:bodyPr>
          <a:lstStyle/>
          <a:p>
            <a:pPr marL="0" indent="0">
              <a:buNone/>
            </a:pPr>
            <a:r>
              <a:rPr lang="es-ES" b="1" dirty="0">
                <a:latin typeface="Courier New"/>
                <a:ea typeface="+mn-lt"/>
                <a:cs typeface="+mn-lt"/>
              </a:rPr>
              <a:t>      &lt;</a:t>
            </a:r>
            <a:r>
              <a:rPr lang="es-ES" b="1" dirty="0" err="1">
                <a:latin typeface="Courier New"/>
                <a:ea typeface="+mn-lt"/>
                <a:cs typeface="+mn-lt"/>
              </a:rPr>
              <a:t>div</a:t>
            </a:r>
            <a:r>
              <a:rPr lang="es-ES" b="1" dirty="0">
                <a:latin typeface="Courier New"/>
                <a:ea typeface="+mn-lt"/>
                <a:cs typeface="+mn-lt"/>
              </a:rPr>
              <a:t> </a:t>
            </a:r>
            <a:r>
              <a:rPr lang="es-ES" b="1" dirty="0" err="1">
                <a:latin typeface="Courier New"/>
                <a:ea typeface="+mn-lt"/>
                <a:cs typeface="+mn-lt"/>
              </a:rPr>
              <a:t>class</a:t>
            </a:r>
            <a:r>
              <a:rPr lang="es-ES" b="1" dirty="0">
                <a:latin typeface="Courier New"/>
                <a:ea typeface="+mn-lt"/>
                <a:cs typeface="+mn-lt"/>
              </a:rPr>
              <a:t>="col-md-8 mb-4"&gt; </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div</a:t>
            </a:r>
            <a:r>
              <a:rPr lang="es-ES" b="1" dirty="0">
                <a:latin typeface="Courier New"/>
                <a:ea typeface="+mn-lt"/>
                <a:cs typeface="+mn-lt"/>
              </a:rPr>
              <a:t> </a:t>
            </a:r>
            <a:r>
              <a:rPr lang="es-ES" b="1" dirty="0" err="1">
                <a:latin typeface="Courier New"/>
                <a:ea typeface="+mn-lt"/>
                <a:cs typeface="+mn-lt"/>
              </a:rPr>
              <a:t>class</a:t>
            </a:r>
            <a:r>
              <a:rPr lang="es-ES" b="1" dirty="0">
                <a:latin typeface="Courier New"/>
                <a:ea typeface="+mn-lt"/>
                <a:cs typeface="+mn-lt"/>
              </a:rPr>
              <a:t>="</a:t>
            </a:r>
            <a:r>
              <a:rPr lang="es-ES" b="1" dirty="0" err="1">
                <a:latin typeface="Courier New"/>
                <a:ea typeface="+mn-lt"/>
                <a:cs typeface="+mn-lt"/>
              </a:rPr>
              <a:t>card</a:t>
            </a:r>
            <a:r>
              <a:rPr lang="es-ES" b="1" dirty="0">
                <a:latin typeface="Courier New"/>
                <a:ea typeface="+mn-lt"/>
                <a:cs typeface="+mn-lt"/>
              </a:rPr>
              <a:t> p-3"&gt; </a:t>
            </a:r>
            <a:br>
              <a:rPr lang="es-ES" b="1" dirty="0">
                <a:latin typeface="Courier New"/>
                <a:ea typeface="+mn-lt"/>
                <a:cs typeface="+mn-lt"/>
              </a:rPr>
            </a:br>
            <a:r>
              <a:rPr lang="es-ES" b="1" dirty="0">
                <a:latin typeface="Courier New"/>
                <a:ea typeface="+mn-lt"/>
                <a:cs typeface="+mn-lt"/>
              </a:rPr>
              <a:t>          &lt;h2 </a:t>
            </a:r>
            <a:r>
              <a:rPr lang="es-ES" b="1" dirty="0" err="1">
                <a:latin typeface="Courier New"/>
                <a:ea typeface="+mn-lt"/>
                <a:cs typeface="+mn-lt"/>
              </a:rPr>
              <a:t>class</a:t>
            </a:r>
            <a:r>
              <a:rPr lang="es-ES" b="1" dirty="0">
                <a:latin typeface="Courier New"/>
                <a:ea typeface="+mn-lt"/>
                <a:cs typeface="+mn-lt"/>
              </a:rPr>
              <a:t>="</a:t>
            </a:r>
            <a:r>
              <a:rPr lang="es-ES" b="1" dirty="0" err="1">
                <a:latin typeface="Courier New"/>
                <a:ea typeface="+mn-lt"/>
                <a:cs typeface="+mn-lt"/>
              </a:rPr>
              <a:t>card-title</a:t>
            </a:r>
            <a:r>
              <a:rPr lang="es-ES" b="1" dirty="0">
                <a:latin typeface="Courier New"/>
                <a:ea typeface="+mn-lt"/>
                <a:cs typeface="+mn-lt"/>
              </a:rPr>
              <a:t>"&gt;Otra Columna&lt;/h2&gt; </a:t>
            </a:r>
            <a:br>
              <a:rPr lang="es-ES" b="1" dirty="0">
                <a:latin typeface="Courier New"/>
                <a:ea typeface="+mn-lt"/>
                <a:cs typeface="+mn-lt"/>
              </a:rPr>
            </a:br>
            <a:r>
              <a:rPr lang="es-ES" b="1" dirty="0">
                <a:latin typeface="Courier New"/>
                <a:ea typeface="+mn-lt"/>
                <a:cs typeface="+mn-lt"/>
              </a:rPr>
              <a:t>          &lt;p class="card-text"&gt; Puedes crear diferentes tamaños de columna para cada punto de ruptura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breakpoints</a:t>
            </a:r>
            <a:r>
              <a:rPr lang="es-ES" b="1" dirty="0">
                <a:latin typeface="Courier New"/>
                <a:ea typeface="+mn-lt"/>
                <a:cs typeface="+mn-lt"/>
              </a:rPr>
              <a:t>) para que el </a:t>
            </a:r>
            <a:r>
              <a:rPr lang="es-ES" b="1" dirty="0" err="1">
                <a:latin typeface="Courier New"/>
                <a:ea typeface="+mn-lt"/>
                <a:cs typeface="+mn-lt"/>
              </a:rPr>
              <a:t>layout</a:t>
            </a:r>
            <a:r>
              <a:rPr lang="es-ES" b="1" dirty="0">
                <a:latin typeface="Courier New"/>
                <a:ea typeface="+mn-lt"/>
                <a:cs typeface="+mn-lt"/>
              </a:rPr>
              <a:t> se adapte perfectamente.</a:t>
            </a:r>
            <a:br>
              <a:rPr lang="es-ES" b="1" dirty="0">
                <a:latin typeface="Courier New"/>
                <a:ea typeface="+mn-lt"/>
                <a:cs typeface="+mn-lt"/>
              </a:rPr>
            </a:br>
            <a:r>
              <a:rPr lang="es-ES" b="1" dirty="0">
                <a:latin typeface="Courier New"/>
                <a:ea typeface="+mn-lt"/>
                <a:cs typeface="+mn-lt"/>
              </a:rPr>
              <a:t>          &lt;/p&gt;</a:t>
            </a:r>
            <a:br>
              <a:rPr lang="es-ES" b="1" dirty="0">
                <a:latin typeface="Courier New"/>
                <a:ea typeface="+mn-lt"/>
                <a:cs typeface="+mn-lt"/>
              </a:rPr>
            </a:br>
            <a:r>
              <a:rPr lang="es-ES" b="1" dirty="0">
                <a:latin typeface="Courier New"/>
                <a:ea typeface="+mn-lt"/>
                <a:cs typeface="+mn-lt"/>
              </a:rPr>
              <a:t>          &lt;a href="#" class="btn btn-primary mt-3"&gt;Ir a&lt;/a&gt;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div</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div</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div</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div</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footer</a:t>
            </a:r>
            <a:r>
              <a:rPr lang="es-ES" b="1" dirty="0">
                <a:latin typeface="Courier New"/>
                <a:ea typeface="+mn-lt"/>
                <a:cs typeface="+mn-lt"/>
              </a:rPr>
              <a:t> </a:t>
            </a:r>
            <a:r>
              <a:rPr lang="es-ES" b="1" dirty="0" err="1">
                <a:latin typeface="Courier New"/>
                <a:ea typeface="+mn-lt"/>
                <a:cs typeface="+mn-lt"/>
              </a:rPr>
              <a:t>class</a:t>
            </a:r>
            <a:r>
              <a:rPr lang="es-ES" b="1" dirty="0">
                <a:latin typeface="Courier New"/>
                <a:ea typeface="+mn-lt"/>
                <a:cs typeface="+mn-lt"/>
              </a:rPr>
              <a:t>="</a:t>
            </a:r>
            <a:r>
              <a:rPr lang="es-ES" b="1" dirty="0" err="1">
                <a:latin typeface="Courier New"/>
                <a:ea typeface="+mn-lt"/>
                <a:cs typeface="+mn-lt"/>
              </a:rPr>
              <a:t>bg</a:t>
            </a:r>
            <a:r>
              <a:rPr lang="es-ES" b="1" dirty="0">
                <a:latin typeface="Courier New"/>
                <a:ea typeface="+mn-lt"/>
                <a:cs typeface="+mn-lt"/>
              </a:rPr>
              <a:t>-light </a:t>
            </a:r>
            <a:r>
              <a:rPr lang="es-ES" b="1" dirty="0" err="1">
                <a:latin typeface="Courier New"/>
                <a:ea typeface="+mn-lt"/>
                <a:cs typeface="+mn-lt"/>
              </a:rPr>
              <a:t>text</a:t>
            </a:r>
            <a:r>
              <a:rPr lang="es-ES" b="1" dirty="0">
                <a:latin typeface="Courier New"/>
                <a:ea typeface="+mn-lt"/>
                <a:cs typeface="+mn-lt"/>
              </a:rPr>
              <a:t>-center </a:t>
            </a:r>
            <a:r>
              <a:rPr lang="es-ES" b="1" dirty="0" err="1">
                <a:latin typeface="Courier New"/>
                <a:ea typeface="+mn-lt"/>
                <a:cs typeface="+mn-lt"/>
              </a:rPr>
              <a:t>text-lg-start</a:t>
            </a:r>
            <a:r>
              <a:rPr lang="es-ES" b="1" dirty="0">
                <a:latin typeface="Courier New"/>
                <a:ea typeface="+mn-lt"/>
                <a:cs typeface="+mn-lt"/>
              </a:rPr>
              <a:t> </a:t>
            </a:r>
            <a:r>
              <a:rPr lang="es-ES" b="1" dirty="0" err="1">
                <a:latin typeface="Courier New"/>
                <a:ea typeface="+mn-lt"/>
                <a:cs typeface="+mn-lt"/>
              </a:rPr>
              <a:t>mt</a:t>
            </a:r>
            <a:r>
              <a:rPr lang="es-ES" b="1" dirty="0">
                <a:latin typeface="Courier New"/>
                <a:ea typeface="+mn-lt"/>
                <a:cs typeface="+mn-lt"/>
              </a:rPr>
              <a:t>-auto"&gt;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div</a:t>
            </a:r>
            <a:r>
              <a:rPr lang="es-ES" b="1" dirty="0">
                <a:latin typeface="Courier New"/>
                <a:ea typeface="+mn-lt"/>
                <a:cs typeface="+mn-lt"/>
              </a:rPr>
              <a:t> </a:t>
            </a:r>
            <a:r>
              <a:rPr lang="es-ES" b="1" dirty="0" err="1">
                <a:latin typeface="Courier New"/>
                <a:ea typeface="+mn-lt"/>
                <a:cs typeface="+mn-lt"/>
              </a:rPr>
              <a:t>class</a:t>
            </a:r>
            <a:r>
              <a:rPr lang="es-ES" b="1" dirty="0">
                <a:latin typeface="Courier New"/>
                <a:ea typeface="+mn-lt"/>
                <a:cs typeface="+mn-lt"/>
              </a:rPr>
              <a:t>="container p-4"&gt;</a:t>
            </a:r>
            <a:br>
              <a:rPr lang="es-ES" b="1" dirty="0">
                <a:latin typeface="Courier New"/>
                <a:ea typeface="+mn-lt"/>
                <a:cs typeface="+mn-lt"/>
              </a:rPr>
            </a:br>
            <a:r>
              <a:rPr lang="es-ES" b="1" dirty="0">
                <a:latin typeface="Courier New"/>
                <a:ea typeface="+mn-lt"/>
                <a:cs typeface="+mn-lt"/>
              </a:rPr>
              <a:t>      &lt;p </a:t>
            </a:r>
            <a:r>
              <a:rPr lang="es-ES" b="1" dirty="0" err="1">
                <a:latin typeface="Courier New"/>
                <a:ea typeface="+mn-lt"/>
                <a:cs typeface="+mn-lt"/>
              </a:rPr>
              <a:t>class</a:t>
            </a:r>
            <a:r>
              <a:rPr lang="es-ES" b="1" dirty="0">
                <a:latin typeface="Courier New"/>
                <a:ea typeface="+mn-lt"/>
                <a:cs typeface="+mn-lt"/>
              </a:rPr>
              <a:t>="mb-0"&gt;&amp;</a:t>
            </a:r>
            <a:r>
              <a:rPr lang="es-ES" b="1" dirty="0" err="1">
                <a:latin typeface="Courier New"/>
                <a:ea typeface="+mn-lt"/>
                <a:cs typeface="+mn-lt"/>
              </a:rPr>
              <a:t>copy</a:t>
            </a:r>
            <a:r>
              <a:rPr lang="es-ES" b="1" dirty="0">
                <a:latin typeface="Courier New"/>
                <a:ea typeface="+mn-lt"/>
                <a:cs typeface="+mn-lt"/>
              </a:rPr>
              <a:t>; 2024 Mi Sitio Web. Todos los derechos reservados.&lt;/p&gt;</a:t>
            </a:r>
            <a:br>
              <a:rPr lang="es-ES" b="1" dirty="0">
                <a:latin typeface="Courier New"/>
                <a:ea typeface="+mn-lt"/>
                <a:cs typeface="+mn-lt"/>
              </a:rPr>
            </a:br>
            <a:r>
              <a:rPr lang="es-ES" b="1" dirty="0">
                <a:latin typeface="Courier New"/>
                <a:ea typeface="+mn-lt"/>
                <a:cs typeface="+mn-lt"/>
              </a:rPr>
              <a:t>    &lt;/div&gt;</a:t>
            </a:r>
            <a:br>
              <a:rPr lang="es-ES" b="1" dirty="0">
                <a:latin typeface="Courier New"/>
                <a:ea typeface="+mn-lt"/>
                <a:cs typeface="+mn-lt"/>
              </a:rPr>
            </a:br>
            <a:r>
              <a:rPr lang="es-ES" b="1" dirty="0">
                <a:latin typeface="Courier New"/>
                <a:ea typeface="+mn-lt"/>
                <a:cs typeface="+mn-lt"/>
              </a:rPr>
              <a:t>  &lt;/footer&gt;</a:t>
            </a:r>
            <a:br>
              <a:rPr lang="es-ES" b="1" dirty="0">
                <a:latin typeface="Courier New"/>
                <a:ea typeface="+mn-lt"/>
                <a:cs typeface="+mn-lt"/>
              </a:rPr>
            </a:br>
            <a:r>
              <a:rPr lang="es-ES" b="1" dirty="0">
                <a:latin typeface="Courier New"/>
                <a:ea typeface="+mn-lt"/>
                <a:cs typeface="+mn-lt"/>
              </a:rPr>
              <a:t>  &lt;script </a:t>
            </a:r>
            <a:r>
              <a:rPr lang="es-ES" b="1" dirty="0">
                <a:latin typeface="Courier New"/>
                <a:ea typeface="+mn-lt"/>
                <a:cs typeface="+mn-lt"/>
                <a:hlinkClick r:id="rId2"/>
              </a:rPr>
              <a:t>src="https://cdn.jsdelivr.net/npm/bootstrap@5.3.3/dist/js/bootstrap.bundle.min.js</a:t>
            </a:r>
            <a:r>
              <a:rPr lang="es-ES" b="1" dirty="0">
                <a:latin typeface="Courier New"/>
                <a:ea typeface="+mn-lt"/>
                <a:cs typeface="+mn-lt"/>
              </a:rPr>
              <a:t>" </a:t>
            </a:r>
            <a:r>
              <a:rPr lang="es-ES" b="1" dirty="0" err="1">
                <a:latin typeface="Courier New"/>
                <a:ea typeface="+mn-lt"/>
                <a:cs typeface="+mn-lt"/>
              </a:rPr>
              <a:t>integrity</a:t>
            </a:r>
            <a:r>
              <a:rPr lang="es-ES" b="1" dirty="0">
                <a:latin typeface="Courier New"/>
                <a:ea typeface="+mn-lt"/>
                <a:cs typeface="+mn-lt"/>
              </a:rPr>
              <a:t>="sha384-YvpcrYf0tY3lHB60NNkmXc5s9fDVZLESaAA55NDzOxhy9GkcIdslK1eN7N6jIeHz" </a:t>
            </a:r>
            <a:r>
              <a:rPr lang="es-ES" b="1" dirty="0" err="1">
                <a:latin typeface="Courier New"/>
                <a:ea typeface="+mn-lt"/>
                <a:cs typeface="+mn-lt"/>
              </a:rPr>
              <a:t>crossorigin</a:t>
            </a:r>
            <a:r>
              <a:rPr lang="es-ES" b="1" dirty="0">
                <a:latin typeface="Courier New"/>
                <a:ea typeface="+mn-lt"/>
                <a:cs typeface="+mn-lt"/>
              </a:rPr>
              <a:t>="</a:t>
            </a:r>
            <a:r>
              <a:rPr lang="es-ES" b="1" dirty="0" err="1">
                <a:latin typeface="Courier New"/>
                <a:ea typeface="+mn-lt"/>
                <a:cs typeface="+mn-lt"/>
              </a:rPr>
              <a:t>anonymous</a:t>
            </a:r>
            <a:r>
              <a:rPr lang="es-ES" b="1" dirty="0">
                <a:latin typeface="Courier New"/>
                <a:ea typeface="+mn-lt"/>
                <a:cs typeface="+mn-lt"/>
              </a:rPr>
              <a:t>"&gt;&lt;/script&gt;</a:t>
            </a:r>
            <a:br>
              <a:rPr lang="es-ES" b="1" dirty="0">
                <a:latin typeface="Courier New"/>
                <a:ea typeface="+mn-lt"/>
                <a:cs typeface="+mn-lt"/>
              </a:rPr>
            </a:br>
            <a:r>
              <a:rPr lang="es-ES" b="1" dirty="0">
                <a:latin typeface="Courier New"/>
                <a:ea typeface="+mn-lt"/>
                <a:cs typeface="+mn-lt"/>
              </a:rPr>
              <a:t>&lt;/</a:t>
            </a:r>
            <a:r>
              <a:rPr lang="es-ES" b="1" dirty="0" err="1">
                <a:latin typeface="Courier New"/>
                <a:ea typeface="+mn-lt"/>
                <a:cs typeface="+mn-lt"/>
              </a:rPr>
              <a:t>body</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&lt;/html&gt;</a:t>
            </a:r>
            <a:endParaRPr lang="es-ES" b="1" dirty="0">
              <a:latin typeface="Courier New"/>
            </a:endParaRPr>
          </a:p>
        </p:txBody>
      </p:sp>
    </p:spTree>
    <p:extLst>
      <p:ext uri="{BB962C8B-B14F-4D97-AF65-F5344CB8AC3E}">
        <p14:creationId xmlns:p14="http://schemas.microsoft.com/office/powerpoint/2010/main" val="2511562563"/>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9B8138-9D00-C8E3-409F-24FA49793D3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055A83A-8F2D-AD90-995B-CDC099865424}"/>
              </a:ext>
            </a:extLst>
          </p:cNvPr>
          <p:cNvSpPr>
            <a:spLocks noGrp="1"/>
          </p:cNvSpPr>
          <p:nvPr>
            <p:ph type="title"/>
          </p:nvPr>
        </p:nvSpPr>
        <p:spPr/>
        <p:txBody>
          <a:bodyPr/>
          <a:lstStyle/>
          <a:p>
            <a:r>
              <a:rPr lang="es-ES" b="0" dirty="0">
                <a:ea typeface="+mj-lt"/>
                <a:cs typeface="+mj-lt"/>
              </a:rPr>
              <a:t>2.3.4.2. Introducción a </a:t>
            </a:r>
            <a:r>
              <a:rPr lang="es-ES" b="0" dirty="0" err="1">
                <a:ea typeface="+mj-lt"/>
                <a:cs typeface="+mj-lt"/>
              </a:rPr>
              <a:t>Tailwind</a:t>
            </a:r>
            <a:r>
              <a:rPr lang="es-ES" b="0" dirty="0">
                <a:ea typeface="+mj-lt"/>
                <a:cs typeface="+mj-lt"/>
              </a:rPr>
              <a:t> CSS.</a:t>
            </a:r>
            <a:endParaRPr lang="es-ES" dirty="0"/>
          </a:p>
        </p:txBody>
      </p:sp>
      <p:sp>
        <p:nvSpPr>
          <p:cNvPr id="3" name="Marcador de contenido 2">
            <a:extLst>
              <a:ext uri="{FF2B5EF4-FFF2-40B4-BE49-F238E27FC236}">
                <a16:creationId xmlns:a16="http://schemas.microsoft.com/office/drawing/2014/main" id="{41DC3074-3A8D-7F04-50B0-EB2A36A36DD5}"/>
              </a:ext>
            </a:extLst>
          </p:cNvPr>
          <p:cNvSpPr>
            <a:spLocks noGrp="1"/>
          </p:cNvSpPr>
          <p:nvPr>
            <p:ph idx="1"/>
          </p:nvPr>
        </p:nvSpPr>
        <p:spPr/>
        <p:txBody>
          <a:bodyPr vert="horz" lIns="91440" tIns="45720" rIns="91440" bIns="45720" rtlCol="0" anchor="t">
            <a:normAutofit fontScale="77500" lnSpcReduction="20000"/>
          </a:bodyPr>
          <a:lstStyle/>
          <a:p>
            <a:r>
              <a:rPr lang="es-ES" dirty="0" err="1">
                <a:ea typeface="+mn-lt"/>
                <a:cs typeface="+mn-lt"/>
              </a:rPr>
              <a:t>Tailwind</a:t>
            </a:r>
            <a:r>
              <a:rPr lang="es-ES" dirty="0">
                <a:ea typeface="+mn-lt"/>
                <a:cs typeface="+mn-lt"/>
              </a:rPr>
              <a:t> CSS es un </a:t>
            </a:r>
            <a:r>
              <a:rPr lang="es-ES" dirty="0" err="1">
                <a:ea typeface="+mn-lt"/>
                <a:cs typeface="+mn-lt"/>
              </a:rPr>
              <a:t>framework</a:t>
            </a:r>
            <a:r>
              <a:rPr lang="es-ES" dirty="0">
                <a:ea typeface="+mn-lt"/>
                <a:cs typeface="+mn-lt"/>
              </a:rPr>
              <a:t> de CSS de código abierto que se diferencia de otros como Bootstrap por su enfoque "</a:t>
            </a:r>
            <a:r>
              <a:rPr lang="es-ES" dirty="0" err="1">
                <a:ea typeface="+mn-lt"/>
                <a:cs typeface="+mn-lt"/>
              </a:rPr>
              <a:t>utility-first</a:t>
            </a:r>
            <a:r>
              <a:rPr lang="es-ES" dirty="0">
                <a:ea typeface="+mn-lt"/>
                <a:cs typeface="+mn-lt"/>
              </a:rPr>
              <a:t>" (primero las utilidades). En lugar de ofrecer componentes </a:t>
            </a:r>
            <a:r>
              <a:rPr lang="es-ES" dirty="0" err="1">
                <a:ea typeface="+mn-lt"/>
                <a:cs typeface="+mn-lt"/>
              </a:rPr>
              <a:t>pre-construidos</a:t>
            </a:r>
            <a:r>
              <a:rPr lang="es-ES" dirty="0">
                <a:ea typeface="+mn-lt"/>
                <a:cs typeface="+mn-lt"/>
              </a:rPr>
              <a:t> (como botones o tarjetas), </a:t>
            </a:r>
            <a:r>
              <a:rPr lang="es-ES" dirty="0" err="1">
                <a:ea typeface="+mn-lt"/>
                <a:cs typeface="+mn-lt"/>
              </a:rPr>
              <a:t>Tailwind</a:t>
            </a:r>
            <a:r>
              <a:rPr lang="es-ES" dirty="0">
                <a:ea typeface="+mn-lt"/>
                <a:cs typeface="+mn-lt"/>
              </a:rPr>
              <a:t> proporciona miles de clases de utilidad de bajo nivel que se pueden combinar directamente en el código HTML para construir diseños totalmente personalizados.</a:t>
            </a:r>
            <a:endParaRPr lang="es-ES" dirty="0"/>
          </a:p>
          <a:p>
            <a:r>
              <a:rPr lang="es-ES" dirty="0">
                <a:ea typeface="+mn-lt"/>
                <a:cs typeface="+mn-lt"/>
              </a:rPr>
              <a:t>La filosofía detrás de </a:t>
            </a:r>
            <a:r>
              <a:rPr lang="es-ES" dirty="0" err="1">
                <a:ea typeface="+mn-lt"/>
                <a:cs typeface="+mn-lt"/>
              </a:rPr>
              <a:t>Tailwind</a:t>
            </a:r>
            <a:r>
              <a:rPr lang="es-ES" dirty="0">
                <a:ea typeface="+mn-lt"/>
                <a:cs typeface="+mn-lt"/>
              </a:rPr>
              <a:t> es que puedas diseñar tu interfaz sin salir de tu archivo HTML y sin tener que escribir una sola línea de CSS. Esto te libera de tener que nombrar clases y de escribir hojas de estilo complicadas, lo que a menudo acelera el flujo de trabajo de desarrollo.</a:t>
            </a:r>
            <a:endParaRPr lang="es-ES"/>
          </a:p>
          <a:p>
            <a:r>
              <a:rPr lang="es-ES" dirty="0">
                <a:ea typeface="+mn-lt"/>
                <a:cs typeface="+mn-lt"/>
              </a:rPr>
              <a:t>Características clave</a:t>
            </a:r>
            <a:endParaRPr lang="es-ES"/>
          </a:p>
          <a:p>
            <a:pPr lvl="1">
              <a:buFont typeface="Courier New" panose="020B0604020202020204" pitchFamily="34" charset="0"/>
              <a:buChar char="o"/>
            </a:pPr>
            <a:r>
              <a:rPr lang="es-ES" dirty="0">
                <a:ea typeface="+mn-lt"/>
                <a:cs typeface="+mn-lt"/>
              </a:rPr>
              <a:t>Utilidades de bajo nivel: </a:t>
            </a:r>
            <a:r>
              <a:rPr lang="es-ES" dirty="0" err="1">
                <a:ea typeface="+mn-lt"/>
                <a:cs typeface="+mn-lt"/>
              </a:rPr>
              <a:t>Tailwind</a:t>
            </a:r>
            <a:r>
              <a:rPr lang="es-ES" dirty="0">
                <a:ea typeface="+mn-lt"/>
                <a:cs typeface="+mn-lt"/>
              </a:rPr>
              <a:t> proporciona clases para cada propiedad de CSS que puedas necesitar. Por ejemplo, </a:t>
            </a:r>
            <a:r>
              <a:rPr lang="es-ES" dirty="0" err="1">
                <a:ea typeface="+mn-lt"/>
                <a:cs typeface="+mn-lt"/>
              </a:rPr>
              <a:t>flex</a:t>
            </a:r>
            <a:r>
              <a:rPr lang="es-ES" dirty="0">
                <a:ea typeface="+mn-lt"/>
                <a:cs typeface="+mn-lt"/>
              </a:rPr>
              <a:t> activa </a:t>
            </a:r>
            <a:r>
              <a:rPr lang="es-ES" dirty="0" err="1">
                <a:ea typeface="+mn-lt"/>
                <a:cs typeface="+mn-lt"/>
              </a:rPr>
              <a:t>Flexbox</a:t>
            </a:r>
            <a:r>
              <a:rPr lang="es-ES" dirty="0">
                <a:ea typeface="+mn-lt"/>
                <a:cs typeface="+mn-lt"/>
              </a:rPr>
              <a:t>, pt-4 añade un </a:t>
            </a:r>
            <a:r>
              <a:rPr lang="es-ES" dirty="0" err="1">
                <a:ea typeface="+mn-lt"/>
                <a:cs typeface="+mn-lt"/>
              </a:rPr>
              <a:t>padding</a:t>
            </a:r>
            <a:r>
              <a:rPr lang="es-ES" dirty="0">
                <a:ea typeface="+mn-lt"/>
                <a:cs typeface="+mn-lt"/>
              </a:rPr>
              <a:t> superior, </a:t>
            </a:r>
            <a:r>
              <a:rPr lang="es-ES" dirty="0" err="1">
                <a:ea typeface="+mn-lt"/>
                <a:cs typeface="+mn-lt"/>
              </a:rPr>
              <a:t>text</a:t>
            </a:r>
            <a:r>
              <a:rPr lang="es-ES" dirty="0">
                <a:ea typeface="+mn-lt"/>
                <a:cs typeface="+mn-lt"/>
              </a:rPr>
              <a:t>-center centra el texto, y bg-blue-500 añade un color de fondo azul. Combinando estas clases, puedes construir cualquier diseño imaginable.</a:t>
            </a:r>
            <a:endParaRPr lang="es-ES" dirty="0"/>
          </a:p>
          <a:p>
            <a:pPr lvl="1">
              <a:buFont typeface="Courier New" panose="020B0604020202020204" pitchFamily="34" charset="0"/>
              <a:buChar char="o"/>
            </a:pPr>
            <a:r>
              <a:rPr lang="es-ES" dirty="0">
                <a:ea typeface="+mn-lt"/>
                <a:cs typeface="+mn-lt"/>
              </a:rPr>
              <a:t>Diseño responsivo integrado: El diseño responsivo es una característica intrínseca. </a:t>
            </a:r>
            <a:r>
              <a:rPr lang="es-ES" dirty="0" err="1">
                <a:ea typeface="+mn-lt"/>
                <a:cs typeface="+mn-lt"/>
              </a:rPr>
              <a:t>Tailwind</a:t>
            </a:r>
            <a:r>
              <a:rPr lang="es-ES" dirty="0">
                <a:ea typeface="+mn-lt"/>
                <a:cs typeface="+mn-lt"/>
              </a:rPr>
              <a:t> utiliza prefijos de clase como </a:t>
            </a:r>
            <a:r>
              <a:rPr lang="es-ES" dirty="0" err="1">
                <a:ea typeface="+mn-lt"/>
                <a:cs typeface="+mn-lt"/>
              </a:rPr>
              <a:t>md</a:t>
            </a:r>
            <a:r>
              <a:rPr lang="es-ES" dirty="0">
                <a:ea typeface="+mn-lt"/>
                <a:cs typeface="+mn-lt"/>
              </a:rPr>
              <a:t>: o </a:t>
            </a:r>
            <a:r>
              <a:rPr lang="es-ES" dirty="0" err="1">
                <a:ea typeface="+mn-lt"/>
                <a:cs typeface="+mn-lt"/>
              </a:rPr>
              <a:t>lg</a:t>
            </a:r>
            <a:r>
              <a:rPr lang="es-ES" dirty="0">
                <a:ea typeface="+mn-lt"/>
                <a:cs typeface="+mn-lt"/>
              </a:rPr>
              <a:t>: para aplicar estilos en puntos de ruptura específicos. Por ejemplo, </a:t>
            </a:r>
            <a:r>
              <a:rPr lang="es-ES" dirty="0" err="1">
                <a:ea typeface="+mn-lt"/>
                <a:cs typeface="+mn-lt"/>
              </a:rPr>
              <a:t>md:flex</a:t>
            </a:r>
            <a:r>
              <a:rPr lang="es-ES" dirty="0">
                <a:ea typeface="+mn-lt"/>
                <a:cs typeface="+mn-lt"/>
              </a:rPr>
              <a:t> solo aplicará </a:t>
            </a:r>
            <a:r>
              <a:rPr lang="es-ES" dirty="0" err="1">
                <a:ea typeface="+mn-lt"/>
                <a:cs typeface="+mn-lt"/>
              </a:rPr>
              <a:t>display</a:t>
            </a:r>
            <a:r>
              <a:rPr lang="es-ES" dirty="0">
                <a:ea typeface="+mn-lt"/>
                <a:cs typeface="+mn-lt"/>
              </a:rPr>
              <a:t>: </a:t>
            </a:r>
            <a:r>
              <a:rPr lang="es-ES" dirty="0" err="1">
                <a:ea typeface="+mn-lt"/>
                <a:cs typeface="+mn-lt"/>
              </a:rPr>
              <a:t>flex</a:t>
            </a:r>
            <a:r>
              <a:rPr lang="es-ES" dirty="0">
                <a:ea typeface="+mn-lt"/>
                <a:cs typeface="+mn-lt"/>
              </a:rPr>
              <a:t> en pantallas medianas y más grandes.</a:t>
            </a:r>
            <a:endParaRPr lang="es-ES"/>
          </a:p>
          <a:p>
            <a:pPr lvl="1">
              <a:buFont typeface="Courier New" panose="020B0604020202020204" pitchFamily="34" charset="0"/>
              <a:buChar char="o"/>
            </a:pPr>
            <a:r>
              <a:rPr lang="es-ES" dirty="0">
                <a:ea typeface="+mn-lt"/>
                <a:cs typeface="+mn-lt"/>
              </a:rPr>
              <a:t>Altamente personalizable: A través de un archivo de configuración (tailwind.config.js), puedes personalizar la paleta de colores, las tipografías, los tamaños de espaciado y mucho más para que se adapten a la identidad de tu marca.</a:t>
            </a:r>
            <a:endParaRPr lang="es-ES"/>
          </a:p>
          <a:p>
            <a:pPr lvl="1">
              <a:buFont typeface="Courier New" panose="020B0604020202020204" pitchFamily="34" charset="0"/>
              <a:buChar char="o"/>
            </a:pPr>
            <a:r>
              <a:rPr lang="es-ES" dirty="0">
                <a:ea typeface="+mn-lt"/>
                <a:cs typeface="+mn-lt"/>
              </a:rPr>
              <a:t>Optimización del tamaño del archivo: A diferencia de otros </a:t>
            </a:r>
            <a:r>
              <a:rPr lang="es-ES" dirty="0" err="1">
                <a:ea typeface="+mn-lt"/>
                <a:cs typeface="+mn-lt"/>
              </a:rPr>
              <a:t>frameworks</a:t>
            </a:r>
            <a:r>
              <a:rPr lang="es-ES" dirty="0">
                <a:ea typeface="+mn-lt"/>
                <a:cs typeface="+mn-lt"/>
              </a:rPr>
              <a:t> que pueden ser pesados, </a:t>
            </a:r>
            <a:r>
              <a:rPr lang="es-ES" dirty="0" err="1">
                <a:ea typeface="+mn-lt"/>
                <a:cs typeface="+mn-lt"/>
              </a:rPr>
              <a:t>Tailwind</a:t>
            </a:r>
            <a:r>
              <a:rPr lang="es-ES" dirty="0">
                <a:ea typeface="+mn-lt"/>
                <a:cs typeface="+mn-lt"/>
              </a:rPr>
              <a:t> utiliza un proceso de construcción para analizar tu código HTML y eliminar todas las clases de utilidad que no se han utilizado. El resultado es un archivo CSS final muy ligero, lo que mejora el rendimiento de tu sitio web.</a:t>
            </a:r>
            <a:endParaRPr lang="es-ES" dirty="0"/>
          </a:p>
        </p:txBody>
      </p:sp>
    </p:spTree>
    <p:extLst>
      <p:ext uri="{BB962C8B-B14F-4D97-AF65-F5344CB8AC3E}">
        <p14:creationId xmlns:p14="http://schemas.microsoft.com/office/powerpoint/2010/main" val="1015816844"/>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1262BD-F2D1-A192-D1A0-E386A47C7CA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F4EDC76-4147-3F57-B9DD-5FB02283E588}"/>
              </a:ext>
            </a:extLst>
          </p:cNvPr>
          <p:cNvSpPr>
            <a:spLocks noGrp="1"/>
          </p:cNvSpPr>
          <p:nvPr>
            <p:ph type="title"/>
          </p:nvPr>
        </p:nvSpPr>
        <p:spPr/>
        <p:txBody>
          <a:bodyPr/>
          <a:lstStyle/>
          <a:p>
            <a:r>
              <a:rPr lang="es-ES" b="0" dirty="0">
                <a:ea typeface="+mj-lt"/>
                <a:cs typeface="+mj-lt"/>
              </a:rPr>
              <a:t>2.3.4.2. Introducción a </a:t>
            </a:r>
            <a:r>
              <a:rPr lang="es-ES" b="0" dirty="0" err="1">
                <a:ea typeface="+mj-lt"/>
                <a:cs typeface="+mj-lt"/>
              </a:rPr>
              <a:t>Tailwind</a:t>
            </a:r>
            <a:r>
              <a:rPr lang="es-ES" b="0" dirty="0">
                <a:ea typeface="+mj-lt"/>
                <a:cs typeface="+mj-lt"/>
              </a:rPr>
              <a:t> CSS.</a:t>
            </a:r>
            <a:endParaRPr lang="es-ES" dirty="0"/>
          </a:p>
        </p:txBody>
      </p:sp>
      <p:sp>
        <p:nvSpPr>
          <p:cNvPr id="3" name="Marcador de contenido 2">
            <a:extLst>
              <a:ext uri="{FF2B5EF4-FFF2-40B4-BE49-F238E27FC236}">
                <a16:creationId xmlns:a16="http://schemas.microsoft.com/office/drawing/2014/main" id="{A860650E-61A5-5D72-5118-1A5EC0E9A66F}"/>
              </a:ext>
            </a:extLst>
          </p:cNvPr>
          <p:cNvSpPr>
            <a:spLocks noGrp="1"/>
          </p:cNvSpPr>
          <p:nvPr>
            <p:ph idx="1"/>
          </p:nvPr>
        </p:nvSpPr>
        <p:spPr/>
        <p:txBody>
          <a:bodyPr vert="horz" lIns="91440" tIns="45720" rIns="91440" bIns="45720" rtlCol="0" anchor="t">
            <a:normAutofit fontScale="85000" lnSpcReduction="20000"/>
          </a:bodyPr>
          <a:lstStyle/>
          <a:p>
            <a:r>
              <a:rPr lang="es-ES" dirty="0">
                <a:ea typeface="+mn-lt"/>
                <a:cs typeface="+mn-lt"/>
              </a:rPr>
              <a:t>La forma más rápida de empezar a usar </a:t>
            </a:r>
            <a:r>
              <a:rPr lang="es-ES" dirty="0" err="1">
                <a:ea typeface="+mn-lt"/>
                <a:cs typeface="+mn-lt"/>
              </a:rPr>
              <a:t>Tailwind</a:t>
            </a:r>
            <a:r>
              <a:rPr lang="es-ES" dirty="0">
                <a:ea typeface="+mn-lt"/>
                <a:cs typeface="+mn-lt"/>
              </a:rPr>
              <a:t> CSS para prototipos y desarrollo es a través de su CDN (Content </a:t>
            </a:r>
            <a:r>
              <a:rPr lang="es-ES" dirty="0" err="1">
                <a:ea typeface="+mn-lt"/>
                <a:cs typeface="+mn-lt"/>
              </a:rPr>
              <a:t>Delivery</a:t>
            </a:r>
            <a:r>
              <a:rPr lang="es-ES" dirty="0">
                <a:ea typeface="+mn-lt"/>
                <a:cs typeface="+mn-lt"/>
              </a:rPr>
              <a:t> Network). Simplemente añade el siguiente enlace en la sección &lt;head&gt; de tu documento HTML. Ten en cuenta que para un proyecto de producción se recomienda una instalación más completa con un proceso de construcción para optimizar el tamaño del archivo final.</a:t>
            </a:r>
          </a:p>
          <a:p>
            <a:r>
              <a:rPr lang="es-ES" b="1" dirty="0">
                <a:latin typeface="Courier New"/>
                <a:ea typeface="+mn-lt"/>
                <a:cs typeface="+mn-lt"/>
              </a:rPr>
              <a:t>&lt;script </a:t>
            </a:r>
            <a:r>
              <a:rPr lang="es-ES" b="1" dirty="0" err="1">
                <a:latin typeface="Courier New"/>
                <a:ea typeface="+mn-lt"/>
                <a:cs typeface="+mn-lt"/>
              </a:rPr>
              <a:t>src</a:t>
            </a:r>
            <a:r>
              <a:rPr lang="es-ES" b="1" dirty="0">
                <a:latin typeface="Courier New"/>
                <a:ea typeface="+mn-lt"/>
                <a:cs typeface="+mn-lt"/>
              </a:rPr>
              <a:t>="https://cdn.tailwindcss.com"&gt;&lt;/script&gt;</a:t>
            </a:r>
            <a:endParaRPr lang="es-ES" b="1" dirty="0">
              <a:latin typeface="Courier New"/>
            </a:endParaRPr>
          </a:p>
          <a:p>
            <a:r>
              <a:rPr lang="es-ES" dirty="0">
                <a:ea typeface="+mn-lt"/>
                <a:cs typeface="+mn-lt"/>
              </a:rPr>
              <a:t>Ejemplo: Creando una tarjeta (</a:t>
            </a:r>
            <a:r>
              <a:rPr lang="es-ES" dirty="0" err="1">
                <a:ea typeface="+mn-lt"/>
                <a:cs typeface="+mn-lt"/>
              </a:rPr>
              <a:t>card</a:t>
            </a:r>
            <a:r>
              <a:rPr lang="es-ES" dirty="0">
                <a:ea typeface="+mn-lt"/>
                <a:cs typeface="+mn-lt"/>
              </a:rPr>
              <a:t>) Este ejemplo muestra cómo se construiría una tarjeta básica directamente en el HTML utilizando las clases de utilidad de </a:t>
            </a:r>
            <a:r>
              <a:rPr lang="es-ES" dirty="0" err="1">
                <a:ea typeface="+mn-lt"/>
                <a:cs typeface="+mn-lt"/>
              </a:rPr>
              <a:t>Tailwind</a:t>
            </a:r>
            <a:r>
              <a:rPr lang="es-ES" dirty="0">
                <a:ea typeface="+mn-lt"/>
                <a:cs typeface="+mn-lt"/>
              </a:rPr>
              <a:t>.</a:t>
            </a:r>
          </a:p>
          <a:p>
            <a:pPr marL="0" indent="0">
              <a:buNone/>
            </a:pPr>
            <a:r>
              <a:rPr lang="es-ES" b="1" dirty="0">
                <a:latin typeface="Courier New"/>
                <a:ea typeface="+mn-lt"/>
                <a:cs typeface="+mn-lt"/>
              </a:rPr>
              <a:t>&lt;</a:t>
            </a:r>
            <a:r>
              <a:rPr lang="es-ES" b="1" dirty="0" err="1">
                <a:latin typeface="Courier New"/>
                <a:ea typeface="+mn-lt"/>
                <a:cs typeface="+mn-lt"/>
              </a:rPr>
              <a:t>div</a:t>
            </a:r>
            <a:r>
              <a:rPr lang="es-ES" b="1" dirty="0">
                <a:latin typeface="Courier New"/>
                <a:ea typeface="+mn-lt"/>
                <a:cs typeface="+mn-lt"/>
              </a:rPr>
              <a:t> </a:t>
            </a:r>
            <a:r>
              <a:rPr lang="es-ES" b="1" dirty="0" err="1">
                <a:latin typeface="Courier New"/>
                <a:ea typeface="+mn-lt"/>
                <a:cs typeface="+mn-lt"/>
              </a:rPr>
              <a:t>class</a:t>
            </a:r>
            <a:r>
              <a:rPr lang="es-ES" b="1" dirty="0">
                <a:latin typeface="Courier New"/>
                <a:ea typeface="+mn-lt"/>
                <a:cs typeface="+mn-lt"/>
              </a:rPr>
              <a:t>="</a:t>
            </a:r>
            <a:r>
              <a:rPr lang="es-ES" b="1" dirty="0" err="1">
                <a:latin typeface="Courier New"/>
                <a:ea typeface="+mn-lt"/>
                <a:cs typeface="+mn-lt"/>
              </a:rPr>
              <a:t>bg-white</a:t>
            </a:r>
            <a:r>
              <a:rPr lang="es-ES" b="1" dirty="0">
                <a:latin typeface="Courier New"/>
                <a:ea typeface="+mn-lt"/>
                <a:cs typeface="+mn-lt"/>
              </a:rPr>
              <a:t> </a:t>
            </a:r>
            <a:r>
              <a:rPr lang="es-ES" b="1" dirty="0" err="1">
                <a:latin typeface="Courier New"/>
                <a:ea typeface="+mn-lt"/>
                <a:cs typeface="+mn-lt"/>
              </a:rPr>
              <a:t>rounded-lg</a:t>
            </a:r>
            <a:r>
              <a:rPr lang="es-ES" b="1" dirty="0">
                <a:latin typeface="Courier New"/>
                <a:ea typeface="+mn-lt"/>
                <a:cs typeface="+mn-lt"/>
              </a:rPr>
              <a:t> </a:t>
            </a:r>
            <a:r>
              <a:rPr lang="es-ES" b="1" dirty="0" err="1">
                <a:latin typeface="Courier New"/>
                <a:ea typeface="+mn-lt"/>
                <a:cs typeface="+mn-lt"/>
              </a:rPr>
              <a:t>shadow-lg</a:t>
            </a:r>
            <a:r>
              <a:rPr lang="es-ES" b="1" dirty="0">
                <a:latin typeface="Courier New"/>
                <a:ea typeface="+mn-lt"/>
                <a:cs typeface="+mn-lt"/>
              </a:rPr>
              <a:t> p-6"&gt;</a:t>
            </a:r>
            <a:br>
              <a:rPr lang="es-ES" b="1" dirty="0">
                <a:latin typeface="Courier New"/>
                <a:ea typeface="+mn-lt"/>
                <a:cs typeface="+mn-lt"/>
              </a:rPr>
            </a:br>
            <a:r>
              <a:rPr lang="es-ES" b="1" dirty="0">
                <a:latin typeface="Courier New"/>
                <a:ea typeface="+mn-lt"/>
                <a:cs typeface="+mn-lt"/>
              </a:rPr>
              <a:t>  &lt;h2 </a:t>
            </a:r>
            <a:r>
              <a:rPr lang="es-ES" b="1" dirty="0" err="1">
                <a:latin typeface="Courier New"/>
                <a:ea typeface="+mn-lt"/>
                <a:cs typeface="+mn-lt"/>
              </a:rPr>
              <a:t>class</a:t>
            </a:r>
            <a:r>
              <a:rPr lang="es-ES" b="1" dirty="0">
                <a:latin typeface="Courier New"/>
                <a:ea typeface="+mn-lt"/>
                <a:cs typeface="+mn-lt"/>
              </a:rPr>
              <a:t>="</a:t>
            </a:r>
            <a:r>
              <a:rPr lang="es-ES" b="1" dirty="0" err="1">
                <a:latin typeface="Courier New"/>
                <a:ea typeface="+mn-lt"/>
                <a:cs typeface="+mn-lt"/>
              </a:rPr>
              <a:t>text-xl</a:t>
            </a:r>
            <a:r>
              <a:rPr lang="es-ES" b="1" dirty="0">
                <a:latin typeface="Courier New"/>
                <a:ea typeface="+mn-lt"/>
                <a:cs typeface="+mn-lt"/>
              </a:rPr>
              <a:t> </a:t>
            </a:r>
            <a:r>
              <a:rPr lang="es-ES" b="1" dirty="0" err="1">
                <a:latin typeface="Courier New"/>
                <a:ea typeface="+mn-lt"/>
                <a:cs typeface="+mn-lt"/>
              </a:rPr>
              <a:t>font-bold</a:t>
            </a:r>
            <a:r>
              <a:rPr lang="es-ES" b="1" dirty="0">
                <a:latin typeface="Courier New"/>
                <a:ea typeface="+mn-lt"/>
                <a:cs typeface="+mn-lt"/>
              </a:rPr>
              <a:t> mb-2"&gt;Mi Primera Tarjeta&lt;/h2&gt;</a:t>
            </a:r>
            <a:br>
              <a:rPr lang="es-ES" b="1" dirty="0">
                <a:latin typeface="Courier New"/>
                <a:ea typeface="+mn-lt"/>
                <a:cs typeface="+mn-lt"/>
              </a:rPr>
            </a:br>
            <a:r>
              <a:rPr lang="es-ES" b="1" dirty="0">
                <a:latin typeface="Courier New"/>
                <a:ea typeface="+mn-lt"/>
                <a:cs typeface="+mn-lt"/>
              </a:rPr>
              <a:t>  &lt;p </a:t>
            </a:r>
            <a:r>
              <a:rPr lang="es-ES" b="1" dirty="0" err="1">
                <a:latin typeface="Courier New"/>
                <a:ea typeface="+mn-lt"/>
                <a:cs typeface="+mn-lt"/>
              </a:rPr>
              <a:t>class</a:t>
            </a:r>
            <a:r>
              <a:rPr lang="es-ES" b="1" dirty="0">
                <a:latin typeface="Courier New"/>
                <a:ea typeface="+mn-lt"/>
                <a:cs typeface="+mn-lt"/>
              </a:rPr>
              <a:t>="text-gray-700"&gt;Esto es un ejemplo de una tarjeta simple, maquetada con clases de utilidad de </a:t>
            </a:r>
            <a:r>
              <a:rPr lang="es-ES" b="1" dirty="0" err="1">
                <a:latin typeface="Courier New"/>
                <a:ea typeface="+mn-lt"/>
                <a:cs typeface="+mn-lt"/>
              </a:rPr>
              <a:t>Tailwind</a:t>
            </a:r>
            <a:r>
              <a:rPr lang="es-ES" b="1" dirty="0">
                <a:latin typeface="Courier New"/>
                <a:ea typeface="+mn-lt"/>
                <a:cs typeface="+mn-lt"/>
              </a:rPr>
              <a:t> CSS.&lt;/p&gt;</a:t>
            </a:r>
            <a:br>
              <a:rPr lang="es-ES" b="1" dirty="0">
                <a:latin typeface="Courier New"/>
                <a:ea typeface="+mn-lt"/>
                <a:cs typeface="+mn-lt"/>
              </a:rPr>
            </a:br>
            <a:r>
              <a:rPr lang="es-ES" b="1" dirty="0">
                <a:latin typeface="Courier New"/>
                <a:ea typeface="+mn-lt"/>
                <a:cs typeface="+mn-lt"/>
              </a:rPr>
              <a:t>&lt;/</a:t>
            </a:r>
            <a:r>
              <a:rPr lang="es-ES" b="1" dirty="0" err="1">
                <a:latin typeface="Courier New"/>
                <a:ea typeface="+mn-lt"/>
                <a:cs typeface="+mn-lt"/>
              </a:rPr>
              <a:t>div</a:t>
            </a:r>
            <a:r>
              <a:rPr lang="es-ES" b="1" dirty="0">
                <a:latin typeface="Courier New"/>
                <a:ea typeface="+mn-lt"/>
                <a:cs typeface="+mn-lt"/>
              </a:rPr>
              <a:t>&gt;</a:t>
            </a:r>
            <a:endParaRPr lang="es-ES" b="1" dirty="0">
              <a:latin typeface="Courier New"/>
              <a:cs typeface="Courier New"/>
            </a:endParaRPr>
          </a:p>
          <a:p>
            <a:r>
              <a:rPr lang="es-ES" dirty="0">
                <a:ea typeface="+mn-lt"/>
                <a:cs typeface="+mn-lt"/>
              </a:rPr>
              <a:t>Cada clase hace algo muy específico. </a:t>
            </a:r>
            <a:r>
              <a:rPr lang="es-ES" dirty="0" err="1">
                <a:ea typeface="+mn-lt"/>
                <a:cs typeface="+mn-lt"/>
              </a:rPr>
              <a:t>bg-white</a:t>
            </a:r>
            <a:r>
              <a:rPr lang="es-ES" dirty="0">
                <a:ea typeface="+mn-lt"/>
                <a:cs typeface="+mn-lt"/>
              </a:rPr>
              <a:t> establece el color de fondo, </a:t>
            </a:r>
            <a:r>
              <a:rPr lang="es-ES" dirty="0" err="1">
                <a:ea typeface="+mn-lt"/>
                <a:cs typeface="+mn-lt"/>
              </a:rPr>
              <a:t>rounded-lg</a:t>
            </a:r>
            <a:r>
              <a:rPr lang="es-ES" dirty="0">
                <a:ea typeface="+mn-lt"/>
                <a:cs typeface="+mn-lt"/>
              </a:rPr>
              <a:t> añade un borde redondeado, </a:t>
            </a:r>
            <a:r>
              <a:rPr lang="es-ES" dirty="0" err="1">
                <a:ea typeface="+mn-lt"/>
                <a:cs typeface="+mn-lt"/>
              </a:rPr>
              <a:t>shadow-lg</a:t>
            </a:r>
            <a:r>
              <a:rPr lang="es-ES" dirty="0">
                <a:ea typeface="+mn-lt"/>
                <a:cs typeface="+mn-lt"/>
              </a:rPr>
              <a:t> agrega una sombra, y p-6 añade un relleno grande. Cada clase es una instrucción directa, lo que hace el código muy legible y fácil de modificar.</a:t>
            </a:r>
          </a:p>
          <a:p>
            <a:endParaRPr lang="es-ES" dirty="0"/>
          </a:p>
        </p:txBody>
      </p:sp>
    </p:spTree>
    <p:extLst>
      <p:ext uri="{BB962C8B-B14F-4D97-AF65-F5344CB8AC3E}">
        <p14:creationId xmlns:p14="http://schemas.microsoft.com/office/powerpoint/2010/main" val="2918374245"/>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BED9C-0683-5ED2-B8BA-68B482F0B31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7F1176B-A1F7-C833-4868-D44640252C28}"/>
              </a:ext>
            </a:extLst>
          </p:cNvPr>
          <p:cNvSpPr>
            <a:spLocks noGrp="1"/>
          </p:cNvSpPr>
          <p:nvPr>
            <p:ph type="title"/>
          </p:nvPr>
        </p:nvSpPr>
        <p:spPr/>
        <p:txBody>
          <a:bodyPr/>
          <a:lstStyle/>
          <a:p>
            <a:r>
              <a:rPr lang="es-ES" b="0" dirty="0">
                <a:ea typeface="+mj-lt"/>
                <a:cs typeface="+mj-lt"/>
              </a:rPr>
              <a:t>2.3.4.2. Introducción a </a:t>
            </a:r>
            <a:r>
              <a:rPr lang="es-ES" b="0" dirty="0" err="1">
                <a:ea typeface="+mj-lt"/>
                <a:cs typeface="+mj-lt"/>
              </a:rPr>
              <a:t>Tailwind</a:t>
            </a:r>
            <a:r>
              <a:rPr lang="es-ES" b="0" dirty="0">
                <a:ea typeface="+mj-lt"/>
                <a:cs typeface="+mj-lt"/>
              </a:rPr>
              <a:t> CSS.</a:t>
            </a:r>
            <a:endParaRPr lang="es-ES" dirty="0"/>
          </a:p>
        </p:txBody>
      </p:sp>
      <p:sp>
        <p:nvSpPr>
          <p:cNvPr id="3" name="Marcador de contenido 2">
            <a:extLst>
              <a:ext uri="{FF2B5EF4-FFF2-40B4-BE49-F238E27FC236}">
                <a16:creationId xmlns:a16="http://schemas.microsoft.com/office/drawing/2014/main" id="{E0C119B4-C885-8229-8EB4-E1EBEA8DF3C7}"/>
              </a:ext>
            </a:extLst>
          </p:cNvPr>
          <p:cNvSpPr>
            <a:spLocks noGrp="1"/>
          </p:cNvSpPr>
          <p:nvPr>
            <p:ph idx="1"/>
          </p:nvPr>
        </p:nvSpPr>
        <p:spPr/>
        <p:txBody>
          <a:bodyPr vert="horz" lIns="91440" tIns="45720" rIns="91440" bIns="45720" rtlCol="0" anchor="t">
            <a:normAutofit fontScale="62500" lnSpcReduction="20000"/>
          </a:bodyPr>
          <a:lstStyle/>
          <a:p>
            <a:r>
              <a:rPr lang="es-ES" dirty="0">
                <a:ea typeface="+mn-lt"/>
                <a:cs typeface="+mn-lt"/>
              </a:rPr>
              <a:t>Ejemplo en el que se crea una página completa con una barra de navegación, una sección de cuadrícula para tarjetas y un pie de página, todo usando exclusivamente las clases de utilidad de </a:t>
            </a:r>
            <a:r>
              <a:rPr lang="es-ES" dirty="0" err="1">
                <a:ea typeface="+mn-lt"/>
                <a:cs typeface="+mn-lt"/>
              </a:rPr>
              <a:t>Tailwind</a:t>
            </a:r>
            <a:r>
              <a:rPr lang="es-ES" dirty="0">
                <a:ea typeface="+mn-lt"/>
                <a:cs typeface="+mn-lt"/>
              </a:rPr>
              <a:t> CSS.</a:t>
            </a:r>
          </a:p>
          <a:p>
            <a:pPr marL="0" indent="0">
              <a:buNone/>
            </a:pPr>
            <a:r>
              <a:rPr lang="es-ES" b="1" dirty="0">
                <a:latin typeface="Courier New"/>
                <a:ea typeface="+mn-lt"/>
                <a:cs typeface="+mn-lt"/>
              </a:rPr>
              <a:t>&lt;!DOCTYPE </a:t>
            </a:r>
            <a:r>
              <a:rPr lang="es-ES" b="1" dirty="0" err="1">
                <a:latin typeface="Courier New"/>
                <a:ea typeface="+mn-lt"/>
                <a:cs typeface="+mn-lt"/>
              </a:rPr>
              <a:t>html</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&lt;</a:t>
            </a:r>
            <a:r>
              <a:rPr lang="es-ES" b="1" dirty="0" err="1">
                <a:latin typeface="Courier New"/>
                <a:ea typeface="+mn-lt"/>
                <a:cs typeface="+mn-lt"/>
              </a:rPr>
              <a:t>html</a:t>
            </a:r>
            <a:r>
              <a:rPr lang="es-ES" b="1" dirty="0">
                <a:latin typeface="Courier New"/>
                <a:ea typeface="+mn-lt"/>
                <a:cs typeface="+mn-lt"/>
              </a:rPr>
              <a:t> </a:t>
            </a:r>
            <a:r>
              <a:rPr lang="es-ES" b="1" dirty="0" err="1">
                <a:latin typeface="Courier New"/>
                <a:ea typeface="+mn-lt"/>
                <a:cs typeface="+mn-lt"/>
              </a:rPr>
              <a:t>lang</a:t>
            </a:r>
            <a:r>
              <a:rPr lang="es-ES" b="1" dirty="0">
                <a:latin typeface="Courier New"/>
                <a:ea typeface="+mn-lt"/>
                <a:cs typeface="+mn-lt"/>
              </a:rPr>
              <a:t>="es"&gt;</a:t>
            </a:r>
            <a:br>
              <a:rPr lang="es-ES" b="1" dirty="0">
                <a:latin typeface="Courier New"/>
                <a:ea typeface="+mn-lt"/>
                <a:cs typeface="+mn-lt"/>
              </a:rPr>
            </a:br>
            <a:r>
              <a:rPr lang="es-ES" b="1" dirty="0">
                <a:latin typeface="Courier New"/>
                <a:ea typeface="+mn-lt"/>
                <a:cs typeface="+mn-lt"/>
              </a:rPr>
              <a:t>&lt;head&gt;</a:t>
            </a:r>
            <a:br>
              <a:rPr lang="es-ES" b="1" dirty="0">
                <a:latin typeface="Courier New"/>
                <a:ea typeface="+mn-lt"/>
                <a:cs typeface="+mn-lt"/>
              </a:rPr>
            </a:br>
            <a:r>
              <a:rPr lang="es-ES" b="1" dirty="0">
                <a:latin typeface="Courier New"/>
                <a:ea typeface="+mn-lt"/>
                <a:cs typeface="+mn-lt"/>
              </a:rPr>
              <a:t>    &lt;meta </a:t>
            </a:r>
            <a:r>
              <a:rPr lang="es-ES" b="1" dirty="0" err="1">
                <a:latin typeface="Courier New"/>
                <a:ea typeface="+mn-lt"/>
                <a:cs typeface="+mn-lt"/>
              </a:rPr>
              <a:t>charset</a:t>
            </a:r>
            <a:r>
              <a:rPr lang="es-ES" b="1" dirty="0">
                <a:latin typeface="Courier New"/>
                <a:ea typeface="+mn-lt"/>
                <a:cs typeface="+mn-lt"/>
              </a:rPr>
              <a:t>="UTF-8"&gt;</a:t>
            </a:r>
            <a:br>
              <a:rPr lang="es-ES" b="1" dirty="0">
                <a:latin typeface="Courier New"/>
                <a:ea typeface="+mn-lt"/>
                <a:cs typeface="+mn-lt"/>
              </a:rPr>
            </a:br>
            <a:r>
              <a:rPr lang="es-ES" b="1" dirty="0">
                <a:latin typeface="Courier New"/>
                <a:ea typeface="+mn-lt"/>
                <a:cs typeface="+mn-lt"/>
              </a:rPr>
              <a:t>    &lt;meta </a:t>
            </a:r>
            <a:r>
              <a:rPr lang="es-ES" b="1" dirty="0" err="1">
                <a:latin typeface="Courier New"/>
                <a:ea typeface="+mn-lt"/>
                <a:cs typeface="+mn-lt"/>
              </a:rPr>
              <a:t>name</a:t>
            </a:r>
            <a:r>
              <a:rPr lang="es-ES" b="1" dirty="0">
                <a:latin typeface="Courier New"/>
                <a:ea typeface="+mn-lt"/>
                <a:cs typeface="+mn-lt"/>
              </a:rPr>
              <a:t>="</a:t>
            </a:r>
            <a:r>
              <a:rPr lang="es-ES" b="1" dirty="0" err="1">
                <a:latin typeface="Courier New"/>
                <a:ea typeface="+mn-lt"/>
                <a:cs typeface="+mn-lt"/>
              </a:rPr>
              <a:t>viewport</a:t>
            </a:r>
            <a:r>
              <a:rPr lang="es-ES" b="1" dirty="0">
                <a:latin typeface="Courier New"/>
                <a:ea typeface="+mn-lt"/>
                <a:cs typeface="+mn-lt"/>
              </a:rPr>
              <a:t>" </a:t>
            </a:r>
            <a:r>
              <a:rPr lang="es-ES" b="1" dirty="0" err="1">
                <a:latin typeface="Courier New"/>
                <a:ea typeface="+mn-lt"/>
                <a:cs typeface="+mn-lt"/>
              </a:rPr>
              <a:t>content</a:t>
            </a:r>
            <a:r>
              <a:rPr lang="es-ES" b="1" dirty="0">
                <a:latin typeface="Courier New"/>
                <a:ea typeface="+mn-lt"/>
                <a:cs typeface="+mn-lt"/>
              </a:rPr>
              <a:t>="</a:t>
            </a:r>
            <a:r>
              <a:rPr lang="es-ES" b="1" dirty="0" err="1">
                <a:latin typeface="Courier New"/>
                <a:ea typeface="+mn-lt"/>
                <a:cs typeface="+mn-lt"/>
              </a:rPr>
              <a:t>width</a:t>
            </a:r>
            <a:r>
              <a:rPr lang="es-ES" b="1" dirty="0">
                <a:latin typeface="Courier New"/>
                <a:ea typeface="+mn-lt"/>
                <a:cs typeface="+mn-lt"/>
              </a:rPr>
              <a:t>=</a:t>
            </a:r>
            <a:r>
              <a:rPr lang="es-ES" b="1" dirty="0" err="1">
                <a:latin typeface="Courier New"/>
                <a:ea typeface="+mn-lt"/>
                <a:cs typeface="+mn-lt"/>
              </a:rPr>
              <a:t>device-width</a:t>
            </a:r>
            <a:r>
              <a:rPr lang="es-ES" b="1" dirty="0">
                <a:latin typeface="Courier New"/>
                <a:ea typeface="+mn-lt"/>
                <a:cs typeface="+mn-lt"/>
              </a:rPr>
              <a:t>, </a:t>
            </a:r>
            <a:r>
              <a:rPr lang="es-ES" b="1" dirty="0" err="1">
                <a:latin typeface="Courier New"/>
                <a:ea typeface="+mn-lt"/>
                <a:cs typeface="+mn-lt"/>
              </a:rPr>
              <a:t>initial-scale</a:t>
            </a:r>
            <a:r>
              <a:rPr lang="es-ES" b="1" dirty="0">
                <a:latin typeface="Courier New"/>
                <a:ea typeface="+mn-lt"/>
                <a:cs typeface="+mn-lt"/>
              </a:rPr>
              <a:t>=1.0"&gt;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title</a:t>
            </a:r>
            <a:r>
              <a:rPr lang="es-ES" b="1" dirty="0">
                <a:latin typeface="Courier New"/>
                <a:ea typeface="+mn-lt"/>
                <a:cs typeface="+mn-lt"/>
              </a:rPr>
              <a:t>&gt;Mi Sitio con </a:t>
            </a:r>
            <a:r>
              <a:rPr lang="es-ES" b="1" dirty="0" err="1">
                <a:latin typeface="Courier New"/>
                <a:ea typeface="+mn-lt"/>
                <a:cs typeface="+mn-lt"/>
              </a:rPr>
              <a:t>Tailwind</a:t>
            </a:r>
            <a:r>
              <a:rPr lang="es-ES" b="1" dirty="0">
                <a:latin typeface="Courier New"/>
                <a:ea typeface="+mn-lt"/>
                <a:cs typeface="+mn-lt"/>
              </a:rPr>
              <a:t> CSS&lt;/</a:t>
            </a:r>
            <a:r>
              <a:rPr lang="es-ES" b="1" dirty="0" err="1">
                <a:latin typeface="Courier New"/>
                <a:ea typeface="+mn-lt"/>
                <a:cs typeface="+mn-lt"/>
              </a:rPr>
              <a:t>title</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&lt;script </a:t>
            </a:r>
            <a:r>
              <a:rPr lang="es-ES" b="1" dirty="0" err="1">
                <a:latin typeface="Courier New"/>
                <a:ea typeface="+mn-lt"/>
                <a:cs typeface="+mn-lt"/>
              </a:rPr>
              <a:t>src</a:t>
            </a:r>
            <a:r>
              <a:rPr lang="es-ES" b="1" dirty="0">
                <a:latin typeface="Courier New"/>
                <a:ea typeface="+mn-lt"/>
                <a:cs typeface="+mn-lt"/>
              </a:rPr>
              <a:t>="https://cdn.tailwindcss.com"&gt;&lt;/script&gt;</a:t>
            </a:r>
            <a:br>
              <a:rPr lang="es-ES" b="1" dirty="0">
                <a:latin typeface="Courier New"/>
                <a:ea typeface="+mn-lt"/>
                <a:cs typeface="+mn-lt"/>
              </a:rPr>
            </a:br>
            <a:r>
              <a:rPr lang="es-ES" b="1" dirty="0">
                <a:latin typeface="Courier New"/>
                <a:ea typeface="+mn-lt"/>
                <a:cs typeface="+mn-lt"/>
              </a:rPr>
              <a:t>&lt;/head&gt;</a:t>
            </a:r>
            <a:br>
              <a:rPr lang="es-ES" b="1" dirty="0">
                <a:latin typeface="Courier New"/>
                <a:ea typeface="+mn-lt"/>
                <a:cs typeface="+mn-lt"/>
              </a:rPr>
            </a:br>
            <a:r>
              <a:rPr lang="es-ES" b="1" dirty="0">
                <a:latin typeface="Courier New"/>
                <a:ea typeface="+mn-lt"/>
                <a:cs typeface="+mn-lt"/>
              </a:rPr>
              <a:t>&lt;</a:t>
            </a:r>
            <a:r>
              <a:rPr lang="es-ES" b="1" dirty="0" err="1">
                <a:latin typeface="Courier New"/>
                <a:ea typeface="+mn-lt"/>
                <a:cs typeface="+mn-lt"/>
              </a:rPr>
              <a:t>body</a:t>
            </a:r>
            <a:r>
              <a:rPr lang="es-ES" b="1" dirty="0">
                <a:latin typeface="Courier New"/>
                <a:ea typeface="+mn-lt"/>
                <a:cs typeface="+mn-lt"/>
              </a:rPr>
              <a:t> </a:t>
            </a:r>
            <a:r>
              <a:rPr lang="es-ES" b="1" dirty="0" err="1">
                <a:latin typeface="Courier New"/>
                <a:ea typeface="+mn-lt"/>
                <a:cs typeface="+mn-lt"/>
              </a:rPr>
              <a:t>class</a:t>
            </a:r>
            <a:r>
              <a:rPr lang="es-ES" b="1" dirty="0">
                <a:latin typeface="Courier New"/>
                <a:ea typeface="+mn-lt"/>
                <a:cs typeface="+mn-lt"/>
              </a:rPr>
              <a:t>="bg-gray-100 </a:t>
            </a:r>
            <a:r>
              <a:rPr lang="es-ES" b="1" dirty="0" err="1">
                <a:latin typeface="Courier New"/>
                <a:ea typeface="+mn-lt"/>
                <a:cs typeface="+mn-lt"/>
              </a:rPr>
              <a:t>font-sans</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header</a:t>
            </a:r>
            <a:r>
              <a:rPr lang="es-ES" b="1" dirty="0">
                <a:latin typeface="Courier New"/>
                <a:ea typeface="+mn-lt"/>
                <a:cs typeface="+mn-lt"/>
              </a:rPr>
              <a:t> </a:t>
            </a:r>
            <a:r>
              <a:rPr lang="es-ES" b="1" dirty="0" err="1">
                <a:latin typeface="Courier New"/>
                <a:ea typeface="+mn-lt"/>
                <a:cs typeface="+mn-lt"/>
              </a:rPr>
              <a:t>class</a:t>
            </a:r>
            <a:r>
              <a:rPr lang="es-ES" b="1" dirty="0">
                <a:latin typeface="Courier New"/>
                <a:ea typeface="+mn-lt"/>
                <a:cs typeface="+mn-lt"/>
              </a:rPr>
              <a:t>="</a:t>
            </a:r>
            <a:r>
              <a:rPr lang="es-ES" b="1" dirty="0" err="1">
                <a:latin typeface="Courier New"/>
                <a:ea typeface="+mn-lt"/>
                <a:cs typeface="+mn-lt"/>
              </a:rPr>
              <a:t>bg-white</a:t>
            </a:r>
            <a:r>
              <a:rPr lang="es-ES" b="1" dirty="0">
                <a:latin typeface="Courier New"/>
                <a:ea typeface="+mn-lt"/>
                <a:cs typeface="+mn-lt"/>
              </a:rPr>
              <a:t> </a:t>
            </a:r>
            <a:r>
              <a:rPr lang="es-ES" b="1" dirty="0" err="1">
                <a:latin typeface="Courier New"/>
                <a:ea typeface="+mn-lt"/>
                <a:cs typeface="+mn-lt"/>
              </a:rPr>
              <a:t>shadow-md</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div</a:t>
            </a:r>
            <a:r>
              <a:rPr lang="es-ES" b="1" dirty="0">
                <a:latin typeface="Courier New"/>
                <a:ea typeface="+mn-lt"/>
                <a:cs typeface="+mn-lt"/>
              </a:rPr>
              <a:t> </a:t>
            </a:r>
            <a:r>
              <a:rPr lang="es-ES" b="1" dirty="0" err="1">
                <a:latin typeface="Courier New"/>
                <a:ea typeface="+mn-lt"/>
                <a:cs typeface="+mn-lt"/>
              </a:rPr>
              <a:t>class</a:t>
            </a:r>
            <a:r>
              <a:rPr lang="es-ES" b="1" dirty="0">
                <a:latin typeface="Courier New"/>
                <a:ea typeface="+mn-lt"/>
                <a:cs typeface="+mn-lt"/>
              </a:rPr>
              <a:t>="container </a:t>
            </a:r>
            <a:r>
              <a:rPr lang="es-ES" b="1" dirty="0" err="1">
                <a:latin typeface="Courier New"/>
                <a:ea typeface="+mn-lt"/>
                <a:cs typeface="+mn-lt"/>
              </a:rPr>
              <a:t>mx</a:t>
            </a:r>
            <a:r>
              <a:rPr lang="es-ES" b="1" dirty="0">
                <a:latin typeface="Courier New"/>
                <a:ea typeface="+mn-lt"/>
                <a:cs typeface="+mn-lt"/>
              </a:rPr>
              <a:t>-auto px-4 py-4 </a:t>
            </a:r>
            <a:r>
              <a:rPr lang="es-ES" b="1" dirty="0" err="1">
                <a:latin typeface="Courier New"/>
                <a:ea typeface="+mn-lt"/>
                <a:cs typeface="+mn-lt"/>
              </a:rPr>
              <a:t>flex</a:t>
            </a:r>
            <a:r>
              <a:rPr lang="es-ES" b="1" dirty="0">
                <a:latin typeface="Courier New"/>
                <a:ea typeface="+mn-lt"/>
                <a:cs typeface="+mn-lt"/>
              </a:rPr>
              <a:t> </a:t>
            </a:r>
            <a:r>
              <a:rPr lang="es-ES" b="1" dirty="0" err="1">
                <a:latin typeface="Courier New"/>
                <a:ea typeface="+mn-lt"/>
                <a:cs typeface="+mn-lt"/>
              </a:rPr>
              <a:t>justify-between</a:t>
            </a:r>
            <a:r>
              <a:rPr lang="es-ES" b="1" dirty="0">
                <a:latin typeface="Courier New"/>
                <a:ea typeface="+mn-lt"/>
                <a:cs typeface="+mn-lt"/>
              </a:rPr>
              <a:t> </a:t>
            </a:r>
            <a:r>
              <a:rPr lang="es-ES" b="1" dirty="0" err="1">
                <a:latin typeface="Courier New"/>
                <a:ea typeface="+mn-lt"/>
                <a:cs typeface="+mn-lt"/>
              </a:rPr>
              <a:t>items</a:t>
            </a:r>
            <a:r>
              <a:rPr lang="es-ES" b="1" dirty="0">
                <a:latin typeface="Courier New"/>
                <a:ea typeface="+mn-lt"/>
                <a:cs typeface="+mn-lt"/>
              </a:rPr>
              <a:t>-center"&gt;</a:t>
            </a:r>
            <a:br>
              <a:rPr lang="es-ES" b="1" dirty="0">
                <a:latin typeface="Courier New"/>
                <a:ea typeface="+mn-lt"/>
                <a:cs typeface="+mn-lt"/>
              </a:rPr>
            </a:br>
            <a:r>
              <a:rPr lang="es-ES" b="1" dirty="0">
                <a:latin typeface="Courier New"/>
                <a:ea typeface="+mn-lt"/>
                <a:cs typeface="+mn-lt"/>
              </a:rPr>
              <a:t>            &lt;a </a:t>
            </a:r>
            <a:r>
              <a:rPr lang="es-ES" b="1" dirty="0" err="1">
                <a:latin typeface="Courier New"/>
                <a:ea typeface="+mn-lt"/>
                <a:cs typeface="+mn-lt"/>
              </a:rPr>
              <a:t>href</a:t>
            </a:r>
            <a:r>
              <a:rPr lang="es-ES" b="1" dirty="0">
                <a:latin typeface="Courier New"/>
                <a:ea typeface="+mn-lt"/>
                <a:cs typeface="+mn-lt"/>
              </a:rPr>
              <a:t>="#" </a:t>
            </a:r>
            <a:r>
              <a:rPr lang="es-ES" b="1" dirty="0" err="1">
                <a:latin typeface="Courier New"/>
                <a:ea typeface="+mn-lt"/>
                <a:cs typeface="+mn-lt"/>
              </a:rPr>
              <a:t>class</a:t>
            </a:r>
            <a:r>
              <a:rPr lang="es-ES" b="1" dirty="0">
                <a:latin typeface="Courier New"/>
                <a:ea typeface="+mn-lt"/>
                <a:cs typeface="+mn-lt"/>
              </a:rPr>
              <a:t>="text-2xl </a:t>
            </a:r>
            <a:r>
              <a:rPr lang="es-ES" b="1" dirty="0" err="1">
                <a:latin typeface="Courier New"/>
                <a:ea typeface="+mn-lt"/>
                <a:cs typeface="+mn-lt"/>
              </a:rPr>
              <a:t>font-bold</a:t>
            </a:r>
            <a:r>
              <a:rPr lang="es-ES" b="1" dirty="0">
                <a:latin typeface="Courier New"/>
                <a:ea typeface="+mn-lt"/>
                <a:cs typeface="+mn-lt"/>
              </a:rPr>
              <a:t> text-gray-800"&gt;Mi Marca&lt;/a&gt;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nav</a:t>
            </a:r>
            <a:r>
              <a:rPr lang="es-ES" b="1" dirty="0">
                <a:latin typeface="Courier New"/>
                <a:ea typeface="+mn-lt"/>
                <a:cs typeface="+mn-lt"/>
              </a:rPr>
              <a:t> </a:t>
            </a:r>
            <a:r>
              <a:rPr lang="es-ES" b="1" dirty="0" err="1">
                <a:latin typeface="Courier New"/>
                <a:ea typeface="+mn-lt"/>
                <a:cs typeface="+mn-lt"/>
              </a:rPr>
              <a:t>class</a:t>
            </a:r>
            <a:r>
              <a:rPr lang="es-ES" b="1" dirty="0">
                <a:latin typeface="Courier New"/>
                <a:ea typeface="+mn-lt"/>
                <a:cs typeface="+mn-lt"/>
              </a:rPr>
              <a:t>="</a:t>
            </a:r>
            <a:r>
              <a:rPr lang="es-ES" b="1" dirty="0" err="1">
                <a:latin typeface="Courier New"/>
                <a:ea typeface="+mn-lt"/>
                <a:cs typeface="+mn-lt"/>
              </a:rPr>
              <a:t>hidden</a:t>
            </a:r>
            <a:r>
              <a:rPr lang="es-ES" b="1" dirty="0">
                <a:latin typeface="Courier New"/>
                <a:ea typeface="+mn-lt"/>
                <a:cs typeface="+mn-lt"/>
              </a:rPr>
              <a:t> </a:t>
            </a:r>
            <a:r>
              <a:rPr lang="es-ES" b="1" dirty="0" err="1">
                <a:latin typeface="Courier New"/>
                <a:ea typeface="+mn-lt"/>
                <a:cs typeface="+mn-lt"/>
              </a:rPr>
              <a:t>md:flex</a:t>
            </a:r>
            <a:r>
              <a:rPr lang="es-ES" b="1" dirty="0">
                <a:latin typeface="Courier New"/>
                <a:ea typeface="+mn-lt"/>
                <a:cs typeface="+mn-lt"/>
              </a:rPr>
              <a:t> space-x-6"&gt;</a:t>
            </a:r>
            <a:br>
              <a:rPr lang="es-ES" b="1" dirty="0">
                <a:latin typeface="Courier New"/>
                <a:ea typeface="+mn-lt"/>
                <a:cs typeface="+mn-lt"/>
              </a:rPr>
            </a:br>
            <a:r>
              <a:rPr lang="es-ES" b="1" dirty="0">
                <a:latin typeface="Courier New"/>
                <a:ea typeface="+mn-lt"/>
                <a:cs typeface="+mn-lt"/>
              </a:rPr>
              <a:t>                &lt;a </a:t>
            </a:r>
            <a:r>
              <a:rPr lang="es-ES" b="1" dirty="0" err="1">
                <a:latin typeface="Courier New"/>
                <a:ea typeface="+mn-lt"/>
                <a:cs typeface="+mn-lt"/>
              </a:rPr>
              <a:t>href</a:t>
            </a:r>
            <a:r>
              <a:rPr lang="es-ES" b="1" dirty="0">
                <a:latin typeface="Courier New"/>
                <a:ea typeface="+mn-lt"/>
                <a:cs typeface="+mn-lt"/>
              </a:rPr>
              <a:t>="#" </a:t>
            </a:r>
            <a:r>
              <a:rPr lang="es-ES" b="1" dirty="0" err="1">
                <a:latin typeface="Courier New"/>
                <a:ea typeface="+mn-lt"/>
                <a:cs typeface="+mn-lt"/>
              </a:rPr>
              <a:t>class</a:t>
            </a:r>
            <a:r>
              <a:rPr lang="es-ES" b="1" dirty="0">
                <a:latin typeface="Courier New"/>
                <a:ea typeface="+mn-lt"/>
                <a:cs typeface="+mn-lt"/>
              </a:rPr>
              <a:t>="text-gray-600 hover:text-blue-600"&gt;Inicio&lt;/a&gt;</a:t>
            </a:r>
            <a:br>
              <a:rPr lang="es-ES" b="1" dirty="0">
                <a:latin typeface="Courier New"/>
                <a:ea typeface="+mn-lt"/>
                <a:cs typeface="+mn-lt"/>
              </a:rPr>
            </a:br>
            <a:r>
              <a:rPr lang="es-ES" b="1" dirty="0">
                <a:latin typeface="Courier New"/>
                <a:ea typeface="+mn-lt"/>
                <a:cs typeface="+mn-lt"/>
              </a:rPr>
              <a:t>                &lt;a </a:t>
            </a:r>
            <a:r>
              <a:rPr lang="es-ES" b="1" dirty="0" err="1">
                <a:latin typeface="Courier New"/>
                <a:ea typeface="+mn-lt"/>
                <a:cs typeface="+mn-lt"/>
              </a:rPr>
              <a:t>href</a:t>
            </a:r>
            <a:r>
              <a:rPr lang="es-ES" b="1" dirty="0">
                <a:latin typeface="Courier New"/>
                <a:ea typeface="+mn-lt"/>
                <a:cs typeface="+mn-lt"/>
              </a:rPr>
              <a:t>="#" </a:t>
            </a:r>
            <a:r>
              <a:rPr lang="es-ES" b="1" dirty="0" err="1">
                <a:latin typeface="Courier New"/>
                <a:ea typeface="+mn-lt"/>
                <a:cs typeface="+mn-lt"/>
              </a:rPr>
              <a:t>class</a:t>
            </a:r>
            <a:r>
              <a:rPr lang="es-ES" b="1" dirty="0">
                <a:latin typeface="Courier New"/>
                <a:ea typeface="+mn-lt"/>
                <a:cs typeface="+mn-lt"/>
              </a:rPr>
              <a:t>="text-gray-600 hover:text-blue-600"&gt;Servicios&lt;/a&gt;</a:t>
            </a:r>
            <a:br>
              <a:rPr lang="es-ES" b="1" dirty="0">
                <a:latin typeface="Courier New"/>
                <a:ea typeface="+mn-lt"/>
                <a:cs typeface="+mn-lt"/>
              </a:rPr>
            </a:br>
            <a:r>
              <a:rPr lang="es-ES" b="1" dirty="0">
                <a:latin typeface="Courier New"/>
                <a:ea typeface="+mn-lt"/>
                <a:cs typeface="+mn-lt"/>
              </a:rPr>
              <a:t>                &lt;a </a:t>
            </a:r>
            <a:r>
              <a:rPr lang="es-ES" b="1" dirty="0" err="1">
                <a:latin typeface="Courier New"/>
                <a:ea typeface="+mn-lt"/>
                <a:cs typeface="+mn-lt"/>
              </a:rPr>
              <a:t>href</a:t>
            </a:r>
            <a:r>
              <a:rPr lang="es-ES" b="1" dirty="0">
                <a:latin typeface="Courier New"/>
                <a:ea typeface="+mn-lt"/>
                <a:cs typeface="+mn-lt"/>
              </a:rPr>
              <a:t>="#" </a:t>
            </a:r>
            <a:r>
              <a:rPr lang="es-ES" b="1" dirty="0" err="1">
                <a:latin typeface="Courier New"/>
                <a:ea typeface="+mn-lt"/>
                <a:cs typeface="+mn-lt"/>
              </a:rPr>
              <a:t>class</a:t>
            </a:r>
            <a:r>
              <a:rPr lang="es-ES" b="1" dirty="0">
                <a:latin typeface="Courier New"/>
                <a:ea typeface="+mn-lt"/>
                <a:cs typeface="+mn-lt"/>
              </a:rPr>
              <a:t>="text-gray-600 hover:text-blue-600"&gt;Contacto&lt;/a&gt;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nav</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div</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header</a:t>
            </a:r>
            <a:r>
              <a:rPr lang="es-ES" b="1" dirty="0">
                <a:latin typeface="Courier New"/>
                <a:ea typeface="+mn-lt"/>
                <a:cs typeface="+mn-lt"/>
              </a:rPr>
              <a:t>&gt;</a:t>
            </a:r>
            <a:endParaRPr lang="es-ES" dirty="0">
              <a:latin typeface="Bierstadt"/>
            </a:endParaRPr>
          </a:p>
          <a:p>
            <a:endParaRPr lang="es-ES" dirty="0"/>
          </a:p>
        </p:txBody>
      </p:sp>
    </p:spTree>
    <p:extLst>
      <p:ext uri="{BB962C8B-B14F-4D97-AF65-F5344CB8AC3E}">
        <p14:creationId xmlns:p14="http://schemas.microsoft.com/office/powerpoint/2010/main" val="2211012581"/>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7D165-432F-1472-4D61-99BCAF9F21B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6C6F158-EC1A-DDE9-F31D-E3F1C21BF44D}"/>
              </a:ext>
            </a:extLst>
          </p:cNvPr>
          <p:cNvSpPr>
            <a:spLocks noGrp="1"/>
          </p:cNvSpPr>
          <p:nvPr>
            <p:ph type="title"/>
          </p:nvPr>
        </p:nvSpPr>
        <p:spPr/>
        <p:txBody>
          <a:bodyPr/>
          <a:lstStyle/>
          <a:p>
            <a:r>
              <a:rPr lang="es-ES" b="0" dirty="0">
                <a:ea typeface="+mj-lt"/>
                <a:cs typeface="+mj-lt"/>
              </a:rPr>
              <a:t>2.3.4.2. Introducción a </a:t>
            </a:r>
            <a:r>
              <a:rPr lang="es-ES" b="0" dirty="0" err="1">
                <a:ea typeface="+mj-lt"/>
                <a:cs typeface="+mj-lt"/>
              </a:rPr>
              <a:t>Tailwind</a:t>
            </a:r>
            <a:r>
              <a:rPr lang="es-ES" b="0" dirty="0">
                <a:ea typeface="+mj-lt"/>
                <a:cs typeface="+mj-lt"/>
              </a:rPr>
              <a:t> CSS.</a:t>
            </a:r>
            <a:endParaRPr lang="es-ES" dirty="0"/>
          </a:p>
        </p:txBody>
      </p:sp>
      <p:sp>
        <p:nvSpPr>
          <p:cNvPr id="3" name="Marcador de contenido 2">
            <a:extLst>
              <a:ext uri="{FF2B5EF4-FFF2-40B4-BE49-F238E27FC236}">
                <a16:creationId xmlns:a16="http://schemas.microsoft.com/office/drawing/2014/main" id="{952A4961-0496-B6F3-2710-7D0135CA8F89}"/>
              </a:ext>
            </a:extLst>
          </p:cNvPr>
          <p:cNvSpPr>
            <a:spLocks noGrp="1"/>
          </p:cNvSpPr>
          <p:nvPr>
            <p:ph idx="1"/>
          </p:nvPr>
        </p:nvSpPr>
        <p:spPr/>
        <p:txBody>
          <a:bodyPr vert="horz" lIns="91440" tIns="45720" rIns="91440" bIns="45720" rtlCol="0" anchor="t">
            <a:normAutofit fontScale="77500" lnSpcReduction="20000"/>
          </a:bodyPr>
          <a:lstStyle/>
          <a:p>
            <a:pPr marL="0" indent="0">
              <a:buNone/>
            </a:pPr>
            <a:r>
              <a:rPr lang="es-ES" b="1" dirty="0">
                <a:latin typeface="Courier New"/>
                <a:ea typeface="+mn-lt"/>
                <a:cs typeface="+mn-lt"/>
              </a:rPr>
              <a:t>    &lt;</a:t>
            </a:r>
            <a:r>
              <a:rPr lang="es-ES" b="1" dirty="0" err="1">
                <a:latin typeface="Courier New"/>
                <a:ea typeface="+mn-lt"/>
                <a:cs typeface="+mn-lt"/>
              </a:rPr>
              <a:t>main</a:t>
            </a:r>
            <a:r>
              <a:rPr lang="es-ES" b="1" dirty="0">
                <a:latin typeface="Courier New"/>
                <a:ea typeface="+mn-lt"/>
                <a:cs typeface="+mn-lt"/>
              </a:rPr>
              <a:t> </a:t>
            </a:r>
            <a:r>
              <a:rPr lang="es-ES" b="1" dirty="0" err="1">
                <a:latin typeface="Courier New"/>
                <a:ea typeface="+mn-lt"/>
                <a:cs typeface="+mn-lt"/>
              </a:rPr>
              <a:t>class</a:t>
            </a:r>
            <a:r>
              <a:rPr lang="es-ES" b="1" dirty="0">
                <a:latin typeface="Courier New"/>
                <a:ea typeface="+mn-lt"/>
                <a:cs typeface="+mn-lt"/>
              </a:rPr>
              <a:t>="container </a:t>
            </a:r>
            <a:r>
              <a:rPr lang="es-ES" b="1" dirty="0" err="1">
                <a:latin typeface="Courier New"/>
                <a:ea typeface="+mn-lt"/>
                <a:cs typeface="+mn-lt"/>
              </a:rPr>
              <a:t>mx</a:t>
            </a:r>
            <a:r>
              <a:rPr lang="es-ES" b="1" dirty="0">
                <a:latin typeface="Courier New"/>
                <a:ea typeface="+mn-lt"/>
                <a:cs typeface="+mn-lt"/>
              </a:rPr>
              <a:t>-auto px-4 py-8"&gt;</a:t>
            </a:r>
            <a:br>
              <a:rPr lang="es-ES" b="1" dirty="0">
                <a:latin typeface="Courier New"/>
                <a:ea typeface="+mn-lt"/>
                <a:cs typeface="+mn-lt"/>
              </a:rPr>
            </a:br>
            <a:r>
              <a:rPr lang="es-ES" b="1" dirty="0">
                <a:latin typeface="Courier New"/>
                <a:ea typeface="+mn-lt"/>
                <a:cs typeface="+mn-lt"/>
              </a:rPr>
              <a:t>        &lt;h1 </a:t>
            </a:r>
            <a:r>
              <a:rPr lang="es-ES" b="1" dirty="0" err="1">
                <a:latin typeface="Courier New"/>
                <a:ea typeface="+mn-lt"/>
                <a:cs typeface="+mn-lt"/>
              </a:rPr>
              <a:t>class</a:t>
            </a:r>
            <a:r>
              <a:rPr lang="es-ES" b="1" dirty="0">
                <a:latin typeface="Courier New"/>
                <a:ea typeface="+mn-lt"/>
                <a:cs typeface="+mn-lt"/>
              </a:rPr>
              <a:t>="text-4xl </a:t>
            </a:r>
            <a:r>
              <a:rPr lang="es-ES" b="1" dirty="0" err="1">
                <a:latin typeface="Courier New"/>
                <a:ea typeface="+mn-lt"/>
                <a:cs typeface="+mn-lt"/>
              </a:rPr>
              <a:t>font-extrabold</a:t>
            </a:r>
            <a:r>
              <a:rPr lang="es-ES" b="1" dirty="0">
                <a:latin typeface="Courier New"/>
                <a:ea typeface="+mn-lt"/>
                <a:cs typeface="+mn-lt"/>
              </a:rPr>
              <a:t> </a:t>
            </a:r>
            <a:r>
              <a:rPr lang="es-ES" b="1" dirty="0" err="1">
                <a:latin typeface="Courier New"/>
                <a:ea typeface="+mn-lt"/>
                <a:cs typeface="+mn-lt"/>
              </a:rPr>
              <a:t>text</a:t>
            </a:r>
            <a:r>
              <a:rPr lang="es-ES" b="1" dirty="0">
                <a:latin typeface="Courier New"/>
                <a:ea typeface="+mn-lt"/>
                <a:cs typeface="+mn-lt"/>
              </a:rPr>
              <a:t>-center text-gray-800 mb-8"&gt;Nuestros Productos&lt;/h1&gt;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div</a:t>
            </a:r>
            <a:r>
              <a:rPr lang="es-ES" b="1" dirty="0">
                <a:latin typeface="Courier New"/>
                <a:ea typeface="+mn-lt"/>
                <a:cs typeface="+mn-lt"/>
              </a:rPr>
              <a:t> </a:t>
            </a:r>
            <a:r>
              <a:rPr lang="es-ES" b="1" dirty="0" err="1">
                <a:latin typeface="Courier New"/>
                <a:ea typeface="+mn-lt"/>
                <a:cs typeface="+mn-lt"/>
              </a:rPr>
              <a:t>class</a:t>
            </a:r>
            <a:r>
              <a:rPr lang="es-ES" b="1" dirty="0">
                <a:latin typeface="Courier New"/>
                <a:ea typeface="+mn-lt"/>
                <a:cs typeface="+mn-lt"/>
              </a:rPr>
              <a:t>="</a:t>
            </a:r>
            <a:r>
              <a:rPr lang="es-ES" b="1" dirty="0" err="1">
                <a:latin typeface="Courier New"/>
                <a:ea typeface="+mn-lt"/>
                <a:cs typeface="+mn-lt"/>
              </a:rPr>
              <a:t>grid</a:t>
            </a:r>
            <a:r>
              <a:rPr lang="es-ES" b="1" dirty="0">
                <a:latin typeface="Courier New"/>
                <a:ea typeface="+mn-lt"/>
                <a:cs typeface="+mn-lt"/>
              </a:rPr>
              <a:t> grid-cols-1 md:grid-cols-2 lg:grid-cols-3 gap-6"&gt;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div</a:t>
            </a:r>
            <a:r>
              <a:rPr lang="es-ES" b="1" dirty="0">
                <a:latin typeface="Courier New"/>
                <a:ea typeface="+mn-lt"/>
                <a:cs typeface="+mn-lt"/>
              </a:rPr>
              <a:t> </a:t>
            </a:r>
            <a:r>
              <a:rPr lang="es-ES" b="1" dirty="0" err="1">
                <a:latin typeface="Courier New"/>
                <a:ea typeface="+mn-lt"/>
                <a:cs typeface="+mn-lt"/>
              </a:rPr>
              <a:t>class</a:t>
            </a:r>
            <a:r>
              <a:rPr lang="es-ES" b="1" dirty="0">
                <a:latin typeface="Courier New"/>
                <a:ea typeface="+mn-lt"/>
                <a:cs typeface="+mn-lt"/>
              </a:rPr>
              <a:t>="</a:t>
            </a:r>
            <a:r>
              <a:rPr lang="es-ES" b="1" dirty="0" err="1">
                <a:latin typeface="Courier New"/>
                <a:ea typeface="+mn-lt"/>
                <a:cs typeface="+mn-lt"/>
              </a:rPr>
              <a:t>bg-white</a:t>
            </a:r>
            <a:r>
              <a:rPr lang="es-ES" b="1" dirty="0">
                <a:latin typeface="Courier New"/>
                <a:ea typeface="+mn-lt"/>
                <a:cs typeface="+mn-lt"/>
              </a:rPr>
              <a:t> </a:t>
            </a:r>
            <a:r>
              <a:rPr lang="es-ES" b="1" dirty="0" err="1">
                <a:latin typeface="Courier New"/>
                <a:ea typeface="+mn-lt"/>
                <a:cs typeface="+mn-lt"/>
              </a:rPr>
              <a:t>rounded-lg</a:t>
            </a:r>
            <a:r>
              <a:rPr lang="es-ES" b="1" dirty="0">
                <a:latin typeface="Courier New"/>
                <a:ea typeface="+mn-lt"/>
                <a:cs typeface="+mn-lt"/>
              </a:rPr>
              <a:t> </a:t>
            </a:r>
            <a:r>
              <a:rPr lang="es-ES" b="1" dirty="0" err="1">
                <a:latin typeface="Courier New"/>
                <a:ea typeface="+mn-lt"/>
                <a:cs typeface="+mn-lt"/>
              </a:rPr>
              <a:t>shadow-md</a:t>
            </a:r>
            <a:r>
              <a:rPr lang="es-ES" b="1" dirty="0">
                <a:latin typeface="Courier New"/>
                <a:ea typeface="+mn-lt"/>
                <a:cs typeface="+mn-lt"/>
              </a:rPr>
              <a:t> p-6 </a:t>
            </a:r>
            <a:r>
              <a:rPr lang="es-ES" b="1" dirty="0" err="1">
                <a:latin typeface="Courier New"/>
                <a:ea typeface="+mn-lt"/>
                <a:cs typeface="+mn-lt"/>
              </a:rPr>
              <a:t>transform</a:t>
            </a:r>
            <a:r>
              <a:rPr lang="es-ES" b="1" dirty="0">
                <a:latin typeface="Courier New"/>
                <a:ea typeface="+mn-lt"/>
                <a:cs typeface="+mn-lt"/>
              </a:rPr>
              <a:t> </a:t>
            </a:r>
            <a:r>
              <a:rPr lang="es-ES" b="1" dirty="0" err="1">
                <a:latin typeface="Courier New"/>
                <a:ea typeface="+mn-lt"/>
                <a:cs typeface="+mn-lt"/>
              </a:rPr>
              <a:t>transition-transform</a:t>
            </a:r>
            <a:r>
              <a:rPr lang="es-ES" b="1" dirty="0">
                <a:latin typeface="Courier New"/>
                <a:ea typeface="+mn-lt"/>
                <a:cs typeface="+mn-lt"/>
              </a:rPr>
              <a:t> duration-300 hover:scale-105"&gt;</a:t>
            </a:r>
            <a:br>
              <a:rPr lang="es-ES" b="1" dirty="0">
                <a:latin typeface="Courier New"/>
                <a:ea typeface="+mn-lt"/>
                <a:cs typeface="+mn-lt"/>
              </a:rPr>
            </a:br>
            <a:r>
              <a:rPr lang="es-ES" b="1" dirty="0">
                <a:latin typeface="Courier New"/>
                <a:ea typeface="+mn-lt"/>
                <a:cs typeface="+mn-lt"/>
              </a:rPr>
              <a:t>                &lt;h2 </a:t>
            </a:r>
            <a:r>
              <a:rPr lang="es-ES" b="1" dirty="0" err="1">
                <a:latin typeface="Courier New"/>
                <a:ea typeface="+mn-lt"/>
                <a:cs typeface="+mn-lt"/>
              </a:rPr>
              <a:t>class</a:t>
            </a:r>
            <a:r>
              <a:rPr lang="es-ES" b="1" dirty="0">
                <a:latin typeface="Courier New"/>
                <a:ea typeface="+mn-lt"/>
                <a:cs typeface="+mn-lt"/>
              </a:rPr>
              <a:t>="</a:t>
            </a:r>
            <a:r>
              <a:rPr lang="es-ES" b="1" dirty="0" err="1">
                <a:latin typeface="Courier New"/>
                <a:ea typeface="+mn-lt"/>
                <a:cs typeface="+mn-lt"/>
              </a:rPr>
              <a:t>text-xl</a:t>
            </a:r>
            <a:r>
              <a:rPr lang="es-ES" b="1" dirty="0">
                <a:latin typeface="Courier New"/>
                <a:ea typeface="+mn-lt"/>
                <a:cs typeface="+mn-lt"/>
              </a:rPr>
              <a:t> </a:t>
            </a:r>
            <a:r>
              <a:rPr lang="es-ES" b="1" dirty="0" err="1">
                <a:latin typeface="Courier New"/>
                <a:ea typeface="+mn-lt"/>
                <a:cs typeface="+mn-lt"/>
              </a:rPr>
              <a:t>font-semibold</a:t>
            </a:r>
            <a:r>
              <a:rPr lang="es-ES" b="1" dirty="0">
                <a:latin typeface="Courier New"/>
                <a:ea typeface="+mn-lt"/>
                <a:cs typeface="+mn-lt"/>
              </a:rPr>
              <a:t> mb-2"&gt;Producto Estándar&lt;/h2&gt;</a:t>
            </a:r>
            <a:br>
              <a:rPr lang="es-ES" b="1" dirty="0">
                <a:latin typeface="Courier New"/>
                <a:ea typeface="+mn-lt"/>
                <a:cs typeface="+mn-lt"/>
              </a:rPr>
            </a:br>
            <a:r>
              <a:rPr lang="es-ES" b="1" dirty="0">
                <a:latin typeface="Courier New"/>
                <a:ea typeface="+mn-lt"/>
                <a:cs typeface="+mn-lt"/>
              </a:rPr>
              <a:t>                &lt;p </a:t>
            </a:r>
            <a:r>
              <a:rPr lang="es-ES" b="1" dirty="0" err="1">
                <a:latin typeface="Courier New"/>
                <a:ea typeface="+mn-lt"/>
                <a:cs typeface="+mn-lt"/>
              </a:rPr>
              <a:t>class</a:t>
            </a:r>
            <a:r>
              <a:rPr lang="es-ES" b="1" dirty="0">
                <a:latin typeface="Courier New"/>
                <a:ea typeface="+mn-lt"/>
                <a:cs typeface="+mn-lt"/>
              </a:rPr>
              <a:t>="text-gray-600 </a:t>
            </a:r>
            <a:r>
              <a:rPr lang="es-ES" b="1" dirty="0" err="1">
                <a:latin typeface="Courier New"/>
                <a:ea typeface="+mn-lt"/>
                <a:cs typeface="+mn-lt"/>
              </a:rPr>
              <a:t>text-sm</a:t>
            </a:r>
            <a:r>
              <a:rPr lang="es-ES" b="1" dirty="0">
                <a:latin typeface="Courier New"/>
                <a:ea typeface="+mn-lt"/>
                <a:cs typeface="+mn-lt"/>
              </a:rPr>
              <a:t> mb-4"&gt;</a:t>
            </a:r>
            <a:br>
              <a:rPr lang="es-ES" b="1" dirty="0">
                <a:latin typeface="Courier New"/>
                <a:ea typeface="+mn-lt"/>
                <a:cs typeface="+mn-lt"/>
              </a:rPr>
            </a:br>
            <a:r>
              <a:rPr lang="es-ES" b="1" dirty="0">
                <a:latin typeface="Courier New"/>
                <a:ea typeface="+mn-lt"/>
                <a:cs typeface="+mn-lt"/>
              </a:rPr>
              <a:t>                    Este es un producto básico, ideal para principiantes. Conoce sus beneficios.</a:t>
            </a:r>
            <a:br>
              <a:rPr lang="es-ES" b="1" dirty="0">
                <a:latin typeface="Courier New"/>
                <a:ea typeface="+mn-lt"/>
                <a:cs typeface="+mn-lt"/>
              </a:rPr>
            </a:br>
            <a:r>
              <a:rPr lang="es-ES" b="1" dirty="0">
                <a:latin typeface="Courier New"/>
                <a:ea typeface="+mn-lt"/>
                <a:cs typeface="+mn-lt"/>
              </a:rPr>
              <a:t>                &lt;/p&gt;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div</a:t>
            </a:r>
            <a:r>
              <a:rPr lang="es-ES" b="1" dirty="0">
                <a:latin typeface="Courier New"/>
                <a:ea typeface="+mn-lt"/>
                <a:cs typeface="+mn-lt"/>
              </a:rPr>
              <a:t> </a:t>
            </a:r>
            <a:r>
              <a:rPr lang="es-ES" b="1" dirty="0" err="1">
                <a:latin typeface="Courier New"/>
                <a:ea typeface="+mn-lt"/>
                <a:cs typeface="+mn-lt"/>
              </a:rPr>
              <a:t>class</a:t>
            </a:r>
            <a:r>
              <a:rPr lang="es-ES" b="1" dirty="0">
                <a:latin typeface="Courier New"/>
                <a:ea typeface="+mn-lt"/>
                <a:cs typeface="+mn-lt"/>
              </a:rPr>
              <a:t>="</a:t>
            </a:r>
            <a:r>
              <a:rPr lang="es-ES" b="1" dirty="0" err="1">
                <a:latin typeface="Courier New"/>
                <a:ea typeface="+mn-lt"/>
                <a:cs typeface="+mn-lt"/>
              </a:rPr>
              <a:t>flex</a:t>
            </a:r>
            <a:r>
              <a:rPr lang="es-ES" b="1" dirty="0">
                <a:latin typeface="Courier New"/>
                <a:ea typeface="+mn-lt"/>
                <a:cs typeface="+mn-lt"/>
              </a:rPr>
              <a:t> </a:t>
            </a:r>
            <a:r>
              <a:rPr lang="es-ES" b="1" dirty="0" err="1">
                <a:latin typeface="Courier New"/>
                <a:ea typeface="+mn-lt"/>
                <a:cs typeface="+mn-lt"/>
              </a:rPr>
              <a:t>justify-between</a:t>
            </a:r>
            <a:r>
              <a:rPr lang="es-ES" b="1" dirty="0">
                <a:latin typeface="Courier New"/>
                <a:ea typeface="+mn-lt"/>
                <a:cs typeface="+mn-lt"/>
              </a:rPr>
              <a:t> </a:t>
            </a:r>
            <a:r>
              <a:rPr lang="es-ES" b="1" dirty="0" err="1">
                <a:latin typeface="Courier New"/>
                <a:ea typeface="+mn-lt"/>
                <a:cs typeface="+mn-lt"/>
              </a:rPr>
              <a:t>items</a:t>
            </a:r>
            <a:r>
              <a:rPr lang="es-ES" b="1" dirty="0">
                <a:latin typeface="Courier New"/>
                <a:ea typeface="+mn-lt"/>
                <a:cs typeface="+mn-lt"/>
              </a:rPr>
              <a:t>-center mt-4"&gt;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span</a:t>
            </a:r>
            <a:r>
              <a:rPr lang="es-ES" b="1" dirty="0">
                <a:latin typeface="Courier New"/>
                <a:ea typeface="+mn-lt"/>
                <a:cs typeface="+mn-lt"/>
              </a:rPr>
              <a:t> </a:t>
            </a:r>
            <a:r>
              <a:rPr lang="es-ES" b="1" dirty="0" err="1">
                <a:latin typeface="Courier New"/>
                <a:ea typeface="+mn-lt"/>
                <a:cs typeface="+mn-lt"/>
              </a:rPr>
              <a:t>class</a:t>
            </a:r>
            <a:r>
              <a:rPr lang="es-ES" b="1" dirty="0">
                <a:latin typeface="Courier New"/>
                <a:ea typeface="+mn-lt"/>
                <a:cs typeface="+mn-lt"/>
              </a:rPr>
              <a:t>="text-2xl </a:t>
            </a:r>
            <a:r>
              <a:rPr lang="es-ES" b="1" dirty="0" err="1">
                <a:latin typeface="Courier New"/>
                <a:ea typeface="+mn-lt"/>
                <a:cs typeface="+mn-lt"/>
              </a:rPr>
              <a:t>font-bold</a:t>
            </a:r>
            <a:r>
              <a:rPr lang="es-ES" b="1" dirty="0">
                <a:latin typeface="Courier New"/>
                <a:ea typeface="+mn-lt"/>
                <a:cs typeface="+mn-lt"/>
              </a:rPr>
              <a:t> text-blue-600"&gt;$19.99&lt;/</a:t>
            </a:r>
            <a:r>
              <a:rPr lang="es-ES" b="1" dirty="0" err="1">
                <a:latin typeface="Courier New"/>
                <a:ea typeface="+mn-lt"/>
                <a:cs typeface="+mn-lt"/>
              </a:rPr>
              <a:t>span</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button</a:t>
            </a:r>
            <a:r>
              <a:rPr lang="es-ES" b="1" dirty="0">
                <a:latin typeface="Courier New"/>
                <a:ea typeface="+mn-lt"/>
                <a:cs typeface="+mn-lt"/>
              </a:rPr>
              <a:t> </a:t>
            </a:r>
            <a:r>
              <a:rPr lang="es-ES" b="1" dirty="0" err="1">
                <a:latin typeface="Courier New"/>
                <a:ea typeface="+mn-lt"/>
                <a:cs typeface="+mn-lt"/>
              </a:rPr>
              <a:t>class</a:t>
            </a:r>
            <a:r>
              <a:rPr lang="es-ES" b="1" dirty="0">
                <a:latin typeface="Courier New"/>
                <a:ea typeface="+mn-lt"/>
                <a:cs typeface="+mn-lt"/>
              </a:rPr>
              <a:t>="bg-blue-600 </a:t>
            </a:r>
            <a:r>
              <a:rPr lang="es-ES" b="1" dirty="0" err="1">
                <a:latin typeface="Courier New"/>
                <a:ea typeface="+mn-lt"/>
                <a:cs typeface="+mn-lt"/>
              </a:rPr>
              <a:t>text-white</a:t>
            </a:r>
            <a:r>
              <a:rPr lang="es-ES" b="1" dirty="0">
                <a:latin typeface="Courier New"/>
                <a:ea typeface="+mn-lt"/>
                <a:cs typeface="+mn-lt"/>
              </a:rPr>
              <a:t> </a:t>
            </a:r>
            <a:r>
              <a:rPr lang="es-ES" b="1" dirty="0" err="1">
                <a:latin typeface="Courier New"/>
                <a:ea typeface="+mn-lt"/>
                <a:cs typeface="+mn-lt"/>
              </a:rPr>
              <a:t>font-bold</a:t>
            </a:r>
            <a:r>
              <a:rPr lang="es-ES" b="1" dirty="0">
                <a:latin typeface="Courier New"/>
                <a:ea typeface="+mn-lt"/>
                <a:cs typeface="+mn-lt"/>
              </a:rPr>
              <a:t> py-2 px-4 </a:t>
            </a:r>
            <a:r>
              <a:rPr lang="es-ES" b="1" dirty="0" err="1">
                <a:latin typeface="Courier New"/>
                <a:ea typeface="+mn-lt"/>
                <a:cs typeface="+mn-lt"/>
              </a:rPr>
              <a:t>rounded</a:t>
            </a:r>
            <a:r>
              <a:rPr lang="es-ES" b="1" dirty="0">
                <a:latin typeface="Courier New"/>
                <a:ea typeface="+mn-lt"/>
                <a:cs typeface="+mn-lt"/>
              </a:rPr>
              <a:t> hover:bg-blue-700"&gt;</a:t>
            </a:r>
            <a:br>
              <a:rPr lang="es-ES" b="1" dirty="0">
                <a:latin typeface="Courier New"/>
                <a:ea typeface="+mn-lt"/>
                <a:cs typeface="+mn-lt"/>
              </a:rPr>
            </a:br>
            <a:r>
              <a:rPr lang="es-ES" b="1" dirty="0">
                <a:latin typeface="Courier New"/>
                <a:ea typeface="+mn-lt"/>
                <a:cs typeface="+mn-lt"/>
              </a:rPr>
              <a:t>                        Comprar</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button</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div</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div</a:t>
            </a:r>
            <a:r>
              <a:rPr lang="es-ES" b="1" dirty="0">
                <a:latin typeface="Courier New"/>
                <a:ea typeface="+mn-lt"/>
                <a:cs typeface="+mn-lt"/>
              </a:rPr>
              <a:t>&gt;</a:t>
            </a:r>
            <a:endParaRPr lang="es-ES" b="1" dirty="0">
              <a:latin typeface="Courier New"/>
              <a:cs typeface="Courier New"/>
            </a:endParaRPr>
          </a:p>
        </p:txBody>
      </p:sp>
    </p:spTree>
    <p:extLst>
      <p:ext uri="{BB962C8B-B14F-4D97-AF65-F5344CB8AC3E}">
        <p14:creationId xmlns:p14="http://schemas.microsoft.com/office/powerpoint/2010/main" val="2370430852"/>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125782-57BB-3495-75C1-3BBEE3A0111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C983F14-5618-D105-EE0B-A852E7E75789}"/>
              </a:ext>
            </a:extLst>
          </p:cNvPr>
          <p:cNvSpPr>
            <a:spLocks noGrp="1"/>
          </p:cNvSpPr>
          <p:nvPr>
            <p:ph type="title"/>
          </p:nvPr>
        </p:nvSpPr>
        <p:spPr/>
        <p:txBody>
          <a:bodyPr/>
          <a:lstStyle/>
          <a:p>
            <a:r>
              <a:rPr lang="es-ES" b="0" dirty="0">
                <a:ea typeface="+mj-lt"/>
                <a:cs typeface="+mj-lt"/>
              </a:rPr>
              <a:t>2.3.4.2. Introducción a </a:t>
            </a:r>
            <a:r>
              <a:rPr lang="es-ES" b="0" dirty="0" err="1">
                <a:ea typeface="+mj-lt"/>
                <a:cs typeface="+mj-lt"/>
              </a:rPr>
              <a:t>Tailwind</a:t>
            </a:r>
            <a:r>
              <a:rPr lang="es-ES" b="0" dirty="0">
                <a:ea typeface="+mj-lt"/>
                <a:cs typeface="+mj-lt"/>
              </a:rPr>
              <a:t> CSS.</a:t>
            </a:r>
            <a:endParaRPr lang="es-ES" dirty="0"/>
          </a:p>
        </p:txBody>
      </p:sp>
      <p:sp>
        <p:nvSpPr>
          <p:cNvPr id="3" name="Marcador de contenido 2">
            <a:extLst>
              <a:ext uri="{FF2B5EF4-FFF2-40B4-BE49-F238E27FC236}">
                <a16:creationId xmlns:a16="http://schemas.microsoft.com/office/drawing/2014/main" id="{D2E1AEFB-8FD2-C433-882D-7F62AD64B832}"/>
              </a:ext>
            </a:extLst>
          </p:cNvPr>
          <p:cNvSpPr>
            <a:spLocks noGrp="1"/>
          </p:cNvSpPr>
          <p:nvPr>
            <p:ph idx="1"/>
          </p:nvPr>
        </p:nvSpPr>
        <p:spPr/>
        <p:txBody>
          <a:bodyPr vert="horz" lIns="91440" tIns="45720" rIns="91440" bIns="45720" rtlCol="0" anchor="t">
            <a:normAutofit fontScale="92500" lnSpcReduction="20000"/>
          </a:bodyPr>
          <a:lstStyle/>
          <a:p>
            <a:pPr marL="0" indent="0">
              <a:buNone/>
            </a:pPr>
            <a:r>
              <a:rPr lang="es-ES" b="1" dirty="0">
                <a:latin typeface="Courier New"/>
                <a:ea typeface="+mn-lt"/>
                <a:cs typeface="+mn-lt"/>
              </a:rPr>
              <a:t>            &lt;</a:t>
            </a:r>
            <a:r>
              <a:rPr lang="es-ES" b="1" dirty="0" err="1">
                <a:latin typeface="Courier New"/>
                <a:ea typeface="+mn-lt"/>
                <a:cs typeface="+mn-lt"/>
              </a:rPr>
              <a:t>div</a:t>
            </a:r>
            <a:r>
              <a:rPr lang="es-ES" b="1" dirty="0">
                <a:latin typeface="Courier New"/>
                <a:ea typeface="+mn-lt"/>
                <a:cs typeface="+mn-lt"/>
              </a:rPr>
              <a:t> </a:t>
            </a:r>
            <a:r>
              <a:rPr lang="es-ES" b="1" dirty="0" err="1">
                <a:latin typeface="Courier New"/>
                <a:ea typeface="+mn-lt"/>
                <a:cs typeface="+mn-lt"/>
              </a:rPr>
              <a:t>class</a:t>
            </a:r>
            <a:r>
              <a:rPr lang="es-ES" b="1" dirty="0">
                <a:latin typeface="Courier New"/>
                <a:ea typeface="+mn-lt"/>
                <a:cs typeface="+mn-lt"/>
              </a:rPr>
              <a:t>="</a:t>
            </a:r>
            <a:r>
              <a:rPr lang="es-ES" b="1" dirty="0" err="1">
                <a:latin typeface="Courier New"/>
                <a:ea typeface="+mn-lt"/>
                <a:cs typeface="+mn-lt"/>
              </a:rPr>
              <a:t>bg-white</a:t>
            </a:r>
            <a:r>
              <a:rPr lang="es-ES" b="1" dirty="0">
                <a:latin typeface="Courier New"/>
                <a:ea typeface="+mn-lt"/>
                <a:cs typeface="+mn-lt"/>
              </a:rPr>
              <a:t> </a:t>
            </a:r>
            <a:r>
              <a:rPr lang="es-ES" b="1" dirty="0" err="1">
                <a:latin typeface="Courier New"/>
                <a:ea typeface="+mn-lt"/>
                <a:cs typeface="+mn-lt"/>
              </a:rPr>
              <a:t>rounded-lg</a:t>
            </a:r>
            <a:r>
              <a:rPr lang="es-ES" b="1" dirty="0">
                <a:latin typeface="Courier New"/>
                <a:ea typeface="+mn-lt"/>
                <a:cs typeface="+mn-lt"/>
              </a:rPr>
              <a:t> </a:t>
            </a:r>
            <a:r>
              <a:rPr lang="es-ES" b="1" dirty="0" err="1">
                <a:latin typeface="Courier New"/>
                <a:ea typeface="+mn-lt"/>
                <a:cs typeface="+mn-lt"/>
              </a:rPr>
              <a:t>shadow-md</a:t>
            </a:r>
            <a:r>
              <a:rPr lang="es-ES" b="1" dirty="0">
                <a:latin typeface="Courier New"/>
                <a:ea typeface="+mn-lt"/>
                <a:cs typeface="+mn-lt"/>
              </a:rPr>
              <a:t> p-6 </a:t>
            </a:r>
            <a:r>
              <a:rPr lang="es-ES" b="1" dirty="0" err="1">
                <a:latin typeface="Courier New"/>
                <a:ea typeface="+mn-lt"/>
                <a:cs typeface="+mn-lt"/>
              </a:rPr>
              <a:t>transform</a:t>
            </a:r>
            <a:r>
              <a:rPr lang="es-ES" b="1" dirty="0">
                <a:latin typeface="Courier New"/>
                <a:ea typeface="+mn-lt"/>
                <a:cs typeface="+mn-lt"/>
              </a:rPr>
              <a:t> </a:t>
            </a:r>
            <a:r>
              <a:rPr lang="es-ES" b="1" dirty="0" err="1">
                <a:latin typeface="Courier New"/>
                <a:ea typeface="+mn-lt"/>
                <a:cs typeface="+mn-lt"/>
              </a:rPr>
              <a:t>transition-transform</a:t>
            </a:r>
            <a:r>
              <a:rPr lang="es-ES" b="1" dirty="0">
                <a:latin typeface="Courier New"/>
                <a:ea typeface="+mn-lt"/>
                <a:cs typeface="+mn-lt"/>
              </a:rPr>
              <a:t> duration-300 hover:scale-105"&gt;</a:t>
            </a:r>
            <a:br>
              <a:rPr lang="es-ES" b="1" dirty="0">
                <a:latin typeface="Courier New"/>
                <a:ea typeface="+mn-lt"/>
                <a:cs typeface="+mn-lt"/>
              </a:rPr>
            </a:br>
            <a:r>
              <a:rPr lang="es-ES" b="1" dirty="0">
                <a:latin typeface="Courier New"/>
                <a:ea typeface="+mn-lt"/>
                <a:cs typeface="+mn-lt"/>
              </a:rPr>
              <a:t>                &lt;h2 </a:t>
            </a:r>
            <a:r>
              <a:rPr lang="es-ES" b="1" dirty="0" err="1">
                <a:latin typeface="Courier New"/>
                <a:ea typeface="+mn-lt"/>
                <a:cs typeface="+mn-lt"/>
              </a:rPr>
              <a:t>class</a:t>
            </a:r>
            <a:r>
              <a:rPr lang="es-ES" b="1" dirty="0">
                <a:latin typeface="Courier New"/>
                <a:ea typeface="+mn-lt"/>
                <a:cs typeface="+mn-lt"/>
              </a:rPr>
              <a:t>="</a:t>
            </a:r>
            <a:r>
              <a:rPr lang="es-ES" b="1" dirty="0" err="1">
                <a:latin typeface="Courier New"/>
                <a:ea typeface="+mn-lt"/>
                <a:cs typeface="+mn-lt"/>
              </a:rPr>
              <a:t>text-xl</a:t>
            </a:r>
            <a:r>
              <a:rPr lang="es-ES" b="1" dirty="0">
                <a:latin typeface="Courier New"/>
                <a:ea typeface="+mn-lt"/>
                <a:cs typeface="+mn-lt"/>
              </a:rPr>
              <a:t> </a:t>
            </a:r>
            <a:r>
              <a:rPr lang="es-ES" b="1" dirty="0" err="1">
                <a:latin typeface="Courier New"/>
                <a:ea typeface="+mn-lt"/>
                <a:cs typeface="+mn-lt"/>
              </a:rPr>
              <a:t>font-semibold</a:t>
            </a:r>
            <a:r>
              <a:rPr lang="es-ES" b="1" dirty="0">
                <a:latin typeface="Courier New"/>
                <a:ea typeface="+mn-lt"/>
                <a:cs typeface="+mn-lt"/>
              </a:rPr>
              <a:t> mb-2"&gt;Producto Avanzado&lt;/h2&gt;</a:t>
            </a:r>
            <a:br>
              <a:rPr lang="es-ES" b="1" dirty="0">
                <a:latin typeface="Courier New"/>
                <a:ea typeface="+mn-lt"/>
                <a:cs typeface="+mn-lt"/>
              </a:rPr>
            </a:br>
            <a:r>
              <a:rPr lang="es-ES" b="1" dirty="0">
                <a:latin typeface="Courier New"/>
                <a:ea typeface="+mn-lt"/>
                <a:cs typeface="+mn-lt"/>
              </a:rPr>
              <a:t>                &lt;p </a:t>
            </a:r>
            <a:r>
              <a:rPr lang="es-ES" b="1" dirty="0" err="1">
                <a:latin typeface="Courier New"/>
                <a:ea typeface="+mn-lt"/>
                <a:cs typeface="+mn-lt"/>
              </a:rPr>
              <a:t>class</a:t>
            </a:r>
            <a:r>
              <a:rPr lang="es-ES" b="1" dirty="0">
                <a:latin typeface="Courier New"/>
                <a:ea typeface="+mn-lt"/>
                <a:cs typeface="+mn-lt"/>
              </a:rPr>
              <a:t>="text-gray-600 </a:t>
            </a:r>
            <a:r>
              <a:rPr lang="es-ES" b="1" dirty="0" err="1">
                <a:latin typeface="Courier New"/>
                <a:ea typeface="+mn-lt"/>
                <a:cs typeface="+mn-lt"/>
              </a:rPr>
              <a:t>text-sm</a:t>
            </a:r>
            <a:r>
              <a:rPr lang="es-ES" b="1" dirty="0">
                <a:latin typeface="Courier New"/>
                <a:ea typeface="+mn-lt"/>
                <a:cs typeface="+mn-lt"/>
              </a:rPr>
              <a:t> mb-4"&gt;</a:t>
            </a:r>
            <a:br>
              <a:rPr lang="es-ES" b="1" dirty="0">
                <a:latin typeface="Courier New"/>
                <a:ea typeface="+mn-lt"/>
                <a:cs typeface="+mn-lt"/>
              </a:rPr>
            </a:br>
            <a:r>
              <a:rPr lang="es-ES" b="1" dirty="0">
                <a:latin typeface="Courier New"/>
                <a:ea typeface="+mn-lt"/>
                <a:cs typeface="+mn-lt"/>
              </a:rPr>
              <a:t>                    Diseñado para usuarios experimentados que buscan más rendimiento.</a:t>
            </a:r>
            <a:br>
              <a:rPr lang="es-ES" b="1" dirty="0">
                <a:latin typeface="Courier New"/>
                <a:ea typeface="+mn-lt"/>
                <a:cs typeface="+mn-lt"/>
              </a:rPr>
            </a:br>
            <a:r>
              <a:rPr lang="es-ES" b="1" dirty="0">
                <a:latin typeface="Courier New"/>
                <a:ea typeface="+mn-lt"/>
                <a:cs typeface="+mn-lt"/>
              </a:rPr>
              <a:t>                &lt;/p&gt;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div</a:t>
            </a:r>
            <a:r>
              <a:rPr lang="es-ES" b="1" dirty="0">
                <a:latin typeface="Courier New"/>
                <a:ea typeface="+mn-lt"/>
                <a:cs typeface="+mn-lt"/>
              </a:rPr>
              <a:t> </a:t>
            </a:r>
            <a:r>
              <a:rPr lang="es-ES" b="1" dirty="0" err="1">
                <a:latin typeface="Courier New"/>
                <a:ea typeface="+mn-lt"/>
                <a:cs typeface="+mn-lt"/>
              </a:rPr>
              <a:t>class</a:t>
            </a:r>
            <a:r>
              <a:rPr lang="es-ES" b="1" dirty="0">
                <a:latin typeface="Courier New"/>
                <a:ea typeface="+mn-lt"/>
                <a:cs typeface="+mn-lt"/>
              </a:rPr>
              <a:t>="</a:t>
            </a:r>
            <a:r>
              <a:rPr lang="es-ES" b="1" dirty="0" err="1">
                <a:latin typeface="Courier New"/>
                <a:ea typeface="+mn-lt"/>
                <a:cs typeface="+mn-lt"/>
              </a:rPr>
              <a:t>flex</a:t>
            </a:r>
            <a:r>
              <a:rPr lang="es-ES" b="1" dirty="0">
                <a:latin typeface="Courier New"/>
                <a:ea typeface="+mn-lt"/>
                <a:cs typeface="+mn-lt"/>
              </a:rPr>
              <a:t> </a:t>
            </a:r>
            <a:r>
              <a:rPr lang="es-ES" b="1" dirty="0" err="1">
                <a:latin typeface="Courier New"/>
                <a:ea typeface="+mn-lt"/>
                <a:cs typeface="+mn-lt"/>
              </a:rPr>
              <a:t>justify-between</a:t>
            </a:r>
            <a:r>
              <a:rPr lang="es-ES" b="1" dirty="0">
                <a:latin typeface="Courier New"/>
                <a:ea typeface="+mn-lt"/>
                <a:cs typeface="+mn-lt"/>
              </a:rPr>
              <a:t> </a:t>
            </a:r>
            <a:r>
              <a:rPr lang="es-ES" b="1" dirty="0" err="1">
                <a:latin typeface="Courier New"/>
                <a:ea typeface="+mn-lt"/>
                <a:cs typeface="+mn-lt"/>
              </a:rPr>
              <a:t>items</a:t>
            </a:r>
            <a:r>
              <a:rPr lang="es-ES" b="1" dirty="0">
                <a:latin typeface="Courier New"/>
                <a:ea typeface="+mn-lt"/>
                <a:cs typeface="+mn-lt"/>
              </a:rPr>
              <a:t>-center mt-4"&gt;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span</a:t>
            </a:r>
            <a:r>
              <a:rPr lang="es-ES" b="1" dirty="0">
                <a:latin typeface="Courier New"/>
                <a:ea typeface="+mn-lt"/>
                <a:cs typeface="+mn-lt"/>
              </a:rPr>
              <a:t> </a:t>
            </a:r>
            <a:r>
              <a:rPr lang="es-ES" b="1" dirty="0" err="1">
                <a:latin typeface="Courier New"/>
                <a:ea typeface="+mn-lt"/>
                <a:cs typeface="+mn-lt"/>
              </a:rPr>
              <a:t>class</a:t>
            </a:r>
            <a:r>
              <a:rPr lang="es-ES" b="1" dirty="0">
                <a:latin typeface="Courier New"/>
                <a:ea typeface="+mn-lt"/>
                <a:cs typeface="+mn-lt"/>
              </a:rPr>
              <a:t>="text-2xl </a:t>
            </a:r>
            <a:r>
              <a:rPr lang="es-ES" b="1" dirty="0" err="1">
                <a:latin typeface="Courier New"/>
                <a:ea typeface="+mn-lt"/>
                <a:cs typeface="+mn-lt"/>
              </a:rPr>
              <a:t>font-bold</a:t>
            </a:r>
            <a:r>
              <a:rPr lang="es-ES" b="1" dirty="0">
                <a:latin typeface="Courier New"/>
                <a:ea typeface="+mn-lt"/>
                <a:cs typeface="+mn-lt"/>
              </a:rPr>
              <a:t> text-blue-600"&gt;$49.99&lt;/</a:t>
            </a:r>
            <a:r>
              <a:rPr lang="es-ES" b="1" dirty="0" err="1">
                <a:latin typeface="Courier New"/>
                <a:ea typeface="+mn-lt"/>
                <a:cs typeface="+mn-lt"/>
              </a:rPr>
              <a:t>span</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button</a:t>
            </a:r>
            <a:r>
              <a:rPr lang="es-ES" b="1" dirty="0">
                <a:latin typeface="Courier New"/>
                <a:ea typeface="+mn-lt"/>
                <a:cs typeface="+mn-lt"/>
              </a:rPr>
              <a:t> </a:t>
            </a:r>
            <a:r>
              <a:rPr lang="es-ES" b="1" dirty="0" err="1">
                <a:latin typeface="Courier New"/>
                <a:ea typeface="+mn-lt"/>
                <a:cs typeface="+mn-lt"/>
              </a:rPr>
              <a:t>class</a:t>
            </a:r>
            <a:r>
              <a:rPr lang="es-ES" b="1" dirty="0">
                <a:latin typeface="Courier New"/>
                <a:ea typeface="+mn-lt"/>
                <a:cs typeface="+mn-lt"/>
              </a:rPr>
              <a:t>="bg-blue-600 </a:t>
            </a:r>
            <a:r>
              <a:rPr lang="es-ES" b="1" dirty="0" err="1">
                <a:latin typeface="Courier New"/>
                <a:ea typeface="+mn-lt"/>
                <a:cs typeface="+mn-lt"/>
              </a:rPr>
              <a:t>text-white</a:t>
            </a:r>
            <a:r>
              <a:rPr lang="es-ES" b="1" dirty="0">
                <a:latin typeface="Courier New"/>
                <a:ea typeface="+mn-lt"/>
                <a:cs typeface="+mn-lt"/>
              </a:rPr>
              <a:t> </a:t>
            </a:r>
            <a:r>
              <a:rPr lang="es-ES" b="1" dirty="0" err="1">
                <a:latin typeface="Courier New"/>
                <a:ea typeface="+mn-lt"/>
                <a:cs typeface="+mn-lt"/>
              </a:rPr>
              <a:t>font-bold</a:t>
            </a:r>
            <a:r>
              <a:rPr lang="es-ES" b="1" dirty="0">
                <a:latin typeface="Courier New"/>
                <a:ea typeface="+mn-lt"/>
                <a:cs typeface="+mn-lt"/>
              </a:rPr>
              <a:t> py-2 px-4 </a:t>
            </a:r>
            <a:r>
              <a:rPr lang="es-ES" b="1" dirty="0" err="1">
                <a:latin typeface="Courier New"/>
                <a:ea typeface="+mn-lt"/>
                <a:cs typeface="+mn-lt"/>
              </a:rPr>
              <a:t>rounded</a:t>
            </a:r>
            <a:r>
              <a:rPr lang="es-ES" b="1" dirty="0">
                <a:latin typeface="Courier New"/>
                <a:ea typeface="+mn-lt"/>
                <a:cs typeface="+mn-lt"/>
              </a:rPr>
              <a:t> hover:bg-blue-700"&gt;</a:t>
            </a:r>
            <a:br>
              <a:rPr lang="es-ES" b="1" dirty="0">
                <a:latin typeface="Courier New"/>
                <a:ea typeface="+mn-lt"/>
                <a:cs typeface="+mn-lt"/>
              </a:rPr>
            </a:br>
            <a:r>
              <a:rPr lang="es-ES" b="1" dirty="0">
                <a:latin typeface="Courier New"/>
                <a:ea typeface="+mn-lt"/>
                <a:cs typeface="+mn-lt"/>
              </a:rPr>
              <a:t>                        Comprar</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button</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div</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div</a:t>
            </a:r>
            <a:r>
              <a:rPr lang="es-ES" b="1" dirty="0">
                <a:latin typeface="Courier New"/>
                <a:ea typeface="+mn-lt"/>
                <a:cs typeface="+mn-lt"/>
              </a:rPr>
              <a:t>&gt;</a:t>
            </a:r>
            <a:endParaRPr lang="es-ES" b="1" dirty="0">
              <a:latin typeface="Courier New"/>
              <a:cs typeface="Courier New"/>
            </a:endParaRPr>
          </a:p>
          <a:p>
            <a:pPr marL="0" indent="0">
              <a:buNone/>
            </a:pPr>
            <a:endParaRPr lang="es-ES" b="1" dirty="0">
              <a:latin typeface="Courier New"/>
            </a:endParaRPr>
          </a:p>
        </p:txBody>
      </p:sp>
    </p:spTree>
    <p:extLst>
      <p:ext uri="{BB962C8B-B14F-4D97-AF65-F5344CB8AC3E}">
        <p14:creationId xmlns:p14="http://schemas.microsoft.com/office/powerpoint/2010/main" val="2390984604"/>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2EAA0D-2182-E34E-9390-D815FE572C1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9E4E529-F0A1-0DFB-5CBD-5B16C8A709F9}"/>
              </a:ext>
            </a:extLst>
          </p:cNvPr>
          <p:cNvSpPr>
            <a:spLocks noGrp="1"/>
          </p:cNvSpPr>
          <p:nvPr>
            <p:ph type="title"/>
          </p:nvPr>
        </p:nvSpPr>
        <p:spPr/>
        <p:txBody>
          <a:bodyPr/>
          <a:lstStyle/>
          <a:p>
            <a:r>
              <a:rPr lang="es-ES" b="0" dirty="0">
                <a:ea typeface="+mj-lt"/>
                <a:cs typeface="+mj-lt"/>
              </a:rPr>
              <a:t>2.3.4.2. Introducción a </a:t>
            </a:r>
            <a:r>
              <a:rPr lang="es-ES" b="0" dirty="0" err="1">
                <a:ea typeface="+mj-lt"/>
                <a:cs typeface="+mj-lt"/>
              </a:rPr>
              <a:t>Tailwind</a:t>
            </a:r>
            <a:r>
              <a:rPr lang="es-ES" b="0" dirty="0">
                <a:ea typeface="+mj-lt"/>
                <a:cs typeface="+mj-lt"/>
              </a:rPr>
              <a:t> CSS.</a:t>
            </a:r>
            <a:endParaRPr lang="es-ES" dirty="0"/>
          </a:p>
        </p:txBody>
      </p:sp>
      <p:sp>
        <p:nvSpPr>
          <p:cNvPr id="3" name="Marcador de contenido 2">
            <a:extLst>
              <a:ext uri="{FF2B5EF4-FFF2-40B4-BE49-F238E27FC236}">
                <a16:creationId xmlns:a16="http://schemas.microsoft.com/office/drawing/2014/main" id="{40F89683-3641-AF4F-FE45-78E30B8FE565}"/>
              </a:ext>
            </a:extLst>
          </p:cNvPr>
          <p:cNvSpPr>
            <a:spLocks noGrp="1"/>
          </p:cNvSpPr>
          <p:nvPr>
            <p:ph idx="1"/>
          </p:nvPr>
        </p:nvSpPr>
        <p:spPr/>
        <p:txBody>
          <a:bodyPr vert="horz" lIns="91440" tIns="45720" rIns="91440" bIns="45720" rtlCol="0" anchor="t">
            <a:normAutofit fontScale="70000" lnSpcReduction="20000"/>
          </a:bodyPr>
          <a:lstStyle/>
          <a:p>
            <a:pPr marL="0" indent="0">
              <a:buNone/>
            </a:pPr>
            <a:r>
              <a:rPr lang="es-ES" b="1" dirty="0">
                <a:latin typeface="Courier New"/>
                <a:ea typeface="+mn-lt"/>
                <a:cs typeface="+mn-lt"/>
              </a:rPr>
              <a:t>            &lt;</a:t>
            </a:r>
            <a:r>
              <a:rPr lang="es-ES" b="1" dirty="0" err="1">
                <a:latin typeface="Courier New"/>
                <a:ea typeface="+mn-lt"/>
                <a:cs typeface="+mn-lt"/>
              </a:rPr>
              <a:t>div</a:t>
            </a:r>
            <a:r>
              <a:rPr lang="es-ES" b="1" dirty="0">
                <a:latin typeface="Courier New"/>
                <a:ea typeface="+mn-lt"/>
                <a:cs typeface="+mn-lt"/>
              </a:rPr>
              <a:t> </a:t>
            </a:r>
            <a:r>
              <a:rPr lang="es-ES" b="1" dirty="0" err="1">
                <a:latin typeface="Courier New"/>
                <a:ea typeface="+mn-lt"/>
                <a:cs typeface="+mn-lt"/>
              </a:rPr>
              <a:t>class</a:t>
            </a:r>
            <a:r>
              <a:rPr lang="es-ES" b="1" dirty="0">
                <a:latin typeface="Courier New"/>
                <a:ea typeface="+mn-lt"/>
                <a:cs typeface="+mn-lt"/>
              </a:rPr>
              <a:t>="</a:t>
            </a:r>
            <a:r>
              <a:rPr lang="es-ES" b="1" dirty="0" err="1">
                <a:latin typeface="Courier New"/>
                <a:ea typeface="+mn-lt"/>
                <a:cs typeface="+mn-lt"/>
              </a:rPr>
              <a:t>bg-white</a:t>
            </a:r>
            <a:r>
              <a:rPr lang="es-ES" b="1" dirty="0">
                <a:latin typeface="Courier New"/>
                <a:ea typeface="+mn-lt"/>
                <a:cs typeface="+mn-lt"/>
              </a:rPr>
              <a:t> </a:t>
            </a:r>
            <a:r>
              <a:rPr lang="es-ES" b="1" dirty="0" err="1">
                <a:latin typeface="Courier New"/>
                <a:ea typeface="+mn-lt"/>
                <a:cs typeface="+mn-lt"/>
              </a:rPr>
              <a:t>rounded-lg</a:t>
            </a:r>
            <a:r>
              <a:rPr lang="es-ES" b="1" dirty="0">
                <a:latin typeface="Courier New"/>
                <a:ea typeface="+mn-lt"/>
                <a:cs typeface="+mn-lt"/>
              </a:rPr>
              <a:t> </a:t>
            </a:r>
            <a:r>
              <a:rPr lang="es-ES" b="1" dirty="0" err="1">
                <a:latin typeface="Courier New"/>
                <a:ea typeface="+mn-lt"/>
                <a:cs typeface="+mn-lt"/>
              </a:rPr>
              <a:t>shadow-md</a:t>
            </a:r>
            <a:r>
              <a:rPr lang="es-ES" b="1" dirty="0">
                <a:latin typeface="Courier New"/>
                <a:ea typeface="+mn-lt"/>
                <a:cs typeface="+mn-lt"/>
              </a:rPr>
              <a:t> p-6 </a:t>
            </a:r>
            <a:r>
              <a:rPr lang="es-ES" b="1" dirty="0" err="1">
                <a:latin typeface="Courier New"/>
                <a:ea typeface="+mn-lt"/>
                <a:cs typeface="+mn-lt"/>
              </a:rPr>
              <a:t>transform</a:t>
            </a:r>
            <a:r>
              <a:rPr lang="es-ES" b="1" dirty="0">
                <a:latin typeface="Courier New"/>
                <a:ea typeface="+mn-lt"/>
                <a:cs typeface="+mn-lt"/>
              </a:rPr>
              <a:t> </a:t>
            </a:r>
            <a:r>
              <a:rPr lang="es-ES" b="1" dirty="0" err="1">
                <a:latin typeface="Courier New"/>
                <a:ea typeface="+mn-lt"/>
                <a:cs typeface="+mn-lt"/>
              </a:rPr>
              <a:t>transition-transform</a:t>
            </a:r>
            <a:r>
              <a:rPr lang="es-ES" b="1" dirty="0">
                <a:latin typeface="Courier New"/>
                <a:ea typeface="+mn-lt"/>
                <a:cs typeface="+mn-lt"/>
              </a:rPr>
              <a:t> duration-300 hover:scale-105"&gt;</a:t>
            </a:r>
            <a:br>
              <a:rPr lang="es-ES" b="1" dirty="0">
                <a:latin typeface="Courier New"/>
                <a:ea typeface="+mn-lt"/>
                <a:cs typeface="+mn-lt"/>
              </a:rPr>
            </a:br>
            <a:r>
              <a:rPr lang="es-ES" b="1" dirty="0">
                <a:latin typeface="Courier New"/>
                <a:ea typeface="+mn-lt"/>
                <a:cs typeface="+mn-lt"/>
              </a:rPr>
              <a:t>                &lt;h2 </a:t>
            </a:r>
            <a:r>
              <a:rPr lang="es-ES" b="1" dirty="0" err="1">
                <a:latin typeface="Courier New"/>
                <a:ea typeface="+mn-lt"/>
                <a:cs typeface="+mn-lt"/>
              </a:rPr>
              <a:t>class</a:t>
            </a:r>
            <a:r>
              <a:rPr lang="es-ES" b="1" dirty="0">
                <a:latin typeface="Courier New"/>
                <a:ea typeface="+mn-lt"/>
                <a:cs typeface="+mn-lt"/>
              </a:rPr>
              <a:t>="</a:t>
            </a:r>
            <a:r>
              <a:rPr lang="es-ES" b="1" dirty="0" err="1">
                <a:latin typeface="Courier New"/>
                <a:ea typeface="+mn-lt"/>
                <a:cs typeface="+mn-lt"/>
              </a:rPr>
              <a:t>text-xl</a:t>
            </a:r>
            <a:r>
              <a:rPr lang="es-ES" b="1" dirty="0">
                <a:latin typeface="Courier New"/>
                <a:ea typeface="+mn-lt"/>
                <a:cs typeface="+mn-lt"/>
              </a:rPr>
              <a:t> </a:t>
            </a:r>
            <a:r>
              <a:rPr lang="es-ES" b="1" dirty="0" err="1">
                <a:latin typeface="Courier New"/>
                <a:ea typeface="+mn-lt"/>
                <a:cs typeface="+mn-lt"/>
              </a:rPr>
              <a:t>font-semibold</a:t>
            </a:r>
            <a:r>
              <a:rPr lang="es-ES" b="1" dirty="0">
                <a:latin typeface="Courier New"/>
                <a:ea typeface="+mn-lt"/>
                <a:cs typeface="+mn-lt"/>
              </a:rPr>
              <a:t> mb-2"&gt;Producto Premium&lt;/h2&gt;</a:t>
            </a:r>
            <a:br>
              <a:rPr lang="es-ES" b="1" dirty="0">
                <a:latin typeface="Courier New"/>
                <a:ea typeface="+mn-lt"/>
                <a:cs typeface="+mn-lt"/>
              </a:rPr>
            </a:br>
            <a:r>
              <a:rPr lang="es-ES" b="1" dirty="0">
                <a:latin typeface="Courier New"/>
                <a:ea typeface="+mn-lt"/>
                <a:cs typeface="+mn-lt"/>
              </a:rPr>
              <a:t>                &lt;p </a:t>
            </a:r>
            <a:r>
              <a:rPr lang="es-ES" b="1" dirty="0" err="1">
                <a:latin typeface="Courier New"/>
                <a:ea typeface="+mn-lt"/>
                <a:cs typeface="+mn-lt"/>
              </a:rPr>
              <a:t>class</a:t>
            </a:r>
            <a:r>
              <a:rPr lang="es-ES" b="1" dirty="0">
                <a:latin typeface="Courier New"/>
                <a:ea typeface="+mn-lt"/>
                <a:cs typeface="+mn-lt"/>
              </a:rPr>
              <a:t>="text-gray-600 </a:t>
            </a:r>
            <a:r>
              <a:rPr lang="es-ES" b="1" dirty="0" err="1">
                <a:latin typeface="Courier New"/>
                <a:ea typeface="+mn-lt"/>
                <a:cs typeface="+mn-lt"/>
              </a:rPr>
              <a:t>text-sm</a:t>
            </a:r>
            <a:r>
              <a:rPr lang="es-ES" b="1" dirty="0">
                <a:latin typeface="Courier New"/>
                <a:ea typeface="+mn-lt"/>
                <a:cs typeface="+mn-lt"/>
              </a:rPr>
              <a:t> mb-4"&gt;</a:t>
            </a:r>
            <a:br>
              <a:rPr lang="es-ES" b="1" dirty="0">
                <a:latin typeface="Courier New"/>
                <a:ea typeface="+mn-lt"/>
                <a:cs typeface="+mn-lt"/>
              </a:rPr>
            </a:br>
            <a:r>
              <a:rPr lang="es-ES" b="1" dirty="0">
                <a:latin typeface="Courier New"/>
                <a:ea typeface="+mn-lt"/>
                <a:cs typeface="+mn-lt"/>
              </a:rPr>
              <a:t>                    El producto más completo, con todas las funciones que puedas necesitar.</a:t>
            </a:r>
            <a:br>
              <a:rPr lang="es-ES" b="1" dirty="0">
                <a:latin typeface="Courier New"/>
                <a:ea typeface="+mn-lt"/>
                <a:cs typeface="+mn-lt"/>
              </a:rPr>
            </a:br>
            <a:r>
              <a:rPr lang="es-ES" b="1" dirty="0">
                <a:latin typeface="Courier New"/>
                <a:ea typeface="+mn-lt"/>
                <a:cs typeface="+mn-lt"/>
              </a:rPr>
              <a:t>                &lt;/p&gt;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div</a:t>
            </a:r>
            <a:r>
              <a:rPr lang="es-ES" b="1" dirty="0">
                <a:latin typeface="Courier New"/>
                <a:ea typeface="+mn-lt"/>
                <a:cs typeface="+mn-lt"/>
              </a:rPr>
              <a:t> </a:t>
            </a:r>
            <a:r>
              <a:rPr lang="es-ES" b="1" dirty="0" err="1">
                <a:latin typeface="Courier New"/>
                <a:ea typeface="+mn-lt"/>
                <a:cs typeface="+mn-lt"/>
              </a:rPr>
              <a:t>class</a:t>
            </a:r>
            <a:r>
              <a:rPr lang="es-ES" b="1" dirty="0">
                <a:latin typeface="Courier New"/>
                <a:ea typeface="+mn-lt"/>
                <a:cs typeface="+mn-lt"/>
              </a:rPr>
              <a:t>="</a:t>
            </a:r>
            <a:r>
              <a:rPr lang="es-ES" b="1" dirty="0" err="1">
                <a:latin typeface="Courier New"/>
                <a:ea typeface="+mn-lt"/>
                <a:cs typeface="+mn-lt"/>
              </a:rPr>
              <a:t>flex</a:t>
            </a:r>
            <a:r>
              <a:rPr lang="es-ES" b="1" dirty="0">
                <a:latin typeface="Courier New"/>
                <a:ea typeface="+mn-lt"/>
                <a:cs typeface="+mn-lt"/>
              </a:rPr>
              <a:t> </a:t>
            </a:r>
            <a:r>
              <a:rPr lang="es-ES" b="1" dirty="0" err="1">
                <a:latin typeface="Courier New"/>
                <a:ea typeface="+mn-lt"/>
                <a:cs typeface="+mn-lt"/>
              </a:rPr>
              <a:t>justify-between</a:t>
            </a:r>
            <a:r>
              <a:rPr lang="es-ES" b="1" dirty="0">
                <a:latin typeface="Courier New"/>
                <a:ea typeface="+mn-lt"/>
                <a:cs typeface="+mn-lt"/>
              </a:rPr>
              <a:t> </a:t>
            </a:r>
            <a:r>
              <a:rPr lang="es-ES" b="1" dirty="0" err="1">
                <a:latin typeface="Courier New"/>
                <a:ea typeface="+mn-lt"/>
                <a:cs typeface="+mn-lt"/>
              </a:rPr>
              <a:t>items</a:t>
            </a:r>
            <a:r>
              <a:rPr lang="es-ES" b="1" dirty="0">
                <a:latin typeface="Courier New"/>
                <a:ea typeface="+mn-lt"/>
                <a:cs typeface="+mn-lt"/>
              </a:rPr>
              <a:t>-center mt-4"&gt;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span</a:t>
            </a:r>
            <a:r>
              <a:rPr lang="es-ES" b="1" dirty="0">
                <a:latin typeface="Courier New"/>
                <a:ea typeface="+mn-lt"/>
                <a:cs typeface="+mn-lt"/>
              </a:rPr>
              <a:t> </a:t>
            </a:r>
            <a:r>
              <a:rPr lang="es-ES" b="1" dirty="0" err="1">
                <a:latin typeface="Courier New"/>
                <a:ea typeface="+mn-lt"/>
                <a:cs typeface="+mn-lt"/>
              </a:rPr>
              <a:t>class</a:t>
            </a:r>
            <a:r>
              <a:rPr lang="es-ES" b="1" dirty="0">
                <a:latin typeface="Courier New"/>
                <a:ea typeface="+mn-lt"/>
                <a:cs typeface="+mn-lt"/>
              </a:rPr>
              <a:t>="text-2xl </a:t>
            </a:r>
            <a:r>
              <a:rPr lang="es-ES" b="1" dirty="0" err="1">
                <a:latin typeface="Courier New"/>
                <a:ea typeface="+mn-lt"/>
                <a:cs typeface="+mn-lt"/>
              </a:rPr>
              <a:t>font-bold</a:t>
            </a:r>
            <a:r>
              <a:rPr lang="es-ES" b="1" dirty="0">
                <a:latin typeface="Courier New"/>
                <a:ea typeface="+mn-lt"/>
                <a:cs typeface="+mn-lt"/>
              </a:rPr>
              <a:t> text-blue-600"&gt;$99.99&lt;/</a:t>
            </a:r>
            <a:r>
              <a:rPr lang="es-ES" b="1" dirty="0" err="1">
                <a:latin typeface="Courier New"/>
                <a:ea typeface="+mn-lt"/>
                <a:cs typeface="+mn-lt"/>
              </a:rPr>
              <a:t>span</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button</a:t>
            </a:r>
            <a:r>
              <a:rPr lang="es-ES" b="1" dirty="0">
                <a:latin typeface="Courier New"/>
                <a:ea typeface="+mn-lt"/>
                <a:cs typeface="+mn-lt"/>
              </a:rPr>
              <a:t> </a:t>
            </a:r>
            <a:r>
              <a:rPr lang="es-ES" b="1" dirty="0" err="1">
                <a:latin typeface="Courier New"/>
                <a:ea typeface="+mn-lt"/>
                <a:cs typeface="+mn-lt"/>
              </a:rPr>
              <a:t>class</a:t>
            </a:r>
            <a:r>
              <a:rPr lang="es-ES" b="1" dirty="0">
                <a:latin typeface="Courier New"/>
                <a:ea typeface="+mn-lt"/>
                <a:cs typeface="+mn-lt"/>
              </a:rPr>
              <a:t>="bg-blue-600 </a:t>
            </a:r>
            <a:r>
              <a:rPr lang="es-ES" b="1" dirty="0" err="1">
                <a:latin typeface="Courier New"/>
                <a:ea typeface="+mn-lt"/>
                <a:cs typeface="+mn-lt"/>
              </a:rPr>
              <a:t>text-white</a:t>
            </a:r>
            <a:r>
              <a:rPr lang="es-ES" b="1" dirty="0">
                <a:latin typeface="Courier New"/>
                <a:ea typeface="+mn-lt"/>
                <a:cs typeface="+mn-lt"/>
              </a:rPr>
              <a:t> </a:t>
            </a:r>
            <a:r>
              <a:rPr lang="es-ES" b="1" dirty="0" err="1">
                <a:latin typeface="Courier New"/>
                <a:ea typeface="+mn-lt"/>
                <a:cs typeface="+mn-lt"/>
              </a:rPr>
              <a:t>font-bold</a:t>
            </a:r>
            <a:r>
              <a:rPr lang="es-ES" b="1" dirty="0">
                <a:latin typeface="Courier New"/>
                <a:ea typeface="+mn-lt"/>
                <a:cs typeface="+mn-lt"/>
              </a:rPr>
              <a:t> py-2 px-4 </a:t>
            </a:r>
            <a:r>
              <a:rPr lang="es-ES" b="1" dirty="0" err="1">
                <a:latin typeface="Courier New"/>
                <a:ea typeface="+mn-lt"/>
                <a:cs typeface="+mn-lt"/>
              </a:rPr>
              <a:t>rounded</a:t>
            </a:r>
            <a:r>
              <a:rPr lang="es-ES" b="1" dirty="0">
                <a:latin typeface="Courier New"/>
                <a:ea typeface="+mn-lt"/>
                <a:cs typeface="+mn-lt"/>
              </a:rPr>
              <a:t> hover:bg-blue-700"&gt;</a:t>
            </a:r>
            <a:br>
              <a:rPr lang="es-ES" b="1" dirty="0">
                <a:latin typeface="Courier New"/>
                <a:ea typeface="+mn-lt"/>
                <a:cs typeface="+mn-lt"/>
              </a:rPr>
            </a:br>
            <a:r>
              <a:rPr lang="es-ES" b="1" dirty="0">
                <a:latin typeface="Courier New"/>
                <a:ea typeface="+mn-lt"/>
                <a:cs typeface="+mn-lt"/>
              </a:rPr>
              <a:t>                        Comprar</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button</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div</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div</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div</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main</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footer</a:t>
            </a:r>
            <a:r>
              <a:rPr lang="es-ES" b="1" dirty="0">
                <a:latin typeface="Courier New"/>
                <a:ea typeface="+mn-lt"/>
                <a:cs typeface="+mn-lt"/>
              </a:rPr>
              <a:t> </a:t>
            </a:r>
            <a:r>
              <a:rPr lang="es-ES" b="1" dirty="0" err="1">
                <a:latin typeface="Courier New"/>
                <a:ea typeface="+mn-lt"/>
                <a:cs typeface="+mn-lt"/>
              </a:rPr>
              <a:t>class</a:t>
            </a:r>
            <a:r>
              <a:rPr lang="es-ES" b="1" dirty="0">
                <a:latin typeface="Courier New"/>
                <a:ea typeface="+mn-lt"/>
                <a:cs typeface="+mn-lt"/>
              </a:rPr>
              <a:t>="bg-gray-800 </a:t>
            </a:r>
            <a:r>
              <a:rPr lang="es-ES" b="1" dirty="0" err="1">
                <a:latin typeface="Courier New"/>
                <a:ea typeface="+mn-lt"/>
                <a:cs typeface="+mn-lt"/>
              </a:rPr>
              <a:t>text-white</a:t>
            </a:r>
            <a:r>
              <a:rPr lang="es-ES" b="1" dirty="0">
                <a:latin typeface="Courier New"/>
                <a:ea typeface="+mn-lt"/>
                <a:cs typeface="+mn-lt"/>
              </a:rPr>
              <a:t> </a:t>
            </a:r>
            <a:r>
              <a:rPr lang="es-ES" b="1" dirty="0" err="1">
                <a:latin typeface="Courier New"/>
                <a:ea typeface="+mn-lt"/>
                <a:cs typeface="+mn-lt"/>
              </a:rPr>
              <a:t>text</a:t>
            </a:r>
            <a:r>
              <a:rPr lang="es-ES" b="1" dirty="0">
                <a:latin typeface="Courier New"/>
                <a:ea typeface="+mn-lt"/>
                <a:cs typeface="+mn-lt"/>
              </a:rPr>
              <a:t>-center py-6 </a:t>
            </a:r>
            <a:r>
              <a:rPr lang="es-ES" b="1" dirty="0" err="1">
                <a:latin typeface="Courier New"/>
                <a:ea typeface="+mn-lt"/>
                <a:cs typeface="+mn-lt"/>
              </a:rPr>
              <a:t>mt</a:t>
            </a:r>
            <a:r>
              <a:rPr lang="es-ES" b="1" dirty="0">
                <a:latin typeface="Courier New"/>
                <a:ea typeface="+mn-lt"/>
                <a:cs typeface="+mn-lt"/>
              </a:rPr>
              <a:t>-auto"&gt;</a:t>
            </a:r>
            <a:br>
              <a:rPr lang="es-ES" b="1" dirty="0">
                <a:latin typeface="Courier New"/>
                <a:ea typeface="+mn-lt"/>
                <a:cs typeface="+mn-lt"/>
              </a:rPr>
            </a:br>
            <a:r>
              <a:rPr lang="es-ES" b="1" dirty="0">
                <a:latin typeface="Courier New"/>
                <a:ea typeface="+mn-lt"/>
                <a:cs typeface="+mn-lt"/>
              </a:rPr>
              <a:t>        &lt;p&gt;&amp;</a:t>
            </a:r>
            <a:r>
              <a:rPr lang="es-ES" b="1" dirty="0" err="1">
                <a:latin typeface="Courier New"/>
                <a:ea typeface="+mn-lt"/>
                <a:cs typeface="+mn-lt"/>
              </a:rPr>
              <a:t>copy</a:t>
            </a:r>
            <a:r>
              <a:rPr lang="es-ES" b="1" dirty="0">
                <a:latin typeface="Courier New"/>
                <a:ea typeface="+mn-lt"/>
                <a:cs typeface="+mn-lt"/>
              </a:rPr>
              <a:t>; 2025 Mi Sitio Web. Todos los derechos reservados.&lt;/p&gt;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footer</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&lt;/</a:t>
            </a:r>
            <a:r>
              <a:rPr lang="es-ES" b="1" dirty="0" err="1">
                <a:latin typeface="Courier New"/>
                <a:ea typeface="+mn-lt"/>
                <a:cs typeface="+mn-lt"/>
              </a:rPr>
              <a:t>body</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&lt;/</a:t>
            </a:r>
            <a:r>
              <a:rPr lang="es-ES" b="1" dirty="0" err="1">
                <a:latin typeface="Courier New"/>
                <a:ea typeface="+mn-lt"/>
                <a:cs typeface="+mn-lt"/>
              </a:rPr>
              <a:t>html</a:t>
            </a:r>
            <a:r>
              <a:rPr lang="es-ES" b="1" dirty="0">
                <a:latin typeface="Courier New"/>
                <a:ea typeface="+mn-lt"/>
                <a:cs typeface="+mn-lt"/>
              </a:rPr>
              <a:t>&gt;</a:t>
            </a:r>
            <a:endParaRPr lang="es-ES" dirty="0">
              <a:latin typeface="Bierstadt"/>
            </a:endParaRPr>
          </a:p>
        </p:txBody>
      </p:sp>
    </p:spTree>
    <p:extLst>
      <p:ext uri="{BB962C8B-B14F-4D97-AF65-F5344CB8AC3E}">
        <p14:creationId xmlns:p14="http://schemas.microsoft.com/office/powerpoint/2010/main" val="4294127324"/>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71423A-3422-7339-23B0-92EFE24D762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39F52D1-B30B-7BEF-3864-96928748D92A}"/>
              </a:ext>
            </a:extLst>
          </p:cNvPr>
          <p:cNvSpPr>
            <a:spLocks noGrp="1"/>
          </p:cNvSpPr>
          <p:nvPr>
            <p:ph type="title"/>
          </p:nvPr>
        </p:nvSpPr>
        <p:spPr/>
        <p:txBody>
          <a:bodyPr/>
          <a:lstStyle/>
          <a:p>
            <a:r>
              <a:rPr lang="es-ES" b="0" dirty="0">
                <a:ea typeface="+mj-lt"/>
                <a:cs typeface="+mj-lt"/>
              </a:rPr>
              <a:t>2.3.4.2. Introducción a </a:t>
            </a:r>
            <a:r>
              <a:rPr lang="es-ES" b="0" dirty="0" err="1">
                <a:ea typeface="+mj-lt"/>
                <a:cs typeface="+mj-lt"/>
              </a:rPr>
              <a:t>Tailwind</a:t>
            </a:r>
            <a:r>
              <a:rPr lang="es-ES" b="0" dirty="0">
                <a:ea typeface="+mj-lt"/>
                <a:cs typeface="+mj-lt"/>
              </a:rPr>
              <a:t> CSS.</a:t>
            </a:r>
            <a:endParaRPr lang="es-ES" dirty="0"/>
          </a:p>
        </p:txBody>
      </p:sp>
      <p:sp>
        <p:nvSpPr>
          <p:cNvPr id="3" name="Marcador de contenido 2">
            <a:extLst>
              <a:ext uri="{FF2B5EF4-FFF2-40B4-BE49-F238E27FC236}">
                <a16:creationId xmlns:a16="http://schemas.microsoft.com/office/drawing/2014/main" id="{5C56F40A-8FA0-2F36-F334-F4AC0D06940C}"/>
              </a:ext>
            </a:extLst>
          </p:cNvPr>
          <p:cNvSpPr>
            <a:spLocks noGrp="1"/>
          </p:cNvSpPr>
          <p:nvPr>
            <p:ph idx="1"/>
          </p:nvPr>
        </p:nvSpPr>
        <p:spPr/>
        <p:txBody>
          <a:bodyPr vert="horz" lIns="91440" tIns="45720" rIns="91440" bIns="45720" rtlCol="0" anchor="t">
            <a:normAutofit/>
          </a:bodyPr>
          <a:lstStyle/>
          <a:p>
            <a:r>
              <a:rPr lang="es-ES" dirty="0">
                <a:ea typeface="+mn-lt"/>
                <a:cs typeface="+mn-lt"/>
              </a:rPr>
              <a:t>El ejemplo anterior demuestra el poder de </a:t>
            </a:r>
            <a:r>
              <a:rPr lang="es-ES" err="1">
                <a:ea typeface="+mn-lt"/>
                <a:cs typeface="+mn-lt"/>
              </a:rPr>
              <a:t>Tailwind</a:t>
            </a:r>
            <a:r>
              <a:rPr lang="es-ES" dirty="0">
                <a:ea typeface="+mn-lt"/>
                <a:cs typeface="+mn-lt"/>
              </a:rPr>
              <a:t> CSS para maquetar una página completa sin escribir CSS personalizado. A continuación, un desglose de algunas clases utilizadas:</a:t>
            </a:r>
            <a:endParaRPr lang="es-ES" dirty="0"/>
          </a:p>
          <a:p>
            <a:pPr lvl="1">
              <a:buFont typeface="Courier New" panose="020B0604020202020204" pitchFamily="34" charset="0"/>
              <a:buChar char="o"/>
            </a:pPr>
            <a:r>
              <a:rPr lang="es-ES" dirty="0">
                <a:ea typeface="+mn-lt"/>
                <a:cs typeface="+mn-lt"/>
              </a:rPr>
              <a:t>container </a:t>
            </a:r>
            <a:r>
              <a:rPr lang="es-ES" err="1">
                <a:ea typeface="+mn-lt"/>
                <a:cs typeface="+mn-lt"/>
              </a:rPr>
              <a:t>mx</a:t>
            </a:r>
            <a:r>
              <a:rPr lang="es-ES" dirty="0">
                <a:ea typeface="+mn-lt"/>
                <a:cs typeface="+mn-lt"/>
              </a:rPr>
              <a:t>-auto: Crea un contenedor centrado con un ancho máximo. </a:t>
            </a:r>
            <a:r>
              <a:rPr lang="es-ES" err="1">
                <a:ea typeface="+mn-lt"/>
                <a:cs typeface="+mn-lt"/>
              </a:rPr>
              <a:t>mx</a:t>
            </a:r>
            <a:r>
              <a:rPr lang="es-ES" dirty="0">
                <a:ea typeface="+mn-lt"/>
                <a:cs typeface="+mn-lt"/>
              </a:rPr>
              <a:t>-auto centra horizontalmente el contenedor al aplicarle </a:t>
            </a:r>
            <a:r>
              <a:rPr lang="es-ES" err="1">
                <a:ea typeface="+mn-lt"/>
                <a:cs typeface="+mn-lt"/>
              </a:rPr>
              <a:t>margin-left</a:t>
            </a:r>
            <a:r>
              <a:rPr lang="es-ES" dirty="0">
                <a:ea typeface="+mn-lt"/>
                <a:cs typeface="+mn-lt"/>
              </a:rPr>
              <a:t>: auto y </a:t>
            </a:r>
            <a:r>
              <a:rPr lang="es-ES" err="1">
                <a:ea typeface="+mn-lt"/>
                <a:cs typeface="+mn-lt"/>
              </a:rPr>
              <a:t>margin-right</a:t>
            </a:r>
            <a:r>
              <a:rPr lang="es-ES" dirty="0">
                <a:ea typeface="+mn-lt"/>
                <a:cs typeface="+mn-lt"/>
              </a:rPr>
              <a:t>: auto.</a:t>
            </a:r>
            <a:endParaRPr lang="es-ES" dirty="0"/>
          </a:p>
          <a:p>
            <a:pPr lvl="1">
              <a:buFont typeface="Courier New" panose="020B0604020202020204" pitchFamily="34" charset="0"/>
              <a:buChar char="o"/>
            </a:pPr>
            <a:r>
              <a:rPr lang="es-ES" err="1">
                <a:ea typeface="+mn-lt"/>
                <a:cs typeface="+mn-lt"/>
              </a:rPr>
              <a:t>hidden</a:t>
            </a:r>
            <a:r>
              <a:rPr lang="es-ES" dirty="0">
                <a:ea typeface="+mn-lt"/>
                <a:cs typeface="+mn-lt"/>
              </a:rPr>
              <a:t> </a:t>
            </a:r>
            <a:r>
              <a:rPr lang="es-ES" err="1">
                <a:ea typeface="+mn-lt"/>
                <a:cs typeface="+mn-lt"/>
              </a:rPr>
              <a:t>md:flex</a:t>
            </a:r>
            <a:r>
              <a:rPr lang="es-ES" dirty="0">
                <a:ea typeface="+mn-lt"/>
                <a:cs typeface="+mn-lt"/>
              </a:rPr>
              <a:t>: Un ejemplo de diseño responsive. El menú de navegación está oculto (</a:t>
            </a:r>
            <a:r>
              <a:rPr lang="es-ES" err="1">
                <a:ea typeface="+mn-lt"/>
                <a:cs typeface="+mn-lt"/>
              </a:rPr>
              <a:t>hidden</a:t>
            </a:r>
            <a:r>
              <a:rPr lang="es-ES" dirty="0">
                <a:ea typeface="+mn-lt"/>
                <a:cs typeface="+mn-lt"/>
              </a:rPr>
              <a:t>) por defecto en dispositivos móviles, pero se vuelve un contenedor flexible (</a:t>
            </a:r>
            <a:r>
              <a:rPr lang="es-ES" err="1">
                <a:ea typeface="+mn-lt"/>
                <a:cs typeface="+mn-lt"/>
              </a:rPr>
              <a:t>flex</a:t>
            </a:r>
            <a:r>
              <a:rPr lang="es-ES" dirty="0">
                <a:ea typeface="+mn-lt"/>
                <a:cs typeface="+mn-lt"/>
              </a:rPr>
              <a:t>) en pantallas medianas (</a:t>
            </a:r>
            <a:r>
              <a:rPr lang="es-ES" err="1">
                <a:ea typeface="+mn-lt"/>
                <a:cs typeface="+mn-lt"/>
              </a:rPr>
              <a:t>md</a:t>
            </a:r>
            <a:r>
              <a:rPr lang="es-ES" dirty="0">
                <a:ea typeface="+mn-lt"/>
                <a:cs typeface="+mn-lt"/>
              </a:rPr>
              <a:t>) y más grandes.</a:t>
            </a:r>
            <a:endParaRPr lang="es-ES" dirty="0"/>
          </a:p>
          <a:p>
            <a:pPr lvl="1">
              <a:buFont typeface="Courier New" panose="020B0604020202020204" pitchFamily="34" charset="0"/>
              <a:buChar char="o"/>
            </a:pPr>
            <a:r>
              <a:rPr lang="es-ES" err="1">
                <a:ea typeface="+mn-lt"/>
                <a:cs typeface="+mn-lt"/>
              </a:rPr>
              <a:t>grid</a:t>
            </a:r>
            <a:r>
              <a:rPr lang="es-ES" dirty="0">
                <a:ea typeface="+mn-lt"/>
                <a:cs typeface="+mn-lt"/>
              </a:rPr>
              <a:t> grid-cols-1 md:grid-cols-2 lg:grid-cols-3: Crea una cuadrícula (</a:t>
            </a:r>
            <a:r>
              <a:rPr lang="es-ES" err="1">
                <a:ea typeface="+mn-lt"/>
                <a:cs typeface="+mn-lt"/>
              </a:rPr>
              <a:t>grid</a:t>
            </a:r>
            <a:r>
              <a:rPr lang="es-ES" dirty="0">
                <a:ea typeface="+mn-lt"/>
                <a:cs typeface="+mn-lt"/>
              </a:rPr>
              <a:t>) que tiene una columna (grid-cols-1) en pantallas pequeñas. En pantallas medianas (</a:t>
            </a:r>
            <a:r>
              <a:rPr lang="es-ES" err="1">
                <a:ea typeface="+mn-lt"/>
                <a:cs typeface="+mn-lt"/>
              </a:rPr>
              <a:t>md</a:t>
            </a:r>
            <a:r>
              <a:rPr lang="es-ES" dirty="0">
                <a:ea typeface="+mn-lt"/>
                <a:cs typeface="+mn-lt"/>
              </a:rPr>
              <a:t>), se convierte en dos columnas, y en pantallas grandes (</a:t>
            </a:r>
            <a:r>
              <a:rPr lang="es-ES" err="1">
                <a:ea typeface="+mn-lt"/>
                <a:cs typeface="+mn-lt"/>
              </a:rPr>
              <a:t>lg</a:t>
            </a:r>
            <a:r>
              <a:rPr lang="es-ES" dirty="0">
                <a:ea typeface="+mn-lt"/>
                <a:cs typeface="+mn-lt"/>
              </a:rPr>
              <a:t>), en tres.</a:t>
            </a:r>
            <a:endParaRPr lang="es-ES" dirty="0"/>
          </a:p>
          <a:p>
            <a:pPr lvl="1">
              <a:buFont typeface="Courier New" panose="020B0604020202020204" pitchFamily="34" charset="0"/>
              <a:buChar char="o"/>
            </a:pPr>
            <a:r>
              <a:rPr lang="es-ES" dirty="0" err="1">
                <a:ea typeface="+mn-lt"/>
                <a:cs typeface="+mn-lt"/>
              </a:rPr>
              <a:t>bg-white</a:t>
            </a:r>
            <a:r>
              <a:rPr lang="es-ES" dirty="0">
                <a:ea typeface="+mn-lt"/>
                <a:cs typeface="+mn-lt"/>
              </a:rPr>
              <a:t> </a:t>
            </a:r>
            <a:r>
              <a:rPr lang="es-ES" dirty="0" err="1">
                <a:ea typeface="+mn-lt"/>
                <a:cs typeface="+mn-lt"/>
              </a:rPr>
              <a:t>rounded-lg</a:t>
            </a:r>
            <a:r>
              <a:rPr lang="es-ES" dirty="0">
                <a:ea typeface="+mn-lt"/>
                <a:cs typeface="+mn-lt"/>
              </a:rPr>
              <a:t> </a:t>
            </a:r>
            <a:r>
              <a:rPr lang="es-ES" dirty="0" err="1">
                <a:ea typeface="+mn-lt"/>
                <a:cs typeface="+mn-lt"/>
              </a:rPr>
              <a:t>shadow-md</a:t>
            </a:r>
            <a:r>
              <a:rPr lang="es-ES" dirty="0">
                <a:ea typeface="+mn-lt"/>
                <a:cs typeface="+mn-lt"/>
              </a:rPr>
              <a:t>: Define el estilo de las tarjetas. </a:t>
            </a:r>
            <a:r>
              <a:rPr lang="es-ES" dirty="0" err="1">
                <a:ea typeface="+mn-lt"/>
                <a:cs typeface="+mn-lt"/>
              </a:rPr>
              <a:t>bg-white</a:t>
            </a:r>
            <a:r>
              <a:rPr lang="es-ES" dirty="0">
                <a:ea typeface="+mn-lt"/>
                <a:cs typeface="+mn-lt"/>
              </a:rPr>
              <a:t> para el fondo blanco, </a:t>
            </a:r>
            <a:r>
              <a:rPr lang="es-ES" dirty="0" err="1">
                <a:ea typeface="+mn-lt"/>
                <a:cs typeface="+mn-lt"/>
              </a:rPr>
              <a:t>rounded-lg</a:t>
            </a:r>
            <a:r>
              <a:rPr lang="es-ES" dirty="0">
                <a:ea typeface="+mn-lt"/>
                <a:cs typeface="+mn-lt"/>
              </a:rPr>
              <a:t> para un borde redondeado y </a:t>
            </a:r>
            <a:r>
              <a:rPr lang="es-ES" dirty="0" err="1">
                <a:ea typeface="+mn-lt"/>
                <a:cs typeface="+mn-lt"/>
              </a:rPr>
              <a:t>shadow-md</a:t>
            </a:r>
            <a:r>
              <a:rPr lang="es-ES" dirty="0">
                <a:ea typeface="+mn-lt"/>
                <a:cs typeface="+mn-lt"/>
              </a:rPr>
              <a:t> para una sombra de tamaño mediano.</a:t>
            </a:r>
            <a:endParaRPr lang="es-ES" dirty="0"/>
          </a:p>
          <a:p>
            <a:pPr lvl="1">
              <a:buFont typeface="Courier New" panose="020B0604020202020204" pitchFamily="34" charset="0"/>
              <a:buChar char="o"/>
            </a:pPr>
            <a:r>
              <a:rPr lang="es-ES" dirty="0">
                <a:ea typeface="+mn-lt"/>
                <a:cs typeface="+mn-lt"/>
              </a:rPr>
              <a:t>hover:scale-105: Un ejemplo de los efectos de </a:t>
            </a:r>
            <a:r>
              <a:rPr lang="es-ES" dirty="0" err="1">
                <a:ea typeface="+mn-lt"/>
                <a:cs typeface="+mn-lt"/>
              </a:rPr>
              <a:t>hover</a:t>
            </a:r>
            <a:r>
              <a:rPr lang="es-ES" dirty="0">
                <a:ea typeface="+mn-lt"/>
                <a:cs typeface="+mn-lt"/>
              </a:rPr>
              <a:t> de </a:t>
            </a:r>
            <a:r>
              <a:rPr lang="es-ES" dirty="0" err="1">
                <a:ea typeface="+mn-lt"/>
                <a:cs typeface="+mn-lt"/>
              </a:rPr>
              <a:t>Tailwind</a:t>
            </a:r>
            <a:r>
              <a:rPr lang="es-ES" dirty="0">
                <a:ea typeface="+mn-lt"/>
                <a:cs typeface="+mn-lt"/>
              </a:rPr>
              <a:t>. Al pasar el cursor sobre la tarjeta, esta se escala al 105% de su tamaño original.</a:t>
            </a:r>
            <a:endParaRPr lang="es-ES"/>
          </a:p>
        </p:txBody>
      </p:sp>
    </p:spTree>
    <p:extLst>
      <p:ext uri="{BB962C8B-B14F-4D97-AF65-F5344CB8AC3E}">
        <p14:creationId xmlns:p14="http://schemas.microsoft.com/office/powerpoint/2010/main" val="2210133017"/>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F56CA-067A-20E0-952C-4BDD7A8033C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87D42EA-BB71-9D94-AC8C-85F64490798F}"/>
              </a:ext>
            </a:extLst>
          </p:cNvPr>
          <p:cNvSpPr>
            <a:spLocks noGrp="1"/>
          </p:cNvSpPr>
          <p:nvPr>
            <p:ph type="title"/>
          </p:nvPr>
        </p:nvSpPr>
        <p:spPr/>
        <p:txBody>
          <a:bodyPr/>
          <a:lstStyle/>
          <a:p>
            <a:r>
              <a:rPr lang="es-ES" b="0" dirty="0">
                <a:ea typeface="+mj-lt"/>
                <a:cs typeface="+mj-lt"/>
              </a:rPr>
              <a:t>2.3.4.3. Introducción a </a:t>
            </a:r>
            <a:r>
              <a:rPr lang="es-ES" b="0" dirty="0" err="1">
                <a:ea typeface="+mj-lt"/>
                <a:cs typeface="+mj-lt"/>
              </a:rPr>
              <a:t>Bulma</a:t>
            </a:r>
            <a:r>
              <a:rPr lang="es-ES" b="0" dirty="0">
                <a:ea typeface="+mj-lt"/>
                <a:cs typeface="+mj-lt"/>
              </a:rPr>
              <a:t>.</a:t>
            </a:r>
            <a:endParaRPr lang="es-ES" dirty="0">
              <a:ea typeface="+mj-lt"/>
              <a:cs typeface="+mj-lt"/>
            </a:endParaRPr>
          </a:p>
        </p:txBody>
      </p:sp>
      <p:sp>
        <p:nvSpPr>
          <p:cNvPr id="3" name="Marcador de contenido 2">
            <a:extLst>
              <a:ext uri="{FF2B5EF4-FFF2-40B4-BE49-F238E27FC236}">
                <a16:creationId xmlns:a16="http://schemas.microsoft.com/office/drawing/2014/main" id="{981FFF4F-8B19-73D7-A8A1-A3A0F121422F}"/>
              </a:ext>
            </a:extLst>
          </p:cNvPr>
          <p:cNvSpPr>
            <a:spLocks noGrp="1"/>
          </p:cNvSpPr>
          <p:nvPr>
            <p:ph idx="1"/>
          </p:nvPr>
        </p:nvSpPr>
        <p:spPr/>
        <p:txBody>
          <a:bodyPr vert="horz" lIns="91440" tIns="45720" rIns="91440" bIns="45720" rtlCol="0" anchor="t">
            <a:normAutofit fontScale="85000" lnSpcReduction="20000"/>
          </a:bodyPr>
          <a:lstStyle/>
          <a:p>
            <a:r>
              <a:rPr lang="es-ES" dirty="0" err="1">
                <a:ea typeface="+mn-lt"/>
                <a:cs typeface="+mn-lt"/>
              </a:rPr>
              <a:t>Bulma</a:t>
            </a:r>
            <a:r>
              <a:rPr lang="es-ES" dirty="0">
                <a:ea typeface="+mn-lt"/>
                <a:cs typeface="+mn-lt"/>
              </a:rPr>
              <a:t> es un </a:t>
            </a:r>
            <a:r>
              <a:rPr lang="es-ES" dirty="0" err="1">
                <a:ea typeface="+mn-lt"/>
                <a:cs typeface="+mn-lt"/>
              </a:rPr>
              <a:t>framework</a:t>
            </a:r>
            <a:r>
              <a:rPr lang="es-ES" dirty="0">
                <a:ea typeface="+mn-lt"/>
                <a:cs typeface="+mn-lt"/>
              </a:rPr>
              <a:t> de CSS moderno y ligero. Se distingue de otros </a:t>
            </a:r>
            <a:r>
              <a:rPr lang="es-ES" dirty="0" err="1">
                <a:ea typeface="+mn-lt"/>
                <a:cs typeface="+mn-lt"/>
              </a:rPr>
              <a:t>frameworks</a:t>
            </a:r>
            <a:r>
              <a:rPr lang="es-ES" dirty="0">
                <a:ea typeface="+mn-lt"/>
                <a:cs typeface="+mn-lt"/>
              </a:rPr>
              <a:t> como Bootstrap por ser puramente de CSS, lo que significa que no incluye JavaScript. Esto lo hace muy fácil de aprender y usar. Además, está completamente construido sobre </a:t>
            </a:r>
            <a:r>
              <a:rPr lang="es-ES" dirty="0" err="1">
                <a:ea typeface="+mn-lt"/>
                <a:cs typeface="+mn-lt"/>
              </a:rPr>
              <a:t>Flexbox</a:t>
            </a:r>
            <a:r>
              <a:rPr lang="es-ES" dirty="0">
                <a:ea typeface="+mn-lt"/>
                <a:cs typeface="+mn-lt"/>
              </a:rPr>
              <a:t>, lo que le otorga una gran flexibilidad y capacidad para crear </a:t>
            </a:r>
            <a:r>
              <a:rPr lang="es-ES" dirty="0" err="1">
                <a:ea typeface="+mn-lt"/>
                <a:cs typeface="+mn-lt"/>
              </a:rPr>
              <a:t>layouts</a:t>
            </a:r>
            <a:r>
              <a:rPr lang="es-ES" dirty="0">
                <a:ea typeface="+mn-lt"/>
                <a:cs typeface="+mn-lt"/>
              </a:rPr>
              <a:t> responsivos de manera nativa y con una sintaxis muy intuitiva.</a:t>
            </a:r>
          </a:p>
          <a:p>
            <a:r>
              <a:rPr lang="es-ES" dirty="0">
                <a:ea typeface="+mn-lt"/>
                <a:cs typeface="+mn-lt"/>
              </a:rPr>
              <a:t>La filosofía de </a:t>
            </a:r>
            <a:r>
              <a:rPr lang="es-ES" dirty="0" err="1">
                <a:ea typeface="+mn-lt"/>
                <a:cs typeface="+mn-lt"/>
              </a:rPr>
              <a:t>Bulma</a:t>
            </a:r>
            <a:r>
              <a:rPr lang="es-ES" dirty="0">
                <a:ea typeface="+mn-lt"/>
                <a:cs typeface="+mn-lt"/>
              </a:rPr>
              <a:t> es ofrecer un conjunto de clases claras y sencillas para que puedas construir tu interfaz sin sobrecarga de estilos que no necesitas, manteniendo tu código HTML limpio y legible.</a:t>
            </a:r>
          </a:p>
          <a:p>
            <a:r>
              <a:rPr lang="es-ES" dirty="0">
                <a:ea typeface="+mn-lt"/>
                <a:cs typeface="+mn-lt"/>
              </a:rPr>
              <a:t>Características clave de </a:t>
            </a:r>
            <a:r>
              <a:rPr lang="es-ES" dirty="0" err="1">
                <a:ea typeface="+mn-lt"/>
                <a:cs typeface="+mn-lt"/>
              </a:rPr>
              <a:t>Bulma</a:t>
            </a:r>
            <a:endParaRPr lang="es-ES" dirty="0" err="1"/>
          </a:p>
          <a:p>
            <a:pPr lvl="1">
              <a:buFont typeface="Courier New" panose="020B0604020202020204" pitchFamily="34" charset="0"/>
              <a:buChar char="o"/>
            </a:pPr>
            <a:r>
              <a:rPr lang="es-ES" dirty="0">
                <a:ea typeface="+mn-lt"/>
                <a:cs typeface="+mn-lt"/>
              </a:rPr>
              <a:t>CSS puro, sin JavaScript: No necesitas lidiar con jQuery u otros archivos JS para que los componentes funcionen. Esto reduce el peso total de tu página y simplifica la integración.</a:t>
            </a:r>
          </a:p>
          <a:p>
            <a:pPr lvl="1">
              <a:buFont typeface="Courier New" panose="020B0604020202020204" pitchFamily="34" charset="0"/>
              <a:buChar char="o"/>
            </a:pPr>
            <a:r>
              <a:rPr lang="es-ES" dirty="0">
                <a:ea typeface="+mn-lt"/>
                <a:cs typeface="+mn-lt"/>
              </a:rPr>
              <a:t>Basado en </a:t>
            </a:r>
            <a:r>
              <a:rPr lang="es-ES" dirty="0" err="1">
                <a:ea typeface="+mn-lt"/>
                <a:cs typeface="+mn-lt"/>
              </a:rPr>
              <a:t>Flexbox</a:t>
            </a:r>
            <a:r>
              <a:rPr lang="es-ES" dirty="0">
                <a:ea typeface="+mn-lt"/>
                <a:cs typeface="+mn-lt"/>
              </a:rPr>
              <a:t>: Su sistema de cuadrícula y la mayoría de sus componentes se basan en </a:t>
            </a:r>
            <a:r>
              <a:rPr lang="es-ES" dirty="0" err="1">
                <a:ea typeface="+mn-lt"/>
                <a:cs typeface="+mn-lt"/>
              </a:rPr>
              <a:t>Flexbox</a:t>
            </a:r>
            <a:r>
              <a:rPr lang="es-ES" dirty="0">
                <a:ea typeface="+mn-lt"/>
                <a:cs typeface="+mn-lt"/>
              </a:rPr>
              <a:t>, lo que permite una alineación y distribución de elementos muy potente y fácil de entender.</a:t>
            </a:r>
          </a:p>
          <a:p>
            <a:pPr lvl="1">
              <a:buFont typeface="Courier New" panose="020B0604020202020204" pitchFamily="34" charset="0"/>
              <a:buChar char="o"/>
            </a:pPr>
            <a:r>
              <a:rPr lang="es-ES" dirty="0">
                <a:ea typeface="+mn-lt"/>
                <a:cs typeface="+mn-lt"/>
              </a:rPr>
              <a:t>Diseño modular: Puedes importar solo los componentes que necesitas en lugar de todo el </a:t>
            </a:r>
            <a:r>
              <a:rPr lang="es-ES" dirty="0" err="1">
                <a:ea typeface="+mn-lt"/>
                <a:cs typeface="+mn-lt"/>
              </a:rPr>
              <a:t>framework</a:t>
            </a:r>
            <a:r>
              <a:rPr lang="es-ES" dirty="0">
                <a:ea typeface="+mn-lt"/>
                <a:cs typeface="+mn-lt"/>
              </a:rPr>
              <a:t>, lo que ayuda a mantener el tamaño del archivo CSS al mínimo.</a:t>
            </a:r>
          </a:p>
          <a:p>
            <a:pPr lvl="1">
              <a:buFont typeface="Courier New" panose="020B0604020202020204" pitchFamily="34" charset="0"/>
              <a:buChar char="o"/>
            </a:pPr>
            <a:r>
              <a:rPr lang="es-ES" dirty="0">
                <a:ea typeface="+mn-lt"/>
                <a:cs typeface="+mn-lt"/>
              </a:rPr>
              <a:t>Clases semánticas: </a:t>
            </a:r>
            <a:r>
              <a:rPr lang="es-ES" dirty="0" err="1">
                <a:ea typeface="+mn-lt"/>
                <a:cs typeface="+mn-lt"/>
              </a:rPr>
              <a:t>Bulma</a:t>
            </a:r>
            <a:r>
              <a:rPr lang="es-ES" dirty="0">
                <a:ea typeface="+mn-lt"/>
                <a:cs typeface="+mn-lt"/>
              </a:rPr>
              <a:t> utiliza nombres de clases muy claros y descriptivos, como </a:t>
            </a:r>
            <a:r>
              <a:rPr lang="es-ES" dirty="0" err="1">
                <a:ea typeface="+mn-lt"/>
                <a:cs typeface="+mn-lt"/>
              </a:rPr>
              <a:t>columns</a:t>
            </a:r>
            <a:r>
              <a:rPr lang="es-ES" dirty="0">
                <a:ea typeface="+mn-lt"/>
                <a:cs typeface="+mn-lt"/>
              </a:rPr>
              <a:t>, </a:t>
            </a:r>
            <a:r>
              <a:rPr lang="es-ES" dirty="0" err="1">
                <a:ea typeface="+mn-lt"/>
                <a:cs typeface="+mn-lt"/>
              </a:rPr>
              <a:t>column</a:t>
            </a:r>
            <a:r>
              <a:rPr lang="es-ES" dirty="0">
                <a:ea typeface="+mn-lt"/>
                <a:cs typeface="+mn-lt"/>
              </a:rPr>
              <a:t>, </a:t>
            </a:r>
            <a:r>
              <a:rPr lang="es-ES" dirty="0" err="1">
                <a:ea typeface="+mn-lt"/>
                <a:cs typeface="+mn-lt"/>
              </a:rPr>
              <a:t>is-half</a:t>
            </a:r>
            <a:r>
              <a:rPr lang="es-ES" dirty="0">
                <a:ea typeface="+mn-lt"/>
                <a:cs typeface="+mn-lt"/>
              </a:rPr>
              <a:t>, </a:t>
            </a:r>
            <a:r>
              <a:rPr lang="es-ES" dirty="0" err="1">
                <a:ea typeface="+mn-lt"/>
                <a:cs typeface="+mn-lt"/>
              </a:rPr>
              <a:t>is-mobile</a:t>
            </a:r>
            <a:r>
              <a:rPr lang="es-ES" dirty="0">
                <a:ea typeface="+mn-lt"/>
                <a:cs typeface="+mn-lt"/>
              </a:rPr>
              <a:t>, lo que hace que su sintaxis sea muy legible y fácil de recordar.</a:t>
            </a:r>
            <a:endParaRPr lang="es-ES" dirty="0"/>
          </a:p>
          <a:p>
            <a:endParaRPr lang="es-ES" dirty="0"/>
          </a:p>
        </p:txBody>
      </p:sp>
    </p:spTree>
    <p:extLst>
      <p:ext uri="{BB962C8B-B14F-4D97-AF65-F5344CB8AC3E}">
        <p14:creationId xmlns:p14="http://schemas.microsoft.com/office/powerpoint/2010/main" val="4134169743"/>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C67FFD-CCFD-D012-B3B1-3666855728D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F47D26C-AB83-449B-2F42-20304B105031}"/>
              </a:ext>
            </a:extLst>
          </p:cNvPr>
          <p:cNvSpPr>
            <a:spLocks noGrp="1"/>
          </p:cNvSpPr>
          <p:nvPr>
            <p:ph type="title"/>
          </p:nvPr>
        </p:nvSpPr>
        <p:spPr/>
        <p:txBody>
          <a:bodyPr/>
          <a:lstStyle/>
          <a:p>
            <a:r>
              <a:rPr lang="es-ES" b="0" dirty="0">
                <a:ea typeface="+mj-lt"/>
                <a:cs typeface="+mj-lt"/>
              </a:rPr>
              <a:t>2.3.4.3. Introducción a </a:t>
            </a:r>
            <a:r>
              <a:rPr lang="es-ES" b="0" dirty="0" err="1">
                <a:ea typeface="+mj-lt"/>
                <a:cs typeface="+mj-lt"/>
              </a:rPr>
              <a:t>Bulma</a:t>
            </a:r>
            <a:r>
              <a:rPr lang="es-ES" b="0" dirty="0">
                <a:ea typeface="+mj-lt"/>
                <a:cs typeface="+mj-lt"/>
              </a:rPr>
              <a:t>.</a:t>
            </a:r>
            <a:endParaRPr lang="es-ES" dirty="0">
              <a:ea typeface="+mj-lt"/>
              <a:cs typeface="+mj-lt"/>
            </a:endParaRPr>
          </a:p>
        </p:txBody>
      </p:sp>
      <p:sp>
        <p:nvSpPr>
          <p:cNvPr id="3" name="Marcador de contenido 2">
            <a:extLst>
              <a:ext uri="{FF2B5EF4-FFF2-40B4-BE49-F238E27FC236}">
                <a16:creationId xmlns:a16="http://schemas.microsoft.com/office/drawing/2014/main" id="{7C27E5EE-12FE-F97A-2DEB-15B6F7AD2B92}"/>
              </a:ext>
            </a:extLst>
          </p:cNvPr>
          <p:cNvSpPr>
            <a:spLocks noGrp="1"/>
          </p:cNvSpPr>
          <p:nvPr>
            <p:ph idx="1"/>
          </p:nvPr>
        </p:nvSpPr>
        <p:spPr/>
        <p:txBody>
          <a:bodyPr vert="horz" lIns="91440" tIns="45720" rIns="91440" bIns="45720" rtlCol="0" anchor="t">
            <a:normAutofit fontScale="85000" lnSpcReduction="20000"/>
          </a:bodyPr>
          <a:lstStyle/>
          <a:p>
            <a:r>
              <a:rPr lang="es-ES" dirty="0">
                <a:ea typeface="+mn-lt"/>
                <a:cs typeface="+mn-lt"/>
              </a:rPr>
              <a:t>Ejemplo: Creando un </a:t>
            </a:r>
            <a:r>
              <a:rPr lang="es-ES" dirty="0" err="1">
                <a:ea typeface="+mn-lt"/>
                <a:cs typeface="+mn-lt"/>
              </a:rPr>
              <a:t>layout</a:t>
            </a:r>
            <a:r>
              <a:rPr lang="es-ES" dirty="0">
                <a:ea typeface="+mn-lt"/>
                <a:cs typeface="+mn-lt"/>
              </a:rPr>
              <a:t> de dos columnas. Este ejemplo demuestra cómo </a:t>
            </a:r>
            <a:r>
              <a:rPr lang="es-ES" dirty="0" err="1">
                <a:ea typeface="+mn-lt"/>
                <a:cs typeface="+mn-lt"/>
              </a:rPr>
              <a:t>Bulma</a:t>
            </a:r>
            <a:r>
              <a:rPr lang="es-ES" dirty="0">
                <a:ea typeface="+mn-lt"/>
                <a:cs typeface="+mn-lt"/>
              </a:rPr>
              <a:t> usa </a:t>
            </a:r>
            <a:r>
              <a:rPr lang="es-ES" dirty="0" err="1">
                <a:ea typeface="+mn-lt"/>
                <a:cs typeface="+mn-lt"/>
              </a:rPr>
              <a:t>Flexbox</a:t>
            </a:r>
            <a:r>
              <a:rPr lang="es-ES" dirty="0">
                <a:ea typeface="+mn-lt"/>
                <a:cs typeface="+mn-lt"/>
              </a:rPr>
              <a:t> para crear un </a:t>
            </a:r>
            <a:r>
              <a:rPr lang="es-ES" dirty="0" err="1">
                <a:ea typeface="+mn-lt"/>
                <a:cs typeface="+mn-lt"/>
              </a:rPr>
              <a:t>layout</a:t>
            </a:r>
            <a:r>
              <a:rPr lang="es-ES" dirty="0">
                <a:ea typeface="+mn-lt"/>
                <a:cs typeface="+mn-lt"/>
              </a:rPr>
              <a:t> de dos columnas que se adapta a dispositivos móviles de forma automática.</a:t>
            </a:r>
          </a:p>
          <a:p>
            <a:pPr marL="0" indent="0">
              <a:buNone/>
            </a:pPr>
            <a:r>
              <a:rPr lang="es-ES" b="1" dirty="0">
                <a:latin typeface="Courier New"/>
                <a:ea typeface="+mn-lt"/>
                <a:cs typeface="+mn-lt"/>
              </a:rPr>
              <a:t>&lt;!DOCTYPE </a:t>
            </a:r>
            <a:r>
              <a:rPr lang="es-ES" b="1" dirty="0" err="1">
                <a:latin typeface="Courier New"/>
                <a:ea typeface="+mn-lt"/>
                <a:cs typeface="+mn-lt"/>
              </a:rPr>
              <a:t>html</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&lt;</a:t>
            </a:r>
            <a:r>
              <a:rPr lang="es-ES" b="1" dirty="0" err="1">
                <a:latin typeface="Courier New"/>
                <a:ea typeface="+mn-lt"/>
                <a:cs typeface="+mn-lt"/>
              </a:rPr>
              <a:t>html</a:t>
            </a:r>
            <a:r>
              <a:rPr lang="es-ES" b="1" dirty="0">
                <a:latin typeface="Courier New"/>
                <a:ea typeface="+mn-lt"/>
                <a:cs typeface="+mn-lt"/>
              </a:rPr>
              <a:t> </a:t>
            </a:r>
            <a:r>
              <a:rPr lang="es-ES" b="1" dirty="0" err="1">
                <a:latin typeface="Courier New"/>
                <a:ea typeface="+mn-lt"/>
                <a:cs typeface="+mn-lt"/>
              </a:rPr>
              <a:t>lang</a:t>
            </a:r>
            <a:r>
              <a:rPr lang="es-ES" b="1" dirty="0">
                <a:latin typeface="Courier New"/>
                <a:ea typeface="+mn-lt"/>
                <a:cs typeface="+mn-lt"/>
              </a:rPr>
              <a:t>="es"&gt;</a:t>
            </a:r>
            <a:br>
              <a:rPr lang="es-ES" b="1" dirty="0">
                <a:latin typeface="Courier New"/>
                <a:ea typeface="+mn-lt"/>
                <a:cs typeface="+mn-lt"/>
              </a:rPr>
            </a:br>
            <a:r>
              <a:rPr lang="es-ES" b="1" dirty="0">
                <a:latin typeface="Courier New"/>
                <a:ea typeface="+mn-lt"/>
                <a:cs typeface="+mn-lt"/>
              </a:rPr>
              <a:t>&lt;head&gt;</a:t>
            </a:r>
            <a:br>
              <a:rPr lang="es-ES" b="1" dirty="0">
                <a:latin typeface="Courier New"/>
                <a:ea typeface="+mn-lt"/>
                <a:cs typeface="+mn-lt"/>
              </a:rPr>
            </a:br>
            <a:r>
              <a:rPr lang="es-ES" b="1" dirty="0">
                <a:latin typeface="Courier New"/>
                <a:ea typeface="+mn-lt"/>
                <a:cs typeface="+mn-lt"/>
              </a:rPr>
              <a:t>  &lt;meta </a:t>
            </a:r>
            <a:r>
              <a:rPr lang="es-ES" b="1" dirty="0" err="1">
                <a:latin typeface="Courier New"/>
                <a:ea typeface="+mn-lt"/>
                <a:cs typeface="+mn-lt"/>
              </a:rPr>
              <a:t>charset</a:t>
            </a:r>
            <a:r>
              <a:rPr lang="es-ES" b="1" dirty="0">
                <a:latin typeface="Courier New"/>
                <a:ea typeface="+mn-lt"/>
                <a:cs typeface="+mn-lt"/>
              </a:rPr>
              <a:t>="UTF-8"&gt;</a:t>
            </a:r>
            <a:br>
              <a:rPr lang="es-ES" b="1" dirty="0">
                <a:latin typeface="Courier New"/>
                <a:ea typeface="+mn-lt"/>
                <a:cs typeface="+mn-lt"/>
              </a:rPr>
            </a:br>
            <a:r>
              <a:rPr lang="es-ES" b="1" dirty="0">
                <a:latin typeface="Courier New"/>
                <a:ea typeface="+mn-lt"/>
                <a:cs typeface="+mn-lt"/>
              </a:rPr>
              <a:t>  &lt;meta </a:t>
            </a:r>
            <a:r>
              <a:rPr lang="es-ES" b="1" dirty="0" err="1">
                <a:latin typeface="Courier New"/>
                <a:ea typeface="+mn-lt"/>
                <a:cs typeface="+mn-lt"/>
              </a:rPr>
              <a:t>name</a:t>
            </a:r>
            <a:r>
              <a:rPr lang="es-ES" b="1" dirty="0">
                <a:latin typeface="Courier New"/>
                <a:ea typeface="+mn-lt"/>
                <a:cs typeface="+mn-lt"/>
              </a:rPr>
              <a:t>="</a:t>
            </a:r>
            <a:r>
              <a:rPr lang="es-ES" b="1" dirty="0" err="1">
                <a:latin typeface="Courier New"/>
                <a:ea typeface="+mn-lt"/>
                <a:cs typeface="+mn-lt"/>
              </a:rPr>
              <a:t>viewport</a:t>
            </a:r>
            <a:r>
              <a:rPr lang="es-ES" b="1" dirty="0">
                <a:latin typeface="Courier New"/>
                <a:ea typeface="+mn-lt"/>
                <a:cs typeface="+mn-lt"/>
              </a:rPr>
              <a:t>" </a:t>
            </a:r>
            <a:r>
              <a:rPr lang="es-ES" b="1" dirty="0" err="1">
                <a:latin typeface="Courier New"/>
                <a:ea typeface="+mn-lt"/>
                <a:cs typeface="+mn-lt"/>
              </a:rPr>
              <a:t>content</a:t>
            </a:r>
            <a:r>
              <a:rPr lang="es-ES" b="1" dirty="0">
                <a:latin typeface="Courier New"/>
                <a:ea typeface="+mn-lt"/>
                <a:cs typeface="+mn-lt"/>
              </a:rPr>
              <a:t>="</a:t>
            </a:r>
            <a:r>
              <a:rPr lang="es-ES" b="1" dirty="0" err="1">
                <a:latin typeface="Courier New"/>
                <a:ea typeface="+mn-lt"/>
                <a:cs typeface="+mn-lt"/>
              </a:rPr>
              <a:t>width</a:t>
            </a:r>
            <a:r>
              <a:rPr lang="es-ES" b="1" dirty="0">
                <a:latin typeface="Courier New"/>
                <a:ea typeface="+mn-lt"/>
                <a:cs typeface="+mn-lt"/>
              </a:rPr>
              <a:t>=</a:t>
            </a:r>
            <a:r>
              <a:rPr lang="es-ES" b="1" dirty="0" err="1">
                <a:latin typeface="Courier New"/>
                <a:ea typeface="+mn-lt"/>
                <a:cs typeface="+mn-lt"/>
              </a:rPr>
              <a:t>device-width</a:t>
            </a:r>
            <a:r>
              <a:rPr lang="es-ES" b="1" dirty="0">
                <a:latin typeface="Courier New"/>
                <a:ea typeface="+mn-lt"/>
                <a:cs typeface="+mn-lt"/>
              </a:rPr>
              <a:t>, </a:t>
            </a:r>
            <a:r>
              <a:rPr lang="es-ES" b="1" dirty="0" err="1">
                <a:latin typeface="Courier New"/>
                <a:ea typeface="+mn-lt"/>
                <a:cs typeface="+mn-lt"/>
              </a:rPr>
              <a:t>initial-scale</a:t>
            </a:r>
            <a:r>
              <a:rPr lang="es-ES" b="1" dirty="0">
                <a:latin typeface="Courier New"/>
                <a:ea typeface="+mn-lt"/>
                <a:cs typeface="+mn-lt"/>
              </a:rPr>
              <a:t>=1"&gt;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title</a:t>
            </a:r>
            <a:r>
              <a:rPr lang="es-ES" b="1" dirty="0">
                <a:latin typeface="Courier New"/>
                <a:ea typeface="+mn-lt"/>
                <a:cs typeface="+mn-lt"/>
              </a:rPr>
              <a:t>&gt;Mi Sitio con </a:t>
            </a:r>
            <a:r>
              <a:rPr lang="es-ES" b="1" dirty="0" err="1">
                <a:latin typeface="Courier New"/>
                <a:ea typeface="+mn-lt"/>
                <a:cs typeface="+mn-lt"/>
              </a:rPr>
              <a:t>Bulma</a:t>
            </a:r>
            <a:r>
              <a:rPr lang="es-ES" b="1" dirty="0">
                <a:latin typeface="Courier New"/>
                <a:ea typeface="+mn-lt"/>
                <a:cs typeface="+mn-lt"/>
              </a:rPr>
              <a:t>&lt;/</a:t>
            </a:r>
            <a:r>
              <a:rPr lang="es-ES" b="1" dirty="0" err="1">
                <a:latin typeface="Courier New"/>
                <a:ea typeface="+mn-lt"/>
                <a:cs typeface="+mn-lt"/>
              </a:rPr>
              <a:t>title</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&lt;link </a:t>
            </a:r>
            <a:r>
              <a:rPr lang="es-ES" b="1" dirty="0" err="1">
                <a:latin typeface="Courier New"/>
                <a:ea typeface="+mn-lt"/>
                <a:cs typeface="+mn-lt"/>
              </a:rPr>
              <a:t>rel</a:t>
            </a:r>
            <a:r>
              <a:rPr lang="es-ES" b="1" dirty="0">
                <a:latin typeface="Courier New"/>
                <a:ea typeface="+mn-lt"/>
                <a:cs typeface="+mn-lt"/>
              </a:rPr>
              <a:t>="</a:t>
            </a:r>
            <a:r>
              <a:rPr lang="es-ES" b="1" dirty="0" err="1">
                <a:latin typeface="Courier New"/>
                <a:ea typeface="+mn-lt"/>
                <a:cs typeface="+mn-lt"/>
              </a:rPr>
              <a:t>stylesheet</a:t>
            </a:r>
            <a:r>
              <a:rPr lang="es-ES" b="1" dirty="0">
                <a:latin typeface="Courier New"/>
                <a:ea typeface="+mn-lt"/>
                <a:cs typeface="+mn-lt"/>
              </a:rPr>
              <a:t>" </a:t>
            </a:r>
            <a:r>
              <a:rPr lang="es-ES" b="1" dirty="0">
                <a:latin typeface="Courier New"/>
                <a:ea typeface="+mn-lt"/>
                <a:cs typeface="+mn-lt"/>
                <a:hlinkClick r:id="rId2"/>
              </a:rPr>
              <a:t>href="https://cdn.jsdelivr.net/npm/bulma@1.0.0/css/bulma.min.css</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&lt;/head&gt;</a:t>
            </a:r>
            <a:br>
              <a:rPr lang="es-ES" b="1" dirty="0">
                <a:latin typeface="Courier New"/>
                <a:ea typeface="+mn-lt"/>
                <a:cs typeface="+mn-lt"/>
              </a:rPr>
            </a:br>
            <a:r>
              <a:rPr lang="es-ES" b="1" dirty="0">
                <a:latin typeface="Courier New"/>
                <a:ea typeface="+mn-lt"/>
                <a:cs typeface="+mn-lt"/>
              </a:rPr>
              <a:t>&lt;</a:t>
            </a:r>
            <a:r>
              <a:rPr lang="es-ES" b="1" dirty="0" err="1">
                <a:latin typeface="Courier New"/>
                <a:ea typeface="+mn-lt"/>
                <a:cs typeface="+mn-lt"/>
              </a:rPr>
              <a:t>body</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&lt;</a:t>
            </a:r>
            <a:r>
              <a:rPr lang="es-ES" b="1" dirty="0" err="1">
                <a:latin typeface="Courier New"/>
                <a:ea typeface="+mn-lt"/>
                <a:cs typeface="+mn-lt"/>
              </a:rPr>
              <a:t>section</a:t>
            </a:r>
            <a:r>
              <a:rPr lang="es-ES" b="1" dirty="0">
                <a:latin typeface="Courier New"/>
                <a:ea typeface="+mn-lt"/>
                <a:cs typeface="+mn-lt"/>
              </a:rPr>
              <a:t> </a:t>
            </a:r>
            <a:r>
              <a:rPr lang="es-ES" b="1" dirty="0" err="1">
                <a:latin typeface="Courier New"/>
                <a:ea typeface="+mn-lt"/>
                <a:cs typeface="+mn-lt"/>
              </a:rPr>
              <a:t>class</a:t>
            </a:r>
            <a:r>
              <a:rPr lang="es-ES" b="1" dirty="0">
                <a:latin typeface="Courier New"/>
                <a:ea typeface="+mn-lt"/>
                <a:cs typeface="+mn-lt"/>
              </a:rPr>
              <a:t>="</a:t>
            </a:r>
            <a:r>
              <a:rPr lang="es-ES" b="1" dirty="0" err="1">
                <a:latin typeface="Courier New"/>
                <a:ea typeface="+mn-lt"/>
                <a:cs typeface="+mn-lt"/>
              </a:rPr>
              <a:t>section</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div</a:t>
            </a:r>
            <a:r>
              <a:rPr lang="es-ES" b="1" dirty="0">
                <a:latin typeface="Courier New"/>
                <a:ea typeface="+mn-lt"/>
                <a:cs typeface="+mn-lt"/>
              </a:rPr>
              <a:t> </a:t>
            </a:r>
            <a:r>
              <a:rPr lang="es-ES" b="1" dirty="0" err="1">
                <a:latin typeface="Courier New"/>
                <a:ea typeface="+mn-lt"/>
                <a:cs typeface="+mn-lt"/>
              </a:rPr>
              <a:t>class</a:t>
            </a:r>
            <a:r>
              <a:rPr lang="es-ES" b="1" dirty="0">
                <a:latin typeface="Courier New"/>
                <a:ea typeface="+mn-lt"/>
                <a:cs typeface="+mn-lt"/>
              </a:rPr>
              <a:t>="container"&gt;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div</a:t>
            </a:r>
            <a:r>
              <a:rPr lang="es-ES" b="1" dirty="0">
                <a:latin typeface="Courier New"/>
                <a:ea typeface="+mn-lt"/>
                <a:cs typeface="+mn-lt"/>
              </a:rPr>
              <a:t> </a:t>
            </a:r>
            <a:r>
              <a:rPr lang="es-ES" b="1" dirty="0" err="1">
                <a:latin typeface="Courier New"/>
                <a:ea typeface="+mn-lt"/>
                <a:cs typeface="+mn-lt"/>
              </a:rPr>
              <a:t>class</a:t>
            </a:r>
            <a:r>
              <a:rPr lang="es-ES" b="1" dirty="0">
                <a:latin typeface="Courier New"/>
                <a:ea typeface="+mn-lt"/>
                <a:cs typeface="+mn-lt"/>
              </a:rPr>
              <a:t>="</a:t>
            </a:r>
            <a:r>
              <a:rPr lang="es-ES" b="1" dirty="0" err="1">
                <a:latin typeface="Courier New"/>
                <a:ea typeface="+mn-lt"/>
                <a:cs typeface="+mn-lt"/>
              </a:rPr>
              <a:t>columns</a:t>
            </a:r>
            <a:r>
              <a:rPr lang="es-ES" b="1" dirty="0">
                <a:latin typeface="Courier New"/>
                <a:ea typeface="+mn-lt"/>
                <a:cs typeface="+mn-lt"/>
              </a:rPr>
              <a:t> </a:t>
            </a:r>
            <a:r>
              <a:rPr lang="es-ES" b="1" dirty="0" err="1">
                <a:latin typeface="Courier New"/>
                <a:ea typeface="+mn-lt"/>
                <a:cs typeface="+mn-lt"/>
              </a:rPr>
              <a:t>is-mobile</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div</a:t>
            </a:r>
            <a:r>
              <a:rPr lang="es-ES" b="1" dirty="0">
                <a:latin typeface="Courier New"/>
                <a:ea typeface="+mn-lt"/>
                <a:cs typeface="+mn-lt"/>
              </a:rPr>
              <a:t> </a:t>
            </a:r>
            <a:r>
              <a:rPr lang="es-ES" b="1" dirty="0" err="1">
                <a:latin typeface="Courier New"/>
                <a:ea typeface="+mn-lt"/>
                <a:cs typeface="+mn-lt"/>
              </a:rPr>
              <a:t>class</a:t>
            </a:r>
            <a:r>
              <a:rPr lang="es-ES" b="1" dirty="0">
                <a:latin typeface="Courier New"/>
                <a:ea typeface="+mn-lt"/>
                <a:cs typeface="+mn-lt"/>
              </a:rPr>
              <a:t>="</a:t>
            </a:r>
            <a:r>
              <a:rPr lang="es-ES" b="1" dirty="0" err="1">
                <a:latin typeface="Courier New"/>
                <a:ea typeface="+mn-lt"/>
                <a:cs typeface="+mn-lt"/>
              </a:rPr>
              <a:t>column</a:t>
            </a:r>
            <a:r>
              <a:rPr lang="es-ES" b="1" dirty="0">
                <a:latin typeface="Courier New"/>
                <a:ea typeface="+mn-lt"/>
                <a:cs typeface="+mn-lt"/>
              </a:rPr>
              <a:t> </a:t>
            </a:r>
            <a:r>
              <a:rPr lang="es-ES" b="1" dirty="0" err="1">
                <a:latin typeface="Courier New"/>
                <a:ea typeface="+mn-lt"/>
                <a:cs typeface="+mn-lt"/>
              </a:rPr>
              <a:t>is</a:t>
            </a:r>
            <a:r>
              <a:rPr lang="es-ES" b="1" dirty="0">
                <a:latin typeface="Courier New"/>
                <a:ea typeface="+mn-lt"/>
                <a:cs typeface="+mn-lt"/>
              </a:rPr>
              <a:t>-</a:t>
            </a:r>
            <a:r>
              <a:rPr lang="es-ES" b="1" dirty="0" err="1">
                <a:latin typeface="Courier New"/>
                <a:ea typeface="+mn-lt"/>
                <a:cs typeface="+mn-lt"/>
              </a:rPr>
              <a:t>one</a:t>
            </a:r>
            <a:r>
              <a:rPr lang="es-ES" b="1" dirty="0">
                <a:latin typeface="Courier New"/>
                <a:ea typeface="+mn-lt"/>
                <a:cs typeface="+mn-lt"/>
              </a:rPr>
              <a:t>-</a:t>
            </a:r>
            <a:r>
              <a:rPr lang="es-ES" b="1" dirty="0" err="1">
                <a:latin typeface="Courier New"/>
                <a:ea typeface="+mn-lt"/>
                <a:cs typeface="+mn-lt"/>
              </a:rPr>
              <a:t>third</a:t>
            </a:r>
            <a:r>
              <a:rPr lang="es-ES" b="1" dirty="0">
                <a:latin typeface="Courier New"/>
                <a:ea typeface="+mn-lt"/>
                <a:cs typeface="+mn-lt"/>
              </a:rPr>
              <a:t>-desktop </a:t>
            </a:r>
            <a:r>
              <a:rPr lang="es-ES" b="1" dirty="0" err="1">
                <a:latin typeface="Courier New"/>
                <a:ea typeface="+mn-lt"/>
                <a:cs typeface="+mn-lt"/>
              </a:rPr>
              <a:t>is</a:t>
            </a:r>
            <a:r>
              <a:rPr lang="es-ES" b="1" dirty="0">
                <a:latin typeface="Courier New"/>
                <a:ea typeface="+mn-lt"/>
                <a:cs typeface="+mn-lt"/>
              </a:rPr>
              <a:t>-full-</a:t>
            </a:r>
            <a:r>
              <a:rPr lang="es-ES" b="1" dirty="0" err="1">
                <a:latin typeface="Courier New"/>
                <a:ea typeface="+mn-lt"/>
                <a:cs typeface="+mn-lt"/>
              </a:rPr>
              <a:t>mobile</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div</a:t>
            </a:r>
            <a:r>
              <a:rPr lang="es-ES" b="1" dirty="0">
                <a:latin typeface="Courier New"/>
                <a:ea typeface="+mn-lt"/>
                <a:cs typeface="+mn-lt"/>
              </a:rPr>
              <a:t> </a:t>
            </a:r>
            <a:r>
              <a:rPr lang="es-ES" b="1" dirty="0" err="1">
                <a:latin typeface="Courier New"/>
                <a:ea typeface="+mn-lt"/>
                <a:cs typeface="+mn-lt"/>
              </a:rPr>
              <a:t>class</a:t>
            </a:r>
            <a:r>
              <a:rPr lang="es-ES" b="1" dirty="0">
                <a:latin typeface="Courier New"/>
                <a:ea typeface="+mn-lt"/>
                <a:cs typeface="+mn-lt"/>
              </a:rPr>
              <a:t>="</a:t>
            </a:r>
            <a:r>
              <a:rPr lang="es-ES" b="1" dirty="0" err="1">
                <a:latin typeface="Courier New"/>
                <a:ea typeface="+mn-lt"/>
                <a:cs typeface="+mn-lt"/>
              </a:rPr>
              <a:t>notification</a:t>
            </a:r>
            <a:r>
              <a:rPr lang="es-ES" b="1" dirty="0">
                <a:latin typeface="Courier New"/>
                <a:ea typeface="+mn-lt"/>
                <a:cs typeface="+mn-lt"/>
              </a:rPr>
              <a:t> </a:t>
            </a:r>
            <a:r>
              <a:rPr lang="es-ES" b="1" dirty="0" err="1">
                <a:latin typeface="Courier New"/>
                <a:ea typeface="+mn-lt"/>
                <a:cs typeface="+mn-lt"/>
              </a:rPr>
              <a:t>is-primary</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&lt;p </a:t>
            </a:r>
            <a:r>
              <a:rPr lang="es-ES" b="1" dirty="0" err="1">
                <a:latin typeface="Courier New"/>
                <a:ea typeface="+mn-lt"/>
                <a:cs typeface="+mn-lt"/>
              </a:rPr>
              <a:t>class</a:t>
            </a:r>
            <a:r>
              <a:rPr lang="es-ES" b="1" dirty="0">
                <a:latin typeface="Courier New"/>
                <a:ea typeface="+mn-lt"/>
                <a:cs typeface="+mn-lt"/>
              </a:rPr>
              <a:t>="</a:t>
            </a:r>
            <a:r>
              <a:rPr lang="es-ES" b="1" dirty="0" err="1">
                <a:latin typeface="Courier New"/>
                <a:ea typeface="+mn-lt"/>
                <a:cs typeface="+mn-lt"/>
              </a:rPr>
              <a:t>title</a:t>
            </a:r>
            <a:r>
              <a:rPr lang="es-ES" b="1" dirty="0">
                <a:latin typeface="Courier New"/>
                <a:ea typeface="+mn-lt"/>
                <a:cs typeface="+mn-lt"/>
              </a:rPr>
              <a:t> is-4"&gt;Columna 1&lt;/p&gt;</a:t>
            </a:r>
            <a:endParaRPr lang="es-ES" b="1">
              <a:latin typeface="Courier New"/>
              <a:cs typeface="Courier New"/>
            </a:endParaRPr>
          </a:p>
          <a:p>
            <a:endParaRPr lang="es-ES" dirty="0"/>
          </a:p>
        </p:txBody>
      </p:sp>
    </p:spTree>
    <p:extLst>
      <p:ext uri="{BB962C8B-B14F-4D97-AF65-F5344CB8AC3E}">
        <p14:creationId xmlns:p14="http://schemas.microsoft.com/office/powerpoint/2010/main" val="806250794"/>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745A4A-9DCD-6600-6B86-2002B30F87D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341CDF6-A860-1552-759F-E38D4A038A7F}"/>
              </a:ext>
            </a:extLst>
          </p:cNvPr>
          <p:cNvSpPr>
            <a:spLocks noGrp="1"/>
          </p:cNvSpPr>
          <p:nvPr>
            <p:ph type="title"/>
          </p:nvPr>
        </p:nvSpPr>
        <p:spPr/>
        <p:txBody>
          <a:bodyPr/>
          <a:lstStyle/>
          <a:p>
            <a:r>
              <a:rPr lang="es-ES" b="0" dirty="0">
                <a:ea typeface="+mj-lt"/>
                <a:cs typeface="+mj-lt"/>
              </a:rPr>
              <a:t>2.3.4.3. Introducción a </a:t>
            </a:r>
            <a:r>
              <a:rPr lang="es-ES" b="0" dirty="0" err="1">
                <a:ea typeface="+mj-lt"/>
                <a:cs typeface="+mj-lt"/>
              </a:rPr>
              <a:t>Bulma</a:t>
            </a:r>
            <a:r>
              <a:rPr lang="es-ES" b="0" dirty="0">
                <a:ea typeface="+mj-lt"/>
                <a:cs typeface="+mj-lt"/>
              </a:rPr>
              <a:t>.</a:t>
            </a:r>
            <a:endParaRPr lang="es-ES" dirty="0">
              <a:ea typeface="+mj-lt"/>
              <a:cs typeface="+mj-lt"/>
            </a:endParaRPr>
          </a:p>
        </p:txBody>
      </p:sp>
      <p:sp>
        <p:nvSpPr>
          <p:cNvPr id="3" name="Marcador de contenido 2">
            <a:extLst>
              <a:ext uri="{FF2B5EF4-FFF2-40B4-BE49-F238E27FC236}">
                <a16:creationId xmlns:a16="http://schemas.microsoft.com/office/drawing/2014/main" id="{3892FEAD-191B-6B1E-05E0-18BC32704A85}"/>
              </a:ext>
            </a:extLst>
          </p:cNvPr>
          <p:cNvSpPr>
            <a:spLocks noGrp="1"/>
          </p:cNvSpPr>
          <p:nvPr>
            <p:ph idx="1"/>
          </p:nvPr>
        </p:nvSpPr>
        <p:spPr/>
        <p:txBody>
          <a:bodyPr vert="horz" lIns="91440" tIns="45720" rIns="91440" bIns="45720" rtlCol="0" anchor="t">
            <a:normAutofit fontScale="85000" lnSpcReduction="20000"/>
          </a:bodyPr>
          <a:lstStyle/>
          <a:p>
            <a:pPr marL="0" indent="0">
              <a:buNone/>
            </a:pPr>
            <a:r>
              <a:rPr lang="es-ES" b="1" dirty="0">
                <a:latin typeface="Courier New"/>
                <a:ea typeface="+mn-lt"/>
                <a:cs typeface="+mn-lt"/>
              </a:rPr>
              <a:t>          &lt;p&gt;Esta columna ocupa un tercio del espacio en pantallas de escritorio.&lt;/p&gt;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div</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div</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div</a:t>
            </a:r>
            <a:r>
              <a:rPr lang="es-ES" b="1" dirty="0">
                <a:latin typeface="Courier New"/>
                <a:ea typeface="+mn-lt"/>
                <a:cs typeface="+mn-lt"/>
              </a:rPr>
              <a:t> </a:t>
            </a:r>
            <a:r>
              <a:rPr lang="es-ES" b="1" dirty="0" err="1">
                <a:latin typeface="Courier New"/>
                <a:ea typeface="+mn-lt"/>
                <a:cs typeface="+mn-lt"/>
              </a:rPr>
              <a:t>class</a:t>
            </a:r>
            <a:r>
              <a:rPr lang="es-ES" b="1" dirty="0">
                <a:latin typeface="Courier New"/>
                <a:ea typeface="+mn-lt"/>
                <a:cs typeface="+mn-lt"/>
              </a:rPr>
              <a:t>="</a:t>
            </a:r>
            <a:r>
              <a:rPr lang="es-ES" b="1" dirty="0" err="1">
                <a:latin typeface="Courier New"/>
                <a:ea typeface="+mn-lt"/>
                <a:cs typeface="+mn-lt"/>
              </a:rPr>
              <a:t>column</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div</a:t>
            </a:r>
            <a:r>
              <a:rPr lang="es-ES" b="1" dirty="0">
                <a:latin typeface="Courier New"/>
                <a:ea typeface="+mn-lt"/>
                <a:cs typeface="+mn-lt"/>
              </a:rPr>
              <a:t> </a:t>
            </a:r>
            <a:r>
              <a:rPr lang="es-ES" b="1" dirty="0" err="1">
                <a:latin typeface="Courier New"/>
                <a:ea typeface="+mn-lt"/>
                <a:cs typeface="+mn-lt"/>
              </a:rPr>
              <a:t>class</a:t>
            </a:r>
            <a:r>
              <a:rPr lang="es-ES" b="1" dirty="0">
                <a:latin typeface="Courier New"/>
                <a:ea typeface="+mn-lt"/>
                <a:cs typeface="+mn-lt"/>
              </a:rPr>
              <a:t>="</a:t>
            </a:r>
            <a:r>
              <a:rPr lang="es-ES" b="1" dirty="0" err="1">
                <a:latin typeface="Courier New"/>
                <a:ea typeface="+mn-lt"/>
                <a:cs typeface="+mn-lt"/>
              </a:rPr>
              <a:t>notification</a:t>
            </a:r>
            <a:r>
              <a:rPr lang="es-ES" b="1" dirty="0">
                <a:latin typeface="Courier New"/>
                <a:ea typeface="+mn-lt"/>
                <a:cs typeface="+mn-lt"/>
              </a:rPr>
              <a:t> </a:t>
            </a:r>
            <a:r>
              <a:rPr lang="es-ES" b="1" dirty="0" err="1">
                <a:latin typeface="Courier New"/>
                <a:ea typeface="+mn-lt"/>
                <a:cs typeface="+mn-lt"/>
              </a:rPr>
              <a:t>is-info</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&lt;p </a:t>
            </a:r>
            <a:r>
              <a:rPr lang="es-ES" b="1" dirty="0" err="1">
                <a:latin typeface="Courier New"/>
                <a:ea typeface="+mn-lt"/>
                <a:cs typeface="+mn-lt"/>
              </a:rPr>
              <a:t>class</a:t>
            </a:r>
            <a:r>
              <a:rPr lang="es-ES" b="1" dirty="0">
                <a:latin typeface="Courier New"/>
                <a:ea typeface="+mn-lt"/>
                <a:cs typeface="+mn-lt"/>
              </a:rPr>
              <a:t>="</a:t>
            </a:r>
            <a:r>
              <a:rPr lang="es-ES" b="1" dirty="0" err="1">
                <a:latin typeface="Courier New"/>
                <a:ea typeface="+mn-lt"/>
                <a:cs typeface="+mn-lt"/>
              </a:rPr>
              <a:t>title</a:t>
            </a:r>
            <a:r>
              <a:rPr lang="es-ES" b="1" dirty="0">
                <a:latin typeface="Courier New"/>
                <a:ea typeface="+mn-lt"/>
                <a:cs typeface="+mn-lt"/>
              </a:rPr>
              <a:t> is-4"&gt;Columna 2&lt;/p&gt;</a:t>
            </a:r>
            <a:br>
              <a:rPr lang="es-ES" b="1" dirty="0">
                <a:latin typeface="Courier New"/>
                <a:ea typeface="+mn-lt"/>
                <a:cs typeface="+mn-lt"/>
              </a:rPr>
            </a:br>
            <a:r>
              <a:rPr lang="es-ES" b="1" dirty="0">
                <a:latin typeface="Courier New"/>
                <a:ea typeface="+mn-lt"/>
                <a:cs typeface="+mn-lt"/>
              </a:rPr>
              <a:t>          &lt;p&gt;Esta columna ocupa el espacio restante. En móvil, ambas columnas se apilan.&lt;/p&gt;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div</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div</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div</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div</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&lt;/</a:t>
            </a:r>
            <a:r>
              <a:rPr lang="es-ES" b="1" dirty="0" err="1">
                <a:latin typeface="Courier New"/>
                <a:ea typeface="+mn-lt"/>
                <a:cs typeface="+mn-lt"/>
              </a:rPr>
              <a:t>section</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&lt;/</a:t>
            </a:r>
            <a:r>
              <a:rPr lang="es-ES" b="1" dirty="0" err="1">
                <a:latin typeface="Courier New"/>
                <a:ea typeface="+mn-lt"/>
                <a:cs typeface="+mn-lt"/>
              </a:rPr>
              <a:t>body</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&lt;/</a:t>
            </a:r>
            <a:r>
              <a:rPr lang="es-ES" b="1" dirty="0" err="1">
                <a:latin typeface="Courier New"/>
                <a:ea typeface="+mn-lt"/>
                <a:cs typeface="+mn-lt"/>
              </a:rPr>
              <a:t>html</a:t>
            </a:r>
            <a:r>
              <a:rPr lang="es-ES" b="1" dirty="0">
                <a:latin typeface="Courier New"/>
                <a:ea typeface="+mn-lt"/>
                <a:cs typeface="+mn-lt"/>
              </a:rPr>
              <a:t>&gt;</a:t>
            </a:r>
            <a:endParaRPr lang="es-ES" b="1" dirty="0">
              <a:latin typeface="Courier New"/>
            </a:endParaRPr>
          </a:p>
          <a:p>
            <a:r>
              <a:rPr lang="es-ES" dirty="0">
                <a:ea typeface="+mn-lt"/>
                <a:cs typeface="+mn-lt"/>
              </a:rPr>
              <a:t>Explicación: El </a:t>
            </a:r>
            <a:r>
              <a:rPr lang="es-ES" dirty="0" err="1">
                <a:ea typeface="+mn-lt"/>
                <a:cs typeface="+mn-lt"/>
              </a:rPr>
              <a:t>div</a:t>
            </a:r>
            <a:r>
              <a:rPr lang="es-ES" dirty="0">
                <a:ea typeface="+mn-lt"/>
                <a:cs typeface="+mn-lt"/>
              </a:rPr>
              <a:t> con la clase </a:t>
            </a:r>
            <a:r>
              <a:rPr lang="es-ES" dirty="0" err="1">
                <a:ea typeface="+mn-lt"/>
                <a:cs typeface="+mn-lt"/>
              </a:rPr>
              <a:t>columns</a:t>
            </a:r>
            <a:r>
              <a:rPr lang="es-ES" dirty="0">
                <a:ea typeface="+mn-lt"/>
                <a:cs typeface="+mn-lt"/>
              </a:rPr>
              <a:t> convierte a sus hijos en columnas flexibles. </a:t>
            </a:r>
            <a:r>
              <a:rPr lang="es-ES" dirty="0" err="1">
                <a:ea typeface="+mn-lt"/>
                <a:cs typeface="+mn-lt"/>
              </a:rPr>
              <a:t>is</a:t>
            </a:r>
            <a:r>
              <a:rPr lang="es-ES" dirty="0">
                <a:ea typeface="+mn-lt"/>
                <a:cs typeface="+mn-lt"/>
              </a:rPr>
              <a:t>-</a:t>
            </a:r>
            <a:r>
              <a:rPr lang="es-ES" dirty="0" err="1">
                <a:ea typeface="+mn-lt"/>
                <a:cs typeface="+mn-lt"/>
              </a:rPr>
              <a:t>one</a:t>
            </a:r>
            <a:r>
              <a:rPr lang="es-ES" dirty="0">
                <a:ea typeface="+mn-lt"/>
                <a:cs typeface="+mn-lt"/>
              </a:rPr>
              <a:t>-</a:t>
            </a:r>
            <a:r>
              <a:rPr lang="es-ES" dirty="0" err="1">
                <a:ea typeface="+mn-lt"/>
                <a:cs typeface="+mn-lt"/>
              </a:rPr>
              <a:t>third</a:t>
            </a:r>
            <a:r>
              <a:rPr lang="es-ES" dirty="0">
                <a:ea typeface="+mn-lt"/>
                <a:cs typeface="+mn-lt"/>
              </a:rPr>
              <a:t>-desktop hace que la primera columna ocupe un tercio del espacio en pantallas grandes, mientras que </a:t>
            </a:r>
            <a:r>
              <a:rPr lang="es-ES" dirty="0" err="1">
                <a:ea typeface="+mn-lt"/>
                <a:cs typeface="+mn-lt"/>
              </a:rPr>
              <a:t>is</a:t>
            </a:r>
            <a:r>
              <a:rPr lang="es-ES" dirty="0">
                <a:ea typeface="+mn-lt"/>
                <a:cs typeface="+mn-lt"/>
              </a:rPr>
              <a:t>-full-</a:t>
            </a:r>
            <a:r>
              <a:rPr lang="es-ES" dirty="0" err="1">
                <a:ea typeface="+mn-lt"/>
                <a:cs typeface="+mn-lt"/>
              </a:rPr>
              <a:t>mobile</a:t>
            </a:r>
            <a:r>
              <a:rPr lang="es-ES" dirty="0">
                <a:ea typeface="+mn-lt"/>
                <a:cs typeface="+mn-lt"/>
              </a:rPr>
              <a:t> le dice que ocupe todo el ancho en móviles.</a:t>
            </a:r>
            <a:endParaRPr lang="es-ES" dirty="0"/>
          </a:p>
        </p:txBody>
      </p:sp>
    </p:spTree>
    <p:extLst>
      <p:ext uri="{BB962C8B-B14F-4D97-AF65-F5344CB8AC3E}">
        <p14:creationId xmlns:p14="http://schemas.microsoft.com/office/powerpoint/2010/main" val="2335706935"/>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9DCBA4-5FD9-1E40-17B9-460F3CA7364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DAEA3E2-7B78-B383-8234-738B6B9D19EF}"/>
              </a:ext>
            </a:extLst>
          </p:cNvPr>
          <p:cNvSpPr>
            <a:spLocks noGrp="1"/>
          </p:cNvSpPr>
          <p:nvPr>
            <p:ph type="title"/>
          </p:nvPr>
        </p:nvSpPr>
        <p:spPr/>
        <p:txBody>
          <a:bodyPr/>
          <a:lstStyle/>
          <a:p>
            <a:r>
              <a:rPr lang="es-ES" b="0" dirty="0">
                <a:ea typeface="+mj-lt"/>
                <a:cs typeface="+mj-lt"/>
              </a:rPr>
              <a:t>2.3.4.4. Introducción a </a:t>
            </a:r>
            <a:r>
              <a:rPr lang="es-ES" b="0" dirty="0" err="1">
                <a:ea typeface="+mj-lt"/>
                <a:cs typeface="+mj-lt"/>
              </a:rPr>
              <a:t>Foundation</a:t>
            </a:r>
            <a:r>
              <a:rPr lang="es-ES" b="0" dirty="0">
                <a:ea typeface="+mj-lt"/>
                <a:cs typeface="+mj-lt"/>
              </a:rPr>
              <a:t>.</a:t>
            </a:r>
            <a:endParaRPr lang="es-ES" dirty="0">
              <a:ea typeface="+mj-lt"/>
              <a:cs typeface="+mj-lt"/>
            </a:endParaRPr>
          </a:p>
        </p:txBody>
      </p:sp>
      <p:sp>
        <p:nvSpPr>
          <p:cNvPr id="3" name="Marcador de contenido 2">
            <a:extLst>
              <a:ext uri="{FF2B5EF4-FFF2-40B4-BE49-F238E27FC236}">
                <a16:creationId xmlns:a16="http://schemas.microsoft.com/office/drawing/2014/main" id="{576D3C19-5689-737E-F4A5-CD451697A5AB}"/>
              </a:ext>
            </a:extLst>
          </p:cNvPr>
          <p:cNvSpPr>
            <a:spLocks noGrp="1"/>
          </p:cNvSpPr>
          <p:nvPr>
            <p:ph idx="1"/>
          </p:nvPr>
        </p:nvSpPr>
        <p:spPr/>
        <p:txBody>
          <a:bodyPr vert="horz" lIns="91440" tIns="45720" rIns="91440" bIns="45720" rtlCol="0" anchor="t">
            <a:normAutofit fontScale="85000" lnSpcReduction="20000"/>
          </a:bodyPr>
          <a:lstStyle/>
          <a:p>
            <a:r>
              <a:rPr lang="es-ES" dirty="0" err="1">
                <a:ea typeface="+mn-lt"/>
                <a:cs typeface="+mn-lt"/>
              </a:rPr>
              <a:t>Foundation</a:t>
            </a:r>
            <a:r>
              <a:rPr lang="es-ES" dirty="0">
                <a:ea typeface="+mn-lt"/>
                <a:cs typeface="+mn-lt"/>
              </a:rPr>
              <a:t> es un </a:t>
            </a:r>
            <a:r>
              <a:rPr lang="es-ES" dirty="0" err="1">
                <a:ea typeface="+mn-lt"/>
                <a:cs typeface="+mn-lt"/>
              </a:rPr>
              <a:t>framework</a:t>
            </a:r>
            <a:r>
              <a:rPr lang="es-ES" dirty="0">
                <a:ea typeface="+mn-lt"/>
                <a:cs typeface="+mn-lt"/>
              </a:rPr>
              <a:t> </a:t>
            </a:r>
            <a:r>
              <a:rPr lang="es-ES" dirty="0" err="1">
                <a:ea typeface="+mn-lt"/>
                <a:cs typeface="+mn-lt"/>
              </a:rPr>
              <a:t>front-end</a:t>
            </a:r>
            <a:r>
              <a:rPr lang="es-ES" dirty="0">
                <a:ea typeface="+mn-lt"/>
                <a:cs typeface="+mn-lt"/>
              </a:rPr>
              <a:t> de código abierto, flexible y avanzado para construir sitios web y aplicaciones responsivas. Creado por ZURB, </a:t>
            </a:r>
            <a:r>
              <a:rPr lang="es-ES" dirty="0" err="1">
                <a:ea typeface="+mn-lt"/>
                <a:cs typeface="+mn-lt"/>
              </a:rPr>
              <a:t>Foundation</a:t>
            </a:r>
            <a:r>
              <a:rPr lang="es-ES" dirty="0">
                <a:ea typeface="+mn-lt"/>
                <a:cs typeface="+mn-lt"/>
              </a:rPr>
              <a:t> se enorgullece de ser un </a:t>
            </a:r>
            <a:r>
              <a:rPr lang="es-ES" dirty="0" err="1">
                <a:ea typeface="+mn-lt"/>
                <a:cs typeface="+mn-lt"/>
              </a:rPr>
              <a:t>framework</a:t>
            </a:r>
            <a:r>
              <a:rPr lang="es-ES" dirty="0">
                <a:ea typeface="+mn-lt"/>
                <a:cs typeface="+mn-lt"/>
              </a:rPr>
              <a:t> completo y potente, diseñado para desarrolladores y diseñadores que buscan un control total sobre su proyecto. A menudo se le considera una alternativa robusta a Bootstrap, ofreciendo una experiencia de desarrollo más personalizable y menos "encajonada".</a:t>
            </a:r>
            <a:endParaRPr lang="es-ES" dirty="0"/>
          </a:p>
          <a:p>
            <a:pPr lvl="1">
              <a:buFont typeface="Courier New" panose="020B0604020202020204" pitchFamily="34" charset="0"/>
              <a:buChar char="o"/>
            </a:pPr>
            <a:r>
              <a:rPr lang="es-ES" dirty="0">
                <a:ea typeface="+mn-lt"/>
                <a:cs typeface="+mn-lt"/>
              </a:rPr>
              <a:t>Diseño </a:t>
            </a:r>
            <a:r>
              <a:rPr lang="es-ES" dirty="0" err="1">
                <a:ea typeface="+mn-lt"/>
                <a:cs typeface="+mn-lt"/>
              </a:rPr>
              <a:t>mobile-first</a:t>
            </a:r>
            <a:r>
              <a:rPr lang="es-ES" dirty="0">
                <a:ea typeface="+mn-lt"/>
                <a:cs typeface="+mn-lt"/>
              </a:rPr>
              <a:t>: </a:t>
            </a:r>
            <a:r>
              <a:rPr lang="es-ES" dirty="0" err="1">
                <a:ea typeface="+mn-lt"/>
                <a:cs typeface="+mn-lt"/>
              </a:rPr>
              <a:t>Foundation</a:t>
            </a:r>
            <a:r>
              <a:rPr lang="es-ES" dirty="0">
                <a:ea typeface="+mn-lt"/>
                <a:cs typeface="+mn-lt"/>
              </a:rPr>
              <a:t> está diseñado desde cero con un enfoque </a:t>
            </a:r>
            <a:r>
              <a:rPr lang="es-ES" dirty="0" err="1">
                <a:ea typeface="+mn-lt"/>
                <a:cs typeface="+mn-lt"/>
              </a:rPr>
              <a:t>mobile-first</a:t>
            </a:r>
            <a:r>
              <a:rPr lang="es-ES" dirty="0">
                <a:ea typeface="+mn-lt"/>
                <a:cs typeface="+mn-lt"/>
              </a:rPr>
              <a:t>. Su sistema de cuadrícula se basa en una estructura de 12 columnas que es fluida y adaptable, asegurando que tu </a:t>
            </a:r>
            <a:r>
              <a:rPr lang="es-ES" dirty="0" err="1">
                <a:ea typeface="+mn-lt"/>
                <a:cs typeface="+mn-lt"/>
              </a:rPr>
              <a:t>layout</a:t>
            </a:r>
            <a:r>
              <a:rPr lang="es-ES" dirty="0">
                <a:ea typeface="+mn-lt"/>
                <a:cs typeface="+mn-lt"/>
              </a:rPr>
              <a:t> funcione perfectamente en pantallas pequeñas antes de expandirse a dispositivos más grandes.</a:t>
            </a:r>
          </a:p>
          <a:p>
            <a:pPr lvl="1">
              <a:buFont typeface="Courier New" panose="020B0604020202020204" pitchFamily="34" charset="0"/>
              <a:buChar char="o"/>
            </a:pPr>
            <a:r>
              <a:rPr lang="es-ES" dirty="0">
                <a:ea typeface="+mn-lt"/>
                <a:cs typeface="+mn-lt"/>
              </a:rPr>
              <a:t>Modular y personalizable: A diferencia de otros </a:t>
            </a:r>
            <a:r>
              <a:rPr lang="es-ES" dirty="0" err="1">
                <a:ea typeface="+mn-lt"/>
                <a:cs typeface="+mn-lt"/>
              </a:rPr>
              <a:t>frameworks</a:t>
            </a:r>
            <a:r>
              <a:rPr lang="es-ES" dirty="0">
                <a:ea typeface="+mn-lt"/>
                <a:cs typeface="+mn-lt"/>
              </a:rPr>
              <a:t> que imponen un diseño predeterminado, </a:t>
            </a:r>
            <a:r>
              <a:rPr lang="es-ES" dirty="0" err="1">
                <a:ea typeface="+mn-lt"/>
                <a:cs typeface="+mn-lt"/>
              </a:rPr>
              <a:t>Foundation</a:t>
            </a:r>
            <a:r>
              <a:rPr lang="es-ES" dirty="0">
                <a:ea typeface="+mn-lt"/>
                <a:cs typeface="+mn-lt"/>
              </a:rPr>
              <a:t> es altamente modular. Esto significa que puedes elegir qué componentes y estilos deseas incluir en tu proyecto, lo que reduce el tamaño del archivo final de CSS y JS. Puedes personalizar la cuadrícula, los colores, la tipografía y casi cualquier otro aspecto del </a:t>
            </a:r>
            <a:r>
              <a:rPr lang="es-ES" dirty="0" err="1">
                <a:ea typeface="+mn-lt"/>
                <a:cs typeface="+mn-lt"/>
              </a:rPr>
              <a:t>framework</a:t>
            </a:r>
            <a:r>
              <a:rPr lang="es-ES" dirty="0">
                <a:ea typeface="+mn-lt"/>
                <a:cs typeface="+mn-lt"/>
              </a:rPr>
              <a:t>.</a:t>
            </a:r>
          </a:p>
          <a:p>
            <a:pPr lvl="1">
              <a:buFont typeface="Courier New" panose="020B0604020202020204" pitchFamily="34" charset="0"/>
              <a:buChar char="o"/>
            </a:pPr>
            <a:r>
              <a:rPr lang="es-ES" dirty="0">
                <a:ea typeface="+mn-lt"/>
                <a:cs typeface="+mn-lt"/>
              </a:rPr>
              <a:t>Componentes avanzados: </a:t>
            </a:r>
            <a:r>
              <a:rPr lang="es-ES" dirty="0" err="1">
                <a:ea typeface="+mn-lt"/>
                <a:cs typeface="+mn-lt"/>
              </a:rPr>
              <a:t>Foundation</a:t>
            </a:r>
            <a:r>
              <a:rPr lang="es-ES" dirty="0">
                <a:ea typeface="+mn-lt"/>
                <a:cs typeface="+mn-lt"/>
              </a:rPr>
              <a:t> ofrece una amplia gama de componentes UI, como menús, pestañas, modales, y </a:t>
            </a:r>
            <a:r>
              <a:rPr lang="es-ES" dirty="0" err="1">
                <a:ea typeface="+mn-lt"/>
                <a:cs typeface="+mn-lt"/>
              </a:rPr>
              <a:t>tooltips</a:t>
            </a:r>
            <a:r>
              <a:rPr lang="es-ES" dirty="0">
                <a:ea typeface="+mn-lt"/>
                <a:cs typeface="+mn-lt"/>
              </a:rPr>
              <a:t>. Además, incluye componentes más avanzados y únicos, como Off-</a:t>
            </a:r>
            <a:r>
              <a:rPr lang="es-ES" dirty="0" err="1">
                <a:ea typeface="+mn-lt"/>
                <a:cs typeface="+mn-lt"/>
              </a:rPr>
              <a:t>canvas</a:t>
            </a:r>
            <a:r>
              <a:rPr lang="es-ES" dirty="0">
                <a:ea typeface="+mn-lt"/>
                <a:cs typeface="+mn-lt"/>
              </a:rPr>
              <a:t> </a:t>
            </a:r>
            <a:r>
              <a:rPr lang="es-ES" dirty="0" err="1">
                <a:ea typeface="+mn-lt"/>
                <a:cs typeface="+mn-lt"/>
              </a:rPr>
              <a:t>menus</a:t>
            </a:r>
            <a:r>
              <a:rPr lang="es-ES" dirty="0">
                <a:ea typeface="+mn-lt"/>
                <a:cs typeface="+mn-lt"/>
              </a:rPr>
              <a:t> (menús laterales que se deslizan fuera de la pantalla) y </a:t>
            </a:r>
            <a:r>
              <a:rPr lang="es-ES" dirty="0" err="1">
                <a:ea typeface="+mn-lt"/>
                <a:cs typeface="+mn-lt"/>
              </a:rPr>
              <a:t>Orbit</a:t>
            </a:r>
            <a:r>
              <a:rPr lang="es-ES" dirty="0">
                <a:ea typeface="+mn-lt"/>
                <a:cs typeface="+mn-lt"/>
              </a:rPr>
              <a:t> (un carrusel avanzado de contenido), que lo hacen ideal para aplicaciones web complejas.</a:t>
            </a:r>
            <a:endParaRPr lang="es-ES" dirty="0"/>
          </a:p>
          <a:p>
            <a:pPr lvl="1">
              <a:buFont typeface="Courier New" panose="020B0604020202020204" pitchFamily="34" charset="0"/>
              <a:buChar char="o"/>
            </a:pPr>
            <a:r>
              <a:rPr lang="es-ES" dirty="0">
                <a:ea typeface="+mn-lt"/>
                <a:cs typeface="+mn-lt"/>
              </a:rPr>
              <a:t>Enfoque en la accesibilidad: El equipo de </a:t>
            </a:r>
            <a:r>
              <a:rPr lang="es-ES" dirty="0" err="1">
                <a:ea typeface="+mn-lt"/>
                <a:cs typeface="+mn-lt"/>
              </a:rPr>
              <a:t>Foundation</a:t>
            </a:r>
            <a:r>
              <a:rPr lang="es-ES" dirty="0">
                <a:ea typeface="+mn-lt"/>
                <a:cs typeface="+mn-lt"/>
              </a:rPr>
              <a:t> pone un gran énfasis en la accesibilidad (A11Y). Sus componentes están construidos para ser accesibles por defecto, lo que es una ventaja significativa para proyectos que requieren cumplir con estándares de accesibilidad web.</a:t>
            </a:r>
            <a:endParaRPr lang="es-ES" dirty="0"/>
          </a:p>
          <a:p>
            <a:endParaRPr lang="es-ES" dirty="0"/>
          </a:p>
        </p:txBody>
      </p:sp>
    </p:spTree>
    <p:extLst>
      <p:ext uri="{BB962C8B-B14F-4D97-AF65-F5344CB8AC3E}">
        <p14:creationId xmlns:p14="http://schemas.microsoft.com/office/powerpoint/2010/main" val="1388636075"/>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82BC28-9174-0D2B-E892-A06841F9490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01B770A-F656-2A33-4724-780A81DCEFA7}"/>
              </a:ext>
            </a:extLst>
          </p:cNvPr>
          <p:cNvSpPr>
            <a:spLocks noGrp="1"/>
          </p:cNvSpPr>
          <p:nvPr>
            <p:ph type="title"/>
          </p:nvPr>
        </p:nvSpPr>
        <p:spPr/>
        <p:txBody>
          <a:bodyPr/>
          <a:lstStyle/>
          <a:p>
            <a:r>
              <a:rPr lang="es-ES" b="0" dirty="0">
                <a:ea typeface="+mj-lt"/>
                <a:cs typeface="+mj-lt"/>
              </a:rPr>
              <a:t>2.3.4.4. Introducción a </a:t>
            </a:r>
            <a:r>
              <a:rPr lang="es-ES" b="0" dirty="0" err="1">
                <a:ea typeface="+mj-lt"/>
                <a:cs typeface="+mj-lt"/>
              </a:rPr>
              <a:t>Foundation</a:t>
            </a:r>
            <a:r>
              <a:rPr lang="es-ES" b="0" dirty="0">
                <a:ea typeface="+mj-lt"/>
                <a:cs typeface="+mj-lt"/>
              </a:rPr>
              <a:t>.</a:t>
            </a:r>
            <a:endParaRPr lang="es-ES" dirty="0">
              <a:ea typeface="+mj-lt"/>
              <a:cs typeface="+mj-lt"/>
            </a:endParaRPr>
          </a:p>
        </p:txBody>
      </p:sp>
      <p:sp>
        <p:nvSpPr>
          <p:cNvPr id="3" name="Marcador de contenido 2">
            <a:extLst>
              <a:ext uri="{FF2B5EF4-FFF2-40B4-BE49-F238E27FC236}">
                <a16:creationId xmlns:a16="http://schemas.microsoft.com/office/drawing/2014/main" id="{3F4E2DFB-0DD3-AE6C-2D8C-95C439898FA5}"/>
              </a:ext>
            </a:extLst>
          </p:cNvPr>
          <p:cNvSpPr>
            <a:spLocks noGrp="1"/>
          </p:cNvSpPr>
          <p:nvPr>
            <p:ph idx="1"/>
          </p:nvPr>
        </p:nvSpPr>
        <p:spPr/>
        <p:txBody>
          <a:bodyPr vert="horz" lIns="91440" tIns="45720" rIns="91440" bIns="45720" rtlCol="0" anchor="t">
            <a:normAutofit fontScale="62500" lnSpcReduction="20000"/>
          </a:bodyPr>
          <a:lstStyle/>
          <a:p>
            <a:r>
              <a:rPr lang="es-ES" dirty="0">
                <a:ea typeface="+mn-lt"/>
                <a:cs typeface="+mn-lt"/>
              </a:rPr>
              <a:t>Ejemplo: </a:t>
            </a:r>
            <a:r>
              <a:rPr lang="es-ES" dirty="0" err="1">
                <a:ea typeface="+mn-lt"/>
                <a:cs typeface="+mn-lt"/>
              </a:rPr>
              <a:t>Layout</a:t>
            </a:r>
            <a:r>
              <a:rPr lang="es-ES" dirty="0">
                <a:ea typeface="+mn-lt"/>
                <a:cs typeface="+mn-lt"/>
              </a:rPr>
              <a:t> básico de dos columnas. Este ejemplo muestra cómo crear un </a:t>
            </a:r>
            <a:r>
              <a:rPr lang="es-ES" dirty="0" err="1">
                <a:ea typeface="+mn-lt"/>
                <a:cs typeface="+mn-lt"/>
              </a:rPr>
              <a:t>layout</a:t>
            </a:r>
            <a:r>
              <a:rPr lang="es-ES" dirty="0">
                <a:ea typeface="+mn-lt"/>
                <a:cs typeface="+mn-lt"/>
              </a:rPr>
              <a:t> responsivo de dos columnas con </a:t>
            </a:r>
            <a:r>
              <a:rPr lang="es-ES" dirty="0" err="1">
                <a:ea typeface="+mn-lt"/>
                <a:cs typeface="+mn-lt"/>
              </a:rPr>
              <a:t>Foundation</a:t>
            </a:r>
            <a:r>
              <a:rPr lang="es-ES" dirty="0">
                <a:ea typeface="+mn-lt"/>
                <a:cs typeface="+mn-lt"/>
              </a:rPr>
              <a:t>, donde las columnas se apilan en pantallas pequeñas.</a:t>
            </a:r>
          </a:p>
          <a:p>
            <a:pPr marL="0" indent="0">
              <a:buNone/>
            </a:pPr>
            <a:r>
              <a:rPr lang="es-ES" b="1" dirty="0">
                <a:latin typeface="Courier New"/>
                <a:ea typeface="+mn-lt"/>
                <a:cs typeface="+mn-lt"/>
              </a:rPr>
              <a:t>&lt;!DOCTYPE </a:t>
            </a:r>
            <a:r>
              <a:rPr lang="es-ES" b="1" dirty="0" err="1">
                <a:latin typeface="Courier New"/>
                <a:ea typeface="+mn-lt"/>
                <a:cs typeface="+mn-lt"/>
              </a:rPr>
              <a:t>html</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&lt;</a:t>
            </a:r>
            <a:r>
              <a:rPr lang="es-ES" b="1" dirty="0" err="1">
                <a:latin typeface="Courier New"/>
                <a:ea typeface="+mn-lt"/>
                <a:cs typeface="+mn-lt"/>
              </a:rPr>
              <a:t>html</a:t>
            </a:r>
            <a:r>
              <a:rPr lang="es-ES" b="1" dirty="0">
                <a:latin typeface="Courier New"/>
                <a:ea typeface="+mn-lt"/>
                <a:cs typeface="+mn-lt"/>
              </a:rPr>
              <a:t> </a:t>
            </a:r>
            <a:r>
              <a:rPr lang="es-ES" b="1" dirty="0" err="1">
                <a:latin typeface="Courier New"/>
                <a:ea typeface="+mn-lt"/>
                <a:cs typeface="+mn-lt"/>
              </a:rPr>
              <a:t>lang</a:t>
            </a:r>
            <a:r>
              <a:rPr lang="es-ES" b="1" dirty="0">
                <a:latin typeface="Courier New"/>
                <a:ea typeface="+mn-lt"/>
                <a:cs typeface="+mn-lt"/>
              </a:rPr>
              <a:t>="es"&gt;</a:t>
            </a:r>
            <a:br>
              <a:rPr lang="es-ES" b="1" dirty="0">
                <a:latin typeface="Courier New"/>
                <a:ea typeface="+mn-lt"/>
                <a:cs typeface="+mn-lt"/>
              </a:rPr>
            </a:br>
            <a:r>
              <a:rPr lang="es-ES" b="1" dirty="0">
                <a:latin typeface="Courier New"/>
                <a:ea typeface="+mn-lt"/>
                <a:cs typeface="+mn-lt"/>
              </a:rPr>
              <a:t>&lt;head&gt;</a:t>
            </a:r>
            <a:br>
              <a:rPr lang="es-ES" b="1" dirty="0">
                <a:latin typeface="Courier New"/>
                <a:ea typeface="+mn-lt"/>
                <a:cs typeface="+mn-lt"/>
              </a:rPr>
            </a:br>
            <a:r>
              <a:rPr lang="es-ES" b="1" dirty="0">
                <a:latin typeface="Courier New"/>
                <a:ea typeface="+mn-lt"/>
                <a:cs typeface="+mn-lt"/>
              </a:rPr>
              <a:t>  &lt;meta </a:t>
            </a:r>
            <a:r>
              <a:rPr lang="es-ES" b="1" dirty="0" err="1">
                <a:latin typeface="Courier New"/>
                <a:ea typeface="+mn-lt"/>
                <a:cs typeface="+mn-lt"/>
              </a:rPr>
              <a:t>charset</a:t>
            </a:r>
            <a:r>
              <a:rPr lang="es-ES" b="1" dirty="0">
                <a:latin typeface="Courier New"/>
                <a:ea typeface="+mn-lt"/>
                <a:cs typeface="+mn-lt"/>
              </a:rPr>
              <a:t>="UTF-8"&gt;</a:t>
            </a:r>
            <a:br>
              <a:rPr lang="es-ES" b="1" dirty="0">
                <a:latin typeface="Courier New"/>
                <a:ea typeface="+mn-lt"/>
                <a:cs typeface="+mn-lt"/>
              </a:rPr>
            </a:br>
            <a:r>
              <a:rPr lang="es-ES" b="1" dirty="0">
                <a:latin typeface="Courier New"/>
                <a:ea typeface="+mn-lt"/>
                <a:cs typeface="+mn-lt"/>
              </a:rPr>
              <a:t>  &lt;meta </a:t>
            </a:r>
            <a:r>
              <a:rPr lang="es-ES" b="1" dirty="0" err="1">
                <a:latin typeface="Courier New"/>
                <a:ea typeface="+mn-lt"/>
                <a:cs typeface="+mn-lt"/>
              </a:rPr>
              <a:t>name</a:t>
            </a:r>
            <a:r>
              <a:rPr lang="es-ES" b="1" dirty="0">
                <a:latin typeface="Courier New"/>
                <a:ea typeface="+mn-lt"/>
                <a:cs typeface="+mn-lt"/>
              </a:rPr>
              <a:t>="</a:t>
            </a:r>
            <a:r>
              <a:rPr lang="es-ES" b="1" dirty="0" err="1">
                <a:latin typeface="Courier New"/>
                <a:ea typeface="+mn-lt"/>
                <a:cs typeface="+mn-lt"/>
              </a:rPr>
              <a:t>viewport</a:t>
            </a:r>
            <a:r>
              <a:rPr lang="es-ES" b="1" dirty="0">
                <a:latin typeface="Courier New"/>
                <a:ea typeface="+mn-lt"/>
                <a:cs typeface="+mn-lt"/>
              </a:rPr>
              <a:t>" </a:t>
            </a:r>
            <a:r>
              <a:rPr lang="es-ES" b="1" dirty="0" err="1">
                <a:latin typeface="Courier New"/>
                <a:ea typeface="+mn-lt"/>
                <a:cs typeface="+mn-lt"/>
              </a:rPr>
              <a:t>content</a:t>
            </a:r>
            <a:r>
              <a:rPr lang="es-ES" b="1" dirty="0">
                <a:latin typeface="Courier New"/>
                <a:ea typeface="+mn-lt"/>
                <a:cs typeface="+mn-lt"/>
              </a:rPr>
              <a:t>="</a:t>
            </a:r>
            <a:r>
              <a:rPr lang="es-ES" b="1" dirty="0" err="1">
                <a:latin typeface="Courier New"/>
                <a:ea typeface="+mn-lt"/>
                <a:cs typeface="+mn-lt"/>
              </a:rPr>
              <a:t>width</a:t>
            </a:r>
            <a:r>
              <a:rPr lang="es-ES" b="1" dirty="0">
                <a:latin typeface="Courier New"/>
                <a:ea typeface="+mn-lt"/>
                <a:cs typeface="+mn-lt"/>
              </a:rPr>
              <a:t>=</a:t>
            </a:r>
            <a:r>
              <a:rPr lang="es-ES" b="1" dirty="0" err="1">
                <a:latin typeface="Courier New"/>
                <a:ea typeface="+mn-lt"/>
                <a:cs typeface="+mn-lt"/>
              </a:rPr>
              <a:t>device-width</a:t>
            </a:r>
            <a:r>
              <a:rPr lang="es-ES" b="1" dirty="0">
                <a:latin typeface="Courier New"/>
                <a:ea typeface="+mn-lt"/>
                <a:cs typeface="+mn-lt"/>
              </a:rPr>
              <a:t>, </a:t>
            </a:r>
            <a:r>
              <a:rPr lang="es-ES" b="1" dirty="0" err="1">
                <a:latin typeface="Courier New"/>
                <a:ea typeface="+mn-lt"/>
                <a:cs typeface="+mn-lt"/>
              </a:rPr>
              <a:t>initial-scale</a:t>
            </a:r>
            <a:r>
              <a:rPr lang="es-ES" b="1" dirty="0">
                <a:latin typeface="Courier New"/>
                <a:ea typeface="+mn-lt"/>
                <a:cs typeface="+mn-lt"/>
              </a:rPr>
              <a:t>=1.0"&gt;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title</a:t>
            </a:r>
            <a:r>
              <a:rPr lang="es-ES" b="1" dirty="0">
                <a:latin typeface="Courier New"/>
                <a:ea typeface="+mn-lt"/>
                <a:cs typeface="+mn-lt"/>
              </a:rPr>
              <a:t>&gt;Mi Sitio con </a:t>
            </a:r>
            <a:r>
              <a:rPr lang="es-ES" b="1" dirty="0" err="1">
                <a:latin typeface="Courier New"/>
                <a:ea typeface="+mn-lt"/>
                <a:cs typeface="+mn-lt"/>
              </a:rPr>
              <a:t>Foundation</a:t>
            </a:r>
            <a:r>
              <a:rPr lang="es-ES" b="1" dirty="0">
                <a:latin typeface="Courier New"/>
                <a:ea typeface="+mn-lt"/>
                <a:cs typeface="+mn-lt"/>
              </a:rPr>
              <a:t>&lt;/</a:t>
            </a:r>
            <a:r>
              <a:rPr lang="es-ES" b="1" dirty="0" err="1">
                <a:latin typeface="Courier New"/>
                <a:ea typeface="+mn-lt"/>
                <a:cs typeface="+mn-lt"/>
              </a:rPr>
              <a:t>title</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&lt;link </a:t>
            </a:r>
            <a:r>
              <a:rPr lang="es-ES" b="1" dirty="0" err="1">
                <a:latin typeface="Courier New"/>
                <a:ea typeface="+mn-lt"/>
                <a:cs typeface="+mn-lt"/>
              </a:rPr>
              <a:t>rel</a:t>
            </a:r>
            <a:r>
              <a:rPr lang="es-ES" b="1" dirty="0">
                <a:latin typeface="Courier New"/>
                <a:ea typeface="+mn-lt"/>
                <a:cs typeface="+mn-lt"/>
              </a:rPr>
              <a:t>="</a:t>
            </a:r>
            <a:r>
              <a:rPr lang="es-ES" b="1" dirty="0" err="1">
                <a:latin typeface="Courier New"/>
                <a:ea typeface="+mn-lt"/>
                <a:cs typeface="+mn-lt"/>
              </a:rPr>
              <a:t>stylesheet</a:t>
            </a:r>
            <a:r>
              <a:rPr lang="es-ES" b="1" dirty="0">
                <a:latin typeface="Courier New"/>
                <a:ea typeface="+mn-lt"/>
                <a:cs typeface="+mn-lt"/>
              </a:rPr>
              <a:t>" </a:t>
            </a:r>
            <a:r>
              <a:rPr lang="es-ES" b="1" dirty="0">
                <a:latin typeface="Courier New"/>
                <a:ea typeface="+mn-lt"/>
                <a:cs typeface="+mn-lt"/>
                <a:hlinkClick r:id="rId2"/>
              </a:rPr>
              <a:t>href="https://cdn.jsdelivr.net/npm/foundation-sites@6.8.1/dist/css/foundation.min.css</a:t>
            </a:r>
            <a:r>
              <a:rPr lang="es-ES" b="1" dirty="0">
                <a:latin typeface="Courier New"/>
                <a:ea typeface="+mn-lt"/>
                <a:cs typeface="+mn-lt"/>
              </a:rPr>
              <a:t>" </a:t>
            </a:r>
            <a:r>
              <a:rPr lang="es-ES" b="1" dirty="0" err="1">
                <a:latin typeface="Courier New"/>
                <a:ea typeface="+mn-lt"/>
                <a:cs typeface="+mn-lt"/>
              </a:rPr>
              <a:t>crossorigin</a:t>
            </a:r>
            <a:r>
              <a:rPr lang="es-ES" b="1" dirty="0">
                <a:latin typeface="Courier New"/>
                <a:ea typeface="+mn-lt"/>
                <a:cs typeface="+mn-lt"/>
              </a:rPr>
              <a:t>="</a:t>
            </a:r>
            <a:r>
              <a:rPr lang="es-ES" b="1" dirty="0" err="1">
                <a:latin typeface="Courier New"/>
                <a:ea typeface="+mn-lt"/>
                <a:cs typeface="+mn-lt"/>
              </a:rPr>
              <a:t>anonymous</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&lt;/head&gt;</a:t>
            </a:r>
            <a:br>
              <a:rPr lang="es-ES" b="1" dirty="0">
                <a:latin typeface="Courier New"/>
                <a:ea typeface="+mn-lt"/>
                <a:cs typeface="+mn-lt"/>
              </a:rPr>
            </a:br>
            <a:r>
              <a:rPr lang="es-ES" b="1" dirty="0">
                <a:latin typeface="Courier New"/>
                <a:ea typeface="+mn-lt"/>
                <a:cs typeface="+mn-lt"/>
              </a:rPr>
              <a:t>&lt;</a:t>
            </a:r>
            <a:r>
              <a:rPr lang="es-ES" b="1" dirty="0" err="1">
                <a:latin typeface="Courier New"/>
                <a:ea typeface="+mn-lt"/>
                <a:cs typeface="+mn-lt"/>
              </a:rPr>
              <a:t>body</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&lt;</a:t>
            </a:r>
            <a:r>
              <a:rPr lang="es-ES" b="1" dirty="0" err="1">
                <a:latin typeface="Courier New"/>
                <a:ea typeface="+mn-lt"/>
                <a:cs typeface="+mn-lt"/>
              </a:rPr>
              <a:t>div</a:t>
            </a:r>
            <a:r>
              <a:rPr lang="es-ES" b="1" dirty="0">
                <a:latin typeface="Courier New"/>
                <a:ea typeface="+mn-lt"/>
                <a:cs typeface="+mn-lt"/>
              </a:rPr>
              <a:t> </a:t>
            </a:r>
            <a:r>
              <a:rPr lang="es-ES" b="1" dirty="0" err="1">
                <a:latin typeface="Courier New"/>
                <a:ea typeface="+mn-lt"/>
                <a:cs typeface="+mn-lt"/>
              </a:rPr>
              <a:t>class</a:t>
            </a:r>
            <a:r>
              <a:rPr lang="es-ES" b="1" dirty="0">
                <a:latin typeface="Courier New"/>
                <a:ea typeface="+mn-lt"/>
                <a:cs typeface="+mn-lt"/>
              </a:rPr>
              <a:t>="</a:t>
            </a:r>
            <a:r>
              <a:rPr lang="es-ES" b="1" dirty="0" err="1">
                <a:latin typeface="Courier New"/>
                <a:ea typeface="+mn-lt"/>
                <a:cs typeface="+mn-lt"/>
              </a:rPr>
              <a:t>grid</a:t>
            </a:r>
            <a:r>
              <a:rPr lang="es-ES" b="1" dirty="0">
                <a:latin typeface="Courier New"/>
                <a:ea typeface="+mn-lt"/>
                <a:cs typeface="+mn-lt"/>
              </a:rPr>
              <a:t>-container"&gt;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div</a:t>
            </a:r>
            <a:r>
              <a:rPr lang="es-ES" b="1" dirty="0">
                <a:latin typeface="Courier New"/>
                <a:ea typeface="+mn-lt"/>
                <a:cs typeface="+mn-lt"/>
              </a:rPr>
              <a:t> </a:t>
            </a:r>
            <a:r>
              <a:rPr lang="es-ES" b="1" dirty="0" err="1">
                <a:latin typeface="Courier New"/>
                <a:ea typeface="+mn-lt"/>
                <a:cs typeface="+mn-lt"/>
              </a:rPr>
              <a:t>class</a:t>
            </a:r>
            <a:r>
              <a:rPr lang="es-ES" b="1" dirty="0">
                <a:latin typeface="Courier New"/>
                <a:ea typeface="+mn-lt"/>
                <a:cs typeface="+mn-lt"/>
              </a:rPr>
              <a:t>="</a:t>
            </a:r>
            <a:r>
              <a:rPr lang="es-ES" b="1" dirty="0" err="1">
                <a:latin typeface="Courier New"/>
                <a:ea typeface="+mn-lt"/>
                <a:cs typeface="+mn-lt"/>
              </a:rPr>
              <a:t>grid</a:t>
            </a:r>
            <a:r>
              <a:rPr lang="es-ES" b="1" dirty="0">
                <a:latin typeface="Courier New"/>
                <a:ea typeface="+mn-lt"/>
                <a:cs typeface="+mn-lt"/>
              </a:rPr>
              <a:t>-x </a:t>
            </a:r>
            <a:r>
              <a:rPr lang="es-ES" b="1" dirty="0" err="1">
                <a:latin typeface="Courier New"/>
                <a:ea typeface="+mn-lt"/>
                <a:cs typeface="+mn-lt"/>
              </a:rPr>
              <a:t>grid</a:t>
            </a:r>
            <a:r>
              <a:rPr lang="es-ES" b="1" dirty="0">
                <a:latin typeface="Courier New"/>
                <a:ea typeface="+mn-lt"/>
                <a:cs typeface="+mn-lt"/>
              </a:rPr>
              <a:t>-</a:t>
            </a:r>
            <a:r>
              <a:rPr lang="es-ES" b="1" dirty="0" err="1">
                <a:latin typeface="Courier New"/>
                <a:ea typeface="+mn-lt"/>
                <a:cs typeface="+mn-lt"/>
              </a:rPr>
              <a:t>padding</a:t>
            </a:r>
            <a:r>
              <a:rPr lang="es-ES" b="1" dirty="0">
                <a:latin typeface="Courier New"/>
                <a:ea typeface="+mn-lt"/>
                <a:cs typeface="+mn-lt"/>
              </a:rPr>
              <a:t>-x"&gt;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div</a:t>
            </a:r>
            <a:r>
              <a:rPr lang="es-ES" b="1" dirty="0">
                <a:latin typeface="Courier New"/>
                <a:ea typeface="+mn-lt"/>
                <a:cs typeface="+mn-lt"/>
              </a:rPr>
              <a:t> </a:t>
            </a:r>
            <a:r>
              <a:rPr lang="es-ES" b="1" dirty="0" err="1">
                <a:latin typeface="Courier New"/>
                <a:ea typeface="+mn-lt"/>
                <a:cs typeface="+mn-lt"/>
              </a:rPr>
              <a:t>class</a:t>
            </a:r>
            <a:r>
              <a:rPr lang="es-ES" b="1" dirty="0">
                <a:latin typeface="Courier New"/>
                <a:ea typeface="+mn-lt"/>
                <a:cs typeface="+mn-lt"/>
              </a:rPr>
              <a:t>="</a:t>
            </a:r>
            <a:r>
              <a:rPr lang="es-ES" b="1" dirty="0" err="1">
                <a:latin typeface="Courier New"/>
                <a:ea typeface="+mn-lt"/>
                <a:cs typeface="+mn-lt"/>
              </a:rPr>
              <a:t>cell</a:t>
            </a:r>
            <a:r>
              <a:rPr lang="es-ES" b="1" dirty="0">
                <a:latin typeface="Courier New"/>
                <a:ea typeface="+mn-lt"/>
                <a:cs typeface="+mn-lt"/>
              </a:rPr>
              <a:t> small-12 medium-8"&gt;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div</a:t>
            </a:r>
            <a:r>
              <a:rPr lang="es-ES" b="1" dirty="0">
                <a:latin typeface="Courier New"/>
                <a:ea typeface="+mn-lt"/>
                <a:cs typeface="+mn-lt"/>
              </a:rPr>
              <a:t> </a:t>
            </a:r>
            <a:r>
              <a:rPr lang="es-ES" b="1" dirty="0" err="1">
                <a:latin typeface="Courier New"/>
                <a:ea typeface="+mn-lt"/>
                <a:cs typeface="+mn-lt"/>
              </a:rPr>
              <a:t>class</a:t>
            </a:r>
            <a:r>
              <a:rPr lang="es-ES" b="1" dirty="0">
                <a:latin typeface="Courier New"/>
                <a:ea typeface="+mn-lt"/>
                <a:cs typeface="+mn-lt"/>
              </a:rPr>
              <a:t>="</a:t>
            </a:r>
            <a:r>
              <a:rPr lang="es-ES" b="1" dirty="0" err="1">
                <a:latin typeface="Courier New"/>
                <a:ea typeface="+mn-lt"/>
                <a:cs typeface="+mn-lt"/>
              </a:rPr>
              <a:t>callout</a:t>
            </a:r>
            <a:r>
              <a:rPr lang="es-ES" b="1" dirty="0">
                <a:latin typeface="Courier New"/>
                <a:ea typeface="+mn-lt"/>
                <a:cs typeface="+mn-lt"/>
              </a:rPr>
              <a:t> </a:t>
            </a:r>
            <a:r>
              <a:rPr lang="es-ES" b="1" dirty="0" err="1">
                <a:latin typeface="Courier New"/>
                <a:ea typeface="+mn-lt"/>
                <a:cs typeface="+mn-lt"/>
              </a:rPr>
              <a:t>primary</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&lt;h3&gt;Contenido Principal&lt;/h3&gt;</a:t>
            </a:r>
            <a:br>
              <a:rPr lang="es-ES" b="1" dirty="0">
                <a:latin typeface="Courier New"/>
                <a:ea typeface="+mn-lt"/>
                <a:cs typeface="+mn-lt"/>
              </a:rPr>
            </a:br>
            <a:r>
              <a:rPr lang="es-ES" b="1" dirty="0">
                <a:latin typeface="Courier New"/>
                <a:ea typeface="+mn-lt"/>
                <a:cs typeface="+mn-lt"/>
              </a:rPr>
              <a:t>        &lt;p&gt;Esta columna ocupa 12 celdas en pantallas pequeñas y 8 en medianas.&lt;/p&gt;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div</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div</a:t>
            </a:r>
            <a:r>
              <a:rPr lang="es-ES" b="1" dirty="0">
                <a:latin typeface="Courier New"/>
                <a:ea typeface="+mn-lt"/>
                <a:cs typeface="+mn-lt"/>
              </a:rPr>
              <a:t>&gt;</a:t>
            </a:r>
            <a:endParaRPr lang="es-ES" b="1" dirty="0">
              <a:latin typeface="Courier New"/>
              <a:cs typeface="Courier New"/>
            </a:endParaRPr>
          </a:p>
        </p:txBody>
      </p:sp>
    </p:spTree>
    <p:extLst>
      <p:ext uri="{BB962C8B-B14F-4D97-AF65-F5344CB8AC3E}">
        <p14:creationId xmlns:p14="http://schemas.microsoft.com/office/powerpoint/2010/main" val="3709825911"/>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F8FC65-4AA5-0D4A-6985-91A68D6D460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AD22492-C205-40A7-1067-E3EC3DA2C8F8}"/>
              </a:ext>
            </a:extLst>
          </p:cNvPr>
          <p:cNvSpPr>
            <a:spLocks noGrp="1"/>
          </p:cNvSpPr>
          <p:nvPr>
            <p:ph type="title"/>
          </p:nvPr>
        </p:nvSpPr>
        <p:spPr/>
        <p:txBody>
          <a:bodyPr/>
          <a:lstStyle/>
          <a:p>
            <a:r>
              <a:rPr lang="es-ES" b="0" dirty="0">
                <a:ea typeface="+mj-lt"/>
                <a:cs typeface="+mj-lt"/>
              </a:rPr>
              <a:t>2.3.4.4. Introducción a </a:t>
            </a:r>
            <a:r>
              <a:rPr lang="es-ES" b="0" dirty="0" err="1">
                <a:ea typeface="+mj-lt"/>
                <a:cs typeface="+mj-lt"/>
              </a:rPr>
              <a:t>Foundation</a:t>
            </a:r>
            <a:r>
              <a:rPr lang="es-ES" b="0" dirty="0">
                <a:ea typeface="+mj-lt"/>
                <a:cs typeface="+mj-lt"/>
              </a:rPr>
              <a:t>.</a:t>
            </a:r>
            <a:endParaRPr lang="es-ES" dirty="0">
              <a:ea typeface="+mj-lt"/>
              <a:cs typeface="+mj-lt"/>
            </a:endParaRPr>
          </a:p>
        </p:txBody>
      </p:sp>
      <p:sp>
        <p:nvSpPr>
          <p:cNvPr id="3" name="Marcador de contenido 2">
            <a:extLst>
              <a:ext uri="{FF2B5EF4-FFF2-40B4-BE49-F238E27FC236}">
                <a16:creationId xmlns:a16="http://schemas.microsoft.com/office/drawing/2014/main" id="{C75B74C0-065F-2784-5BA4-F9B03CA4D02E}"/>
              </a:ext>
            </a:extLst>
          </p:cNvPr>
          <p:cNvSpPr>
            <a:spLocks noGrp="1"/>
          </p:cNvSpPr>
          <p:nvPr>
            <p:ph idx="1"/>
          </p:nvPr>
        </p:nvSpPr>
        <p:spPr/>
        <p:txBody>
          <a:bodyPr vert="horz" lIns="91440" tIns="45720" rIns="91440" bIns="45720" rtlCol="0" anchor="t">
            <a:normAutofit fontScale="77500" lnSpcReduction="20000"/>
          </a:bodyPr>
          <a:lstStyle/>
          <a:p>
            <a:pPr marL="0" indent="0">
              <a:buNone/>
            </a:pPr>
            <a:r>
              <a:rPr lang="es-ES" b="1" dirty="0">
                <a:latin typeface="Courier New"/>
                <a:ea typeface="+mn-lt"/>
                <a:cs typeface="+mn-lt"/>
              </a:rPr>
              <a:t>    &lt;</a:t>
            </a:r>
            <a:r>
              <a:rPr lang="es-ES" b="1" dirty="0" err="1">
                <a:latin typeface="Courier New"/>
                <a:ea typeface="+mn-lt"/>
                <a:cs typeface="+mn-lt"/>
              </a:rPr>
              <a:t>div</a:t>
            </a:r>
            <a:r>
              <a:rPr lang="es-ES" b="1" dirty="0">
                <a:latin typeface="Courier New"/>
                <a:ea typeface="+mn-lt"/>
                <a:cs typeface="+mn-lt"/>
              </a:rPr>
              <a:t> </a:t>
            </a:r>
            <a:r>
              <a:rPr lang="es-ES" b="1" dirty="0" err="1">
                <a:latin typeface="Courier New"/>
                <a:ea typeface="+mn-lt"/>
                <a:cs typeface="+mn-lt"/>
              </a:rPr>
              <a:t>class</a:t>
            </a:r>
            <a:r>
              <a:rPr lang="es-ES" b="1" dirty="0">
                <a:latin typeface="Courier New"/>
                <a:ea typeface="+mn-lt"/>
                <a:cs typeface="+mn-lt"/>
              </a:rPr>
              <a:t>="</a:t>
            </a:r>
            <a:r>
              <a:rPr lang="es-ES" b="1" dirty="0" err="1">
                <a:latin typeface="Courier New"/>
                <a:ea typeface="+mn-lt"/>
                <a:cs typeface="+mn-lt"/>
              </a:rPr>
              <a:t>cell</a:t>
            </a:r>
            <a:r>
              <a:rPr lang="es-ES" b="1" dirty="0">
                <a:latin typeface="Courier New"/>
                <a:ea typeface="+mn-lt"/>
                <a:cs typeface="+mn-lt"/>
              </a:rPr>
              <a:t> small-12 medium-4"&gt;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div</a:t>
            </a:r>
            <a:r>
              <a:rPr lang="es-ES" b="1" dirty="0">
                <a:latin typeface="Courier New"/>
                <a:ea typeface="+mn-lt"/>
                <a:cs typeface="+mn-lt"/>
              </a:rPr>
              <a:t> </a:t>
            </a:r>
            <a:r>
              <a:rPr lang="es-ES" b="1" dirty="0" err="1">
                <a:latin typeface="Courier New"/>
                <a:ea typeface="+mn-lt"/>
                <a:cs typeface="+mn-lt"/>
              </a:rPr>
              <a:t>class</a:t>
            </a:r>
            <a:r>
              <a:rPr lang="es-ES" b="1" dirty="0">
                <a:latin typeface="Courier New"/>
                <a:ea typeface="+mn-lt"/>
                <a:cs typeface="+mn-lt"/>
              </a:rPr>
              <a:t>="</a:t>
            </a:r>
            <a:r>
              <a:rPr lang="es-ES" b="1" dirty="0" err="1">
                <a:latin typeface="Courier New"/>
                <a:ea typeface="+mn-lt"/>
                <a:cs typeface="+mn-lt"/>
              </a:rPr>
              <a:t>callout</a:t>
            </a:r>
            <a:r>
              <a:rPr lang="es-ES" b="1" dirty="0">
                <a:latin typeface="Courier New"/>
                <a:ea typeface="+mn-lt"/>
                <a:cs typeface="+mn-lt"/>
              </a:rPr>
              <a:t> </a:t>
            </a:r>
            <a:r>
              <a:rPr lang="es-ES" b="1" dirty="0" err="1">
                <a:latin typeface="Courier New"/>
                <a:ea typeface="+mn-lt"/>
                <a:cs typeface="+mn-lt"/>
              </a:rPr>
              <a:t>secondary</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&lt;h3&gt;Barra Lateral&lt;/h3&gt;</a:t>
            </a:r>
            <a:br>
              <a:rPr lang="es-ES" b="1" dirty="0">
                <a:latin typeface="Courier New"/>
                <a:ea typeface="+mn-lt"/>
                <a:cs typeface="+mn-lt"/>
              </a:rPr>
            </a:br>
            <a:r>
              <a:rPr lang="es-ES" b="1" dirty="0">
                <a:latin typeface="Courier New"/>
                <a:ea typeface="+mn-lt"/>
                <a:cs typeface="+mn-lt"/>
              </a:rPr>
              <a:t>        &lt;p&gt;Esta columna ocupa 12 celdas en pantallas pequeñas y 4 en medianas.&lt;/p&gt;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div</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div</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div</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&lt;/</a:t>
            </a:r>
            <a:r>
              <a:rPr lang="es-ES" b="1" dirty="0" err="1">
                <a:latin typeface="Courier New"/>
                <a:ea typeface="+mn-lt"/>
                <a:cs typeface="+mn-lt"/>
              </a:rPr>
              <a:t>div</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&lt;script </a:t>
            </a:r>
            <a:r>
              <a:rPr lang="es-ES" b="1" dirty="0">
                <a:latin typeface="Courier New"/>
                <a:ea typeface="+mn-lt"/>
                <a:cs typeface="+mn-lt"/>
                <a:hlinkClick r:id="rId2"/>
              </a:rPr>
              <a:t>src="https://cdn.jsdelivr.net/npm/foundation-sites@6.8.1/dist/js/foundation.min.js</a:t>
            </a:r>
            <a:r>
              <a:rPr lang="es-ES" b="1" dirty="0">
                <a:latin typeface="Courier New"/>
                <a:ea typeface="+mn-lt"/>
                <a:cs typeface="+mn-lt"/>
              </a:rPr>
              <a:t>" </a:t>
            </a:r>
            <a:r>
              <a:rPr lang="es-ES" b="1" dirty="0" err="1">
                <a:latin typeface="Courier New"/>
                <a:ea typeface="+mn-lt"/>
                <a:cs typeface="+mn-lt"/>
              </a:rPr>
              <a:t>crossorigin</a:t>
            </a:r>
            <a:r>
              <a:rPr lang="es-ES" b="1" dirty="0">
                <a:latin typeface="Courier New"/>
                <a:ea typeface="+mn-lt"/>
                <a:cs typeface="+mn-lt"/>
              </a:rPr>
              <a:t>="</a:t>
            </a:r>
            <a:r>
              <a:rPr lang="es-ES" b="1" dirty="0" err="1">
                <a:latin typeface="Courier New"/>
                <a:ea typeface="+mn-lt"/>
                <a:cs typeface="+mn-lt"/>
              </a:rPr>
              <a:t>anonymous</a:t>
            </a:r>
            <a:r>
              <a:rPr lang="es-ES" b="1" dirty="0">
                <a:latin typeface="Courier New"/>
                <a:ea typeface="+mn-lt"/>
                <a:cs typeface="+mn-lt"/>
              </a:rPr>
              <a:t>"&gt;&lt;/script&gt;</a:t>
            </a:r>
            <a:br>
              <a:rPr lang="es-ES" b="1" dirty="0">
                <a:latin typeface="Courier New"/>
                <a:ea typeface="+mn-lt"/>
                <a:cs typeface="+mn-lt"/>
              </a:rPr>
            </a:br>
            <a:r>
              <a:rPr lang="es-ES" b="1" dirty="0">
                <a:latin typeface="Courier New"/>
                <a:ea typeface="+mn-lt"/>
                <a:cs typeface="+mn-lt"/>
              </a:rPr>
              <a:t>&lt;script&gt;</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document</a:t>
            </a:r>
            <a:r>
              <a:rPr lang="es-ES" b="1" dirty="0">
                <a:latin typeface="Courier New"/>
                <a:ea typeface="+mn-lt"/>
                <a:cs typeface="+mn-lt"/>
              </a:rPr>
              <a:t>).</a:t>
            </a:r>
            <a:r>
              <a:rPr lang="es-ES" b="1" dirty="0" err="1">
                <a:latin typeface="Courier New"/>
                <a:ea typeface="+mn-lt"/>
                <a:cs typeface="+mn-lt"/>
              </a:rPr>
              <a:t>foundation</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&lt;/script&gt;</a:t>
            </a:r>
            <a:br>
              <a:rPr lang="es-ES" b="1" dirty="0">
                <a:latin typeface="Courier New"/>
                <a:ea typeface="+mn-lt"/>
                <a:cs typeface="+mn-lt"/>
              </a:rPr>
            </a:br>
            <a:r>
              <a:rPr lang="es-ES" b="1" dirty="0">
                <a:latin typeface="Courier New"/>
                <a:ea typeface="+mn-lt"/>
                <a:cs typeface="+mn-lt"/>
              </a:rPr>
              <a:t>&lt;/</a:t>
            </a:r>
            <a:r>
              <a:rPr lang="es-ES" b="1" dirty="0" err="1">
                <a:latin typeface="Courier New"/>
                <a:ea typeface="+mn-lt"/>
                <a:cs typeface="+mn-lt"/>
              </a:rPr>
              <a:t>body</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&lt;/</a:t>
            </a:r>
            <a:r>
              <a:rPr lang="es-ES" b="1" dirty="0" err="1">
                <a:latin typeface="Courier New"/>
                <a:ea typeface="+mn-lt"/>
                <a:cs typeface="+mn-lt"/>
              </a:rPr>
              <a:t>html</a:t>
            </a:r>
            <a:r>
              <a:rPr lang="es-ES" b="1" dirty="0">
                <a:latin typeface="Courier New"/>
                <a:ea typeface="+mn-lt"/>
                <a:cs typeface="+mn-lt"/>
              </a:rPr>
              <a:t>&gt;</a:t>
            </a:r>
            <a:endParaRPr lang="es-ES" b="1" dirty="0">
              <a:latin typeface="Courier New"/>
              <a:cs typeface="Courier New"/>
            </a:endParaRPr>
          </a:p>
          <a:p>
            <a:r>
              <a:rPr lang="es-ES" dirty="0">
                <a:ea typeface="+mn-lt"/>
                <a:cs typeface="+mn-lt"/>
              </a:rPr>
              <a:t>Explicación: La clase .</a:t>
            </a:r>
            <a:r>
              <a:rPr lang="es-ES" dirty="0" err="1">
                <a:ea typeface="+mn-lt"/>
                <a:cs typeface="+mn-lt"/>
              </a:rPr>
              <a:t>grid</a:t>
            </a:r>
            <a:r>
              <a:rPr lang="es-ES" dirty="0">
                <a:ea typeface="+mn-lt"/>
                <a:cs typeface="+mn-lt"/>
              </a:rPr>
              <a:t>-container define el contenedor principal de la cuadrícula. Dentro, .</a:t>
            </a:r>
            <a:r>
              <a:rPr lang="es-ES" dirty="0" err="1">
                <a:ea typeface="+mn-lt"/>
                <a:cs typeface="+mn-lt"/>
              </a:rPr>
              <a:t>grid</a:t>
            </a:r>
            <a:r>
              <a:rPr lang="es-ES" dirty="0">
                <a:ea typeface="+mn-lt"/>
                <a:cs typeface="+mn-lt"/>
              </a:rPr>
              <a:t>-x define una fila horizontal. Las clases .</a:t>
            </a:r>
            <a:r>
              <a:rPr lang="es-ES" dirty="0" err="1">
                <a:ea typeface="+mn-lt"/>
                <a:cs typeface="+mn-lt"/>
              </a:rPr>
              <a:t>cell</a:t>
            </a:r>
            <a:r>
              <a:rPr lang="es-ES" dirty="0">
                <a:ea typeface="+mn-lt"/>
                <a:cs typeface="+mn-lt"/>
              </a:rPr>
              <a:t> marcan los elementos como celdas. small-12 significa que cada celda ocupa 12 columnas (todo el ancho) en pantallas pequeñas, apilándose. medium-8 y medium-4 establecen un </a:t>
            </a:r>
            <a:r>
              <a:rPr lang="es-ES" dirty="0" err="1">
                <a:ea typeface="+mn-lt"/>
                <a:cs typeface="+mn-lt"/>
              </a:rPr>
              <a:t>layout</a:t>
            </a:r>
            <a:r>
              <a:rPr lang="es-ES" dirty="0">
                <a:ea typeface="+mn-lt"/>
                <a:cs typeface="+mn-lt"/>
              </a:rPr>
              <a:t> de dos columnas en pantallas medianas y más grandes.</a:t>
            </a:r>
            <a:endParaRPr lang="es-ES" dirty="0"/>
          </a:p>
          <a:p>
            <a:endParaRPr lang="es-ES" dirty="0">
              <a:latin typeface="Bierstadt"/>
              <a:cs typeface="Courier New"/>
            </a:endParaRPr>
          </a:p>
        </p:txBody>
      </p:sp>
    </p:spTree>
    <p:extLst>
      <p:ext uri="{BB962C8B-B14F-4D97-AF65-F5344CB8AC3E}">
        <p14:creationId xmlns:p14="http://schemas.microsoft.com/office/powerpoint/2010/main" val="1382875440"/>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CF56BB-21BC-A119-2865-216B52272D3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5484857-6315-EDBF-5ECE-4028EA45D1D9}"/>
              </a:ext>
            </a:extLst>
          </p:cNvPr>
          <p:cNvSpPr>
            <a:spLocks noGrp="1"/>
          </p:cNvSpPr>
          <p:nvPr>
            <p:ph type="title"/>
          </p:nvPr>
        </p:nvSpPr>
        <p:spPr/>
        <p:txBody>
          <a:bodyPr/>
          <a:lstStyle/>
          <a:p>
            <a:r>
              <a:rPr lang="es-ES" b="0" dirty="0">
                <a:ea typeface="+mj-lt"/>
                <a:cs typeface="+mj-lt"/>
              </a:rPr>
              <a:t>2.3.4.3. Comparativa y casos de uso.</a:t>
            </a:r>
            <a:endParaRPr lang="es-ES" dirty="0"/>
          </a:p>
        </p:txBody>
      </p:sp>
      <p:sp>
        <p:nvSpPr>
          <p:cNvPr id="3" name="Marcador de contenido 2">
            <a:extLst>
              <a:ext uri="{FF2B5EF4-FFF2-40B4-BE49-F238E27FC236}">
                <a16:creationId xmlns:a16="http://schemas.microsoft.com/office/drawing/2014/main" id="{14CCED79-E17C-6A30-09C9-CF33BF5CACA3}"/>
              </a:ext>
            </a:extLst>
          </p:cNvPr>
          <p:cNvSpPr>
            <a:spLocks noGrp="1"/>
          </p:cNvSpPr>
          <p:nvPr>
            <p:ph idx="1"/>
          </p:nvPr>
        </p:nvSpPr>
        <p:spPr/>
        <p:txBody>
          <a:bodyPr vert="horz" lIns="91440" tIns="45720" rIns="91440" bIns="45720" rtlCol="0" anchor="t">
            <a:normAutofit/>
          </a:bodyPr>
          <a:lstStyle/>
          <a:p>
            <a:r>
              <a:rPr lang="es-ES" dirty="0">
                <a:ea typeface="+mn-lt"/>
                <a:cs typeface="+mn-lt"/>
              </a:rPr>
              <a:t>Elegir el </a:t>
            </a:r>
            <a:r>
              <a:rPr lang="es-ES" dirty="0" err="1">
                <a:ea typeface="+mn-lt"/>
                <a:cs typeface="+mn-lt"/>
              </a:rPr>
              <a:t>framework</a:t>
            </a:r>
            <a:r>
              <a:rPr lang="es-ES" dirty="0">
                <a:ea typeface="+mn-lt"/>
                <a:cs typeface="+mn-lt"/>
              </a:rPr>
              <a:t> CSS adecuado es crucial para el éxito de un proyecto. Aunque todos buscan acelerar el desarrollo responsive, sus filosofías y herramientas difieren significativamente. La elección dependerá del tipo de proyecto, la experiencia del equipo y el nivel de personalización deseado.</a:t>
            </a:r>
            <a:endParaRPr lang="es-ES" dirty="0"/>
          </a:p>
          <a:p>
            <a:r>
              <a:rPr lang="es-ES" dirty="0">
                <a:ea typeface="+mn-lt"/>
                <a:cs typeface="+mn-lt"/>
              </a:rPr>
              <a:t>Bootstrap</a:t>
            </a:r>
            <a:endParaRPr lang="es-ES" dirty="0"/>
          </a:p>
          <a:p>
            <a:pPr lvl="1">
              <a:buFont typeface="Courier New" panose="020B0604020202020204" pitchFamily="34" charset="0"/>
              <a:buChar char="o"/>
            </a:pPr>
            <a:r>
              <a:rPr lang="es-ES" dirty="0">
                <a:ea typeface="+mn-lt"/>
                <a:cs typeface="+mn-lt"/>
              </a:rPr>
              <a:t>Filosofía: Componentes preconstruidos. Ofrece un kit de herramientas completo que incluye JavaScript.</a:t>
            </a:r>
            <a:endParaRPr lang="es-ES" dirty="0"/>
          </a:p>
          <a:p>
            <a:pPr lvl="1">
              <a:buFont typeface="Courier New" panose="020B0604020202020204" pitchFamily="34" charset="0"/>
              <a:buChar char="o"/>
            </a:pPr>
            <a:r>
              <a:rPr lang="es-ES" dirty="0">
                <a:ea typeface="+mn-lt"/>
                <a:cs typeface="+mn-lt"/>
              </a:rPr>
              <a:t>Ideal para:</a:t>
            </a:r>
            <a:endParaRPr lang="es-ES" dirty="0"/>
          </a:p>
          <a:p>
            <a:pPr lvl="2">
              <a:buFont typeface="Wingdings" panose="020B0604020202020204" pitchFamily="34" charset="0"/>
              <a:buChar char="§"/>
            </a:pPr>
            <a:r>
              <a:rPr lang="es-ES" dirty="0">
                <a:ea typeface="+mn-lt"/>
                <a:cs typeface="+mn-lt"/>
              </a:rPr>
              <a:t>Proyectos con plazos ajustados: Si necesitas un sitio web funcional rápidamente, sus componentes listos para usar (barras de navegación, formularios, modales) te permiten construir un prototipo en poco tiempo.</a:t>
            </a:r>
            <a:endParaRPr lang="es-ES"/>
          </a:p>
          <a:p>
            <a:pPr lvl="2">
              <a:buFont typeface="Wingdings" panose="020B0604020202020204" pitchFamily="34" charset="0"/>
              <a:buChar char="§"/>
            </a:pPr>
            <a:r>
              <a:rPr lang="es-ES" dirty="0">
                <a:ea typeface="+mn-lt"/>
                <a:cs typeface="+mn-lt"/>
              </a:rPr>
              <a:t>Proyectos con diseños estándar: Si el diseño no es altamente personalizado y se ajusta a las convenciones web modernas, Bootstrap es una excelente opción.</a:t>
            </a:r>
            <a:endParaRPr lang="es-ES" dirty="0"/>
          </a:p>
          <a:p>
            <a:pPr lvl="1">
              <a:buFont typeface="Courier New" panose="020B0604020202020204" pitchFamily="34" charset="0"/>
              <a:buChar char="o"/>
            </a:pPr>
            <a:r>
              <a:rPr lang="es-ES" dirty="0">
                <a:ea typeface="+mn-lt"/>
                <a:cs typeface="+mn-lt"/>
              </a:rPr>
              <a:t>Consideraciones: Su estilo por defecto puede hacer que muchos sitios se parezcan. Su archivo es más grande debido a que incluye estilos y JS para una gran variedad de componentes.</a:t>
            </a:r>
            <a:endParaRPr lang="es-ES"/>
          </a:p>
          <a:p>
            <a:endParaRPr lang="es-ES" dirty="0"/>
          </a:p>
        </p:txBody>
      </p:sp>
    </p:spTree>
    <p:extLst>
      <p:ext uri="{BB962C8B-B14F-4D97-AF65-F5344CB8AC3E}">
        <p14:creationId xmlns:p14="http://schemas.microsoft.com/office/powerpoint/2010/main" val="684490471"/>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2EDC7C-0776-038E-44EA-7C60121BAA9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BE050DC-AE29-8029-CCD1-571044EF4DA8}"/>
              </a:ext>
            </a:extLst>
          </p:cNvPr>
          <p:cNvSpPr>
            <a:spLocks noGrp="1"/>
          </p:cNvSpPr>
          <p:nvPr>
            <p:ph type="title"/>
          </p:nvPr>
        </p:nvSpPr>
        <p:spPr/>
        <p:txBody>
          <a:bodyPr/>
          <a:lstStyle/>
          <a:p>
            <a:r>
              <a:rPr lang="es-ES" b="0" dirty="0">
                <a:ea typeface="+mj-lt"/>
                <a:cs typeface="+mj-lt"/>
              </a:rPr>
              <a:t>2.3.4.3. Comparativa y casos de uso.</a:t>
            </a:r>
            <a:endParaRPr lang="es-ES" dirty="0"/>
          </a:p>
        </p:txBody>
      </p:sp>
      <p:sp>
        <p:nvSpPr>
          <p:cNvPr id="3" name="Marcador de contenido 2">
            <a:extLst>
              <a:ext uri="{FF2B5EF4-FFF2-40B4-BE49-F238E27FC236}">
                <a16:creationId xmlns:a16="http://schemas.microsoft.com/office/drawing/2014/main" id="{D128CF6C-8664-AD43-C740-D3968C39D170}"/>
              </a:ext>
            </a:extLst>
          </p:cNvPr>
          <p:cNvSpPr>
            <a:spLocks noGrp="1"/>
          </p:cNvSpPr>
          <p:nvPr>
            <p:ph idx="1"/>
          </p:nvPr>
        </p:nvSpPr>
        <p:spPr/>
        <p:txBody>
          <a:bodyPr vert="horz" lIns="91440" tIns="45720" rIns="91440" bIns="45720" rtlCol="0" anchor="t">
            <a:normAutofit fontScale="77500" lnSpcReduction="20000"/>
          </a:bodyPr>
          <a:lstStyle/>
          <a:p>
            <a:r>
              <a:rPr lang="es-ES" dirty="0" err="1">
                <a:ea typeface="+mn-lt"/>
                <a:cs typeface="+mn-lt"/>
              </a:rPr>
              <a:t>Tailwind</a:t>
            </a:r>
            <a:r>
              <a:rPr lang="es-ES" dirty="0">
                <a:ea typeface="+mn-lt"/>
                <a:cs typeface="+mn-lt"/>
              </a:rPr>
              <a:t> CSS</a:t>
            </a:r>
            <a:endParaRPr lang="es-ES" dirty="0"/>
          </a:p>
          <a:p>
            <a:pPr lvl="1">
              <a:buFont typeface="Courier New" panose="020B0604020202020204" pitchFamily="34" charset="0"/>
              <a:buChar char="o"/>
            </a:pPr>
            <a:r>
              <a:rPr lang="es-ES" dirty="0">
                <a:ea typeface="+mn-lt"/>
                <a:cs typeface="+mn-lt"/>
              </a:rPr>
              <a:t>Filosofía: "</a:t>
            </a:r>
            <a:r>
              <a:rPr lang="es-ES" dirty="0" err="1">
                <a:ea typeface="+mn-lt"/>
                <a:cs typeface="+mn-lt"/>
              </a:rPr>
              <a:t>Utility-first</a:t>
            </a:r>
            <a:r>
              <a:rPr lang="es-ES" dirty="0">
                <a:ea typeface="+mn-lt"/>
                <a:cs typeface="+mn-lt"/>
              </a:rPr>
              <a:t>". Ofrece clases de bajo nivel para construir cualquier componente desde cero.</a:t>
            </a:r>
          </a:p>
          <a:p>
            <a:pPr lvl="1">
              <a:buFont typeface="Courier New" panose="020B0604020202020204" pitchFamily="34" charset="0"/>
              <a:buChar char="o"/>
            </a:pPr>
            <a:r>
              <a:rPr lang="es-ES" dirty="0">
                <a:ea typeface="+mn-lt"/>
                <a:cs typeface="+mn-lt"/>
              </a:rPr>
              <a:t>Ideal para:</a:t>
            </a:r>
          </a:p>
          <a:p>
            <a:pPr lvl="2">
              <a:buFont typeface="Wingdings" panose="020B0604020202020204" pitchFamily="34" charset="0"/>
              <a:buChar char="§"/>
            </a:pPr>
            <a:r>
              <a:rPr lang="es-ES" dirty="0">
                <a:ea typeface="+mn-lt"/>
                <a:cs typeface="+mn-lt"/>
              </a:rPr>
              <a:t>Proyectos con diseños personalizados: Si el diseño es único y requiere un control detallado sobre cada elemento, </a:t>
            </a:r>
            <a:r>
              <a:rPr lang="es-ES" dirty="0" err="1">
                <a:ea typeface="+mn-lt"/>
                <a:cs typeface="+mn-lt"/>
              </a:rPr>
              <a:t>Tailwind</a:t>
            </a:r>
            <a:r>
              <a:rPr lang="es-ES" dirty="0">
                <a:ea typeface="+mn-lt"/>
                <a:cs typeface="+mn-lt"/>
              </a:rPr>
              <a:t> te permite crear interfaces a medida sin escribir CSS.</a:t>
            </a:r>
          </a:p>
          <a:p>
            <a:pPr lvl="2">
              <a:buFont typeface="Wingdings" panose="020B0604020202020204" pitchFamily="34" charset="0"/>
              <a:buChar char="§"/>
            </a:pPr>
            <a:r>
              <a:rPr lang="es-ES" dirty="0">
                <a:ea typeface="+mn-lt"/>
                <a:cs typeface="+mn-lt"/>
              </a:rPr>
              <a:t>Equipos que prefieren trabajar con HTML: Si el flujo de trabajo se centra en el marcado, las clases de utilidad de </a:t>
            </a:r>
            <a:r>
              <a:rPr lang="es-ES" dirty="0" err="1">
                <a:ea typeface="+mn-lt"/>
                <a:cs typeface="+mn-lt"/>
              </a:rPr>
              <a:t>Tailwind</a:t>
            </a:r>
            <a:r>
              <a:rPr lang="es-ES" dirty="0">
                <a:ea typeface="+mn-lt"/>
                <a:cs typeface="+mn-lt"/>
              </a:rPr>
              <a:t> permiten aplicar estilos directamente en el HTML.</a:t>
            </a:r>
          </a:p>
          <a:p>
            <a:pPr lvl="1">
              <a:buFont typeface="Courier New" panose="020B0604020202020204" pitchFamily="34" charset="0"/>
              <a:buChar char="o"/>
            </a:pPr>
            <a:r>
              <a:rPr lang="es-ES" dirty="0">
                <a:ea typeface="+mn-lt"/>
                <a:cs typeface="+mn-lt"/>
              </a:rPr>
              <a:t>Consideraciones: La sintaxis puede parecer verbosa en el HTML al principio. Requiere un proceso de construcción para purgar el CSS no utilizado y optimizar el tamaño del archivo final.</a:t>
            </a:r>
          </a:p>
          <a:p>
            <a:r>
              <a:rPr lang="es-ES" dirty="0" err="1">
                <a:ea typeface="+mn-lt"/>
                <a:cs typeface="+mn-lt"/>
              </a:rPr>
              <a:t>Bulma</a:t>
            </a:r>
            <a:endParaRPr lang="es-ES" dirty="0" err="1"/>
          </a:p>
          <a:p>
            <a:pPr lvl="1">
              <a:buFont typeface="Courier New" panose="020B0604020202020204" pitchFamily="34" charset="0"/>
              <a:buChar char="o"/>
            </a:pPr>
            <a:r>
              <a:rPr lang="es-ES" dirty="0">
                <a:ea typeface="+mn-lt"/>
                <a:cs typeface="+mn-lt"/>
              </a:rPr>
              <a:t>Filosofía: CSS puro, sin JavaScript y basado en </a:t>
            </a:r>
            <a:r>
              <a:rPr lang="es-ES" dirty="0" err="1">
                <a:ea typeface="+mn-lt"/>
                <a:cs typeface="+mn-lt"/>
              </a:rPr>
              <a:t>Flexbox</a:t>
            </a:r>
            <a:r>
              <a:rPr lang="es-ES" dirty="0">
                <a:ea typeface="+mn-lt"/>
                <a:cs typeface="+mn-lt"/>
              </a:rPr>
              <a:t>. Su enfoque es modular y ligero.</a:t>
            </a:r>
            <a:endParaRPr lang="es-ES"/>
          </a:p>
          <a:p>
            <a:pPr lvl="1">
              <a:buFont typeface="Courier New" panose="020B0604020202020204" pitchFamily="34" charset="0"/>
              <a:buChar char="o"/>
            </a:pPr>
            <a:r>
              <a:rPr lang="es-ES" dirty="0">
                <a:ea typeface="+mn-lt"/>
                <a:cs typeface="+mn-lt"/>
              </a:rPr>
              <a:t>Ideal para:</a:t>
            </a:r>
            <a:endParaRPr lang="es-ES" dirty="0"/>
          </a:p>
          <a:p>
            <a:pPr lvl="2">
              <a:buFont typeface="Wingdings" panose="020B0604020202020204" pitchFamily="34" charset="0"/>
              <a:buChar char="§"/>
            </a:pPr>
            <a:r>
              <a:rPr lang="es-ES" dirty="0">
                <a:ea typeface="+mn-lt"/>
                <a:cs typeface="+mn-lt"/>
              </a:rPr>
              <a:t>Proyectos pequeños o medianos: Es una excelente opción si no necesitas las funcionalidades de JS de otros </a:t>
            </a:r>
            <a:r>
              <a:rPr lang="es-ES" dirty="0" err="1">
                <a:ea typeface="+mn-lt"/>
                <a:cs typeface="+mn-lt"/>
              </a:rPr>
              <a:t>frameworks</a:t>
            </a:r>
            <a:r>
              <a:rPr lang="es-ES" dirty="0">
                <a:ea typeface="+mn-lt"/>
                <a:cs typeface="+mn-lt"/>
              </a:rPr>
              <a:t> y prefieres una herramienta más simple y fácil de entender.</a:t>
            </a:r>
            <a:endParaRPr lang="es-ES" dirty="0"/>
          </a:p>
          <a:p>
            <a:pPr lvl="2">
              <a:buFont typeface="Wingdings" panose="020B0604020202020204" pitchFamily="34" charset="0"/>
              <a:buChar char="§"/>
            </a:pPr>
            <a:r>
              <a:rPr lang="es-ES" dirty="0">
                <a:ea typeface="+mn-lt"/>
                <a:cs typeface="+mn-lt"/>
              </a:rPr>
              <a:t>Desarrolladores que aman </a:t>
            </a:r>
            <a:r>
              <a:rPr lang="es-ES" dirty="0" err="1">
                <a:ea typeface="+mn-lt"/>
                <a:cs typeface="+mn-lt"/>
              </a:rPr>
              <a:t>Flexbox</a:t>
            </a:r>
            <a:r>
              <a:rPr lang="es-ES" dirty="0">
                <a:ea typeface="+mn-lt"/>
                <a:cs typeface="+mn-lt"/>
              </a:rPr>
              <a:t>: Si ya estás familiarizado con </a:t>
            </a:r>
            <a:r>
              <a:rPr lang="es-ES" dirty="0" err="1">
                <a:ea typeface="+mn-lt"/>
                <a:cs typeface="+mn-lt"/>
              </a:rPr>
              <a:t>Flexbox</a:t>
            </a:r>
            <a:r>
              <a:rPr lang="es-ES" dirty="0">
                <a:ea typeface="+mn-lt"/>
                <a:cs typeface="+mn-lt"/>
              </a:rPr>
              <a:t>, </a:t>
            </a:r>
            <a:r>
              <a:rPr lang="es-ES" dirty="0" err="1">
                <a:ea typeface="+mn-lt"/>
                <a:cs typeface="+mn-lt"/>
              </a:rPr>
              <a:t>Bulma</a:t>
            </a:r>
            <a:r>
              <a:rPr lang="es-ES" dirty="0">
                <a:ea typeface="+mn-lt"/>
                <a:cs typeface="+mn-lt"/>
              </a:rPr>
              <a:t> utiliza esta tecnología de forma intuitiva para su sistema de cuadrícula y componentes.</a:t>
            </a:r>
            <a:endParaRPr lang="es-ES" dirty="0"/>
          </a:p>
          <a:p>
            <a:pPr lvl="1">
              <a:buFont typeface="Courier New" panose="020B0604020202020204" pitchFamily="34" charset="0"/>
              <a:buChar char="o"/>
            </a:pPr>
            <a:r>
              <a:rPr lang="es-ES" dirty="0">
                <a:ea typeface="+mn-lt"/>
                <a:cs typeface="+mn-lt"/>
              </a:rPr>
              <a:t>Consideraciones: Al ser solo CSS, las funcionalidades interactivas (como menús desplegables) requieren que escribas tu propio JavaScript.</a:t>
            </a:r>
            <a:endParaRPr lang="es-ES" dirty="0"/>
          </a:p>
          <a:p>
            <a:endParaRPr lang="es-ES" dirty="0"/>
          </a:p>
        </p:txBody>
      </p:sp>
    </p:spTree>
    <p:extLst>
      <p:ext uri="{BB962C8B-B14F-4D97-AF65-F5344CB8AC3E}">
        <p14:creationId xmlns:p14="http://schemas.microsoft.com/office/powerpoint/2010/main" val="671991587"/>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65D9D1-44D0-81C5-67C5-02527A96352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F766331-7AD7-9C0C-4B55-45C40CBBD176}"/>
              </a:ext>
            </a:extLst>
          </p:cNvPr>
          <p:cNvSpPr>
            <a:spLocks noGrp="1"/>
          </p:cNvSpPr>
          <p:nvPr>
            <p:ph type="title"/>
          </p:nvPr>
        </p:nvSpPr>
        <p:spPr/>
        <p:txBody>
          <a:bodyPr/>
          <a:lstStyle/>
          <a:p>
            <a:r>
              <a:rPr lang="es-ES" b="0" dirty="0">
                <a:ea typeface="+mj-lt"/>
                <a:cs typeface="+mj-lt"/>
              </a:rPr>
              <a:t>2.3.4.3. Comparativa y casos de uso.</a:t>
            </a:r>
            <a:endParaRPr lang="es-ES" dirty="0"/>
          </a:p>
        </p:txBody>
      </p:sp>
      <p:sp>
        <p:nvSpPr>
          <p:cNvPr id="3" name="Marcador de contenido 2">
            <a:extLst>
              <a:ext uri="{FF2B5EF4-FFF2-40B4-BE49-F238E27FC236}">
                <a16:creationId xmlns:a16="http://schemas.microsoft.com/office/drawing/2014/main" id="{860CBCB3-B28A-F2B5-DDD1-967FA2818FE1}"/>
              </a:ext>
            </a:extLst>
          </p:cNvPr>
          <p:cNvSpPr>
            <a:spLocks noGrp="1"/>
          </p:cNvSpPr>
          <p:nvPr>
            <p:ph idx="1"/>
          </p:nvPr>
        </p:nvSpPr>
        <p:spPr/>
        <p:txBody>
          <a:bodyPr vert="horz" lIns="91440" tIns="45720" rIns="91440" bIns="45720" rtlCol="0" anchor="t">
            <a:normAutofit/>
          </a:bodyPr>
          <a:lstStyle/>
          <a:p>
            <a:r>
              <a:rPr lang="es-ES" sz="1400" dirty="0" err="1">
                <a:ea typeface="+mn-lt"/>
                <a:cs typeface="+mn-lt"/>
              </a:rPr>
              <a:t>Foundation</a:t>
            </a:r>
            <a:endParaRPr lang="es-ES" sz="1400" dirty="0" err="1"/>
          </a:p>
          <a:p>
            <a:pPr lvl="1">
              <a:buFont typeface="Courier New" panose="020B0604020202020204" pitchFamily="34" charset="0"/>
              <a:buChar char="o"/>
            </a:pPr>
            <a:r>
              <a:rPr lang="es-ES" sz="1200" dirty="0">
                <a:ea typeface="+mn-lt"/>
                <a:cs typeface="+mn-lt"/>
              </a:rPr>
              <a:t>Filosofía: Profesional y modular. Proporciona herramientas avanzadas para un control total.</a:t>
            </a:r>
          </a:p>
          <a:p>
            <a:pPr lvl="1">
              <a:buFont typeface="Courier New" panose="020B0604020202020204" pitchFamily="34" charset="0"/>
              <a:buChar char="o"/>
            </a:pPr>
            <a:r>
              <a:rPr lang="es-ES" sz="1200" dirty="0">
                <a:ea typeface="+mn-lt"/>
                <a:cs typeface="+mn-lt"/>
              </a:rPr>
              <a:t>Ideal para:</a:t>
            </a:r>
          </a:p>
          <a:p>
            <a:pPr lvl="2">
              <a:buFont typeface="Wingdings" panose="020B0604020202020204" pitchFamily="34" charset="0"/>
              <a:buChar char="§"/>
            </a:pPr>
            <a:r>
              <a:rPr lang="es-ES" sz="1100" dirty="0">
                <a:ea typeface="+mn-lt"/>
                <a:cs typeface="+mn-lt"/>
              </a:rPr>
              <a:t>Aplicaciones web complejas: Su enfoque en la modularidad y el rendimiento lo hace ideal para proyectos a gran escala.</a:t>
            </a:r>
          </a:p>
          <a:p>
            <a:pPr lvl="2">
              <a:buFont typeface="Wingdings" panose="020B0604020202020204" pitchFamily="34" charset="0"/>
              <a:buChar char="§"/>
            </a:pPr>
            <a:r>
              <a:rPr lang="es-ES" sz="1100" dirty="0">
                <a:ea typeface="+mn-lt"/>
                <a:cs typeface="+mn-lt"/>
              </a:rPr>
              <a:t>Proyectos que requieren alta accesibilidad: </a:t>
            </a:r>
            <a:r>
              <a:rPr lang="es-ES" sz="1100" err="1">
                <a:ea typeface="+mn-lt"/>
                <a:cs typeface="+mn-lt"/>
              </a:rPr>
              <a:t>Foundation</a:t>
            </a:r>
            <a:r>
              <a:rPr lang="es-ES" sz="1100" dirty="0">
                <a:ea typeface="+mn-lt"/>
                <a:cs typeface="+mn-lt"/>
              </a:rPr>
              <a:t> se enfoca en crear componentes accesibles por defecto, lo cual es vital para proyectos que deben cumplir con las normas de accesibilidad.</a:t>
            </a:r>
          </a:p>
          <a:p>
            <a:pPr lvl="1">
              <a:buFont typeface="Courier New" panose="020B0604020202020204" pitchFamily="34" charset="0"/>
              <a:buChar char="o"/>
            </a:pPr>
            <a:r>
              <a:rPr lang="es-ES" sz="1200" dirty="0">
                <a:ea typeface="+mn-lt"/>
                <a:cs typeface="+mn-lt"/>
              </a:rPr>
              <a:t>Consideraciones: Tiene una curva de aprendizaje más pronunciada que otros </a:t>
            </a:r>
            <a:r>
              <a:rPr lang="es-ES" sz="1200" err="1">
                <a:ea typeface="+mn-lt"/>
                <a:cs typeface="+mn-lt"/>
              </a:rPr>
              <a:t>frameworks</a:t>
            </a:r>
            <a:r>
              <a:rPr lang="es-ES" sz="1200" dirty="0">
                <a:ea typeface="+mn-lt"/>
                <a:cs typeface="+mn-lt"/>
              </a:rPr>
              <a:t>. Su comunidad es más pequeña que la de Bootstrap.</a:t>
            </a:r>
            <a:endParaRPr lang="es-ES" sz="1200"/>
          </a:p>
        </p:txBody>
      </p:sp>
      <p:graphicFrame>
        <p:nvGraphicFramePr>
          <p:cNvPr id="4" name="Tabla 3">
            <a:extLst>
              <a:ext uri="{FF2B5EF4-FFF2-40B4-BE49-F238E27FC236}">
                <a16:creationId xmlns:a16="http://schemas.microsoft.com/office/drawing/2014/main" id="{A37410AF-50B9-DEFD-9CBA-464D44D15062}"/>
              </a:ext>
            </a:extLst>
          </p:cNvPr>
          <p:cNvGraphicFramePr>
            <a:graphicFrameLocks noGrp="1"/>
          </p:cNvGraphicFramePr>
          <p:nvPr>
            <p:extLst>
              <p:ext uri="{D42A27DB-BD31-4B8C-83A1-F6EECF244321}">
                <p14:modId xmlns:p14="http://schemas.microsoft.com/office/powerpoint/2010/main" val="467026494"/>
              </p:ext>
            </p:extLst>
          </p:nvPr>
        </p:nvGraphicFramePr>
        <p:xfrm>
          <a:off x="749405" y="4370479"/>
          <a:ext cx="10691570" cy="2220540"/>
        </p:xfrm>
        <a:graphic>
          <a:graphicData uri="http://schemas.openxmlformats.org/drawingml/2006/table">
            <a:tbl>
              <a:tblPr firstRow="1" bandRow="1">
                <a:tableStyleId>{5C22544A-7EE6-4342-B048-85BDC9FD1C3A}</a:tableStyleId>
              </a:tblPr>
              <a:tblGrid>
                <a:gridCol w="2138314">
                  <a:extLst>
                    <a:ext uri="{9D8B030D-6E8A-4147-A177-3AD203B41FA5}">
                      <a16:colId xmlns:a16="http://schemas.microsoft.com/office/drawing/2014/main" val="1160717358"/>
                    </a:ext>
                  </a:extLst>
                </a:gridCol>
                <a:gridCol w="2138314">
                  <a:extLst>
                    <a:ext uri="{9D8B030D-6E8A-4147-A177-3AD203B41FA5}">
                      <a16:colId xmlns:a16="http://schemas.microsoft.com/office/drawing/2014/main" val="2525138011"/>
                    </a:ext>
                  </a:extLst>
                </a:gridCol>
                <a:gridCol w="2138314">
                  <a:extLst>
                    <a:ext uri="{9D8B030D-6E8A-4147-A177-3AD203B41FA5}">
                      <a16:colId xmlns:a16="http://schemas.microsoft.com/office/drawing/2014/main" val="2143951152"/>
                    </a:ext>
                  </a:extLst>
                </a:gridCol>
                <a:gridCol w="2138314">
                  <a:extLst>
                    <a:ext uri="{9D8B030D-6E8A-4147-A177-3AD203B41FA5}">
                      <a16:colId xmlns:a16="http://schemas.microsoft.com/office/drawing/2014/main" val="341959854"/>
                    </a:ext>
                  </a:extLst>
                </a:gridCol>
                <a:gridCol w="2138314">
                  <a:extLst>
                    <a:ext uri="{9D8B030D-6E8A-4147-A177-3AD203B41FA5}">
                      <a16:colId xmlns:a16="http://schemas.microsoft.com/office/drawing/2014/main" val="52042542"/>
                    </a:ext>
                  </a:extLst>
                </a:gridCol>
              </a:tblGrid>
              <a:tr h="287055">
                <a:tc>
                  <a:txBody>
                    <a:bodyPr/>
                    <a:lstStyle/>
                    <a:p>
                      <a:pPr lvl="0">
                        <a:buNone/>
                      </a:pPr>
                      <a:r>
                        <a:rPr lang="es-ES" sz="1200" b="0" i="0" u="none" strike="noStrike" noProof="0" dirty="0">
                          <a:solidFill>
                            <a:srgbClr val="000000"/>
                          </a:solidFill>
                          <a:latin typeface="Bierstadt"/>
                        </a:rPr>
                        <a:t>Característica</a:t>
                      </a:r>
                      <a:endParaRPr lang="es-ES" sz="1200"/>
                    </a:p>
                  </a:txBody>
                  <a:tcPr/>
                </a:tc>
                <a:tc>
                  <a:txBody>
                    <a:bodyPr/>
                    <a:lstStyle/>
                    <a:p>
                      <a:pPr lvl="0">
                        <a:buNone/>
                      </a:pPr>
                      <a:r>
                        <a:rPr lang="es-ES" sz="1200" b="0" i="0" u="none" strike="noStrike" noProof="0" dirty="0">
                          <a:solidFill>
                            <a:srgbClr val="000000"/>
                          </a:solidFill>
                          <a:latin typeface="Bierstadt"/>
                        </a:rPr>
                        <a:t>Bootstrap</a:t>
                      </a:r>
                      <a:endParaRPr lang="es-ES" sz="1200"/>
                    </a:p>
                  </a:txBody>
                  <a:tcPr/>
                </a:tc>
                <a:tc>
                  <a:txBody>
                    <a:bodyPr/>
                    <a:lstStyle/>
                    <a:p>
                      <a:pPr lvl="0">
                        <a:buNone/>
                      </a:pPr>
                      <a:r>
                        <a:rPr lang="es-ES" sz="1200" b="0" i="0" u="none" strike="noStrike" noProof="0" err="1">
                          <a:solidFill>
                            <a:srgbClr val="000000"/>
                          </a:solidFill>
                          <a:latin typeface="Bierstadt"/>
                        </a:rPr>
                        <a:t>Tailwind</a:t>
                      </a:r>
                      <a:r>
                        <a:rPr lang="es-ES" sz="1200" b="0" i="0" u="none" strike="noStrike" noProof="0" dirty="0">
                          <a:solidFill>
                            <a:srgbClr val="000000"/>
                          </a:solidFill>
                          <a:latin typeface="Bierstadt"/>
                        </a:rPr>
                        <a:t> </a:t>
                      </a:r>
                      <a:endParaRPr lang="es-ES" sz="1200"/>
                    </a:p>
                  </a:txBody>
                  <a:tcPr/>
                </a:tc>
                <a:tc>
                  <a:txBody>
                    <a:bodyPr/>
                    <a:lstStyle/>
                    <a:p>
                      <a:pPr lvl="0">
                        <a:buNone/>
                      </a:pPr>
                      <a:r>
                        <a:rPr lang="es-ES" sz="1200" b="0" i="0" u="none" strike="noStrike" noProof="0" err="1">
                          <a:solidFill>
                            <a:srgbClr val="000000"/>
                          </a:solidFill>
                          <a:latin typeface="Bierstadt"/>
                        </a:rPr>
                        <a:t>Bulma</a:t>
                      </a:r>
                      <a:endParaRPr lang="es-ES" sz="1200"/>
                    </a:p>
                  </a:txBody>
                  <a:tcPr/>
                </a:tc>
                <a:tc>
                  <a:txBody>
                    <a:bodyPr/>
                    <a:lstStyle/>
                    <a:p>
                      <a:pPr lvl="0">
                        <a:buNone/>
                      </a:pPr>
                      <a:r>
                        <a:rPr lang="es-ES" sz="1200" b="0" i="0" u="none" strike="noStrike" noProof="0" err="1">
                          <a:solidFill>
                            <a:srgbClr val="000000"/>
                          </a:solidFill>
                          <a:latin typeface="Bierstadt"/>
                        </a:rPr>
                        <a:t>Foundation</a:t>
                      </a:r>
                      <a:endParaRPr lang="es-ES" sz="1200"/>
                    </a:p>
                  </a:txBody>
                  <a:tcPr/>
                </a:tc>
                <a:extLst>
                  <a:ext uri="{0D108BD9-81ED-4DB2-BD59-A6C34878D82A}">
                    <a16:rowId xmlns:a16="http://schemas.microsoft.com/office/drawing/2014/main" val="3131438781"/>
                  </a:ext>
                </a:extLst>
              </a:tr>
              <a:tr h="300725">
                <a:tc>
                  <a:txBody>
                    <a:bodyPr/>
                    <a:lstStyle/>
                    <a:p>
                      <a:pPr lvl="0">
                        <a:buNone/>
                      </a:pPr>
                      <a:r>
                        <a:rPr lang="es-ES" sz="1200" b="0" i="0" u="none" strike="noStrike" noProof="0" dirty="0">
                          <a:solidFill>
                            <a:srgbClr val="000000"/>
                          </a:solidFill>
                          <a:latin typeface="Bierstadt"/>
                        </a:rPr>
                        <a:t>Enfoque</a:t>
                      </a:r>
                      <a:endParaRPr lang="es-ES" sz="1200"/>
                    </a:p>
                  </a:txBody>
                  <a:tcPr/>
                </a:tc>
                <a:tc>
                  <a:txBody>
                    <a:bodyPr/>
                    <a:lstStyle/>
                    <a:p>
                      <a:pPr lvl="0">
                        <a:buNone/>
                      </a:pPr>
                      <a:r>
                        <a:rPr lang="es-ES" sz="1200" b="0" i="0" u="none" strike="noStrike" noProof="0" dirty="0">
                          <a:solidFill>
                            <a:srgbClr val="000000"/>
                          </a:solidFill>
                          <a:latin typeface="Bierstadt"/>
                        </a:rPr>
                        <a:t>Componentes</a:t>
                      </a:r>
                      <a:endParaRPr lang="es-ES" sz="1200"/>
                    </a:p>
                  </a:txBody>
                  <a:tcPr/>
                </a:tc>
                <a:tc>
                  <a:txBody>
                    <a:bodyPr/>
                    <a:lstStyle/>
                    <a:p>
                      <a:pPr lvl="0">
                        <a:buNone/>
                      </a:pPr>
                      <a:r>
                        <a:rPr lang="es-ES" sz="1200" b="0" i="0" u="none" strike="noStrike" noProof="0" dirty="0">
                          <a:solidFill>
                            <a:srgbClr val="000000"/>
                          </a:solidFill>
                          <a:latin typeface="Bierstadt"/>
                        </a:rPr>
                        <a:t>Utilidades</a:t>
                      </a:r>
                      <a:endParaRPr lang="es-ES" sz="1200"/>
                    </a:p>
                  </a:txBody>
                  <a:tcPr/>
                </a:tc>
                <a:tc>
                  <a:txBody>
                    <a:bodyPr/>
                    <a:lstStyle/>
                    <a:p>
                      <a:pPr lvl="0">
                        <a:buNone/>
                      </a:pPr>
                      <a:r>
                        <a:rPr lang="es-ES" sz="1200" b="0" i="0" u="none" strike="noStrike" noProof="0" dirty="0">
                          <a:solidFill>
                            <a:srgbClr val="000000"/>
                          </a:solidFill>
                          <a:latin typeface="Bierstadt"/>
                        </a:rPr>
                        <a:t>Componentes ligeros</a:t>
                      </a:r>
                      <a:endParaRPr lang="es-ES" sz="1200"/>
                    </a:p>
                  </a:txBody>
                  <a:tcPr/>
                </a:tc>
                <a:tc>
                  <a:txBody>
                    <a:bodyPr/>
                    <a:lstStyle/>
                    <a:p>
                      <a:pPr marL="0" marR="0" lvl="0" indent="0" algn="l">
                        <a:lnSpc>
                          <a:spcPct val="110000"/>
                        </a:lnSpc>
                        <a:spcBef>
                          <a:spcPts val="1000"/>
                        </a:spcBef>
                        <a:spcAft>
                          <a:spcPts val="0"/>
                        </a:spcAft>
                        <a:buNone/>
                      </a:pPr>
                      <a:r>
                        <a:rPr lang="es-ES" sz="1200" b="0" i="0" u="none" strike="noStrike" noProof="0" dirty="0">
                          <a:solidFill>
                            <a:srgbClr val="000000"/>
                          </a:solidFill>
                          <a:latin typeface="Bierstadt"/>
                        </a:rPr>
                        <a:t>Modular y profesional</a:t>
                      </a:r>
                      <a:endParaRPr lang="es-ES" sz="1200" b="0" i="0" u="none" strike="noStrike" noProof="0">
                        <a:latin typeface="Bierstadt"/>
                      </a:endParaRPr>
                    </a:p>
                  </a:txBody>
                  <a:tcPr/>
                </a:tc>
                <a:extLst>
                  <a:ext uri="{0D108BD9-81ED-4DB2-BD59-A6C34878D82A}">
                    <a16:rowId xmlns:a16="http://schemas.microsoft.com/office/drawing/2014/main" val="2170023524"/>
                  </a:ext>
                </a:extLst>
              </a:tr>
              <a:tr h="300725">
                <a:tc>
                  <a:txBody>
                    <a:bodyPr/>
                    <a:lstStyle/>
                    <a:p>
                      <a:pPr lvl="0">
                        <a:buNone/>
                      </a:pPr>
                      <a:r>
                        <a:rPr lang="es-ES" sz="1200" b="0" i="0" u="none" strike="noStrike" noProof="0" err="1">
                          <a:solidFill>
                            <a:srgbClr val="000000"/>
                          </a:solidFill>
                          <a:latin typeface="Bierstadt"/>
                        </a:rPr>
                        <a:t>Grid</a:t>
                      </a:r>
                      <a:r>
                        <a:rPr lang="es-ES" sz="1200" b="0" i="0" u="none" strike="noStrike" noProof="0" dirty="0">
                          <a:solidFill>
                            <a:srgbClr val="000000"/>
                          </a:solidFill>
                          <a:latin typeface="Bierstadt"/>
                        </a:rPr>
                        <a:t> </a:t>
                      </a:r>
                      <a:r>
                        <a:rPr lang="es-ES" sz="1200" b="0" i="0" u="none" strike="noStrike" noProof="0" err="1">
                          <a:solidFill>
                            <a:srgbClr val="000000"/>
                          </a:solidFill>
                          <a:latin typeface="Bierstadt"/>
                        </a:rPr>
                        <a:t>System</a:t>
                      </a:r>
                      <a:endParaRPr lang="es-ES" sz="1200"/>
                    </a:p>
                  </a:txBody>
                  <a:tcPr/>
                </a:tc>
                <a:tc>
                  <a:txBody>
                    <a:bodyPr/>
                    <a:lstStyle/>
                    <a:p>
                      <a:pPr lvl="0">
                        <a:buNone/>
                      </a:pPr>
                      <a:r>
                        <a:rPr lang="es-ES" sz="1200" b="0" i="0" u="none" strike="noStrike" noProof="0" dirty="0">
                          <a:solidFill>
                            <a:srgbClr val="000000"/>
                          </a:solidFill>
                          <a:latin typeface="Bierstadt"/>
                        </a:rPr>
                        <a:t>12 columnas (</a:t>
                      </a:r>
                      <a:r>
                        <a:rPr lang="es-ES" sz="1200" b="0" i="0" u="none" strike="noStrike" noProof="0" err="1">
                          <a:solidFill>
                            <a:srgbClr val="000000"/>
                          </a:solidFill>
                          <a:latin typeface="Bierstadt"/>
                        </a:rPr>
                        <a:t>Flexbox</a:t>
                      </a:r>
                      <a:r>
                        <a:rPr lang="es-ES" sz="1200" b="0" i="0" u="none" strike="noStrike" noProof="0" dirty="0">
                          <a:solidFill>
                            <a:srgbClr val="000000"/>
                          </a:solidFill>
                          <a:latin typeface="Bierstadt"/>
                        </a:rPr>
                        <a:t>)</a:t>
                      </a:r>
                      <a:endParaRPr lang="es-ES" sz="1200"/>
                    </a:p>
                  </a:txBody>
                  <a:tcPr/>
                </a:tc>
                <a:tc>
                  <a:txBody>
                    <a:bodyPr/>
                    <a:lstStyle/>
                    <a:p>
                      <a:pPr lvl="0">
                        <a:buNone/>
                      </a:pPr>
                      <a:r>
                        <a:rPr lang="es-ES" sz="1200" b="0" i="0" u="none" strike="noStrike" noProof="0" dirty="0">
                          <a:solidFill>
                            <a:srgbClr val="000000"/>
                          </a:solidFill>
                          <a:latin typeface="Bierstadt"/>
                        </a:rPr>
                        <a:t>Basado en utilidades de </a:t>
                      </a:r>
                      <a:r>
                        <a:rPr lang="es-ES" sz="1200" b="0" i="0" u="none" strike="noStrike" noProof="0" err="1">
                          <a:solidFill>
                            <a:srgbClr val="000000"/>
                          </a:solidFill>
                          <a:latin typeface="Bierstadt"/>
                        </a:rPr>
                        <a:t>Grid</a:t>
                      </a:r>
                      <a:r>
                        <a:rPr lang="es-ES" sz="1200" b="0" i="0" u="none" strike="noStrike" noProof="0" dirty="0">
                          <a:solidFill>
                            <a:srgbClr val="000000"/>
                          </a:solidFill>
                          <a:latin typeface="Bierstadt"/>
                        </a:rPr>
                        <a:t> y </a:t>
                      </a:r>
                      <a:r>
                        <a:rPr lang="es-ES" sz="1200" b="0" i="0" u="none" strike="noStrike" noProof="0" err="1">
                          <a:solidFill>
                            <a:srgbClr val="000000"/>
                          </a:solidFill>
                          <a:latin typeface="Bierstadt"/>
                        </a:rPr>
                        <a:t>Flexbox</a:t>
                      </a:r>
                      <a:endParaRPr lang="es-ES" sz="1200"/>
                    </a:p>
                  </a:txBody>
                  <a:tcPr/>
                </a:tc>
                <a:tc>
                  <a:txBody>
                    <a:bodyPr/>
                    <a:lstStyle/>
                    <a:p>
                      <a:pPr lvl="0">
                        <a:buNone/>
                      </a:pPr>
                      <a:r>
                        <a:rPr lang="es-ES" sz="1200" b="0" i="0" u="none" strike="noStrike" noProof="0" dirty="0">
                          <a:solidFill>
                            <a:srgbClr val="000000"/>
                          </a:solidFill>
                          <a:latin typeface="Bierstadt"/>
                        </a:rPr>
                        <a:t>12 columnas (</a:t>
                      </a:r>
                      <a:r>
                        <a:rPr lang="es-ES" sz="1200" b="0" i="0" u="none" strike="noStrike" noProof="0" err="1">
                          <a:solidFill>
                            <a:srgbClr val="000000"/>
                          </a:solidFill>
                          <a:latin typeface="Bierstadt"/>
                        </a:rPr>
                        <a:t>Flexbox</a:t>
                      </a:r>
                      <a:r>
                        <a:rPr lang="es-ES" sz="1200" b="0" i="0" u="none" strike="noStrike" noProof="0" dirty="0">
                          <a:solidFill>
                            <a:srgbClr val="000000"/>
                          </a:solidFill>
                          <a:latin typeface="Bierstadt"/>
                        </a:rPr>
                        <a:t>)</a:t>
                      </a:r>
                      <a:endParaRPr lang="es-ES" sz="1200"/>
                    </a:p>
                  </a:txBody>
                  <a:tcPr/>
                </a:tc>
                <a:tc>
                  <a:txBody>
                    <a:bodyPr/>
                    <a:lstStyle/>
                    <a:p>
                      <a:pPr marL="0" marR="0" lvl="0" indent="0" algn="l">
                        <a:lnSpc>
                          <a:spcPct val="110000"/>
                        </a:lnSpc>
                        <a:spcBef>
                          <a:spcPts val="1000"/>
                        </a:spcBef>
                        <a:spcAft>
                          <a:spcPts val="0"/>
                        </a:spcAft>
                        <a:buNone/>
                      </a:pPr>
                      <a:r>
                        <a:rPr lang="es-ES" sz="1200" b="0" i="0" u="none" strike="noStrike" noProof="0" dirty="0">
                          <a:solidFill>
                            <a:srgbClr val="000000"/>
                          </a:solidFill>
                          <a:latin typeface="Bierstadt"/>
                        </a:rPr>
                        <a:t>12 columnas (</a:t>
                      </a:r>
                      <a:r>
                        <a:rPr lang="es-ES" sz="1200" b="0" i="0" u="none" strike="noStrike" noProof="0" err="1">
                          <a:solidFill>
                            <a:srgbClr val="000000"/>
                          </a:solidFill>
                          <a:latin typeface="Bierstadt"/>
                        </a:rPr>
                        <a:t>Flexbox</a:t>
                      </a:r>
                      <a:r>
                        <a:rPr lang="es-ES" sz="1200" b="0" i="0" u="none" strike="noStrike" noProof="0" dirty="0">
                          <a:solidFill>
                            <a:srgbClr val="000000"/>
                          </a:solidFill>
                          <a:latin typeface="Bierstadt"/>
                        </a:rPr>
                        <a:t>)</a:t>
                      </a:r>
                      <a:endParaRPr lang="es-ES" sz="1200" b="0" i="0" u="none" strike="noStrike" noProof="0">
                        <a:latin typeface="Bierstadt"/>
                      </a:endParaRPr>
                    </a:p>
                  </a:txBody>
                  <a:tcPr/>
                </a:tc>
                <a:extLst>
                  <a:ext uri="{0D108BD9-81ED-4DB2-BD59-A6C34878D82A}">
                    <a16:rowId xmlns:a16="http://schemas.microsoft.com/office/drawing/2014/main" val="3477472439"/>
                  </a:ext>
                </a:extLst>
              </a:tr>
              <a:tr h="300725">
                <a:tc>
                  <a:txBody>
                    <a:bodyPr/>
                    <a:lstStyle/>
                    <a:p>
                      <a:pPr lvl="0">
                        <a:buNone/>
                      </a:pPr>
                      <a:r>
                        <a:rPr lang="es-ES" sz="1200" b="0" i="0" u="none" strike="noStrike" noProof="0" dirty="0">
                          <a:solidFill>
                            <a:srgbClr val="000000"/>
                          </a:solidFill>
                          <a:latin typeface="Bierstadt"/>
                        </a:rPr>
                        <a:t>JavaScript</a:t>
                      </a:r>
                      <a:endParaRPr lang="es-ES" sz="1200"/>
                    </a:p>
                  </a:txBody>
                  <a:tcPr/>
                </a:tc>
                <a:tc>
                  <a:txBody>
                    <a:bodyPr/>
                    <a:lstStyle/>
                    <a:p>
                      <a:pPr lvl="0">
                        <a:buNone/>
                      </a:pPr>
                      <a:r>
                        <a:rPr lang="es-ES" sz="1200" b="0" i="0" u="none" strike="noStrike" noProof="0" dirty="0">
                          <a:solidFill>
                            <a:srgbClr val="000000"/>
                          </a:solidFill>
                          <a:latin typeface="Bierstadt"/>
                        </a:rPr>
                        <a:t>Sí (requiere)</a:t>
                      </a:r>
                      <a:endParaRPr lang="es-ES" sz="1200"/>
                    </a:p>
                  </a:txBody>
                  <a:tcPr/>
                </a:tc>
                <a:tc>
                  <a:txBody>
                    <a:bodyPr/>
                    <a:lstStyle/>
                    <a:p>
                      <a:pPr lvl="0">
                        <a:buNone/>
                      </a:pPr>
                      <a:r>
                        <a:rPr lang="es-ES" sz="1200" b="0" i="0" u="none" strike="noStrike" noProof="0" dirty="0">
                          <a:solidFill>
                            <a:srgbClr val="000000"/>
                          </a:solidFill>
                          <a:latin typeface="Bierstadt"/>
                        </a:rPr>
                        <a:t>"No (opcional, librerías)"</a:t>
                      </a:r>
                      <a:endParaRPr lang="es-ES" sz="1200"/>
                    </a:p>
                  </a:txBody>
                  <a:tcPr/>
                </a:tc>
                <a:tc>
                  <a:txBody>
                    <a:bodyPr/>
                    <a:lstStyle/>
                    <a:p>
                      <a:pPr lvl="0">
                        <a:buNone/>
                      </a:pPr>
                      <a:r>
                        <a:rPr lang="es-ES" sz="1200" b="0" i="0" u="none" strike="noStrike" noProof="0" dirty="0">
                          <a:solidFill>
                            <a:srgbClr val="000000"/>
                          </a:solidFill>
                          <a:latin typeface="Bierstadt"/>
                        </a:rPr>
                        <a:t>No (requiere JS externo)</a:t>
                      </a:r>
                      <a:endParaRPr lang="es-ES" sz="1200"/>
                    </a:p>
                  </a:txBody>
                  <a:tcPr/>
                </a:tc>
                <a:tc>
                  <a:txBody>
                    <a:bodyPr/>
                    <a:lstStyle/>
                    <a:p>
                      <a:pPr marL="0" marR="0" lvl="0" indent="0" algn="l">
                        <a:lnSpc>
                          <a:spcPct val="110000"/>
                        </a:lnSpc>
                        <a:spcBef>
                          <a:spcPts val="1000"/>
                        </a:spcBef>
                        <a:spcAft>
                          <a:spcPts val="0"/>
                        </a:spcAft>
                        <a:buNone/>
                      </a:pPr>
                      <a:r>
                        <a:rPr lang="es-ES" sz="1200" b="0" i="0" u="none" strike="noStrike" noProof="0" dirty="0">
                          <a:solidFill>
                            <a:srgbClr val="000000"/>
                          </a:solidFill>
                          <a:latin typeface="Bierstadt"/>
                        </a:rPr>
                        <a:t>Sí (opcional)</a:t>
                      </a:r>
                      <a:endParaRPr lang="es-ES" sz="1200" b="0" i="0" u="none" strike="noStrike" noProof="0">
                        <a:latin typeface="Bierstadt"/>
                      </a:endParaRPr>
                    </a:p>
                  </a:txBody>
                  <a:tcPr/>
                </a:tc>
                <a:extLst>
                  <a:ext uri="{0D108BD9-81ED-4DB2-BD59-A6C34878D82A}">
                    <a16:rowId xmlns:a16="http://schemas.microsoft.com/office/drawing/2014/main" val="3723499830"/>
                  </a:ext>
                </a:extLst>
              </a:tr>
              <a:tr h="287055">
                <a:tc>
                  <a:txBody>
                    <a:bodyPr/>
                    <a:lstStyle/>
                    <a:p>
                      <a:pPr lvl="0">
                        <a:buNone/>
                      </a:pPr>
                      <a:r>
                        <a:rPr lang="es-ES" sz="1200" b="0" i="0" u="none" strike="noStrike" noProof="0" dirty="0">
                          <a:solidFill>
                            <a:srgbClr val="000000"/>
                          </a:solidFill>
                          <a:latin typeface="Bierstadt"/>
                        </a:rPr>
                        <a:t>Curva de Aprendizaje</a:t>
                      </a:r>
                      <a:endParaRPr lang="es-ES" sz="1200"/>
                    </a:p>
                  </a:txBody>
                  <a:tcPr/>
                </a:tc>
                <a:tc>
                  <a:txBody>
                    <a:bodyPr/>
                    <a:lstStyle/>
                    <a:p>
                      <a:pPr lvl="0">
                        <a:buNone/>
                      </a:pPr>
                      <a:r>
                        <a:rPr lang="es-ES" sz="1200" b="0" i="0" u="none" strike="noStrike" noProof="0" dirty="0">
                          <a:solidFill>
                            <a:srgbClr val="000000"/>
                          </a:solidFill>
                          <a:latin typeface="Bierstadt"/>
                        </a:rPr>
                        <a:t>Baja</a:t>
                      </a:r>
                      <a:endParaRPr lang="es-ES" sz="1200"/>
                    </a:p>
                  </a:txBody>
                  <a:tcPr/>
                </a:tc>
                <a:tc>
                  <a:txBody>
                    <a:bodyPr/>
                    <a:lstStyle/>
                    <a:p>
                      <a:pPr lvl="0">
                        <a:buNone/>
                      </a:pPr>
                      <a:r>
                        <a:rPr lang="es-ES" sz="1200" b="0" i="0" u="none" strike="noStrike" noProof="0" dirty="0">
                          <a:solidFill>
                            <a:srgbClr val="000000"/>
                          </a:solidFill>
                          <a:latin typeface="Bierstadt"/>
                        </a:rPr>
                        <a:t>Media-Alta</a:t>
                      </a:r>
                      <a:endParaRPr lang="es-ES" sz="1200"/>
                    </a:p>
                  </a:txBody>
                  <a:tcPr/>
                </a:tc>
                <a:tc>
                  <a:txBody>
                    <a:bodyPr/>
                    <a:lstStyle/>
                    <a:p>
                      <a:pPr lvl="0">
                        <a:buNone/>
                      </a:pPr>
                      <a:r>
                        <a:rPr lang="es-ES" sz="1200" b="0" i="0" u="none" strike="noStrike" noProof="0" dirty="0">
                          <a:solidFill>
                            <a:srgbClr val="000000"/>
                          </a:solidFill>
                          <a:latin typeface="Bierstadt"/>
                        </a:rPr>
                        <a:t>Baja</a:t>
                      </a:r>
                      <a:endParaRPr lang="es-ES" sz="1200"/>
                    </a:p>
                  </a:txBody>
                  <a:tcPr/>
                </a:tc>
                <a:tc>
                  <a:txBody>
                    <a:bodyPr/>
                    <a:lstStyle/>
                    <a:p>
                      <a:pPr lvl="0">
                        <a:buNone/>
                      </a:pPr>
                      <a:r>
                        <a:rPr lang="es-ES" sz="1200" b="0" i="0" u="none" strike="noStrike" noProof="0" dirty="0">
                          <a:solidFill>
                            <a:srgbClr val="000000"/>
                          </a:solidFill>
                          <a:latin typeface="Bierstadt"/>
                        </a:rPr>
                        <a:t>Alta</a:t>
                      </a:r>
                      <a:endParaRPr lang="es-ES" sz="1200"/>
                    </a:p>
                  </a:txBody>
                  <a:tcPr/>
                </a:tc>
                <a:extLst>
                  <a:ext uri="{0D108BD9-81ED-4DB2-BD59-A6C34878D82A}">
                    <a16:rowId xmlns:a16="http://schemas.microsoft.com/office/drawing/2014/main" val="1539339167"/>
                  </a:ext>
                </a:extLst>
              </a:tr>
              <a:tr h="300725">
                <a:tc>
                  <a:txBody>
                    <a:bodyPr/>
                    <a:lstStyle/>
                    <a:p>
                      <a:pPr lvl="0">
                        <a:buNone/>
                      </a:pPr>
                      <a:r>
                        <a:rPr lang="es-ES" sz="1200" b="0" i="0" u="none" strike="noStrike" noProof="0" dirty="0">
                          <a:solidFill>
                            <a:srgbClr val="000000"/>
                          </a:solidFill>
                          <a:latin typeface="Bierstadt"/>
                        </a:rPr>
                        <a:t>Tamaño</a:t>
                      </a:r>
                      <a:endParaRPr lang="es-ES" sz="1200"/>
                    </a:p>
                  </a:txBody>
                  <a:tcPr/>
                </a:tc>
                <a:tc>
                  <a:txBody>
                    <a:bodyPr/>
                    <a:lstStyle/>
                    <a:p>
                      <a:pPr lvl="0">
                        <a:buNone/>
                      </a:pPr>
                      <a:r>
                        <a:rPr lang="es-ES" sz="1200" b="0" i="0" u="none" strike="noStrike" noProof="0" dirty="0">
                          <a:solidFill>
                            <a:srgbClr val="000000"/>
                          </a:solidFill>
                          <a:latin typeface="Bierstadt"/>
                        </a:rPr>
                        <a:t>Grande</a:t>
                      </a:r>
                      <a:endParaRPr lang="es-ES" sz="1200"/>
                    </a:p>
                  </a:txBody>
                  <a:tcPr/>
                </a:tc>
                <a:tc>
                  <a:txBody>
                    <a:bodyPr/>
                    <a:lstStyle/>
                    <a:p>
                      <a:pPr lvl="0">
                        <a:buNone/>
                      </a:pPr>
                      <a:r>
                        <a:rPr lang="es-ES" sz="1200" b="0" i="0" u="none" strike="noStrike" noProof="0" dirty="0">
                          <a:solidFill>
                            <a:srgbClr val="000000"/>
                          </a:solidFill>
                          <a:latin typeface="Bierstadt"/>
                        </a:rPr>
                        <a:t>Pequeño (con purga)</a:t>
                      </a:r>
                      <a:endParaRPr lang="es-ES" sz="1200"/>
                    </a:p>
                  </a:txBody>
                  <a:tcPr/>
                </a:tc>
                <a:tc>
                  <a:txBody>
                    <a:bodyPr/>
                    <a:lstStyle/>
                    <a:p>
                      <a:pPr lvl="0">
                        <a:buNone/>
                      </a:pPr>
                      <a:r>
                        <a:rPr lang="es-ES" sz="1200" b="0" i="0" u="none" strike="noStrike" noProof="0" dirty="0">
                          <a:solidFill>
                            <a:srgbClr val="000000"/>
                          </a:solidFill>
                          <a:latin typeface="Bierstadt"/>
                        </a:rPr>
                        <a:t>Pequeño</a:t>
                      </a:r>
                      <a:endParaRPr lang="es-ES" sz="1200"/>
                    </a:p>
                  </a:txBody>
                  <a:tcPr/>
                </a:tc>
                <a:tc>
                  <a:txBody>
                    <a:bodyPr/>
                    <a:lstStyle/>
                    <a:p>
                      <a:pPr marL="0" marR="0" lvl="0" indent="0" algn="l">
                        <a:lnSpc>
                          <a:spcPct val="110000"/>
                        </a:lnSpc>
                        <a:spcBef>
                          <a:spcPts val="1000"/>
                        </a:spcBef>
                        <a:spcAft>
                          <a:spcPts val="0"/>
                        </a:spcAft>
                        <a:buNone/>
                      </a:pPr>
                      <a:r>
                        <a:rPr lang="es-ES" sz="1200" b="0" i="0" u="none" strike="noStrike" noProof="0" dirty="0">
                          <a:solidFill>
                            <a:srgbClr val="000000"/>
                          </a:solidFill>
                          <a:latin typeface="Bierstadt"/>
                        </a:rPr>
                        <a:t>Medio</a:t>
                      </a:r>
                      <a:endParaRPr lang="es-ES" sz="1200" b="0" i="0" u="none" strike="noStrike" noProof="0">
                        <a:latin typeface="Bierstadt"/>
                      </a:endParaRPr>
                    </a:p>
                  </a:txBody>
                  <a:tcPr/>
                </a:tc>
                <a:extLst>
                  <a:ext uri="{0D108BD9-81ED-4DB2-BD59-A6C34878D82A}">
                    <a16:rowId xmlns:a16="http://schemas.microsoft.com/office/drawing/2014/main" val="1410274727"/>
                  </a:ext>
                </a:extLst>
              </a:tr>
              <a:tr h="287055">
                <a:tc>
                  <a:txBody>
                    <a:bodyPr/>
                    <a:lstStyle/>
                    <a:p>
                      <a:pPr lvl="0">
                        <a:buNone/>
                      </a:pPr>
                      <a:r>
                        <a:rPr lang="es-ES" sz="1200" b="0" i="0" u="none" strike="noStrike" noProof="0" dirty="0">
                          <a:solidFill>
                            <a:srgbClr val="000000"/>
                          </a:solidFill>
                          <a:latin typeface="Bierstadt"/>
                        </a:rPr>
                        <a:t>Personalización</a:t>
                      </a:r>
                      <a:endParaRPr lang="es-ES" sz="1200"/>
                    </a:p>
                  </a:txBody>
                  <a:tcPr/>
                </a:tc>
                <a:tc>
                  <a:txBody>
                    <a:bodyPr/>
                    <a:lstStyle/>
                    <a:p>
                      <a:pPr lvl="0">
                        <a:buNone/>
                      </a:pPr>
                      <a:r>
                        <a:rPr lang="es-ES" sz="1200" b="0" i="0" u="none" strike="noStrike" noProof="0" dirty="0">
                          <a:solidFill>
                            <a:srgbClr val="000000"/>
                          </a:solidFill>
                          <a:latin typeface="Bierstadt"/>
                        </a:rPr>
                        <a:t>Media</a:t>
                      </a:r>
                      <a:endParaRPr lang="es-ES" sz="1200"/>
                    </a:p>
                  </a:txBody>
                  <a:tcPr/>
                </a:tc>
                <a:tc>
                  <a:txBody>
                    <a:bodyPr/>
                    <a:lstStyle/>
                    <a:p>
                      <a:pPr lvl="0">
                        <a:buNone/>
                      </a:pPr>
                      <a:r>
                        <a:rPr lang="es-ES" sz="1200" b="0" i="0" u="none" strike="noStrike" noProof="0" dirty="0">
                          <a:solidFill>
                            <a:srgbClr val="000000"/>
                          </a:solidFill>
                          <a:latin typeface="Bierstadt"/>
                        </a:rPr>
                        <a:t>Alta</a:t>
                      </a:r>
                      <a:endParaRPr lang="es-ES" sz="1200"/>
                    </a:p>
                  </a:txBody>
                  <a:tcPr/>
                </a:tc>
                <a:tc>
                  <a:txBody>
                    <a:bodyPr/>
                    <a:lstStyle/>
                    <a:p>
                      <a:pPr lvl="0">
                        <a:buNone/>
                      </a:pPr>
                      <a:r>
                        <a:rPr lang="es-ES" sz="1200" b="0" i="0" u="none" strike="noStrike" noProof="0" dirty="0">
                          <a:solidFill>
                            <a:srgbClr val="000000"/>
                          </a:solidFill>
                          <a:latin typeface="Bierstadt"/>
                        </a:rPr>
                        <a:t>Media</a:t>
                      </a:r>
                      <a:endParaRPr lang="es-ES" sz="1200"/>
                    </a:p>
                  </a:txBody>
                  <a:tcPr/>
                </a:tc>
                <a:tc>
                  <a:txBody>
                    <a:bodyPr/>
                    <a:lstStyle/>
                    <a:p>
                      <a:pPr lvl="0">
                        <a:buNone/>
                      </a:pPr>
                      <a:r>
                        <a:rPr lang="es-ES" sz="1200" b="0" i="0" u="none" strike="noStrike" noProof="0" dirty="0">
                          <a:solidFill>
                            <a:srgbClr val="000000"/>
                          </a:solidFill>
                          <a:latin typeface="Bierstadt"/>
                        </a:rPr>
                        <a:t>Alta</a:t>
                      </a:r>
                      <a:endParaRPr lang="es-ES" sz="1200"/>
                    </a:p>
                  </a:txBody>
                  <a:tcPr/>
                </a:tc>
                <a:extLst>
                  <a:ext uri="{0D108BD9-81ED-4DB2-BD59-A6C34878D82A}">
                    <a16:rowId xmlns:a16="http://schemas.microsoft.com/office/drawing/2014/main" val="1356196031"/>
                  </a:ext>
                </a:extLst>
              </a:tr>
            </a:tbl>
          </a:graphicData>
        </a:graphic>
      </p:graphicFrame>
    </p:spTree>
    <p:extLst>
      <p:ext uri="{BB962C8B-B14F-4D97-AF65-F5344CB8AC3E}">
        <p14:creationId xmlns:p14="http://schemas.microsoft.com/office/powerpoint/2010/main" val="3571949780"/>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C2022B-7C1C-8463-402A-398ADBF2548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08C0213-E034-659C-F42F-BF5FD0AA0848}"/>
              </a:ext>
            </a:extLst>
          </p:cNvPr>
          <p:cNvSpPr>
            <a:spLocks noGrp="1"/>
          </p:cNvSpPr>
          <p:nvPr>
            <p:ph type="title"/>
          </p:nvPr>
        </p:nvSpPr>
        <p:spPr/>
        <p:txBody>
          <a:bodyPr/>
          <a:lstStyle/>
          <a:p>
            <a:r>
              <a:rPr lang="es-ES" b="0" dirty="0">
                <a:ea typeface="+mj-lt"/>
                <a:cs typeface="+mj-lt"/>
              </a:rPr>
              <a:t>2.4. Propiedades de estilos y buenas prácticas</a:t>
            </a:r>
            <a:endParaRPr lang="es-ES" dirty="0"/>
          </a:p>
        </p:txBody>
      </p:sp>
      <p:sp>
        <p:nvSpPr>
          <p:cNvPr id="3" name="Marcador de contenido 2">
            <a:extLst>
              <a:ext uri="{FF2B5EF4-FFF2-40B4-BE49-F238E27FC236}">
                <a16:creationId xmlns:a16="http://schemas.microsoft.com/office/drawing/2014/main" id="{A24565D9-DAAC-F535-13CF-2F957FC0D1E9}"/>
              </a:ext>
            </a:extLst>
          </p:cNvPr>
          <p:cNvSpPr>
            <a:spLocks noGrp="1"/>
          </p:cNvSpPr>
          <p:nvPr>
            <p:ph idx="1"/>
          </p:nvPr>
        </p:nvSpPr>
        <p:spPr/>
        <p:txBody>
          <a:bodyPr vert="horz" lIns="91440" tIns="45720" rIns="91440" bIns="45720" rtlCol="0" anchor="t">
            <a:normAutofit lnSpcReduction="10000"/>
          </a:bodyPr>
          <a:lstStyle/>
          <a:p>
            <a:r>
              <a:rPr lang="es-ES" dirty="0">
                <a:ea typeface="+mn-lt"/>
                <a:cs typeface="+mn-lt"/>
              </a:rPr>
              <a:t>Las propiedades de estilo y las buenas prácticas en CSS son los pilares de un diseño web visualmente atractivo, coherente y fácil de mantener. Este punto no solo se centra en cómo aplicar un color o una fuente, sino también en las convenciones y metodologías que aseguran que tu código sea escalable, legible y sostenible en proyectos de cualquier tamaño.</a:t>
            </a:r>
            <a:endParaRPr lang="es-ES" dirty="0"/>
          </a:p>
          <a:p>
            <a:r>
              <a:rPr lang="es-ES" dirty="0">
                <a:ea typeface="+mn-lt"/>
                <a:cs typeface="+mn-lt"/>
              </a:rPr>
              <a:t>Una correcta aplicación de estilos va más allá de la simple estética; impacta directamente en la experiencia del usuario y en la eficiencia del trabajo en equipo. Adoptar buenas prácticas desde el principio te ahorrará tiempo y te ayudará a evitar problemas en el futuro.</a:t>
            </a:r>
            <a:endParaRPr lang="es-ES" dirty="0"/>
          </a:p>
          <a:p>
            <a:r>
              <a:rPr lang="es-ES" dirty="0">
                <a:ea typeface="+mn-lt"/>
                <a:cs typeface="+mn-lt"/>
              </a:rPr>
              <a:t>Las propiedades de estilo se pueden agrupar en varias categorías principales:</a:t>
            </a:r>
            <a:endParaRPr lang="es-ES" dirty="0"/>
          </a:p>
          <a:p>
            <a:pPr lvl="1">
              <a:buFont typeface="Courier New" panose="020B0604020202020204" pitchFamily="34" charset="0"/>
              <a:buChar char="o"/>
            </a:pPr>
            <a:r>
              <a:rPr lang="es-ES" dirty="0">
                <a:ea typeface="+mn-lt"/>
                <a:cs typeface="+mn-lt"/>
              </a:rPr>
              <a:t>Tipografía: Propiedades relacionadas con el texto, como el tamaño de la fuente (</a:t>
            </a:r>
            <a:r>
              <a:rPr lang="es-ES" dirty="0" err="1">
                <a:ea typeface="+mn-lt"/>
                <a:cs typeface="+mn-lt"/>
              </a:rPr>
              <a:t>font-size</a:t>
            </a:r>
            <a:r>
              <a:rPr lang="es-ES" dirty="0">
                <a:ea typeface="+mn-lt"/>
                <a:cs typeface="+mn-lt"/>
              </a:rPr>
              <a:t>), el tipo de letra (</a:t>
            </a:r>
            <a:r>
              <a:rPr lang="es-ES" dirty="0" err="1">
                <a:ea typeface="+mn-lt"/>
                <a:cs typeface="+mn-lt"/>
              </a:rPr>
              <a:t>font-family</a:t>
            </a:r>
            <a:r>
              <a:rPr lang="es-ES" dirty="0">
                <a:ea typeface="+mn-lt"/>
                <a:cs typeface="+mn-lt"/>
              </a:rPr>
              <a:t>), el peso (</a:t>
            </a:r>
            <a:r>
              <a:rPr lang="es-ES" dirty="0" err="1">
                <a:ea typeface="+mn-lt"/>
                <a:cs typeface="+mn-lt"/>
              </a:rPr>
              <a:t>font-weight</a:t>
            </a:r>
            <a:r>
              <a:rPr lang="es-ES" dirty="0">
                <a:ea typeface="+mn-lt"/>
                <a:cs typeface="+mn-lt"/>
              </a:rPr>
              <a:t>) y el espaciado entre letras (</a:t>
            </a:r>
            <a:r>
              <a:rPr lang="es-ES" dirty="0" err="1">
                <a:ea typeface="+mn-lt"/>
                <a:cs typeface="+mn-lt"/>
              </a:rPr>
              <a:t>letter-spacing</a:t>
            </a:r>
            <a:r>
              <a:rPr lang="es-ES" dirty="0">
                <a:ea typeface="+mn-lt"/>
                <a:cs typeface="+mn-lt"/>
              </a:rPr>
              <a:t>).</a:t>
            </a:r>
            <a:endParaRPr lang="es-ES" dirty="0"/>
          </a:p>
          <a:p>
            <a:pPr lvl="1">
              <a:buFont typeface="Courier New" panose="020B0604020202020204" pitchFamily="34" charset="0"/>
              <a:buChar char="o"/>
            </a:pPr>
            <a:r>
              <a:rPr lang="es-ES">
                <a:ea typeface="+mn-lt"/>
                <a:cs typeface="+mn-lt"/>
              </a:rPr>
              <a:t>Colores y fondos: La gestión de la paleta de colores (color, </a:t>
            </a:r>
            <a:r>
              <a:rPr lang="es-ES" err="1">
                <a:ea typeface="+mn-lt"/>
                <a:cs typeface="+mn-lt"/>
              </a:rPr>
              <a:t>background</a:t>
            </a:r>
            <a:r>
              <a:rPr lang="es-ES" dirty="0">
                <a:ea typeface="+mn-lt"/>
                <a:cs typeface="+mn-lt"/>
              </a:rPr>
              <a:t>-color), las imágenes de fondo (</a:t>
            </a:r>
            <a:r>
              <a:rPr lang="es-ES" err="1">
                <a:ea typeface="+mn-lt"/>
                <a:cs typeface="+mn-lt"/>
              </a:rPr>
              <a:t>background-image</a:t>
            </a:r>
            <a:r>
              <a:rPr lang="es-ES">
                <a:ea typeface="+mn-lt"/>
                <a:cs typeface="+mn-lt"/>
              </a:rPr>
              <a:t>) y los gradientes.</a:t>
            </a:r>
            <a:endParaRPr lang="es-ES"/>
          </a:p>
        </p:txBody>
      </p:sp>
    </p:spTree>
    <p:extLst>
      <p:ext uri="{BB962C8B-B14F-4D97-AF65-F5344CB8AC3E}">
        <p14:creationId xmlns:p14="http://schemas.microsoft.com/office/powerpoint/2010/main" val="3829566863"/>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BACDC5-7A6F-BD6F-76D3-A0D7A4832A5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2F3152E-C203-48E7-37F3-831A6A5AD0D0}"/>
              </a:ext>
            </a:extLst>
          </p:cNvPr>
          <p:cNvSpPr>
            <a:spLocks noGrp="1"/>
          </p:cNvSpPr>
          <p:nvPr>
            <p:ph type="title"/>
          </p:nvPr>
        </p:nvSpPr>
        <p:spPr/>
        <p:txBody>
          <a:bodyPr/>
          <a:lstStyle/>
          <a:p>
            <a:r>
              <a:rPr lang="es-ES" b="0" dirty="0">
                <a:ea typeface="+mj-lt"/>
                <a:cs typeface="+mj-lt"/>
              </a:rPr>
              <a:t>2.4. Propiedades de estilos y buenas prácticas</a:t>
            </a:r>
            <a:endParaRPr lang="es-ES" dirty="0"/>
          </a:p>
        </p:txBody>
      </p:sp>
      <p:sp>
        <p:nvSpPr>
          <p:cNvPr id="3" name="Marcador de contenido 2">
            <a:extLst>
              <a:ext uri="{FF2B5EF4-FFF2-40B4-BE49-F238E27FC236}">
                <a16:creationId xmlns:a16="http://schemas.microsoft.com/office/drawing/2014/main" id="{40B95E3E-3EB5-1EE7-B174-9609DB0D10A6}"/>
              </a:ext>
            </a:extLst>
          </p:cNvPr>
          <p:cNvSpPr>
            <a:spLocks noGrp="1"/>
          </p:cNvSpPr>
          <p:nvPr>
            <p:ph idx="1"/>
          </p:nvPr>
        </p:nvSpPr>
        <p:spPr/>
        <p:txBody>
          <a:bodyPr vert="horz" lIns="91440" tIns="45720" rIns="91440" bIns="45720" rtlCol="0" anchor="t">
            <a:normAutofit lnSpcReduction="10000"/>
          </a:bodyPr>
          <a:lstStyle/>
          <a:p>
            <a:pPr lvl="1">
              <a:buFont typeface="Courier New" panose="020B0604020202020204" pitchFamily="34" charset="0"/>
              <a:buChar char="o"/>
            </a:pPr>
            <a:r>
              <a:rPr lang="es-ES" dirty="0">
                <a:ea typeface="+mn-lt"/>
                <a:cs typeface="+mn-lt"/>
              </a:rPr>
              <a:t>Bordes y sombras: El uso de </a:t>
            </a:r>
            <a:r>
              <a:rPr lang="es-ES" dirty="0" err="1">
                <a:ea typeface="+mn-lt"/>
                <a:cs typeface="+mn-lt"/>
              </a:rPr>
              <a:t>border</a:t>
            </a:r>
            <a:r>
              <a:rPr lang="es-ES" dirty="0">
                <a:ea typeface="+mn-lt"/>
                <a:cs typeface="+mn-lt"/>
              </a:rPr>
              <a:t>, </a:t>
            </a:r>
            <a:r>
              <a:rPr lang="es-ES" dirty="0" err="1">
                <a:ea typeface="+mn-lt"/>
                <a:cs typeface="+mn-lt"/>
              </a:rPr>
              <a:t>border-radius</a:t>
            </a:r>
            <a:r>
              <a:rPr lang="es-ES" dirty="0">
                <a:ea typeface="+mn-lt"/>
                <a:cs typeface="+mn-lt"/>
              </a:rPr>
              <a:t>, box-</a:t>
            </a:r>
            <a:r>
              <a:rPr lang="es-ES" dirty="0" err="1">
                <a:ea typeface="+mn-lt"/>
                <a:cs typeface="+mn-lt"/>
              </a:rPr>
              <a:t>shadow</a:t>
            </a:r>
            <a:r>
              <a:rPr lang="es-ES" dirty="0">
                <a:ea typeface="+mn-lt"/>
                <a:cs typeface="+mn-lt"/>
              </a:rPr>
              <a:t> y </a:t>
            </a:r>
            <a:r>
              <a:rPr lang="es-ES" dirty="0" err="1">
                <a:ea typeface="+mn-lt"/>
                <a:cs typeface="+mn-lt"/>
              </a:rPr>
              <a:t>text-shadow</a:t>
            </a:r>
            <a:r>
              <a:rPr lang="es-ES" dirty="0">
                <a:ea typeface="+mn-lt"/>
                <a:cs typeface="+mn-lt"/>
              </a:rPr>
              <a:t> para dar profundidad y estructura a los elementos. </a:t>
            </a:r>
            <a:endParaRPr lang="es-ES" dirty="0"/>
          </a:p>
          <a:p>
            <a:r>
              <a:rPr lang="es-ES" dirty="0">
                <a:ea typeface="+mn-lt"/>
                <a:cs typeface="+mn-lt"/>
              </a:rPr>
              <a:t>Estilos avanzados: Incluye propiedades como </a:t>
            </a:r>
            <a:r>
              <a:rPr lang="es-ES" dirty="0" err="1">
                <a:ea typeface="+mn-lt"/>
                <a:cs typeface="+mn-lt"/>
              </a:rPr>
              <a:t>transform</a:t>
            </a:r>
            <a:r>
              <a:rPr lang="es-ES" dirty="0">
                <a:ea typeface="+mn-lt"/>
                <a:cs typeface="+mn-lt"/>
              </a:rPr>
              <a:t> para transformaciones 2D y 3D, y </a:t>
            </a:r>
            <a:r>
              <a:rPr lang="es-ES" dirty="0" err="1">
                <a:ea typeface="+mn-lt"/>
                <a:cs typeface="+mn-lt"/>
              </a:rPr>
              <a:t>transition</a:t>
            </a:r>
            <a:r>
              <a:rPr lang="es-ES" dirty="0">
                <a:ea typeface="+mn-lt"/>
                <a:cs typeface="+mn-lt"/>
              </a:rPr>
              <a:t> para animaciones suaves. </a:t>
            </a:r>
          </a:p>
          <a:p>
            <a:r>
              <a:rPr lang="es-ES" dirty="0">
                <a:ea typeface="+mn-lt"/>
                <a:cs typeface="+mn-lt"/>
              </a:rPr>
              <a:t>Por otro lado, las buenas prácticas se enfocan en la organización y la escritura del código:</a:t>
            </a:r>
            <a:endParaRPr lang="es-ES" dirty="0"/>
          </a:p>
          <a:p>
            <a:pPr lvl="1">
              <a:buFont typeface="Courier New" panose="020B0604020202020204" pitchFamily="34" charset="0"/>
              <a:buChar char="o"/>
            </a:pPr>
            <a:r>
              <a:rPr lang="es-ES" dirty="0">
                <a:ea typeface="+mn-lt"/>
                <a:cs typeface="+mn-lt"/>
              </a:rPr>
              <a:t>Nomenclatura de clases: Uso de convenciones como BEM (Block, </a:t>
            </a:r>
            <a:r>
              <a:rPr lang="es-ES" dirty="0" err="1">
                <a:ea typeface="+mn-lt"/>
                <a:cs typeface="+mn-lt"/>
              </a:rPr>
              <a:t>Element</a:t>
            </a:r>
            <a:r>
              <a:rPr lang="es-ES" dirty="0">
                <a:ea typeface="+mn-lt"/>
                <a:cs typeface="+mn-lt"/>
              </a:rPr>
              <a:t>, </a:t>
            </a:r>
            <a:r>
              <a:rPr lang="es-ES" dirty="0" err="1">
                <a:ea typeface="+mn-lt"/>
                <a:cs typeface="+mn-lt"/>
              </a:rPr>
              <a:t>Modifier</a:t>
            </a:r>
            <a:r>
              <a:rPr lang="es-ES" dirty="0">
                <a:ea typeface="+mn-lt"/>
                <a:cs typeface="+mn-lt"/>
              </a:rPr>
              <a:t>) para crear nombres de clases claros y reutilizables.</a:t>
            </a:r>
          </a:p>
          <a:p>
            <a:pPr lvl="1">
              <a:buFont typeface="Courier New" panose="020B0604020202020204" pitchFamily="34" charset="0"/>
              <a:buChar char="o"/>
            </a:pPr>
            <a:r>
              <a:rPr lang="es-ES" dirty="0">
                <a:ea typeface="+mn-lt"/>
                <a:cs typeface="+mn-lt"/>
              </a:rPr>
              <a:t>Organización del CSS: Estructurar las hojas de estilo de forma lógica, ya sea en un solo archivo o dividiéndolas en múltiples archivos para cada componente.</a:t>
            </a:r>
          </a:p>
          <a:p>
            <a:pPr lvl="1">
              <a:buFont typeface="Courier New" panose="020B0604020202020204" pitchFamily="34" charset="0"/>
              <a:buChar char="o"/>
            </a:pPr>
            <a:r>
              <a:rPr lang="es-ES" dirty="0">
                <a:ea typeface="+mn-lt"/>
                <a:cs typeface="+mn-lt"/>
              </a:rPr>
              <a:t>Comentarios: Documentar el código para que sea comprensible para otros desarrolladores y para ti mismo en el futuro.</a:t>
            </a:r>
          </a:p>
          <a:p>
            <a:pPr lvl="1">
              <a:buFont typeface="Courier New" panose="020B0604020202020204" pitchFamily="34" charset="0"/>
              <a:buChar char="o"/>
            </a:pPr>
            <a:r>
              <a:rPr lang="es-ES" dirty="0">
                <a:ea typeface="+mn-lt"/>
                <a:cs typeface="+mn-lt"/>
              </a:rPr>
              <a:t>Optimización: Escribir CSS que sea eficiente y que no afecte el rendimiento de la página.</a:t>
            </a:r>
          </a:p>
        </p:txBody>
      </p:sp>
    </p:spTree>
    <p:extLst>
      <p:ext uri="{BB962C8B-B14F-4D97-AF65-F5344CB8AC3E}">
        <p14:creationId xmlns:p14="http://schemas.microsoft.com/office/powerpoint/2010/main" val="2550243987"/>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E55CFD-C40E-373D-0850-D587AA39CA4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6BFB586-4E4A-6462-C68A-3D0E503A53B0}"/>
              </a:ext>
            </a:extLst>
          </p:cNvPr>
          <p:cNvSpPr>
            <a:spLocks noGrp="1"/>
          </p:cNvSpPr>
          <p:nvPr>
            <p:ph type="title"/>
          </p:nvPr>
        </p:nvSpPr>
        <p:spPr/>
        <p:txBody>
          <a:bodyPr/>
          <a:lstStyle/>
          <a:p>
            <a:r>
              <a:rPr lang="es-ES" b="0" dirty="0">
                <a:ea typeface="+mj-lt"/>
                <a:cs typeface="+mj-lt"/>
              </a:rPr>
              <a:t>2.4. Propiedades de estilos y buenas prácticas</a:t>
            </a:r>
            <a:endParaRPr lang="es-ES" dirty="0"/>
          </a:p>
        </p:txBody>
      </p:sp>
      <p:sp>
        <p:nvSpPr>
          <p:cNvPr id="3" name="Marcador de contenido 2">
            <a:extLst>
              <a:ext uri="{FF2B5EF4-FFF2-40B4-BE49-F238E27FC236}">
                <a16:creationId xmlns:a16="http://schemas.microsoft.com/office/drawing/2014/main" id="{60937AC4-C86A-4745-EF54-672E3F65FCB3}"/>
              </a:ext>
            </a:extLst>
          </p:cNvPr>
          <p:cNvSpPr>
            <a:spLocks noGrp="1"/>
          </p:cNvSpPr>
          <p:nvPr>
            <p:ph idx="1"/>
          </p:nvPr>
        </p:nvSpPr>
        <p:spPr/>
        <p:txBody>
          <a:bodyPr vert="horz" lIns="91440" tIns="45720" rIns="91440" bIns="45720" rtlCol="0" anchor="t">
            <a:normAutofit fontScale="62500" lnSpcReduction="20000"/>
          </a:bodyPr>
          <a:lstStyle/>
          <a:p>
            <a:r>
              <a:rPr lang="es-ES" dirty="0">
                <a:ea typeface="+mn-lt"/>
                <a:cs typeface="+mn-lt"/>
              </a:rPr>
              <a:t>Ejemplo: El siguiente ejemplo muestra la aplicación de varias propiedades de estilo en un solo componente, demostrando cómo estas propiedades trabajan juntas para crear un diseño cohesionado. El contenedor .tarjeta-perfil tiene un fondo blanco, un borde sutil, esquinas redondeadas y una sombra para darle profundidad. Dentro, el h3 tiene una tipografía específica para destacar.</a:t>
            </a:r>
            <a:endParaRPr lang="es-ES" dirty="0"/>
          </a:p>
          <a:p>
            <a:pPr marL="0" indent="0">
              <a:buNone/>
            </a:pPr>
            <a:r>
              <a:rPr lang="es-ES" b="1" dirty="0">
                <a:latin typeface="Courier New"/>
                <a:ea typeface="+mn-lt"/>
                <a:cs typeface="+mn-lt"/>
              </a:rPr>
              <a:t>&lt;</a:t>
            </a:r>
            <a:r>
              <a:rPr lang="es-ES" b="1" dirty="0" err="1">
                <a:latin typeface="Courier New"/>
                <a:ea typeface="+mn-lt"/>
                <a:cs typeface="+mn-lt"/>
              </a:rPr>
              <a:t>div</a:t>
            </a:r>
            <a:r>
              <a:rPr lang="es-ES" b="1" dirty="0">
                <a:latin typeface="Courier New"/>
                <a:ea typeface="+mn-lt"/>
                <a:cs typeface="+mn-lt"/>
              </a:rPr>
              <a:t> </a:t>
            </a:r>
            <a:r>
              <a:rPr lang="es-ES" b="1" dirty="0" err="1">
                <a:latin typeface="Courier New"/>
                <a:ea typeface="+mn-lt"/>
                <a:cs typeface="+mn-lt"/>
              </a:rPr>
              <a:t>class</a:t>
            </a:r>
            <a:r>
              <a:rPr lang="es-ES" b="1" dirty="0">
                <a:latin typeface="Courier New"/>
                <a:ea typeface="+mn-lt"/>
                <a:cs typeface="+mn-lt"/>
              </a:rPr>
              <a:t>="tarjeta-perfil"&gt;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img</a:t>
            </a:r>
            <a:r>
              <a:rPr lang="es-ES" b="1" dirty="0">
                <a:latin typeface="Courier New"/>
                <a:ea typeface="+mn-lt"/>
                <a:cs typeface="+mn-lt"/>
              </a:rPr>
              <a:t> </a:t>
            </a:r>
            <a:r>
              <a:rPr lang="es-ES" b="1" dirty="0" err="1">
                <a:latin typeface="Courier New"/>
                <a:ea typeface="+mn-lt"/>
                <a:cs typeface="+mn-lt"/>
              </a:rPr>
              <a:t>src</a:t>
            </a:r>
            <a:r>
              <a:rPr lang="es-ES" b="1" dirty="0">
                <a:latin typeface="Courier New"/>
                <a:ea typeface="+mn-lt"/>
                <a:cs typeface="+mn-lt"/>
              </a:rPr>
              <a:t>="avatar.jpg" </a:t>
            </a:r>
            <a:r>
              <a:rPr lang="es-ES" b="1" dirty="0" err="1">
                <a:latin typeface="Courier New"/>
                <a:ea typeface="+mn-lt"/>
                <a:cs typeface="+mn-lt"/>
              </a:rPr>
              <a:t>alt</a:t>
            </a:r>
            <a:r>
              <a:rPr lang="es-ES" b="1" dirty="0">
                <a:latin typeface="Courier New"/>
                <a:ea typeface="+mn-lt"/>
                <a:cs typeface="+mn-lt"/>
              </a:rPr>
              <a:t>="Avatar del usuario"&gt;</a:t>
            </a:r>
            <a:br>
              <a:rPr lang="es-ES" b="1" dirty="0">
                <a:latin typeface="Courier New"/>
                <a:ea typeface="+mn-lt"/>
                <a:cs typeface="+mn-lt"/>
              </a:rPr>
            </a:br>
            <a:r>
              <a:rPr lang="es-ES" b="1" dirty="0">
                <a:latin typeface="Courier New"/>
                <a:ea typeface="+mn-lt"/>
                <a:cs typeface="+mn-lt"/>
              </a:rPr>
              <a:t>  &lt;h3&gt;Nombre de Usuario&lt;/h3&gt;</a:t>
            </a:r>
            <a:br>
              <a:rPr lang="es-ES" b="1" dirty="0">
                <a:latin typeface="Courier New"/>
                <a:ea typeface="+mn-lt"/>
                <a:cs typeface="+mn-lt"/>
              </a:rPr>
            </a:br>
            <a:r>
              <a:rPr lang="es-ES" b="1" dirty="0">
                <a:latin typeface="Courier New"/>
                <a:ea typeface="+mn-lt"/>
                <a:cs typeface="+mn-lt"/>
              </a:rPr>
              <a:t>  &lt;p&gt;Desarrollador Web&lt;/p&gt;</a:t>
            </a:r>
            <a:br>
              <a:rPr lang="es-ES" b="1" dirty="0">
                <a:latin typeface="Courier New"/>
                <a:ea typeface="+mn-lt"/>
                <a:cs typeface="+mn-lt"/>
              </a:rPr>
            </a:br>
            <a:r>
              <a:rPr lang="es-ES" b="1" dirty="0">
                <a:latin typeface="Courier New"/>
                <a:ea typeface="+mn-lt"/>
                <a:cs typeface="+mn-lt"/>
              </a:rPr>
              <a:t>&lt;/</a:t>
            </a:r>
            <a:r>
              <a:rPr lang="es-ES" b="1" dirty="0" err="1">
                <a:latin typeface="Courier New"/>
                <a:ea typeface="+mn-lt"/>
                <a:cs typeface="+mn-lt"/>
              </a:rPr>
              <a:t>div</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.tarjeta-perfil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background</a:t>
            </a:r>
            <a:r>
              <a:rPr lang="es-ES" b="1" dirty="0">
                <a:latin typeface="Courier New"/>
                <a:ea typeface="+mn-lt"/>
                <a:cs typeface="+mn-lt"/>
              </a:rPr>
              <a:t>-color: #ffffff;</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border</a:t>
            </a:r>
            <a:r>
              <a:rPr lang="es-ES" b="1" dirty="0">
                <a:latin typeface="Courier New"/>
                <a:ea typeface="+mn-lt"/>
                <a:cs typeface="+mn-lt"/>
              </a:rPr>
              <a:t>: 1px </a:t>
            </a:r>
            <a:r>
              <a:rPr lang="es-ES" b="1" dirty="0" err="1">
                <a:latin typeface="Courier New"/>
                <a:ea typeface="+mn-lt"/>
                <a:cs typeface="+mn-lt"/>
              </a:rPr>
              <a:t>solid</a:t>
            </a:r>
            <a:r>
              <a:rPr lang="es-ES" b="1" dirty="0">
                <a:latin typeface="Courier New"/>
                <a:ea typeface="+mn-lt"/>
                <a:cs typeface="+mn-lt"/>
              </a:rPr>
              <a:t> #e0e0e0;</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border-radius</a:t>
            </a:r>
            <a:r>
              <a:rPr lang="es-ES" b="1" dirty="0">
                <a:latin typeface="Courier New"/>
                <a:ea typeface="+mn-lt"/>
                <a:cs typeface="+mn-lt"/>
              </a:rPr>
              <a:t>: 8px;</a:t>
            </a:r>
            <a:br>
              <a:rPr lang="es-ES" b="1" dirty="0">
                <a:latin typeface="Courier New"/>
                <a:ea typeface="+mn-lt"/>
                <a:cs typeface="+mn-lt"/>
              </a:rPr>
            </a:br>
            <a:r>
              <a:rPr lang="es-ES" b="1" dirty="0">
                <a:latin typeface="Courier New"/>
                <a:ea typeface="+mn-lt"/>
                <a:cs typeface="+mn-lt"/>
              </a:rPr>
              <a:t>  box-</a:t>
            </a:r>
            <a:r>
              <a:rPr lang="es-ES" b="1" dirty="0" err="1">
                <a:latin typeface="Courier New"/>
                <a:ea typeface="+mn-lt"/>
                <a:cs typeface="+mn-lt"/>
              </a:rPr>
              <a:t>shadow</a:t>
            </a:r>
            <a:r>
              <a:rPr lang="es-ES" b="1" dirty="0">
                <a:latin typeface="Courier New"/>
                <a:ea typeface="+mn-lt"/>
                <a:cs typeface="+mn-lt"/>
              </a:rPr>
              <a:t>: 0 4px 6px </a:t>
            </a:r>
            <a:r>
              <a:rPr lang="es-ES" b="1" dirty="0" err="1">
                <a:latin typeface="Courier New"/>
                <a:ea typeface="+mn-lt"/>
                <a:cs typeface="+mn-lt"/>
              </a:rPr>
              <a:t>rgba</a:t>
            </a:r>
            <a:r>
              <a:rPr lang="es-ES" b="1" dirty="0">
                <a:latin typeface="Courier New"/>
                <a:ea typeface="+mn-lt"/>
                <a:cs typeface="+mn-lt"/>
              </a:rPr>
              <a:t>(0, 0, 0, 0.1);</a:t>
            </a:r>
            <a:br>
              <a:rPr lang="en-US" b="1" dirty="0">
                <a:latin typeface="Courier New"/>
              </a:rPr>
            </a:br>
            <a:r>
              <a:rPr lang="es-ES" b="1" dirty="0">
                <a:latin typeface="Courier New"/>
                <a:ea typeface="+mn-lt"/>
                <a:cs typeface="+mn-lt"/>
              </a:rPr>
              <a:t>  </a:t>
            </a:r>
            <a:r>
              <a:rPr lang="es-ES" b="1" dirty="0" err="1">
                <a:latin typeface="Courier New"/>
                <a:ea typeface="+mn-lt"/>
                <a:cs typeface="+mn-lt"/>
              </a:rPr>
              <a:t>padding</a:t>
            </a:r>
            <a:r>
              <a:rPr lang="es-ES" b="1" dirty="0">
                <a:latin typeface="Courier New"/>
                <a:ea typeface="+mn-lt"/>
                <a:cs typeface="+mn-lt"/>
              </a:rPr>
              <a:t>: 20px;</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text-align</a:t>
            </a:r>
            <a:r>
              <a:rPr lang="es-ES" b="1" dirty="0">
                <a:latin typeface="Courier New"/>
                <a:ea typeface="+mn-lt"/>
                <a:cs typeface="+mn-lt"/>
              </a:rPr>
              <a:t>: center;</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font-family</a:t>
            </a:r>
            <a:r>
              <a:rPr lang="es-ES" b="1" dirty="0">
                <a:latin typeface="Courier New"/>
                <a:ea typeface="+mn-lt"/>
                <a:cs typeface="+mn-lt"/>
              </a:rPr>
              <a:t>: 'Arial', </a:t>
            </a:r>
            <a:r>
              <a:rPr lang="es-ES" b="1" dirty="0" err="1">
                <a:latin typeface="Courier New"/>
                <a:ea typeface="+mn-lt"/>
                <a:cs typeface="+mn-lt"/>
              </a:rPr>
              <a:t>sans-serif</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  color: #333;</a:t>
            </a:r>
            <a:br>
              <a:rPr lang="es-ES" b="1" dirty="0">
                <a:latin typeface="Courier New"/>
                <a:ea typeface="+mn-lt"/>
                <a:cs typeface="+mn-lt"/>
              </a:rPr>
            </a:b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.tarjeta-perfil h3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font-size</a:t>
            </a:r>
            <a:r>
              <a:rPr lang="es-ES" b="1" dirty="0">
                <a:latin typeface="Courier New"/>
                <a:ea typeface="+mn-lt"/>
                <a:cs typeface="+mn-lt"/>
              </a:rPr>
              <a:t>: 1.5rem;</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font-weight</a:t>
            </a:r>
            <a:r>
              <a:rPr lang="es-ES" b="1" dirty="0">
                <a:latin typeface="Courier New"/>
                <a:ea typeface="+mn-lt"/>
                <a:cs typeface="+mn-lt"/>
              </a:rPr>
              <a:t>: 700;</a:t>
            </a:r>
            <a:br>
              <a:rPr lang="es-ES" b="1" dirty="0">
                <a:latin typeface="Courier New"/>
                <a:ea typeface="+mn-lt"/>
                <a:cs typeface="+mn-lt"/>
              </a:rPr>
            </a:br>
            <a:r>
              <a:rPr lang="es-ES" b="1" dirty="0">
                <a:latin typeface="Courier New"/>
                <a:ea typeface="+mn-lt"/>
                <a:cs typeface="+mn-lt"/>
              </a:rPr>
              <a:t>  color: #2c3e50;</a:t>
            </a:r>
            <a:br>
              <a:rPr lang="es-ES" b="1" dirty="0">
                <a:latin typeface="Courier New"/>
                <a:ea typeface="+mn-lt"/>
                <a:cs typeface="+mn-lt"/>
              </a:rPr>
            </a:br>
            <a:r>
              <a:rPr lang="es-ES" b="1" dirty="0">
                <a:latin typeface="Courier New"/>
                <a:ea typeface="+mn-lt"/>
                <a:cs typeface="+mn-lt"/>
              </a:rPr>
              <a:t>}</a:t>
            </a:r>
            <a:endParaRPr lang="es-ES" b="1" dirty="0">
              <a:latin typeface="Courier New"/>
              <a:cs typeface="Courier New"/>
            </a:endParaRPr>
          </a:p>
        </p:txBody>
      </p:sp>
    </p:spTree>
    <p:extLst>
      <p:ext uri="{BB962C8B-B14F-4D97-AF65-F5344CB8AC3E}">
        <p14:creationId xmlns:p14="http://schemas.microsoft.com/office/powerpoint/2010/main" val="4027152998"/>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FB4808-5ACD-65DB-98B7-8F248AD4355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9F04C10-B8DB-9629-F33B-481FFEEAEE16}"/>
              </a:ext>
            </a:extLst>
          </p:cNvPr>
          <p:cNvSpPr>
            <a:spLocks noGrp="1"/>
          </p:cNvSpPr>
          <p:nvPr>
            <p:ph type="title"/>
          </p:nvPr>
        </p:nvSpPr>
        <p:spPr/>
        <p:txBody>
          <a:bodyPr/>
          <a:lstStyle/>
          <a:p>
            <a:r>
              <a:rPr lang="es-ES" b="0" dirty="0">
                <a:ea typeface="+mj-lt"/>
                <a:cs typeface="+mj-lt"/>
              </a:rPr>
              <a:t>2.4.1. Propiedades de tipografía (</a:t>
            </a:r>
            <a:r>
              <a:rPr lang="es-ES" b="0" dirty="0" err="1">
                <a:ea typeface="+mj-lt"/>
                <a:cs typeface="+mj-lt"/>
              </a:rPr>
              <a:t>font-family</a:t>
            </a:r>
            <a:r>
              <a:rPr lang="es-ES" b="0" dirty="0">
                <a:ea typeface="+mj-lt"/>
                <a:cs typeface="+mj-lt"/>
              </a:rPr>
              <a:t>, </a:t>
            </a:r>
            <a:r>
              <a:rPr lang="es-ES" b="0" dirty="0" err="1">
                <a:ea typeface="+mj-lt"/>
                <a:cs typeface="+mj-lt"/>
              </a:rPr>
              <a:t>font-size</a:t>
            </a:r>
            <a:r>
              <a:rPr lang="es-ES" b="0" dirty="0">
                <a:ea typeface="+mj-lt"/>
                <a:cs typeface="+mj-lt"/>
              </a:rPr>
              <a:t>, line-</a:t>
            </a:r>
            <a:r>
              <a:rPr lang="es-ES" b="0" dirty="0" err="1">
                <a:ea typeface="+mj-lt"/>
                <a:cs typeface="+mj-lt"/>
              </a:rPr>
              <a:t>height</a:t>
            </a:r>
            <a:r>
              <a:rPr lang="es-ES" b="0" dirty="0">
                <a:ea typeface="+mj-lt"/>
                <a:cs typeface="+mj-lt"/>
              </a:rPr>
              <a:t>).</a:t>
            </a:r>
            <a:endParaRPr lang="es-ES" dirty="0"/>
          </a:p>
        </p:txBody>
      </p:sp>
      <p:sp>
        <p:nvSpPr>
          <p:cNvPr id="3" name="Marcador de contenido 2">
            <a:extLst>
              <a:ext uri="{FF2B5EF4-FFF2-40B4-BE49-F238E27FC236}">
                <a16:creationId xmlns:a16="http://schemas.microsoft.com/office/drawing/2014/main" id="{0C165045-F11D-F9FB-E088-22365D6E018F}"/>
              </a:ext>
            </a:extLst>
          </p:cNvPr>
          <p:cNvSpPr>
            <a:spLocks noGrp="1"/>
          </p:cNvSpPr>
          <p:nvPr>
            <p:ph idx="1"/>
          </p:nvPr>
        </p:nvSpPr>
        <p:spPr/>
        <p:txBody>
          <a:bodyPr vert="horz" lIns="91440" tIns="45720" rIns="91440" bIns="45720" rtlCol="0" anchor="t">
            <a:normAutofit fontScale="70000" lnSpcReduction="20000"/>
          </a:bodyPr>
          <a:lstStyle/>
          <a:p>
            <a:r>
              <a:rPr lang="es-ES" dirty="0">
                <a:ea typeface="+mn-lt"/>
                <a:cs typeface="+mn-lt"/>
              </a:rPr>
              <a:t>La tipografía en CSS es el conjunto de propiedades que te permiten controlar la apariencia del texto en tu página web. Un buen uso de la tipografía es crucial para la legibilidad, la jerarquía visual y la estética de tu diseño.</a:t>
            </a:r>
            <a:endParaRPr lang="es-ES" dirty="0"/>
          </a:p>
          <a:p>
            <a:r>
              <a:rPr lang="es-ES" dirty="0" err="1">
                <a:ea typeface="+mn-lt"/>
                <a:cs typeface="+mn-lt"/>
              </a:rPr>
              <a:t>font-family</a:t>
            </a:r>
            <a:r>
              <a:rPr lang="es-ES" dirty="0">
                <a:ea typeface="+mn-lt"/>
                <a:cs typeface="+mn-lt"/>
              </a:rPr>
              <a:t>: Esta propiedad define el tipo de letra que se usará para el texto. Es una de las propiedades más importantes, ya que tiene un impacto directo en la apariencia visual de la página. Es una buena práctica incluir una "pila de fuentes" (</a:t>
            </a:r>
            <a:r>
              <a:rPr lang="es-ES" dirty="0" err="1">
                <a:ea typeface="+mn-lt"/>
                <a:cs typeface="+mn-lt"/>
              </a:rPr>
              <a:t>font</a:t>
            </a:r>
            <a:r>
              <a:rPr lang="es-ES" dirty="0">
                <a:ea typeface="+mn-lt"/>
                <a:cs typeface="+mn-lt"/>
              </a:rPr>
              <a:t> </a:t>
            </a:r>
            <a:r>
              <a:rPr lang="es-ES" dirty="0" err="1">
                <a:ea typeface="+mn-lt"/>
                <a:cs typeface="+mn-lt"/>
              </a:rPr>
              <a:t>stack</a:t>
            </a:r>
            <a:r>
              <a:rPr lang="es-ES" dirty="0">
                <a:ea typeface="+mn-lt"/>
                <a:cs typeface="+mn-lt"/>
              </a:rPr>
              <a:t>), que es una lista de fuentes de reserva. El navegador intentará cargar la primera fuente de la lista; si no está disponible, pasará a la siguiente. La lista siempre debe terminar con una familia de fuente genérica (como </a:t>
            </a:r>
            <a:r>
              <a:rPr lang="es-ES" dirty="0" err="1">
                <a:ea typeface="+mn-lt"/>
                <a:cs typeface="+mn-lt"/>
              </a:rPr>
              <a:t>serif</a:t>
            </a:r>
            <a:r>
              <a:rPr lang="es-ES" dirty="0">
                <a:ea typeface="+mn-lt"/>
                <a:cs typeface="+mn-lt"/>
              </a:rPr>
              <a:t>, </a:t>
            </a:r>
            <a:r>
              <a:rPr lang="es-ES" dirty="0" err="1">
                <a:ea typeface="+mn-lt"/>
                <a:cs typeface="+mn-lt"/>
              </a:rPr>
              <a:t>sans-serif</a:t>
            </a:r>
            <a:r>
              <a:rPr lang="es-ES" dirty="0">
                <a:ea typeface="+mn-lt"/>
                <a:cs typeface="+mn-lt"/>
              </a:rPr>
              <a:t> o </a:t>
            </a:r>
            <a:r>
              <a:rPr lang="es-ES" dirty="0" err="1">
                <a:ea typeface="+mn-lt"/>
                <a:cs typeface="+mn-lt"/>
              </a:rPr>
              <a:t>monospace</a:t>
            </a:r>
            <a:r>
              <a:rPr lang="es-ES" dirty="0">
                <a:ea typeface="+mn-lt"/>
                <a:cs typeface="+mn-lt"/>
              </a:rPr>
              <a:t>) para garantizar que el texto se renderice.</a:t>
            </a:r>
            <a:endParaRPr lang="es-ES" dirty="0"/>
          </a:p>
          <a:p>
            <a:pPr marL="0" indent="0">
              <a:buNone/>
            </a:pPr>
            <a:r>
              <a:rPr lang="es-ES" b="1" dirty="0" err="1">
                <a:latin typeface="Courier New"/>
                <a:ea typeface="+mn-lt"/>
                <a:cs typeface="+mn-lt"/>
              </a:rPr>
              <a:t>body</a:t>
            </a: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font-family</a:t>
            </a:r>
            <a:r>
              <a:rPr lang="es-ES" b="1" dirty="0">
                <a:latin typeface="Courier New"/>
                <a:ea typeface="+mn-lt"/>
                <a:cs typeface="+mn-lt"/>
              </a:rPr>
              <a:t>: '</a:t>
            </a:r>
            <a:r>
              <a:rPr lang="es-ES" b="1" dirty="0" err="1">
                <a:latin typeface="Courier New"/>
                <a:ea typeface="+mn-lt"/>
                <a:cs typeface="+mn-lt"/>
              </a:rPr>
              <a:t>Helvetica</a:t>
            </a:r>
            <a:r>
              <a:rPr lang="es-ES" b="1" dirty="0">
                <a:latin typeface="Courier New"/>
                <a:ea typeface="+mn-lt"/>
                <a:cs typeface="+mn-lt"/>
              </a:rPr>
              <a:t> Neue', Arial, </a:t>
            </a:r>
            <a:r>
              <a:rPr lang="es-ES" b="1" dirty="0" err="1">
                <a:latin typeface="Courier New"/>
                <a:ea typeface="+mn-lt"/>
                <a:cs typeface="+mn-lt"/>
              </a:rPr>
              <a:t>sans-serif</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a:t>
            </a:r>
          </a:p>
          <a:p>
            <a:r>
              <a:rPr lang="es-ES" dirty="0" err="1">
                <a:ea typeface="+mn-lt"/>
                <a:cs typeface="+mn-lt"/>
              </a:rPr>
              <a:t>font-size</a:t>
            </a:r>
            <a:r>
              <a:rPr lang="es-ES" dirty="0">
                <a:ea typeface="+mn-lt"/>
                <a:cs typeface="+mn-lt"/>
              </a:rPr>
              <a:t>: Controla el tamaño del texto. Puedes usar varias unidades de medida, y la elección de la unidad es fundamental para un diseño responsive.</a:t>
            </a:r>
          </a:p>
          <a:p>
            <a:pPr marL="0" indent="0">
              <a:buNone/>
            </a:pPr>
            <a:r>
              <a:rPr lang="es-ES" b="1" dirty="0">
                <a:latin typeface="Courier New"/>
                <a:ea typeface="+mn-lt"/>
                <a:cs typeface="+mn-lt"/>
              </a:rPr>
              <a:t>h1 {</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font-size</a:t>
            </a:r>
            <a:r>
              <a:rPr lang="es-ES" b="1" dirty="0">
                <a:latin typeface="Courier New"/>
                <a:ea typeface="+mn-lt"/>
                <a:cs typeface="+mn-lt"/>
              </a:rPr>
              <a:t>: 2.5rem;</a:t>
            </a:r>
            <a:br>
              <a:rPr lang="es-ES" b="1" dirty="0">
                <a:latin typeface="Courier New"/>
                <a:ea typeface="+mn-lt"/>
                <a:cs typeface="+mn-lt"/>
              </a:rPr>
            </a:b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p {</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font-size</a:t>
            </a:r>
            <a:r>
              <a:rPr lang="es-ES" b="1" dirty="0">
                <a:latin typeface="Courier New"/>
                <a:ea typeface="+mn-lt"/>
                <a:cs typeface="+mn-lt"/>
              </a:rPr>
              <a:t>: 16px;</a:t>
            </a:r>
            <a:br>
              <a:rPr lang="es-ES" b="1" dirty="0">
                <a:latin typeface="Courier New"/>
                <a:ea typeface="+mn-lt"/>
                <a:cs typeface="+mn-lt"/>
              </a:rPr>
            </a:br>
            <a:r>
              <a:rPr lang="es-ES" b="1" dirty="0">
                <a:latin typeface="Courier New"/>
                <a:ea typeface="+mn-lt"/>
                <a:cs typeface="+mn-lt"/>
              </a:rPr>
              <a:t>}</a:t>
            </a:r>
            <a:endParaRPr lang="es-ES" b="1" dirty="0">
              <a:latin typeface="Courier New"/>
              <a:cs typeface="Courier New"/>
            </a:endParaRPr>
          </a:p>
        </p:txBody>
      </p:sp>
    </p:spTree>
    <p:extLst>
      <p:ext uri="{BB962C8B-B14F-4D97-AF65-F5344CB8AC3E}">
        <p14:creationId xmlns:p14="http://schemas.microsoft.com/office/powerpoint/2010/main" val="1506124949"/>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DFCE1C-A518-481E-9FF1-D8530ED74AD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AC90F25-E0A5-D24A-E991-05BF9D3B7F97}"/>
              </a:ext>
            </a:extLst>
          </p:cNvPr>
          <p:cNvSpPr>
            <a:spLocks noGrp="1"/>
          </p:cNvSpPr>
          <p:nvPr>
            <p:ph type="title"/>
          </p:nvPr>
        </p:nvSpPr>
        <p:spPr/>
        <p:txBody>
          <a:bodyPr/>
          <a:lstStyle/>
          <a:p>
            <a:r>
              <a:rPr lang="es-ES" b="0" dirty="0">
                <a:ea typeface="+mj-lt"/>
                <a:cs typeface="+mj-lt"/>
              </a:rPr>
              <a:t>2.4.1. Propiedades de tipografía (</a:t>
            </a:r>
            <a:r>
              <a:rPr lang="es-ES" b="0" dirty="0" err="1">
                <a:ea typeface="+mj-lt"/>
                <a:cs typeface="+mj-lt"/>
              </a:rPr>
              <a:t>font-family</a:t>
            </a:r>
            <a:r>
              <a:rPr lang="es-ES" b="0" dirty="0">
                <a:ea typeface="+mj-lt"/>
                <a:cs typeface="+mj-lt"/>
              </a:rPr>
              <a:t>, </a:t>
            </a:r>
            <a:r>
              <a:rPr lang="es-ES" b="0" dirty="0" err="1">
                <a:ea typeface="+mj-lt"/>
                <a:cs typeface="+mj-lt"/>
              </a:rPr>
              <a:t>font-size</a:t>
            </a:r>
            <a:r>
              <a:rPr lang="es-ES" b="0" dirty="0">
                <a:ea typeface="+mj-lt"/>
                <a:cs typeface="+mj-lt"/>
              </a:rPr>
              <a:t>, line-</a:t>
            </a:r>
            <a:r>
              <a:rPr lang="es-ES" b="0" dirty="0" err="1">
                <a:ea typeface="+mj-lt"/>
                <a:cs typeface="+mj-lt"/>
              </a:rPr>
              <a:t>height</a:t>
            </a:r>
            <a:r>
              <a:rPr lang="es-ES" b="0" dirty="0">
                <a:ea typeface="+mj-lt"/>
                <a:cs typeface="+mj-lt"/>
              </a:rPr>
              <a:t>).</a:t>
            </a:r>
            <a:endParaRPr lang="es-ES" dirty="0"/>
          </a:p>
        </p:txBody>
      </p:sp>
      <p:sp>
        <p:nvSpPr>
          <p:cNvPr id="3" name="Marcador de contenido 2">
            <a:extLst>
              <a:ext uri="{FF2B5EF4-FFF2-40B4-BE49-F238E27FC236}">
                <a16:creationId xmlns:a16="http://schemas.microsoft.com/office/drawing/2014/main" id="{B29F9242-4C63-76F0-B80F-4D1626FF91BE}"/>
              </a:ext>
            </a:extLst>
          </p:cNvPr>
          <p:cNvSpPr>
            <a:spLocks noGrp="1"/>
          </p:cNvSpPr>
          <p:nvPr>
            <p:ph idx="1"/>
          </p:nvPr>
        </p:nvSpPr>
        <p:spPr/>
        <p:txBody>
          <a:bodyPr vert="horz" lIns="91440" tIns="45720" rIns="91440" bIns="45720" rtlCol="0" anchor="t">
            <a:normAutofit fontScale="70000" lnSpcReduction="20000"/>
          </a:bodyPr>
          <a:lstStyle/>
          <a:p>
            <a:r>
              <a:rPr lang="es-ES" dirty="0" err="1">
                <a:ea typeface="+mn-lt"/>
                <a:cs typeface="+mn-lt"/>
              </a:rPr>
              <a:t>font-weight</a:t>
            </a:r>
            <a:r>
              <a:rPr lang="es-ES" dirty="0">
                <a:ea typeface="+mn-lt"/>
                <a:cs typeface="+mn-lt"/>
              </a:rPr>
              <a:t>: Define el grosor o el peso de la fuente. Puedes usar valores numéricos (de 100 a 900) o palabras clave. Los valores más comunes son:</a:t>
            </a:r>
          </a:p>
          <a:p>
            <a:pPr lvl="1">
              <a:buFont typeface="Courier New" panose="020B0604020202020204" pitchFamily="34" charset="0"/>
              <a:buChar char="o"/>
            </a:pPr>
            <a:r>
              <a:rPr lang="es-ES" dirty="0">
                <a:ea typeface="+mn-lt"/>
                <a:cs typeface="+mn-lt"/>
              </a:rPr>
              <a:t>normal (400)</a:t>
            </a:r>
            <a:endParaRPr lang="es-ES" dirty="0"/>
          </a:p>
          <a:p>
            <a:pPr lvl="1">
              <a:buFont typeface="Courier New" panose="020B0604020202020204" pitchFamily="34" charset="0"/>
              <a:buChar char="o"/>
            </a:pPr>
            <a:r>
              <a:rPr lang="es-ES" dirty="0" err="1">
                <a:ea typeface="+mn-lt"/>
                <a:cs typeface="+mn-lt"/>
              </a:rPr>
              <a:t>bold</a:t>
            </a:r>
            <a:r>
              <a:rPr lang="es-ES" dirty="0">
                <a:ea typeface="+mn-lt"/>
                <a:cs typeface="+mn-lt"/>
              </a:rPr>
              <a:t> (700)</a:t>
            </a:r>
          </a:p>
          <a:p>
            <a:pPr lvl="1">
              <a:buFont typeface="Courier New" panose="020B0604020202020204" pitchFamily="34" charset="0"/>
              <a:buChar char="o"/>
            </a:pPr>
            <a:r>
              <a:rPr lang="es-ES" dirty="0" err="1">
                <a:ea typeface="+mn-lt"/>
                <a:cs typeface="+mn-lt"/>
              </a:rPr>
              <a:t>lighter</a:t>
            </a:r>
            <a:endParaRPr lang="es-ES" dirty="0" err="1"/>
          </a:p>
          <a:p>
            <a:pPr lvl="1">
              <a:buFont typeface="Courier New" panose="020B0604020202020204" pitchFamily="34" charset="0"/>
              <a:buChar char="o"/>
            </a:pPr>
            <a:r>
              <a:rPr lang="es-ES" dirty="0" err="1">
                <a:ea typeface="+mn-lt"/>
                <a:cs typeface="+mn-lt"/>
              </a:rPr>
              <a:t>bolder</a:t>
            </a:r>
            <a:endParaRPr lang="es-ES" dirty="0" err="1"/>
          </a:p>
          <a:p>
            <a:pPr marL="0" indent="0">
              <a:buNone/>
            </a:pPr>
            <a:r>
              <a:rPr lang="es-ES" b="1" dirty="0">
                <a:latin typeface="Courier New"/>
                <a:ea typeface="+mn-lt"/>
                <a:cs typeface="+mn-lt"/>
              </a:rPr>
              <a:t>h1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font-weight</a:t>
            </a:r>
            <a:r>
              <a:rPr lang="es-ES" b="1" dirty="0">
                <a:latin typeface="Courier New"/>
                <a:ea typeface="+mn-lt"/>
                <a:cs typeface="+mn-lt"/>
              </a:rPr>
              <a:t>: 700;</a:t>
            </a:r>
            <a:br>
              <a:rPr lang="es-ES" b="1" dirty="0">
                <a:latin typeface="Courier New"/>
                <a:ea typeface="+mn-lt"/>
                <a:cs typeface="+mn-lt"/>
              </a:rPr>
            </a:b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.subtitulo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font-weight</a:t>
            </a:r>
            <a:r>
              <a:rPr lang="es-ES" b="1" dirty="0">
                <a:latin typeface="Courier New"/>
                <a:ea typeface="+mn-lt"/>
                <a:cs typeface="+mn-lt"/>
              </a:rPr>
              <a:t>: </a:t>
            </a:r>
            <a:r>
              <a:rPr lang="es-ES" b="1" dirty="0" err="1">
                <a:latin typeface="Courier New"/>
                <a:ea typeface="+mn-lt"/>
                <a:cs typeface="+mn-lt"/>
              </a:rPr>
              <a:t>lighter</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a:t>
            </a:r>
          </a:p>
          <a:p>
            <a:r>
              <a:rPr lang="es-ES" dirty="0">
                <a:ea typeface="+mn-lt"/>
                <a:cs typeface="+mn-lt"/>
              </a:rPr>
              <a:t>line-</a:t>
            </a:r>
            <a:r>
              <a:rPr lang="es-ES" dirty="0" err="1">
                <a:ea typeface="+mn-lt"/>
                <a:cs typeface="+mn-lt"/>
              </a:rPr>
              <a:t>height</a:t>
            </a:r>
            <a:r>
              <a:rPr lang="es-ES" dirty="0">
                <a:ea typeface="+mn-lt"/>
                <a:cs typeface="+mn-lt"/>
              </a:rPr>
              <a:t>: Establece la altura de la línea del texto. Aumentar este valor mejora la legibilidad, ya que añade más espacio entre las líneas. Se recomienda un valor sin unidad, que se interpreta como un múltiplo del </a:t>
            </a:r>
            <a:r>
              <a:rPr lang="es-ES" dirty="0" err="1">
                <a:ea typeface="+mn-lt"/>
                <a:cs typeface="+mn-lt"/>
              </a:rPr>
              <a:t>font-size</a:t>
            </a:r>
            <a:r>
              <a:rPr lang="es-ES" dirty="0">
                <a:ea typeface="+mn-lt"/>
                <a:cs typeface="+mn-lt"/>
              </a:rPr>
              <a:t> del elemento.</a:t>
            </a:r>
          </a:p>
          <a:p>
            <a:pPr marL="0" indent="0">
              <a:buNone/>
            </a:pPr>
            <a:r>
              <a:rPr lang="es-ES" b="1" dirty="0">
                <a:latin typeface="Courier New"/>
                <a:ea typeface="+mn-lt"/>
                <a:cs typeface="+mn-lt"/>
              </a:rPr>
              <a:t>p {</a:t>
            </a:r>
            <a:br>
              <a:rPr lang="es-ES" b="1" dirty="0">
                <a:latin typeface="Courier New"/>
                <a:ea typeface="+mn-lt"/>
                <a:cs typeface="+mn-lt"/>
              </a:rPr>
            </a:br>
            <a:r>
              <a:rPr lang="es-ES" b="1" dirty="0">
                <a:latin typeface="Courier New"/>
                <a:ea typeface="+mn-lt"/>
                <a:cs typeface="+mn-lt"/>
              </a:rPr>
              <a:t>  line-</a:t>
            </a:r>
            <a:r>
              <a:rPr lang="es-ES" b="1" dirty="0" err="1">
                <a:latin typeface="Courier New"/>
                <a:ea typeface="+mn-lt"/>
                <a:cs typeface="+mn-lt"/>
              </a:rPr>
              <a:t>height</a:t>
            </a:r>
            <a:r>
              <a:rPr lang="es-ES" b="1" dirty="0">
                <a:latin typeface="Courier New"/>
                <a:ea typeface="+mn-lt"/>
                <a:cs typeface="+mn-lt"/>
              </a:rPr>
              <a:t>: 1.6; /* Altura de línea del 160% del tamaño de la fuente */</a:t>
            </a:r>
            <a:br>
              <a:rPr lang="es-ES" b="1" dirty="0">
                <a:latin typeface="Courier New"/>
                <a:ea typeface="+mn-lt"/>
                <a:cs typeface="+mn-lt"/>
              </a:rPr>
            </a:br>
            <a:r>
              <a:rPr lang="es-ES" b="1" dirty="0">
                <a:latin typeface="Courier New"/>
                <a:ea typeface="+mn-lt"/>
                <a:cs typeface="+mn-lt"/>
              </a:rPr>
              <a:t>}</a:t>
            </a:r>
          </a:p>
          <a:p>
            <a:endParaRPr lang="es-ES" dirty="0">
              <a:latin typeface="Bierstadt"/>
              <a:cs typeface="Courier New"/>
            </a:endParaRPr>
          </a:p>
        </p:txBody>
      </p:sp>
    </p:spTree>
    <p:extLst>
      <p:ext uri="{BB962C8B-B14F-4D97-AF65-F5344CB8AC3E}">
        <p14:creationId xmlns:p14="http://schemas.microsoft.com/office/powerpoint/2010/main" val="1348840663"/>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DBA055-8BCB-CAF3-752D-E2CBCC4BD21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DBAFBA3-E884-0DDC-26EE-F333815B5C50}"/>
              </a:ext>
            </a:extLst>
          </p:cNvPr>
          <p:cNvSpPr>
            <a:spLocks noGrp="1"/>
          </p:cNvSpPr>
          <p:nvPr>
            <p:ph type="title"/>
          </p:nvPr>
        </p:nvSpPr>
        <p:spPr/>
        <p:txBody>
          <a:bodyPr/>
          <a:lstStyle/>
          <a:p>
            <a:r>
              <a:rPr lang="es-ES" b="0" dirty="0">
                <a:ea typeface="+mj-lt"/>
                <a:cs typeface="+mj-lt"/>
              </a:rPr>
              <a:t>2.4.1. Propiedades de tipografía (</a:t>
            </a:r>
            <a:r>
              <a:rPr lang="es-ES" b="0" dirty="0" err="1">
                <a:ea typeface="+mj-lt"/>
                <a:cs typeface="+mj-lt"/>
              </a:rPr>
              <a:t>font-family</a:t>
            </a:r>
            <a:r>
              <a:rPr lang="es-ES" b="0" dirty="0">
                <a:ea typeface="+mj-lt"/>
                <a:cs typeface="+mj-lt"/>
              </a:rPr>
              <a:t>, </a:t>
            </a:r>
            <a:r>
              <a:rPr lang="es-ES" b="0" dirty="0" err="1">
                <a:ea typeface="+mj-lt"/>
                <a:cs typeface="+mj-lt"/>
              </a:rPr>
              <a:t>font-size</a:t>
            </a:r>
            <a:r>
              <a:rPr lang="es-ES" b="0" dirty="0">
                <a:ea typeface="+mj-lt"/>
                <a:cs typeface="+mj-lt"/>
              </a:rPr>
              <a:t>, line-</a:t>
            </a:r>
            <a:r>
              <a:rPr lang="es-ES" b="0" dirty="0" err="1">
                <a:ea typeface="+mj-lt"/>
                <a:cs typeface="+mj-lt"/>
              </a:rPr>
              <a:t>height</a:t>
            </a:r>
            <a:r>
              <a:rPr lang="es-ES" b="0" dirty="0">
                <a:ea typeface="+mj-lt"/>
                <a:cs typeface="+mj-lt"/>
              </a:rPr>
              <a:t>).</a:t>
            </a:r>
            <a:endParaRPr lang="es-ES" dirty="0"/>
          </a:p>
        </p:txBody>
      </p:sp>
      <p:sp>
        <p:nvSpPr>
          <p:cNvPr id="3" name="Marcador de contenido 2">
            <a:extLst>
              <a:ext uri="{FF2B5EF4-FFF2-40B4-BE49-F238E27FC236}">
                <a16:creationId xmlns:a16="http://schemas.microsoft.com/office/drawing/2014/main" id="{69DDE603-694D-687E-A4A6-BA97037F0C4F}"/>
              </a:ext>
            </a:extLst>
          </p:cNvPr>
          <p:cNvSpPr>
            <a:spLocks noGrp="1"/>
          </p:cNvSpPr>
          <p:nvPr>
            <p:ph idx="1"/>
          </p:nvPr>
        </p:nvSpPr>
        <p:spPr/>
        <p:txBody>
          <a:bodyPr vert="horz" lIns="91440" tIns="45720" rIns="91440" bIns="45720" rtlCol="0" anchor="t">
            <a:normAutofit/>
          </a:bodyPr>
          <a:lstStyle/>
          <a:p>
            <a:r>
              <a:rPr lang="es-ES" dirty="0" err="1">
                <a:ea typeface="+mn-lt"/>
                <a:cs typeface="+mn-lt"/>
              </a:rPr>
              <a:t>text-align</a:t>
            </a:r>
            <a:r>
              <a:rPr lang="es-ES" dirty="0">
                <a:ea typeface="+mn-lt"/>
                <a:cs typeface="+mn-lt"/>
              </a:rPr>
              <a:t>: Alinea el texto dentro de su contenedor. Los valores comunes son </a:t>
            </a:r>
            <a:r>
              <a:rPr lang="es-ES" dirty="0" err="1">
                <a:ea typeface="+mn-lt"/>
                <a:cs typeface="+mn-lt"/>
              </a:rPr>
              <a:t>left</a:t>
            </a:r>
            <a:r>
              <a:rPr lang="es-ES" dirty="0">
                <a:ea typeface="+mn-lt"/>
                <a:cs typeface="+mn-lt"/>
              </a:rPr>
              <a:t>, </a:t>
            </a:r>
            <a:r>
              <a:rPr lang="es-ES" dirty="0" err="1">
                <a:ea typeface="+mn-lt"/>
                <a:cs typeface="+mn-lt"/>
              </a:rPr>
              <a:t>right</a:t>
            </a:r>
            <a:r>
              <a:rPr lang="es-ES" dirty="0">
                <a:ea typeface="+mn-lt"/>
                <a:cs typeface="+mn-lt"/>
              </a:rPr>
              <a:t>, center y </a:t>
            </a:r>
            <a:r>
              <a:rPr lang="es-ES" dirty="0" err="1">
                <a:ea typeface="+mn-lt"/>
                <a:cs typeface="+mn-lt"/>
              </a:rPr>
              <a:t>justify</a:t>
            </a:r>
            <a:r>
              <a:rPr lang="es-ES" dirty="0">
                <a:ea typeface="+mn-lt"/>
                <a:cs typeface="+mn-lt"/>
              </a:rPr>
              <a:t>.</a:t>
            </a:r>
            <a:endParaRPr lang="es-ES" dirty="0"/>
          </a:p>
          <a:p>
            <a:pPr marL="0" indent="0">
              <a:buNone/>
            </a:pPr>
            <a:r>
              <a:rPr lang="es-ES" b="1" dirty="0">
                <a:latin typeface="Courier New"/>
                <a:ea typeface="+mn-lt"/>
                <a:cs typeface="+mn-lt"/>
              </a:rPr>
              <a:t>.texto-centrado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text-align</a:t>
            </a:r>
            <a:r>
              <a:rPr lang="es-ES" b="1" dirty="0">
                <a:latin typeface="Courier New"/>
                <a:ea typeface="+mn-lt"/>
                <a:cs typeface="+mn-lt"/>
              </a:rPr>
              <a:t>: center;</a:t>
            </a:r>
            <a:br>
              <a:rPr lang="es-ES" b="1" dirty="0">
                <a:latin typeface="Courier New"/>
                <a:ea typeface="+mn-lt"/>
                <a:cs typeface="+mn-lt"/>
              </a:rPr>
            </a:br>
            <a:r>
              <a:rPr lang="es-ES" b="1" dirty="0">
                <a:latin typeface="Courier New"/>
                <a:ea typeface="+mn-lt"/>
                <a:cs typeface="+mn-lt"/>
              </a:rPr>
              <a:t>}</a:t>
            </a:r>
          </a:p>
          <a:p>
            <a:r>
              <a:rPr lang="es-ES" dirty="0">
                <a:ea typeface="+mn-lt"/>
                <a:cs typeface="+mn-lt"/>
              </a:rPr>
              <a:t>Propiedad abreviada Font: Puedes combinar la mayoría de las propiedades de tipografía en una sola línea usando la propiedad abreviada </a:t>
            </a:r>
            <a:r>
              <a:rPr lang="es-ES" dirty="0" err="1">
                <a:ea typeface="+mn-lt"/>
                <a:cs typeface="+mn-lt"/>
              </a:rPr>
              <a:t>font</a:t>
            </a:r>
            <a:r>
              <a:rPr lang="es-ES" dirty="0">
                <a:ea typeface="+mn-lt"/>
                <a:cs typeface="+mn-lt"/>
              </a:rPr>
              <a:t>. La sintaxis es: </a:t>
            </a:r>
            <a:r>
              <a:rPr lang="es-ES" dirty="0" err="1">
                <a:ea typeface="+mn-lt"/>
                <a:cs typeface="+mn-lt"/>
              </a:rPr>
              <a:t>font</a:t>
            </a:r>
            <a:r>
              <a:rPr lang="es-ES" dirty="0">
                <a:ea typeface="+mn-lt"/>
                <a:cs typeface="+mn-lt"/>
              </a:rPr>
              <a:t>: </a:t>
            </a:r>
            <a:r>
              <a:rPr lang="es-ES" dirty="0" err="1">
                <a:ea typeface="+mn-lt"/>
                <a:cs typeface="+mn-lt"/>
              </a:rPr>
              <a:t>font-style</a:t>
            </a:r>
            <a:r>
              <a:rPr lang="es-ES" dirty="0">
                <a:ea typeface="+mn-lt"/>
                <a:cs typeface="+mn-lt"/>
              </a:rPr>
              <a:t> </a:t>
            </a:r>
            <a:r>
              <a:rPr lang="es-ES" dirty="0" err="1">
                <a:ea typeface="+mn-lt"/>
                <a:cs typeface="+mn-lt"/>
              </a:rPr>
              <a:t>font-variant</a:t>
            </a:r>
            <a:r>
              <a:rPr lang="es-ES" dirty="0">
                <a:ea typeface="+mn-lt"/>
                <a:cs typeface="+mn-lt"/>
              </a:rPr>
              <a:t> </a:t>
            </a:r>
            <a:r>
              <a:rPr lang="es-ES" dirty="0" err="1">
                <a:ea typeface="+mn-lt"/>
                <a:cs typeface="+mn-lt"/>
              </a:rPr>
              <a:t>font-weight</a:t>
            </a:r>
            <a:r>
              <a:rPr lang="es-ES" dirty="0">
                <a:ea typeface="+mn-lt"/>
                <a:cs typeface="+mn-lt"/>
              </a:rPr>
              <a:t> </a:t>
            </a:r>
            <a:r>
              <a:rPr lang="es-ES" dirty="0" err="1">
                <a:ea typeface="+mn-lt"/>
                <a:cs typeface="+mn-lt"/>
              </a:rPr>
              <a:t>font-size</a:t>
            </a:r>
            <a:r>
              <a:rPr lang="es-ES" dirty="0">
                <a:ea typeface="+mn-lt"/>
                <a:cs typeface="+mn-lt"/>
              </a:rPr>
              <a:t>/line-</a:t>
            </a:r>
            <a:r>
              <a:rPr lang="es-ES" dirty="0" err="1">
                <a:ea typeface="+mn-lt"/>
                <a:cs typeface="+mn-lt"/>
              </a:rPr>
              <a:t>height</a:t>
            </a:r>
            <a:r>
              <a:rPr lang="es-ES" dirty="0">
                <a:ea typeface="+mn-lt"/>
                <a:cs typeface="+mn-lt"/>
              </a:rPr>
              <a:t> </a:t>
            </a:r>
            <a:r>
              <a:rPr lang="es-ES" dirty="0" err="1">
                <a:ea typeface="+mn-lt"/>
                <a:cs typeface="+mn-lt"/>
              </a:rPr>
              <a:t>font-family</a:t>
            </a:r>
            <a:r>
              <a:rPr lang="es-ES" dirty="0">
                <a:ea typeface="+mn-lt"/>
                <a:cs typeface="+mn-lt"/>
              </a:rPr>
              <a:t>;.</a:t>
            </a:r>
            <a:endParaRPr lang="es-ES" dirty="0"/>
          </a:p>
          <a:p>
            <a:pPr marL="0" indent="0">
              <a:buNone/>
            </a:pPr>
            <a:r>
              <a:rPr lang="es-ES" b="1" dirty="0">
                <a:latin typeface="Courier New"/>
                <a:ea typeface="+mn-lt"/>
                <a:cs typeface="+mn-lt"/>
              </a:rPr>
              <a:t>.caja-texto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font</a:t>
            </a:r>
            <a:r>
              <a:rPr lang="es-ES" b="1" dirty="0">
                <a:latin typeface="Courier New"/>
                <a:ea typeface="+mn-lt"/>
                <a:cs typeface="+mn-lt"/>
              </a:rPr>
              <a:t>: </a:t>
            </a:r>
            <a:r>
              <a:rPr lang="es-ES" b="1" dirty="0" err="1">
                <a:latin typeface="Courier New"/>
                <a:ea typeface="+mn-lt"/>
                <a:cs typeface="+mn-lt"/>
              </a:rPr>
              <a:t>italic</a:t>
            </a:r>
            <a:r>
              <a:rPr lang="es-ES" b="1" dirty="0">
                <a:latin typeface="Courier New"/>
                <a:ea typeface="+mn-lt"/>
                <a:cs typeface="+mn-lt"/>
              </a:rPr>
              <a:t> normal 700 1.2rem/1.5 'Times New </a:t>
            </a:r>
            <a:r>
              <a:rPr lang="es-ES" b="1" dirty="0" err="1">
                <a:latin typeface="Courier New"/>
                <a:ea typeface="+mn-lt"/>
                <a:cs typeface="+mn-lt"/>
              </a:rPr>
              <a:t>Roman</a:t>
            </a:r>
            <a:r>
              <a:rPr lang="es-ES" b="1" dirty="0">
                <a:latin typeface="Courier New"/>
                <a:ea typeface="+mn-lt"/>
                <a:cs typeface="+mn-lt"/>
              </a:rPr>
              <a:t>', </a:t>
            </a:r>
            <a:r>
              <a:rPr lang="es-ES" b="1" dirty="0" err="1">
                <a:latin typeface="Courier New"/>
                <a:ea typeface="+mn-lt"/>
                <a:cs typeface="+mn-lt"/>
              </a:rPr>
              <a:t>serif</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a:t>
            </a:r>
          </a:p>
          <a:p>
            <a:endParaRPr lang="es-ES" dirty="0">
              <a:latin typeface="Bierstadt"/>
              <a:cs typeface="Courier New"/>
            </a:endParaRPr>
          </a:p>
        </p:txBody>
      </p:sp>
    </p:spTree>
    <p:extLst>
      <p:ext uri="{BB962C8B-B14F-4D97-AF65-F5344CB8AC3E}">
        <p14:creationId xmlns:p14="http://schemas.microsoft.com/office/powerpoint/2010/main" val="381084706"/>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82A5EB-D2EC-39B0-321E-70BBC74BEBC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5B7B0BB-1659-7A98-E508-1A6B10A6FE30}"/>
              </a:ext>
            </a:extLst>
          </p:cNvPr>
          <p:cNvSpPr>
            <a:spLocks noGrp="1"/>
          </p:cNvSpPr>
          <p:nvPr>
            <p:ph type="title"/>
          </p:nvPr>
        </p:nvSpPr>
        <p:spPr/>
        <p:txBody>
          <a:bodyPr/>
          <a:lstStyle/>
          <a:p>
            <a:r>
              <a:rPr lang="es-ES" b="0" dirty="0">
                <a:ea typeface="+mj-lt"/>
                <a:cs typeface="+mj-lt"/>
              </a:rPr>
              <a:t>2.4.2. Propiedades de color y fondos (color, </a:t>
            </a:r>
            <a:r>
              <a:rPr lang="es-ES" b="0" dirty="0" err="1">
                <a:ea typeface="+mj-lt"/>
                <a:cs typeface="+mj-lt"/>
              </a:rPr>
              <a:t>background</a:t>
            </a:r>
            <a:r>
              <a:rPr lang="es-ES" b="0" dirty="0">
                <a:ea typeface="+mj-lt"/>
                <a:cs typeface="+mj-lt"/>
              </a:rPr>
              <a:t>, </a:t>
            </a:r>
            <a:r>
              <a:rPr lang="es-ES" b="0" dirty="0" err="1">
                <a:ea typeface="+mj-lt"/>
                <a:cs typeface="+mj-lt"/>
              </a:rPr>
              <a:t>background-image</a:t>
            </a:r>
            <a:r>
              <a:rPr lang="es-ES" b="0" dirty="0">
                <a:ea typeface="+mj-lt"/>
                <a:cs typeface="+mj-lt"/>
              </a:rPr>
              <a:t>).</a:t>
            </a:r>
            <a:endParaRPr lang="es-ES" dirty="0"/>
          </a:p>
        </p:txBody>
      </p:sp>
      <p:sp>
        <p:nvSpPr>
          <p:cNvPr id="3" name="Marcador de contenido 2">
            <a:extLst>
              <a:ext uri="{FF2B5EF4-FFF2-40B4-BE49-F238E27FC236}">
                <a16:creationId xmlns:a16="http://schemas.microsoft.com/office/drawing/2014/main" id="{7EBCE1A8-2836-B05F-C16E-CF69B35DC9F0}"/>
              </a:ext>
            </a:extLst>
          </p:cNvPr>
          <p:cNvSpPr>
            <a:spLocks noGrp="1"/>
          </p:cNvSpPr>
          <p:nvPr>
            <p:ph idx="1"/>
          </p:nvPr>
        </p:nvSpPr>
        <p:spPr/>
        <p:txBody>
          <a:bodyPr vert="horz" lIns="91440" tIns="45720" rIns="91440" bIns="45720" rtlCol="0" anchor="t">
            <a:normAutofit fontScale="70000" lnSpcReduction="20000"/>
          </a:bodyPr>
          <a:lstStyle/>
          <a:p>
            <a:r>
              <a:rPr lang="es-ES" dirty="0">
                <a:ea typeface="+mn-lt"/>
                <a:cs typeface="+mn-lt"/>
              </a:rPr>
              <a:t>Las propiedades de color y fondos en CSS son fundamentales para la estética y el diseño visual de cualquier página web. Te permiten controlar la paleta de colores del texto y los elementos, así como añadir imágenes, gradientes o patrones de fondo para enriquecer la interfaz.</a:t>
            </a:r>
            <a:endParaRPr lang="es-ES" dirty="0"/>
          </a:p>
          <a:p>
            <a:r>
              <a:rPr lang="es-ES" dirty="0">
                <a:ea typeface="+mn-lt"/>
                <a:cs typeface="+mn-lt"/>
              </a:rPr>
              <a:t>Color del texto: La propiedad color se utiliza para establecer el color del texto de un elemento. Se puede definir usando varios formatos.</a:t>
            </a:r>
            <a:endParaRPr lang="es-ES" dirty="0"/>
          </a:p>
          <a:p>
            <a:pPr lvl="1">
              <a:buFont typeface="Courier New" panose="020B0604020202020204" pitchFamily="34" charset="0"/>
              <a:buChar char="o"/>
            </a:pPr>
            <a:r>
              <a:rPr lang="es-ES" dirty="0">
                <a:ea typeface="+mn-lt"/>
                <a:cs typeface="+mn-lt"/>
              </a:rPr>
              <a:t>Palabras clave: Nombres de colores predefinidos (red, blue, </a:t>
            </a:r>
            <a:r>
              <a:rPr lang="es-ES" dirty="0" err="1">
                <a:ea typeface="+mn-lt"/>
                <a:cs typeface="+mn-lt"/>
              </a:rPr>
              <a:t>white</a:t>
            </a:r>
            <a:r>
              <a:rPr lang="es-ES" dirty="0">
                <a:ea typeface="+mn-lt"/>
                <a:cs typeface="+mn-lt"/>
              </a:rPr>
              <a:t>). Son fáciles de usar pero limitados.</a:t>
            </a:r>
            <a:endParaRPr lang="es-ES" dirty="0"/>
          </a:p>
          <a:p>
            <a:pPr lvl="1">
              <a:buFont typeface="Courier New" panose="020B0604020202020204" pitchFamily="34" charset="0"/>
              <a:buChar char="o"/>
            </a:pPr>
            <a:r>
              <a:rPr lang="es-ES" dirty="0">
                <a:ea typeface="+mn-lt"/>
                <a:cs typeface="+mn-lt"/>
              </a:rPr>
              <a:t>Hexadecimal (HEX): Un valor de seis dígitos que representa el color (#FF5733). Es muy preciso y se usa ampliamente.</a:t>
            </a:r>
            <a:endParaRPr lang="es-ES" dirty="0"/>
          </a:p>
          <a:p>
            <a:pPr lvl="1">
              <a:buFont typeface="Courier New" panose="020B0604020202020204" pitchFamily="34" charset="0"/>
              <a:buChar char="o"/>
            </a:pPr>
            <a:r>
              <a:rPr lang="es-ES" dirty="0">
                <a:ea typeface="+mn-lt"/>
                <a:cs typeface="+mn-lt"/>
              </a:rPr>
              <a:t>RGB (Red, Green, Blue): Un valor que especifica la cantidad de rojo, verde y azul (</a:t>
            </a:r>
            <a:r>
              <a:rPr lang="es-ES" dirty="0" err="1">
                <a:ea typeface="+mn-lt"/>
                <a:cs typeface="+mn-lt"/>
              </a:rPr>
              <a:t>rgb</a:t>
            </a:r>
            <a:r>
              <a:rPr lang="es-ES" dirty="0">
                <a:ea typeface="+mn-lt"/>
                <a:cs typeface="+mn-lt"/>
              </a:rPr>
              <a:t>(255, 87, 51)).</a:t>
            </a:r>
            <a:endParaRPr lang="es-ES" dirty="0"/>
          </a:p>
          <a:p>
            <a:pPr lvl="1">
              <a:buFont typeface="Courier New" panose="020B0604020202020204" pitchFamily="34" charset="0"/>
              <a:buChar char="o"/>
            </a:pPr>
            <a:r>
              <a:rPr lang="es-ES" dirty="0">
                <a:ea typeface="+mn-lt"/>
                <a:cs typeface="+mn-lt"/>
              </a:rPr>
              <a:t>RGBA: Similar a RGB, pero con un canal adicional para la transparencia (</a:t>
            </a:r>
            <a:r>
              <a:rPr lang="es-ES" dirty="0" err="1">
                <a:ea typeface="+mn-lt"/>
                <a:cs typeface="+mn-lt"/>
              </a:rPr>
              <a:t>alpha</a:t>
            </a:r>
            <a:r>
              <a:rPr lang="es-ES" dirty="0">
                <a:ea typeface="+mn-lt"/>
                <a:cs typeface="+mn-lt"/>
              </a:rPr>
              <a:t>) (</a:t>
            </a:r>
            <a:r>
              <a:rPr lang="es-ES" dirty="0" err="1">
                <a:ea typeface="+mn-lt"/>
                <a:cs typeface="+mn-lt"/>
              </a:rPr>
              <a:t>rgba</a:t>
            </a:r>
            <a:r>
              <a:rPr lang="es-ES" dirty="0">
                <a:ea typeface="+mn-lt"/>
                <a:cs typeface="+mn-lt"/>
              </a:rPr>
              <a:t>(255, 87, 51, 0.7)).</a:t>
            </a:r>
            <a:endParaRPr lang="es-ES" dirty="0"/>
          </a:p>
          <a:p>
            <a:pPr lvl="1">
              <a:buFont typeface="Courier New" panose="020B0604020202020204" pitchFamily="34" charset="0"/>
              <a:buChar char="o"/>
            </a:pPr>
            <a:r>
              <a:rPr lang="es-ES" dirty="0">
                <a:ea typeface="+mn-lt"/>
                <a:cs typeface="+mn-lt"/>
              </a:rPr>
              <a:t>HSL (</a:t>
            </a:r>
            <a:r>
              <a:rPr lang="es-ES" dirty="0" err="1">
                <a:ea typeface="+mn-lt"/>
                <a:cs typeface="+mn-lt"/>
              </a:rPr>
              <a:t>Hue</a:t>
            </a:r>
            <a:r>
              <a:rPr lang="es-ES" dirty="0">
                <a:ea typeface="+mn-lt"/>
                <a:cs typeface="+mn-lt"/>
              </a:rPr>
              <a:t>, </a:t>
            </a:r>
            <a:r>
              <a:rPr lang="es-ES" dirty="0" err="1">
                <a:ea typeface="+mn-lt"/>
                <a:cs typeface="+mn-lt"/>
              </a:rPr>
              <a:t>Saturation</a:t>
            </a:r>
            <a:r>
              <a:rPr lang="es-ES" dirty="0">
                <a:ea typeface="+mn-lt"/>
                <a:cs typeface="+mn-lt"/>
              </a:rPr>
              <a:t>, </a:t>
            </a:r>
            <a:r>
              <a:rPr lang="es-ES" dirty="0" err="1">
                <a:ea typeface="+mn-lt"/>
                <a:cs typeface="+mn-lt"/>
              </a:rPr>
              <a:t>Lightness</a:t>
            </a:r>
            <a:r>
              <a:rPr lang="es-ES" dirty="0">
                <a:ea typeface="+mn-lt"/>
                <a:cs typeface="+mn-lt"/>
              </a:rPr>
              <a:t>): Define el color basándose en el tono, la saturación y la luminosidad (</a:t>
            </a:r>
            <a:r>
              <a:rPr lang="es-ES" dirty="0" err="1">
                <a:ea typeface="+mn-lt"/>
                <a:cs typeface="+mn-lt"/>
              </a:rPr>
              <a:t>hsl</a:t>
            </a:r>
            <a:r>
              <a:rPr lang="es-ES" dirty="0">
                <a:ea typeface="+mn-lt"/>
                <a:cs typeface="+mn-lt"/>
              </a:rPr>
              <a:t>(10, 100%, 60%)).</a:t>
            </a:r>
            <a:endParaRPr lang="es-ES" dirty="0"/>
          </a:p>
          <a:p>
            <a:pPr marL="0" indent="0">
              <a:buNone/>
            </a:pPr>
            <a:r>
              <a:rPr lang="es-ES" b="1" dirty="0">
                <a:latin typeface="Courier New"/>
                <a:ea typeface="+mn-lt"/>
                <a:cs typeface="+mn-lt"/>
              </a:rPr>
              <a:t>p {</a:t>
            </a:r>
            <a:br>
              <a:rPr lang="es-ES" b="1" dirty="0">
                <a:latin typeface="Courier New"/>
                <a:ea typeface="+mn-lt"/>
                <a:cs typeface="+mn-lt"/>
              </a:rPr>
            </a:br>
            <a:r>
              <a:rPr lang="es-ES" b="1" dirty="0">
                <a:latin typeface="Courier New"/>
                <a:ea typeface="+mn-lt"/>
                <a:cs typeface="+mn-lt"/>
              </a:rPr>
              <a:t>  color: #333; /* Color hexadecimal */</a:t>
            </a:r>
            <a:br>
              <a:rPr lang="es-ES" b="1" dirty="0">
                <a:latin typeface="Courier New"/>
                <a:ea typeface="+mn-lt"/>
                <a:cs typeface="+mn-lt"/>
              </a:rPr>
            </a:b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h1 {</a:t>
            </a:r>
            <a:br>
              <a:rPr lang="es-ES" b="1" dirty="0">
                <a:latin typeface="Courier New"/>
                <a:ea typeface="+mn-lt"/>
                <a:cs typeface="+mn-lt"/>
              </a:rPr>
            </a:br>
            <a:r>
              <a:rPr lang="es-ES" b="1" dirty="0">
                <a:latin typeface="Courier New"/>
                <a:ea typeface="+mn-lt"/>
                <a:cs typeface="+mn-lt"/>
              </a:rPr>
              <a:t>  color: </a:t>
            </a:r>
            <a:r>
              <a:rPr lang="es-ES" b="1" dirty="0" err="1">
                <a:latin typeface="Courier New"/>
                <a:ea typeface="+mn-lt"/>
                <a:cs typeface="+mn-lt"/>
              </a:rPr>
              <a:t>rgb</a:t>
            </a:r>
            <a:r>
              <a:rPr lang="es-ES" b="1" dirty="0">
                <a:latin typeface="Courier New"/>
                <a:ea typeface="+mn-lt"/>
                <a:cs typeface="+mn-lt"/>
              </a:rPr>
              <a:t>(255, 87, 51); /* Color RGB */</a:t>
            </a:r>
            <a:br>
              <a:rPr lang="es-ES" b="1" dirty="0">
                <a:latin typeface="Courier New"/>
                <a:ea typeface="+mn-lt"/>
                <a:cs typeface="+mn-lt"/>
              </a:rPr>
            </a:b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.texto-transparente {</a:t>
            </a:r>
            <a:br>
              <a:rPr lang="es-ES" b="1" dirty="0">
                <a:latin typeface="Courier New"/>
                <a:ea typeface="+mn-lt"/>
                <a:cs typeface="+mn-lt"/>
              </a:rPr>
            </a:br>
            <a:r>
              <a:rPr lang="es-ES" b="1" dirty="0">
                <a:latin typeface="Courier New"/>
                <a:ea typeface="+mn-lt"/>
                <a:cs typeface="+mn-lt"/>
              </a:rPr>
              <a:t>  color: </a:t>
            </a:r>
            <a:r>
              <a:rPr lang="es-ES" b="1" dirty="0" err="1">
                <a:latin typeface="Courier New"/>
                <a:ea typeface="+mn-lt"/>
                <a:cs typeface="+mn-lt"/>
              </a:rPr>
              <a:t>rgba</a:t>
            </a:r>
            <a:r>
              <a:rPr lang="es-ES" b="1" dirty="0">
                <a:latin typeface="Courier New"/>
                <a:ea typeface="+mn-lt"/>
                <a:cs typeface="+mn-lt"/>
              </a:rPr>
              <a:t>(51, 51, 51, 0.5); /* Color con 50% de transparencia */</a:t>
            </a:r>
            <a:br>
              <a:rPr lang="es-ES" b="1" dirty="0">
                <a:latin typeface="Courier New"/>
                <a:ea typeface="+mn-lt"/>
                <a:cs typeface="+mn-lt"/>
              </a:rPr>
            </a:br>
            <a:r>
              <a:rPr lang="es-ES" b="1" dirty="0">
                <a:latin typeface="Courier New"/>
                <a:ea typeface="+mn-lt"/>
                <a:cs typeface="+mn-lt"/>
              </a:rPr>
              <a:t>}</a:t>
            </a:r>
            <a:endParaRPr lang="es-ES" b="1" dirty="0">
              <a:latin typeface="Courier New"/>
              <a:cs typeface="Courier New"/>
            </a:endParaRPr>
          </a:p>
          <a:p>
            <a:endParaRPr lang="es-ES" dirty="0"/>
          </a:p>
        </p:txBody>
      </p:sp>
    </p:spTree>
    <p:extLst>
      <p:ext uri="{BB962C8B-B14F-4D97-AF65-F5344CB8AC3E}">
        <p14:creationId xmlns:p14="http://schemas.microsoft.com/office/powerpoint/2010/main" val="937299478"/>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B43023-C85B-0287-2922-A1DED2B0245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123A7CB-1934-60FE-BF22-95B90774F938}"/>
              </a:ext>
            </a:extLst>
          </p:cNvPr>
          <p:cNvSpPr>
            <a:spLocks noGrp="1"/>
          </p:cNvSpPr>
          <p:nvPr>
            <p:ph type="title"/>
          </p:nvPr>
        </p:nvSpPr>
        <p:spPr/>
        <p:txBody>
          <a:bodyPr/>
          <a:lstStyle/>
          <a:p>
            <a:r>
              <a:rPr lang="es-ES" b="0" dirty="0">
                <a:ea typeface="+mj-lt"/>
                <a:cs typeface="+mj-lt"/>
              </a:rPr>
              <a:t>2.4.2. Propiedades de color y fondos (color, </a:t>
            </a:r>
            <a:r>
              <a:rPr lang="es-ES" b="0" dirty="0" err="1">
                <a:ea typeface="+mj-lt"/>
                <a:cs typeface="+mj-lt"/>
              </a:rPr>
              <a:t>background</a:t>
            </a:r>
            <a:r>
              <a:rPr lang="es-ES" b="0" dirty="0">
                <a:ea typeface="+mj-lt"/>
                <a:cs typeface="+mj-lt"/>
              </a:rPr>
              <a:t>, </a:t>
            </a:r>
            <a:r>
              <a:rPr lang="es-ES" b="0" dirty="0" err="1">
                <a:ea typeface="+mj-lt"/>
                <a:cs typeface="+mj-lt"/>
              </a:rPr>
              <a:t>background-image</a:t>
            </a:r>
            <a:r>
              <a:rPr lang="es-ES" b="0" dirty="0">
                <a:ea typeface="+mj-lt"/>
                <a:cs typeface="+mj-lt"/>
              </a:rPr>
              <a:t>).</a:t>
            </a:r>
            <a:endParaRPr lang="es-ES" dirty="0"/>
          </a:p>
        </p:txBody>
      </p:sp>
      <p:sp>
        <p:nvSpPr>
          <p:cNvPr id="3" name="Marcador de contenido 2">
            <a:extLst>
              <a:ext uri="{FF2B5EF4-FFF2-40B4-BE49-F238E27FC236}">
                <a16:creationId xmlns:a16="http://schemas.microsoft.com/office/drawing/2014/main" id="{27BA93BB-4C33-8407-D9E4-B5FE7DC9F28A}"/>
              </a:ext>
            </a:extLst>
          </p:cNvPr>
          <p:cNvSpPr>
            <a:spLocks noGrp="1"/>
          </p:cNvSpPr>
          <p:nvPr>
            <p:ph idx="1"/>
          </p:nvPr>
        </p:nvSpPr>
        <p:spPr/>
        <p:txBody>
          <a:bodyPr vert="horz" lIns="91440" tIns="45720" rIns="91440" bIns="45720" rtlCol="0" anchor="t">
            <a:normAutofit/>
          </a:bodyPr>
          <a:lstStyle/>
          <a:p>
            <a:r>
              <a:rPr lang="es-ES" dirty="0">
                <a:ea typeface="+mn-lt"/>
                <a:cs typeface="+mn-lt"/>
              </a:rPr>
              <a:t>Color de fondo: La propiedad </a:t>
            </a:r>
            <a:r>
              <a:rPr lang="es-ES" dirty="0" err="1">
                <a:ea typeface="+mn-lt"/>
                <a:cs typeface="+mn-lt"/>
              </a:rPr>
              <a:t>background</a:t>
            </a:r>
            <a:r>
              <a:rPr lang="es-ES" dirty="0">
                <a:ea typeface="+mn-lt"/>
                <a:cs typeface="+mn-lt"/>
              </a:rPr>
              <a:t>-color establece el color de fondo de un elemento. Al igual que con el color del texto, acepta los mismos formatos de color. Es importante elegir colores que contrasten bien con el texto para garantizar la legibilidad.</a:t>
            </a:r>
            <a:endParaRPr lang="es-ES" dirty="0"/>
          </a:p>
          <a:p>
            <a:pPr marL="0" indent="0">
              <a:buNone/>
            </a:pPr>
            <a:r>
              <a:rPr lang="es-ES" b="1" dirty="0">
                <a:latin typeface="Courier New"/>
                <a:ea typeface="+mn-lt"/>
                <a:cs typeface="+mn-lt"/>
              </a:rPr>
              <a:t>.caja-fondo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background</a:t>
            </a:r>
            <a:r>
              <a:rPr lang="es-ES" b="1" dirty="0">
                <a:latin typeface="Courier New"/>
                <a:ea typeface="+mn-lt"/>
                <a:cs typeface="+mn-lt"/>
              </a:rPr>
              <a:t>-color: #f2f2f2;</a:t>
            </a:r>
            <a:br>
              <a:rPr lang="es-ES" b="1" dirty="0">
                <a:latin typeface="Courier New"/>
                <a:ea typeface="+mn-lt"/>
                <a:cs typeface="+mn-lt"/>
              </a:rPr>
            </a:br>
            <a:r>
              <a:rPr lang="es-ES" b="1" dirty="0">
                <a:latin typeface="Courier New"/>
                <a:ea typeface="+mn-lt"/>
                <a:cs typeface="+mn-lt"/>
              </a:rPr>
              <a:t>}</a:t>
            </a:r>
            <a:br>
              <a:rPr lang="es-ES" b="1" dirty="0">
                <a:latin typeface="Courier New"/>
                <a:ea typeface="+mn-lt"/>
                <a:cs typeface="+mn-lt"/>
              </a:rPr>
            </a:br>
            <a:r>
              <a:rPr lang="es-ES" b="1" dirty="0" err="1">
                <a:latin typeface="Courier New"/>
                <a:ea typeface="+mn-lt"/>
                <a:cs typeface="+mn-lt"/>
              </a:rPr>
              <a:t>button</a:t>
            </a: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background</a:t>
            </a:r>
            <a:r>
              <a:rPr lang="es-ES" b="1" dirty="0">
                <a:latin typeface="Courier New"/>
                <a:ea typeface="+mn-lt"/>
                <a:cs typeface="+mn-lt"/>
              </a:rPr>
              <a:t>-color: #007bff;</a:t>
            </a:r>
            <a:br>
              <a:rPr lang="es-ES" b="1" dirty="0">
                <a:latin typeface="Courier New"/>
                <a:ea typeface="+mn-lt"/>
                <a:cs typeface="+mn-lt"/>
              </a:rPr>
            </a:br>
            <a:r>
              <a:rPr lang="es-ES" b="1" dirty="0">
                <a:latin typeface="Courier New"/>
                <a:ea typeface="+mn-lt"/>
                <a:cs typeface="+mn-lt"/>
              </a:rPr>
              <a:t>  color: </a:t>
            </a:r>
            <a:r>
              <a:rPr lang="es-ES" b="1" dirty="0" err="1">
                <a:latin typeface="Courier New"/>
                <a:ea typeface="+mn-lt"/>
                <a:cs typeface="+mn-lt"/>
              </a:rPr>
              <a:t>white</a:t>
            </a:r>
            <a:r>
              <a:rPr lang="es-ES" b="1" dirty="0">
                <a:latin typeface="Courier New"/>
                <a:ea typeface="+mn-lt"/>
                <a:cs typeface="+mn-lt"/>
              </a:rPr>
              <a:t>; /* El texto del botón debe ser blanco para contrastar */</a:t>
            </a:r>
            <a:br>
              <a:rPr lang="es-ES" b="1" dirty="0">
                <a:latin typeface="Courier New"/>
                <a:ea typeface="+mn-lt"/>
                <a:cs typeface="+mn-lt"/>
              </a:rPr>
            </a:br>
            <a:r>
              <a:rPr lang="es-ES" b="1" dirty="0">
                <a:latin typeface="Courier New"/>
                <a:ea typeface="+mn-lt"/>
                <a:cs typeface="+mn-lt"/>
              </a:rPr>
              <a:t>}</a:t>
            </a:r>
            <a:endParaRPr lang="es-ES" b="1" dirty="0">
              <a:latin typeface="Courier New"/>
            </a:endParaRPr>
          </a:p>
        </p:txBody>
      </p:sp>
    </p:spTree>
    <p:extLst>
      <p:ext uri="{BB962C8B-B14F-4D97-AF65-F5344CB8AC3E}">
        <p14:creationId xmlns:p14="http://schemas.microsoft.com/office/powerpoint/2010/main" val="2049285649"/>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8FE912-43C5-8457-3CBD-5CBB63153B3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98745C4-8B73-6CFC-6759-F61BE4F92C38}"/>
              </a:ext>
            </a:extLst>
          </p:cNvPr>
          <p:cNvSpPr>
            <a:spLocks noGrp="1"/>
          </p:cNvSpPr>
          <p:nvPr>
            <p:ph type="title"/>
          </p:nvPr>
        </p:nvSpPr>
        <p:spPr/>
        <p:txBody>
          <a:bodyPr/>
          <a:lstStyle/>
          <a:p>
            <a:r>
              <a:rPr lang="es-ES" b="0" dirty="0">
                <a:ea typeface="+mj-lt"/>
                <a:cs typeface="+mj-lt"/>
              </a:rPr>
              <a:t>2.4.2. Propiedades de color y fondos (color, </a:t>
            </a:r>
            <a:r>
              <a:rPr lang="es-ES" b="0" dirty="0" err="1">
                <a:ea typeface="+mj-lt"/>
                <a:cs typeface="+mj-lt"/>
              </a:rPr>
              <a:t>background</a:t>
            </a:r>
            <a:r>
              <a:rPr lang="es-ES" b="0" dirty="0">
                <a:ea typeface="+mj-lt"/>
                <a:cs typeface="+mj-lt"/>
              </a:rPr>
              <a:t>, </a:t>
            </a:r>
            <a:r>
              <a:rPr lang="es-ES" b="0" dirty="0" err="1">
                <a:ea typeface="+mj-lt"/>
                <a:cs typeface="+mj-lt"/>
              </a:rPr>
              <a:t>background-image</a:t>
            </a:r>
            <a:r>
              <a:rPr lang="es-ES" b="0" dirty="0">
                <a:ea typeface="+mj-lt"/>
                <a:cs typeface="+mj-lt"/>
              </a:rPr>
              <a:t>).</a:t>
            </a:r>
            <a:endParaRPr lang="es-ES" dirty="0"/>
          </a:p>
        </p:txBody>
      </p:sp>
      <p:sp>
        <p:nvSpPr>
          <p:cNvPr id="3" name="Marcador de contenido 2">
            <a:extLst>
              <a:ext uri="{FF2B5EF4-FFF2-40B4-BE49-F238E27FC236}">
                <a16:creationId xmlns:a16="http://schemas.microsoft.com/office/drawing/2014/main" id="{BEE1DC8E-0A31-7A30-BED3-A5B679275D05}"/>
              </a:ext>
            </a:extLst>
          </p:cNvPr>
          <p:cNvSpPr>
            <a:spLocks noGrp="1"/>
          </p:cNvSpPr>
          <p:nvPr>
            <p:ph idx="1"/>
          </p:nvPr>
        </p:nvSpPr>
        <p:spPr/>
        <p:txBody>
          <a:bodyPr vert="horz" lIns="91440" tIns="45720" rIns="91440" bIns="45720" rtlCol="0" anchor="t">
            <a:normAutofit fontScale="77500" lnSpcReduction="20000"/>
          </a:bodyPr>
          <a:lstStyle/>
          <a:p>
            <a:r>
              <a:rPr lang="es-ES" dirty="0">
                <a:ea typeface="+mn-lt"/>
                <a:cs typeface="+mn-lt"/>
              </a:rPr>
              <a:t>Imagen de fondo: La propiedad </a:t>
            </a:r>
            <a:r>
              <a:rPr lang="es-ES" dirty="0" err="1">
                <a:ea typeface="+mn-lt"/>
                <a:cs typeface="+mn-lt"/>
              </a:rPr>
              <a:t>background-image</a:t>
            </a:r>
            <a:r>
              <a:rPr lang="es-ES" dirty="0">
                <a:ea typeface="+mn-lt"/>
                <a:cs typeface="+mn-lt"/>
              </a:rPr>
              <a:t> te permite añadir una imagen como fondo de un elemento. El valor se especifica con la función </a:t>
            </a:r>
            <a:r>
              <a:rPr lang="es-ES" dirty="0" err="1">
                <a:ea typeface="+mn-lt"/>
                <a:cs typeface="+mn-lt"/>
              </a:rPr>
              <a:t>url</a:t>
            </a:r>
            <a:r>
              <a:rPr lang="es-ES" dirty="0">
                <a:ea typeface="+mn-lt"/>
                <a:cs typeface="+mn-lt"/>
              </a:rPr>
              <a:t>().</a:t>
            </a:r>
          </a:p>
          <a:p>
            <a:pPr marL="0" indent="0">
              <a:buNone/>
            </a:pPr>
            <a:r>
              <a:rPr lang="es-ES" b="1" dirty="0" err="1">
                <a:latin typeface="Courier New"/>
                <a:ea typeface="+mn-lt"/>
                <a:cs typeface="+mn-lt"/>
              </a:rPr>
              <a:t>body</a:t>
            </a:r>
            <a:r>
              <a:rPr lang="es-ES" b="1" dirty="0">
                <a:latin typeface="Courier New"/>
                <a:ea typeface="+mn-lt"/>
                <a:cs typeface="+mn-lt"/>
              </a:rPr>
              <a:t> {</a:t>
            </a:r>
            <a:br>
              <a:rPr lang="en-US" b="1" dirty="0">
                <a:latin typeface="Courier New"/>
              </a:rPr>
            </a:br>
            <a:r>
              <a:rPr lang="es-ES" b="1" dirty="0">
                <a:latin typeface="Courier New"/>
                <a:ea typeface="+mn-lt"/>
                <a:cs typeface="+mn-lt"/>
              </a:rPr>
              <a:t>  </a:t>
            </a:r>
            <a:r>
              <a:rPr lang="es-ES" b="1" dirty="0" err="1">
                <a:latin typeface="Courier New"/>
                <a:ea typeface="+mn-lt"/>
                <a:cs typeface="+mn-lt"/>
              </a:rPr>
              <a:t>background-image</a:t>
            </a:r>
            <a:r>
              <a:rPr lang="es-ES" b="1" dirty="0">
                <a:latin typeface="Courier New"/>
                <a:ea typeface="+mn-lt"/>
                <a:cs typeface="+mn-lt"/>
              </a:rPr>
              <a:t>: </a:t>
            </a:r>
            <a:r>
              <a:rPr lang="es-ES" b="1" dirty="0" err="1">
                <a:latin typeface="Courier New"/>
                <a:ea typeface="+mn-lt"/>
                <a:cs typeface="+mn-lt"/>
              </a:rPr>
              <a:t>url</a:t>
            </a:r>
            <a:r>
              <a:rPr lang="es-ES" b="1" dirty="0">
                <a:latin typeface="Courier New"/>
                <a:ea typeface="+mn-lt"/>
                <a:cs typeface="+mn-lt"/>
              </a:rPr>
              <a:t>('</a:t>
            </a:r>
            <a:r>
              <a:rPr lang="es-ES" b="1" dirty="0" err="1">
                <a:latin typeface="Courier New"/>
                <a:ea typeface="+mn-lt"/>
                <a:cs typeface="+mn-lt"/>
              </a:rPr>
              <a:t>assets</a:t>
            </a:r>
            <a:r>
              <a:rPr lang="es-ES" b="1" dirty="0">
                <a:latin typeface="Courier New"/>
                <a:ea typeface="+mn-lt"/>
                <a:cs typeface="+mn-lt"/>
              </a:rPr>
              <a:t>/fondo.jpg');</a:t>
            </a:r>
            <a:br>
              <a:rPr lang="es-ES" b="1" dirty="0">
                <a:latin typeface="Courier New"/>
                <a:ea typeface="+mn-lt"/>
                <a:cs typeface="+mn-lt"/>
              </a:rPr>
            </a:br>
            <a:r>
              <a:rPr lang="es-ES" b="1" dirty="0">
                <a:latin typeface="Courier New"/>
                <a:ea typeface="+mn-lt"/>
                <a:cs typeface="+mn-lt"/>
              </a:rPr>
              <a:t>}</a:t>
            </a:r>
            <a:endParaRPr lang="es-ES" b="1" dirty="0">
              <a:latin typeface="Courier New"/>
              <a:cs typeface="Courier New"/>
            </a:endParaRPr>
          </a:p>
          <a:p>
            <a:r>
              <a:rPr lang="es-ES" dirty="0">
                <a:ea typeface="+mn-lt"/>
                <a:cs typeface="+mn-lt"/>
              </a:rPr>
              <a:t>Propiedades de control de fondo: Una vez que se añade una imagen de fondo, se pueden usar otras propiedades para controlarla.</a:t>
            </a:r>
            <a:endParaRPr lang="es-ES" dirty="0"/>
          </a:p>
          <a:p>
            <a:pPr lvl="1">
              <a:buFont typeface="Courier New" panose="020B0604020202020204" pitchFamily="34" charset="0"/>
              <a:buChar char="o"/>
            </a:pPr>
            <a:r>
              <a:rPr lang="es-ES" dirty="0" err="1">
                <a:ea typeface="+mn-lt"/>
                <a:cs typeface="+mn-lt"/>
              </a:rPr>
              <a:t>background-repeat</a:t>
            </a:r>
            <a:r>
              <a:rPr lang="es-ES" dirty="0">
                <a:ea typeface="+mn-lt"/>
                <a:cs typeface="+mn-lt"/>
              </a:rPr>
              <a:t>: Define si la imagen de fondo se repite. Valores comunes son no-</a:t>
            </a:r>
            <a:r>
              <a:rPr lang="es-ES" dirty="0" err="1">
                <a:ea typeface="+mn-lt"/>
                <a:cs typeface="+mn-lt"/>
              </a:rPr>
              <a:t>repeat</a:t>
            </a:r>
            <a:r>
              <a:rPr lang="es-ES" dirty="0">
                <a:ea typeface="+mn-lt"/>
                <a:cs typeface="+mn-lt"/>
              </a:rPr>
              <a:t>, </a:t>
            </a:r>
            <a:r>
              <a:rPr lang="es-ES" dirty="0" err="1">
                <a:ea typeface="+mn-lt"/>
                <a:cs typeface="+mn-lt"/>
              </a:rPr>
              <a:t>repeat</a:t>
            </a:r>
            <a:r>
              <a:rPr lang="es-ES" dirty="0">
                <a:ea typeface="+mn-lt"/>
                <a:cs typeface="+mn-lt"/>
              </a:rPr>
              <a:t>-x (horizontal) y </a:t>
            </a:r>
            <a:r>
              <a:rPr lang="es-ES" dirty="0" err="1">
                <a:ea typeface="+mn-lt"/>
                <a:cs typeface="+mn-lt"/>
              </a:rPr>
              <a:t>repeat</a:t>
            </a:r>
            <a:r>
              <a:rPr lang="es-ES" dirty="0">
                <a:ea typeface="+mn-lt"/>
                <a:cs typeface="+mn-lt"/>
              </a:rPr>
              <a:t>-y (vertical).</a:t>
            </a:r>
            <a:endParaRPr lang="es-ES" dirty="0"/>
          </a:p>
          <a:p>
            <a:pPr lvl="1">
              <a:buFont typeface="Courier New" panose="020B0604020202020204" pitchFamily="34" charset="0"/>
              <a:buChar char="o"/>
            </a:pPr>
            <a:r>
              <a:rPr lang="es-ES" dirty="0" err="1">
                <a:ea typeface="+mn-lt"/>
                <a:cs typeface="+mn-lt"/>
              </a:rPr>
              <a:t>background</a:t>
            </a:r>
            <a:r>
              <a:rPr lang="es-ES" dirty="0">
                <a:ea typeface="+mn-lt"/>
                <a:cs typeface="+mn-lt"/>
              </a:rPr>
              <a:t>-position: Posiciona la imagen de fondo. Se puede usar palabras clave (top, center, bottom) o coordenadas (20px 50px).</a:t>
            </a:r>
            <a:endParaRPr lang="es-ES" dirty="0"/>
          </a:p>
          <a:p>
            <a:pPr lvl="1">
              <a:buFont typeface="Courier New" panose="020B0604020202020204" pitchFamily="34" charset="0"/>
              <a:buChar char="o"/>
            </a:pPr>
            <a:r>
              <a:rPr lang="es-ES" dirty="0" err="1">
                <a:ea typeface="+mn-lt"/>
                <a:cs typeface="+mn-lt"/>
              </a:rPr>
              <a:t>background-size</a:t>
            </a:r>
            <a:r>
              <a:rPr lang="es-ES" dirty="0">
                <a:ea typeface="+mn-lt"/>
                <a:cs typeface="+mn-lt"/>
              </a:rPr>
              <a:t>: Controla el tamaño de la imagen de fondo. </a:t>
            </a:r>
            <a:r>
              <a:rPr lang="es-ES" dirty="0" err="1">
                <a:ea typeface="+mn-lt"/>
                <a:cs typeface="+mn-lt"/>
              </a:rPr>
              <a:t>cover</a:t>
            </a:r>
            <a:r>
              <a:rPr lang="es-ES" dirty="0">
                <a:ea typeface="+mn-lt"/>
                <a:cs typeface="+mn-lt"/>
              </a:rPr>
              <a:t> hace que la imagen cubra todo el fondo sin distorsionarse, mientras que </a:t>
            </a:r>
            <a:r>
              <a:rPr lang="es-ES" dirty="0" err="1">
                <a:ea typeface="+mn-lt"/>
                <a:cs typeface="+mn-lt"/>
              </a:rPr>
              <a:t>contain</a:t>
            </a:r>
            <a:r>
              <a:rPr lang="es-ES" dirty="0">
                <a:ea typeface="+mn-lt"/>
                <a:cs typeface="+mn-lt"/>
              </a:rPr>
              <a:t> la ajusta dentro del elemento.</a:t>
            </a:r>
          </a:p>
          <a:p>
            <a:pPr marL="0" indent="0">
              <a:buNone/>
            </a:pPr>
            <a:r>
              <a:rPr lang="es-ES" b="1" dirty="0" err="1">
                <a:latin typeface="Courier New"/>
                <a:ea typeface="+mn-lt"/>
                <a:cs typeface="+mn-lt"/>
              </a:rPr>
              <a:t>body</a:t>
            </a: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background-image</a:t>
            </a:r>
            <a:r>
              <a:rPr lang="es-ES" b="1" dirty="0">
                <a:latin typeface="Courier New"/>
                <a:ea typeface="+mn-lt"/>
                <a:cs typeface="+mn-lt"/>
              </a:rPr>
              <a:t>: </a:t>
            </a:r>
            <a:r>
              <a:rPr lang="es-ES" b="1" dirty="0" err="1">
                <a:latin typeface="Courier New"/>
                <a:ea typeface="+mn-lt"/>
                <a:cs typeface="+mn-lt"/>
              </a:rPr>
              <a:t>url</a:t>
            </a:r>
            <a:r>
              <a:rPr lang="es-ES" b="1" dirty="0">
                <a:latin typeface="Courier New"/>
                <a:ea typeface="+mn-lt"/>
                <a:cs typeface="+mn-lt"/>
              </a:rPr>
              <a:t>('</a:t>
            </a:r>
            <a:r>
              <a:rPr lang="es-ES" b="1" dirty="0" err="1">
                <a:latin typeface="Courier New"/>
                <a:ea typeface="+mn-lt"/>
                <a:cs typeface="+mn-lt"/>
              </a:rPr>
              <a:t>assets</a:t>
            </a:r>
            <a:r>
              <a:rPr lang="es-ES" b="1" dirty="0">
                <a:latin typeface="Courier New"/>
                <a:ea typeface="+mn-lt"/>
                <a:cs typeface="+mn-lt"/>
              </a:rPr>
              <a:t>/fondo.jpg');</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background-repeat</a:t>
            </a:r>
            <a:r>
              <a:rPr lang="es-ES" b="1" dirty="0">
                <a:latin typeface="Courier New"/>
                <a:ea typeface="+mn-lt"/>
                <a:cs typeface="+mn-lt"/>
              </a:rPr>
              <a:t>: no-</a:t>
            </a:r>
            <a:r>
              <a:rPr lang="es-ES" b="1" dirty="0" err="1">
                <a:latin typeface="Courier New"/>
                <a:ea typeface="+mn-lt"/>
                <a:cs typeface="+mn-lt"/>
              </a:rPr>
              <a:t>repeat</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background</a:t>
            </a:r>
            <a:r>
              <a:rPr lang="es-ES" b="1" dirty="0">
                <a:latin typeface="Courier New"/>
                <a:ea typeface="+mn-lt"/>
                <a:cs typeface="+mn-lt"/>
              </a:rPr>
              <a:t>-position: center;</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background-size</a:t>
            </a:r>
            <a:r>
              <a:rPr lang="es-ES" b="1" dirty="0">
                <a:latin typeface="Courier New"/>
                <a:ea typeface="+mn-lt"/>
                <a:cs typeface="+mn-lt"/>
              </a:rPr>
              <a:t>: </a:t>
            </a:r>
            <a:r>
              <a:rPr lang="es-ES" b="1" dirty="0" err="1">
                <a:latin typeface="Courier New"/>
                <a:ea typeface="+mn-lt"/>
                <a:cs typeface="+mn-lt"/>
              </a:rPr>
              <a:t>cover</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a:t>
            </a:r>
          </a:p>
        </p:txBody>
      </p:sp>
    </p:spTree>
    <p:extLst>
      <p:ext uri="{BB962C8B-B14F-4D97-AF65-F5344CB8AC3E}">
        <p14:creationId xmlns:p14="http://schemas.microsoft.com/office/powerpoint/2010/main" val="4120299263"/>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604C71-7238-42EA-8B85-75F774CB216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D992625-8B50-26F3-C0CB-D4CCB60CB51B}"/>
              </a:ext>
            </a:extLst>
          </p:cNvPr>
          <p:cNvSpPr>
            <a:spLocks noGrp="1"/>
          </p:cNvSpPr>
          <p:nvPr>
            <p:ph type="title"/>
          </p:nvPr>
        </p:nvSpPr>
        <p:spPr/>
        <p:txBody>
          <a:bodyPr/>
          <a:lstStyle/>
          <a:p>
            <a:r>
              <a:rPr lang="es-ES" b="0" dirty="0">
                <a:ea typeface="+mj-lt"/>
                <a:cs typeface="+mj-lt"/>
              </a:rPr>
              <a:t>2.4.2. Propiedades de color y fondos (color, </a:t>
            </a:r>
            <a:r>
              <a:rPr lang="es-ES" b="0" dirty="0" err="1">
                <a:ea typeface="+mj-lt"/>
                <a:cs typeface="+mj-lt"/>
              </a:rPr>
              <a:t>background</a:t>
            </a:r>
            <a:r>
              <a:rPr lang="es-ES" b="0" dirty="0">
                <a:ea typeface="+mj-lt"/>
                <a:cs typeface="+mj-lt"/>
              </a:rPr>
              <a:t>, </a:t>
            </a:r>
            <a:r>
              <a:rPr lang="es-ES" b="0" dirty="0" err="1">
                <a:ea typeface="+mj-lt"/>
                <a:cs typeface="+mj-lt"/>
              </a:rPr>
              <a:t>background-image</a:t>
            </a:r>
            <a:r>
              <a:rPr lang="es-ES" b="0" dirty="0">
                <a:ea typeface="+mj-lt"/>
                <a:cs typeface="+mj-lt"/>
              </a:rPr>
              <a:t>).</a:t>
            </a:r>
            <a:endParaRPr lang="es-ES" dirty="0"/>
          </a:p>
        </p:txBody>
      </p:sp>
      <p:sp>
        <p:nvSpPr>
          <p:cNvPr id="3" name="Marcador de contenido 2">
            <a:extLst>
              <a:ext uri="{FF2B5EF4-FFF2-40B4-BE49-F238E27FC236}">
                <a16:creationId xmlns:a16="http://schemas.microsoft.com/office/drawing/2014/main" id="{B3D86EED-8076-5F3B-67F2-97469D31F916}"/>
              </a:ext>
            </a:extLst>
          </p:cNvPr>
          <p:cNvSpPr>
            <a:spLocks noGrp="1"/>
          </p:cNvSpPr>
          <p:nvPr>
            <p:ph idx="1"/>
          </p:nvPr>
        </p:nvSpPr>
        <p:spPr/>
        <p:txBody>
          <a:bodyPr vert="horz" lIns="91440" tIns="45720" rIns="91440" bIns="45720" rtlCol="0" anchor="t">
            <a:normAutofit/>
          </a:bodyPr>
          <a:lstStyle/>
          <a:p>
            <a:r>
              <a:rPr lang="es-ES" dirty="0">
                <a:ea typeface="+mn-lt"/>
                <a:cs typeface="+mn-lt"/>
              </a:rPr>
              <a:t>Gradientes: Los gradientes son una forma de crear transiciones de color suaves sin necesidad de usar una imagen. Son una parte de la propiedad </a:t>
            </a:r>
            <a:r>
              <a:rPr lang="es-ES" dirty="0" err="1">
                <a:ea typeface="+mn-lt"/>
                <a:cs typeface="+mn-lt"/>
              </a:rPr>
              <a:t>background-image</a:t>
            </a:r>
            <a:r>
              <a:rPr lang="es-ES" dirty="0">
                <a:ea typeface="+mn-lt"/>
                <a:cs typeface="+mn-lt"/>
              </a:rPr>
              <a:t>.</a:t>
            </a:r>
          </a:p>
          <a:p>
            <a:pPr lvl="1">
              <a:buFont typeface="Courier New" panose="020B0604020202020204" pitchFamily="34" charset="0"/>
              <a:buChar char="o"/>
            </a:pPr>
            <a:r>
              <a:rPr lang="es-ES" dirty="0">
                <a:ea typeface="+mn-lt"/>
                <a:cs typeface="+mn-lt"/>
              </a:rPr>
              <a:t>linear-</a:t>
            </a:r>
            <a:r>
              <a:rPr lang="es-ES" dirty="0" err="1">
                <a:ea typeface="+mn-lt"/>
                <a:cs typeface="+mn-lt"/>
              </a:rPr>
              <a:t>gradient</a:t>
            </a:r>
            <a:r>
              <a:rPr lang="es-ES" dirty="0">
                <a:ea typeface="+mn-lt"/>
                <a:cs typeface="+mn-lt"/>
              </a:rPr>
              <a:t>(): Crea una transición de color en línea recta. Puedes especificar la dirección y los colores.</a:t>
            </a:r>
            <a:endParaRPr lang="es-ES" dirty="0"/>
          </a:p>
          <a:p>
            <a:pPr lvl="1">
              <a:buFont typeface="Courier New" panose="020B0604020202020204" pitchFamily="34" charset="0"/>
              <a:buChar char="o"/>
            </a:pPr>
            <a:r>
              <a:rPr lang="es-ES" dirty="0">
                <a:ea typeface="+mn-lt"/>
                <a:cs typeface="+mn-lt"/>
              </a:rPr>
              <a:t>radial-</a:t>
            </a:r>
            <a:r>
              <a:rPr lang="es-ES" dirty="0" err="1">
                <a:ea typeface="+mn-lt"/>
                <a:cs typeface="+mn-lt"/>
              </a:rPr>
              <a:t>gradient</a:t>
            </a:r>
            <a:r>
              <a:rPr lang="es-ES" dirty="0">
                <a:ea typeface="+mn-lt"/>
                <a:cs typeface="+mn-lt"/>
              </a:rPr>
              <a:t>(): Crea una transición de color que se irradia desde un punto central.</a:t>
            </a:r>
          </a:p>
          <a:p>
            <a:pPr marL="0" indent="0">
              <a:buNone/>
            </a:pPr>
            <a:r>
              <a:rPr lang="es-ES" b="1" dirty="0">
                <a:latin typeface="Courier New"/>
                <a:ea typeface="+mn-lt"/>
                <a:cs typeface="+mn-lt"/>
              </a:rPr>
              <a:t>.caja-gradiente-lineal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background-image</a:t>
            </a:r>
            <a:r>
              <a:rPr lang="es-ES" b="1" dirty="0">
                <a:latin typeface="Courier New"/>
                <a:ea typeface="+mn-lt"/>
                <a:cs typeface="+mn-lt"/>
              </a:rPr>
              <a:t>: linear-</a:t>
            </a:r>
            <a:r>
              <a:rPr lang="es-ES" b="1" dirty="0" err="1">
                <a:latin typeface="Courier New"/>
                <a:ea typeface="+mn-lt"/>
                <a:cs typeface="+mn-lt"/>
              </a:rPr>
              <a:t>gradient</a:t>
            </a:r>
            <a:r>
              <a:rPr lang="es-ES" b="1" dirty="0">
                <a:latin typeface="Courier New"/>
                <a:ea typeface="+mn-lt"/>
                <a:cs typeface="+mn-lt"/>
              </a:rPr>
              <a:t>(</a:t>
            </a:r>
            <a:r>
              <a:rPr lang="es-ES" b="1" dirty="0" err="1">
                <a:latin typeface="Courier New"/>
                <a:ea typeface="+mn-lt"/>
                <a:cs typeface="+mn-lt"/>
              </a:rPr>
              <a:t>to</a:t>
            </a:r>
            <a:r>
              <a:rPr lang="es-ES" b="1" dirty="0">
                <a:latin typeface="Courier New"/>
                <a:ea typeface="+mn-lt"/>
                <a:cs typeface="+mn-lt"/>
              </a:rPr>
              <a:t> </a:t>
            </a:r>
            <a:r>
              <a:rPr lang="es-ES" b="1" dirty="0" err="1">
                <a:latin typeface="Courier New"/>
                <a:ea typeface="+mn-lt"/>
                <a:cs typeface="+mn-lt"/>
              </a:rPr>
              <a:t>right</a:t>
            </a:r>
            <a:r>
              <a:rPr lang="es-ES" b="1" dirty="0">
                <a:latin typeface="Courier New"/>
                <a:ea typeface="+mn-lt"/>
                <a:cs typeface="+mn-lt"/>
              </a:rPr>
              <a:t>, #4facfe, #00f2fe);</a:t>
            </a:r>
            <a:br>
              <a:rPr lang="es-ES" b="1" dirty="0">
                <a:latin typeface="Courier New"/>
                <a:ea typeface="+mn-lt"/>
                <a:cs typeface="+mn-lt"/>
              </a:rPr>
            </a:b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.caja-gradiente-radial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background-image</a:t>
            </a:r>
            <a:r>
              <a:rPr lang="es-ES" b="1" dirty="0">
                <a:latin typeface="Courier New"/>
                <a:ea typeface="+mn-lt"/>
                <a:cs typeface="+mn-lt"/>
              </a:rPr>
              <a:t>: radial-</a:t>
            </a:r>
            <a:r>
              <a:rPr lang="es-ES" b="1" dirty="0" err="1">
                <a:latin typeface="Courier New"/>
                <a:ea typeface="+mn-lt"/>
                <a:cs typeface="+mn-lt"/>
              </a:rPr>
              <a:t>gradient</a:t>
            </a:r>
            <a:r>
              <a:rPr lang="es-ES" b="1" dirty="0">
                <a:latin typeface="Courier New"/>
                <a:ea typeface="+mn-lt"/>
                <a:cs typeface="+mn-lt"/>
              </a:rPr>
              <a:t>(</a:t>
            </a:r>
            <a:r>
              <a:rPr lang="es-ES" b="1" dirty="0" err="1">
                <a:latin typeface="Courier New"/>
                <a:ea typeface="+mn-lt"/>
                <a:cs typeface="+mn-lt"/>
              </a:rPr>
              <a:t>circle</a:t>
            </a:r>
            <a:r>
              <a:rPr lang="es-ES" b="1" dirty="0">
                <a:latin typeface="Courier New"/>
                <a:ea typeface="+mn-lt"/>
                <a:cs typeface="+mn-lt"/>
              </a:rPr>
              <a:t>, #ff9a9e, #fad0c4);</a:t>
            </a:r>
            <a:br>
              <a:rPr lang="es-ES" b="1" dirty="0">
                <a:latin typeface="Courier New"/>
                <a:ea typeface="+mn-lt"/>
                <a:cs typeface="+mn-lt"/>
              </a:rPr>
            </a:br>
            <a:r>
              <a:rPr lang="es-ES" b="1" dirty="0">
                <a:latin typeface="Courier New"/>
                <a:ea typeface="+mn-lt"/>
                <a:cs typeface="+mn-lt"/>
              </a:rPr>
              <a:t>}</a:t>
            </a:r>
          </a:p>
        </p:txBody>
      </p:sp>
    </p:spTree>
    <p:extLst>
      <p:ext uri="{BB962C8B-B14F-4D97-AF65-F5344CB8AC3E}">
        <p14:creationId xmlns:p14="http://schemas.microsoft.com/office/powerpoint/2010/main" val="2771309475"/>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AA9D6-10A6-BAE1-B094-C7337187BB7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86C0330-EE72-1F01-A2A9-165F23A88C97}"/>
              </a:ext>
            </a:extLst>
          </p:cNvPr>
          <p:cNvSpPr>
            <a:spLocks noGrp="1"/>
          </p:cNvSpPr>
          <p:nvPr>
            <p:ph type="title"/>
          </p:nvPr>
        </p:nvSpPr>
        <p:spPr/>
        <p:txBody>
          <a:bodyPr/>
          <a:lstStyle/>
          <a:p>
            <a:r>
              <a:rPr lang="es-ES" b="0" dirty="0">
                <a:ea typeface="+mj-lt"/>
                <a:cs typeface="+mj-lt"/>
              </a:rPr>
              <a:t>2.4.2.1 Bordes y sombras.</a:t>
            </a:r>
            <a:endParaRPr lang="es-ES" dirty="0"/>
          </a:p>
        </p:txBody>
      </p:sp>
      <p:sp>
        <p:nvSpPr>
          <p:cNvPr id="3" name="Marcador de contenido 2">
            <a:extLst>
              <a:ext uri="{FF2B5EF4-FFF2-40B4-BE49-F238E27FC236}">
                <a16:creationId xmlns:a16="http://schemas.microsoft.com/office/drawing/2014/main" id="{8E02FBC2-6102-4132-1248-5F5AE98BFB76}"/>
              </a:ext>
            </a:extLst>
          </p:cNvPr>
          <p:cNvSpPr>
            <a:spLocks noGrp="1"/>
          </p:cNvSpPr>
          <p:nvPr>
            <p:ph idx="1"/>
          </p:nvPr>
        </p:nvSpPr>
        <p:spPr/>
        <p:txBody>
          <a:bodyPr vert="horz" lIns="91440" tIns="45720" rIns="91440" bIns="45720" rtlCol="0" anchor="t">
            <a:normAutofit fontScale="85000" lnSpcReduction="10000"/>
          </a:bodyPr>
          <a:lstStyle/>
          <a:p>
            <a:r>
              <a:rPr lang="es-ES" dirty="0">
                <a:ea typeface="+mn-lt"/>
                <a:cs typeface="+mn-lt"/>
              </a:rPr>
              <a:t>Las propiedades de bordes y sombras en CSS te permiten añadir estructura, separación y profundidad visual a los elementos de tu página web. Son herramientas esenciales para crear un diseño que no solo sea funcional, sino también estéticamente agradable.</a:t>
            </a:r>
          </a:p>
          <a:p>
            <a:r>
              <a:rPr lang="es-ES" dirty="0">
                <a:ea typeface="+mn-lt"/>
                <a:cs typeface="+mn-lt"/>
              </a:rPr>
              <a:t>Bordes (</a:t>
            </a:r>
            <a:r>
              <a:rPr lang="es-ES" dirty="0" err="1">
                <a:ea typeface="+mn-lt"/>
                <a:cs typeface="+mn-lt"/>
              </a:rPr>
              <a:t>border</a:t>
            </a:r>
            <a:r>
              <a:rPr lang="es-ES" dirty="0">
                <a:ea typeface="+mn-lt"/>
                <a:cs typeface="+mn-lt"/>
              </a:rPr>
              <a:t>): La propiedad </a:t>
            </a:r>
            <a:r>
              <a:rPr lang="es-ES" dirty="0" err="1">
                <a:ea typeface="+mn-lt"/>
                <a:cs typeface="+mn-lt"/>
              </a:rPr>
              <a:t>border</a:t>
            </a:r>
            <a:r>
              <a:rPr lang="es-ES" dirty="0">
                <a:ea typeface="+mn-lt"/>
                <a:cs typeface="+mn-lt"/>
              </a:rPr>
              <a:t> es una propiedad abreviada que te permite definir el ancho, el estilo y el color del borde de un elemento.</a:t>
            </a:r>
            <a:endParaRPr lang="es-ES" dirty="0"/>
          </a:p>
          <a:p>
            <a:pPr lvl="1">
              <a:buFont typeface="Courier New" panose="020B0604020202020204" pitchFamily="34" charset="0"/>
              <a:buChar char="o"/>
            </a:pPr>
            <a:r>
              <a:rPr lang="es-ES" dirty="0" err="1">
                <a:ea typeface="+mn-lt"/>
                <a:cs typeface="+mn-lt"/>
              </a:rPr>
              <a:t>border-width</a:t>
            </a:r>
            <a:r>
              <a:rPr lang="es-ES" dirty="0">
                <a:ea typeface="+mn-lt"/>
                <a:cs typeface="+mn-lt"/>
              </a:rPr>
              <a:t>: El grosor del borde. Puedes usar unidades como </a:t>
            </a:r>
            <a:r>
              <a:rPr lang="es-ES" dirty="0" err="1">
                <a:ea typeface="+mn-lt"/>
                <a:cs typeface="+mn-lt"/>
              </a:rPr>
              <a:t>px</a:t>
            </a:r>
            <a:r>
              <a:rPr lang="es-ES" dirty="0">
                <a:ea typeface="+mn-lt"/>
                <a:cs typeface="+mn-lt"/>
              </a:rPr>
              <a:t>, em o palabras clave como </a:t>
            </a:r>
            <a:r>
              <a:rPr lang="es-ES" dirty="0" err="1">
                <a:ea typeface="+mn-lt"/>
                <a:cs typeface="+mn-lt"/>
              </a:rPr>
              <a:t>thin</a:t>
            </a:r>
            <a:r>
              <a:rPr lang="es-ES" dirty="0">
                <a:ea typeface="+mn-lt"/>
                <a:cs typeface="+mn-lt"/>
              </a:rPr>
              <a:t>, </a:t>
            </a:r>
            <a:r>
              <a:rPr lang="es-ES" dirty="0" err="1">
                <a:ea typeface="+mn-lt"/>
                <a:cs typeface="+mn-lt"/>
              </a:rPr>
              <a:t>medium</a:t>
            </a:r>
            <a:r>
              <a:rPr lang="es-ES" dirty="0">
                <a:ea typeface="+mn-lt"/>
                <a:cs typeface="+mn-lt"/>
              </a:rPr>
              <a:t>, </a:t>
            </a:r>
            <a:r>
              <a:rPr lang="es-ES" dirty="0" err="1">
                <a:ea typeface="+mn-lt"/>
                <a:cs typeface="+mn-lt"/>
              </a:rPr>
              <a:t>thick</a:t>
            </a:r>
            <a:r>
              <a:rPr lang="es-ES" dirty="0">
                <a:ea typeface="+mn-lt"/>
                <a:cs typeface="+mn-lt"/>
              </a:rPr>
              <a:t>.</a:t>
            </a:r>
            <a:endParaRPr lang="es-ES" dirty="0"/>
          </a:p>
          <a:p>
            <a:pPr lvl="1">
              <a:buFont typeface="Courier New" panose="020B0604020202020204" pitchFamily="34" charset="0"/>
              <a:buChar char="o"/>
            </a:pPr>
            <a:r>
              <a:rPr lang="es-ES" dirty="0" err="1">
                <a:ea typeface="+mn-lt"/>
                <a:cs typeface="+mn-lt"/>
              </a:rPr>
              <a:t>border-style</a:t>
            </a:r>
            <a:r>
              <a:rPr lang="es-ES" dirty="0">
                <a:ea typeface="+mn-lt"/>
                <a:cs typeface="+mn-lt"/>
              </a:rPr>
              <a:t>: El estilo de línea del borde. Los valores más comunes son: </a:t>
            </a:r>
            <a:r>
              <a:rPr lang="es-ES" dirty="0" err="1">
                <a:ea typeface="+mn-lt"/>
                <a:cs typeface="+mn-lt"/>
              </a:rPr>
              <a:t>solid</a:t>
            </a:r>
            <a:r>
              <a:rPr lang="es-ES" dirty="0">
                <a:ea typeface="+mn-lt"/>
                <a:cs typeface="+mn-lt"/>
              </a:rPr>
              <a:t>, </a:t>
            </a:r>
            <a:r>
              <a:rPr lang="es-ES" dirty="0" err="1">
                <a:ea typeface="+mn-lt"/>
                <a:cs typeface="+mn-lt"/>
              </a:rPr>
              <a:t>dashed</a:t>
            </a:r>
            <a:r>
              <a:rPr lang="es-ES" dirty="0">
                <a:ea typeface="+mn-lt"/>
                <a:cs typeface="+mn-lt"/>
              </a:rPr>
              <a:t>, </a:t>
            </a:r>
            <a:r>
              <a:rPr lang="es-ES" dirty="0" err="1">
                <a:ea typeface="+mn-lt"/>
                <a:cs typeface="+mn-lt"/>
              </a:rPr>
              <a:t>dotted</a:t>
            </a:r>
            <a:r>
              <a:rPr lang="es-ES" dirty="0">
                <a:ea typeface="+mn-lt"/>
                <a:cs typeface="+mn-lt"/>
              </a:rPr>
              <a:t>, </a:t>
            </a:r>
            <a:r>
              <a:rPr lang="es-ES" dirty="0" err="1">
                <a:ea typeface="+mn-lt"/>
                <a:cs typeface="+mn-lt"/>
              </a:rPr>
              <a:t>double</a:t>
            </a:r>
            <a:r>
              <a:rPr lang="es-ES" dirty="0">
                <a:ea typeface="+mn-lt"/>
                <a:cs typeface="+mn-lt"/>
              </a:rPr>
              <a:t>.</a:t>
            </a:r>
          </a:p>
          <a:p>
            <a:pPr lvl="1">
              <a:buFont typeface="Courier New" panose="020B0604020202020204" pitchFamily="34" charset="0"/>
              <a:buChar char="o"/>
            </a:pPr>
            <a:r>
              <a:rPr lang="es-ES" dirty="0" err="1">
                <a:ea typeface="+mn-lt"/>
                <a:cs typeface="+mn-lt"/>
              </a:rPr>
              <a:t>border</a:t>
            </a:r>
            <a:r>
              <a:rPr lang="es-ES" dirty="0">
                <a:ea typeface="+mn-lt"/>
                <a:cs typeface="+mn-lt"/>
              </a:rPr>
              <a:t>-color: El color del borde. Puedes usar los mismos formatos que para el color de texto o fondo (</a:t>
            </a:r>
            <a:r>
              <a:rPr lang="es-ES" dirty="0" err="1">
                <a:ea typeface="+mn-lt"/>
                <a:cs typeface="+mn-lt"/>
              </a:rPr>
              <a:t>hex</a:t>
            </a:r>
            <a:r>
              <a:rPr lang="es-ES" dirty="0">
                <a:ea typeface="+mn-lt"/>
                <a:cs typeface="+mn-lt"/>
              </a:rPr>
              <a:t>, RGB, etc.).</a:t>
            </a:r>
            <a:endParaRPr lang="es-ES" dirty="0"/>
          </a:p>
          <a:p>
            <a:r>
              <a:rPr lang="es-ES" dirty="0">
                <a:ea typeface="+mn-lt"/>
                <a:cs typeface="+mn-lt"/>
              </a:rPr>
              <a:t>Ejemplo de uso de </a:t>
            </a:r>
            <a:r>
              <a:rPr lang="es-ES" dirty="0" err="1">
                <a:ea typeface="+mn-lt"/>
                <a:cs typeface="+mn-lt"/>
              </a:rPr>
              <a:t>border</a:t>
            </a:r>
            <a:r>
              <a:rPr lang="es-ES" dirty="0">
                <a:ea typeface="+mn-lt"/>
                <a:cs typeface="+mn-lt"/>
              </a:rPr>
              <a:t>:</a:t>
            </a:r>
            <a:endParaRPr lang="es-ES" dirty="0"/>
          </a:p>
          <a:p>
            <a:pPr marL="0" indent="0">
              <a:buNone/>
            </a:pPr>
            <a:r>
              <a:rPr lang="es-ES" b="1" dirty="0">
                <a:latin typeface="Courier New"/>
                <a:ea typeface="+mn-lt"/>
                <a:cs typeface="+mn-lt"/>
              </a:rPr>
              <a:t>.caja-con-borde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border</a:t>
            </a:r>
            <a:r>
              <a:rPr lang="es-ES" b="1" dirty="0">
                <a:latin typeface="Courier New"/>
                <a:ea typeface="+mn-lt"/>
                <a:cs typeface="+mn-lt"/>
              </a:rPr>
              <a:t>: 2px </a:t>
            </a:r>
            <a:r>
              <a:rPr lang="es-ES" b="1" dirty="0" err="1">
                <a:latin typeface="Courier New"/>
                <a:ea typeface="+mn-lt"/>
                <a:cs typeface="+mn-lt"/>
              </a:rPr>
              <a:t>solid</a:t>
            </a:r>
            <a:r>
              <a:rPr lang="es-ES" b="1" dirty="0">
                <a:latin typeface="Courier New"/>
                <a:ea typeface="+mn-lt"/>
                <a:cs typeface="+mn-lt"/>
              </a:rPr>
              <a:t> #007bff; /* Ancho, estilo y color en una línea */</a:t>
            </a:r>
            <a:br>
              <a:rPr lang="es-ES" b="1" dirty="0">
                <a:latin typeface="Courier New"/>
                <a:ea typeface="+mn-lt"/>
                <a:cs typeface="+mn-lt"/>
              </a:rPr>
            </a:br>
            <a:r>
              <a:rPr lang="es-ES" b="1" dirty="0">
                <a:latin typeface="Courier New"/>
                <a:ea typeface="+mn-lt"/>
                <a:cs typeface="+mn-lt"/>
              </a:rPr>
              <a:t>}</a:t>
            </a:r>
            <a:endParaRPr lang="es-ES" b="1" dirty="0">
              <a:latin typeface="Courier New"/>
              <a:cs typeface="Courier New"/>
            </a:endParaRPr>
          </a:p>
          <a:p>
            <a:r>
              <a:rPr lang="es-ES" dirty="0">
                <a:ea typeface="+mn-lt"/>
                <a:cs typeface="+mn-lt"/>
              </a:rPr>
              <a:t>También puedes aplicar estas propiedades de forma individual para cada lado: </a:t>
            </a:r>
            <a:r>
              <a:rPr lang="es-ES" dirty="0" err="1">
                <a:ea typeface="+mn-lt"/>
                <a:cs typeface="+mn-lt"/>
              </a:rPr>
              <a:t>border</a:t>
            </a:r>
            <a:r>
              <a:rPr lang="es-ES" dirty="0">
                <a:ea typeface="+mn-lt"/>
                <a:cs typeface="+mn-lt"/>
              </a:rPr>
              <a:t>-top, </a:t>
            </a:r>
            <a:r>
              <a:rPr lang="es-ES" dirty="0" err="1">
                <a:ea typeface="+mn-lt"/>
                <a:cs typeface="+mn-lt"/>
              </a:rPr>
              <a:t>border-right</a:t>
            </a:r>
            <a:r>
              <a:rPr lang="es-ES" dirty="0">
                <a:ea typeface="+mn-lt"/>
                <a:cs typeface="+mn-lt"/>
              </a:rPr>
              <a:t>, </a:t>
            </a:r>
            <a:r>
              <a:rPr lang="es-ES" dirty="0" err="1">
                <a:ea typeface="+mn-lt"/>
                <a:cs typeface="+mn-lt"/>
              </a:rPr>
              <a:t>border</a:t>
            </a:r>
            <a:r>
              <a:rPr lang="es-ES" dirty="0">
                <a:ea typeface="+mn-lt"/>
                <a:cs typeface="+mn-lt"/>
              </a:rPr>
              <a:t>-bottom y </a:t>
            </a:r>
            <a:r>
              <a:rPr lang="es-ES" dirty="0" err="1">
                <a:ea typeface="+mn-lt"/>
                <a:cs typeface="+mn-lt"/>
              </a:rPr>
              <a:t>border-left</a:t>
            </a:r>
            <a:r>
              <a:rPr lang="es-ES" dirty="0">
                <a:ea typeface="+mn-lt"/>
                <a:cs typeface="+mn-lt"/>
              </a:rPr>
              <a:t>.</a:t>
            </a:r>
          </a:p>
          <a:p>
            <a:endParaRPr lang="es-ES" dirty="0">
              <a:ea typeface="+mn-lt"/>
              <a:cs typeface="+mn-lt"/>
            </a:endParaRPr>
          </a:p>
        </p:txBody>
      </p:sp>
    </p:spTree>
    <p:extLst>
      <p:ext uri="{BB962C8B-B14F-4D97-AF65-F5344CB8AC3E}">
        <p14:creationId xmlns:p14="http://schemas.microsoft.com/office/powerpoint/2010/main" val="1843862418"/>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CAB807-F06F-3296-357E-7289BE83D43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389FDF1-E369-B0A3-1C4A-FB38AB904EF0}"/>
              </a:ext>
            </a:extLst>
          </p:cNvPr>
          <p:cNvSpPr>
            <a:spLocks noGrp="1"/>
          </p:cNvSpPr>
          <p:nvPr>
            <p:ph type="title"/>
          </p:nvPr>
        </p:nvSpPr>
        <p:spPr/>
        <p:txBody>
          <a:bodyPr/>
          <a:lstStyle/>
          <a:p>
            <a:r>
              <a:rPr lang="es-ES" b="0" dirty="0">
                <a:ea typeface="+mj-lt"/>
                <a:cs typeface="+mj-lt"/>
              </a:rPr>
              <a:t>2.4.2.1 Bordes y sombras.</a:t>
            </a:r>
            <a:endParaRPr lang="es-ES" dirty="0"/>
          </a:p>
        </p:txBody>
      </p:sp>
      <p:sp>
        <p:nvSpPr>
          <p:cNvPr id="3" name="Marcador de contenido 2">
            <a:extLst>
              <a:ext uri="{FF2B5EF4-FFF2-40B4-BE49-F238E27FC236}">
                <a16:creationId xmlns:a16="http://schemas.microsoft.com/office/drawing/2014/main" id="{DAFBAFF1-B622-C6FE-6DBD-077D63401A3F}"/>
              </a:ext>
            </a:extLst>
          </p:cNvPr>
          <p:cNvSpPr>
            <a:spLocks noGrp="1"/>
          </p:cNvSpPr>
          <p:nvPr>
            <p:ph idx="1"/>
          </p:nvPr>
        </p:nvSpPr>
        <p:spPr/>
        <p:txBody>
          <a:bodyPr vert="horz" lIns="91440" tIns="45720" rIns="91440" bIns="45720" rtlCol="0" anchor="t">
            <a:normAutofit/>
          </a:bodyPr>
          <a:lstStyle/>
          <a:p>
            <a:r>
              <a:rPr lang="es-ES" dirty="0">
                <a:ea typeface="+mn-lt"/>
                <a:cs typeface="+mn-lt"/>
              </a:rPr>
              <a:t>Bordes redondeados (</a:t>
            </a:r>
            <a:r>
              <a:rPr lang="es-ES" dirty="0" err="1">
                <a:ea typeface="+mn-lt"/>
                <a:cs typeface="+mn-lt"/>
              </a:rPr>
              <a:t>border-radius</a:t>
            </a:r>
            <a:r>
              <a:rPr lang="es-ES" dirty="0">
                <a:ea typeface="+mn-lt"/>
                <a:cs typeface="+mn-lt"/>
              </a:rPr>
              <a:t>): La propiedad </a:t>
            </a:r>
            <a:r>
              <a:rPr lang="es-ES" dirty="0" err="1">
                <a:ea typeface="+mn-lt"/>
                <a:cs typeface="+mn-lt"/>
              </a:rPr>
              <a:t>border-radius</a:t>
            </a:r>
            <a:r>
              <a:rPr lang="es-ES" dirty="0">
                <a:ea typeface="+mn-lt"/>
                <a:cs typeface="+mn-lt"/>
              </a:rPr>
              <a:t> te permite redondear las esquinas de un elemento. Es una de las formas más sencillas de suavizar la apariencia de los cuadros y contenedores. Puedes definir un valor para las cuatro esquinas a la vez o valores diferentes para cada una.</a:t>
            </a:r>
            <a:endParaRPr lang="es-ES" dirty="0"/>
          </a:p>
          <a:p>
            <a:r>
              <a:rPr lang="es-ES" dirty="0">
                <a:ea typeface="+mn-lt"/>
                <a:cs typeface="+mn-lt"/>
              </a:rPr>
              <a:t>Ejemplo de uso de </a:t>
            </a:r>
            <a:r>
              <a:rPr lang="es-ES" dirty="0" err="1">
                <a:ea typeface="+mn-lt"/>
                <a:cs typeface="+mn-lt"/>
              </a:rPr>
              <a:t>border-radius</a:t>
            </a:r>
            <a:r>
              <a:rPr lang="es-ES" dirty="0">
                <a:ea typeface="+mn-lt"/>
                <a:cs typeface="+mn-lt"/>
              </a:rPr>
              <a:t>:</a:t>
            </a:r>
          </a:p>
          <a:p>
            <a:pPr marL="0" indent="0">
              <a:buNone/>
            </a:pPr>
            <a:r>
              <a:rPr lang="es-ES" b="1" dirty="0">
                <a:latin typeface="Courier New"/>
                <a:ea typeface="+mn-lt"/>
                <a:cs typeface="+mn-lt"/>
              </a:rPr>
              <a:t>.esquinas-suaves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border-radius</a:t>
            </a:r>
            <a:r>
              <a:rPr lang="es-ES" b="1" dirty="0">
                <a:latin typeface="Courier New"/>
                <a:ea typeface="+mn-lt"/>
                <a:cs typeface="+mn-lt"/>
              </a:rPr>
              <a:t>: 8px; /* Aplica un radio de 8px a las cuatro esquinas */</a:t>
            </a:r>
            <a:br>
              <a:rPr lang="es-ES" b="1" dirty="0">
                <a:latin typeface="Courier New"/>
                <a:ea typeface="+mn-lt"/>
                <a:cs typeface="+mn-lt"/>
              </a:rPr>
            </a:b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.ovalo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border-radius</a:t>
            </a:r>
            <a:r>
              <a:rPr lang="es-ES" b="1" dirty="0">
                <a:latin typeface="Courier New"/>
                <a:ea typeface="+mn-lt"/>
                <a:cs typeface="+mn-lt"/>
              </a:rPr>
              <a:t>: 50%; /* Crea un círculo o un óvalo */</a:t>
            </a:r>
            <a:br>
              <a:rPr lang="es-ES" b="1" dirty="0">
                <a:latin typeface="Courier New"/>
                <a:ea typeface="+mn-lt"/>
                <a:cs typeface="+mn-lt"/>
              </a:rPr>
            </a:br>
            <a:r>
              <a:rPr lang="es-ES" b="1" dirty="0">
                <a:latin typeface="Courier New"/>
                <a:ea typeface="+mn-lt"/>
                <a:cs typeface="+mn-lt"/>
              </a:rPr>
              <a:t>}</a:t>
            </a:r>
            <a:endParaRPr lang="es-ES" b="1" dirty="0">
              <a:latin typeface="Courier New"/>
              <a:cs typeface="Courier New"/>
            </a:endParaRPr>
          </a:p>
        </p:txBody>
      </p:sp>
    </p:spTree>
    <p:extLst>
      <p:ext uri="{BB962C8B-B14F-4D97-AF65-F5344CB8AC3E}">
        <p14:creationId xmlns:p14="http://schemas.microsoft.com/office/powerpoint/2010/main" val="1232136032"/>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D6FA97-6B28-C34A-79A1-0E8E7B35725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9AD3D7B-7CA1-F75E-1EA6-AE9912ECA507}"/>
              </a:ext>
            </a:extLst>
          </p:cNvPr>
          <p:cNvSpPr>
            <a:spLocks noGrp="1"/>
          </p:cNvSpPr>
          <p:nvPr>
            <p:ph type="title"/>
          </p:nvPr>
        </p:nvSpPr>
        <p:spPr/>
        <p:txBody>
          <a:bodyPr/>
          <a:lstStyle/>
          <a:p>
            <a:r>
              <a:rPr lang="es-ES" b="0" dirty="0">
                <a:ea typeface="+mj-lt"/>
                <a:cs typeface="+mj-lt"/>
              </a:rPr>
              <a:t>2.4.2.1 Bordes y sombras.</a:t>
            </a:r>
            <a:endParaRPr lang="es-ES" dirty="0"/>
          </a:p>
        </p:txBody>
      </p:sp>
      <p:sp>
        <p:nvSpPr>
          <p:cNvPr id="3" name="Marcador de contenido 2">
            <a:extLst>
              <a:ext uri="{FF2B5EF4-FFF2-40B4-BE49-F238E27FC236}">
                <a16:creationId xmlns:a16="http://schemas.microsoft.com/office/drawing/2014/main" id="{7CAD6B68-9B33-A037-958A-0E7E498D999C}"/>
              </a:ext>
            </a:extLst>
          </p:cNvPr>
          <p:cNvSpPr>
            <a:spLocks noGrp="1"/>
          </p:cNvSpPr>
          <p:nvPr>
            <p:ph idx="1"/>
          </p:nvPr>
        </p:nvSpPr>
        <p:spPr/>
        <p:txBody>
          <a:bodyPr vert="horz" lIns="91440" tIns="45720" rIns="91440" bIns="45720" rtlCol="0" anchor="t">
            <a:normAutofit fontScale="85000" lnSpcReduction="20000"/>
          </a:bodyPr>
          <a:lstStyle/>
          <a:p>
            <a:r>
              <a:rPr lang="es-ES" dirty="0">
                <a:ea typeface="+mn-lt"/>
                <a:cs typeface="+mn-lt"/>
              </a:rPr>
              <a:t>Sombras de caja (box-</a:t>
            </a:r>
            <a:r>
              <a:rPr lang="es-ES" dirty="0" err="1">
                <a:ea typeface="+mn-lt"/>
                <a:cs typeface="+mn-lt"/>
              </a:rPr>
              <a:t>shadow</a:t>
            </a:r>
            <a:r>
              <a:rPr lang="es-ES" dirty="0">
                <a:ea typeface="+mn-lt"/>
                <a:cs typeface="+mn-lt"/>
              </a:rPr>
              <a:t>): La propiedad box-</a:t>
            </a:r>
            <a:r>
              <a:rPr lang="es-ES" dirty="0" err="1">
                <a:ea typeface="+mn-lt"/>
                <a:cs typeface="+mn-lt"/>
              </a:rPr>
              <a:t>shadow</a:t>
            </a:r>
            <a:r>
              <a:rPr lang="es-ES" dirty="0">
                <a:ea typeface="+mn-lt"/>
                <a:cs typeface="+mn-lt"/>
              </a:rPr>
              <a:t> añade una o más sombras a un elemento. Se utiliza para dar una sensación de profundidad y separar visualmente un elemento del fondo.</a:t>
            </a:r>
          </a:p>
          <a:p>
            <a:r>
              <a:rPr lang="es-ES" dirty="0">
                <a:ea typeface="+mn-lt"/>
                <a:cs typeface="+mn-lt"/>
              </a:rPr>
              <a:t>Los valores de box-</a:t>
            </a:r>
            <a:r>
              <a:rPr lang="es-ES" dirty="0" err="1">
                <a:ea typeface="+mn-lt"/>
                <a:cs typeface="+mn-lt"/>
              </a:rPr>
              <a:t>shadow</a:t>
            </a:r>
            <a:r>
              <a:rPr lang="es-ES" dirty="0">
                <a:ea typeface="+mn-lt"/>
                <a:cs typeface="+mn-lt"/>
              </a:rPr>
              <a:t> se definen en el siguiente orden:</a:t>
            </a:r>
            <a:endParaRPr lang="es-ES" dirty="0"/>
          </a:p>
          <a:p>
            <a:pPr lvl="1">
              <a:buFont typeface="Courier New" panose="020B0604020202020204" pitchFamily="34" charset="0"/>
              <a:buChar char="o"/>
            </a:pPr>
            <a:r>
              <a:rPr lang="es-ES" dirty="0">
                <a:ea typeface="+mn-lt"/>
                <a:cs typeface="+mn-lt"/>
              </a:rPr>
              <a:t>offset-x: El desplazamiento horizontal de la sombra.</a:t>
            </a:r>
            <a:endParaRPr lang="es-ES" dirty="0"/>
          </a:p>
          <a:p>
            <a:pPr lvl="1">
              <a:buFont typeface="Courier New" panose="020B0604020202020204" pitchFamily="34" charset="0"/>
              <a:buChar char="o"/>
            </a:pPr>
            <a:r>
              <a:rPr lang="es-ES" dirty="0">
                <a:ea typeface="+mn-lt"/>
                <a:cs typeface="+mn-lt"/>
              </a:rPr>
              <a:t>offset-y: El desplazamiento vertical de la sombra.</a:t>
            </a:r>
            <a:endParaRPr lang="es-ES" dirty="0"/>
          </a:p>
          <a:p>
            <a:pPr lvl="1">
              <a:buFont typeface="Courier New" panose="020B0604020202020204" pitchFamily="34" charset="0"/>
              <a:buChar char="o"/>
            </a:pPr>
            <a:r>
              <a:rPr lang="es-ES" dirty="0" err="1">
                <a:ea typeface="+mn-lt"/>
                <a:cs typeface="+mn-lt"/>
              </a:rPr>
              <a:t>blur-radius</a:t>
            </a:r>
            <a:r>
              <a:rPr lang="es-ES" dirty="0">
                <a:ea typeface="+mn-lt"/>
                <a:cs typeface="+mn-lt"/>
              </a:rPr>
              <a:t>: El radio del desenfoque de la sombra. Cuanto mayor sea el valor, más difusa será la sombra.</a:t>
            </a:r>
            <a:endParaRPr lang="es-ES" dirty="0"/>
          </a:p>
          <a:p>
            <a:pPr lvl="1">
              <a:buFont typeface="Courier New" panose="020B0604020202020204" pitchFamily="34" charset="0"/>
              <a:buChar char="o"/>
            </a:pPr>
            <a:r>
              <a:rPr lang="es-ES" dirty="0">
                <a:ea typeface="+mn-lt"/>
                <a:cs typeface="+mn-lt"/>
              </a:rPr>
              <a:t>spread-</a:t>
            </a:r>
            <a:r>
              <a:rPr lang="es-ES" dirty="0" err="1">
                <a:ea typeface="+mn-lt"/>
                <a:cs typeface="+mn-lt"/>
              </a:rPr>
              <a:t>radius</a:t>
            </a:r>
            <a:r>
              <a:rPr lang="es-ES" dirty="0">
                <a:ea typeface="+mn-lt"/>
                <a:cs typeface="+mn-lt"/>
              </a:rPr>
              <a:t> (opcional): El radio de expansión de la sombra.</a:t>
            </a:r>
            <a:endParaRPr lang="es-ES" dirty="0"/>
          </a:p>
          <a:p>
            <a:pPr lvl="1">
              <a:buFont typeface="Courier New" panose="020B0604020202020204" pitchFamily="34" charset="0"/>
              <a:buChar char="o"/>
            </a:pPr>
            <a:r>
              <a:rPr lang="es-ES" dirty="0">
                <a:ea typeface="+mn-lt"/>
                <a:cs typeface="+mn-lt"/>
              </a:rPr>
              <a:t>color: El color de la sombra.</a:t>
            </a:r>
            <a:endParaRPr lang="es-ES" dirty="0"/>
          </a:p>
          <a:p>
            <a:pPr lvl="1">
              <a:buFont typeface="Courier New" panose="020B0604020202020204" pitchFamily="34" charset="0"/>
              <a:buChar char="o"/>
            </a:pPr>
            <a:r>
              <a:rPr lang="es-ES" dirty="0" err="1">
                <a:ea typeface="+mn-lt"/>
                <a:cs typeface="+mn-lt"/>
              </a:rPr>
              <a:t>inset</a:t>
            </a:r>
            <a:r>
              <a:rPr lang="es-ES" dirty="0">
                <a:ea typeface="+mn-lt"/>
                <a:cs typeface="+mn-lt"/>
              </a:rPr>
              <a:t> (opcional): Convierte la sombra en una sombra interior.</a:t>
            </a:r>
          </a:p>
          <a:p>
            <a:r>
              <a:rPr lang="es-ES" dirty="0">
                <a:ea typeface="+mn-lt"/>
                <a:cs typeface="+mn-lt"/>
              </a:rPr>
              <a:t>Ejemplo de uso de box-</a:t>
            </a:r>
            <a:r>
              <a:rPr lang="es-ES" dirty="0" err="1">
                <a:ea typeface="+mn-lt"/>
                <a:cs typeface="+mn-lt"/>
              </a:rPr>
              <a:t>shadow</a:t>
            </a:r>
            <a:r>
              <a:rPr lang="es-ES" dirty="0">
                <a:ea typeface="+mn-lt"/>
                <a:cs typeface="+mn-lt"/>
              </a:rPr>
              <a:t>:</a:t>
            </a:r>
          </a:p>
          <a:p>
            <a:pPr marL="0" indent="0">
              <a:buNone/>
            </a:pPr>
            <a:r>
              <a:rPr lang="es-ES" b="1" dirty="0">
                <a:latin typeface="Courier New"/>
                <a:ea typeface="+mn-lt"/>
                <a:cs typeface="+mn-lt"/>
              </a:rPr>
              <a:t>.caja-con-sombra {</a:t>
            </a:r>
            <a:br>
              <a:rPr lang="es-ES" b="1" dirty="0">
                <a:latin typeface="Courier New"/>
                <a:ea typeface="+mn-lt"/>
                <a:cs typeface="+mn-lt"/>
              </a:rPr>
            </a:br>
            <a:r>
              <a:rPr lang="es-ES" b="1" dirty="0">
                <a:latin typeface="Courier New"/>
                <a:ea typeface="+mn-lt"/>
                <a:cs typeface="+mn-lt"/>
              </a:rPr>
              <a:t>  box-</a:t>
            </a:r>
            <a:r>
              <a:rPr lang="es-ES" b="1" dirty="0" err="1">
                <a:latin typeface="Courier New"/>
                <a:ea typeface="+mn-lt"/>
                <a:cs typeface="+mn-lt"/>
              </a:rPr>
              <a:t>shadow</a:t>
            </a:r>
            <a:r>
              <a:rPr lang="es-ES" b="1" dirty="0">
                <a:latin typeface="Courier New"/>
                <a:ea typeface="+mn-lt"/>
                <a:cs typeface="+mn-lt"/>
              </a:rPr>
              <a:t>: 0 4px 8px </a:t>
            </a:r>
            <a:r>
              <a:rPr lang="es-ES" b="1" dirty="0" err="1">
                <a:latin typeface="Courier New"/>
                <a:ea typeface="+mn-lt"/>
                <a:cs typeface="+mn-lt"/>
              </a:rPr>
              <a:t>rgba</a:t>
            </a:r>
            <a:r>
              <a:rPr lang="es-ES" b="1" dirty="0">
                <a:latin typeface="Courier New"/>
                <a:ea typeface="+mn-lt"/>
                <a:cs typeface="+mn-lt"/>
              </a:rPr>
              <a:t>(0, 0, 0, 0.2); /* Sombra en el eje Y, con desenfoque y transparencia */</a:t>
            </a:r>
            <a:br>
              <a:rPr lang="es-ES" b="1" dirty="0">
                <a:latin typeface="Courier New"/>
                <a:ea typeface="+mn-lt"/>
                <a:cs typeface="+mn-lt"/>
              </a:rPr>
            </a:br>
            <a:r>
              <a:rPr lang="es-ES" b="1" dirty="0">
                <a:latin typeface="Courier New"/>
                <a:ea typeface="+mn-lt"/>
                <a:cs typeface="+mn-lt"/>
              </a:rPr>
              <a:t>}</a:t>
            </a:r>
          </a:p>
        </p:txBody>
      </p:sp>
    </p:spTree>
    <p:extLst>
      <p:ext uri="{BB962C8B-B14F-4D97-AF65-F5344CB8AC3E}">
        <p14:creationId xmlns:p14="http://schemas.microsoft.com/office/powerpoint/2010/main" val="2981285318"/>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90A3B0-1D4D-A7CF-EB9B-72E9BF66AF1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A311FE8-4F81-E6AC-3E1B-0AD91F5D0972}"/>
              </a:ext>
            </a:extLst>
          </p:cNvPr>
          <p:cNvSpPr>
            <a:spLocks noGrp="1"/>
          </p:cNvSpPr>
          <p:nvPr>
            <p:ph type="title"/>
          </p:nvPr>
        </p:nvSpPr>
        <p:spPr/>
        <p:txBody>
          <a:bodyPr/>
          <a:lstStyle/>
          <a:p>
            <a:r>
              <a:rPr lang="es-ES" b="0" dirty="0">
                <a:ea typeface="+mj-lt"/>
                <a:cs typeface="+mj-lt"/>
              </a:rPr>
              <a:t>2.4.2.1 Bordes y sombras.</a:t>
            </a:r>
            <a:endParaRPr lang="es-ES" dirty="0"/>
          </a:p>
        </p:txBody>
      </p:sp>
      <p:sp>
        <p:nvSpPr>
          <p:cNvPr id="3" name="Marcador de contenido 2">
            <a:extLst>
              <a:ext uri="{FF2B5EF4-FFF2-40B4-BE49-F238E27FC236}">
                <a16:creationId xmlns:a16="http://schemas.microsoft.com/office/drawing/2014/main" id="{91E3122F-64B2-92F1-DEA7-9714B64CFCC6}"/>
              </a:ext>
            </a:extLst>
          </p:cNvPr>
          <p:cNvSpPr>
            <a:spLocks noGrp="1"/>
          </p:cNvSpPr>
          <p:nvPr>
            <p:ph idx="1"/>
          </p:nvPr>
        </p:nvSpPr>
        <p:spPr/>
        <p:txBody>
          <a:bodyPr vert="horz" lIns="91440" tIns="45720" rIns="91440" bIns="45720" rtlCol="0" anchor="t">
            <a:normAutofit/>
          </a:bodyPr>
          <a:lstStyle/>
          <a:p>
            <a:r>
              <a:rPr lang="es-ES" dirty="0">
                <a:ea typeface="+mn-lt"/>
                <a:cs typeface="+mn-lt"/>
              </a:rPr>
              <a:t>Sombras de texto (</a:t>
            </a:r>
            <a:r>
              <a:rPr lang="es-ES" dirty="0" err="1">
                <a:ea typeface="+mn-lt"/>
                <a:cs typeface="+mn-lt"/>
              </a:rPr>
              <a:t>text-shadow</a:t>
            </a:r>
            <a:r>
              <a:rPr lang="es-ES" dirty="0">
                <a:ea typeface="+mn-lt"/>
                <a:cs typeface="+mn-lt"/>
              </a:rPr>
              <a:t>): Similar a box-</a:t>
            </a:r>
            <a:r>
              <a:rPr lang="es-ES" dirty="0" err="1">
                <a:ea typeface="+mn-lt"/>
                <a:cs typeface="+mn-lt"/>
              </a:rPr>
              <a:t>shadow</a:t>
            </a:r>
            <a:r>
              <a:rPr lang="es-ES" dirty="0">
                <a:ea typeface="+mn-lt"/>
                <a:cs typeface="+mn-lt"/>
              </a:rPr>
              <a:t>, </a:t>
            </a:r>
            <a:r>
              <a:rPr lang="es-ES" dirty="0" err="1">
                <a:ea typeface="+mn-lt"/>
                <a:cs typeface="+mn-lt"/>
              </a:rPr>
              <a:t>text-shadow</a:t>
            </a:r>
            <a:r>
              <a:rPr lang="es-ES" dirty="0">
                <a:ea typeface="+mn-lt"/>
                <a:cs typeface="+mn-lt"/>
              </a:rPr>
              <a:t> añade una sombra al texto. Es ideal para hacer que el texto destaque sobre fondos complejos o simplemente para dar un efecto de profundidad.</a:t>
            </a:r>
          </a:p>
          <a:p>
            <a:r>
              <a:rPr lang="es-ES" dirty="0">
                <a:ea typeface="+mn-lt"/>
                <a:cs typeface="+mn-lt"/>
              </a:rPr>
              <a:t>Los valores de </a:t>
            </a:r>
            <a:r>
              <a:rPr lang="es-ES" dirty="0" err="1">
                <a:ea typeface="+mn-lt"/>
                <a:cs typeface="+mn-lt"/>
              </a:rPr>
              <a:t>text-shadow</a:t>
            </a:r>
            <a:r>
              <a:rPr lang="es-ES" dirty="0">
                <a:ea typeface="+mn-lt"/>
                <a:cs typeface="+mn-lt"/>
              </a:rPr>
              <a:t> son muy parecidos a los de box-</a:t>
            </a:r>
            <a:r>
              <a:rPr lang="es-ES" dirty="0" err="1">
                <a:ea typeface="+mn-lt"/>
                <a:cs typeface="+mn-lt"/>
              </a:rPr>
              <a:t>shadow</a:t>
            </a:r>
            <a:r>
              <a:rPr lang="es-ES" dirty="0">
                <a:ea typeface="+mn-lt"/>
                <a:cs typeface="+mn-lt"/>
              </a:rPr>
              <a:t>, pero no tiene la opción de </a:t>
            </a:r>
            <a:r>
              <a:rPr lang="es-ES" dirty="0" err="1">
                <a:ea typeface="+mn-lt"/>
                <a:cs typeface="+mn-lt"/>
              </a:rPr>
              <a:t>inset</a:t>
            </a:r>
            <a:r>
              <a:rPr lang="es-ES" dirty="0">
                <a:ea typeface="+mn-lt"/>
                <a:cs typeface="+mn-lt"/>
              </a:rPr>
              <a:t> ni spread-</a:t>
            </a:r>
            <a:r>
              <a:rPr lang="es-ES" dirty="0" err="1">
                <a:ea typeface="+mn-lt"/>
                <a:cs typeface="+mn-lt"/>
              </a:rPr>
              <a:t>radius</a:t>
            </a:r>
            <a:r>
              <a:rPr lang="es-ES" dirty="0">
                <a:ea typeface="+mn-lt"/>
                <a:cs typeface="+mn-lt"/>
              </a:rPr>
              <a:t>.</a:t>
            </a:r>
          </a:p>
          <a:p>
            <a:r>
              <a:rPr lang="es-ES" dirty="0">
                <a:ea typeface="+mn-lt"/>
                <a:cs typeface="+mn-lt"/>
              </a:rPr>
              <a:t>Ejemplo de uso de </a:t>
            </a:r>
            <a:r>
              <a:rPr lang="es-ES" dirty="0" err="1">
                <a:ea typeface="+mn-lt"/>
                <a:cs typeface="+mn-lt"/>
              </a:rPr>
              <a:t>text-shadow</a:t>
            </a:r>
            <a:r>
              <a:rPr lang="es-ES" dirty="0">
                <a:ea typeface="+mn-lt"/>
                <a:cs typeface="+mn-lt"/>
              </a:rPr>
              <a:t>:</a:t>
            </a:r>
          </a:p>
          <a:p>
            <a:pPr marL="0" indent="0">
              <a:buNone/>
            </a:pPr>
            <a:r>
              <a:rPr lang="es-ES" b="1" dirty="0">
                <a:latin typeface="Courier New"/>
                <a:ea typeface="+mn-lt"/>
                <a:cs typeface="+mn-lt"/>
              </a:rPr>
              <a:t>h1 {</a:t>
            </a:r>
            <a:br>
              <a:rPr lang="es-ES" b="1" dirty="0">
                <a:latin typeface="Courier New"/>
                <a:ea typeface="+mn-lt"/>
                <a:cs typeface="+mn-lt"/>
              </a:rPr>
            </a:br>
            <a:r>
              <a:rPr lang="es-ES" b="1" dirty="0">
                <a:latin typeface="Courier New"/>
                <a:ea typeface="+mn-lt"/>
                <a:cs typeface="+mn-lt"/>
              </a:rPr>
              <a:t>  color: </a:t>
            </a:r>
            <a:r>
              <a:rPr lang="es-ES" b="1" dirty="0" err="1">
                <a:latin typeface="Courier New"/>
                <a:ea typeface="+mn-lt"/>
                <a:cs typeface="+mn-lt"/>
              </a:rPr>
              <a:t>white</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text-shadow</a:t>
            </a:r>
            <a:r>
              <a:rPr lang="es-ES" b="1" dirty="0">
                <a:latin typeface="Courier New"/>
                <a:ea typeface="+mn-lt"/>
                <a:cs typeface="+mn-lt"/>
              </a:rPr>
              <a:t>: 2px </a:t>
            </a:r>
            <a:r>
              <a:rPr lang="es-ES" b="1" dirty="0" err="1">
                <a:latin typeface="Courier New"/>
                <a:ea typeface="+mn-lt"/>
                <a:cs typeface="+mn-lt"/>
              </a:rPr>
              <a:t>2px</a:t>
            </a:r>
            <a:r>
              <a:rPr lang="es-ES" b="1" dirty="0">
                <a:latin typeface="Courier New"/>
                <a:ea typeface="+mn-lt"/>
                <a:cs typeface="+mn-lt"/>
              </a:rPr>
              <a:t> 4px #000; /* Sombra negra detrás del texto blanco */</a:t>
            </a:r>
            <a:br>
              <a:rPr lang="es-ES" b="1" dirty="0">
                <a:latin typeface="Courier New"/>
                <a:ea typeface="+mn-lt"/>
                <a:cs typeface="+mn-lt"/>
              </a:rPr>
            </a:br>
            <a:r>
              <a:rPr lang="es-ES" b="1" dirty="0">
                <a:latin typeface="Courier New"/>
                <a:ea typeface="+mn-lt"/>
                <a:cs typeface="+mn-lt"/>
              </a:rPr>
              <a:t>}</a:t>
            </a:r>
          </a:p>
        </p:txBody>
      </p:sp>
    </p:spTree>
    <p:extLst>
      <p:ext uri="{BB962C8B-B14F-4D97-AF65-F5344CB8AC3E}">
        <p14:creationId xmlns:p14="http://schemas.microsoft.com/office/powerpoint/2010/main" val="1102488412"/>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660B62-6FC8-8353-7F97-20525CA72D7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9C596A3-7999-D37A-8375-7AE22F400334}"/>
              </a:ext>
            </a:extLst>
          </p:cNvPr>
          <p:cNvSpPr>
            <a:spLocks noGrp="1"/>
          </p:cNvSpPr>
          <p:nvPr>
            <p:ph type="title"/>
          </p:nvPr>
        </p:nvSpPr>
        <p:spPr/>
        <p:txBody>
          <a:bodyPr/>
          <a:lstStyle/>
          <a:p>
            <a:r>
              <a:rPr lang="es-ES" b="0" dirty="0">
                <a:ea typeface="+mj-lt"/>
                <a:cs typeface="+mj-lt"/>
              </a:rPr>
              <a:t>2.4.2.1 Bordes y sombras.</a:t>
            </a:r>
            <a:endParaRPr lang="es-ES" dirty="0"/>
          </a:p>
        </p:txBody>
      </p:sp>
      <p:sp>
        <p:nvSpPr>
          <p:cNvPr id="3" name="Marcador de contenido 2">
            <a:extLst>
              <a:ext uri="{FF2B5EF4-FFF2-40B4-BE49-F238E27FC236}">
                <a16:creationId xmlns:a16="http://schemas.microsoft.com/office/drawing/2014/main" id="{111FAC35-61FF-CBEA-0F80-F27174B56327}"/>
              </a:ext>
            </a:extLst>
          </p:cNvPr>
          <p:cNvSpPr>
            <a:spLocks noGrp="1"/>
          </p:cNvSpPr>
          <p:nvPr>
            <p:ph idx="1"/>
          </p:nvPr>
        </p:nvSpPr>
        <p:spPr/>
        <p:txBody>
          <a:bodyPr vert="horz" lIns="91440" tIns="45720" rIns="91440" bIns="45720" rtlCol="0" anchor="t">
            <a:normAutofit/>
          </a:bodyPr>
          <a:lstStyle/>
          <a:p>
            <a:r>
              <a:rPr lang="es-ES" dirty="0">
                <a:ea typeface="+mn-lt"/>
                <a:cs typeface="+mn-lt"/>
              </a:rPr>
              <a:t>Sombras en elementos no rectangulares (</a:t>
            </a:r>
            <a:r>
              <a:rPr lang="es-ES" dirty="0" err="1">
                <a:ea typeface="+mn-lt"/>
                <a:cs typeface="+mn-lt"/>
              </a:rPr>
              <a:t>filter</a:t>
            </a:r>
            <a:r>
              <a:rPr lang="es-ES" dirty="0">
                <a:ea typeface="+mn-lt"/>
                <a:cs typeface="+mn-lt"/>
              </a:rPr>
              <a:t>: </a:t>
            </a:r>
            <a:r>
              <a:rPr lang="es-ES" dirty="0" err="1">
                <a:ea typeface="+mn-lt"/>
                <a:cs typeface="+mn-lt"/>
              </a:rPr>
              <a:t>drop-shadow</a:t>
            </a:r>
            <a:r>
              <a:rPr lang="es-ES" dirty="0">
                <a:ea typeface="+mn-lt"/>
                <a:cs typeface="+mn-lt"/>
              </a:rPr>
              <a:t>()): A diferencia de box-</a:t>
            </a:r>
            <a:r>
              <a:rPr lang="es-ES" dirty="0" err="1">
                <a:ea typeface="+mn-lt"/>
                <a:cs typeface="+mn-lt"/>
              </a:rPr>
              <a:t>shadow</a:t>
            </a:r>
            <a:r>
              <a:rPr lang="es-ES" dirty="0">
                <a:ea typeface="+mn-lt"/>
                <a:cs typeface="+mn-lt"/>
              </a:rPr>
              <a:t>, </a:t>
            </a:r>
            <a:r>
              <a:rPr lang="es-ES" dirty="0" err="1">
                <a:ea typeface="+mn-lt"/>
                <a:cs typeface="+mn-lt"/>
              </a:rPr>
              <a:t>drop-shadow</a:t>
            </a:r>
            <a:r>
              <a:rPr lang="es-ES" dirty="0">
                <a:ea typeface="+mn-lt"/>
                <a:cs typeface="+mn-lt"/>
              </a:rPr>
              <a:t> respeta la forma exacta del elemento (útil para imágenes con transparencia, SVG o iconos).</a:t>
            </a:r>
            <a:endParaRPr lang="es-ES" dirty="0"/>
          </a:p>
          <a:p>
            <a:pPr lvl="1">
              <a:buFont typeface="Courier New" panose="020B0604020202020204" pitchFamily="34" charset="0"/>
              <a:buChar char="o"/>
            </a:pPr>
            <a:r>
              <a:rPr lang="es-ES" dirty="0">
                <a:ea typeface="+mn-lt"/>
                <a:cs typeface="+mn-lt"/>
              </a:rPr>
              <a:t>Se adapta a la silueta del elemento (no solo al rectángulo contenedor).</a:t>
            </a:r>
            <a:endParaRPr lang="es-ES" dirty="0"/>
          </a:p>
          <a:p>
            <a:pPr lvl="1">
              <a:buFont typeface="Courier New" panose="020B0604020202020204" pitchFamily="34" charset="0"/>
              <a:buChar char="o"/>
            </a:pPr>
            <a:r>
              <a:rPr lang="es-ES" dirty="0">
                <a:ea typeface="+mn-lt"/>
                <a:cs typeface="+mn-lt"/>
              </a:rPr>
              <a:t>No permite sombras internas (</a:t>
            </a:r>
            <a:r>
              <a:rPr lang="es-ES" dirty="0" err="1">
                <a:ea typeface="+mn-lt"/>
                <a:cs typeface="+mn-lt"/>
              </a:rPr>
              <a:t>inset</a:t>
            </a:r>
            <a:r>
              <a:rPr lang="es-ES" dirty="0">
                <a:ea typeface="+mn-lt"/>
                <a:cs typeface="+mn-lt"/>
              </a:rPr>
              <a:t>).</a:t>
            </a:r>
            <a:endParaRPr lang="es-ES" dirty="0"/>
          </a:p>
          <a:p>
            <a:pPr lvl="1">
              <a:buFont typeface="Courier New" panose="020B0604020202020204" pitchFamily="34" charset="0"/>
              <a:buChar char="o"/>
            </a:pPr>
            <a:r>
              <a:rPr lang="es-ES" dirty="0">
                <a:ea typeface="+mn-lt"/>
                <a:cs typeface="+mn-lt"/>
              </a:rPr>
              <a:t>No admite múltiples sombras en una sola declaración.</a:t>
            </a:r>
          </a:p>
          <a:p>
            <a:r>
              <a:rPr lang="es-ES" dirty="0">
                <a:ea typeface="+mn-lt"/>
                <a:cs typeface="+mn-lt"/>
              </a:rPr>
              <a:t>Ejemplo de uso:</a:t>
            </a:r>
          </a:p>
          <a:p>
            <a:pPr marL="0" indent="0">
              <a:buNone/>
            </a:pPr>
            <a:r>
              <a:rPr lang="es-ES" b="1" dirty="0">
                <a:latin typeface="Courier New"/>
                <a:ea typeface="+mn-lt"/>
                <a:cs typeface="+mn-lt"/>
              </a:rPr>
              <a:t>.icono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filter</a:t>
            </a:r>
            <a:r>
              <a:rPr lang="es-ES" b="1" dirty="0">
                <a:latin typeface="Courier New"/>
                <a:ea typeface="+mn-lt"/>
                <a:cs typeface="+mn-lt"/>
              </a:rPr>
              <a:t>: </a:t>
            </a:r>
            <a:r>
              <a:rPr lang="es-ES" b="1" dirty="0" err="1">
                <a:latin typeface="Courier New"/>
                <a:ea typeface="+mn-lt"/>
                <a:cs typeface="+mn-lt"/>
              </a:rPr>
              <a:t>drop-shadow</a:t>
            </a:r>
            <a:r>
              <a:rPr lang="es-ES" b="1" dirty="0">
                <a:latin typeface="Courier New"/>
                <a:ea typeface="+mn-lt"/>
                <a:cs typeface="+mn-lt"/>
              </a:rPr>
              <a:t>(3px </a:t>
            </a:r>
            <a:r>
              <a:rPr lang="es-ES" b="1" dirty="0" err="1">
                <a:latin typeface="Courier New"/>
                <a:ea typeface="+mn-lt"/>
                <a:cs typeface="+mn-lt"/>
              </a:rPr>
              <a:t>3px</a:t>
            </a:r>
            <a:r>
              <a:rPr lang="es-ES" b="1" dirty="0">
                <a:latin typeface="Courier New"/>
                <a:ea typeface="+mn-lt"/>
                <a:cs typeface="+mn-lt"/>
              </a:rPr>
              <a:t> 6px </a:t>
            </a:r>
            <a:r>
              <a:rPr lang="es-ES" b="1" dirty="0" err="1">
                <a:latin typeface="Courier New"/>
                <a:ea typeface="+mn-lt"/>
                <a:cs typeface="+mn-lt"/>
              </a:rPr>
              <a:t>rgba</a:t>
            </a:r>
            <a:r>
              <a:rPr lang="es-ES" b="1" dirty="0">
                <a:latin typeface="Courier New"/>
                <a:ea typeface="+mn-lt"/>
                <a:cs typeface="+mn-lt"/>
              </a:rPr>
              <a:t>(0, 0, 0, 0.5)); /* Sombra suave */</a:t>
            </a:r>
            <a:br>
              <a:rPr lang="es-ES" b="1" dirty="0">
                <a:latin typeface="Courier New"/>
                <a:ea typeface="+mn-lt"/>
                <a:cs typeface="+mn-lt"/>
              </a:rPr>
            </a:br>
            <a:r>
              <a:rPr lang="es-ES" b="1" dirty="0">
                <a:latin typeface="Courier New"/>
                <a:ea typeface="+mn-lt"/>
                <a:cs typeface="+mn-lt"/>
              </a:rPr>
              <a:t>}</a:t>
            </a:r>
          </a:p>
          <a:p>
            <a:endParaRPr lang="es-ES" dirty="0">
              <a:latin typeface="Bierstadt"/>
              <a:ea typeface="+mn-lt"/>
              <a:cs typeface="+mn-lt"/>
            </a:endParaRPr>
          </a:p>
        </p:txBody>
      </p:sp>
    </p:spTree>
    <p:extLst>
      <p:ext uri="{BB962C8B-B14F-4D97-AF65-F5344CB8AC3E}">
        <p14:creationId xmlns:p14="http://schemas.microsoft.com/office/powerpoint/2010/main" val="3954962618"/>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75244C-5B07-CF80-EE60-2857A721DC3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ED6270E-EED1-3875-9B45-9A60EA1995E8}"/>
              </a:ext>
            </a:extLst>
          </p:cNvPr>
          <p:cNvSpPr>
            <a:spLocks noGrp="1"/>
          </p:cNvSpPr>
          <p:nvPr>
            <p:ph type="title"/>
          </p:nvPr>
        </p:nvSpPr>
        <p:spPr/>
        <p:txBody>
          <a:bodyPr/>
          <a:lstStyle/>
          <a:p>
            <a:r>
              <a:rPr lang="es-ES" b="0" dirty="0">
                <a:ea typeface="+mj-lt"/>
                <a:cs typeface="+mj-lt"/>
              </a:rPr>
              <a:t>2.4.2.1 Bordes y sombras.</a:t>
            </a:r>
            <a:endParaRPr lang="es-ES" dirty="0"/>
          </a:p>
        </p:txBody>
      </p:sp>
      <p:sp>
        <p:nvSpPr>
          <p:cNvPr id="3" name="Marcador de contenido 2">
            <a:extLst>
              <a:ext uri="{FF2B5EF4-FFF2-40B4-BE49-F238E27FC236}">
                <a16:creationId xmlns:a16="http://schemas.microsoft.com/office/drawing/2014/main" id="{D3AF4175-309E-E82D-EAF3-55B0EA20D2F5}"/>
              </a:ext>
            </a:extLst>
          </p:cNvPr>
          <p:cNvSpPr>
            <a:spLocks noGrp="1"/>
          </p:cNvSpPr>
          <p:nvPr>
            <p:ph idx="1"/>
          </p:nvPr>
        </p:nvSpPr>
        <p:spPr/>
        <p:txBody>
          <a:bodyPr vert="horz" lIns="91440" tIns="45720" rIns="91440" bIns="45720" rtlCol="0" anchor="t">
            <a:normAutofit fontScale="62500" lnSpcReduction="20000"/>
          </a:bodyPr>
          <a:lstStyle/>
          <a:p>
            <a:r>
              <a:rPr lang="es-ES" dirty="0">
                <a:ea typeface="+mn-lt"/>
                <a:cs typeface="+mn-lt"/>
              </a:rPr>
              <a:t>Sombras en formas personalizadas (clip-</a:t>
            </a:r>
            <a:r>
              <a:rPr lang="es-ES" dirty="0" err="1">
                <a:ea typeface="+mn-lt"/>
                <a:cs typeface="+mn-lt"/>
              </a:rPr>
              <a:t>path</a:t>
            </a:r>
            <a:r>
              <a:rPr lang="es-ES" dirty="0">
                <a:ea typeface="+mn-lt"/>
                <a:cs typeface="+mn-lt"/>
              </a:rPr>
              <a:t> + box-</a:t>
            </a:r>
            <a:r>
              <a:rPr lang="es-ES" dirty="0" err="1">
                <a:ea typeface="+mn-lt"/>
                <a:cs typeface="+mn-lt"/>
              </a:rPr>
              <a:t>shadow</a:t>
            </a:r>
            <a:r>
              <a:rPr lang="es-ES" dirty="0">
                <a:ea typeface="+mn-lt"/>
                <a:cs typeface="+mn-lt"/>
              </a:rPr>
              <a:t>): Si necesitas sombras en formas no rectangulares (como triángulos o círculos), combina clip-</a:t>
            </a:r>
            <a:r>
              <a:rPr lang="es-ES" dirty="0" err="1">
                <a:ea typeface="+mn-lt"/>
                <a:cs typeface="+mn-lt"/>
              </a:rPr>
              <a:t>path</a:t>
            </a:r>
            <a:r>
              <a:rPr lang="es-ES" dirty="0">
                <a:ea typeface="+mn-lt"/>
                <a:cs typeface="+mn-lt"/>
              </a:rPr>
              <a:t> con box-</a:t>
            </a:r>
            <a:r>
              <a:rPr lang="es-ES" dirty="0" err="1">
                <a:ea typeface="+mn-lt"/>
                <a:cs typeface="+mn-lt"/>
              </a:rPr>
              <a:t>shadow</a:t>
            </a:r>
            <a:r>
              <a:rPr lang="es-ES" dirty="0">
                <a:ea typeface="+mn-lt"/>
                <a:cs typeface="+mn-lt"/>
              </a:rPr>
              <a:t>.</a:t>
            </a:r>
          </a:p>
          <a:p>
            <a:r>
              <a:rPr lang="es-ES" dirty="0">
                <a:ea typeface="+mn-lt"/>
                <a:cs typeface="+mn-lt"/>
              </a:rPr>
              <a:t>Ejemplo de uso:</a:t>
            </a:r>
          </a:p>
          <a:p>
            <a:r>
              <a:rPr lang="es-ES" b="1" dirty="0">
                <a:latin typeface="Courier New"/>
                <a:ea typeface="+mn-lt"/>
                <a:cs typeface="+mn-lt"/>
              </a:rPr>
              <a:t>.triangulo {</a:t>
            </a:r>
            <a:br>
              <a:rPr lang="es-ES" b="1" dirty="0">
                <a:latin typeface="Courier New"/>
                <a:ea typeface="+mn-lt"/>
                <a:cs typeface="+mn-lt"/>
              </a:rPr>
            </a:br>
            <a:r>
              <a:rPr lang="es-ES" b="1" dirty="0">
                <a:latin typeface="Courier New"/>
                <a:ea typeface="+mn-lt"/>
                <a:cs typeface="+mn-lt"/>
              </a:rPr>
              <a:t>  clip-</a:t>
            </a:r>
            <a:r>
              <a:rPr lang="es-ES" b="1" err="1">
                <a:latin typeface="Courier New"/>
                <a:ea typeface="+mn-lt"/>
                <a:cs typeface="+mn-lt"/>
              </a:rPr>
              <a:t>path</a:t>
            </a:r>
            <a:r>
              <a:rPr lang="es-ES" b="1" dirty="0">
                <a:latin typeface="Courier New"/>
                <a:ea typeface="+mn-lt"/>
                <a:cs typeface="+mn-lt"/>
              </a:rPr>
              <a:t>: </a:t>
            </a:r>
            <a:r>
              <a:rPr lang="es-ES" b="1" err="1">
                <a:latin typeface="Courier New"/>
                <a:ea typeface="+mn-lt"/>
                <a:cs typeface="+mn-lt"/>
              </a:rPr>
              <a:t>polygon</a:t>
            </a:r>
            <a:r>
              <a:rPr lang="es-ES" b="1" dirty="0">
                <a:latin typeface="Courier New"/>
                <a:ea typeface="+mn-lt"/>
                <a:cs typeface="+mn-lt"/>
              </a:rPr>
              <a:t>(50% 0%, 0% 100%, 100% 100%);</a:t>
            </a:r>
            <a:br>
              <a:rPr lang="es-ES" b="1" dirty="0">
                <a:latin typeface="Courier New"/>
                <a:ea typeface="+mn-lt"/>
                <a:cs typeface="+mn-lt"/>
              </a:rPr>
            </a:br>
            <a:r>
              <a:rPr lang="es-ES" b="1" dirty="0">
                <a:latin typeface="Courier New"/>
                <a:ea typeface="+mn-lt"/>
                <a:cs typeface="+mn-lt"/>
              </a:rPr>
              <a:t>  box-</a:t>
            </a:r>
            <a:r>
              <a:rPr lang="es-ES" b="1" err="1">
                <a:latin typeface="Courier New"/>
                <a:ea typeface="+mn-lt"/>
                <a:cs typeface="+mn-lt"/>
              </a:rPr>
              <a:t>shadow</a:t>
            </a:r>
            <a:r>
              <a:rPr lang="es-ES" b="1" dirty="0">
                <a:latin typeface="Courier New"/>
                <a:ea typeface="+mn-lt"/>
                <a:cs typeface="+mn-lt"/>
              </a:rPr>
              <a:t>: 5px </a:t>
            </a:r>
            <a:r>
              <a:rPr lang="es-ES" b="1" err="1">
                <a:latin typeface="Courier New"/>
                <a:ea typeface="+mn-lt"/>
                <a:cs typeface="+mn-lt"/>
              </a:rPr>
              <a:t>5px</a:t>
            </a:r>
            <a:r>
              <a:rPr lang="es-ES" b="1" dirty="0">
                <a:latin typeface="Courier New"/>
                <a:ea typeface="+mn-lt"/>
                <a:cs typeface="+mn-lt"/>
              </a:rPr>
              <a:t> 15px </a:t>
            </a:r>
            <a:r>
              <a:rPr lang="es-ES" b="1" err="1">
                <a:latin typeface="Courier New"/>
                <a:ea typeface="+mn-lt"/>
                <a:cs typeface="+mn-lt"/>
              </a:rPr>
              <a:t>rgba</a:t>
            </a:r>
            <a:r>
              <a:rPr lang="es-ES" b="1" dirty="0">
                <a:latin typeface="Courier New"/>
                <a:ea typeface="+mn-lt"/>
                <a:cs typeface="+mn-lt"/>
              </a:rPr>
              <a:t>(0, 0, 0, 0.3); /* Sombra estándar */</a:t>
            </a:r>
            <a:br>
              <a:rPr lang="es-ES" b="1" dirty="0">
                <a:latin typeface="Courier New"/>
                <a:ea typeface="+mn-lt"/>
                <a:cs typeface="+mn-lt"/>
              </a:rPr>
            </a:br>
            <a:r>
              <a:rPr lang="es-ES" b="1" dirty="0">
                <a:latin typeface="Courier New"/>
                <a:ea typeface="+mn-lt"/>
                <a:cs typeface="+mn-lt"/>
              </a:rPr>
              <a:t>}</a:t>
            </a:r>
            <a:endParaRPr lang="es-ES" b="1">
              <a:latin typeface="Courier New"/>
              <a:ea typeface="+mn-lt"/>
              <a:cs typeface="+mn-lt"/>
            </a:endParaRPr>
          </a:p>
          <a:p>
            <a:r>
              <a:rPr lang="es-ES" dirty="0">
                <a:ea typeface="+mn-lt"/>
                <a:cs typeface="+mn-lt"/>
              </a:rPr>
              <a:t>Ejemplo: Efecto 3D con sombras</a:t>
            </a:r>
            <a:endParaRPr lang="es-ES" dirty="0">
              <a:latin typeface="Bierstadt"/>
              <a:ea typeface="+mn-lt"/>
              <a:cs typeface="+mn-lt"/>
            </a:endParaRPr>
          </a:p>
          <a:p>
            <a:r>
              <a:rPr lang="es-ES" b="1" dirty="0">
                <a:latin typeface="Courier New"/>
                <a:ea typeface="+mn-lt"/>
                <a:cs typeface="+mn-lt"/>
              </a:rPr>
              <a:t>.boton-3d {</a:t>
            </a:r>
            <a:br>
              <a:rPr lang="es-ES" b="1" dirty="0">
                <a:latin typeface="Courier New"/>
                <a:ea typeface="+mn-lt"/>
                <a:cs typeface="+mn-lt"/>
              </a:rPr>
            </a:br>
            <a:r>
              <a:rPr lang="es-ES" b="1" dirty="0">
                <a:latin typeface="Courier New"/>
                <a:ea typeface="+mn-lt"/>
                <a:cs typeface="+mn-lt"/>
              </a:rPr>
              <a:t>  box-</a:t>
            </a:r>
            <a:r>
              <a:rPr lang="es-ES" b="1" dirty="0" err="1">
                <a:latin typeface="Courier New"/>
                <a:ea typeface="+mn-lt"/>
                <a:cs typeface="+mn-lt"/>
              </a:rPr>
              <a:t>shadow</a:t>
            </a: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0 4px 0 #333,           /* Sombra base */</a:t>
            </a:r>
            <a:br>
              <a:rPr lang="es-ES" b="1" dirty="0">
                <a:latin typeface="Courier New"/>
                <a:ea typeface="+mn-lt"/>
                <a:cs typeface="+mn-lt"/>
              </a:rPr>
            </a:br>
            <a:r>
              <a:rPr lang="es-ES" b="1" dirty="0">
                <a:latin typeface="Courier New"/>
                <a:ea typeface="+mn-lt"/>
                <a:cs typeface="+mn-lt"/>
              </a:rPr>
              <a:t>    0 6px 8px </a:t>
            </a:r>
            <a:r>
              <a:rPr lang="es-ES" b="1" dirty="0" err="1">
                <a:latin typeface="Courier New"/>
                <a:ea typeface="+mn-lt"/>
                <a:cs typeface="+mn-lt"/>
              </a:rPr>
              <a:t>rgba</a:t>
            </a:r>
            <a:r>
              <a:rPr lang="es-ES" b="1" dirty="0">
                <a:latin typeface="Courier New"/>
                <a:ea typeface="+mn-lt"/>
                <a:cs typeface="+mn-lt"/>
              </a:rPr>
              <a:t>(0, 0, 0, 0.2); /* Sombra difuminada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transition</a:t>
            </a:r>
            <a:r>
              <a:rPr lang="es-ES" b="1" dirty="0">
                <a:latin typeface="Courier New"/>
                <a:ea typeface="+mn-lt"/>
                <a:cs typeface="+mn-lt"/>
              </a:rPr>
              <a:t>: </a:t>
            </a:r>
            <a:r>
              <a:rPr lang="es-ES" b="1" dirty="0" err="1">
                <a:latin typeface="Courier New"/>
                <a:ea typeface="+mn-lt"/>
                <a:cs typeface="+mn-lt"/>
              </a:rPr>
              <a:t>all</a:t>
            </a:r>
            <a:r>
              <a:rPr lang="es-ES" b="1" dirty="0">
                <a:latin typeface="Courier New"/>
                <a:ea typeface="+mn-lt"/>
                <a:cs typeface="+mn-lt"/>
              </a:rPr>
              <a:t> 0.2s;</a:t>
            </a:r>
            <a:br>
              <a:rPr lang="es-ES" b="1" dirty="0">
                <a:latin typeface="Courier New"/>
                <a:ea typeface="+mn-lt"/>
                <a:cs typeface="+mn-lt"/>
              </a:rPr>
            </a:b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.boton-3d:active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transform</a:t>
            </a:r>
            <a:r>
              <a:rPr lang="es-ES" b="1" dirty="0">
                <a:latin typeface="Courier New"/>
                <a:ea typeface="+mn-lt"/>
                <a:cs typeface="+mn-lt"/>
              </a:rPr>
              <a:t>: </a:t>
            </a:r>
            <a:r>
              <a:rPr lang="es-ES" b="1" dirty="0" err="1">
                <a:latin typeface="Courier New"/>
                <a:ea typeface="+mn-lt"/>
                <a:cs typeface="+mn-lt"/>
              </a:rPr>
              <a:t>translateY</a:t>
            </a:r>
            <a:r>
              <a:rPr lang="es-ES" b="1" dirty="0">
                <a:latin typeface="Courier New"/>
                <a:ea typeface="+mn-lt"/>
                <a:cs typeface="+mn-lt"/>
              </a:rPr>
              <a:t>(4px);</a:t>
            </a:r>
            <a:br>
              <a:rPr lang="es-ES" b="1" dirty="0">
                <a:latin typeface="Courier New"/>
                <a:ea typeface="+mn-lt"/>
                <a:cs typeface="+mn-lt"/>
              </a:rPr>
            </a:br>
            <a:r>
              <a:rPr lang="es-ES" b="1" dirty="0">
                <a:latin typeface="Courier New"/>
                <a:ea typeface="+mn-lt"/>
                <a:cs typeface="+mn-lt"/>
              </a:rPr>
              <a:t>  box-</a:t>
            </a:r>
            <a:r>
              <a:rPr lang="es-ES" b="1" dirty="0" err="1">
                <a:latin typeface="Courier New"/>
                <a:ea typeface="+mn-lt"/>
                <a:cs typeface="+mn-lt"/>
              </a:rPr>
              <a:t>shadow</a:t>
            </a:r>
            <a:r>
              <a:rPr lang="es-ES" b="1" dirty="0">
                <a:latin typeface="Courier New"/>
                <a:ea typeface="+mn-lt"/>
                <a:cs typeface="+mn-lt"/>
              </a:rPr>
              <a:t>: 0 2px 0 #333; /* Efecto de "presionado" */</a:t>
            </a:r>
            <a:br>
              <a:rPr lang="es-ES" b="1" dirty="0">
                <a:latin typeface="Courier New"/>
                <a:ea typeface="+mn-lt"/>
                <a:cs typeface="+mn-lt"/>
              </a:rPr>
            </a:br>
            <a:r>
              <a:rPr lang="es-ES" b="1" dirty="0">
                <a:latin typeface="Courier New"/>
                <a:ea typeface="+mn-lt"/>
                <a:cs typeface="+mn-lt"/>
              </a:rPr>
              <a:t>}</a:t>
            </a:r>
            <a:endParaRPr lang="es-ES" b="1" dirty="0">
              <a:latin typeface="Courier New"/>
            </a:endParaRPr>
          </a:p>
          <a:p>
            <a:pPr marL="0" indent="0">
              <a:buNone/>
            </a:pPr>
            <a:endParaRPr lang="es-ES" dirty="0">
              <a:latin typeface="Bierstadt"/>
              <a:ea typeface="+mn-lt"/>
              <a:cs typeface="+mn-lt"/>
            </a:endParaRPr>
          </a:p>
        </p:txBody>
      </p:sp>
    </p:spTree>
    <p:extLst>
      <p:ext uri="{BB962C8B-B14F-4D97-AF65-F5344CB8AC3E}">
        <p14:creationId xmlns:p14="http://schemas.microsoft.com/office/powerpoint/2010/main" val="3592991140"/>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164E45-8656-F6FB-62F3-9CBE9A9C425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27DE36A-7000-3C9D-773A-321B2CBF5B9F}"/>
              </a:ext>
            </a:extLst>
          </p:cNvPr>
          <p:cNvSpPr>
            <a:spLocks noGrp="1"/>
          </p:cNvSpPr>
          <p:nvPr>
            <p:ph type="title"/>
          </p:nvPr>
        </p:nvSpPr>
        <p:spPr/>
        <p:txBody>
          <a:bodyPr/>
          <a:lstStyle/>
          <a:p>
            <a:r>
              <a:rPr lang="es-ES" b="0" dirty="0">
                <a:ea typeface="+mj-lt"/>
                <a:cs typeface="+mj-lt"/>
              </a:rPr>
              <a:t>2.4.3. Propiedades de posicionamiento (</a:t>
            </a:r>
            <a:r>
              <a:rPr lang="es-ES" b="0" dirty="0" err="1">
                <a:ea typeface="+mj-lt"/>
                <a:cs typeface="+mj-lt"/>
              </a:rPr>
              <a:t>static</a:t>
            </a:r>
            <a:r>
              <a:rPr lang="es-ES" b="0" dirty="0">
                <a:ea typeface="+mj-lt"/>
                <a:cs typeface="+mj-lt"/>
              </a:rPr>
              <a:t>, relative, absolute, </a:t>
            </a:r>
            <a:r>
              <a:rPr lang="es-ES" b="0" dirty="0" err="1">
                <a:ea typeface="+mj-lt"/>
                <a:cs typeface="+mj-lt"/>
              </a:rPr>
              <a:t>fixed</a:t>
            </a:r>
            <a:r>
              <a:rPr lang="es-ES" b="0" dirty="0">
                <a:ea typeface="+mj-lt"/>
                <a:cs typeface="+mj-lt"/>
              </a:rPr>
              <a:t>, </a:t>
            </a:r>
            <a:r>
              <a:rPr lang="es-ES" b="0" dirty="0" err="1">
                <a:ea typeface="+mj-lt"/>
                <a:cs typeface="+mj-lt"/>
              </a:rPr>
              <a:t>sticky</a:t>
            </a:r>
            <a:r>
              <a:rPr lang="es-ES" b="0" dirty="0">
                <a:ea typeface="+mj-lt"/>
                <a:cs typeface="+mj-lt"/>
              </a:rPr>
              <a:t>).</a:t>
            </a:r>
            <a:endParaRPr lang="es-ES" dirty="0"/>
          </a:p>
        </p:txBody>
      </p:sp>
      <p:sp>
        <p:nvSpPr>
          <p:cNvPr id="3" name="Marcador de contenido 2">
            <a:extLst>
              <a:ext uri="{FF2B5EF4-FFF2-40B4-BE49-F238E27FC236}">
                <a16:creationId xmlns:a16="http://schemas.microsoft.com/office/drawing/2014/main" id="{3D864506-E10C-3A4F-7C07-89867C85E0A3}"/>
              </a:ext>
            </a:extLst>
          </p:cNvPr>
          <p:cNvSpPr>
            <a:spLocks noGrp="1"/>
          </p:cNvSpPr>
          <p:nvPr>
            <p:ph idx="1"/>
          </p:nvPr>
        </p:nvSpPr>
        <p:spPr/>
        <p:txBody>
          <a:bodyPr vert="horz" lIns="91440" tIns="45720" rIns="91440" bIns="45720" rtlCol="0" anchor="t">
            <a:normAutofit fontScale="85000" lnSpcReduction="20000"/>
          </a:bodyPr>
          <a:lstStyle/>
          <a:p>
            <a:r>
              <a:rPr lang="es-ES" dirty="0">
                <a:ea typeface="+mn-lt"/>
                <a:cs typeface="+mn-lt"/>
              </a:rPr>
              <a:t>Las propiedades de posicionamiento en CSS (position) te permiten controlar la ubicación exacta de un elemento en una página web, sacándolo del flujo normal de documentos si es necesario. Comprender estas propiedades es crucial para crear </a:t>
            </a:r>
            <a:r>
              <a:rPr lang="es-ES" dirty="0" err="1">
                <a:ea typeface="+mn-lt"/>
                <a:cs typeface="+mn-lt"/>
              </a:rPr>
              <a:t>layouts</a:t>
            </a:r>
            <a:r>
              <a:rPr lang="es-ES" dirty="0">
                <a:ea typeface="+mn-lt"/>
                <a:cs typeface="+mn-lt"/>
              </a:rPr>
              <a:t> complejos, superponer elementos y anclar componentes en la pantalla.</a:t>
            </a:r>
            <a:endParaRPr lang="es-ES" dirty="0"/>
          </a:p>
          <a:p>
            <a:r>
              <a:rPr lang="es-ES" err="1">
                <a:ea typeface="+mn-lt"/>
                <a:cs typeface="+mn-lt"/>
              </a:rPr>
              <a:t>static</a:t>
            </a:r>
            <a:r>
              <a:rPr lang="es-ES" dirty="0">
                <a:ea typeface="+mn-lt"/>
                <a:cs typeface="+mn-lt"/>
              </a:rPr>
              <a:t> (Posicionamiento estático): Este es el valor por defecto para todos los elementos HTML. Un elemento con position: </a:t>
            </a:r>
            <a:r>
              <a:rPr lang="es-ES" err="1">
                <a:ea typeface="+mn-lt"/>
                <a:cs typeface="+mn-lt"/>
              </a:rPr>
              <a:t>static</a:t>
            </a:r>
            <a:r>
              <a:rPr lang="es-ES" dirty="0">
                <a:ea typeface="+mn-lt"/>
                <a:cs typeface="+mn-lt"/>
              </a:rPr>
              <a:t>; se renderiza en el flujo normal de la página. Las propiedades de desplazamiento (top, </a:t>
            </a:r>
            <a:r>
              <a:rPr lang="es-ES" err="1">
                <a:ea typeface="+mn-lt"/>
                <a:cs typeface="+mn-lt"/>
              </a:rPr>
              <a:t>right</a:t>
            </a:r>
            <a:r>
              <a:rPr lang="es-ES" dirty="0">
                <a:ea typeface="+mn-lt"/>
                <a:cs typeface="+mn-lt"/>
              </a:rPr>
              <a:t>, bottom, </a:t>
            </a:r>
            <a:r>
              <a:rPr lang="es-ES" err="1">
                <a:ea typeface="+mn-lt"/>
                <a:cs typeface="+mn-lt"/>
              </a:rPr>
              <a:t>left</a:t>
            </a:r>
            <a:r>
              <a:rPr lang="es-ES" dirty="0">
                <a:ea typeface="+mn-lt"/>
                <a:cs typeface="+mn-lt"/>
              </a:rPr>
              <a:t>) no tienen ningún efecto en estos elementos. Este valor se utiliza principalmente para anular un posicionamiento diferente que se haya heredado o aplicado previamente.</a:t>
            </a:r>
            <a:endParaRPr lang="es-ES"/>
          </a:p>
          <a:p>
            <a:r>
              <a:rPr lang="es-ES" dirty="0">
                <a:ea typeface="+mn-lt"/>
                <a:cs typeface="+mn-lt"/>
              </a:rPr>
              <a:t>relative (Posicionamiento relativo): Un elemento con position: relative; se mueve de su posición original basándose en los valores de top, </a:t>
            </a:r>
            <a:r>
              <a:rPr lang="es-ES" dirty="0" err="1">
                <a:ea typeface="+mn-lt"/>
                <a:cs typeface="+mn-lt"/>
              </a:rPr>
              <a:t>right</a:t>
            </a:r>
            <a:r>
              <a:rPr lang="es-ES" dirty="0">
                <a:ea typeface="+mn-lt"/>
                <a:cs typeface="+mn-lt"/>
              </a:rPr>
              <a:t>, bottom y </a:t>
            </a:r>
            <a:r>
              <a:rPr lang="es-ES" dirty="0" err="1">
                <a:ea typeface="+mn-lt"/>
                <a:cs typeface="+mn-lt"/>
              </a:rPr>
              <a:t>left</a:t>
            </a:r>
            <a:r>
              <a:rPr lang="es-ES" dirty="0">
                <a:ea typeface="+mn-lt"/>
                <a:cs typeface="+mn-lt"/>
              </a:rPr>
              <a:t>. Sin embargo, el espacio que ocupaba originalmente en el flujo del documento se mantiene, y el resto de los elementos de la página no lo rellenarán. Es ideal para pequeños ajustes de posición o, lo que es más importante, para servir como contexto de posicionamiento para elementos hijos con position: absolute;.</a:t>
            </a:r>
            <a:endParaRPr lang="es-ES" dirty="0"/>
          </a:p>
          <a:p>
            <a:pPr marL="0" indent="0">
              <a:buNone/>
            </a:pPr>
            <a:r>
              <a:rPr lang="es-ES" b="1" dirty="0">
                <a:latin typeface="Courier New"/>
                <a:ea typeface="+mn-lt"/>
                <a:cs typeface="+mn-lt"/>
              </a:rPr>
              <a:t>.contenedor-relativo {</a:t>
            </a:r>
            <a:br>
              <a:rPr lang="es-ES" b="1" dirty="0">
                <a:latin typeface="Courier New"/>
                <a:ea typeface="+mn-lt"/>
                <a:cs typeface="+mn-lt"/>
              </a:rPr>
            </a:br>
            <a:r>
              <a:rPr lang="es-ES" b="1" dirty="0">
                <a:latin typeface="Courier New"/>
                <a:ea typeface="+mn-lt"/>
                <a:cs typeface="+mn-lt"/>
              </a:rPr>
              <a:t>  position: relative;</a:t>
            </a:r>
            <a:br>
              <a:rPr lang="es-ES" b="1" dirty="0">
                <a:latin typeface="Courier New"/>
                <a:ea typeface="+mn-lt"/>
                <a:cs typeface="+mn-lt"/>
              </a:rPr>
            </a:br>
            <a:r>
              <a:rPr lang="es-ES" b="1" dirty="0">
                <a:latin typeface="Courier New"/>
                <a:ea typeface="+mn-lt"/>
                <a:cs typeface="+mn-lt"/>
              </a:rPr>
              <a:t>  top: 20px; /* Se mueve 20px hacia abajo de su posición original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left</a:t>
            </a:r>
            <a:r>
              <a:rPr lang="es-ES" b="1" dirty="0">
                <a:latin typeface="Courier New"/>
                <a:ea typeface="+mn-lt"/>
                <a:cs typeface="+mn-lt"/>
              </a:rPr>
              <a:t>: 30px; /* Se mueve 30px hacia la derecha */</a:t>
            </a:r>
            <a:br>
              <a:rPr lang="es-ES" b="1" dirty="0">
                <a:latin typeface="Courier New"/>
                <a:ea typeface="+mn-lt"/>
                <a:cs typeface="+mn-lt"/>
              </a:rPr>
            </a:br>
            <a:r>
              <a:rPr lang="es-ES" b="1" dirty="0">
                <a:latin typeface="Courier New"/>
                <a:ea typeface="+mn-lt"/>
                <a:cs typeface="+mn-lt"/>
              </a:rPr>
              <a:t>}</a:t>
            </a:r>
            <a:endParaRPr lang="es-ES" b="1" dirty="0">
              <a:latin typeface="Courier New"/>
              <a:cs typeface="Courier New"/>
            </a:endParaRPr>
          </a:p>
          <a:p>
            <a:endParaRPr lang="es-ES" dirty="0"/>
          </a:p>
        </p:txBody>
      </p:sp>
    </p:spTree>
    <p:extLst>
      <p:ext uri="{BB962C8B-B14F-4D97-AF65-F5344CB8AC3E}">
        <p14:creationId xmlns:p14="http://schemas.microsoft.com/office/powerpoint/2010/main" val="3505295891"/>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C8C13-BC39-0799-7502-EC9DC5EC75A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F2819EA-7A2C-6712-57F4-E418D3538A6D}"/>
              </a:ext>
            </a:extLst>
          </p:cNvPr>
          <p:cNvSpPr>
            <a:spLocks noGrp="1"/>
          </p:cNvSpPr>
          <p:nvPr>
            <p:ph type="title"/>
          </p:nvPr>
        </p:nvSpPr>
        <p:spPr/>
        <p:txBody>
          <a:bodyPr/>
          <a:lstStyle/>
          <a:p>
            <a:r>
              <a:rPr lang="es-ES" b="0" dirty="0">
                <a:ea typeface="+mj-lt"/>
                <a:cs typeface="+mj-lt"/>
              </a:rPr>
              <a:t>2.4.3. Propiedades de posicionamiento (</a:t>
            </a:r>
            <a:r>
              <a:rPr lang="es-ES" b="0" dirty="0" err="1">
                <a:ea typeface="+mj-lt"/>
                <a:cs typeface="+mj-lt"/>
              </a:rPr>
              <a:t>static</a:t>
            </a:r>
            <a:r>
              <a:rPr lang="es-ES" b="0" dirty="0">
                <a:ea typeface="+mj-lt"/>
                <a:cs typeface="+mj-lt"/>
              </a:rPr>
              <a:t>, relative, absolute, </a:t>
            </a:r>
            <a:r>
              <a:rPr lang="es-ES" b="0" dirty="0" err="1">
                <a:ea typeface="+mj-lt"/>
                <a:cs typeface="+mj-lt"/>
              </a:rPr>
              <a:t>fixed</a:t>
            </a:r>
            <a:r>
              <a:rPr lang="es-ES" b="0" dirty="0">
                <a:ea typeface="+mj-lt"/>
                <a:cs typeface="+mj-lt"/>
              </a:rPr>
              <a:t>, </a:t>
            </a:r>
            <a:r>
              <a:rPr lang="es-ES" b="0" dirty="0" err="1">
                <a:ea typeface="+mj-lt"/>
                <a:cs typeface="+mj-lt"/>
              </a:rPr>
              <a:t>sticky</a:t>
            </a:r>
            <a:r>
              <a:rPr lang="es-ES" b="0" dirty="0">
                <a:ea typeface="+mj-lt"/>
                <a:cs typeface="+mj-lt"/>
              </a:rPr>
              <a:t>).</a:t>
            </a:r>
            <a:endParaRPr lang="es-ES" dirty="0"/>
          </a:p>
        </p:txBody>
      </p:sp>
      <p:sp>
        <p:nvSpPr>
          <p:cNvPr id="3" name="Marcador de contenido 2">
            <a:extLst>
              <a:ext uri="{FF2B5EF4-FFF2-40B4-BE49-F238E27FC236}">
                <a16:creationId xmlns:a16="http://schemas.microsoft.com/office/drawing/2014/main" id="{2F46EE1B-0CE8-56AA-9D83-A0F46784FEB5}"/>
              </a:ext>
            </a:extLst>
          </p:cNvPr>
          <p:cNvSpPr>
            <a:spLocks noGrp="1"/>
          </p:cNvSpPr>
          <p:nvPr>
            <p:ph idx="1"/>
          </p:nvPr>
        </p:nvSpPr>
        <p:spPr/>
        <p:txBody>
          <a:bodyPr vert="horz" lIns="91440" tIns="45720" rIns="91440" bIns="45720" rtlCol="0" anchor="t">
            <a:normAutofit fontScale="92500" lnSpcReduction="10000"/>
          </a:bodyPr>
          <a:lstStyle/>
          <a:p>
            <a:r>
              <a:rPr lang="es-ES" dirty="0">
                <a:ea typeface="+mn-lt"/>
                <a:cs typeface="+mn-lt"/>
              </a:rPr>
              <a:t>absolute (Posicionamiento absoluto): Un elemento con position: absolute; se elimina completamente del flujo normal del documento. Su posición se determina en relación con el primer elemento padre posicionado (relative, absolute, </a:t>
            </a:r>
            <a:r>
              <a:rPr lang="es-ES" dirty="0" err="1">
                <a:ea typeface="+mn-lt"/>
                <a:cs typeface="+mn-lt"/>
              </a:rPr>
              <a:t>fixed</a:t>
            </a:r>
            <a:r>
              <a:rPr lang="es-ES" dirty="0">
                <a:ea typeface="+mn-lt"/>
                <a:cs typeface="+mn-lt"/>
              </a:rPr>
              <a:t> o </a:t>
            </a:r>
            <a:r>
              <a:rPr lang="es-ES" dirty="0" err="1">
                <a:ea typeface="+mn-lt"/>
                <a:cs typeface="+mn-lt"/>
              </a:rPr>
              <a:t>sticky</a:t>
            </a:r>
            <a:r>
              <a:rPr lang="es-ES" dirty="0">
                <a:ea typeface="+mn-lt"/>
                <a:cs typeface="+mn-lt"/>
              </a:rPr>
              <a:t>). Si no encuentra ningún padre posicionado, se posicionará en relación con el elemento &lt;</a:t>
            </a:r>
            <a:r>
              <a:rPr lang="es-ES" dirty="0" err="1">
                <a:ea typeface="+mn-lt"/>
                <a:cs typeface="+mn-lt"/>
              </a:rPr>
              <a:t>body</a:t>
            </a:r>
            <a:r>
              <a:rPr lang="es-ES" dirty="0">
                <a:ea typeface="+mn-lt"/>
                <a:cs typeface="+mn-lt"/>
              </a:rPr>
              <a:t>&gt;. El espacio que ocupaba originalmente desaparece y el resto de los elementos lo rellenan. Ideal para crear menús desplegables, </a:t>
            </a:r>
            <a:r>
              <a:rPr lang="es-ES" dirty="0" err="1">
                <a:ea typeface="+mn-lt"/>
                <a:cs typeface="+mn-lt"/>
              </a:rPr>
              <a:t>tooltips</a:t>
            </a:r>
            <a:r>
              <a:rPr lang="es-ES" dirty="0">
                <a:ea typeface="+mn-lt"/>
                <a:cs typeface="+mn-lt"/>
              </a:rPr>
              <a:t> o ventanas emergentes que deben superponerse a otros elementos.</a:t>
            </a:r>
          </a:p>
          <a:p>
            <a:pPr marL="0" indent="0">
              <a:buNone/>
            </a:pPr>
            <a:r>
              <a:rPr lang="es-ES" b="1" dirty="0">
                <a:latin typeface="Courier New"/>
                <a:ea typeface="+mn-lt"/>
                <a:cs typeface="+mn-lt"/>
              </a:rPr>
              <a:t>.contenedor-padre {</a:t>
            </a:r>
            <a:br>
              <a:rPr lang="es-ES" b="1" dirty="0">
                <a:latin typeface="Courier New"/>
                <a:ea typeface="+mn-lt"/>
                <a:cs typeface="+mn-lt"/>
              </a:rPr>
            </a:br>
            <a:r>
              <a:rPr lang="es-ES" b="1" dirty="0">
                <a:latin typeface="Courier New"/>
                <a:ea typeface="+mn-lt"/>
                <a:cs typeface="+mn-lt"/>
              </a:rPr>
              <a:t>  position: relative; /* Contexto para el hijo */</a:t>
            </a:r>
            <a:br>
              <a:rPr lang="es-ES" b="1" dirty="0">
                <a:latin typeface="Courier New"/>
                <a:ea typeface="+mn-lt"/>
                <a:cs typeface="+mn-lt"/>
              </a:rPr>
            </a:b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.elemento-absoluto {</a:t>
            </a:r>
            <a:br>
              <a:rPr lang="es-ES" b="1" dirty="0">
                <a:latin typeface="Courier New"/>
                <a:ea typeface="+mn-lt"/>
                <a:cs typeface="+mn-lt"/>
              </a:rPr>
            </a:br>
            <a:r>
              <a:rPr lang="es-ES" b="1" dirty="0">
                <a:latin typeface="Courier New"/>
                <a:ea typeface="+mn-lt"/>
                <a:cs typeface="+mn-lt"/>
              </a:rPr>
              <a:t>  position: absolute;</a:t>
            </a:r>
            <a:br>
              <a:rPr lang="es-ES" b="1" dirty="0">
                <a:latin typeface="Courier New"/>
                <a:ea typeface="+mn-lt"/>
                <a:cs typeface="+mn-lt"/>
              </a:rPr>
            </a:br>
            <a:r>
              <a:rPr lang="es-ES" b="1" dirty="0">
                <a:latin typeface="Courier New"/>
                <a:ea typeface="+mn-lt"/>
                <a:cs typeface="+mn-lt"/>
              </a:rPr>
              <a:t>  top: 10px; /* Se posiciona a 10px del borde superior del padre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right</a:t>
            </a:r>
            <a:r>
              <a:rPr lang="es-ES" b="1" dirty="0">
                <a:latin typeface="Courier New"/>
                <a:ea typeface="+mn-lt"/>
                <a:cs typeface="+mn-lt"/>
              </a:rPr>
              <a:t>: 10px; /* Se posiciona a 10px del borde derecho del padre */</a:t>
            </a:r>
            <a:br>
              <a:rPr lang="es-ES" b="1" dirty="0">
                <a:latin typeface="Courier New"/>
                <a:ea typeface="+mn-lt"/>
                <a:cs typeface="+mn-lt"/>
              </a:rPr>
            </a:br>
            <a:r>
              <a:rPr lang="es-ES" b="1" dirty="0">
                <a:latin typeface="Courier New"/>
                <a:ea typeface="+mn-lt"/>
                <a:cs typeface="+mn-lt"/>
              </a:rPr>
              <a:t>}</a:t>
            </a:r>
            <a:endParaRPr lang="es-ES" b="1" dirty="0">
              <a:latin typeface="Courier New"/>
              <a:cs typeface="Courier New"/>
            </a:endParaRPr>
          </a:p>
        </p:txBody>
      </p:sp>
    </p:spTree>
    <p:extLst>
      <p:ext uri="{BB962C8B-B14F-4D97-AF65-F5344CB8AC3E}">
        <p14:creationId xmlns:p14="http://schemas.microsoft.com/office/powerpoint/2010/main" val="757936839"/>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06BCF-B22E-310E-07BF-8E5DB599538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540EA11-280F-5BA3-8FE2-47C06CFC6C87}"/>
              </a:ext>
            </a:extLst>
          </p:cNvPr>
          <p:cNvSpPr>
            <a:spLocks noGrp="1"/>
          </p:cNvSpPr>
          <p:nvPr>
            <p:ph type="title"/>
          </p:nvPr>
        </p:nvSpPr>
        <p:spPr/>
        <p:txBody>
          <a:bodyPr/>
          <a:lstStyle/>
          <a:p>
            <a:r>
              <a:rPr lang="es-ES" b="0" dirty="0">
                <a:ea typeface="+mj-lt"/>
                <a:cs typeface="+mj-lt"/>
              </a:rPr>
              <a:t>2.4.3. Propiedades de posicionamiento (</a:t>
            </a:r>
            <a:r>
              <a:rPr lang="es-ES" b="0" dirty="0" err="1">
                <a:ea typeface="+mj-lt"/>
                <a:cs typeface="+mj-lt"/>
              </a:rPr>
              <a:t>static</a:t>
            </a:r>
            <a:r>
              <a:rPr lang="es-ES" b="0" dirty="0">
                <a:ea typeface="+mj-lt"/>
                <a:cs typeface="+mj-lt"/>
              </a:rPr>
              <a:t>, relative, absolute, </a:t>
            </a:r>
            <a:r>
              <a:rPr lang="es-ES" b="0" dirty="0" err="1">
                <a:ea typeface="+mj-lt"/>
                <a:cs typeface="+mj-lt"/>
              </a:rPr>
              <a:t>fixed</a:t>
            </a:r>
            <a:r>
              <a:rPr lang="es-ES" b="0" dirty="0">
                <a:ea typeface="+mj-lt"/>
                <a:cs typeface="+mj-lt"/>
              </a:rPr>
              <a:t>, </a:t>
            </a:r>
            <a:r>
              <a:rPr lang="es-ES" b="0" dirty="0" err="1">
                <a:ea typeface="+mj-lt"/>
                <a:cs typeface="+mj-lt"/>
              </a:rPr>
              <a:t>sticky</a:t>
            </a:r>
            <a:r>
              <a:rPr lang="es-ES" b="0" dirty="0">
                <a:ea typeface="+mj-lt"/>
                <a:cs typeface="+mj-lt"/>
              </a:rPr>
              <a:t>).</a:t>
            </a:r>
            <a:endParaRPr lang="es-ES" dirty="0"/>
          </a:p>
        </p:txBody>
      </p:sp>
      <p:sp>
        <p:nvSpPr>
          <p:cNvPr id="3" name="Marcador de contenido 2">
            <a:extLst>
              <a:ext uri="{FF2B5EF4-FFF2-40B4-BE49-F238E27FC236}">
                <a16:creationId xmlns:a16="http://schemas.microsoft.com/office/drawing/2014/main" id="{31EAC04D-63FB-9AFA-1481-5CD4B83912D8}"/>
              </a:ext>
            </a:extLst>
          </p:cNvPr>
          <p:cNvSpPr>
            <a:spLocks noGrp="1"/>
          </p:cNvSpPr>
          <p:nvPr>
            <p:ph idx="1"/>
          </p:nvPr>
        </p:nvSpPr>
        <p:spPr/>
        <p:txBody>
          <a:bodyPr vert="horz" lIns="91440" tIns="45720" rIns="91440" bIns="45720" rtlCol="0" anchor="t">
            <a:normAutofit/>
          </a:bodyPr>
          <a:lstStyle/>
          <a:p>
            <a:r>
              <a:rPr lang="es-ES" dirty="0" err="1">
                <a:ea typeface="+mn-lt"/>
                <a:cs typeface="+mn-lt"/>
              </a:rPr>
              <a:t>fixed</a:t>
            </a:r>
            <a:r>
              <a:rPr lang="es-ES" dirty="0">
                <a:ea typeface="+mn-lt"/>
                <a:cs typeface="+mn-lt"/>
              </a:rPr>
              <a:t> (Posicionamiento fijo): Un elemento con position: </a:t>
            </a:r>
            <a:r>
              <a:rPr lang="es-ES" dirty="0" err="1">
                <a:ea typeface="+mn-lt"/>
                <a:cs typeface="+mn-lt"/>
              </a:rPr>
              <a:t>fixed</a:t>
            </a:r>
            <a:r>
              <a:rPr lang="es-ES" dirty="0">
                <a:ea typeface="+mn-lt"/>
                <a:cs typeface="+mn-lt"/>
              </a:rPr>
              <a:t>; se elimina del flujo normal y se posiciona en relación con la ventana del navegador (</a:t>
            </a:r>
            <a:r>
              <a:rPr lang="es-ES" dirty="0" err="1">
                <a:ea typeface="+mn-lt"/>
                <a:cs typeface="+mn-lt"/>
              </a:rPr>
              <a:t>viewport</a:t>
            </a:r>
            <a:r>
              <a:rPr lang="es-ES" dirty="0">
                <a:ea typeface="+mn-lt"/>
                <a:cs typeface="+mn-lt"/>
              </a:rPr>
              <a:t>). No se moverá, incluso cuando el usuario haga </a:t>
            </a:r>
            <a:r>
              <a:rPr lang="es-ES" dirty="0" err="1">
                <a:ea typeface="+mn-lt"/>
                <a:cs typeface="+mn-lt"/>
              </a:rPr>
              <a:t>scroll</a:t>
            </a:r>
            <a:r>
              <a:rPr lang="es-ES" dirty="0">
                <a:ea typeface="+mn-lt"/>
                <a:cs typeface="+mn-lt"/>
              </a:rPr>
              <a:t>. Se utiliza para crear elementos que deben permanecer siempre visibles, como barras de navegación fijas en la parte superior, botones de acción flotantes o barras de chat.</a:t>
            </a:r>
          </a:p>
          <a:p>
            <a:pPr marL="0" indent="0">
              <a:buNone/>
            </a:pPr>
            <a:r>
              <a:rPr lang="es-ES" b="1" dirty="0">
                <a:latin typeface="Courier New"/>
                <a:ea typeface="+mn-lt"/>
                <a:cs typeface="+mn-lt"/>
              </a:rPr>
              <a:t>.</a:t>
            </a:r>
            <a:r>
              <a:rPr lang="es-ES" b="1" dirty="0" err="1">
                <a:latin typeface="Courier New"/>
                <a:ea typeface="+mn-lt"/>
                <a:cs typeface="+mn-lt"/>
              </a:rPr>
              <a:t>nav</a:t>
            </a:r>
            <a:r>
              <a:rPr lang="es-ES" b="1" dirty="0">
                <a:latin typeface="Courier New"/>
                <a:ea typeface="+mn-lt"/>
                <a:cs typeface="+mn-lt"/>
              </a:rPr>
              <a:t>-fija {</a:t>
            </a:r>
            <a:br>
              <a:rPr lang="es-ES" b="1" dirty="0">
                <a:latin typeface="Courier New"/>
                <a:ea typeface="+mn-lt"/>
                <a:cs typeface="+mn-lt"/>
              </a:rPr>
            </a:br>
            <a:r>
              <a:rPr lang="es-ES" b="1" dirty="0">
                <a:latin typeface="Courier New"/>
                <a:ea typeface="+mn-lt"/>
                <a:cs typeface="+mn-lt"/>
              </a:rPr>
              <a:t>  position: </a:t>
            </a:r>
            <a:r>
              <a:rPr lang="es-ES" b="1" dirty="0" err="1">
                <a:latin typeface="Courier New"/>
                <a:ea typeface="+mn-lt"/>
                <a:cs typeface="+mn-lt"/>
              </a:rPr>
              <a:t>fixed</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  top: 0;</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left</a:t>
            </a:r>
            <a:r>
              <a:rPr lang="es-ES" b="1" dirty="0">
                <a:latin typeface="Courier New"/>
                <a:ea typeface="+mn-lt"/>
                <a:cs typeface="+mn-lt"/>
              </a:rPr>
              <a:t>: 0;</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width</a:t>
            </a:r>
            <a:r>
              <a:rPr lang="es-ES" b="1" dirty="0">
                <a:latin typeface="Courier New"/>
                <a:ea typeface="+mn-lt"/>
                <a:cs typeface="+mn-lt"/>
              </a:rPr>
              <a:t>: 100%;</a:t>
            </a:r>
            <a:br>
              <a:rPr lang="es-ES" b="1" dirty="0">
                <a:latin typeface="Courier New"/>
                <a:ea typeface="+mn-lt"/>
                <a:cs typeface="+mn-lt"/>
              </a:rPr>
            </a:br>
            <a:r>
              <a:rPr lang="es-ES" b="1" dirty="0">
                <a:latin typeface="Courier New"/>
                <a:ea typeface="+mn-lt"/>
                <a:cs typeface="+mn-lt"/>
              </a:rPr>
              <a:t>}</a:t>
            </a:r>
          </a:p>
        </p:txBody>
      </p:sp>
    </p:spTree>
    <p:extLst>
      <p:ext uri="{BB962C8B-B14F-4D97-AF65-F5344CB8AC3E}">
        <p14:creationId xmlns:p14="http://schemas.microsoft.com/office/powerpoint/2010/main" val="1342499895"/>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67198F-CF5B-53B0-677A-0F0ADD4AC29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CF1C7FC-83D6-1F5C-30E6-E1FC4CE2EACA}"/>
              </a:ext>
            </a:extLst>
          </p:cNvPr>
          <p:cNvSpPr>
            <a:spLocks noGrp="1"/>
          </p:cNvSpPr>
          <p:nvPr>
            <p:ph type="title"/>
          </p:nvPr>
        </p:nvSpPr>
        <p:spPr/>
        <p:txBody>
          <a:bodyPr/>
          <a:lstStyle/>
          <a:p>
            <a:r>
              <a:rPr lang="es-ES" b="0" dirty="0">
                <a:ea typeface="+mj-lt"/>
                <a:cs typeface="+mj-lt"/>
              </a:rPr>
              <a:t>2.4.3. Propiedades de posicionamiento (</a:t>
            </a:r>
            <a:r>
              <a:rPr lang="es-ES" b="0" dirty="0" err="1">
                <a:ea typeface="+mj-lt"/>
                <a:cs typeface="+mj-lt"/>
              </a:rPr>
              <a:t>static</a:t>
            </a:r>
            <a:r>
              <a:rPr lang="es-ES" b="0" dirty="0">
                <a:ea typeface="+mj-lt"/>
                <a:cs typeface="+mj-lt"/>
              </a:rPr>
              <a:t>, relative, absolute, </a:t>
            </a:r>
            <a:r>
              <a:rPr lang="es-ES" b="0" dirty="0" err="1">
                <a:ea typeface="+mj-lt"/>
                <a:cs typeface="+mj-lt"/>
              </a:rPr>
              <a:t>fixed</a:t>
            </a:r>
            <a:r>
              <a:rPr lang="es-ES" b="0" dirty="0">
                <a:ea typeface="+mj-lt"/>
                <a:cs typeface="+mj-lt"/>
              </a:rPr>
              <a:t>, </a:t>
            </a:r>
            <a:r>
              <a:rPr lang="es-ES" b="0" dirty="0" err="1">
                <a:ea typeface="+mj-lt"/>
                <a:cs typeface="+mj-lt"/>
              </a:rPr>
              <a:t>sticky</a:t>
            </a:r>
            <a:r>
              <a:rPr lang="es-ES" b="0" dirty="0">
                <a:ea typeface="+mj-lt"/>
                <a:cs typeface="+mj-lt"/>
              </a:rPr>
              <a:t>).</a:t>
            </a:r>
            <a:endParaRPr lang="es-ES" dirty="0"/>
          </a:p>
        </p:txBody>
      </p:sp>
      <p:sp>
        <p:nvSpPr>
          <p:cNvPr id="3" name="Marcador de contenido 2">
            <a:extLst>
              <a:ext uri="{FF2B5EF4-FFF2-40B4-BE49-F238E27FC236}">
                <a16:creationId xmlns:a16="http://schemas.microsoft.com/office/drawing/2014/main" id="{C41D9A7A-57BE-D92E-25FE-376A7B1A3E4D}"/>
              </a:ext>
            </a:extLst>
          </p:cNvPr>
          <p:cNvSpPr>
            <a:spLocks noGrp="1"/>
          </p:cNvSpPr>
          <p:nvPr>
            <p:ph idx="1"/>
          </p:nvPr>
        </p:nvSpPr>
        <p:spPr/>
        <p:txBody>
          <a:bodyPr vert="horz" lIns="91440" tIns="45720" rIns="91440" bIns="45720" rtlCol="0" anchor="t">
            <a:normAutofit/>
          </a:bodyPr>
          <a:lstStyle/>
          <a:p>
            <a:r>
              <a:rPr lang="es-ES" err="1">
                <a:ea typeface="+mn-lt"/>
                <a:cs typeface="+mn-lt"/>
              </a:rPr>
              <a:t>sticky</a:t>
            </a:r>
            <a:r>
              <a:rPr lang="es-ES" dirty="0">
                <a:ea typeface="+mn-lt"/>
                <a:cs typeface="+mn-lt"/>
              </a:rPr>
              <a:t> (Posicionamiento adhesivo): Un elemento con position: </a:t>
            </a:r>
            <a:r>
              <a:rPr lang="es-ES" err="1">
                <a:ea typeface="+mn-lt"/>
                <a:cs typeface="+mn-lt"/>
              </a:rPr>
              <a:t>sticky</a:t>
            </a:r>
            <a:r>
              <a:rPr lang="es-ES" dirty="0">
                <a:ea typeface="+mn-lt"/>
                <a:cs typeface="+mn-lt"/>
              </a:rPr>
              <a:t>; se comporta como relative hasta que su posición de </a:t>
            </a:r>
            <a:r>
              <a:rPr lang="es-ES" err="1">
                <a:ea typeface="+mn-lt"/>
                <a:cs typeface="+mn-lt"/>
              </a:rPr>
              <a:t>scroll</a:t>
            </a:r>
            <a:r>
              <a:rPr lang="es-ES" dirty="0">
                <a:ea typeface="+mn-lt"/>
                <a:cs typeface="+mn-lt"/>
              </a:rPr>
              <a:t> alcanza un cierto umbral, momento en el que se "pega" o se vuelve </a:t>
            </a:r>
            <a:r>
              <a:rPr lang="es-ES" err="1">
                <a:ea typeface="+mn-lt"/>
                <a:cs typeface="+mn-lt"/>
              </a:rPr>
              <a:t>fixed</a:t>
            </a:r>
            <a:r>
              <a:rPr lang="es-ES" dirty="0">
                <a:ea typeface="+mn-lt"/>
                <a:cs typeface="+mn-lt"/>
              </a:rPr>
              <a:t>. Perfecto para cabeceras de tabla que se pegan a la parte superior cuando haces </a:t>
            </a:r>
            <a:r>
              <a:rPr lang="es-ES" err="1">
                <a:ea typeface="+mn-lt"/>
                <a:cs typeface="+mn-lt"/>
              </a:rPr>
              <a:t>scroll</a:t>
            </a:r>
            <a:r>
              <a:rPr lang="es-ES" dirty="0">
                <a:ea typeface="+mn-lt"/>
                <a:cs typeface="+mn-lt"/>
              </a:rPr>
              <a:t>, o barras de navegación que aparecen después de que el usuario ha bajado un poco en la página. Requiere un valor de top, </a:t>
            </a:r>
            <a:r>
              <a:rPr lang="es-ES" err="1">
                <a:ea typeface="+mn-lt"/>
                <a:cs typeface="+mn-lt"/>
              </a:rPr>
              <a:t>right</a:t>
            </a:r>
            <a:r>
              <a:rPr lang="es-ES" dirty="0">
                <a:ea typeface="+mn-lt"/>
                <a:cs typeface="+mn-lt"/>
              </a:rPr>
              <a:t>, bottom o </a:t>
            </a:r>
            <a:r>
              <a:rPr lang="es-ES" err="1">
                <a:ea typeface="+mn-lt"/>
                <a:cs typeface="+mn-lt"/>
              </a:rPr>
              <a:t>left</a:t>
            </a:r>
            <a:r>
              <a:rPr lang="es-ES" dirty="0">
                <a:ea typeface="+mn-lt"/>
                <a:cs typeface="+mn-lt"/>
              </a:rPr>
              <a:t> para funcionar.</a:t>
            </a:r>
          </a:p>
          <a:p>
            <a:r>
              <a:rPr lang="es-ES" dirty="0">
                <a:ea typeface="+mn-lt"/>
                <a:cs typeface="+mn-lt"/>
              </a:rPr>
              <a:t>.encabezado-adhesivo {</a:t>
            </a:r>
            <a:br>
              <a:rPr lang="es-ES" dirty="0">
                <a:ea typeface="+mn-lt"/>
                <a:cs typeface="+mn-lt"/>
              </a:rPr>
            </a:br>
            <a:r>
              <a:rPr lang="es-ES" dirty="0">
                <a:ea typeface="+mn-lt"/>
                <a:cs typeface="+mn-lt"/>
              </a:rPr>
              <a:t>  position: </a:t>
            </a:r>
            <a:r>
              <a:rPr lang="es-ES" dirty="0" err="1">
                <a:ea typeface="+mn-lt"/>
                <a:cs typeface="+mn-lt"/>
              </a:rPr>
              <a:t>sticky</a:t>
            </a:r>
            <a:r>
              <a:rPr lang="es-ES" dirty="0">
                <a:ea typeface="+mn-lt"/>
                <a:cs typeface="+mn-lt"/>
              </a:rPr>
              <a:t>;</a:t>
            </a:r>
            <a:br>
              <a:rPr lang="es-ES" dirty="0">
                <a:ea typeface="+mn-lt"/>
                <a:cs typeface="+mn-lt"/>
              </a:rPr>
            </a:br>
            <a:r>
              <a:rPr lang="es-ES" dirty="0">
                <a:ea typeface="+mn-lt"/>
                <a:cs typeface="+mn-lt"/>
              </a:rPr>
              <a:t>  top: 0; /* Se pega a la parte superior cuando alcanza el borde superior del </a:t>
            </a:r>
            <a:r>
              <a:rPr lang="es-ES" dirty="0" err="1">
                <a:ea typeface="+mn-lt"/>
                <a:cs typeface="+mn-lt"/>
              </a:rPr>
              <a:t>viewport</a:t>
            </a:r>
            <a:r>
              <a:rPr lang="es-ES" dirty="0">
                <a:ea typeface="+mn-lt"/>
                <a:cs typeface="+mn-lt"/>
              </a:rPr>
              <a:t> */</a:t>
            </a:r>
            <a:br>
              <a:rPr lang="es-ES" dirty="0">
                <a:ea typeface="+mn-lt"/>
                <a:cs typeface="+mn-lt"/>
              </a:rPr>
            </a:br>
            <a:r>
              <a:rPr lang="es-ES" dirty="0">
                <a:ea typeface="+mn-lt"/>
                <a:cs typeface="+mn-lt"/>
              </a:rPr>
              <a:t>}</a:t>
            </a:r>
            <a:endParaRPr lang="es-ES" dirty="0"/>
          </a:p>
        </p:txBody>
      </p:sp>
    </p:spTree>
    <p:extLst>
      <p:ext uri="{BB962C8B-B14F-4D97-AF65-F5344CB8AC3E}">
        <p14:creationId xmlns:p14="http://schemas.microsoft.com/office/powerpoint/2010/main" val="2172414959"/>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E97652-E419-A4E0-14CF-B26BC2D826A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063FAB8-F81D-B499-B70D-98CAC9B51F21}"/>
              </a:ext>
            </a:extLst>
          </p:cNvPr>
          <p:cNvSpPr>
            <a:spLocks noGrp="1"/>
          </p:cNvSpPr>
          <p:nvPr>
            <p:ph type="title"/>
          </p:nvPr>
        </p:nvSpPr>
        <p:spPr/>
        <p:txBody>
          <a:bodyPr/>
          <a:lstStyle/>
          <a:p>
            <a:r>
              <a:rPr lang="es-ES" b="0" dirty="0">
                <a:ea typeface="+mj-lt"/>
                <a:cs typeface="+mj-lt"/>
              </a:rPr>
              <a:t>2.4.4. </a:t>
            </a:r>
            <a:r>
              <a:rPr lang="es-ES" b="0" dirty="0" err="1">
                <a:ea typeface="+mj-lt"/>
                <a:cs typeface="+mj-lt"/>
              </a:rPr>
              <a:t>Pseudo-clases</a:t>
            </a:r>
            <a:r>
              <a:rPr lang="es-ES" b="0" dirty="0">
                <a:ea typeface="+mj-lt"/>
                <a:cs typeface="+mj-lt"/>
              </a:rPr>
              <a:t> y </a:t>
            </a:r>
            <a:r>
              <a:rPr lang="es-ES" b="0" dirty="0" err="1">
                <a:ea typeface="+mj-lt"/>
                <a:cs typeface="+mj-lt"/>
              </a:rPr>
              <a:t>pseudo-elementos</a:t>
            </a:r>
            <a:r>
              <a:rPr lang="es-ES" b="0" dirty="0">
                <a:ea typeface="+mj-lt"/>
                <a:cs typeface="+mj-lt"/>
              </a:rPr>
              <a:t> para efectos de estilo.</a:t>
            </a:r>
            <a:endParaRPr lang="es-ES" dirty="0"/>
          </a:p>
        </p:txBody>
      </p:sp>
      <p:sp>
        <p:nvSpPr>
          <p:cNvPr id="3" name="Marcador de contenido 2">
            <a:extLst>
              <a:ext uri="{FF2B5EF4-FFF2-40B4-BE49-F238E27FC236}">
                <a16:creationId xmlns:a16="http://schemas.microsoft.com/office/drawing/2014/main" id="{3AE6A41D-4D62-B758-9C06-395257DD03C1}"/>
              </a:ext>
            </a:extLst>
          </p:cNvPr>
          <p:cNvSpPr>
            <a:spLocks noGrp="1"/>
          </p:cNvSpPr>
          <p:nvPr>
            <p:ph idx="1"/>
          </p:nvPr>
        </p:nvSpPr>
        <p:spPr/>
        <p:txBody>
          <a:bodyPr vert="horz" lIns="91440" tIns="45720" rIns="91440" bIns="45720" rtlCol="0" anchor="t">
            <a:normAutofit fontScale="62500" lnSpcReduction="20000"/>
          </a:bodyPr>
          <a:lstStyle/>
          <a:p>
            <a:r>
              <a:rPr lang="es-ES" dirty="0">
                <a:ea typeface="+mn-lt"/>
                <a:cs typeface="+mn-lt"/>
              </a:rPr>
              <a:t>Las </a:t>
            </a:r>
            <a:r>
              <a:rPr lang="es-ES" dirty="0" err="1">
                <a:ea typeface="+mn-lt"/>
                <a:cs typeface="+mn-lt"/>
              </a:rPr>
              <a:t>pseudo-clases</a:t>
            </a:r>
            <a:r>
              <a:rPr lang="es-ES" dirty="0">
                <a:ea typeface="+mn-lt"/>
                <a:cs typeface="+mn-lt"/>
              </a:rPr>
              <a:t> son selectores especiales en CSS que te permiten aplicar estilos a un elemento en un estado particular, en lugar de aplicarlos a todo el elemento. Se escriben con dos puntos (:) antes de su nombre. Son esenciales para crear efectos de interactividad y dar </a:t>
            </a:r>
            <a:r>
              <a:rPr lang="es-ES" dirty="0" err="1">
                <a:ea typeface="+mn-lt"/>
                <a:cs typeface="+mn-lt"/>
              </a:rPr>
              <a:t>feedback</a:t>
            </a:r>
            <a:r>
              <a:rPr lang="es-ES" dirty="0">
                <a:ea typeface="+mn-lt"/>
                <a:cs typeface="+mn-lt"/>
              </a:rPr>
              <a:t> visual al usuario.</a:t>
            </a:r>
            <a:endParaRPr lang="es-ES" dirty="0"/>
          </a:p>
          <a:p>
            <a:r>
              <a:rPr lang="es-ES" dirty="0" err="1">
                <a:ea typeface="+mn-lt"/>
                <a:cs typeface="+mn-lt"/>
              </a:rPr>
              <a:t>Pseudo-clases</a:t>
            </a:r>
            <a:r>
              <a:rPr lang="es-ES" dirty="0">
                <a:ea typeface="+mn-lt"/>
                <a:cs typeface="+mn-lt"/>
              </a:rPr>
              <a:t> de interacción: Estas clases responden a las acciones del usuario, como pasar el cursor sobre un elemento o hacer clic.</a:t>
            </a:r>
            <a:endParaRPr lang="es-ES" dirty="0"/>
          </a:p>
          <a:p>
            <a:pPr lvl="1">
              <a:buFont typeface="Courier New" panose="020B0604020202020204" pitchFamily="34" charset="0"/>
              <a:buChar char="o"/>
            </a:pPr>
            <a:r>
              <a:rPr lang="es-ES" dirty="0">
                <a:ea typeface="+mn-lt"/>
                <a:cs typeface="+mn-lt"/>
              </a:rPr>
              <a:t>:</a:t>
            </a:r>
            <a:r>
              <a:rPr lang="es-ES" dirty="0" err="1">
                <a:ea typeface="+mn-lt"/>
                <a:cs typeface="+mn-lt"/>
              </a:rPr>
              <a:t>hover</a:t>
            </a:r>
            <a:r>
              <a:rPr lang="es-ES" dirty="0">
                <a:ea typeface="+mn-lt"/>
                <a:cs typeface="+mn-lt"/>
              </a:rPr>
              <a:t>:  Se activa cuando el puntero del ratón se encuentra sobre el elemento. Es ideal para cambiar el color de un botón o un enlace al interactuar con ellos.</a:t>
            </a:r>
            <a:endParaRPr lang="es-ES" dirty="0"/>
          </a:p>
          <a:p>
            <a:pPr marL="0" indent="0">
              <a:buNone/>
            </a:pPr>
            <a:r>
              <a:rPr lang="es-ES" b="1" dirty="0" err="1">
                <a:latin typeface="Courier New"/>
                <a:ea typeface="+mn-lt"/>
                <a:cs typeface="Courier New"/>
              </a:rPr>
              <a:t>a:hover</a:t>
            </a:r>
            <a:r>
              <a:rPr lang="es-ES" b="1" dirty="0">
                <a:latin typeface="Courier New"/>
                <a:ea typeface="+mn-lt"/>
                <a:cs typeface="Courier New"/>
              </a:rPr>
              <a:t> {</a:t>
            </a:r>
            <a:br>
              <a:rPr lang="es-ES" b="1" dirty="0">
                <a:latin typeface="Courier New"/>
                <a:ea typeface="+mn-lt"/>
                <a:cs typeface="Courier New"/>
              </a:rPr>
            </a:br>
            <a:r>
              <a:rPr lang="es-ES" b="1" dirty="0">
                <a:latin typeface="Courier New"/>
                <a:ea typeface="+mn-lt"/>
                <a:cs typeface="Courier New"/>
              </a:rPr>
              <a:t>  color: #007bff;</a:t>
            </a:r>
            <a:br>
              <a:rPr lang="es-ES" b="1" dirty="0">
                <a:latin typeface="Courier New"/>
                <a:ea typeface="+mn-lt"/>
                <a:cs typeface="Courier New"/>
              </a:rPr>
            </a:br>
            <a:r>
              <a:rPr lang="es-ES" b="1" dirty="0">
                <a:latin typeface="Courier New"/>
                <a:ea typeface="+mn-lt"/>
                <a:cs typeface="Courier New"/>
              </a:rPr>
              <a:t>  </a:t>
            </a:r>
            <a:r>
              <a:rPr lang="es-ES" b="1" dirty="0" err="1">
                <a:latin typeface="Courier New"/>
                <a:ea typeface="+mn-lt"/>
                <a:cs typeface="Courier New"/>
              </a:rPr>
              <a:t>text-decoration</a:t>
            </a:r>
            <a:r>
              <a:rPr lang="es-ES" b="1" dirty="0">
                <a:latin typeface="Courier New"/>
                <a:ea typeface="+mn-lt"/>
                <a:cs typeface="Courier New"/>
              </a:rPr>
              <a:t>: </a:t>
            </a:r>
            <a:r>
              <a:rPr lang="es-ES" b="1" dirty="0" err="1">
                <a:latin typeface="Courier New"/>
                <a:ea typeface="+mn-lt"/>
                <a:cs typeface="Courier New"/>
              </a:rPr>
              <a:t>underline</a:t>
            </a:r>
            <a:r>
              <a:rPr lang="es-ES" b="1" dirty="0">
                <a:latin typeface="Courier New"/>
                <a:ea typeface="+mn-lt"/>
                <a:cs typeface="Courier New"/>
              </a:rPr>
              <a:t>;</a:t>
            </a:r>
            <a:br>
              <a:rPr lang="es-ES" b="1" dirty="0">
                <a:latin typeface="Courier New"/>
                <a:ea typeface="+mn-lt"/>
                <a:cs typeface="Courier New"/>
              </a:rPr>
            </a:br>
            <a:r>
              <a:rPr lang="es-ES" b="1" dirty="0">
                <a:latin typeface="Courier New"/>
                <a:ea typeface="+mn-lt"/>
                <a:cs typeface="Courier New"/>
              </a:rPr>
              <a:t>}</a:t>
            </a:r>
            <a:endParaRPr lang="es-ES" b="1" dirty="0">
              <a:latin typeface="Courier New"/>
              <a:cs typeface="Courier New"/>
            </a:endParaRPr>
          </a:p>
          <a:p>
            <a:pPr lvl="1">
              <a:buFont typeface="Courier New" panose="020B0604020202020204" pitchFamily="34" charset="0"/>
              <a:buChar char="o"/>
            </a:pPr>
            <a:r>
              <a:rPr lang="es-ES" dirty="0">
                <a:ea typeface="+mn-lt"/>
                <a:cs typeface="+mn-lt"/>
              </a:rPr>
              <a:t>:active:  Se activa cuando el elemento está siendo clicado. Es útil para dar una respuesta inmediata al usuario.</a:t>
            </a:r>
            <a:endParaRPr lang="es-ES" dirty="0"/>
          </a:p>
          <a:p>
            <a:pPr marL="0" indent="0">
              <a:buNone/>
            </a:pPr>
            <a:r>
              <a:rPr lang="es-ES" b="1" dirty="0" err="1">
                <a:latin typeface="Courier New"/>
                <a:ea typeface="+mn-lt"/>
                <a:cs typeface="Courier New"/>
              </a:rPr>
              <a:t>button:active</a:t>
            </a:r>
            <a:r>
              <a:rPr lang="es-ES" b="1" dirty="0">
                <a:latin typeface="Courier New"/>
                <a:ea typeface="+mn-lt"/>
                <a:cs typeface="Courier New"/>
              </a:rPr>
              <a:t> {</a:t>
            </a:r>
            <a:br>
              <a:rPr lang="es-ES" b="1" dirty="0">
                <a:latin typeface="Courier New"/>
                <a:ea typeface="+mn-lt"/>
                <a:cs typeface="Courier New"/>
              </a:rPr>
            </a:br>
            <a:r>
              <a:rPr lang="es-ES" b="1" dirty="0">
                <a:latin typeface="Courier New"/>
                <a:ea typeface="+mn-lt"/>
                <a:cs typeface="Courier New"/>
              </a:rPr>
              <a:t>  </a:t>
            </a:r>
            <a:r>
              <a:rPr lang="es-ES" b="1" dirty="0" err="1">
                <a:latin typeface="Courier New"/>
                <a:ea typeface="+mn-lt"/>
                <a:cs typeface="Courier New"/>
              </a:rPr>
              <a:t>transform</a:t>
            </a:r>
            <a:r>
              <a:rPr lang="es-ES" b="1" dirty="0">
                <a:latin typeface="Courier New"/>
                <a:ea typeface="+mn-lt"/>
                <a:cs typeface="Courier New"/>
              </a:rPr>
              <a:t>: </a:t>
            </a:r>
            <a:r>
              <a:rPr lang="es-ES" b="1" dirty="0" err="1">
                <a:latin typeface="Courier New"/>
                <a:ea typeface="+mn-lt"/>
                <a:cs typeface="Courier New"/>
              </a:rPr>
              <a:t>scale</a:t>
            </a:r>
            <a:r>
              <a:rPr lang="es-ES" b="1" dirty="0">
                <a:latin typeface="Courier New"/>
                <a:ea typeface="+mn-lt"/>
                <a:cs typeface="Courier New"/>
              </a:rPr>
              <a:t>(0.98); /* Hace que el botón parezca que se presiona */</a:t>
            </a:r>
            <a:br>
              <a:rPr lang="es-ES" b="1" dirty="0">
                <a:latin typeface="Courier New"/>
                <a:ea typeface="+mn-lt"/>
                <a:cs typeface="Courier New"/>
              </a:rPr>
            </a:br>
            <a:r>
              <a:rPr lang="es-ES" b="1" dirty="0">
                <a:latin typeface="Courier New"/>
                <a:ea typeface="+mn-lt"/>
                <a:cs typeface="Courier New"/>
              </a:rPr>
              <a:t>}</a:t>
            </a:r>
            <a:endParaRPr lang="es-ES" b="1" dirty="0">
              <a:latin typeface="Courier New"/>
              <a:cs typeface="Courier New"/>
            </a:endParaRPr>
          </a:p>
          <a:p>
            <a:pPr lvl="1">
              <a:buFont typeface="Courier New" panose="020B0604020202020204" pitchFamily="34" charset="0"/>
              <a:buChar char="o"/>
            </a:pPr>
            <a:r>
              <a:rPr lang="es-ES" dirty="0">
                <a:ea typeface="+mn-lt"/>
                <a:cs typeface="+mn-lt"/>
              </a:rPr>
              <a:t>:</a:t>
            </a:r>
            <a:r>
              <a:rPr lang="es-ES" dirty="0" err="1">
                <a:ea typeface="+mn-lt"/>
                <a:cs typeface="+mn-lt"/>
              </a:rPr>
              <a:t>focus</a:t>
            </a:r>
            <a:r>
              <a:rPr lang="es-ES" dirty="0">
                <a:ea typeface="+mn-lt"/>
                <a:cs typeface="+mn-lt"/>
              </a:rPr>
              <a:t>:  Se activa cuando el elemento (típicamente un campo de formulario) ha recibido el foco del teclado. Es crucial para la accesibilidad.</a:t>
            </a:r>
            <a:endParaRPr lang="es-ES" dirty="0"/>
          </a:p>
          <a:p>
            <a:pPr marL="0" indent="0">
              <a:buNone/>
            </a:pPr>
            <a:r>
              <a:rPr lang="es-ES" b="1" dirty="0" err="1">
                <a:latin typeface="Courier New"/>
                <a:ea typeface="+mn-lt"/>
                <a:cs typeface="Courier New"/>
              </a:rPr>
              <a:t>input:focus</a:t>
            </a:r>
            <a:r>
              <a:rPr lang="es-ES" b="1" dirty="0">
                <a:latin typeface="Courier New"/>
                <a:ea typeface="+mn-lt"/>
                <a:cs typeface="Courier New"/>
              </a:rPr>
              <a:t> {</a:t>
            </a:r>
            <a:br>
              <a:rPr lang="es-ES" b="1" dirty="0">
                <a:latin typeface="Courier New"/>
                <a:ea typeface="+mn-lt"/>
                <a:cs typeface="Courier New"/>
              </a:rPr>
            </a:br>
            <a:r>
              <a:rPr lang="es-ES" b="1" dirty="0">
                <a:latin typeface="Courier New"/>
                <a:ea typeface="+mn-lt"/>
                <a:cs typeface="Courier New"/>
              </a:rPr>
              <a:t>  </a:t>
            </a:r>
            <a:r>
              <a:rPr lang="es-ES" b="1" dirty="0" err="1">
                <a:latin typeface="Courier New"/>
                <a:ea typeface="+mn-lt"/>
                <a:cs typeface="Courier New"/>
              </a:rPr>
              <a:t>border</a:t>
            </a:r>
            <a:r>
              <a:rPr lang="es-ES" b="1" dirty="0">
                <a:latin typeface="Courier New"/>
                <a:ea typeface="+mn-lt"/>
                <a:cs typeface="Courier New"/>
              </a:rPr>
              <a:t>-color: #007bff;</a:t>
            </a:r>
            <a:br>
              <a:rPr lang="es-ES" b="1" dirty="0">
                <a:latin typeface="Courier New"/>
                <a:ea typeface="+mn-lt"/>
                <a:cs typeface="Courier New"/>
              </a:rPr>
            </a:br>
            <a:r>
              <a:rPr lang="es-ES" b="1" dirty="0">
                <a:latin typeface="Courier New"/>
                <a:ea typeface="+mn-lt"/>
                <a:cs typeface="Courier New"/>
              </a:rPr>
              <a:t>  </a:t>
            </a:r>
            <a:r>
              <a:rPr lang="es-ES" b="1" dirty="0" err="1">
                <a:latin typeface="Courier New"/>
                <a:ea typeface="+mn-lt"/>
                <a:cs typeface="Courier New"/>
              </a:rPr>
              <a:t>outline</a:t>
            </a:r>
            <a:r>
              <a:rPr lang="es-ES" b="1" dirty="0">
                <a:latin typeface="Courier New"/>
                <a:ea typeface="+mn-lt"/>
                <a:cs typeface="Courier New"/>
              </a:rPr>
              <a:t>: </a:t>
            </a:r>
            <a:r>
              <a:rPr lang="es-ES" b="1" dirty="0" err="1">
                <a:latin typeface="Courier New"/>
                <a:ea typeface="+mn-lt"/>
                <a:cs typeface="Courier New"/>
              </a:rPr>
              <a:t>none</a:t>
            </a:r>
            <a:r>
              <a:rPr lang="es-ES" b="1" dirty="0">
                <a:latin typeface="Courier New"/>
                <a:ea typeface="+mn-lt"/>
                <a:cs typeface="Courier New"/>
              </a:rPr>
              <a:t>;</a:t>
            </a:r>
            <a:br>
              <a:rPr lang="es-ES" b="1" dirty="0">
                <a:latin typeface="Courier New"/>
                <a:ea typeface="+mn-lt"/>
                <a:cs typeface="Courier New"/>
              </a:rPr>
            </a:br>
            <a:r>
              <a:rPr lang="es-ES" b="1" dirty="0">
                <a:latin typeface="Courier New"/>
                <a:ea typeface="+mn-lt"/>
                <a:cs typeface="Courier New"/>
              </a:rPr>
              <a:t>}</a:t>
            </a:r>
            <a:endParaRPr lang="es-ES" b="1" dirty="0">
              <a:latin typeface="Courier New"/>
              <a:cs typeface="Courier New"/>
            </a:endParaRPr>
          </a:p>
          <a:p>
            <a:endParaRPr lang="es-ES" dirty="0"/>
          </a:p>
        </p:txBody>
      </p:sp>
    </p:spTree>
    <p:extLst>
      <p:ext uri="{BB962C8B-B14F-4D97-AF65-F5344CB8AC3E}">
        <p14:creationId xmlns:p14="http://schemas.microsoft.com/office/powerpoint/2010/main" val="1433240675"/>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B82E7C-18AF-9C11-3E74-3128B79D929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72E1004-C099-592E-255E-4A398732D9DC}"/>
              </a:ext>
            </a:extLst>
          </p:cNvPr>
          <p:cNvSpPr>
            <a:spLocks noGrp="1"/>
          </p:cNvSpPr>
          <p:nvPr>
            <p:ph type="title"/>
          </p:nvPr>
        </p:nvSpPr>
        <p:spPr/>
        <p:txBody>
          <a:bodyPr/>
          <a:lstStyle/>
          <a:p>
            <a:r>
              <a:rPr lang="es-ES" b="0" dirty="0">
                <a:ea typeface="+mj-lt"/>
                <a:cs typeface="+mj-lt"/>
              </a:rPr>
              <a:t>2.4.4. </a:t>
            </a:r>
            <a:r>
              <a:rPr lang="es-ES" b="0" dirty="0" err="1">
                <a:ea typeface="+mj-lt"/>
                <a:cs typeface="+mj-lt"/>
              </a:rPr>
              <a:t>Pseudo-clases</a:t>
            </a:r>
            <a:r>
              <a:rPr lang="es-ES" b="0" dirty="0">
                <a:ea typeface="+mj-lt"/>
                <a:cs typeface="+mj-lt"/>
              </a:rPr>
              <a:t> y </a:t>
            </a:r>
            <a:r>
              <a:rPr lang="es-ES" b="0" dirty="0" err="1">
                <a:ea typeface="+mj-lt"/>
                <a:cs typeface="+mj-lt"/>
              </a:rPr>
              <a:t>pseudo-elementos</a:t>
            </a:r>
            <a:r>
              <a:rPr lang="es-ES" b="0" dirty="0">
                <a:ea typeface="+mj-lt"/>
                <a:cs typeface="+mj-lt"/>
              </a:rPr>
              <a:t> para efectos de estilo.</a:t>
            </a:r>
            <a:endParaRPr lang="es-ES" dirty="0"/>
          </a:p>
        </p:txBody>
      </p:sp>
      <p:sp>
        <p:nvSpPr>
          <p:cNvPr id="3" name="Marcador de contenido 2">
            <a:extLst>
              <a:ext uri="{FF2B5EF4-FFF2-40B4-BE49-F238E27FC236}">
                <a16:creationId xmlns:a16="http://schemas.microsoft.com/office/drawing/2014/main" id="{DEFE1E75-1F3C-79E1-9379-8A1D1E4F1F62}"/>
              </a:ext>
            </a:extLst>
          </p:cNvPr>
          <p:cNvSpPr>
            <a:spLocks noGrp="1"/>
          </p:cNvSpPr>
          <p:nvPr>
            <p:ph idx="1"/>
          </p:nvPr>
        </p:nvSpPr>
        <p:spPr/>
        <p:txBody>
          <a:bodyPr vert="horz" lIns="91440" tIns="45720" rIns="91440" bIns="45720" rtlCol="0" anchor="t">
            <a:normAutofit fontScale="92500" lnSpcReduction="10000"/>
          </a:bodyPr>
          <a:lstStyle/>
          <a:p>
            <a:r>
              <a:rPr lang="es-ES" dirty="0" err="1">
                <a:ea typeface="+mn-lt"/>
                <a:cs typeface="+mn-lt"/>
              </a:rPr>
              <a:t>Pseudo-clases</a:t>
            </a:r>
            <a:r>
              <a:rPr lang="es-ES" dirty="0">
                <a:ea typeface="+mn-lt"/>
                <a:cs typeface="+mn-lt"/>
              </a:rPr>
              <a:t> de estructura: Estas clases seleccionan elementos basándose en su posición dentro del árbol del DOM.</a:t>
            </a:r>
          </a:p>
          <a:p>
            <a:pPr lvl="1">
              <a:buFont typeface="Courier New" panose="020B0604020202020204" pitchFamily="34" charset="0"/>
              <a:buChar char="o"/>
            </a:pPr>
            <a:r>
              <a:rPr lang="es-ES" dirty="0">
                <a:ea typeface="+mn-lt"/>
                <a:cs typeface="+mn-lt"/>
              </a:rPr>
              <a:t>:</a:t>
            </a:r>
            <a:r>
              <a:rPr lang="es-ES" dirty="0" err="1">
                <a:ea typeface="+mn-lt"/>
                <a:cs typeface="+mn-lt"/>
              </a:rPr>
              <a:t>first-child</a:t>
            </a:r>
            <a:r>
              <a:rPr lang="es-ES" dirty="0">
                <a:ea typeface="+mn-lt"/>
                <a:cs typeface="+mn-lt"/>
              </a:rPr>
              <a:t>:  Selecciona el primer hijo de un elemento padre.</a:t>
            </a:r>
          </a:p>
          <a:p>
            <a:pPr marL="0" indent="0">
              <a:buNone/>
            </a:pPr>
            <a:r>
              <a:rPr lang="es-ES" b="1" err="1">
                <a:latin typeface="Courier New"/>
                <a:ea typeface="+mn-lt"/>
                <a:cs typeface="+mn-lt"/>
              </a:rPr>
              <a:t>li:first-child</a:t>
            </a:r>
            <a:r>
              <a:rPr lang="es-ES" b="1" dirty="0">
                <a:latin typeface="Courier New"/>
                <a:ea typeface="+mn-lt"/>
                <a:cs typeface="+mn-lt"/>
              </a:rPr>
              <a:t> {</a:t>
            </a:r>
            <a:br>
              <a:rPr lang="en-US" b="1" dirty="0">
                <a:latin typeface="Courier New"/>
              </a:rPr>
            </a:br>
            <a:r>
              <a:rPr lang="es-ES" b="1" dirty="0">
                <a:latin typeface="Courier New"/>
                <a:ea typeface="+mn-lt"/>
                <a:cs typeface="+mn-lt"/>
              </a:rPr>
              <a:t>  </a:t>
            </a:r>
            <a:r>
              <a:rPr lang="es-ES" b="1" err="1">
                <a:latin typeface="Courier New"/>
                <a:ea typeface="+mn-lt"/>
                <a:cs typeface="+mn-lt"/>
              </a:rPr>
              <a:t>font-weight</a:t>
            </a:r>
            <a:r>
              <a:rPr lang="es-ES" b="1" dirty="0">
                <a:latin typeface="Courier New"/>
                <a:ea typeface="+mn-lt"/>
                <a:cs typeface="+mn-lt"/>
              </a:rPr>
              <a:t>: </a:t>
            </a:r>
            <a:r>
              <a:rPr lang="es-ES" b="1" err="1">
                <a:latin typeface="Courier New"/>
                <a:ea typeface="+mn-lt"/>
                <a:cs typeface="+mn-lt"/>
              </a:rPr>
              <a:t>bold</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a:t>
            </a:r>
          </a:p>
          <a:p>
            <a:pPr lvl="1">
              <a:buFont typeface="Courier New" panose="020B0604020202020204" pitchFamily="34" charset="0"/>
              <a:buChar char="o"/>
            </a:pPr>
            <a:r>
              <a:rPr lang="es-ES" dirty="0">
                <a:ea typeface="+mn-lt"/>
                <a:cs typeface="+mn-lt"/>
              </a:rPr>
              <a:t>:</a:t>
            </a:r>
            <a:r>
              <a:rPr lang="es-ES" dirty="0" err="1">
                <a:ea typeface="+mn-lt"/>
                <a:cs typeface="+mn-lt"/>
              </a:rPr>
              <a:t>last-child</a:t>
            </a:r>
            <a:r>
              <a:rPr lang="es-ES" dirty="0">
                <a:ea typeface="+mn-lt"/>
                <a:cs typeface="+mn-lt"/>
              </a:rPr>
              <a:t>:  Selecciona el último hijo de un elemento padre.</a:t>
            </a:r>
          </a:p>
          <a:p>
            <a:pPr lvl="1">
              <a:buFont typeface="Courier New" panose="020B0604020202020204" pitchFamily="34" charset="0"/>
              <a:buChar char="o"/>
            </a:pPr>
            <a:r>
              <a:rPr lang="es-ES" dirty="0">
                <a:ea typeface="+mn-lt"/>
                <a:cs typeface="+mn-lt"/>
              </a:rPr>
              <a:t>:</a:t>
            </a:r>
            <a:r>
              <a:rPr lang="es-ES" dirty="0" err="1">
                <a:ea typeface="+mn-lt"/>
                <a:cs typeface="+mn-lt"/>
              </a:rPr>
              <a:t>nth-child</a:t>
            </a:r>
            <a:r>
              <a:rPr lang="es-ES" dirty="0">
                <a:ea typeface="+mn-lt"/>
                <a:cs typeface="+mn-lt"/>
              </a:rPr>
              <a:t>(n):  Selecciona un hijo que se encuentra en la posición n (puedes usar un número, </a:t>
            </a:r>
            <a:r>
              <a:rPr lang="es-ES" dirty="0" err="1">
                <a:ea typeface="+mn-lt"/>
                <a:cs typeface="+mn-lt"/>
              </a:rPr>
              <a:t>even</a:t>
            </a:r>
            <a:r>
              <a:rPr lang="es-ES" dirty="0">
                <a:ea typeface="+mn-lt"/>
                <a:cs typeface="+mn-lt"/>
              </a:rPr>
              <a:t> para pares o </a:t>
            </a:r>
            <a:r>
              <a:rPr lang="es-ES" dirty="0" err="1">
                <a:ea typeface="+mn-lt"/>
                <a:cs typeface="+mn-lt"/>
              </a:rPr>
              <a:t>odd</a:t>
            </a:r>
            <a:r>
              <a:rPr lang="es-ES" dirty="0">
                <a:ea typeface="+mn-lt"/>
                <a:cs typeface="+mn-lt"/>
              </a:rPr>
              <a:t> para impares). Es perfecto para dar un estilo de "cebra" a las filas de una tabla.</a:t>
            </a:r>
          </a:p>
          <a:p>
            <a:pPr marL="0" indent="0">
              <a:buNone/>
            </a:pPr>
            <a:r>
              <a:rPr lang="es-ES" b="1" err="1">
                <a:latin typeface="Courier New"/>
                <a:ea typeface="+mn-lt"/>
                <a:cs typeface="+mn-lt"/>
              </a:rPr>
              <a:t>tr:nth-child</a:t>
            </a:r>
            <a:r>
              <a:rPr lang="es-ES" b="1" dirty="0">
                <a:latin typeface="Courier New"/>
                <a:ea typeface="+mn-lt"/>
                <a:cs typeface="+mn-lt"/>
              </a:rPr>
              <a:t>(</a:t>
            </a:r>
            <a:r>
              <a:rPr lang="es-ES" b="1" err="1">
                <a:latin typeface="Courier New"/>
                <a:ea typeface="+mn-lt"/>
                <a:cs typeface="+mn-lt"/>
              </a:rPr>
              <a:t>even</a:t>
            </a: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background</a:t>
            </a:r>
            <a:r>
              <a:rPr lang="es-ES" b="1" dirty="0">
                <a:latin typeface="Courier New"/>
                <a:ea typeface="+mn-lt"/>
                <a:cs typeface="+mn-lt"/>
              </a:rPr>
              <a:t>-color: #f2f2f2;</a:t>
            </a:r>
            <a:br>
              <a:rPr lang="es-ES" b="1" dirty="0">
                <a:latin typeface="Courier New"/>
                <a:ea typeface="+mn-lt"/>
                <a:cs typeface="+mn-lt"/>
              </a:rPr>
            </a:br>
            <a:r>
              <a:rPr lang="es-ES" b="1" dirty="0">
                <a:latin typeface="Courier New"/>
                <a:ea typeface="+mn-lt"/>
                <a:cs typeface="+mn-lt"/>
              </a:rPr>
              <a:t>}</a:t>
            </a:r>
          </a:p>
          <a:p>
            <a:endParaRPr lang="es-ES" dirty="0"/>
          </a:p>
        </p:txBody>
      </p:sp>
    </p:spTree>
    <p:extLst>
      <p:ext uri="{BB962C8B-B14F-4D97-AF65-F5344CB8AC3E}">
        <p14:creationId xmlns:p14="http://schemas.microsoft.com/office/powerpoint/2010/main" val="928045155"/>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A9D1FC-5851-2A3C-D170-9FF3E4113F8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2098CF2-4412-AA3C-D4C9-1E30CB42F9F5}"/>
              </a:ext>
            </a:extLst>
          </p:cNvPr>
          <p:cNvSpPr>
            <a:spLocks noGrp="1"/>
          </p:cNvSpPr>
          <p:nvPr>
            <p:ph type="title"/>
          </p:nvPr>
        </p:nvSpPr>
        <p:spPr/>
        <p:txBody>
          <a:bodyPr/>
          <a:lstStyle/>
          <a:p>
            <a:r>
              <a:rPr lang="es-ES" b="0" dirty="0">
                <a:ea typeface="+mj-lt"/>
                <a:cs typeface="+mj-lt"/>
              </a:rPr>
              <a:t>2.4.4. </a:t>
            </a:r>
            <a:r>
              <a:rPr lang="es-ES" b="0" dirty="0" err="1">
                <a:ea typeface="+mj-lt"/>
                <a:cs typeface="+mj-lt"/>
              </a:rPr>
              <a:t>Pseudo-clases</a:t>
            </a:r>
            <a:r>
              <a:rPr lang="es-ES" b="0" dirty="0">
                <a:ea typeface="+mj-lt"/>
                <a:cs typeface="+mj-lt"/>
              </a:rPr>
              <a:t> y </a:t>
            </a:r>
            <a:r>
              <a:rPr lang="es-ES" b="0" dirty="0" err="1">
                <a:ea typeface="+mj-lt"/>
                <a:cs typeface="+mj-lt"/>
              </a:rPr>
              <a:t>pseudo-elementos</a:t>
            </a:r>
            <a:r>
              <a:rPr lang="es-ES" b="0" dirty="0">
                <a:ea typeface="+mj-lt"/>
                <a:cs typeface="+mj-lt"/>
              </a:rPr>
              <a:t> para efectos de estilo.</a:t>
            </a:r>
            <a:endParaRPr lang="es-ES" dirty="0"/>
          </a:p>
        </p:txBody>
      </p:sp>
      <p:sp>
        <p:nvSpPr>
          <p:cNvPr id="3" name="Marcador de contenido 2">
            <a:extLst>
              <a:ext uri="{FF2B5EF4-FFF2-40B4-BE49-F238E27FC236}">
                <a16:creationId xmlns:a16="http://schemas.microsoft.com/office/drawing/2014/main" id="{768D6067-DEEF-F114-181B-89B035A13D0F}"/>
              </a:ext>
            </a:extLst>
          </p:cNvPr>
          <p:cNvSpPr>
            <a:spLocks noGrp="1"/>
          </p:cNvSpPr>
          <p:nvPr>
            <p:ph idx="1"/>
          </p:nvPr>
        </p:nvSpPr>
        <p:spPr/>
        <p:txBody>
          <a:bodyPr vert="horz" lIns="91440" tIns="45720" rIns="91440" bIns="45720" rtlCol="0" anchor="t">
            <a:normAutofit/>
          </a:bodyPr>
          <a:lstStyle/>
          <a:p>
            <a:r>
              <a:rPr lang="es-ES" dirty="0" err="1">
                <a:ea typeface="+mn-lt"/>
                <a:cs typeface="+mn-lt"/>
              </a:rPr>
              <a:t>Pseudo-elementos</a:t>
            </a:r>
            <a:r>
              <a:rPr lang="es-ES" dirty="0">
                <a:ea typeface="+mn-lt"/>
                <a:cs typeface="+mn-lt"/>
              </a:rPr>
              <a:t>: Los </a:t>
            </a:r>
            <a:r>
              <a:rPr lang="es-ES" dirty="0" err="1">
                <a:ea typeface="+mn-lt"/>
                <a:cs typeface="+mn-lt"/>
              </a:rPr>
              <a:t>pseudo-elementos</a:t>
            </a:r>
            <a:r>
              <a:rPr lang="es-ES" dirty="0">
                <a:ea typeface="+mn-lt"/>
                <a:cs typeface="+mn-lt"/>
              </a:rPr>
              <a:t> te permiten seleccionar y estilizar una parte específica de un elemento, sin necesidad de añadir etiquetas adicionales en el HTML. Se escriben con doble punto (::) para diferenciarlos de las </a:t>
            </a:r>
            <a:r>
              <a:rPr lang="es-ES" dirty="0" err="1">
                <a:ea typeface="+mn-lt"/>
                <a:cs typeface="+mn-lt"/>
              </a:rPr>
              <a:t>pseudo-clases</a:t>
            </a:r>
            <a:r>
              <a:rPr lang="es-ES" dirty="0">
                <a:ea typeface="+mn-lt"/>
                <a:cs typeface="+mn-lt"/>
              </a:rPr>
              <a:t>.</a:t>
            </a:r>
          </a:p>
          <a:p>
            <a:r>
              <a:rPr lang="es-ES" dirty="0">
                <a:ea typeface="+mn-lt"/>
                <a:cs typeface="+mn-lt"/>
              </a:rPr>
              <a:t>    ::</a:t>
            </a:r>
            <a:r>
              <a:rPr lang="es-ES" dirty="0" err="1">
                <a:ea typeface="+mn-lt"/>
                <a:cs typeface="+mn-lt"/>
              </a:rPr>
              <a:t>before</a:t>
            </a:r>
            <a:r>
              <a:rPr lang="es-ES" dirty="0">
                <a:ea typeface="+mn-lt"/>
                <a:cs typeface="+mn-lt"/>
              </a:rPr>
              <a:t>:  Crea un elemento virtual antes del contenido del elemento seleccionado. Para que funcione, es obligatorio usar la propiedad </a:t>
            </a:r>
            <a:r>
              <a:rPr lang="es-ES" dirty="0" err="1">
                <a:ea typeface="+mn-lt"/>
                <a:cs typeface="+mn-lt"/>
              </a:rPr>
              <a:t>content</a:t>
            </a:r>
            <a:r>
              <a:rPr lang="es-ES" dirty="0">
                <a:ea typeface="+mn-lt"/>
                <a:cs typeface="+mn-lt"/>
              </a:rPr>
              <a:t>.</a:t>
            </a:r>
          </a:p>
          <a:p>
            <a:pPr marL="0" indent="0">
              <a:buNone/>
            </a:pPr>
            <a:r>
              <a:rPr lang="es-ES" b="1" dirty="0">
                <a:latin typeface="Courier New"/>
                <a:ea typeface="+mn-lt"/>
                <a:cs typeface="+mn-lt"/>
              </a:rPr>
              <a:t>h2::</a:t>
            </a:r>
            <a:r>
              <a:rPr lang="es-ES" b="1" dirty="0" err="1">
                <a:latin typeface="Courier New"/>
                <a:ea typeface="+mn-lt"/>
                <a:cs typeface="+mn-lt"/>
              </a:rPr>
              <a:t>before</a:t>
            </a: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content</a:t>
            </a:r>
            <a:r>
              <a:rPr lang="es-ES" b="1" dirty="0">
                <a:latin typeface="Courier New"/>
                <a:ea typeface="+mn-lt"/>
                <a:cs typeface="+mn-lt"/>
              </a:rPr>
              <a:t>: "→ ";</a:t>
            </a:r>
            <a:br>
              <a:rPr lang="es-ES" b="1" dirty="0">
                <a:latin typeface="Courier New"/>
                <a:ea typeface="+mn-lt"/>
                <a:cs typeface="+mn-lt"/>
              </a:rPr>
            </a:br>
            <a:r>
              <a:rPr lang="es-ES" b="1" dirty="0">
                <a:latin typeface="Courier New"/>
                <a:ea typeface="+mn-lt"/>
                <a:cs typeface="+mn-lt"/>
              </a:rPr>
              <a:t>  color: #007bff;</a:t>
            </a:r>
            <a:br>
              <a:rPr lang="es-ES" b="1" dirty="0">
                <a:latin typeface="Courier New"/>
                <a:ea typeface="+mn-lt"/>
                <a:cs typeface="+mn-lt"/>
              </a:rPr>
            </a:br>
            <a:r>
              <a:rPr lang="es-ES" b="1" dirty="0">
                <a:latin typeface="Courier New"/>
                <a:ea typeface="+mn-lt"/>
                <a:cs typeface="+mn-lt"/>
              </a:rPr>
              <a:t>}</a:t>
            </a:r>
          </a:p>
          <a:p>
            <a:endParaRPr lang="es-ES" dirty="0"/>
          </a:p>
        </p:txBody>
      </p:sp>
    </p:spTree>
    <p:extLst>
      <p:ext uri="{BB962C8B-B14F-4D97-AF65-F5344CB8AC3E}">
        <p14:creationId xmlns:p14="http://schemas.microsoft.com/office/powerpoint/2010/main" val="3799326269"/>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A063B8-AC77-D9FA-4B2E-98808EAE495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3993229-7031-5BE5-AA9D-A28CD7FCD844}"/>
              </a:ext>
            </a:extLst>
          </p:cNvPr>
          <p:cNvSpPr>
            <a:spLocks noGrp="1"/>
          </p:cNvSpPr>
          <p:nvPr>
            <p:ph type="title"/>
          </p:nvPr>
        </p:nvSpPr>
        <p:spPr/>
        <p:txBody>
          <a:bodyPr/>
          <a:lstStyle/>
          <a:p>
            <a:r>
              <a:rPr lang="es-ES" b="0" dirty="0">
                <a:ea typeface="+mj-lt"/>
                <a:cs typeface="+mj-lt"/>
              </a:rPr>
              <a:t>2.4.4. </a:t>
            </a:r>
            <a:r>
              <a:rPr lang="es-ES" b="0" dirty="0" err="1">
                <a:ea typeface="+mj-lt"/>
                <a:cs typeface="+mj-lt"/>
              </a:rPr>
              <a:t>Pseudo-clases</a:t>
            </a:r>
            <a:r>
              <a:rPr lang="es-ES" b="0" dirty="0">
                <a:ea typeface="+mj-lt"/>
                <a:cs typeface="+mj-lt"/>
              </a:rPr>
              <a:t> y </a:t>
            </a:r>
            <a:r>
              <a:rPr lang="es-ES" b="0" dirty="0" err="1">
                <a:ea typeface="+mj-lt"/>
                <a:cs typeface="+mj-lt"/>
              </a:rPr>
              <a:t>pseudo-elementos</a:t>
            </a:r>
            <a:r>
              <a:rPr lang="es-ES" b="0" dirty="0">
                <a:ea typeface="+mj-lt"/>
                <a:cs typeface="+mj-lt"/>
              </a:rPr>
              <a:t> para efectos de estilo.</a:t>
            </a:r>
            <a:endParaRPr lang="es-ES" dirty="0"/>
          </a:p>
        </p:txBody>
      </p:sp>
      <p:sp>
        <p:nvSpPr>
          <p:cNvPr id="3" name="Marcador de contenido 2">
            <a:extLst>
              <a:ext uri="{FF2B5EF4-FFF2-40B4-BE49-F238E27FC236}">
                <a16:creationId xmlns:a16="http://schemas.microsoft.com/office/drawing/2014/main" id="{A51628D5-6A11-3A3E-9FEA-E198CF0C3EA2}"/>
              </a:ext>
            </a:extLst>
          </p:cNvPr>
          <p:cNvSpPr>
            <a:spLocks noGrp="1"/>
          </p:cNvSpPr>
          <p:nvPr>
            <p:ph idx="1"/>
          </p:nvPr>
        </p:nvSpPr>
        <p:spPr/>
        <p:txBody>
          <a:bodyPr vert="horz" lIns="91440" tIns="45720" rIns="91440" bIns="45720" rtlCol="0" anchor="t">
            <a:normAutofit fontScale="92500" lnSpcReduction="10000"/>
          </a:bodyPr>
          <a:lstStyle/>
          <a:p>
            <a:r>
              <a:rPr lang="es-ES" dirty="0">
                <a:ea typeface="+mn-lt"/>
                <a:cs typeface="+mn-lt"/>
              </a:rPr>
              <a:t>::after :  Crea un elemento virtual después del contenido del elemento seleccionado. También requiere la propiedad </a:t>
            </a:r>
            <a:r>
              <a:rPr lang="es-ES" dirty="0" err="1">
                <a:ea typeface="+mn-lt"/>
                <a:cs typeface="+mn-lt"/>
              </a:rPr>
              <a:t>content</a:t>
            </a:r>
            <a:r>
              <a:rPr lang="es-ES" dirty="0">
                <a:ea typeface="+mn-lt"/>
                <a:cs typeface="+mn-lt"/>
              </a:rPr>
              <a:t>.</a:t>
            </a:r>
          </a:p>
          <a:p>
            <a:pPr marL="0" indent="0">
              <a:buNone/>
            </a:pPr>
            <a:r>
              <a:rPr lang="es-ES" b="1" dirty="0">
                <a:latin typeface="Courier New"/>
                <a:ea typeface="+mn-lt"/>
                <a:cs typeface="+mn-lt"/>
              </a:rPr>
              <a:t>a::after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content</a:t>
            </a:r>
            <a:r>
              <a:rPr lang="es-ES" b="1" dirty="0">
                <a:latin typeface="Courier New"/>
                <a:ea typeface="+mn-lt"/>
                <a:cs typeface="+mn-lt"/>
              </a:rPr>
              <a:t>: ""; /* No muestra contenido, pero sirve como base para el estilo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display</a:t>
            </a:r>
            <a:r>
              <a:rPr lang="es-ES" b="1" dirty="0">
                <a:latin typeface="Courier New"/>
                <a:ea typeface="+mn-lt"/>
                <a:cs typeface="+mn-lt"/>
              </a:rPr>
              <a:t>: block;</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width</a:t>
            </a:r>
            <a:r>
              <a:rPr lang="es-ES" b="1" dirty="0">
                <a:latin typeface="Courier New"/>
                <a:ea typeface="+mn-lt"/>
                <a:cs typeface="+mn-lt"/>
              </a:rPr>
              <a:t>: 0;</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height</a:t>
            </a:r>
            <a:r>
              <a:rPr lang="es-ES" b="1" dirty="0">
                <a:latin typeface="Courier New"/>
                <a:ea typeface="+mn-lt"/>
                <a:cs typeface="+mn-lt"/>
              </a:rPr>
              <a:t>: 2px;</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background</a:t>
            </a:r>
            <a:r>
              <a:rPr lang="es-ES" b="1" dirty="0">
                <a:latin typeface="Courier New"/>
                <a:ea typeface="+mn-lt"/>
                <a:cs typeface="+mn-lt"/>
              </a:rPr>
              <a:t>-color: #007bff;</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transition</a:t>
            </a:r>
            <a:r>
              <a:rPr lang="es-ES" b="1" dirty="0">
                <a:latin typeface="Courier New"/>
                <a:ea typeface="+mn-lt"/>
                <a:cs typeface="+mn-lt"/>
              </a:rPr>
              <a:t>: </a:t>
            </a:r>
            <a:r>
              <a:rPr lang="es-ES" b="1" dirty="0" err="1">
                <a:latin typeface="Courier New"/>
                <a:ea typeface="+mn-lt"/>
                <a:cs typeface="+mn-lt"/>
              </a:rPr>
              <a:t>width</a:t>
            </a:r>
            <a:r>
              <a:rPr lang="es-ES" b="1" dirty="0">
                <a:latin typeface="Courier New"/>
                <a:ea typeface="+mn-lt"/>
                <a:cs typeface="+mn-lt"/>
              </a:rPr>
              <a:t> 0.3s;</a:t>
            </a:r>
            <a:br>
              <a:rPr lang="es-ES" b="1" dirty="0">
                <a:latin typeface="Courier New"/>
                <a:ea typeface="+mn-lt"/>
                <a:cs typeface="+mn-lt"/>
              </a:rPr>
            </a:br>
            <a:r>
              <a:rPr lang="es-ES" b="1" dirty="0">
                <a:latin typeface="Courier New"/>
                <a:ea typeface="+mn-lt"/>
                <a:cs typeface="+mn-lt"/>
              </a:rPr>
              <a:t>}</a:t>
            </a:r>
            <a:br>
              <a:rPr lang="es-ES" b="1" dirty="0">
                <a:latin typeface="Courier New"/>
                <a:ea typeface="+mn-lt"/>
                <a:cs typeface="+mn-lt"/>
              </a:rPr>
            </a:br>
            <a:r>
              <a:rPr lang="es-ES" b="1" dirty="0" err="1">
                <a:latin typeface="Courier New"/>
                <a:ea typeface="+mn-lt"/>
                <a:cs typeface="+mn-lt"/>
              </a:rPr>
              <a:t>a:hover</a:t>
            </a:r>
            <a:r>
              <a:rPr lang="es-ES" b="1" dirty="0">
                <a:latin typeface="Courier New"/>
                <a:ea typeface="+mn-lt"/>
                <a:cs typeface="+mn-lt"/>
              </a:rPr>
              <a:t>::after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width</a:t>
            </a:r>
            <a:r>
              <a:rPr lang="es-ES" b="1" dirty="0">
                <a:latin typeface="Courier New"/>
                <a:ea typeface="+mn-lt"/>
                <a:cs typeface="+mn-lt"/>
              </a:rPr>
              <a:t>: 100%; /* Una línea que aparece al pasar el cursor */</a:t>
            </a:r>
            <a:br>
              <a:rPr lang="es-ES" b="1" dirty="0">
                <a:latin typeface="Courier New"/>
                <a:ea typeface="+mn-lt"/>
                <a:cs typeface="+mn-lt"/>
              </a:rPr>
            </a:br>
            <a:r>
              <a:rPr lang="es-ES" b="1" dirty="0">
                <a:latin typeface="Courier New"/>
                <a:ea typeface="+mn-lt"/>
                <a:cs typeface="+mn-lt"/>
              </a:rPr>
              <a:t>}</a:t>
            </a:r>
          </a:p>
          <a:p>
            <a:endParaRPr lang="es-ES" dirty="0"/>
          </a:p>
        </p:txBody>
      </p:sp>
    </p:spTree>
    <p:extLst>
      <p:ext uri="{BB962C8B-B14F-4D97-AF65-F5344CB8AC3E}">
        <p14:creationId xmlns:p14="http://schemas.microsoft.com/office/powerpoint/2010/main" val="827599845"/>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45AB19-296D-617D-A0A5-F33F3BB1D4A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6A453CB-F158-F029-3831-904D7CFE6454}"/>
              </a:ext>
            </a:extLst>
          </p:cNvPr>
          <p:cNvSpPr>
            <a:spLocks noGrp="1"/>
          </p:cNvSpPr>
          <p:nvPr>
            <p:ph type="title"/>
          </p:nvPr>
        </p:nvSpPr>
        <p:spPr/>
        <p:txBody>
          <a:bodyPr/>
          <a:lstStyle/>
          <a:p>
            <a:r>
              <a:rPr lang="es-ES" b="0" dirty="0">
                <a:ea typeface="+mj-lt"/>
                <a:cs typeface="+mj-lt"/>
              </a:rPr>
              <a:t>2.4.4. </a:t>
            </a:r>
            <a:r>
              <a:rPr lang="es-ES" b="0" dirty="0" err="1">
                <a:ea typeface="+mj-lt"/>
                <a:cs typeface="+mj-lt"/>
              </a:rPr>
              <a:t>Pseudo-clases</a:t>
            </a:r>
            <a:r>
              <a:rPr lang="es-ES" b="0" dirty="0">
                <a:ea typeface="+mj-lt"/>
                <a:cs typeface="+mj-lt"/>
              </a:rPr>
              <a:t> y </a:t>
            </a:r>
            <a:r>
              <a:rPr lang="es-ES" b="0" dirty="0" err="1">
                <a:ea typeface="+mj-lt"/>
                <a:cs typeface="+mj-lt"/>
              </a:rPr>
              <a:t>pseudo-elementos</a:t>
            </a:r>
            <a:r>
              <a:rPr lang="es-ES" b="0" dirty="0">
                <a:ea typeface="+mj-lt"/>
                <a:cs typeface="+mj-lt"/>
              </a:rPr>
              <a:t> para efectos de estilo.</a:t>
            </a:r>
            <a:endParaRPr lang="es-ES" dirty="0"/>
          </a:p>
        </p:txBody>
      </p:sp>
      <p:sp>
        <p:nvSpPr>
          <p:cNvPr id="3" name="Marcador de contenido 2">
            <a:extLst>
              <a:ext uri="{FF2B5EF4-FFF2-40B4-BE49-F238E27FC236}">
                <a16:creationId xmlns:a16="http://schemas.microsoft.com/office/drawing/2014/main" id="{4A5B4375-C56D-A9E8-DD0A-B814F58361B7}"/>
              </a:ext>
            </a:extLst>
          </p:cNvPr>
          <p:cNvSpPr>
            <a:spLocks noGrp="1"/>
          </p:cNvSpPr>
          <p:nvPr>
            <p:ph idx="1"/>
          </p:nvPr>
        </p:nvSpPr>
        <p:spPr/>
        <p:txBody>
          <a:bodyPr vert="horz" lIns="91440" tIns="45720" rIns="91440" bIns="45720" rtlCol="0" anchor="t">
            <a:normAutofit/>
          </a:bodyPr>
          <a:lstStyle/>
          <a:p>
            <a:r>
              <a:rPr lang="es-ES" dirty="0">
                <a:ea typeface="+mn-lt"/>
                <a:cs typeface="+mn-lt"/>
              </a:rPr>
              <a:t>::</a:t>
            </a:r>
            <a:r>
              <a:rPr lang="es-ES" dirty="0" err="1">
                <a:ea typeface="+mn-lt"/>
                <a:cs typeface="+mn-lt"/>
              </a:rPr>
              <a:t>first</a:t>
            </a:r>
            <a:r>
              <a:rPr lang="es-ES" dirty="0">
                <a:ea typeface="+mn-lt"/>
                <a:cs typeface="+mn-lt"/>
              </a:rPr>
              <a:t>-line:  Selecciona y estiliza la primera línea de un bloque de texto.</a:t>
            </a:r>
          </a:p>
          <a:p>
            <a:r>
              <a:rPr lang="es-ES" dirty="0">
                <a:ea typeface="+mn-lt"/>
                <a:cs typeface="+mn-lt"/>
              </a:rPr>
              <a:t>::</a:t>
            </a:r>
            <a:r>
              <a:rPr lang="es-ES" err="1">
                <a:ea typeface="+mn-lt"/>
                <a:cs typeface="+mn-lt"/>
              </a:rPr>
              <a:t>first-letter</a:t>
            </a:r>
            <a:r>
              <a:rPr lang="es-ES" dirty="0">
                <a:ea typeface="+mn-lt"/>
                <a:cs typeface="+mn-lt"/>
              </a:rPr>
              <a:t>:  Selecciona y estiliza la primera letra de un bloque de texto. Es común para efectos de "letra capital".</a:t>
            </a:r>
            <a:endParaRPr lang="es-ES" dirty="0"/>
          </a:p>
          <a:p>
            <a:pPr marL="0" indent="0">
              <a:buNone/>
            </a:pPr>
            <a:r>
              <a:rPr lang="es-ES" b="1" dirty="0">
                <a:latin typeface="Courier New"/>
                <a:ea typeface="+mn-lt"/>
                <a:cs typeface="+mn-lt"/>
              </a:rPr>
              <a:t>p::</a:t>
            </a:r>
            <a:r>
              <a:rPr lang="es-ES" b="1" dirty="0" err="1">
                <a:latin typeface="Courier New"/>
                <a:ea typeface="+mn-lt"/>
                <a:cs typeface="+mn-lt"/>
              </a:rPr>
              <a:t>first-letter</a:t>
            </a: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font-size</a:t>
            </a:r>
            <a:r>
              <a:rPr lang="es-ES" b="1" dirty="0">
                <a:latin typeface="Courier New"/>
                <a:ea typeface="+mn-lt"/>
                <a:cs typeface="+mn-lt"/>
              </a:rPr>
              <a:t>: 2.5rem;</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font-weight</a:t>
            </a:r>
            <a:r>
              <a:rPr lang="es-ES" b="1" dirty="0">
                <a:latin typeface="Courier New"/>
                <a:ea typeface="+mn-lt"/>
                <a:cs typeface="+mn-lt"/>
              </a:rPr>
              <a:t>: </a:t>
            </a:r>
            <a:r>
              <a:rPr lang="es-ES" b="1" dirty="0" err="1">
                <a:latin typeface="Courier New"/>
                <a:ea typeface="+mn-lt"/>
                <a:cs typeface="+mn-lt"/>
              </a:rPr>
              <a:t>bold</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  color: #007bff;</a:t>
            </a:r>
            <a:br>
              <a:rPr lang="es-ES" b="1" dirty="0">
                <a:latin typeface="Courier New"/>
                <a:ea typeface="+mn-lt"/>
                <a:cs typeface="+mn-lt"/>
              </a:rPr>
            </a:br>
            <a:r>
              <a:rPr lang="es-ES" b="1" dirty="0">
                <a:latin typeface="Courier New"/>
                <a:ea typeface="+mn-lt"/>
                <a:cs typeface="+mn-lt"/>
              </a:rPr>
              <a:t>}</a:t>
            </a:r>
          </a:p>
          <a:p>
            <a:endParaRPr lang="es-ES" dirty="0"/>
          </a:p>
        </p:txBody>
      </p:sp>
    </p:spTree>
    <p:extLst>
      <p:ext uri="{BB962C8B-B14F-4D97-AF65-F5344CB8AC3E}">
        <p14:creationId xmlns:p14="http://schemas.microsoft.com/office/powerpoint/2010/main" val="3881578761"/>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B09BF2-5657-8E82-1BCB-9478592A2E5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EB66699-F920-11EC-0D2C-47E93E2C564A}"/>
              </a:ext>
            </a:extLst>
          </p:cNvPr>
          <p:cNvSpPr>
            <a:spLocks noGrp="1"/>
          </p:cNvSpPr>
          <p:nvPr>
            <p:ph type="title"/>
          </p:nvPr>
        </p:nvSpPr>
        <p:spPr/>
        <p:txBody>
          <a:bodyPr/>
          <a:lstStyle/>
          <a:p>
            <a:r>
              <a:rPr lang="es-ES" b="0" dirty="0">
                <a:ea typeface="+mj-lt"/>
                <a:cs typeface="+mj-lt"/>
              </a:rPr>
              <a:t>2.4.5. Preprocesadores de estilos</a:t>
            </a:r>
            <a:endParaRPr lang="es-ES" dirty="0"/>
          </a:p>
        </p:txBody>
      </p:sp>
      <p:sp>
        <p:nvSpPr>
          <p:cNvPr id="3" name="Marcador de contenido 2">
            <a:extLst>
              <a:ext uri="{FF2B5EF4-FFF2-40B4-BE49-F238E27FC236}">
                <a16:creationId xmlns:a16="http://schemas.microsoft.com/office/drawing/2014/main" id="{3A736CB3-10A6-9616-E6B1-40DE0531B1D2}"/>
              </a:ext>
            </a:extLst>
          </p:cNvPr>
          <p:cNvSpPr>
            <a:spLocks noGrp="1"/>
          </p:cNvSpPr>
          <p:nvPr>
            <p:ph idx="1"/>
          </p:nvPr>
        </p:nvSpPr>
        <p:spPr/>
        <p:txBody>
          <a:bodyPr vert="horz" lIns="91440" tIns="45720" rIns="91440" bIns="45720" rtlCol="0" anchor="t">
            <a:normAutofit lnSpcReduction="10000"/>
          </a:bodyPr>
          <a:lstStyle/>
          <a:p>
            <a:r>
              <a:rPr lang="es-ES" dirty="0">
                <a:ea typeface="+mn-lt"/>
                <a:cs typeface="+mn-lt"/>
              </a:rPr>
              <a:t>Los preprocesadores de CSS son herramientas que extienden las capacidades de las hojas de estilo estándar. Permiten usar características que no existen en CSS, como variables, funciones, anidamiento y </a:t>
            </a:r>
            <a:r>
              <a:rPr lang="es-ES" dirty="0" err="1">
                <a:ea typeface="+mn-lt"/>
                <a:cs typeface="+mn-lt"/>
              </a:rPr>
              <a:t>mixins</a:t>
            </a:r>
            <a:r>
              <a:rPr lang="es-ES" dirty="0">
                <a:ea typeface="+mn-lt"/>
                <a:cs typeface="+mn-lt"/>
              </a:rPr>
              <a:t>, y luego compilan ese código en CSS plano que los navegadores pueden entender.</a:t>
            </a:r>
            <a:endParaRPr lang="es-ES" dirty="0"/>
          </a:p>
          <a:p>
            <a:r>
              <a:rPr lang="es-ES" dirty="0">
                <a:ea typeface="+mn-lt"/>
                <a:cs typeface="+mn-lt"/>
              </a:rPr>
              <a:t>El objetivo principal de los preprocesadores es hacer que las hojas de estilo sean más fáciles de mantener, más legibles y más poderosas, especialmente en proyectos grandes y complejos.</a:t>
            </a:r>
            <a:endParaRPr lang="es-ES" dirty="0"/>
          </a:p>
          <a:p>
            <a:r>
              <a:rPr lang="es-ES" dirty="0">
                <a:ea typeface="+mn-lt"/>
                <a:cs typeface="+mn-lt"/>
              </a:rPr>
              <a:t>Variables: Puedes almacenar valores reutilizables (como colores, tamaños de fuente o espaciado) en variables. Si necesitas cambiar un color en todo tu sitio, solo lo actualizas en un único lugar.</a:t>
            </a:r>
            <a:endParaRPr lang="es-ES" dirty="0"/>
          </a:p>
          <a:p>
            <a:r>
              <a:rPr lang="es-ES" b="1" dirty="0">
                <a:latin typeface="Courier New"/>
                <a:ea typeface="+mn-lt"/>
                <a:cs typeface="+mn-lt"/>
              </a:rPr>
              <a:t>$color-principal: #007bff;</a:t>
            </a:r>
            <a:br>
              <a:rPr lang="es-ES" b="1" dirty="0">
                <a:latin typeface="Courier New"/>
                <a:ea typeface="+mn-lt"/>
                <a:cs typeface="+mn-lt"/>
              </a:rPr>
            </a:br>
            <a:r>
              <a:rPr lang="es-ES" b="1" dirty="0">
                <a:latin typeface="Courier New"/>
                <a:ea typeface="+mn-lt"/>
                <a:cs typeface="+mn-lt"/>
              </a:rPr>
              <a:t>.</a:t>
            </a:r>
            <a:r>
              <a:rPr lang="es-ES" b="1" dirty="0" err="1">
                <a:latin typeface="Courier New"/>
                <a:ea typeface="+mn-lt"/>
                <a:cs typeface="+mn-lt"/>
              </a:rPr>
              <a:t>boton</a:t>
            </a: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background</a:t>
            </a:r>
            <a:r>
              <a:rPr lang="es-ES" b="1" dirty="0">
                <a:latin typeface="Courier New"/>
                <a:ea typeface="+mn-lt"/>
                <a:cs typeface="+mn-lt"/>
              </a:rPr>
              <a:t>-color: $color-principal;</a:t>
            </a:r>
            <a:br>
              <a:rPr lang="es-ES" b="1" dirty="0">
                <a:latin typeface="Courier New"/>
                <a:ea typeface="+mn-lt"/>
                <a:cs typeface="+mn-lt"/>
              </a:rPr>
            </a:br>
            <a:r>
              <a:rPr lang="es-ES" b="1" dirty="0">
                <a:latin typeface="Courier New"/>
                <a:ea typeface="+mn-lt"/>
                <a:cs typeface="+mn-lt"/>
              </a:rPr>
              <a:t>}</a:t>
            </a:r>
            <a:endParaRPr lang="es-ES" b="1" dirty="0">
              <a:latin typeface="Courier New"/>
            </a:endParaRPr>
          </a:p>
          <a:p>
            <a:endParaRPr lang="es-ES" dirty="0"/>
          </a:p>
        </p:txBody>
      </p:sp>
    </p:spTree>
    <p:extLst>
      <p:ext uri="{BB962C8B-B14F-4D97-AF65-F5344CB8AC3E}">
        <p14:creationId xmlns:p14="http://schemas.microsoft.com/office/powerpoint/2010/main" val="424559744"/>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85A4E1-3E24-E8E5-E19E-207A910E3C6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F6BF34F-78B0-06CB-DA30-BA65C911816A}"/>
              </a:ext>
            </a:extLst>
          </p:cNvPr>
          <p:cNvSpPr>
            <a:spLocks noGrp="1"/>
          </p:cNvSpPr>
          <p:nvPr>
            <p:ph type="title"/>
          </p:nvPr>
        </p:nvSpPr>
        <p:spPr/>
        <p:txBody>
          <a:bodyPr/>
          <a:lstStyle/>
          <a:p>
            <a:r>
              <a:rPr lang="es-ES" b="0" dirty="0">
                <a:ea typeface="+mj-lt"/>
                <a:cs typeface="+mj-lt"/>
              </a:rPr>
              <a:t>2.4.5. Preprocesadores de estilos</a:t>
            </a:r>
            <a:endParaRPr lang="es-ES" dirty="0"/>
          </a:p>
        </p:txBody>
      </p:sp>
      <p:sp>
        <p:nvSpPr>
          <p:cNvPr id="3" name="Marcador de contenido 2">
            <a:extLst>
              <a:ext uri="{FF2B5EF4-FFF2-40B4-BE49-F238E27FC236}">
                <a16:creationId xmlns:a16="http://schemas.microsoft.com/office/drawing/2014/main" id="{589EF4F2-134D-D7BF-5617-14F59D26F5BB}"/>
              </a:ext>
            </a:extLst>
          </p:cNvPr>
          <p:cNvSpPr>
            <a:spLocks noGrp="1"/>
          </p:cNvSpPr>
          <p:nvPr>
            <p:ph idx="1"/>
          </p:nvPr>
        </p:nvSpPr>
        <p:spPr/>
        <p:txBody>
          <a:bodyPr vert="horz" lIns="91440" tIns="45720" rIns="91440" bIns="45720" rtlCol="0" anchor="t">
            <a:normAutofit fontScale="85000" lnSpcReduction="20000"/>
          </a:bodyPr>
          <a:lstStyle/>
          <a:p>
            <a:r>
              <a:rPr lang="es-ES" dirty="0">
                <a:ea typeface="+mn-lt"/>
                <a:cs typeface="+mn-lt"/>
              </a:rPr>
              <a:t>Anidamiento (</a:t>
            </a:r>
            <a:r>
              <a:rPr lang="es-ES" dirty="0" err="1">
                <a:ea typeface="+mn-lt"/>
                <a:cs typeface="+mn-lt"/>
              </a:rPr>
              <a:t>Nesting</a:t>
            </a:r>
            <a:r>
              <a:rPr lang="es-ES" dirty="0">
                <a:ea typeface="+mn-lt"/>
                <a:cs typeface="+mn-lt"/>
              </a:rPr>
              <a:t>): Te permite anidar selectores de CSS dentro de otros, reflejando la estructura del HTML. Esto hace que tu código sea más organizado y legible.</a:t>
            </a:r>
          </a:p>
          <a:p>
            <a:pPr marL="0" indent="0">
              <a:buNone/>
            </a:pPr>
            <a:r>
              <a:rPr lang="es-ES" b="1" dirty="0">
                <a:latin typeface="Courier New"/>
                <a:ea typeface="+mn-lt"/>
                <a:cs typeface="+mn-lt"/>
              </a:rPr>
              <a:t>.</a:t>
            </a:r>
            <a:r>
              <a:rPr lang="es-ES" b="1" dirty="0" err="1">
                <a:latin typeface="Courier New"/>
                <a:ea typeface="+mn-lt"/>
                <a:cs typeface="+mn-lt"/>
              </a:rPr>
              <a:t>menu</a:t>
            </a: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ul</a:t>
            </a: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list-style</a:t>
            </a:r>
            <a:r>
              <a:rPr lang="es-ES" b="1" dirty="0">
                <a:latin typeface="Courier New"/>
                <a:ea typeface="+mn-lt"/>
                <a:cs typeface="+mn-lt"/>
              </a:rPr>
              <a:t>: </a:t>
            </a:r>
            <a:r>
              <a:rPr lang="es-ES" b="1" dirty="0" err="1">
                <a:latin typeface="Courier New"/>
                <a:ea typeface="+mn-lt"/>
                <a:cs typeface="+mn-lt"/>
              </a:rPr>
              <a:t>none</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li</a:t>
            </a: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a {</a:t>
            </a:r>
            <a:br>
              <a:rPr lang="es-ES" b="1" dirty="0">
                <a:latin typeface="Courier New"/>
                <a:ea typeface="+mn-lt"/>
                <a:cs typeface="+mn-lt"/>
              </a:rPr>
            </a:br>
            <a:r>
              <a:rPr lang="es-ES" b="1" dirty="0">
                <a:latin typeface="Courier New"/>
                <a:ea typeface="+mn-lt"/>
                <a:cs typeface="+mn-lt"/>
              </a:rPr>
              <a:t>        color: </a:t>
            </a:r>
            <a:r>
              <a:rPr lang="es-ES" b="1" dirty="0" err="1">
                <a:latin typeface="Courier New"/>
                <a:ea typeface="+mn-lt"/>
                <a:cs typeface="+mn-lt"/>
              </a:rPr>
              <a:t>black</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        &amp;:</a:t>
            </a:r>
            <a:r>
              <a:rPr lang="es-ES" b="1" dirty="0" err="1">
                <a:latin typeface="Courier New"/>
                <a:ea typeface="+mn-lt"/>
                <a:cs typeface="+mn-lt"/>
              </a:rPr>
              <a:t>hover</a:t>
            </a: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color: red;</a:t>
            </a:r>
            <a:br>
              <a:rPr lang="es-ES" b="1" dirty="0">
                <a:latin typeface="Courier New"/>
                <a:ea typeface="+mn-lt"/>
                <a:cs typeface="+mn-lt"/>
              </a:rPr>
            </a:b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a:t>
            </a:r>
          </a:p>
          <a:p>
            <a:r>
              <a:rPr lang="es-ES" dirty="0">
                <a:ea typeface="+mn-lt"/>
                <a:cs typeface="+mn-lt"/>
              </a:rPr>
              <a:t>El código anterior compila a un CSS con los selectores </a:t>
            </a:r>
            <a:r>
              <a:rPr lang="es-ES" dirty="0" err="1">
                <a:ea typeface="+mn-lt"/>
                <a:cs typeface="+mn-lt"/>
              </a:rPr>
              <a:t>menu</a:t>
            </a:r>
            <a:r>
              <a:rPr lang="es-ES" dirty="0">
                <a:ea typeface="+mn-lt"/>
                <a:cs typeface="+mn-lt"/>
              </a:rPr>
              <a:t> </a:t>
            </a:r>
            <a:r>
              <a:rPr lang="es-ES" dirty="0" err="1">
                <a:ea typeface="+mn-lt"/>
                <a:cs typeface="+mn-lt"/>
              </a:rPr>
              <a:t>ul</a:t>
            </a:r>
            <a:r>
              <a:rPr lang="es-ES" dirty="0">
                <a:ea typeface="+mn-lt"/>
                <a:cs typeface="+mn-lt"/>
              </a:rPr>
              <a:t>, </a:t>
            </a:r>
            <a:r>
              <a:rPr lang="es-ES" dirty="0" err="1">
                <a:ea typeface="+mn-lt"/>
                <a:cs typeface="+mn-lt"/>
              </a:rPr>
              <a:t>menu</a:t>
            </a:r>
            <a:r>
              <a:rPr lang="es-ES" dirty="0">
                <a:ea typeface="+mn-lt"/>
                <a:cs typeface="+mn-lt"/>
              </a:rPr>
              <a:t> </a:t>
            </a:r>
            <a:r>
              <a:rPr lang="es-ES" dirty="0" err="1">
                <a:ea typeface="+mn-lt"/>
                <a:cs typeface="+mn-lt"/>
              </a:rPr>
              <a:t>ul</a:t>
            </a:r>
            <a:r>
              <a:rPr lang="es-ES" dirty="0">
                <a:ea typeface="+mn-lt"/>
                <a:cs typeface="+mn-lt"/>
              </a:rPr>
              <a:t> </a:t>
            </a:r>
            <a:r>
              <a:rPr lang="es-ES" dirty="0" err="1">
                <a:ea typeface="+mn-lt"/>
                <a:cs typeface="+mn-lt"/>
              </a:rPr>
              <a:t>li</a:t>
            </a:r>
            <a:r>
              <a:rPr lang="es-ES" dirty="0">
                <a:ea typeface="+mn-lt"/>
                <a:cs typeface="+mn-lt"/>
              </a:rPr>
              <a:t>, </a:t>
            </a:r>
            <a:r>
              <a:rPr lang="es-ES" dirty="0" err="1">
                <a:ea typeface="+mn-lt"/>
                <a:cs typeface="+mn-lt"/>
              </a:rPr>
              <a:t>menu</a:t>
            </a:r>
            <a:r>
              <a:rPr lang="es-ES" dirty="0">
                <a:ea typeface="+mn-lt"/>
                <a:cs typeface="+mn-lt"/>
              </a:rPr>
              <a:t> </a:t>
            </a:r>
            <a:r>
              <a:rPr lang="es-ES" dirty="0" err="1">
                <a:ea typeface="+mn-lt"/>
                <a:cs typeface="+mn-lt"/>
              </a:rPr>
              <a:t>ul</a:t>
            </a:r>
            <a:r>
              <a:rPr lang="es-ES" dirty="0">
                <a:ea typeface="+mn-lt"/>
                <a:cs typeface="+mn-lt"/>
              </a:rPr>
              <a:t> </a:t>
            </a:r>
            <a:r>
              <a:rPr lang="es-ES" dirty="0" err="1">
                <a:ea typeface="+mn-lt"/>
                <a:cs typeface="+mn-lt"/>
              </a:rPr>
              <a:t>li</a:t>
            </a:r>
            <a:r>
              <a:rPr lang="es-ES" dirty="0">
                <a:ea typeface="+mn-lt"/>
                <a:cs typeface="+mn-lt"/>
              </a:rPr>
              <a:t> a y </a:t>
            </a:r>
            <a:r>
              <a:rPr lang="es-ES" dirty="0" err="1">
                <a:ea typeface="+mn-lt"/>
                <a:cs typeface="+mn-lt"/>
              </a:rPr>
              <a:t>menu</a:t>
            </a:r>
            <a:r>
              <a:rPr lang="es-ES" dirty="0">
                <a:ea typeface="+mn-lt"/>
                <a:cs typeface="+mn-lt"/>
              </a:rPr>
              <a:t> </a:t>
            </a:r>
            <a:r>
              <a:rPr lang="es-ES" dirty="0" err="1">
                <a:ea typeface="+mn-lt"/>
                <a:cs typeface="+mn-lt"/>
              </a:rPr>
              <a:t>ul</a:t>
            </a:r>
            <a:r>
              <a:rPr lang="es-ES" dirty="0">
                <a:ea typeface="+mn-lt"/>
                <a:cs typeface="+mn-lt"/>
              </a:rPr>
              <a:t> </a:t>
            </a:r>
            <a:r>
              <a:rPr lang="es-ES" dirty="0" err="1">
                <a:ea typeface="+mn-lt"/>
                <a:cs typeface="+mn-lt"/>
              </a:rPr>
              <a:t>li</a:t>
            </a:r>
            <a:r>
              <a:rPr lang="es-ES" dirty="0">
                <a:ea typeface="+mn-lt"/>
                <a:cs typeface="+mn-lt"/>
              </a:rPr>
              <a:t> </a:t>
            </a:r>
            <a:r>
              <a:rPr lang="es-ES" dirty="0" err="1">
                <a:ea typeface="+mn-lt"/>
                <a:cs typeface="+mn-lt"/>
              </a:rPr>
              <a:t>a:hover</a:t>
            </a:r>
            <a:r>
              <a:rPr lang="es-ES" dirty="0">
                <a:ea typeface="+mn-lt"/>
                <a:cs typeface="+mn-lt"/>
              </a:rPr>
              <a:t>.</a:t>
            </a:r>
            <a:endParaRPr lang="es-ES" dirty="0"/>
          </a:p>
          <a:p>
            <a:endParaRPr lang="es-ES" dirty="0"/>
          </a:p>
        </p:txBody>
      </p:sp>
    </p:spTree>
    <p:extLst>
      <p:ext uri="{BB962C8B-B14F-4D97-AF65-F5344CB8AC3E}">
        <p14:creationId xmlns:p14="http://schemas.microsoft.com/office/powerpoint/2010/main" val="3704846713"/>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C81606-FE0F-DD96-24DC-674B6B9B81F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01130A9-A54C-BF11-0D92-3F953F91CFB2}"/>
              </a:ext>
            </a:extLst>
          </p:cNvPr>
          <p:cNvSpPr>
            <a:spLocks noGrp="1"/>
          </p:cNvSpPr>
          <p:nvPr>
            <p:ph type="title"/>
          </p:nvPr>
        </p:nvSpPr>
        <p:spPr/>
        <p:txBody>
          <a:bodyPr/>
          <a:lstStyle/>
          <a:p>
            <a:r>
              <a:rPr lang="es-ES" b="0" dirty="0">
                <a:ea typeface="+mj-lt"/>
                <a:cs typeface="+mj-lt"/>
              </a:rPr>
              <a:t>2.4.5. Preprocesadores de estilos</a:t>
            </a:r>
            <a:endParaRPr lang="es-ES" dirty="0"/>
          </a:p>
        </p:txBody>
      </p:sp>
      <p:sp>
        <p:nvSpPr>
          <p:cNvPr id="3" name="Marcador de contenido 2">
            <a:extLst>
              <a:ext uri="{FF2B5EF4-FFF2-40B4-BE49-F238E27FC236}">
                <a16:creationId xmlns:a16="http://schemas.microsoft.com/office/drawing/2014/main" id="{8EF46405-5941-A051-F0A3-613CB265C4DD}"/>
              </a:ext>
            </a:extLst>
          </p:cNvPr>
          <p:cNvSpPr>
            <a:spLocks noGrp="1"/>
          </p:cNvSpPr>
          <p:nvPr>
            <p:ph idx="1"/>
          </p:nvPr>
        </p:nvSpPr>
        <p:spPr/>
        <p:txBody>
          <a:bodyPr vert="horz" lIns="91440" tIns="45720" rIns="91440" bIns="45720" rtlCol="0" anchor="t">
            <a:normAutofit fontScale="85000" lnSpcReduction="10000"/>
          </a:bodyPr>
          <a:lstStyle/>
          <a:p>
            <a:r>
              <a:rPr lang="es-ES" dirty="0" err="1">
                <a:ea typeface="+mn-lt"/>
                <a:cs typeface="+mn-lt"/>
              </a:rPr>
              <a:t>Mixins</a:t>
            </a:r>
            <a:r>
              <a:rPr lang="es-ES" dirty="0">
                <a:ea typeface="+mn-lt"/>
                <a:cs typeface="+mn-lt"/>
              </a:rPr>
              <a:t>: Son bloques de código reutilizable. Con los </a:t>
            </a:r>
            <a:r>
              <a:rPr lang="es-ES" dirty="0" err="1">
                <a:ea typeface="+mn-lt"/>
                <a:cs typeface="+mn-lt"/>
              </a:rPr>
              <a:t>mixins</a:t>
            </a:r>
            <a:r>
              <a:rPr lang="es-ES" dirty="0">
                <a:ea typeface="+mn-lt"/>
                <a:cs typeface="+mn-lt"/>
              </a:rPr>
              <a:t>, puedes definir un conjunto de estilos una sola vez y luego incluirlos en cualquier selector. Son muy útiles para prefijos de navegador o efectos recurrentes.</a:t>
            </a:r>
          </a:p>
          <a:p>
            <a:r>
              <a:rPr lang="es-ES" b="1" dirty="0">
                <a:latin typeface="Courier New"/>
                <a:ea typeface="+mn-lt"/>
                <a:cs typeface="+mn-lt"/>
              </a:rPr>
              <a:t>@mixin </a:t>
            </a:r>
            <a:r>
              <a:rPr lang="es-ES" b="1" dirty="0" err="1">
                <a:latin typeface="Courier New"/>
                <a:ea typeface="+mn-lt"/>
                <a:cs typeface="+mn-lt"/>
              </a:rPr>
              <a:t>boton-basico</a:t>
            </a: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padding</a:t>
            </a:r>
            <a:r>
              <a:rPr lang="es-ES" b="1" dirty="0">
                <a:latin typeface="Courier New"/>
                <a:ea typeface="+mn-lt"/>
                <a:cs typeface="+mn-lt"/>
              </a:rPr>
              <a:t>: 10px 20px;</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border-radius</a:t>
            </a:r>
            <a:r>
              <a:rPr lang="es-ES" b="1" dirty="0">
                <a:latin typeface="Courier New"/>
                <a:ea typeface="+mn-lt"/>
                <a:cs typeface="+mn-lt"/>
              </a:rPr>
              <a:t>: 5px;</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font-weight</a:t>
            </a:r>
            <a:r>
              <a:rPr lang="es-ES" b="1" dirty="0">
                <a:latin typeface="Courier New"/>
                <a:ea typeface="+mn-lt"/>
                <a:cs typeface="+mn-lt"/>
              </a:rPr>
              <a:t>: </a:t>
            </a:r>
            <a:r>
              <a:rPr lang="es-ES" b="1" dirty="0" err="1">
                <a:latin typeface="Courier New"/>
                <a:ea typeface="+mn-lt"/>
                <a:cs typeface="+mn-lt"/>
              </a:rPr>
              <a:t>bold</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a:t>
            </a:r>
            <a:r>
              <a:rPr lang="es-ES" b="1" dirty="0" err="1">
                <a:latin typeface="Courier New"/>
                <a:ea typeface="+mn-lt"/>
                <a:cs typeface="+mn-lt"/>
              </a:rPr>
              <a:t>boton</a:t>
            </a:r>
            <a:r>
              <a:rPr lang="es-ES" b="1" dirty="0">
                <a:latin typeface="Courier New"/>
                <a:ea typeface="+mn-lt"/>
                <a:cs typeface="+mn-lt"/>
              </a:rPr>
              <a:t>-primario {</a:t>
            </a:r>
            <a:br>
              <a:rPr lang="es-ES" b="1" dirty="0">
                <a:latin typeface="Courier New"/>
                <a:ea typeface="+mn-lt"/>
                <a:cs typeface="+mn-lt"/>
              </a:rPr>
            </a:br>
            <a:r>
              <a:rPr lang="es-ES" b="1" dirty="0">
                <a:latin typeface="Courier New"/>
                <a:ea typeface="+mn-lt"/>
                <a:cs typeface="+mn-lt"/>
              </a:rPr>
              <a:t>  @include </a:t>
            </a:r>
            <a:r>
              <a:rPr lang="es-ES" b="1" dirty="0" err="1">
                <a:latin typeface="Courier New"/>
                <a:ea typeface="+mn-lt"/>
                <a:cs typeface="+mn-lt"/>
              </a:rPr>
              <a:t>boton-basico</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background</a:t>
            </a:r>
            <a:r>
              <a:rPr lang="es-ES" b="1" dirty="0">
                <a:latin typeface="Courier New"/>
                <a:ea typeface="+mn-lt"/>
                <a:cs typeface="+mn-lt"/>
              </a:rPr>
              <a:t>-color: blue;</a:t>
            </a:r>
            <a:br>
              <a:rPr lang="es-ES" b="1" dirty="0">
                <a:latin typeface="Courier New"/>
                <a:ea typeface="+mn-lt"/>
                <a:cs typeface="+mn-lt"/>
              </a:rPr>
            </a:br>
            <a:r>
              <a:rPr lang="es-ES" b="1" dirty="0">
                <a:latin typeface="Courier New"/>
                <a:ea typeface="+mn-lt"/>
                <a:cs typeface="+mn-lt"/>
              </a:rPr>
              <a:t>  color: </a:t>
            </a:r>
            <a:r>
              <a:rPr lang="es-ES" b="1" dirty="0" err="1">
                <a:latin typeface="Courier New"/>
                <a:ea typeface="+mn-lt"/>
                <a:cs typeface="+mn-lt"/>
              </a:rPr>
              <a:t>white</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a:t>
            </a:r>
          </a:p>
          <a:p>
            <a:r>
              <a:rPr lang="es-ES" dirty="0">
                <a:ea typeface="+mn-lt"/>
                <a:cs typeface="+mn-lt"/>
              </a:rPr>
              <a:t>Importación de archivos (@import): Permite dividir tus estilos en múltiples archivos pequeños (por ejemplo, _</a:t>
            </a:r>
            <a:r>
              <a:rPr lang="es-ES" dirty="0" err="1">
                <a:ea typeface="+mn-lt"/>
                <a:cs typeface="+mn-lt"/>
              </a:rPr>
              <a:t>variables.scss</a:t>
            </a:r>
            <a:r>
              <a:rPr lang="es-ES" dirty="0">
                <a:ea typeface="+mn-lt"/>
                <a:cs typeface="+mn-lt"/>
              </a:rPr>
              <a:t>, _</a:t>
            </a:r>
            <a:r>
              <a:rPr lang="es-ES" dirty="0" err="1">
                <a:ea typeface="+mn-lt"/>
                <a:cs typeface="+mn-lt"/>
              </a:rPr>
              <a:t>botones.scss</a:t>
            </a:r>
            <a:r>
              <a:rPr lang="es-ES" dirty="0">
                <a:ea typeface="+mn-lt"/>
                <a:cs typeface="+mn-lt"/>
              </a:rPr>
              <a:t>, _</a:t>
            </a:r>
            <a:r>
              <a:rPr lang="es-ES" dirty="0" err="1">
                <a:ea typeface="+mn-lt"/>
                <a:cs typeface="+mn-lt"/>
              </a:rPr>
              <a:t>tipografia.scss</a:t>
            </a:r>
            <a:r>
              <a:rPr lang="es-ES" dirty="0">
                <a:ea typeface="+mn-lt"/>
                <a:cs typeface="+mn-lt"/>
              </a:rPr>
              <a:t>) para una mejor organización. El preprocesador los combinará en un solo archivo CSS final.</a:t>
            </a:r>
          </a:p>
        </p:txBody>
      </p:sp>
    </p:spTree>
    <p:extLst>
      <p:ext uri="{BB962C8B-B14F-4D97-AF65-F5344CB8AC3E}">
        <p14:creationId xmlns:p14="http://schemas.microsoft.com/office/powerpoint/2010/main" val="4016767120"/>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0153AE-94E1-A409-32FB-1F0FB7BCC00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C0A73B8-8DA1-5889-EF0A-44F927028522}"/>
              </a:ext>
            </a:extLst>
          </p:cNvPr>
          <p:cNvSpPr>
            <a:spLocks noGrp="1"/>
          </p:cNvSpPr>
          <p:nvPr>
            <p:ph type="title"/>
          </p:nvPr>
        </p:nvSpPr>
        <p:spPr/>
        <p:txBody>
          <a:bodyPr/>
          <a:lstStyle/>
          <a:p>
            <a:r>
              <a:rPr lang="es-ES" b="0" dirty="0">
                <a:ea typeface="+mj-lt"/>
                <a:cs typeface="+mj-lt"/>
              </a:rPr>
              <a:t>2.4.5. Preprocesadores de estilos</a:t>
            </a:r>
            <a:endParaRPr lang="es-ES" dirty="0"/>
          </a:p>
        </p:txBody>
      </p:sp>
      <p:sp>
        <p:nvSpPr>
          <p:cNvPr id="3" name="Marcador de contenido 2">
            <a:extLst>
              <a:ext uri="{FF2B5EF4-FFF2-40B4-BE49-F238E27FC236}">
                <a16:creationId xmlns:a16="http://schemas.microsoft.com/office/drawing/2014/main" id="{05FB79C4-A7EC-2DF9-BF1F-5C343B61F5BC}"/>
              </a:ext>
            </a:extLst>
          </p:cNvPr>
          <p:cNvSpPr>
            <a:spLocks noGrp="1"/>
          </p:cNvSpPr>
          <p:nvPr>
            <p:ph idx="1"/>
          </p:nvPr>
        </p:nvSpPr>
        <p:spPr/>
        <p:txBody>
          <a:bodyPr vert="horz" lIns="91440" tIns="45720" rIns="91440" bIns="45720" rtlCol="0" anchor="t">
            <a:normAutofit/>
          </a:bodyPr>
          <a:lstStyle/>
          <a:p>
            <a:r>
              <a:rPr lang="es-ES" dirty="0">
                <a:ea typeface="+mn-lt"/>
                <a:cs typeface="+mn-lt"/>
              </a:rPr>
              <a:t>Preprocesadores populares</a:t>
            </a:r>
            <a:endParaRPr lang="es-ES" dirty="0"/>
          </a:p>
          <a:p>
            <a:pPr lvl="1">
              <a:buFont typeface="Courier New" panose="020B0604020202020204" pitchFamily="34" charset="0"/>
              <a:buChar char="o"/>
            </a:pPr>
            <a:r>
              <a:rPr lang="es-ES">
                <a:ea typeface="+mn-lt"/>
                <a:cs typeface="+mn-lt"/>
              </a:rPr>
              <a:t>Sass (SCSS): Es el preprocesador más popular. SCSS (Sassy CSS) utiliza una sintaxis muy similar a la de CSS tradicional, lo que facilita su aprendizaje.</a:t>
            </a:r>
          </a:p>
          <a:p>
            <a:pPr lvl="1">
              <a:buFont typeface="Courier New" panose="020B0604020202020204" pitchFamily="34" charset="0"/>
              <a:buChar char="o"/>
            </a:pPr>
            <a:r>
              <a:rPr lang="es-ES" dirty="0" err="1">
                <a:ea typeface="+mn-lt"/>
                <a:cs typeface="+mn-lt"/>
              </a:rPr>
              <a:t>Less</a:t>
            </a:r>
            <a:r>
              <a:rPr lang="es-ES" dirty="0">
                <a:ea typeface="+mn-lt"/>
                <a:cs typeface="+mn-lt"/>
              </a:rPr>
              <a:t>: Otro preprocesador muy conocido, con una sintaxis y funcionalidades similares a </a:t>
            </a:r>
            <a:r>
              <a:rPr lang="es-ES" dirty="0" err="1">
                <a:ea typeface="+mn-lt"/>
                <a:cs typeface="+mn-lt"/>
              </a:rPr>
              <a:t>Sass</a:t>
            </a:r>
            <a:r>
              <a:rPr lang="es-ES" dirty="0">
                <a:ea typeface="+mn-lt"/>
                <a:cs typeface="+mn-lt"/>
              </a:rPr>
              <a:t>.</a:t>
            </a:r>
          </a:p>
          <a:p>
            <a:pPr lvl="1">
              <a:buFont typeface="Courier New" panose="020B0604020202020204" pitchFamily="34" charset="0"/>
              <a:buChar char="o"/>
            </a:pPr>
            <a:r>
              <a:rPr lang="es-ES" dirty="0" err="1">
                <a:ea typeface="+mn-lt"/>
                <a:cs typeface="+mn-lt"/>
              </a:rPr>
              <a:t>Stylus</a:t>
            </a:r>
            <a:r>
              <a:rPr lang="es-ES" dirty="0">
                <a:ea typeface="+mn-lt"/>
                <a:cs typeface="+mn-lt"/>
              </a:rPr>
              <a:t>: Destaca por su sintaxis más flexible y concisa, que elimina el uso de puntos y comas.</a:t>
            </a:r>
          </a:p>
          <a:p>
            <a:endParaRPr lang="es-ES" dirty="0">
              <a:ea typeface="+mn-lt"/>
              <a:cs typeface="+mn-lt"/>
            </a:endParaRPr>
          </a:p>
        </p:txBody>
      </p:sp>
      <p:graphicFrame>
        <p:nvGraphicFramePr>
          <p:cNvPr id="4" name="Tabla 3">
            <a:extLst>
              <a:ext uri="{FF2B5EF4-FFF2-40B4-BE49-F238E27FC236}">
                <a16:creationId xmlns:a16="http://schemas.microsoft.com/office/drawing/2014/main" id="{98A4C7DC-0C26-CCEF-7306-5DF5E7745C80}"/>
              </a:ext>
            </a:extLst>
          </p:cNvPr>
          <p:cNvGraphicFramePr>
            <a:graphicFrameLocks noGrp="1"/>
          </p:cNvGraphicFramePr>
          <p:nvPr>
            <p:extLst>
              <p:ext uri="{D42A27DB-BD31-4B8C-83A1-F6EECF244321}">
                <p14:modId xmlns:p14="http://schemas.microsoft.com/office/powerpoint/2010/main" val="454004849"/>
              </p:ext>
            </p:extLst>
          </p:nvPr>
        </p:nvGraphicFramePr>
        <p:xfrm>
          <a:off x="884423" y="4425318"/>
          <a:ext cx="10104564" cy="1925320"/>
        </p:xfrm>
        <a:graphic>
          <a:graphicData uri="http://schemas.openxmlformats.org/drawingml/2006/table">
            <a:tbl>
              <a:tblPr firstRow="1" bandRow="1">
                <a:tableStyleId>{5C22544A-7EE6-4342-B048-85BDC9FD1C3A}</a:tableStyleId>
              </a:tblPr>
              <a:tblGrid>
                <a:gridCol w="2526141">
                  <a:extLst>
                    <a:ext uri="{9D8B030D-6E8A-4147-A177-3AD203B41FA5}">
                      <a16:colId xmlns:a16="http://schemas.microsoft.com/office/drawing/2014/main" val="338786262"/>
                    </a:ext>
                  </a:extLst>
                </a:gridCol>
                <a:gridCol w="2526141">
                  <a:extLst>
                    <a:ext uri="{9D8B030D-6E8A-4147-A177-3AD203B41FA5}">
                      <a16:colId xmlns:a16="http://schemas.microsoft.com/office/drawing/2014/main" val="4152246259"/>
                    </a:ext>
                  </a:extLst>
                </a:gridCol>
                <a:gridCol w="2526141">
                  <a:extLst>
                    <a:ext uri="{9D8B030D-6E8A-4147-A177-3AD203B41FA5}">
                      <a16:colId xmlns:a16="http://schemas.microsoft.com/office/drawing/2014/main" val="3990472428"/>
                    </a:ext>
                  </a:extLst>
                </a:gridCol>
                <a:gridCol w="2526141">
                  <a:extLst>
                    <a:ext uri="{9D8B030D-6E8A-4147-A177-3AD203B41FA5}">
                      <a16:colId xmlns:a16="http://schemas.microsoft.com/office/drawing/2014/main" val="4236576073"/>
                    </a:ext>
                  </a:extLst>
                </a:gridCol>
              </a:tblGrid>
              <a:tr h="370840">
                <a:tc>
                  <a:txBody>
                    <a:bodyPr/>
                    <a:lstStyle/>
                    <a:p>
                      <a:pPr lvl="0">
                        <a:buNone/>
                      </a:pPr>
                      <a:r>
                        <a:rPr lang="es-ES" sz="1400" b="0" i="0" u="none" strike="noStrike" noProof="0" dirty="0">
                          <a:latin typeface="Bierstadt"/>
                        </a:rPr>
                        <a:t>Preprocesador</a:t>
                      </a:r>
                      <a:endParaRPr lang="es-ES" sz="1400"/>
                    </a:p>
                  </a:txBody>
                  <a:tcPr/>
                </a:tc>
                <a:tc>
                  <a:txBody>
                    <a:bodyPr/>
                    <a:lstStyle/>
                    <a:p>
                      <a:pPr lvl="0">
                        <a:buNone/>
                      </a:pPr>
                      <a:r>
                        <a:rPr lang="es-ES" sz="1400" b="0" i="0" u="none" strike="noStrike" noProof="0" dirty="0">
                          <a:latin typeface="Bierstadt"/>
                        </a:rPr>
                        <a:t>Ventajas</a:t>
                      </a:r>
                      <a:endParaRPr lang="es-ES" sz="1400"/>
                    </a:p>
                  </a:txBody>
                  <a:tcPr/>
                </a:tc>
                <a:tc>
                  <a:txBody>
                    <a:bodyPr/>
                    <a:lstStyle/>
                    <a:p>
                      <a:pPr lvl="0">
                        <a:buNone/>
                      </a:pPr>
                      <a:r>
                        <a:rPr lang="es-ES" sz="1400" b="0" i="0" u="none" strike="noStrike" noProof="0" dirty="0">
                          <a:latin typeface="Bierstadt"/>
                        </a:rPr>
                        <a:t>Desventajas</a:t>
                      </a:r>
                      <a:endParaRPr lang="es-ES" sz="1400"/>
                    </a:p>
                  </a:txBody>
                  <a:tcPr/>
                </a:tc>
                <a:tc>
                  <a:txBody>
                    <a:bodyPr/>
                    <a:lstStyle/>
                    <a:p>
                      <a:pPr lvl="0">
                        <a:buNone/>
                      </a:pPr>
                      <a:r>
                        <a:rPr lang="es-ES" sz="1400" b="0" i="0" u="none" strike="noStrike" noProof="0" dirty="0">
                          <a:latin typeface="Bierstadt"/>
                        </a:rPr>
                        <a:t>Ideal para</a:t>
                      </a:r>
                      <a:endParaRPr lang="es-ES" sz="1400"/>
                    </a:p>
                  </a:txBody>
                  <a:tcPr/>
                </a:tc>
                <a:extLst>
                  <a:ext uri="{0D108BD9-81ED-4DB2-BD59-A6C34878D82A}">
                    <a16:rowId xmlns:a16="http://schemas.microsoft.com/office/drawing/2014/main" val="107532597"/>
                  </a:ext>
                </a:extLst>
              </a:tr>
              <a:tr h="370840">
                <a:tc>
                  <a:txBody>
                    <a:bodyPr/>
                    <a:lstStyle/>
                    <a:p>
                      <a:pPr lvl="0">
                        <a:buNone/>
                      </a:pPr>
                      <a:r>
                        <a:rPr lang="es-ES" sz="1400" b="0" i="0" u="none" strike="noStrike" noProof="0" err="1">
                          <a:latin typeface="Bierstadt"/>
                        </a:rPr>
                        <a:t>Sass</a:t>
                      </a:r>
                      <a:r>
                        <a:rPr lang="es-ES" sz="1400" b="0" i="0" u="none" strike="noStrike" noProof="0" dirty="0">
                          <a:latin typeface="Bierstadt"/>
                        </a:rPr>
                        <a:t> (SCSS)</a:t>
                      </a:r>
                      <a:endParaRPr lang="es-ES" sz="1400"/>
                    </a:p>
                  </a:txBody>
                  <a:tcPr/>
                </a:tc>
                <a:tc>
                  <a:txBody>
                    <a:bodyPr/>
                    <a:lstStyle/>
                    <a:p>
                      <a:pPr lvl="0">
                        <a:buNone/>
                      </a:pPr>
                      <a:r>
                        <a:rPr lang="es-ES" sz="1400" b="0" i="0" u="none" strike="noStrike" noProof="0" dirty="0">
                          <a:latin typeface="Bierstadt"/>
                        </a:rPr>
                        <a:t>Más popular, potente, gran comunidad</a:t>
                      </a:r>
                      <a:endParaRPr lang="es-ES" sz="1400"/>
                    </a:p>
                  </a:txBody>
                  <a:tcPr/>
                </a:tc>
                <a:tc>
                  <a:txBody>
                    <a:bodyPr/>
                    <a:lstStyle/>
                    <a:p>
                      <a:pPr lvl="0">
                        <a:buNone/>
                      </a:pPr>
                      <a:r>
                        <a:rPr lang="es-ES" sz="1400" b="0" i="0" u="none" strike="noStrike" noProof="0" dirty="0">
                          <a:latin typeface="Bierstadt"/>
                        </a:rPr>
                        <a:t>Curva de aprendizaje un poco más pronunciada</a:t>
                      </a:r>
                      <a:endParaRPr lang="es-ES" sz="1400"/>
                    </a:p>
                  </a:txBody>
                  <a:tcPr/>
                </a:tc>
                <a:tc>
                  <a:txBody>
                    <a:bodyPr/>
                    <a:lstStyle/>
                    <a:p>
                      <a:pPr lvl="0">
                        <a:buNone/>
                      </a:pPr>
                      <a:r>
                        <a:rPr lang="es-ES" sz="1400" b="0" i="0" u="none" strike="noStrike" noProof="0" dirty="0">
                          <a:latin typeface="Bierstadt"/>
                        </a:rPr>
                        <a:t>Proyectos grandes y equipos</a:t>
                      </a:r>
                      <a:endParaRPr lang="es-ES" sz="1400"/>
                    </a:p>
                  </a:txBody>
                  <a:tcPr/>
                </a:tc>
                <a:extLst>
                  <a:ext uri="{0D108BD9-81ED-4DB2-BD59-A6C34878D82A}">
                    <a16:rowId xmlns:a16="http://schemas.microsoft.com/office/drawing/2014/main" val="359582459"/>
                  </a:ext>
                </a:extLst>
              </a:tr>
              <a:tr h="370840">
                <a:tc>
                  <a:txBody>
                    <a:bodyPr/>
                    <a:lstStyle/>
                    <a:p>
                      <a:pPr lvl="0">
                        <a:buNone/>
                      </a:pPr>
                      <a:r>
                        <a:rPr lang="es-ES" sz="1400" b="0" i="0" u="none" strike="noStrike" noProof="0" err="1">
                          <a:latin typeface="Bierstadt"/>
                        </a:rPr>
                        <a:t>Less</a:t>
                      </a:r>
                      <a:endParaRPr lang="es-ES" sz="1400"/>
                    </a:p>
                  </a:txBody>
                  <a:tcPr/>
                </a:tc>
                <a:tc>
                  <a:txBody>
                    <a:bodyPr/>
                    <a:lstStyle/>
                    <a:p>
                      <a:pPr lvl="0">
                        <a:buNone/>
                      </a:pPr>
                      <a:r>
                        <a:rPr lang="es-ES" sz="1400" b="0" i="0" u="none" strike="noStrike" noProof="0" dirty="0">
                          <a:latin typeface="Bierstadt"/>
                        </a:rPr>
                        <a:t>Fácil integración con JS, sintaxis sencilla</a:t>
                      </a:r>
                      <a:endParaRPr lang="es-ES" sz="1400"/>
                    </a:p>
                  </a:txBody>
                  <a:tcPr/>
                </a:tc>
                <a:tc>
                  <a:txBody>
                    <a:bodyPr/>
                    <a:lstStyle/>
                    <a:p>
                      <a:pPr lvl="0">
                        <a:buNone/>
                      </a:pPr>
                      <a:r>
                        <a:rPr lang="es-ES" sz="1400" b="0" i="0" u="none" strike="noStrike" noProof="0" dirty="0">
                          <a:solidFill>
                            <a:srgbClr val="000000"/>
                          </a:solidFill>
                          <a:latin typeface="Bierstadt"/>
                        </a:rPr>
                        <a:t>Menos funcionalidades avanzadas</a:t>
                      </a:r>
                      <a:endParaRPr lang="es-ES" sz="1400"/>
                    </a:p>
                  </a:txBody>
                  <a:tcPr/>
                </a:tc>
                <a:tc>
                  <a:txBody>
                    <a:bodyPr/>
                    <a:lstStyle/>
                    <a:p>
                      <a:pPr lvl="0">
                        <a:buNone/>
                      </a:pPr>
                      <a:r>
                        <a:rPr lang="es-ES" sz="1400" b="0" i="0" u="none" strike="noStrike" noProof="0" dirty="0">
                          <a:latin typeface="Bierstadt"/>
                        </a:rPr>
                        <a:t>Proyectos pequeños o </a:t>
                      </a:r>
                      <a:r>
                        <a:rPr lang="es-ES" sz="1400" b="0" i="0" u="none" strike="noStrike" noProof="0" err="1">
                          <a:latin typeface="Bierstadt"/>
                        </a:rPr>
                        <a:t>legacy</a:t>
                      </a:r>
                      <a:endParaRPr lang="es-ES" sz="1400"/>
                    </a:p>
                  </a:txBody>
                  <a:tcPr/>
                </a:tc>
                <a:extLst>
                  <a:ext uri="{0D108BD9-81ED-4DB2-BD59-A6C34878D82A}">
                    <a16:rowId xmlns:a16="http://schemas.microsoft.com/office/drawing/2014/main" val="438032660"/>
                  </a:ext>
                </a:extLst>
              </a:tr>
              <a:tr h="370839">
                <a:tc>
                  <a:txBody>
                    <a:bodyPr/>
                    <a:lstStyle/>
                    <a:p>
                      <a:pPr lvl="0">
                        <a:buNone/>
                      </a:pPr>
                      <a:r>
                        <a:rPr lang="es-ES" sz="1400" b="0" i="0" u="none" strike="noStrike" noProof="0" err="1">
                          <a:latin typeface="Bierstadt"/>
                        </a:rPr>
                        <a:t>Stylus</a:t>
                      </a:r>
                      <a:endParaRPr lang="es-ES" sz="1400"/>
                    </a:p>
                  </a:txBody>
                  <a:tcPr/>
                </a:tc>
                <a:tc>
                  <a:txBody>
                    <a:bodyPr/>
                    <a:lstStyle/>
                    <a:p>
                      <a:pPr lvl="0">
                        <a:buNone/>
                      </a:pPr>
                      <a:r>
                        <a:rPr lang="es-ES" sz="1400" b="0" i="0" u="none" strike="noStrike" noProof="0" dirty="0">
                          <a:latin typeface="Bierstadt"/>
                        </a:rPr>
                        <a:t>Sintaxis ultra flexible, rápido</a:t>
                      </a:r>
                      <a:endParaRPr lang="es-ES" sz="1400"/>
                    </a:p>
                  </a:txBody>
                  <a:tcPr/>
                </a:tc>
                <a:tc>
                  <a:txBody>
                    <a:bodyPr/>
                    <a:lstStyle/>
                    <a:p>
                      <a:pPr lvl="0">
                        <a:buNone/>
                      </a:pPr>
                      <a:r>
                        <a:rPr lang="es-ES" sz="1400" b="0" i="0" u="none" strike="noStrike" noProof="0" dirty="0">
                          <a:latin typeface="Bierstadt"/>
                        </a:rPr>
                        <a:t>Menor soporte y documentación</a:t>
                      </a:r>
                      <a:endParaRPr lang="es-ES" sz="1400"/>
                    </a:p>
                  </a:txBody>
                  <a:tcPr/>
                </a:tc>
                <a:tc>
                  <a:txBody>
                    <a:bodyPr/>
                    <a:lstStyle/>
                    <a:p>
                      <a:pPr lvl="0">
                        <a:buNone/>
                      </a:pPr>
                      <a:r>
                        <a:rPr lang="es-ES" sz="1400" b="0" i="0" u="none" strike="noStrike" noProof="0" dirty="0">
                          <a:latin typeface="Bierstadt"/>
                        </a:rPr>
                        <a:t>Desarrolladores que valoran minimalismo</a:t>
                      </a:r>
                      <a:endParaRPr lang="es-ES" sz="1400"/>
                    </a:p>
                  </a:txBody>
                  <a:tcPr/>
                </a:tc>
                <a:extLst>
                  <a:ext uri="{0D108BD9-81ED-4DB2-BD59-A6C34878D82A}">
                    <a16:rowId xmlns:a16="http://schemas.microsoft.com/office/drawing/2014/main" val="2075938929"/>
                  </a:ext>
                </a:extLst>
              </a:tr>
            </a:tbl>
          </a:graphicData>
        </a:graphic>
      </p:graphicFrame>
    </p:spTree>
    <p:extLst>
      <p:ext uri="{BB962C8B-B14F-4D97-AF65-F5344CB8AC3E}">
        <p14:creationId xmlns:p14="http://schemas.microsoft.com/office/powerpoint/2010/main" val="1053972195"/>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DDA2B0-5909-871D-F2C9-841BBE946BB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B7FB5AA-70E7-4922-EC79-8A6DDC9E4E39}"/>
              </a:ext>
            </a:extLst>
          </p:cNvPr>
          <p:cNvSpPr>
            <a:spLocks noGrp="1"/>
          </p:cNvSpPr>
          <p:nvPr>
            <p:ph type="title"/>
          </p:nvPr>
        </p:nvSpPr>
        <p:spPr/>
        <p:txBody>
          <a:bodyPr/>
          <a:lstStyle/>
          <a:p>
            <a:r>
              <a:rPr lang="es-ES" b="0" dirty="0">
                <a:ea typeface="+mj-lt"/>
                <a:cs typeface="+mj-lt"/>
              </a:rPr>
              <a:t>2.4.5. Preprocesadores de estilos</a:t>
            </a:r>
            <a:endParaRPr lang="es-ES" dirty="0"/>
          </a:p>
        </p:txBody>
      </p:sp>
      <p:sp>
        <p:nvSpPr>
          <p:cNvPr id="3" name="Marcador de contenido 2">
            <a:extLst>
              <a:ext uri="{FF2B5EF4-FFF2-40B4-BE49-F238E27FC236}">
                <a16:creationId xmlns:a16="http://schemas.microsoft.com/office/drawing/2014/main" id="{2E5A0959-63B8-4259-5AAD-5190BAB65FAC}"/>
              </a:ext>
            </a:extLst>
          </p:cNvPr>
          <p:cNvSpPr>
            <a:spLocks noGrp="1"/>
          </p:cNvSpPr>
          <p:nvPr>
            <p:ph idx="1"/>
          </p:nvPr>
        </p:nvSpPr>
        <p:spPr/>
        <p:txBody>
          <a:bodyPr vert="horz" lIns="91440" tIns="45720" rIns="91440" bIns="45720" rtlCol="0" anchor="t">
            <a:normAutofit fontScale="55000" lnSpcReduction="20000"/>
          </a:bodyPr>
          <a:lstStyle/>
          <a:p>
            <a:r>
              <a:rPr lang="es-ES" dirty="0">
                <a:ea typeface="+mn-lt"/>
                <a:cs typeface="+mn-lt"/>
              </a:rPr>
              <a:t>Ejemplo completo con SCSS que combina varias de las características de </a:t>
            </a:r>
            <a:r>
              <a:rPr lang="es-ES" dirty="0" err="1">
                <a:ea typeface="+mn-lt"/>
                <a:cs typeface="+mn-lt"/>
              </a:rPr>
              <a:t>Sass</a:t>
            </a:r>
            <a:r>
              <a:rPr lang="es-ES" dirty="0">
                <a:ea typeface="+mn-lt"/>
                <a:cs typeface="+mn-lt"/>
              </a:rPr>
              <a:t> para crear un componente de tarjeta.</a:t>
            </a:r>
          </a:p>
          <a:p>
            <a:pPr marL="0" indent="0">
              <a:buNone/>
            </a:pPr>
            <a:r>
              <a:rPr lang="es-ES" b="1" dirty="0">
                <a:latin typeface="Courier New"/>
                <a:ea typeface="+mn-lt"/>
                <a:cs typeface="+mn-lt"/>
              </a:rPr>
              <a:t>// Definición de variables</a:t>
            </a:r>
            <a:br>
              <a:rPr lang="es-ES" b="1" dirty="0">
                <a:latin typeface="Courier New"/>
                <a:ea typeface="+mn-lt"/>
                <a:cs typeface="+mn-lt"/>
              </a:rPr>
            </a:br>
            <a:r>
              <a:rPr lang="es-ES" b="1" dirty="0">
                <a:latin typeface="Courier New"/>
                <a:ea typeface="+mn-lt"/>
                <a:cs typeface="+mn-lt"/>
              </a:rPr>
              <a:t>$color-primario: #3498db;</a:t>
            </a:r>
            <a:br>
              <a:rPr lang="es-ES" b="1" dirty="0">
                <a:latin typeface="Courier New"/>
                <a:ea typeface="+mn-lt"/>
                <a:cs typeface="+mn-lt"/>
              </a:rPr>
            </a:br>
            <a:r>
              <a:rPr lang="es-ES" b="1" dirty="0">
                <a:latin typeface="Courier New"/>
                <a:ea typeface="+mn-lt"/>
                <a:cs typeface="+mn-lt"/>
              </a:rPr>
              <a:t>$color-texto: #333;</a:t>
            </a:r>
            <a:br>
              <a:rPr lang="es-ES" b="1" dirty="0">
                <a:latin typeface="Courier New"/>
                <a:ea typeface="+mn-lt"/>
                <a:cs typeface="+mn-lt"/>
              </a:rPr>
            </a:br>
            <a:r>
              <a:rPr lang="es-ES" b="1" dirty="0">
                <a:latin typeface="Courier New"/>
                <a:ea typeface="+mn-lt"/>
                <a:cs typeface="+mn-lt"/>
              </a:rPr>
              <a:t>$sombra-caja: 0 4px 8px </a:t>
            </a:r>
            <a:r>
              <a:rPr lang="es-ES" b="1" dirty="0" err="1">
                <a:latin typeface="Courier New"/>
                <a:ea typeface="+mn-lt"/>
                <a:cs typeface="+mn-lt"/>
              </a:rPr>
              <a:t>rgba</a:t>
            </a:r>
            <a:r>
              <a:rPr lang="es-ES" b="1" dirty="0">
                <a:latin typeface="Courier New"/>
                <a:ea typeface="+mn-lt"/>
                <a:cs typeface="+mn-lt"/>
              </a:rPr>
              <a:t>(0, 0, 0, 0.1);</a:t>
            </a:r>
            <a:br>
              <a:rPr lang="es-ES" b="1" dirty="0">
                <a:latin typeface="Courier New"/>
                <a:ea typeface="+mn-lt"/>
                <a:cs typeface="+mn-lt"/>
              </a:rPr>
            </a:br>
            <a:r>
              <a:rPr lang="es-ES" b="1" dirty="0">
                <a:latin typeface="Courier New"/>
                <a:ea typeface="+mn-lt"/>
                <a:cs typeface="+mn-lt"/>
              </a:rPr>
              <a:t>.tarjeta-producto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background</a:t>
            </a:r>
            <a:r>
              <a:rPr lang="es-ES" b="1" dirty="0">
                <a:latin typeface="Courier New"/>
                <a:ea typeface="+mn-lt"/>
                <a:cs typeface="+mn-lt"/>
              </a:rPr>
              <a:t>-color: </a:t>
            </a:r>
            <a:r>
              <a:rPr lang="es-ES" b="1" dirty="0" err="1">
                <a:latin typeface="Courier New"/>
                <a:ea typeface="+mn-lt"/>
                <a:cs typeface="+mn-lt"/>
              </a:rPr>
              <a:t>white</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border-radius</a:t>
            </a:r>
            <a:r>
              <a:rPr lang="es-ES" b="1" dirty="0">
                <a:latin typeface="Courier New"/>
                <a:ea typeface="+mn-lt"/>
                <a:cs typeface="+mn-lt"/>
              </a:rPr>
              <a:t>: 8px;</a:t>
            </a:r>
            <a:br>
              <a:rPr lang="es-ES" b="1" dirty="0">
                <a:latin typeface="Courier New"/>
                <a:ea typeface="+mn-lt"/>
                <a:cs typeface="+mn-lt"/>
              </a:rPr>
            </a:br>
            <a:r>
              <a:rPr lang="es-ES" b="1" dirty="0">
                <a:latin typeface="Courier New"/>
                <a:ea typeface="+mn-lt"/>
                <a:cs typeface="+mn-lt"/>
              </a:rPr>
              <a:t>  box-</a:t>
            </a:r>
            <a:r>
              <a:rPr lang="es-ES" b="1" dirty="0" err="1">
                <a:latin typeface="Courier New"/>
                <a:ea typeface="+mn-lt"/>
                <a:cs typeface="+mn-lt"/>
              </a:rPr>
              <a:t>shadow</a:t>
            </a:r>
            <a:r>
              <a:rPr lang="es-ES" b="1" dirty="0">
                <a:latin typeface="Courier New"/>
                <a:ea typeface="+mn-lt"/>
                <a:cs typeface="+mn-lt"/>
              </a:rPr>
              <a:t>: $sombra-caja;</a:t>
            </a:r>
            <a:br>
              <a:rPr lang="en-US" b="1" dirty="0">
                <a:latin typeface="Courier New"/>
              </a:rPr>
            </a:br>
            <a:r>
              <a:rPr lang="es-ES" b="1" dirty="0">
                <a:latin typeface="Courier New"/>
                <a:ea typeface="+mn-lt"/>
                <a:cs typeface="+mn-lt"/>
              </a:rPr>
              <a:t>  </a:t>
            </a:r>
            <a:r>
              <a:rPr lang="es-ES" b="1" dirty="0" err="1">
                <a:latin typeface="Courier New"/>
                <a:ea typeface="+mn-lt"/>
                <a:cs typeface="+mn-lt"/>
              </a:rPr>
              <a:t>padding</a:t>
            </a:r>
            <a:r>
              <a:rPr lang="es-ES" b="1" dirty="0">
                <a:latin typeface="Courier New"/>
                <a:ea typeface="+mn-lt"/>
                <a:cs typeface="+mn-lt"/>
              </a:rPr>
              <a:t>: 20px;</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max-width</a:t>
            </a:r>
            <a:r>
              <a:rPr lang="es-ES" b="1" dirty="0">
                <a:latin typeface="Courier New"/>
                <a:ea typeface="+mn-lt"/>
                <a:cs typeface="+mn-lt"/>
              </a:rPr>
              <a:t>: 300px;</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margin</a:t>
            </a:r>
            <a:r>
              <a:rPr lang="es-ES" b="1" dirty="0">
                <a:latin typeface="Courier New"/>
                <a:ea typeface="+mn-lt"/>
                <a:cs typeface="+mn-lt"/>
              </a:rPr>
              <a:t>: 20px;</a:t>
            </a:r>
            <a:br>
              <a:rPr lang="es-ES" b="1" dirty="0">
                <a:latin typeface="Courier New"/>
                <a:ea typeface="+mn-lt"/>
                <a:cs typeface="+mn-lt"/>
              </a:rPr>
            </a:br>
            <a:r>
              <a:rPr lang="es-ES" b="1" dirty="0">
                <a:latin typeface="Courier New"/>
                <a:ea typeface="+mn-lt"/>
                <a:cs typeface="+mn-lt"/>
              </a:rPr>
              <a:t>  // Anidamiento de selectores</a:t>
            </a:r>
            <a:br>
              <a:rPr lang="es-ES" b="1" dirty="0">
                <a:latin typeface="Courier New"/>
                <a:ea typeface="+mn-lt"/>
                <a:cs typeface="+mn-lt"/>
              </a:rPr>
            </a:br>
            <a:r>
              <a:rPr lang="es-ES" b="1" dirty="0">
                <a:latin typeface="Courier New"/>
                <a:ea typeface="+mn-lt"/>
                <a:cs typeface="+mn-lt"/>
              </a:rPr>
              <a:t>  h3 {</a:t>
            </a:r>
            <a:br>
              <a:rPr lang="en-US" b="1" dirty="0">
                <a:latin typeface="Courier New"/>
              </a:rPr>
            </a:br>
            <a:r>
              <a:rPr lang="es-ES" b="1" dirty="0">
                <a:latin typeface="Courier New"/>
                <a:ea typeface="+mn-lt"/>
                <a:cs typeface="+mn-lt"/>
              </a:rPr>
              <a:t>    color: $color-primario;</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font-size</a:t>
            </a:r>
            <a:r>
              <a:rPr lang="es-ES" b="1" dirty="0">
                <a:latin typeface="Courier New"/>
                <a:ea typeface="+mn-lt"/>
                <a:cs typeface="+mn-lt"/>
              </a:rPr>
              <a:t>: 1.5rem;</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margin</a:t>
            </a:r>
            <a:r>
              <a:rPr lang="es-ES" b="1" dirty="0">
                <a:latin typeface="Courier New"/>
                <a:ea typeface="+mn-lt"/>
                <a:cs typeface="+mn-lt"/>
              </a:rPr>
              <a:t>-bottom: 10px;</a:t>
            </a:r>
            <a:br>
              <a:rPr lang="es-ES" b="1" dirty="0">
                <a:latin typeface="Courier New"/>
                <a:ea typeface="+mn-lt"/>
                <a:cs typeface="+mn-lt"/>
              </a:rPr>
            </a:b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p {</a:t>
            </a:r>
            <a:br>
              <a:rPr lang="es-ES" b="1" dirty="0">
                <a:latin typeface="Courier New"/>
                <a:ea typeface="+mn-lt"/>
                <a:cs typeface="+mn-lt"/>
              </a:rPr>
            </a:br>
            <a:r>
              <a:rPr lang="es-ES" b="1" dirty="0">
                <a:latin typeface="Courier New"/>
                <a:ea typeface="+mn-lt"/>
                <a:cs typeface="+mn-lt"/>
              </a:rPr>
              <a:t>    color: $color-texto;</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font-size</a:t>
            </a:r>
            <a:r>
              <a:rPr lang="es-ES" b="1" dirty="0">
                <a:latin typeface="Courier New"/>
                <a:ea typeface="+mn-lt"/>
                <a:cs typeface="+mn-lt"/>
              </a:rPr>
              <a:t>: 1rem;</a:t>
            </a:r>
            <a:br>
              <a:rPr lang="es-ES" b="1" dirty="0">
                <a:latin typeface="Courier New"/>
                <a:ea typeface="+mn-lt"/>
                <a:cs typeface="+mn-lt"/>
              </a:rPr>
            </a:br>
            <a:r>
              <a:rPr lang="es-ES" b="1" dirty="0">
                <a:latin typeface="Courier New"/>
                <a:ea typeface="+mn-lt"/>
                <a:cs typeface="+mn-lt"/>
              </a:rPr>
              <a:t>    line-</a:t>
            </a:r>
            <a:r>
              <a:rPr lang="es-ES" b="1" dirty="0" err="1">
                <a:latin typeface="Courier New"/>
                <a:ea typeface="+mn-lt"/>
                <a:cs typeface="+mn-lt"/>
              </a:rPr>
              <a:t>height</a:t>
            </a:r>
            <a:r>
              <a:rPr lang="es-ES" b="1" dirty="0">
                <a:latin typeface="Courier New"/>
                <a:ea typeface="+mn-lt"/>
                <a:cs typeface="+mn-lt"/>
              </a:rPr>
              <a:t>: 1.5;</a:t>
            </a:r>
            <a:br>
              <a:rPr lang="es-ES" b="1" dirty="0">
                <a:latin typeface="Courier New"/>
                <a:ea typeface="+mn-lt"/>
                <a:cs typeface="+mn-lt"/>
              </a:rPr>
            </a:b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a:t>
            </a:r>
            <a:endParaRPr lang="es-ES" b="1" dirty="0">
              <a:latin typeface="Courier New"/>
              <a:cs typeface="Courier New"/>
            </a:endParaRPr>
          </a:p>
          <a:p>
            <a:endParaRPr lang="es-ES" dirty="0">
              <a:ea typeface="+mn-lt"/>
              <a:cs typeface="+mn-lt"/>
            </a:endParaRPr>
          </a:p>
        </p:txBody>
      </p:sp>
    </p:spTree>
    <p:extLst>
      <p:ext uri="{BB962C8B-B14F-4D97-AF65-F5344CB8AC3E}">
        <p14:creationId xmlns:p14="http://schemas.microsoft.com/office/powerpoint/2010/main" val="928888340"/>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0CC70D-3E34-1A1F-2DA8-07C6AF55868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46A0ED6-9F42-FBF4-58AB-C2BB94585C8A}"/>
              </a:ext>
            </a:extLst>
          </p:cNvPr>
          <p:cNvSpPr>
            <a:spLocks noGrp="1"/>
          </p:cNvSpPr>
          <p:nvPr>
            <p:ph type="title"/>
          </p:nvPr>
        </p:nvSpPr>
        <p:spPr/>
        <p:txBody>
          <a:bodyPr/>
          <a:lstStyle/>
          <a:p>
            <a:r>
              <a:rPr lang="es-ES" b="0" dirty="0">
                <a:ea typeface="+mj-lt"/>
                <a:cs typeface="+mj-lt"/>
              </a:rPr>
              <a:t>2.4.5. Preprocesadores de estilos</a:t>
            </a:r>
            <a:endParaRPr lang="es-ES" dirty="0"/>
          </a:p>
        </p:txBody>
      </p:sp>
      <p:sp>
        <p:nvSpPr>
          <p:cNvPr id="3" name="Marcador de contenido 2">
            <a:extLst>
              <a:ext uri="{FF2B5EF4-FFF2-40B4-BE49-F238E27FC236}">
                <a16:creationId xmlns:a16="http://schemas.microsoft.com/office/drawing/2014/main" id="{5CDD2BAD-FAF5-3E98-CB34-94305E45E485}"/>
              </a:ext>
            </a:extLst>
          </p:cNvPr>
          <p:cNvSpPr>
            <a:spLocks noGrp="1"/>
          </p:cNvSpPr>
          <p:nvPr>
            <p:ph idx="1"/>
          </p:nvPr>
        </p:nvSpPr>
        <p:spPr/>
        <p:txBody>
          <a:bodyPr vert="horz" lIns="91440" tIns="45720" rIns="91440" bIns="45720" rtlCol="0" anchor="t">
            <a:normAutofit fontScale="70000" lnSpcReduction="20000"/>
          </a:bodyPr>
          <a:lstStyle/>
          <a:p>
            <a:r>
              <a:rPr lang="es-ES" dirty="0">
                <a:ea typeface="+mn-lt"/>
                <a:cs typeface="+mn-lt"/>
              </a:rPr>
              <a:t>Código CSS compilado. La principal diferencia es que el código SCSS es más limpio y organizado, lo que facilita su mantenimiento.</a:t>
            </a:r>
          </a:p>
          <a:p>
            <a:pPr marL="0" indent="0">
              <a:buNone/>
            </a:pPr>
            <a:r>
              <a:rPr lang="es-ES" b="1" dirty="0">
                <a:latin typeface="Courier New"/>
                <a:ea typeface="+mn-lt"/>
                <a:cs typeface="+mn-lt"/>
              </a:rPr>
              <a:t>.tarjeta-producto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background</a:t>
            </a:r>
            <a:r>
              <a:rPr lang="es-ES" b="1" dirty="0">
                <a:latin typeface="Courier New"/>
                <a:ea typeface="+mn-lt"/>
                <a:cs typeface="+mn-lt"/>
              </a:rPr>
              <a:t>-color: </a:t>
            </a:r>
            <a:r>
              <a:rPr lang="es-ES" b="1" dirty="0" err="1">
                <a:latin typeface="Courier New"/>
                <a:ea typeface="+mn-lt"/>
                <a:cs typeface="+mn-lt"/>
              </a:rPr>
              <a:t>white</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border-radius</a:t>
            </a:r>
            <a:r>
              <a:rPr lang="es-ES" b="1" dirty="0">
                <a:latin typeface="Courier New"/>
                <a:ea typeface="+mn-lt"/>
                <a:cs typeface="+mn-lt"/>
              </a:rPr>
              <a:t>: 8px;</a:t>
            </a:r>
            <a:br>
              <a:rPr lang="es-ES" b="1" dirty="0">
                <a:latin typeface="Courier New"/>
                <a:ea typeface="+mn-lt"/>
                <a:cs typeface="+mn-lt"/>
              </a:rPr>
            </a:br>
            <a:r>
              <a:rPr lang="es-ES" b="1" dirty="0">
                <a:latin typeface="Courier New"/>
                <a:ea typeface="+mn-lt"/>
                <a:cs typeface="+mn-lt"/>
              </a:rPr>
              <a:t>  box-</a:t>
            </a:r>
            <a:r>
              <a:rPr lang="es-ES" b="1" dirty="0" err="1">
                <a:latin typeface="Courier New"/>
                <a:ea typeface="+mn-lt"/>
                <a:cs typeface="+mn-lt"/>
              </a:rPr>
              <a:t>shadow</a:t>
            </a:r>
            <a:r>
              <a:rPr lang="es-ES" b="1" dirty="0">
                <a:latin typeface="Courier New"/>
                <a:ea typeface="+mn-lt"/>
                <a:cs typeface="+mn-lt"/>
              </a:rPr>
              <a:t>: 0 4px 8px </a:t>
            </a:r>
            <a:r>
              <a:rPr lang="es-ES" b="1" dirty="0" err="1">
                <a:latin typeface="Courier New"/>
                <a:ea typeface="+mn-lt"/>
                <a:cs typeface="+mn-lt"/>
              </a:rPr>
              <a:t>rgba</a:t>
            </a:r>
            <a:r>
              <a:rPr lang="es-ES" b="1" dirty="0">
                <a:latin typeface="Courier New"/>
                <a:ea typeface="+mn-lt"/>
                <a:cs typeface="+mn-lt"/>
              </a:rPr>
              <a:t>(0, 0, 0, 0.1);</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padding</a:t>
            </a:r>
            <a:r>
              <a:rPr lang="es-ES" b="1" dirty="0">
                <a:latin typeface="Courier New"/>
                <a:ea typeface="+mn-lt"/>
                <a:cs typeface="+mn-lt"/>
              </a:rPr>
              <a:t>: 20px;</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max-width</a:t>
            </a:r>
            <a:r>
              <a:rPr lang="es-ES" b="1" dirty="0">
                <a:latin typeface="Courier New"/>
                <a:ea typeface="+mn-lt"/>
                <a:cs typeface="+mn-lt"/>
              </a:rPr>
              <a:t>: 300px;</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margin</a:t>
            </a:r>
            <a:r>
              <a:rPr lang="es-ES" b="1" dirty="0">
                <a:latin typeface="Courier New"/>
                <a:ea typeface="+mn-lt"/>
                <a:cs typeface="+mn-lt"/>
              </a:rPr>
              <a:t>: 20px;</a:t>
            </a:r>
            <a:br>
              <a:rPr lang="es-ES" b="1" dirty="0">
                <a:latin typeface="Courier New"/>
                <a:ea typeface="+mn-lt"/>
                <a:cs typeface="+mn-lt"/>
              </a:rPr>
            </a:b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.tarjeta-producto h3 {</a:t>
            </a:r>
            <a:br>
              <a:rPr lang="es-ES" b="1" dirty="0">
                <a:latin typeface="Courier New"/>
                <a:ea typeface="+mn-lt"/>
                <a:cs typeface="+mn-lt"/>
              </a:rPr>
            </a:br>
            <a:r>
              <a:rPr lang="es-ES" b="1" dirty="0">
                <a:latin typeface="Courier New"/>
                <a:ea typeface="+mn-lt"/>
                <a:cs typeface="+mn-lt"/>
              </a:rPr>
              <a:t>  color: #3498db;</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font-size</a:t>
            </a:r>
            <a:r>
              <a:rPr lang="es-ES" b="1" dirty="0">
                <a:latin typeface="Courier New"/>
                <a:ea typeface="+mn-lt"/>
                <a:cs typeface="+mn-lt"/>
              </a:rPr>
              <a:t>: 1.5rem;</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margin</a:t>
            </a:r>
            <a:r>
              <a:rPr lang="es-ES" b="1" dirty="0">
                <a:latin typeface="Courier New"/>
                <a:ea typeface="+mn-lt"/>
                <a:cs typeface="+mn-lt"/>
              </a:rPr>
              <a:t>-bottom: 10px;</a:t>
            </a:r>
            <a:br>
              <a:rPr lang="es-ES" b="1" dirty="0">
                <a:latin typeface="Courier New"/>
                <a:ea typeface="+mn-lt"/>
                <a:cs typeface="+mn-lt"/>
              </a:rPr>
            </a:b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.tarjeta-producto p {</a:t>
            </a:r>
            <a:br>
              <a:rPr lang="es-ES" b="1" dirty="0">
                <a:latin typeface="Courier New"/>
                <a:ea typeface="+mn-lt"/>
                <a:cs typeface="+mn-lt"/>
              </a:rPr>
            </a:br>
            <a:r>
              <a:rPr lang="es-ES" b="1" dirty="0">
                <a:latin typeface="Courier New"/>
                <a:ea typeface="+mn-lt"/>
                <a:cs typeface="+mn-lt"/>
              </a:rPr>
              <a:t>  color: #333;</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font-size</a:t>
            </a:r>
            <a:r>
              <a:rPr lang="es-ES" b="1" dirty="0">
                <a:latin typeface="Courier New"/>
                <a:ea typeface="+mn-lt"/>
                <a:cs typeface="+mn-lt"/>
              </a:rPr>
              <a:t>: 1rem;</a:t>
            </a:r>
            <a:br>
              <a:rPr lang="es-ES" b="1" dirty="0">
                <a:latin typeface="Courier New"/>
                <a:ea typeface="+mn-lt"/>
                <a:cs typeface="+mn-lt"/>
              </a:rPr>
            </a:br>
            <a:r>
              <a:rPr lang="es-ES" b="1" dirty="0">
                <a:latin typeface="Courier New"/>
                <a:ea typeface="+mn-lt"/>
                <a:cs typeface="+mn-lt"/>
              </a:rPr>
              <a:t>  line-</a:t>
            </a:r>
            <a:r>
              <a:rPr lang="es-ES" b="1" dirty="0" err="1">
                <a:latin typeface="Courier New"/>
                <a:ea typeface="+mn-lt"/>
                <a:cs typeface="+mn-lt"/>
              </a:rPr>
              <a:t>height</a:t>
            </a:r>
            <a:r>
              <a:rPr lang="es-ES" b="1" dirty="0">
                <a:latin typeface="Courier New"/>
                <a:ea typeface="+mn-lt"/>
                <a:cs typeface="+mn-lt"/>
              </a:rPr>
              <a:t>: 1.5;</a:t>
            </a:r>
            <a:br>
              <a:rPr lang="es-ES" b="1" dirty="0">
                <a:latin typeface="Courier New"/>
                <a:ea typeface="+mn-lt"/>
                <a:cs typeface="+mn-lt"/>
              </a:rPr>
            </a:br>
            <a:r>
              <a:rPr lang="es-ES" b="1" dirty="0">
                <a:latin typeface="Courier New"/>
                <a:ea typeface="+mn-lt"/>
                <a:cs typeface="+mn-lt"/>
              </a:rPr>
              <a:t>}</a:t>
            </a:r>
          </a:p>
          <a:p>
            <a:endParaRPr lang="es-ES" dirty="0">
              <a:ea typeface="+mn-lt"/>
              <a:cs typeface="+mn-lt"/>
            </a:endParaRPr>
          </a:p>
        </p:txBody>
      </p:sp>
    </p:spTree>
    <p:extLst>
      <p:ext uri="{BB962C8B-B14F-4D97-AF65-F5344CB8AC3E}">
        <p14:creationId xmlns:p14="http://schemas.microsoft.com/office/powerpoint/2010/main" val="679840410"/>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CC76C4-00B0-1BF0-9C2B-712889AB033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8082BB4-F00C-0DE1-9558-17AB2ECD0DA5}"/>
              </a:ext>
            </a:extLst>
          </p:cNvPr>
          <p:cNvSpPr>
            <a:spLocks noGrp="1"/>
          </p:cNvSpPr>
          <p:nvPr>
            <p:ph type="title"/>
          </p:nvPr>
        </p:nvSpPr>
        <p:spPr/>
        <p:txBody>
          <a:bodyPr/>
          <a:lstStyle/>
          <a:p>
            <a:r>
              <a:rPr lang="es-ES" b="0" dirty="0">
                <a:ea typeface="+mj-lt"/>
                <a:cs typeface="+mj-lt"/>
              </a:rPr>
              <a:t>2.4.5.1. ¿Qué son los preprocesadores de CSS y por qué usarlos?</a:t>
            </a:r>
            <a:endParaRPr lang="es-ES" dirty="0">
              <a:ea typeface="+mj-lt"/>
              <a:cs typeface="+mj-lt"/>
            </a:endParaRPr>
          </a:p>
        </p:txBody>
      </p:sp>
      <p:sp>
        <p:nvSpPr>
          <p:cNvPr id="3" name="Marcador de contenido 2">
            <a:extLst>
              <a:ext uri="{FF2B5EF4-FFF2-40B4-BE49-F238E27FC236}">
                <a16:creationId xmlns:a16="http://schemas.microsoft.com/office/drawing/2014/main" id="{62ABF7B7-051A-AEA7-63CB-D295B9D0D6EC}"/>
              </a:ext>
            </a:extLst>
          </p:cNvPr>
          <p:cNvSpPr>
            <a:spLocks noGrp="1"/>
          </p:cNvSpPr>
          <p:nvPr>
            <p:ph idx="1"/>
          </p:nvPr>
        </p:nvSpPr>
        <p:spPr/>
        <p:txBody>
          <a:bodyPr vert="horz" lIns="91440" tIns="45720" rIns="91440" bIns="45720" rtlCol="0" anchor="t">
            <a:normAutofit fontScale="62500" lnSpcReduction="20000"/>
          </a:bodyPr>
          <a:lstStyle/>
          <a:p>
            <a:r>
              <a:rPr lang="es-ES" dirty="0">
                <a:ea typeface="+mn-lt"/>
                <a:cs typeface="+mn-lt"/>
              </a:rPr>
              <a:t>Los preprocesadores de CSS son herramientas que extienden las capacidades del lenguaje CSS. En esencia, son como lenguajes de programación que se escriben de una manera similar a CSS, pero con funcionalidades adicionales. El código que escribes en un preprocesador no es directamente interpretado por el navegador. En su lugar, debe ser compilado a CSS plano y estándar.</a:t>
            </a:r>
            <a:endParaRPr lang="es-ES" dirty="0"/>
          </a:p>
          <a:p>
            <a:r>
              <a:rPr lang="es-ES" dirty="0">
                <a:ea typeface="+mn-lt"/>
                <a:cs typeface="+mn-lt"/>
              </a:rPr>
              <a:t>Los más populares son </a:t>
            </a:r>
            <a:r>
              <a:rPr lang="es-ES" err="1">
                <a:ea typeface="+mn-lt"/>
                <a:cs typeface="+mn-lt"/>
              </a:rPr>
              <a:t>Sass</a:t>
            </a:r>
            <a:r>
              <a:rPr lang="es-ES" dirty="0">
                <a:ea typeface="+mn-lt"/>
                <a:cs typeface="+mn-lt"/>
              </a:rPr>
              <a:t> (</a:t>
            </a:r>
            <a:r>
              <a:rPr lang="es-ES" err="1">
                <a:ea typeface="+mn-lt"/>
                <a:cs typeface="+mn-lt"/>
              </a:rPr>
              <a:t>Syntactically</a:t>
            </a:r>
            <a:r>
              <a:rPr lang="es-ES" dirty="0">
                <a:ea typeface="+mn-lt"/>
                <a:cs typeface="+mn-lt"/>
              </a:rPr>
              <a:t> </a:t>
            </a:r>
            <a:r>
              <a:rPr lang="es-ES" err="1">
                <a:ea typeface="+mn-lt"/>
                <a:cs typeface="+mn-lt"/>
              </a:rPr>
              <a:t>Awesome</a:t>
            </a:r>
            <a:r>
              <a:rPr lang="es-ES" dirty="0">
                <a:ea typeface="+mn-lt"/>
                <a:cs typeface="+mn-lt"/>
              </a:rPr>
              <a:t> Style </a:t>
            </a:r>
            <a:r>
              <a:rPr lang="es-ES" err="1">
                <a:ea typeface="+mn-lt"/>
                <a:cs typeface="+mn-lt"/>
              </a:rPr>
              <a:t>Sheets</a:t>
            </a:r>
            <a:r>
              <a:rPr lang="es-ES" dirty="0">
                <a:ea typeface="+mn-lt"/>
                <a:cs typeface="+mn-lt"/>
              </a:rPr>
              <a:t>), </a:t>
            </a:r>
            <a:r>
              <a:rPr lang="es-ES" err="1">
                <a:ea typeface="+mn-lt"/>
                <a:cs typeface="+mn-lt"/>
              </a:rPr>
              <a:t>Less</a:t>
            </a:r>
            <a:r>
              <a:rPr lang="es-ES" dirty="0">
                <a:ea typeface="+mn-lt"/>
                <a:cs typeface="+mn-lt"/>
              </a:rPr>
              <a:t> y </a:t>
            </a:r>
            <a:r>
              <a:rPr lang="es-ES" err="1">
                <a:ea typeface="+mn-lt"/>
                <a:cs typeface="+mn-lt"/>
              </a:rPr>
              <a:t>Stylus</a:t>
            </a:r>
            <a:r>
              <a:rPr lang="es-ES" dirty="0">
                <a:ea typeface="+mn-lt"/>
                <a:cs typeface="+mn-lt"/>
              </a:rPr>
              <a:t>. Aunque cada uno tiene una sintaxis ligeramente diferente, todos comparten el mismo objetivo: hacer que el CSS sea más potente, legible y escalable.</a:t>
            </a:r>
            <a:endParaRPr lang="es-ES" dirty="0"/>
          </a:p>
          <a:p>
            <a:r>
              <a:rPr lang="es-ES" dirty="0">
                <a:ea typeface="+mn-lt"/>
                <a:cs typeface="+mn-lt"/>
              </a:rPr>
              <a:t>Utilizar un preprocesador resuelve muchas de las limitaciones del CSS nativo, que puede volverse repetitivo y difícil de mantener en proyectos grandes. Sus principales ventajas son:</a:t>
            </a:r>
            <a:endParaRPr lang="es-ES" dirty="0"/>
          </a:p>
          <a:p>
            <a:r>
              <a:rPr lang="es-ES" dirty="0">
                <a:ea typeface="+mn-lt"/>
                <a:cs typeface="+mn-lt"/>
              </a:rPr>
              <a:t>Importación de archivos: Permiten dividir tu CSS en múltiples archivos pequeños (por ejemplo, para variables, tipografía, componentes, etc.) y luego importarlos todos en un archivo principal. El preprocesador se encarga de unificarlos en un solo archivo .</a:t>
            </a:r>
            <a:r>
              <a:rPr lang="es-ES" dirty="0" err="1">
                <a:ea typeface="+mn-lt"/>
                <a:cs typeface="+mn-lt"/>
              </a:rPr>
              <a:t>css</a:t>
            </a:r>
            <a:r>
              <a:rPr lang="es-ES" dirty="0">
                <a:ea typeface="+mn-lt"/>
                <a:cs typeface="+mn-lt"/>
              </a:rPr>
              <a:t> al compilar, lo que mejora la organización del proyecto sin afectar el rendimiento.</a:t>
            </a:r>
          </a:p>
          <a:p>
            <a:r>
              <a:rPr lang="es-ES" dirty="0">
                <a:ea typeface="+mn-lt"/>
                <a:cs typeface="+mn-lt"/>
              </a:rPr>
              <a:t>Variables: Permiten almacenar valores que se repiten en tu código, como colores, fuentes o tamaños de espaciado, en una variable. Si necesitas cambiar ese valor, solo lo modificas en un lugar. Esto te ahorra tiempo y garantiza la consistencia en el diseño.</a:t>
            </a:r>
            <a:endParaRPr lang="es-ES"/>
          </a:p>
          <a:p>
            <a:pPr lvl="1">
              <a:buFont typeface="Courier New" panose="020B0604020202020204" pitchFamily="34" charset="0"/>
              <a:buChar char="o"/>
            </a:pPr>
            <a:r>
              <a:rPr lang="es-ES" dirty="0" err="1">
                <a:ea typeface="+mn-lt"/>
                <a:cs typeface="+mn-lt"/>
              </a:rPr>
              <a:t>Sass</a:t>
            </a:r>
            <a:r>
              <a:rPr lang="es-ES" dirty="0">
                <a:ea typeface="+mn-lt"/>
                <a:cs typeface="+mn-lt"/>
              </a:rPr>
              <a:t> (SCSS): Usa el símbolo $ para declarar variables.</a:t>
            </a:r>
            <a:endParaRPr lang="es-ES" dirty="0"/>
          </a:p>
          <a:p>
            <a:pPr marL="0" indent="0">
              <a:buNone/>
            </a:pPr>
            <a:r>
              <a:rPr lang="es-ES" b="1" dirty="0">
                <a:latin typeface="Courier New"/>
                <a:ea typeface="+mn-lt"/>
                <a:cs typeface="+mn-lt"/>
              </a:rPr>
              <a:t>$color-principal: #3498db;</a:t>
            </a:r>
            <a:br>
              <a:rPr lang="es-ES" b="1" dirty="0">
                <a:latin typeface="Courier New"/>
                <a:ea typeface="+mn-lt"/>
                <a:cs typeface="+mn-lt"/>
              </a:rPr>
            </a:br>
            <a:r>
              <a:rPr lang="es-ES" b="1" dirty="0">
                <a:latin typeface="Courier New"/>
                <a:ea typeface="+mn-lt"/>
                <a:cs typeface="+mn-lt"/>
              </a:rPr>
              <a:t>a { color: $color-principal; }</a:t>
            </a:r>
          </a:p>
          <a:p>
            <a:pPr lvl="1">
              <a:buFont typeface="Courier New" panose="020B0604020202020204" pitchFamily="34" charset="0"/>
              <a:buChar char="o"/>
            </a:pPr>
            <a:r>
              <a:rPr lang="es-ES" dirty="0" err="1">
                <a:ea typeface="+mn-lt"/>
                <a:cs typeface="+mn-lt"/>
              </a:rPr>
              <a:t>Less</a:t>
            </a:r>
            <a:r>
              <a:rPr lang="es-ES" dirty="0">
                <a:ea typeface="+mn-lt"/>
                <a:cs typeface="+mn-lt"/>
              </a:rPr>
              <a:t>: Usa el símbolo @ para declarar variables.</a:t>
            </a:r>
          </a:p>
          <a:p>
            <a:pPr marL="0" indent="0">
              <a:buNone/>
            </a:pPr>
            <a:r>
              <a:rPr lang="es-ES" b="1" dirty="0">
                <a:latin typeface="Courier New"/>
                <a:ea typeface="+mn-lt"/>
                <a:cs typeface="+mn-lt"/>
              </a:rPr>
              <a:t>@color-principal: #3498db;</a:t>
            </a:r>
            <a:br>
              <a:rPr lang="es-ES" b="1" dirty="0">
                <a:latin typeface="Courier New"/>
                <a:ea typeface="+mn-lt"/>
                <a:cs typeface="+mn-lt"/>
              </a:rPr>
            </a:br>
            <a:r>
              <a:rPr lang="es-ES" b="1" dirty="0">
                <a:latin typeface="Courier New"/>
                <a:ea typeface="+mn-lt"/>
                <a:cs typeface="+mn-lt"/>
              </a:rPr>
              <a:t>a { color: @color-principal; }</a:t>
            </a:r>
            <a:endParaRPr lang="es-ES" b="1">
              <a:latin typeface="Courier New"/>
              <a:cs typeface="Courier New"/>
            </a:endParaRPr>
          </a:p>
        </p:txBody>
      </p:sp>
    </p:spTree>
    <p:extLst>
      <p:ext uri="{BB962C8B-B14F-4D97-AF65-F5344CB8AC3E}">
        <p14:creationId xmlns:p14="http://schemas.microsoft.com/office/powerpoint/2010/main" val="2101536647"/>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7D79BE-E95E-B166-5A06-FDE1DC08BE8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0B6D339-790E-1121-F4E3-9E6D3BEEAABD}"/>
              </a:ext>
            </a:extLst>
          </p:cNvPr>
          <p:cNvSpPr>
            <a:spLocks noGrp="1"/>
          </p:cNvSpPr>
          <p:nvPr>
            <p:ph type="title"/>
          </p:nvPr>
        </p:nvSpPr>
        <p:spPr/>
        <p:txBody>
          <a:bodyPr/>
          <a:lstStyle/>
          <a:p>
            <a:r>
              <a:rPr lang="es-ES" b="0" dirty="0">
                <a:ea typeface="+mj-lt"/>
                <a:cs typeface="+mj-lt"/>
              </a:rPr>
              <a:t>2.4.5.1. ¿Qué son los preprocesadores de CSS y por qué usarlos?</a:t>
            </a:r>
            <a:endParaRPr lang="es-ES" dirty="0">
              <a:ea typeface="+mj-lt"/>
              <a:cs typeface="+mj-lt"/>
            </a:endParaRPr>
          </a:p>
        </p:txBody>
      </p:sp>
      <p:sp>
        <p:nvSpPr>
          <p:cNvPr id="3" name="Marcador de contenido 2">
            <a:extLst>
              <a:ext uri="{FF2B5EF4-FFF2-40B4-BE49-F238E27FC236}">
                <a16:creationId xmlns:a16="http://schemas.microsoft.com/office/drawing/2014/main" id="{453A5C2D-9685-8D62-46CB-4C4F17BDCA8C}"/>
              </a:ext>
            </a:extLst>
          </p:cNvPr>
          <p:cNvSpPr>
            <a:spLocks noGrp="1"/>
          </p:cNvSpPr>
          <p:nvPr>
            <p:ph idx="1"/>
          </p:nvPr>
        </p:nvSpPr>
        <p:spPr/>
        <p:txBody>
          <a:bodyPr vert="horz" lIns="91440" tIns="45720" rIns="91440" bIns="45720" rtlCol="0" anchor="t">
            <a:normAutofit fontScale="62500" lnSpcReduction="20000"/>
          </a:bodyPr>
          <a:lstStyle/>
          <a:p>
            <a:r>
              <a:rPr lang="es-ES" dirty="0">
                <a:ea typeface="+mn-lt"/>
                <a:cs typeface="+mn-lt"/>
              </a:rPr>
              <a:t>Anidamiento (</a:t>
            </a:r>
            <a:r>
              <a:rPr lang="es-ES" dirty="0" err="1">
                <a:ea typeface="+mn-lt"/>
                <a:cs typeface="+mn-lt"/>
              </a:rPr>
              <a:t>Nesting</a:t>
            </a:r>
            <a:r>
              <a:rPr lang="es-ES" dirty="0">
                <a:ea typeface="+mn-lt"/>
                <a:cs typeface="+mn-lt"/>
              </a:rPr>
              <a:t>): Puedes anidar selectores de CSS dentro de otros, lo que hace que tu código refleje la estructura anidada de tu HTML. Esto mejora enormemente la legibilidad, ya que te ayuda a ver qué selectores están relacionados.</a:t>
            </a:r>
          </a:p>
          <a:p>
            <a:pPr lvl="1">
              <a:buFont typeface="Courier New" panose="020B0604020202020204" pitchFamily="34" charset="0"/>
              <a:buChar char="o"/>
            </a:pPr>
            <a:r>
              <a:rPr lang="es-ES" err="1">
                <a:ea typeface="+mn-lt"/>
                <a:cs typeface="+mn-lt"/>
              </a:rPr>
              <a:t>Sass</a:t>
            </a:r>
            <a:r>
              <a:rPr lang="es-ES" dirty="0">
                <a:ea typeface="+mn-lt"/>
                <a:cs typeface="+mn-lt"/>
              </a:rPr>
              <a:t> (SCSS):</a:t>
            </a:r>
          </a:p>
          <a:p>
            <a:pPr marL="0" indent="0">
              <a:buNone/>
            </a:pPr>
            <a:r>
              <a:rPr lang="es-ES" b="1" err="1">
                <a:latin typeface="Courier New"/>
                <a:ea typeface="+mn-lt"/>
                <a:cs typeface="+mn-lt"/>
              </a:rPr>
              <a:t>nav</a:t>
            </a: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ul</a:t>
            </a: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margin</a:t>
            </a:r>
            <a:r>
              <a:rPr lang="es-ES" b="1" dirty="0">
                <a:latin typeface="Courier New"/>
                <a:ea typeface="+mn-lt"/>
                <a:cs typeface="+mn-lt"/>
              </a:rPr>
              <a:t>: 0;</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li</a:t>
            </a: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float</a:t>
            </a:r>
            <a:r>
              <a:rPr lang="es-ES" b="1" dirty="0">
                <a:latin typeface="Courier New"/>
                <a:ea typeface="+mn-lt"/>
                <a:cs typeface="+mn-lt"/>
              </a:rPr>
              <a:t>: </a:t>
            </a:r>
            <a:r>
              <a:rPr lang="es-ES" b="1" err="1">
                <a:latin typeface="Courier New"/>
                <a:ea typeface="+mn-lt"/>
                <a:cs typeface="+mn-lt"/>
              </a:rPr>
              <a:t>left</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a:t>
            </a:r>
            <a:endParaRPr lang="es-ES" b="1" dirty="0">
              <a:latin typeface="Courier New"/>
              <a:cs typeface="Courier New"/>
            </a:endParaRPr>
          </a:p>
          <a:p>
            <a:pPr lvl="1">
              <a:buFont typeface="Courier New" panose="020B0604020202020204" pitchFamily="34" charset="0"/>
              <a:buChar char="o"/>
            </a:pPr>
            <a:r>
              <a:rPr lang="es-ES" dirty="0" err="1">
                <a:ea typeface="+mn-lt"/>
                <a:cs typeface="+mn-lt"/>
              </a:rPr>
              <a:t>Less</a:t>
            </a:r>
            <a:r>
              <a:rPr lang="es-ES" dirty="0">
                <a:ea typeface="+mn-lt"/>
                <a:cs typeface="+mn-lt"/>
              </a:rPr>
              <a:t>:</a:t>
            </a:r>
          </a:p>
          <a:p>
            <a:pPr marL="0" indent="0">
              <a:buNone/>
            </a:pPr>
            <a:r>
              <a:rPr lang="es-ES" b="1" dirty="0" err="1">
                <a:latin typeface="Courier New"/>
                <a:ea typeface="+mn-lt"/>
                <a:cs typeface="+mn-lt"/>
              </a:rPr>
              <a:t>nav</a:t>
            </a: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ul</a:t>
            </a: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margin</a:t>
            </a:r>
            <a:r>
              <a:rPr lang="es-ES" b="1" dirty="0">
                <a:latin typeface="Courier New"/>
                <a:ea typeface="+mn-lt"/>
                <a:cs typeface="+mn-lt"/>
              </a:rPr>
              <a:t>: 0;</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li</a:t>
            </a: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float</a:t>
            </a:r>
            <a:r>
              <a:rPr lang="es-ES" b="1" dirty="0">
                <a:latin typeface="Courier New"/>
                <a:ea typeface="+mn-lt"/>
                <a:cs typeface="+mn-lt"/>
              </a:rPr>
              <a:t>: </a:t>
            </a:r>
            <a:r>
              <a:rPr lang="es-ES" b="1" dirty="0" err="1">
                <a:latin typeface="Courier New"/>
                <a:ea typeface="+mn-lt"/>
                <a:cs typeface="+mn-lt"/>
              </a:rPr>
              <a:t>left</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a:t>
            </a:r>
          </a:p>
        </p:txBody>
      </p:sp>
    </p:spTree>
    <p:extLst>
      <p:ext uri="{BB962C8B-B14F-4D97-AF65-F5344CB8AC3E}">
        <p14:creationId xmlns:p14="http://schemas.microsoft.com/office/powerpoint/2010/main" val="3186282615"/>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120CC3-D05F-E971-2A76-D29B1CA2170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D9AE3F4-B5F3-144B-2838-96108BA566E7}"/>
              </a:ext>
            </a:extLst>
          </p:cNvPr>
          <p:cNvSpPr>
            <a:spLocks noGrp="1"/>
          </p:cNvSpPr>
          <p:nvPr>
            <p:ph type="title"/>
          </p:nvPr>
        </p:nvSpPr>
        <p:spPr/>
        <p:txBody>
          <a:bodyPr/>
          <a:lstStyle/>
          <a:p>
            <a:r>
              <a:rPr lang="es-ES" b="0" dirty="0">
                <a:ea typeface="+mj-lt"/>
                <a:cs typeface="+mj-lt"/>
              </a:rPr>
              <a:t>2.4.5.1. ¿Qué son los preprocesadores de CSS y por qué usarlos?</a:t>
            </a:r>
            <a:endParaRPr lang="es-ES" dirty="0">
              <a:ea typeface="+mj-lt"/>
              <a:cs typeface="+mj-lt"/>
            </a:endParaRPr>
          </a:p>
        </p:txBody>
      </p:sp>
      <p:sp>
        <p:nvSpPr>
          <p:cNvPr id="3" name="Marcador de contenido 2">
            <a:extLst>
              <a:ext uri="{FF2B5EF4-FFF2-40B4-BE49-F238E27FC236}">
                <a16:creationId xmlns:a16="http://schemas.microsoft.com/office/drawing/2014/main" id="{FC25358F-7FCB-2C7A-DAE3-93F4A4761970}"/>
              </a:ext>
            </a:extLst>
          </p:cNvPr>
          <p:cNvSpPr>
            <a:spLocks noGrp="1"/>
          </p:cNvSpPr>
          <p:nvPr>
            <p:ph idx="1"/>
          </p:nvPr>
        </p:nvSpPr>
        <p:spPr/>
        <p:txBody>
          <a:bodyPr vert="horz" lIns="91440" tIns="45720" rIns="91440" bIns="45720" rtlCol="0" anchor="t">
            <a:normAutofit fontScale="55000" lnSpcReduction="20000"/>
          </a:bodyPr>
          <a:lstStyle/>
          <a:p>
            <a:r>
              <a:rPr lang="es-ES" dirty="0" err="1">
                <a:ea typeface="+mn-lt"/>
                <a:cs typeface="+mn-lt"/>
              </a:rPr>
              <a:t>Mixins</a:t>
            </a:r>
            <a:r>
              <a:rPr lang="es-ES" dirty="0">
                <a:ea typeface="+mn-lt"/>
                <a:cs typeface="+mn-lt"/>
              </a:rPr>
              <a:t>: Los </a:t>
            </a:r>
            <a:r>
              <a:rPr lang="es-ES" dirty="0" err="1">
                <a:ea typeface="+mn-lt"/>
                <a:cs typeface="+mn-lt"/>
              </a:rPr>
              <a:t>mixins</a:t>
            </a:r>
            <a:r>
              <a:rPr lang="es-ES" dirty="0">
                <a:ea typeface="+mn-lt"/>
                <a:cs typeface="+mn-lt"/>
              </a:rPr>
              <a:t> son bloques de código reutilizables. Permiten definir un conjunto de propiedades de CSS una sola vez y luego incluirlas en cualquier selector con una simple línea. Son perfectos para estilos que se usan en múltiples lugares, como los prefijos de navegador para propiedades experimentales.</a:t>
            </a:r>
          </a:p>
          <a:p>
            <a:pPr lvl="1">
              <a:buFont typeface="Courier New" panose="020B0604020202020204" pitchFamily="34" charset="0"/>
              <a:buChar char="o"/>
            </a:pPr>
            <a:r>
              <a:rPr lang="es-ES" dirty="0" err="1">
                <a:ea typeface="+mn-lt"/>
                <a:cs typeface="+mn-lt"/>
              </a:rPr>
              <a:t>Sass</a:t>
            </a:r>
            <a:r>
              <a:rPr lang="es-ES" dirty="0">
                <a:ea typeface="+mn-lt"/>
                <a:cs typeface="+mn-lt"/>
              </a:rPr>
              <a:t> (SCSS): Se usa @mixin para definir y @include para usar.</a:t>
            </a:r>
            <a:endParaRPr lang="es-ES"/>
          </a:p>
          <a:p>
            <a:pPr marL="0" indent="0">
              <a:buNone/>
            </a:pPr>
            <a:r>
              <a:rPr lang="es-ES" b="1" dirty="0">
                <a:latin typeface="Courier New"/>
                <a:ea typeface="+mn-lt"/>
                <a:cs typeface="+mn-lt"/>
              </a:rPr>
              <a:t>@mixin </a:t>
            </a:r>
            <a:r>
              <a:rPr lang="es-ES" b="1" dirty="0" err="1">
                <a:latin typeface="Courier New"/>
                <a:ea typeface="+mn-lt"/>
                <a:cs typeface="+mn-lt"/>
              </a:rPr>
              <a:t>boton</a:t>
            </a:r>
            <a:r>
              <a:rPr lang="es-ES" b="1" dirty="0">
                <a:latin typeface="Courier New"/>
                <a:ea typeface="+mn-lt"/>
                <a:cs typeface="+mn-lt"/>
              </a:rPr>
              <a:t>-flexible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display</a:t>
            </a:r>
            <a:r>
              <a:rPr lang="es-ES" b="1" dirty="0">
                <a:latin typeface="Courier New"/>
                <a:ea typeface="+mn-lt"/>
                <a:cs typeface="+mn-lt"/>
              </a:rPr>
              <a:t>: </a:t>
            </a:r>
            <a:r>
              <a:rPr lang="es-ES" b="1" dirty="0" err="1">
                <a:latin typeface="Courier New"/>
                <a:ea typeface="+mn-lt"/>
                <a:cs typeface="+mn-lt"/>
              </a:rPr>
              <a:t>flex</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justify-content</a:t>
            </a:r>
            <a:r>
              <a:rPr lang="es-ES" b="1" dirty="0">
                <a:latin typeface="Courier New"/>
                <a:ea typeface="+mn-lt"/>
                <a:cs typeface="+mn-lt"/>
              </a:rPr>
              <a:t>: center;</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align-items</a:t>
            </a:r>
            <a:r>
              <a:rPr lang="es-ES" b="1" dirty="0">
                <a:latin typeface="Courier New"/>
                <a:ea typeface="+mn-lt"/>
                <a:cs typeface="+mn-lt"/>
              </a:rPr>
              <a:t>: center;</a:t>
            </a:r>
            <a:br>
              <a:rPr lang="es-ES" b="1" dirty="0">
                <a:latin typeface="Courier New"/>
                <a:ea typeface="+mn-lt"/>
                <a:cs typeface="+mn-lt"/>
              </a:rPr>
            </a:b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.mi-</a:t>
            </a:r>
            <a:r>
              <a:rPr lang="es-ES" b="1" dirty="0" err="1">
                <a:latin typeface="Courier New"/>
                <a:ea typeface="+mn-lt"/>
                <a:cs typeface="+mn-lt"/>
              </a:rPr>
              <a:t>boton</a:t>
            </a: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@include </a:t>
            </a:r>
            <a:r>
              <a:rPr lang="es-ES" b="1" dirty="0" err="1">
                <a:latin typeface="Courier New"/>
                <a:ea typeface="+mn-lt"/>
                <a:cs typeface="+mn-lt"/>
              </a:rPr>
              <a:t>boton</a:t>
            </a:r>
            <a:r>
              <a:rPr lang="es-ES" b="1" dirty="0">
                <a:latin typeface="Courier New"/>
                <a:ea typeface="+mn-lt"/>
                <a:cs typeface="+mn-lt"/>
              </a:rPr>
              <a:t>-flexible;</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padding</a:t>
            </a:r>
            <a:r>
              <a:rPr lang="es-ES" b="1" dirty="0">
                <a:latin typeface="Courier New"/>
                <a:ea typeface="+mn-lt"/>
                <a:cs typeface="+mn-lt"/>
              </a:rPr>
              <a:t>: 10px;</a:t>
            </a:r>
            <a:br>
              <a:rPr lang="es-ES" b="1" dirty="0">
                <a:latin typeface="Courier New"/>
                <a:ea typeface="+mn-lt"/>
                <a:cs typeface="+mn-lt"/>
              </a:rPr>
            </a:br>
            <a:r>
              <a:rPr lang="es-ES" b="1" dirty="0">
                <a:latin typeface="Courier New"/>
                <a:ea typeface="+mn-lt"/>
                <a:cs typeface="+mn-lt"/>
              </a:rPr>
              <a:t>}</a:t>
            </a:r>
          </a:p>
          <a:p>
            <a:pPr lvl="1">
              <a:buFont typeface="Courier New" panose="020B0604020202020204" pitchFamily="34" charset="0"/>
              <a:buChar char="o"/>
            </a:pPr>
            <a:r>
              <a:rPr lang="es-ES" dirty="0" err="1">
                <a:ea typeface="+mn-lt"/>
                <a:cs typeface="+mn-lt"/>
              </a:rPr>
              <a:t>Less</a:t>
            </a:r>
            <a:r>
              <a:rPr lang="es-ES" dirty="0">
                <a:ea typeface="+mn-lt"/>
                <a:cs typeface="+mn-lt"/>
              </a:rPr>
              <a:t>: Se usa el nombre del </a:t>
            </a:r>
            <a:r>
              <a:rPr lang="es-ES" dirty="0" err="1">
                <a:ea typeface="+mn-lt"/>
                <a:cs typeface="+mn-lt"/>
              </a:rPr>
              <a:t>mixin</a:t>
            </a:r>
            <a:r>
              <a:rPr lang="es-ES" dirty="0">
                <a:ea typeface="+mn-lt"/>
                <a:cs typeface="+mn-lt"/>
              </a:rPr>
              <a:t> (.mi-</a:t>
            </a:r>
            <a:r>
              <a:rPr lang="es-ES" dirty="0" err="1">
                <a:ea typeface="+mn-lt"/>
                <a:cs typeface="+mn-lt"/>
              </a:rPr>
              <a:t>mixin</a:t>
            </a:r>
            <a:r>
              <a:rPr lang="es-ES" dirty="0">
                <a:ea typeface="+mn-lt"/>
                <a:cs typeface="+mn-lt"/>
              </a:rPr>
              <a:t>) para definirlo y para usarlo.</a:t>
            </a:r>
            <a:endParaRPr lang="es-ES" dirty="0"/>
          </a:p>
          <a:p>
            <a:pPr marL="0" indent="0">
              <a:buNone/>
            </a:pPr>
            <a:r>
              <a:rPr lang="es-ES" b="1" dirty="0">
                <a:latin typeface="Courier New"/>
                <a:ea typeface="+mn-lt"/>
                <a:cs typeface="+mn-lt"/>
              </a:rPr>
              <a:t>.</a:t>
            </a:r>
            <a:r>
              <a:rPr lang="es-ES" b="1" dirty="0" err="1">
                <a:latin typeface="Courier New"/>
                <a:ea typeface="+mn-lt"/>
                <a:cs typeface="+mn-lt"/>
              </a:rPr>
              <a:t>boton</a:t>
            </a:r>
            <a:r>
              <a:rPr lang="es-ES" b="1" dirty="0">
                <a:latin typeface="Courier New"/>
                <a:ea typeface="+mn-lt"/>
                <a:cs typeface="+mn-lt"/>
              </a:rPr>
              <a:t>-flexible()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display</a:t>
            </a:r>
            <a:r>
              <a:rPr lang="es-ES" b="1" dirty="0">
                <a:latin typeface="Courier New"/>
                <a:ea typeface="+mn-lt"/>
                <a:cs typeface="+mn-lt"/>
              </a:rPr>
              <a:t>: </a:t>
            </a:r>
            <a:r>
              <a:rPr lang="es-ES" b="1" dirty="0" err="1">
                <a:latin typeface="Courier New"/>
                <a:ea typeface="+mn-lt"/>
                <a:cs typeface="+mn-lt"/>
              </a:rPr>
              <a:t>flex</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justify-content</a:t>
            </a:r>
            <a:r>
              <a:rPr lang="es-ES" b="1" dirty="0">
                <a:latin typeface="Courier New"/>
                <a:ea typeface="+mn-lt"/>
                <a:cs typeface="+mn-lt"/>
              </a:rPr>
              <a:t>: center;</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align-items</a:t>
            </a:r>
            <a:r>
              <a:rPr lang="es-ES" b="1" dirty="0">
                <a:latin typeface="Courier New"/>
                <a:ea typeface="+mn-lt"/>
                <a:cs typeface="+mn-lt"/>
              </a:rPr>
              <a:t>: center;</a:t>
            </a:r>
            <a:br>
              <a:rPr lang="es-ES" b="1" dirty="0">
                <a:latin typeface="Courier New"/>
                <a:ea typeface="+mn-lt"/>
                <a:cs typeface="+mn-lt"/>
              </a:rPr>
            </a:b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.mi-</a:t>
            </a:r>
            <a:r>
              <a:rPr lang="es-ES" b="1" dirty="0" err="1">
                <a:latin typeface="Courier New"/>
                <a:ea typeface="+mn-lt"/>
                <a:cs typeface="+mn-lt"/>
              </a:rPr>
              <a:t>boton</a:t>
            </a: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boton</a:t>
            </a:r>
            <a:r>
              <a:rPr lang="es-ES" b="1" dirty="0">
                <a:latin typeface="Courier New"/>
                <a:ea typeface="+mn-lt"/>
                <a:cs typeface="+mn-lt"/>
              </a:rPr>
              <a:t>-flexible();</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padding</a:t>
            </a:r>
            <a:r>
              <a:rPr lang="es-ES" b="1" dirty="0">
                <a:latin typeface="Courier New"/>
                <a:ea typeface="+mn-lt"/>
                <a:cs typeface="+mn-lt"/>
              </a:rPr>
              <a:t>: 10px;</a:t>
            </a:r>
            <a:br>
              <a:rPr lang="es-ES" b="1" dirty="0">
                <a:latin typeface="Courier New"/>
                <a:ea typeface="+mn-lt"/>
                <a:cs typeface="+mn-lt"/>
              </a:rPr>
            </a:br>
            <a:r>
              <a:rPr lang="es-ES" b="1" dirty="0">
                <a:latin typeface="Courier New"/>
                <a:ea typeface="+mn-lt"/>
                <a:cs typeface="+mn-lt"/>
              </a:rPr>
              <a:t>}</a:t>
            </a:r>
          </a:p>
        </p:txBody>
      </p:sp>
    </p:spTree>
    <p:extLst>
      <p:ext uri="{BB962C8B-B14F-4D97-AF65-F5344CB8AC3E}">
        <p14:creationId xmlns:p14="http://schemas.microsoft.com/office/powerpoint/2010/main" val="2416472653"/>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5B0B04-38BB-FF42-5314-E3CB78BC148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AFC92C6-0CA9-76FD-96EB-788FDAA9B151}"/>
              </a:ext>
            </a:extLst>
          </p:cNvPr>
          <p:cNvSpPr>
            <a:spLocks noGrp="1"/>
          </p:cNvSpPr>
          <p:nvPr>
            <p:ph type="title"/>
          </p:nvPr>
        </p:nvSpPr>
        <p:spPr/>
        <p:txBody>
          <a:bodyPr/>
          <a:lstStyle/>
          <a:p>
            <a:r>
              <a:rPr lang="es-ES" b="0" dirty="0">
                <a:ea typeface="+mj-lt"/>
                <a:cs typeface="+mj-lt"/>
              </a:rPr>
              <a:t>2.4.5.2. Variables, </a:t>
            </a:r>
            <a:r>
              <a:rPr lang="es-ES" b="0" dirty="0" err="1">
                <a:ea typeface="+mj-lt"/>
                <a:cs typeface="+mj-lt"/>
              </a:rPr>
              <a:t>mixins</a:t>
            </a:r>
            <a:r>
              <a:rPr lang="es-ES" b="0" dirty="0">
                <a:ea typeface="+mj-lt"/>
                <a:cs typeface="+mj-lt"/>
              </a:rPr>
              <a:t> y funciones.</a:t>
            </a:r>
            <a:endParaRPr lang="es-ES" dirty="0"/>
          </a:p>
        </p:txBody>
      </p:sp>
      <p:sp>
        <p:nvSpPr>
          <p:cNvPr id="3" name="Marcador de contenido 2">
            <a:extLst>
              <a:ext uri="{FF2B5EF4-FFF2-40B4-BE49-F238E27FC236}">
                <a16:creationId xmlns:a16="http://schemas.microsoft.com/office/drawing/2014/main" id="{F0EEDE50-39C7-5D4D-0186-20B5923B9453}"/>
              </a:ext>
            </a:extLst>
          </p:cNvPr>
          <p:cNvSpPr>
            <a:spLocks noGrp="1"/>
          </p:cNvSpPr>
          <p:nvPr>
            <p:ph idx="1"/>
          </p:nvPr>
        </p:nvSpPr>
        <p:spPr/>
        <p:txBody>
          <a:bodyPr vert="horz" lIns="91440" tIns="45720" rIns="91440" bIns="45720" rtlCol="0" anchor="t">
            <a:normAutofit fontScale="85000" lnSpcReduction="20000"/>
          </a:bodyPr>
          <a:lstStyle/>
          <a:p>
            <a:r>
              <a:rPr lang="es-ES" dirty="0">
                <a:ea typeface="+mn-lt"/>
                <a:cs typeface="+mn-lt"/>
              </a:rPr>
              <a:t>El CSS moderno ha evolucionado para incorporar muchas de las funcionalidades que antes solo estaban disponibles en preprocesadores. Esto hace que sea más fácil escribir código DRY (</a:t>
            </a:r>
            <a:r>
              <a:rPr lang="es-ES" dirty="0" err="1">
                <a:ea typeface="+mn-lt"/>
                <a:cs typeface="+mn-lt"/>
              </a:rPr>
              <a:t>Don't</a:t>
            </a:r>
            <a:r>
              <a:rPr lang="es-ES" dirty="0">
                <a:ea typeface="+mn-lt"/>
                <a:cs typeface="+mn-lt"/>
              </a:rPr>
              <a:t> </a:t>
            </a:r>
            <a:r>
              <a:rPr lang="es-ES" dirty="0" err="1">
                <a:ea typeface="+mn-lt"/>
                <a:cs typeface="+mn-lt"/>
              </a:rPr>
              <a:t>Repeat</a:t>
            </a:r>
            <a:r>
              <a:rPr lang="es-ES" dirty="0">
                <a:ea typeface="+mn-lt"/>
                <a:cs typeface="+mn-lt"/>
              </a:rPr>
              <a:t> </a:t>
            </a:r>
            <a:r>
              <a:rPr lang="es-ES" dirty="0" err="1">
                <a:ea typeface="+mn-lt"/>
                <a:cs typeface="+mn-lt"/>
              </a:rPr>
              <a:t>Yourself</a:t>
            </a:r>
            <a:r>
              <a:rPr lang="es-ES" dirty="0">
                <a:ea typeface="+mn-lt"/>
                <a:cs typeface="+mn-lt"/>
              </a:rPr>
              <a:t>) y crear diseños dinámicos sin necesidad de herramientas externas.</a:t>
            </a:r>
            <a:endParaRPr lang="es-ES" dirty="0"/>
          </a:p>
          <a:p>
            <a:r>
              <a:rPr lang="es-ES" dirty="0">
                <a:ea typeface="+mn-lt"/>
                <a:cs typeface="+mn-lt"/>
              </a:rPr>
              <a:t>Variables (Propiedades Personalizadas): En CSS nativo, las variables se llaman Propiedades Personalizadas (</a:t>
            </a:r>
            <a:r>
              <a:rPr lang="es-ES" dirty="0" err="1">
                <a:ea typeface="+mn-lt"/>
                <a:cs typeface="+mn-lt"/>
              </a:rPr>
              <a:t>Custom</a:t>
            </a:r>
            <a:r>
              <a:rPr lang="es-ES" dirty="0">
                <a:ea typeface="+mn-lt"/>
                <a:cs typeface="+mn-lt"/>
              </a:rPr>
              <a:t> </a:t>
            </a:r>
            <a:r>
              <a:rPr lang="es-ES" dirty="0" err="1">
                <a:ea typeface="+mn-lt"/>
                <a:cs typeface="+mn-lt"/>
              </a:rPr>
              <a:t>Properties</a:t>
            </a:r>
            <a:r>
              <a:rPr lang="es-ES" dirty="0">
                <a:ea typeface="+mn-lt"/>
                <a:cs typeface="+mn-lt"/>
              </a:rPr>
              <a:t>). Se definen con un doble guion (--) y se usan con la función </a:t>
            </a:r>
            <a:r>
              <a:rPr lang="es-ES" dirty="0" err="1">
                <a:ea typeface="+mn-lt"/>
                <a:cs typeface="+mn-lt"/>
              </a:rPr>
              <a:t>var</a:t>
            </a:r>
            <a:r>
              <a:rPr lang="es-ES" dirty="0">
                <a:ea typeface="+mn-lt"/>
                <a:cs typeface="+mn-lt"/>
              </a:rPr>
              <a:t>(). A diferencia de las variables de los preprocesadores, las propiedades personalizadas son dinámicas y pueden ser modificadas en tiempo de ejecución por JavaScript.</a:t>
            </a:r>
            <a:endParaRPr lang="es-ES" dirty="0"/>
          </a:p>
          <a:p>
            <a:r>
              <a:rPr lang="es-ES" dirty="0">
                <a:ea typeface="+mn-lt"/>
                <a:cs typeface="+mn-lt"/>
              </a:rPr>
              <a:t>Sintaxis: Las variables se suelen declarar dentro de </a:t>
            </a:r>
            <a:r>
              <a:rPr lang="es-ES" b="1" dirty="0">
                <a:latin typeface="Courier New"/>
                <a:ea typeface="+mn-lt"/>
                <a:cs typeface="Courier New"/>
              </a:rPr>
              <a:t>:</a:t>
            </a:r>
            <a:r>
              <a:rPr lang="es-ES" b="1" dirty="0" err="1">
                <a:latin typeface="Courier New"/>
                <a:ea typeface="+mn-lt"/>
                <a:cs typeface="Courier New"/>
              </a:rPr>
              <a:t>root</a:t>
            </a:r>
            <a:r>
              <a:rPr lang="es-ES" dirty="0">
                <a:ea typeface="+mn-lt"/>
                <a:cs typeface="+mn-lt"/>
              </a:rPr>
              <a:t> para que estén disponibles globalmente en toda la página.</a:t>
            </a:r>
            <a:endParaRPr lang="es-ES" dirty="0"/>
          </a:p>
          <a:p>
            <a:pPr marL="0" indent="0">
              <a:buNone/>
            </a:pPr>
            <a:r>
              <a:rPr lang="es-ES" b="1" dirty="0">
                <a:latin typeface="Courier New"/>
                <a:ea typeface="+mn-lt"/>
                <a:cs typeface="+mn-lt"/>
              </a:rPr>
              <a:t>:</a:t>
            </a:r>
            <a:r>
              <a:rPr lang="es-ES" b="1" dirty="0" err="1">
                <a:latin typeface="Courier New"/>
                <a:ea typeface="+mn-lt"/>
                <a:cs typeface="+mn-lt"/>
              </a:rPr>
              <a:t>root</a:t>
            </a: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--color-primario: #007bff;</a:t>
            </a:r>
            <a:br>
              <a:rPr lang="es-ES" b="1" dirty="0">
                <a:latin typeface="Courier New"/>
                <a:ea typeface="+mn-lt"/>
                <a:cs typeface="+mn-lt"/>
              </a:rPr>
            </a:br>
            <a:r>
              <a:rPr lang="es-ES" b="1" dirty="0">
                <a:latin typeface="Courier New"/>
                <a:ea typeface="+mn-lt"/>
                <a:cs typeface="+mn-lt"/>
              </a:rPr>
              <a:t>  --ancho-base: 10px;</a:t>
            </a:r>
            <a:br>
              <a:rPr lang="es-ES" b="1" dirty="0">
                <a:latin typeface="Courier New"/>
                <a:ea typeface="+mn-lt"/>
                <a:cs typeface="+mn-lt"/>
              </a:rPr>
            </a:b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a:t>
            </a:r>
            <a:r>
              <a:rPr lang="es-ES" b="1" dirty="0" err="1">
                <a:latin typeface="Courier New"/>
                <a:ea typeface="+mn-lt"/>
                <a:cs typeface="+mn-lt"/>
              </a:rPr>
              <a:t>boton</a:t>
            </a: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background</a:t>
            </a:r>
            <a:r>
              <a:rPr lang="es-ES" b="1" dirty="0">
                <a:latin typeface="Courier New"/>
                <a:ea typeface="+mn-lt"/>
                <a:cs typeface="+mn-lt"/>
              </a:rPr>
              <a:t>-color: </a:t>
            </a:r>
            <a:r>
              <a:rPr lang="es-ES" b="1" dirty="0" err="1">
                <a:latin typeface="Courier New"/>
                <a:ea typeface="+mn-lt"/>
                <a:cs typeface="+mn-lt"/>
              </a:rPr>
              <a:t>var</a:t>
            </a:r>
            <a:r>
              <a:rPr lang="es-ES" b="1" dirty="0">
                <a:latin typeface="Courier New"/>
                <a:ea typeface="+mn-lt"/>
                <a:cs typeface="+mn-lt"/>
              </a:rPr>
              <a:t>(--color-primario); /* Uso de la variable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padding</a:t>
            </a:r>
            <a:r>
              <a:rPr lang="es-ES" b="1" dirty="0">
                <a:latin typeface="Courier New"/>
                <a:ea typeface="+mn-lt"/>
                <a:cs typeface="+mn-lt"/>
              </a:rPr>
              <a:t>: </a:t>
            </a:r>
            <a:r>
              <a:rPr lang="es-ES" b="1" dirty="0" err="1">
                <a:latin typeface="Courier New"/>
                <a:ea typeface="+mn-lt"/>
                <a:cs typeface="+mn-lt"/>
              </a:rPr>
              <a:t>calc</a:t>
            </a:r>
            <a:r>
              <a:rPr lang="es-ES" b="1" dirty="0">
                <a:latin typeface="Courier New"/>
                <a:ea typeface="+mn-lt"/>
                <a:cs typeface="+mn-lt"/>
              </a:rPr>
              <a:t>(</a:t>
            </a:r>
            <a:r>
              <a:rPr lang="es-ES" b="1" dirty="0" err="1">
                <a:latin typeface="Courier New"/>
                <a:ea typeface="+mn-lt"/>
                <a:cs typeface="+mn-lt"/>
              </a:rPr>
              <a:t>var</a:t>
            </a:r>
            <a:r>
              <a:rPr lang="es-ES" b="1" dirty="0">
                <a:latin typeface="Courier New"/>
                <a:ea typeface="+mn-lt"/>
                <a:cs typeface="+mn-lt"/>
              </a:rPr>
              <a:t>(--ancho-base) * 2); /* Uso en una función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border-radius</a:t>
            </a:r>
            <a:r>
              <a:rPr lang="es-ES" b="1" dirty="0">
                <a:latin typeface="Courier New"/>
                <a:ea typeface="+mn-lt"/>
                <a:cs typeface="+mn-lt"/>
              </a:rPr>
              <a:t>: </a:t>
            </a:r>
            <a:r>
              <a:rPr lang="es-ES" b="1" dirty="0" err="1">
                <a:latin typeface="Courier New"/>
                <a:ea typeface="+mn-lt"/>
                <a:cs typeface="+mn-lt"/>
              </a:rPr>
              <a:t>var</a:t>
            </a:r>
            <a:r>
              <a:rPr lang="es-ES" b="1" dirty="0">
                <a:latin typeface="Courier New"/>
                <a:ea typeface="+mn-lt"/>
                <a:cs typeface="+mn-lt"/>
              </a:rPr>
              <a:t>(--ancho-base);</a:t>
            </a:r>
            <a:br>
              <a:rPr lang="es-ES" b="1" dirty="0">
                <a:latin typeface="Courier New"/>
                <a:ea typeface="+mn-lt"/>
                <a:cs typeface="+mn-lt"/>
              </a:rPr>
            </a:br>
            <a:r>
              <a:rPr lang="es-ES" b="1" dirty="0">
                <a:latin typeface="Courier New"/>
                <a:ea typeface="+mn-lt"/>
                <a:cs typeface="+mn-lt"/>
              </a:rPr>
              <a:t>}</a:t>
            </a:r>
            <a:endParaRPr lang="es-ES" b="1" dirty="0">
              <a:latin typeface="Courier New"/>
              <a:cs typeface="Courier New"/>
            </a:endParaRPr>
          </a:p>
          <a:p>
            <a:pPr marL="0" indent="0">
              <a:buNone/>
            </a:pPr>
            <a:endParaRPr lang="es-ES" b="1" dirty="0">
              <a:latin typeface="Courier New"/>
              <a:cs typeface="Courier New"/>
            </a:endParaRPr>
          </a:p>
        </p:txBody>
      </p:sp>
    </p:spTree>
    <p:extLst>
      <p:ext uri="{BB962C8B-B14F-4D97-AF65-F5344CB8AC3E}">
        <p14:creationId xmlns:p14="http://schemas.microsoft.com/office/powerpoint/2010/main" val="1121057166"/>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FAEF9C-9594-8DEA-A757-210D6651575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DAC239C-B85E-BE43-055E-1FA87F838ADC}"/>
              </a:ext>
            </a:extLst>
          </p:cNvPr>
          <p:cNvSpPr>
            <a:spLocks noGrp="1"/>
          </p:cNvSpPr>
          <p:nvPr>
            <p:ph type="title"/>
          </p:nvPr>
        </p:nvSpPr>
        <p:spPr/>
        <p:txBody>
          <a:bodyPr/>
          <a:lstStyle/>
          <a:p>
            <a:r>
              <a:rPr lang="es-ES" b="0" dirty="0">
                <a:ea typeface="+mj-lt"/>
                <a:cs typeface="+mj-lt"/>
              </a:rPr>
              <a:t>2.4.5.2. Variables, </a:t>
            </a:r>
            <a:r>
              <a:rPr lang="es-ES" b="0" dirty="0" err="1">
                <a:ea typeface="+mj-lt"/>
                <a:cs typeface="+mj-lt"/>
              </a:rPr>
              <a:t>mixins</a:t>
            </a:r>
            <a:r>
              <a:rPr lang="es-ES" b="0" dirty="0">
                <a:ea typeface="+mj-lt"/>
                <a:cs typeface="+mj-lt"/>
              </a:rPr>
              <a:t> y funciones.</a:t>
            </a:r>
            <a:endParaRPr lang="es-ES" dirty="0"/>
          </a:p>
        </p:txBody>
      </p:sp>
      <p:sp>
        <p:nvSpPr>
          <p:cNvPr id="3" name="Marcador de contenido 2">
            <a:extLst>
              <a:ext uri="{FF2B5EF4-FFF2-40B4-BE49-F238E27FC236}">
                <a16:creationId xmlns:a16="http://schemas.microsoft.com/office/drawing/2014/main" id="{D01E8D61-ED8D-E9B8-1902-265E7E350B42}"/>
              </a:ext>
            </a:extLst>
          </p:cNvPr>
          <p:cNvSpPr>
            <a:spLocks noGrp="1"/>
          </p:cNvSpPr>
          <p:nvPr>
            <p:ph idx="1"/>
          </p:nvPr>
        </p:nvSpPr>
        <p:spPr/>
        <p:txBody>
          <a:bodyPr vert="horz" lIns="91440" tIns="45720" rIns="91440" bIns="45720" rtlCol="0" anchor="t">
            <a:normAutofit lnSpcReduction="10000"/>
          </a:bodyPr>
          <a:lstStyle/>
          <a:p>
            <a:r>
              <a:rPr lang="es-ES" dirty="0">
                <a:ea typeface="+mn-lt"/>
                <a:cs typeface="+mn-lt"/>
              </a:rPr>
              <a:t>Funciones: El CSS nativo no tiene las mismas funciones de manipulación de colores que un preprocesador (como </a:t>
            </a:r>
            <a:r>
              <a:rPr lang="es-ES" dirty="0" err="1">
                <a:ea typeface="+mn-lt"/>
                <a:cs typeface="+mn-lt"/>
              </a:rPr>
              <a:t>darken</a:t>
            </a:r>
            <a:r>
              <a:rPr lang="es-ES" dirty="0">
                <a:ea typeface="+mn-lt"/>
                <a:cs typeface="+mn-lt"/>
              </a:rPr>
              <a:t>()), pero sí ofrece funciones matemáticas y de color que son muy poderosas.</a:t>
            </a:r>
          </a:p>
          <a:p>
            <a:pPr lvl="1">
              <a:buFont typeface="Courier New" panose="020B0604020202020204" pitchFamily="34" charset="0"/>
              <a:buChar char="o"/>
            </a:pPr>
            <a:r>
              <a:rPr lang="es-ES" dirty="0">
                <a:ea typeface="+mn-lt"/>
                <a:cs typeface="+mn-lt"/>
              </a:rPr>
              <a:t>Función </a:t>
            </a:r>
            <a:r>
              <a:rPr lang="es-ES" dirty="0" err="1">
                <a:ea typeface="+mn-lt"/>
                <a:cs typeface="+mn-lt"/>
              </a:rPr>
              <a:t>calc</a:t>
            </a:r>
            <a:r>
              <a:rPr lang="es-ES" dirty="0">
                <a:ea typeface="+mn-lt"/>
                <a:cs typeface="+mn-lt"/>
              </a:rPr>
              <a:t>(): Permite realizar cálculos matemáticos para definir valores de CSS, como longitudes, porcentajes o unidades de medida. Es extremadamente útil para crear </a:t>
            </a:r>
            <a:r>
              <a:rPr lang="es-ES" dirty="0" err="1">
                <a:ea typeface="+mn-lt"/>
                <a:cs typeface="+mn-lt"/>
              </a:rPr>
              <a:t>layouts</a:t>
            </a:r>
            <a:r>
              <a:rPr lang="es-ES" dirty="0">
                <a:ea typeface="+mn-lt"/>
                <a:cs typeface="+mn-lt"/>
              </a:rPr>
              <a:t> flexibles.</a:t>
            </a:r>
          </a:p>
          <a:p>
            <a:pPr marL="0" indent="0">
              <a:buNone/>
            </a:pPr>
            <a:r>
              <a:rPr lang="es-ES" b="1" dirty="0">
                <a:latin typeface="Courier New"/>
                <a:ea typeface="+mn-lt"/>
                <a:cs typeface="+mn-lt"/>
              </a:rPr>
              <a:t>.contenedor-flexible {</a:t>
            </a:r>
            <a:br>
              <a:rPr lang="es-ES" b="1" dirty="0">
                <a:latin typeface="Courier New"/>
                <a:ea typeface="+mn-lt"/>
                <a:cs typeface="+mn-lt"/>
              </a:rPr>
            </a:br>
            <a:r>
              <a:rPr lang="es-ES" b="1" dirty="0">
                <a:latin typeface="Courier New"/>
                <a:ea typeface="+mn-lt"/>
                <a:cs typeface="+mn-lt"/>
              </a:rPr>
              <a:t>  /* El ancho es el 100% menos 40px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width</a:t>
            </a:r>
            <a:r>
              <a:rPr lang="es-ES" b="1" dirty="0">
                <a:latin typeface="Courier New"/>
                <a:ea typeface="+mn-lt"/>
                <a:cs typeface="+mn-lt"/>
              </a:rPr>
              <a:t>: </a:t>
            </a:r>
            <a:r>
              <a:rPr lang="es-ES" b="1" dirty="0" err="1">
                <a:latin typeface="Courier New"/>
                <a:ea typeface="+mn-lt"/>
                <a:cs typeface="+mn-lt"/>
              </a:rPr>
              <a:t>calc</a:t>
            </a:r>
            <a:r>
              <a:rPr lang="es-ES" b="1" dirty="0">
                <a:latin typeface="Courier New"/>
                <a:ea typeface="+mn-lt"/>
                <a:cs typeface="+mn-lt"/>
              </a:rPr>
              <a:t>(100% - 40px);</a:t>
            </a:r>
            <a:br>
              <a:rPr lang="es-ES" b="1" dirty="0">
                <a:latin typeface="Courier New"/>
                <a:ea typeface="+mn-lt"/>
                <a:cs typeface="+mn-lt"/>
              </a:rPr>
            </a:b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.fuente-</a:t>
            </a:r>
            <a:r>
              <a:rPr lang="es-ES" b="1" dirty="0" err="1">
                <a:latin typeface="Courier New"/>
                <a:ea typeface="+mn-lt"/>
                <a:cs typeface="+mn-lt"/>
              </a:rPr>
              <a:t>dinamica</a:t>
            </a: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 El tamaño de fuente es el 1.5rem más 2vw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font-size</a:t>
            </a:r>
            <a:r>
              <a:rPr lang="es-ES" b="1" dirty="0">
                <a:latin typeface="Courier New"/>
                <a:ea typeface="+mn-lt"/>
                <a:cs typeface="+mn-lt"/>
              </a:rPr>
              <a:t>: </a:t>
            </a:r>
            <a:r>
              <a:rPr lang="es-ES" b="1" dirty="0" err="1">
                <a:latin typeface="Courier New"/>
                <a:ea typeface="+mn-lt"/>
                <a:cs typeface="+mn-lt"/>
              </a:rPr>
              <a:t>calc</a:t>
            </a:r>
            <a:r>
              <a:rPr lang="es-ES" b="1" dirty="0">
                <a:latin typeface="Courier New"/>
                <a:ea typeface="+mn-lt"/>
                <a:cs typeface="+mn-lt"/>
              </a:rPr>
              <a:t>(1.5rem + 2vw);</a:t>
            </a:r>
            <a:br>
              <a:rPr lang="es-ES" b="1" dirty="0">
                <a:latin typeface="Courier New"/>
                <a:ea typeface="+mn-lt"/>
                <a:cs typeface="+mn-lt"/>
              </a:rPr>
            </a:br>
            <a:r>
              <a:rPr lang="es-ES" b="1" dirty="0">
                <a:latin typeface="Courier New"/>
                <a:ea typeface="+mn-lt"/>
                <a:cs typeface="+mn-lt"/>
              </a:rPr>
              <a:t>}</a:t>
            </a:r>
            <a:endParaRPr lang="es-ES" b="1" dirty="0">
              <a:latin typeface="Courier New"/>
              <a:cs typeface="Courier New"/>
            </a:endParaRPr>
          </a:p>
        </p:txBody>
      </p:sp>
    </p:spTree>
    <p:extLst>
      <p:ext uri="{BB962C8B-B14F-4D97-AF65-F5344CB8AC3E}">
        <p14:creationId xmlns:p14="http://schemas.microsoft.com/office/powerpoint/2010/main" val="1573627170"/>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9BB0A5-0348-43BE-A26F-4DE03D118E7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16BF200-5480-8E3C-7AF0-D68147C14026}"/>
              </a:ext>
            </a:extLst>
          </p:cNvPr>
          <p:cNvSpPr>
            <a:spLocks noGrp="1"/>
          </p:cNvSpPr>
          <p:nvPr>
            <p:ph type="title"/>
          </p:nvPr>
        </p:nvSpPr>
        <p:spPr/>
        <p:txBody>
          <a:bodyPr/>
          <a:lstStyle/>
          <a:p>
            <a:r>
              <a:rPr lang="es-ES" b="0" dirty="0">
                <a:ea typeface="+mj-lt"/>
                <a:cs typeface="+mj-lt"/>
              </a:rPr>
              <a:t>2.4.5.2. Variables, </a:t>
            </a:r>
            <a:r>
              <a:rPr lang="es-ES" b="0" dirty="0" err="1">
                <a:ea typeface="+mj-lt"/>
                <a:cs typeface="+mj-lt"/>
              </a:rPr>
              <a:t>mixins</a:t>
            </a:r>
            <a:r>
              <a:rPr lang="es-ES" b="0" dirty="0">
                <a:ea typeface="+mj-lt"/>
                <a:cs typeface="+mj-lt"/>
              </a:rPr>
              <a:t> y funciones.</a:t>
            </a:r>
            <a:endParaRPr lang="es-ES" dirty="0"/>
          </a:p>
        </p:txBody>
      </p:sp>
      <p:sp>
        <p:nvSpPr>
          <p:cNvPr id="3" name="Marcador de contenido 2">
            <a:extLst>
              <a:ext uri="{FF2B5EF4-FFF2-40B4-BE49-F238E27FC236}">
                <a16:creationId xmlns:a16="http://schemas.microsoft.com/office/drawing/2014/main" id="{0D3399BE-DFAD-D19E-98F5-D431D355F0E2}"/>
              </a:ext>
            </a:extLst>
          </p:cNvPr>
          <p:cNvSpPr>
            <a:spLocks noGrp="1"/>
          </p:cNvSpPr>
          <p:nvPr>
            <p:ph idx="1"/>
          </p:nvPr>
        </p:nvSpPr>
        <p:spPr/>
        <p:txBody>
          <a:bodyPr vert="horz" lIns="91440" tIns="45720" rIns="91440" bIns="45720" rtlCol="0" anchor="t">
            <a:normAutofit fontScale="77500" lnSpcReduction="20000"/>
          </a:bodyPr>
          <a:lstStyle/>
          <a:p>
            <a:r>
              <a:rPr lang="es-ES" dirty="0">
                <a:ea typeface="+mn-lt"/>
                <a:cs typeface="+mn-lt"/>
              </a:rPr>
              <a:t>Funciones de color: CSS nativo te permite definir colores con las funciones </a:t>
            </a:r>
            <a:r>
              <a:rPr lang="es-ES" dirty="0" err="1">
                <a:ea typeface="+mn-lt"/>
                <a:cs typeface="+mn-lt"/>
              </a:rPr>
              <a:t>rgb</a:t>
            </a:r>
            <a:r>
              <a:rPr lang="es-ES" dirty="0">
                <a:ea typeface="+mn-lt"/>
                <a:cs typeface="+mn-lt"/>
              </a:rPr>
              <a:t>(), </a:t>
            </a:r>
            <a:r>
              <a:rPr lang="es-ES" dirty="0" err="1">
                <a:ea typeface="+mn-lt"/>
                <a:cs typeface="+mn-lt"/>
              </a:rPr>
              <a:t>rgba</a:t>
            </a:r>
            <a:r>
              <a:rPr lang="es-ES" dirty="0">
                <a:ea typeface="+mn-lt"/>
                <a:cs typeface="+mn-lt"/>
              </a:rPr>
              <a:t>(), </a:t>
            </a:r>
            <a:r>
              <a:rPr lang="es-ES" dirty="0" err="1">
                <a:ea typeface="+mn-lt"/>
                <a:cs typeface="+mn-lt"/>
              </a:rPr>
              <a:t>hsl</a:t>
            </a:r>
            <a:r>
              <a:rPr lang="es-ES" dirty="0">
                <a:ea typeface="+mn-lt"/>
                <a:cs typeface="+mn-lt"/>
              </a:rPr>
              <a:t>() y </a:t>
            </a:r>
            <a:r>
              <a:rPr lang="es-ES" dirty="0" err="1">
                <a:ea typeface="+mn-lt"/>
                <a:cs typeface="+mn-lt"/>
              </a:rPr>
              <a:t>hsla</a:t>
            </a:r>
            <a:r>
              <a:rPr lang="es-ES" dirty="0">
                <a:ea typeface="+mn-lt"/>
                <a:cs typeface="+mn-lt"/>
              </a:rPr>
              <a:t>(), que ofrecen un control preciso sobre el color y la transparencia.</a:t>
            </a:r>
            <a:endParaRPr lang="es-ES" dirty="0"/>
          </a:p>
          <a:p>
            <a:pPr marL="0" indent="0">
              <a:buNone/>
            </a:pPr>
            <a:r>
              <a:rPr lang="es-ES" b="1" dirty="0">
                <a:latin typeface="Courier New"/>
                <a:ea typeface="+mn-lt"/>
                <a:cs typeface="+mn-lt"/>
              </a:rPr>
              <a:t>.caja-transparente {</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background</a:t>
            </a:r>
            <a:r>
              <a:rPr lang="es-ES" b="1" dirty="0">
                <a:latin typeface="Courier New"/>
                <a:ea typeface="+mn-lt"/>
                <a:cs typeface="+mn-lt"/>
              </a:rPr>
              <a:t>-color: </a:t>
            </a:r>
            <a:r>
              <a:rPr lang="es-ES" b="1" err="1">
                <a:latin typeface="Courier New"/>
                <a:ea typeface="+mn-lt"/>
                <a:cs typeface="+mn-lt"/>
              </a:rPr>
              <a:t>rgba</a:t>
            </a:r>
            <a:r>
              <a:rPr lang="es-ES" b="1" dirty="0">
                <a:latin typeface="Courier New"/>
                <a:ea typeface="+mn-lt"/>
                <a:cs typeface="+mn-lt"/>
              </a:rPr>
              <a:t>(0, 123, 255, 0.5); /* Color azul con 50% de opacidad */</a:t>
            </a:r>
            <a:br>
              <a:rPr lang="es-ES" b="1" dirty="0">
                <a:latin typeface="Courier New"/>
                <a:ea typeface="+mn-lt"/>
                <a:cs typeface="+mn-lt"/>
              </a:rPr>
            </a:br>
            <a:r>
              <a:rPr lang="es-ES" b="1" dirty="0">
                <a:latin typeface="Courier New"/>
                <a:ea typeface="+mn-lt"/>
                <a:cs typeface="+mn-lt"/>
              </a:rPr>
              <a:t>}</a:t>
            </a:r>
          </a:p>
          <a:p>
            <a:pPr lvl="1">
              <a:buFont typeface="Courier New" panose="020B0604020202020204" pitchFamily="34" charset="0"/>
              <a:buChar char="o"/>
            </a:pPr>
            <a:r>
              <a:rPr lang="es-ES" dirty="0" err="1">
                <a:ea typeface="+mn-lt"/>
                <a:cs typeface="+mn-lt"/>
              </a:rPr>
              <a:t>rgb</a:t>
            </a:r>
            <a:r>
              <a:rPr lang="es-ES" dirty="0">
                <a:ea typeface="+mn-lt"/>
                <a:cs typeface="+mn-lt"/>
              </a:rPr>
              <a:t>() / </a:t>
            </a:r>
            <a:r>
              <a:rPr lang="es-ES" dirty="0" err="1">
                <a:ea typeface="+mn-lt"/>
                <a:cs typeface="+mn-lt"/>
              </a:rPr>
              <a:t>rgba</a:t>
            </a:r>
            <a:r>
              <a:rPr lang="es-ES" dirty="0">
                <a:ea typeface="+mn-lt"/>
                <a:cs typeface="+mn-lt"/>
              </a:rPr>
              <a:t>(): Define un color usando los valores de rojo, verde y azul (y un canal alfa para la opacidad en </a:t>
            </a:r>
            <a:r>
              <a:rPr lang="es-ES" dirty="0" err="1">
                <a:ea typeface="+mn-lt"/>
                <a:cs typeface="+mn-lt"/>
              </a:rPr>
              <a:t>rgba</a:t>
            </a:r>
            <a:r>
              <a:rPr lang="es-ES" dirty="0">
                <a:ea typeface="+mn-lt"/>
                <a:cs typeface="+mn-lt"/>
              </a:rPr>
              <a:t>).</a:t>
            </a:r>
            <a:endParaRPr lang="es-ES"/>
          </a:p>
          <a:p>
            <a:pPr marL="0" indent="0">
              <a:buNone/>
            </a:pPr>
            <a:r>
              <a:rPr lang="es-ES" b="1" dirty="0">
                <a:latin typeface="Courier New"/>
                <a:ea typeface="+mn-lt"/>
                <a:cs typeface="+mn-lt"/>
              </a:rPr>
              <a:t>.caja-roja {</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background</a:t>
            </a:r>
            <a:r>
              <a:rPr lang="es-ES" b="1" dirty="0">
                <a:latin typeface="Courier New"/>
                <a:ea typeface="+mn-lt"/>
                <a:cs typeface="+mn-lt"/>
              </a:rPr>
              <a:t>-color: </a:t>
            </a:r>
            <a:r>
              <a:rPr lang="es-ES" b="1" err="1">
                <a:latin typeface="Courier New"/>
                <a:ea typeface="+mn-lt"/>
                <a:cs typeface="+mn-lt"/>
              </a:rPr>
              <a:t>rgba</a:t>
            </a:r>
            <a:r>
              <a:rPr lang="es-ES" b="1" dirty="0">
                <a:latin typeface="Courier New"/>
                <a:ea typeface="+mn-lt"/>
                <a:cs typeface="+mn-lt"/>
              </a:rPr>
              <a:t>(255, 0, 0, 0.5);</a:t>
            </a:r>
            <a:br>
              <a:rPr lang="es-ES" b="1" dirty="0">
                <a:latin typeface="Courier New"/>
                <a:ea typeface="+mn-lt"/>
                <a:cs typeface="+mn-lt"/>
              </a:rPr>
            </a:br>
            <a:r>
              <a:rPr lang="es-ES" b="1" dirty="0">
                <a:latin typeface="Courier New"/>
                <a:ea typeface="+mn-lt"/>
                <a:cs typeface="+mn-lt"/>
              </a:rPr>
              <a:t>}</a:t>
            </a:r>
            <a:endParaRPr lang="es-ES" b="1" dirty="0">
              <a:latin typeface="Courier New"/>
              <a:cs typeface="Courier New"/>
            </a:endParaRPr>
          </a:p>
          <a:p>
            <a:pPr lvl="1">
              <a:buFont typeface="Courier New" panose="020B0604020202020204" pitchFamily="34" charset="0"/>
              <a:buChar char="o"/>
            </a:pPr>
            <a:r>
              <a:rPr lang="es-ES" dirty="0" err="1">
                <a:ea typeface="+mn-lt"/>
                <a:cs typeface="+mn-lt"/>
              </a:rPr>
              <a:t>hsl</a:t>
            </a:r>
            <a:r>
              <a:rPr lang="es-ES" dirty="0">
                <a:ea typeface="+mn-lt"/>
                <a:cs typeface="+mn-lt"/>
              </a:rPr>
              <a:t>() / </a:t>
            </a:r>
            <a:r>
              <a:rPr lang="es-ES" dirty="0" err="1">
                <a:ea typeface="+mn-lt"/>
                <a:cs typeface="+mn-lt"/>
              </a:rPr>
              <a:t>hsla</a:t>
            </a:r>
            <a:r>
              <a:rPr lang="es-ES" dirty="0">
                <a:ea typeface="+mn-lt"/>
                <a:cs typeface="+mn-lt"/>
              </a:rPr>
              <a:t>(): Define un color usando los valores de tono, saturación y luminosidad (y un canal alfa para la opacidad en </a:t>
            </a:r>
            <a:r>
              <a:rPr lang="es-ES" dirty="0" err="1">
                <a:ea typeface="+mn-lt"/>
                <a:cs typeface="+mn-lt"/>
              </a:rPr>
              <a:t>hsla</a:t>
            </a:r>
            <a:r>
              <a:rPr lang="es-ES" dirty="0">
                <a:ea typeface="+mn-lt"/>
                <a:cs typeface="+mn-lt"/>
              </a:rPr>
              <a:t>). Es útil para crear paletas de colores armónicas.</a:t>
            </a:r>
          </a:p>
          <a:p>
            <a:pPr marL="0" indent="0">
              <a:buNone/>
            </a:pPr>
            <a:r>
              <a:rPr lang="es-ES" b="1" dirty="0">
                <a:latin typeface="Courier New"/>
                <a:ea typeface="+mn-lt"/>
                <a:cs typeface="+mn-lt"/>
              </a:rPr>
              <a:t>.caja-azul {</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background</a:t>
            </a:r>
            <a:r>
              <a:rPr lang="es-ES" b="1" dirty="0">
                <a:latin typeface="Courier New"/>
                <a:ea typeface="+mn-lt"/>
                <a:cs typeface="+mn-lt"/>
              </a:rPr>
              <a:t>-color: </a:t>
            </a:r>
            <a:r>
              <a:rPr lang="es-ES" b="1" err="1">
                <a:latin typeface="Courier New"/>
                <a:ea typeface="+mn-lt"/>
                <a:cs typeface="+mn-lt"/>
              </a:rPr>
              <a:t>hsla</a:t>
            </a:r>
            <a:r>
              <a:rPr lang="es-ES" b="1" dirty="0">
                <a:latin typeface="Courier New"/>
                <a:ea typeface="+mn-lt"/>
                <a:cs typeface="+mn-lt"/>
              </a:rPr>
              <a:t>(240, 100%, 50%, 0.7);</a:t>
            </a:r>
            <a:br>
              <a:rPr lang="es-ES" b="1" dirty="0">
                <a:latin typeface="Courier New"/>
                <a:ea typeface="+mn-lt"/>
                <a:cs typeface="+mn-lt"/>
              </a:rPr>
            </a:br>
            <a:r>
              <a:rPr lang="es-ES" b="1" dirty="0">
                <a:latin typeface="Courier New"/>
                <a:ea typeface="+mn-lt"/>
                <a:cs typeface="+mn-lt"/>
              </a:rPr>
              <a:t>}</a:t>
            </a:r>
          </a:p>
          <a:p>
            <a:pPr lvl="1">
              <a:buFont typeface="Courier New" panose="020B0604020202020204" pitchFamily="34" charset="0"/>
              <a:buChar char="o"/>
            </a:pPr>
            <a:r>
              <a:rPr lang="es-ES" dirty="0">
                <a:ea typeface="+mn-lt"/>
                <a:cs typeface="+mn-lt"/>
              </a:rPr>
              <a:t>color(): Permite especificar un color en diferentes espacios de color como </a:t>
            </a:r>
            <a:r>
              <a:rPr lang="es-ES" dirty="0" err="1">
                <a:ea typeface="+mn-lt"/>
                <a:cs typeface="+mn-lt"/>
              </a:rPr>
              <a:t>sRGB</a:t>
            </a:r>
            <a:r>
              <a:rPr lang="es-ES" dirty="0">
                <a:ea typeface="+mn-lt"/>
                <a:cs typeface="+mn-lt"/>
              </a:rPr>
              <a:t>, display-p3, a98-rgb y otros.</a:t>
            </a:r>
          </a:p>
          <a:p>
            <a:pPr lvl="1">
              <a:buFont typeface="Courier New" panose="020B0604020202020204" pitchFamily="34" charset="0"/>
              <a:buChar char="o"/>
            </a:pPr>
            <a:r>
              <a:rPr lang="es-ES" dirty="0" err="1">
                <a:ea typeface="+mn-lt"/>
                <a:cs typeface="+mn-lt"/>
              </a:rPr>
              <a:t>lab</a:t>
            </a:r>
            <a:r>
              <a:rPr lang="es-ES" dirty="0">
                <a:ea typeface="+mn-lt"/>
                <a:cs typeface="+mn-lt"/>
              </a:rPr>
              <a:t>() / </a:t>
            </a:r>
            <a:r>
              <a:rPr lang="es-ES" dirty="0" err="1">
                <a:ea typeface="+mn-lt"/>
                <a:cs typeface="+mn-lt"/>
              </a:rPr>
              <a:t>lch</a:t>
            </a:r>
            <a:r>
              <a:rPr lang="es-ES" dirty="0">
                <a:ea typeface="+mn-lt"/>
                <a:cs typeface="+mn-lt"/>
              </a:rPr>
              <a:t>(): Define un color usando un modelo perceptualmente uniforme, ideal para una manipulación de colores más predecible.</a:t>
            </a:r>
            <a:endParaRPr lang="es-ES"/>
          </a:p>
        </p:txBody>
      </p:sp>
    </p:spTree>
    <p:extLst>
      <p:ext uri="{BB962C8B-B14F-4D97-AF65-F5344CB8AC3E}">
        <p14:creationId xmlns:p14="http://schemas.microsoft.com/office/powerpoint/2010/main" val="2394501986"/>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A6EC7C-0725-1798-B7FA-5D6188DAE4C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248A69A-6E69-E595-3CAC-B26047585350}"/>
              </a:ext>
            </a:extLst>
          </p:cNvPr>
          <p:cNvSpPr>
            <a:spLocks noGrp="1"/>
          </p:cNvSpPr>
          <p:nvPr>
            <p:ph type="title"/>
          </p:nvPr>
        </p:nvSpPr>
        <p:spPr/>
        <p:txBody>
          <a:bodyPr/>
          <a:lstStyle/>
          <a:p>
            <a:r>
              <a:rPr lang="es-ES" b="0" dirty="0">
                <a:ea typeface="+mj-lt"/>
                <a:cs typeface="+mj-lt"/>
              </a:rPr>
              <a:t>2.4.5.2. Variables, </a:t>
            </a:r>
            <a:r>
              <a:rPr lang="es-ES" b="0" dirty="0" err="1">
                <a:ea typeface="+mj-lt"/>
                <a:cs typeface="+mj-lt"/>
              </a:rPr>
              <a:t>mixins</a:t>
            </a:r>
            <a:r>
              <a:rPr lang="es-ES" b="0" dirty="0">
                <a:ea typeface="+mj-lt"/>
                <a:cs typeface="+mj-lt"/>
              </a:rPr>
              <a:t> y funciones.</a:t>
            </a:r>
            <a:endParaRPr lang="es-ES" dirty="0"/>
          </a:p>
        </p:txBody>
      </p:sp>
      <p:sp>
        <p:nvSpPr>
          <p:cNvPr id="3" name="Marcador de contenido 2">
            <a:extLst>
              <a:ext uri="{FF2B5EF4-FFF2-40B4-BE49-F238E27FC236}">
                <a16:creationId xmlns:a16="http://schemas.microsoft.com/office/drawing/2014/main" id="{4DB8A6CF-6E0A-83CF-4895-BBEB7D7D4ACB}"/>
              </a:ext>
            </a:extLst>
          </p:cNvPr>
          <p:cNvSpPr>
            <a:spLocks noGrp="1"/>
          </p:cNvSpPr>
          <p:nvPr>
            <p:ph idx="1"/>
          </p:nvPr>
        </p:nvSpPr>
        <p:spPr/>
        <p:txBody>
          <a:bodyPr vert="horz" lIns="91440" tIns="45720" rIns="91440" bIns="45720" rtlCol="0" anchor="t">
            <a:normAutofit/>
          </a:bodyPr>
          <a:lstStyle/>
          <a:p>
            <a:r>
              <a:rPr lang="es-ES" dirty="0">
                <a:ea typeface="+mn-lt"/>
                <a:cs typeface="+mn-lt"/>
              </a:rPr>
              <a:t>Funciones matemáticas y de cálculo</a:t>
            </a:r>
            <a:endParaRPr lang="es-ES" dirty="0">
              <a:latin typeface="Bierstadt"/>
              <a:ea typeface="+mn-lt"/>
              <a:cs typeface="+mn-lt"/>
            </a:endParaRPr>
          </a:p>
          <a:p>
            <a:pPr lvl="1">
              <a:buFont typeface="Courier New" panose="020B0604020202020204" pitchFamily="34" charset="0"/>
              <a:buChar char="o"/>
            </a:pPr>
            <a:r>
              <a:rPr lang="es-ES" dirty="0" err="1">
                <a:ea typeface="+mn-lt"/>
                <a:cs typeface="+mn-lt"/>
              </a:rPr>
              <a:t>calc</a:t>
            </a:r>
            <a:r>
              <a:rPr lang="es-ES" dirty="0">
                <a:ea typeface="+mn-lt"/>
                <a:cs typeface="+mn-lt"/>
              </a:rPr>
              <a:t>(): Realiza cálculos matemáticos (suma, resta, multiplicación, división) para determinar valores de propiedades. Es esencial para crear diseños flexibles y responsivos.</a:t>
            </a:r>
          </a:p>
          <a:p>
            <a:r>
              <a:rPr lang="es-ES" dirty="0">
                <a:ea typeface="+mn-lt"/>
                <a:cs typeface="+mn-lt"/>
              </a:rPr>
              <a:t>Ejemplo: </a:t>
            </a:r>
            <a:r>
              <a:rPr lang="es-ES" b="1" dirty="0" err="1">
                <a:latin typeface="Courier New"/>
                <a:ea typeface="+mn-lt"/>
                <a:cs typeface="+mn-lt"/>
              </a:rPr>
              <a:t>width</a:t>
            </a:r>
            <a:r>
              <a:rPr lang="es-ES" b="1" dirty="0">
                <a:latin typeface="Courier New"/>
                <a:ea typeface="+mn-lt"/>
                <a:cs typeface="+mn-lt"/>
              </a:rPr>
              <a:t>: </a:t>
            </a:r>
            <a:r>
              <a:rPr lang="es-ES" b="1" dirty="0" err="1">
                <a:latin typeface="Courier New"/>
                <a:ea typeface="+mn-lt"/>
                <a:cs typeface="+mn-lt"/>
              </a:rPr>
              <a:t>calc</a:t>
            </a:r>
            <a:r>
              <a:rPr lang="es-ES" b="1" dirty="0">
                <a:latin typeface="Courier New"/>
                <a:ea typeface="+mn-lt"/>
                <a:cs typeface="+mn-lt"/>
              </a:rPr>
              <a:t>(100% - 20px);</a:t>
            </a:r>
          </a:p>
          <a:p>
            <a:pPr lvl="1">
              <a:buFont typeface="Courier New" panose="020B0604020202020204" pitchFamily="34" charset="0"/>
              <a:buChar char="o"/>
            </a:pPr>
            <a:r>
              <a:rPr lang="es-ES" dirty="0">
                <a:ea typeface="+mn-lt"/>
                <a:cs typeface="+mn-lt"/>
              </a:rPr>
              <a:t>min(): Selecciona el valor más pequeño de una lista de valores o cálculos.</a:t>
            </a:r>
            <a:endParaRPr lang="es-ES" dirty="0"/>
          </a:p>
          <a:p>
            <a:pPr lvl="1">
              <a:buFont typeface="Courier New" panose="020B0604020202020204" pitchFamily="34" charset="0"/>
              <a:buChar char="o"/>
            </a:pPr>
            <a:r>
              <a:rPr lang="es-ES" dirty="0" err="1">
                <a:ea typeface="+mn-lt"/>
                <a:cs typeface="+mn-lt"/>
              </a:rPr>
              <a:t>max</a:t>
            </a:r>
            <a:r>
              <a:rPr lang="es-ES" dirty="0">
                <a:ea typeface="+mn-lt"/>
                <a:cs typeface="+mn-lt"/>
              </a:rPr>
              <a:t>(): Selecciona el valor más grande de una lista de valores o cálculos.</a:t>
            </a:r>
          </a:p>
          <a:p>
            <a:pPr lvl="1">
              <a:buFont typeface="Courier New" panose="020B0604020202020204" pitchFamily="34" charset="0"/>
              <a:buChar char="o"/>
            </a:pPr>
            <a:r>
              <a:rPr lang="es-ES" dirty="0" err="1">
                <a:ea typeface="+mn-lt"/>
                <a:cs typeface="+mn-lt"/>
              </a:rPr>
              <a:t>clamp</a:t>
            </a:r>
            <a:r>
              <a:rPr lang="es-ES" dirty="0">
                <a:ea typeface="+mn-lt"/>
                <a:cs typeface="+mn-lt"/>
              </a:rPr>
              <a:t>(): Fija un valor entre un mínimo y un máximo. Es ideal para crear tipografía fluida que se adapta al tamaño de la pantalla.</a:t>
            </a:r>
          </a:p>
          <a:p>
            <a:r>
              <a:rPr lang="es-ES" dirty="0">
                <a:ea typeface="+mn-lt"/>
                <a:cs typeface="+mn-lt"/>
              </a:rPr>
              <a:t>Ejemplo: </a:t>
            </a:r>
            <a:r>
              <a:rPr lang="es-ES" b="1" dirty="0" err="1">
                <a:latin typeface="Courier New"/>
                <a:ea typeface="+mn-lt"/>
                <a:cs typeface="+mn-lt"/>
              </a:rPr>
              <a:t>font-size</a:t>
            </a:r>
            <a:r>
              <a:rPr lang="es-ES" b="1" dirty="0">
                <a:latin typeface="Courier New"/>
                <a:ea typeface="+mn-lt"/>
                <a:cs typeface="+mn-lt"/>
              </a:rPr>
              <a:t>: </a:t>
            </a:r>
            <a:r>
              <a:rPr lang="es-ES" b="1" dirty="0" err="1">
                <a:latin typeface="Courier New"/>
                <a:ea typeface="+mn-lt"/>
                <a:cs typeface="+mn-lt"/>
              </a:rPr>
              <a:t>clamp</a:t>
            </a:r>
            <a:r>
              <a:rPr lang="es-ES" b="1" dirty="0">
                <a:latin typeface="Courier New"/>
                <a:ea typeface="+mn-lt"/>
                <a:cs typeface="+mn-lt"/>
              </a:rPr>
              <a:t>(1rem, 2.5vw, 2rem);</a:t>
            </a:r>
            <a:endParaRPr lang="es-ES" b="1">
              <a:latin typeface="Courier New"/>
              <a:cs typeface="Courier New"/>
            </a:endParaRPr>
          </a:p>
          <a:p>
            <a:endParaRPr lang="es-ES" dirty="0"/>
          </a:p>
        </p:txBody>
      </p:sp>
    </p:spTree>
    <p:extLst>
      <p:ext uri="{BB962C8B-B14F-4D97-AF65-F5344CB8AC3E}">
        <p14:creationId xmlns:p14="http://schemas.microsoft.com/office/powerpoint/2010/main" val="533578581"/>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B34BB7-6BAC-B499-C8DA-565462381B4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E772AA8-CA3C-BF99-4D7F-D6755E376FF0}"/>
              </a:ext>
            </a:extLst>
          </p:cNvPr>
          <p:cNvSpPr>
            <a:spLocks noGrp="1"/>
          </p:cNvSpPr>
          <p:nvPr>
            <p:ph type="title"/>
          </p:nvPr>
        </p:nvSpPr>
        <p:spPr/>
        <p:txBody>
          <a:bodyPr/>
          <a:lstStyle/>
          <a:p>
            <a:r>
              <a:rPr lang="es-ES" b="0" dirty="0">
                <a:ea typeface="+mj-lt"/>
                <a:cs typeface="+mj-lt"/>
              </a:rPr>
              <a:t>2.4.5.2. Variables, </a:t>
            </a:r>
            <a:r>
              <a:rPr lang="es-ES" b="0" dirty="0" err="1">
                <a:ea typeface="+mj-lt"/>
                <a:cs typeface="+mj-lt"/>
              </a:rPr>
              <a:t>mixins</a:t>
            </a:r>
            <a:r>
              <a:rPr lang="es-ES" b="0" dirty="0">
                <a:ea typeface="+mj-lt"/>
                <a:cs typeface="+mj-lt"/>
              </a:rPr>
              <a:t> y funciones.</a:t>
            </a:r>
            <a:endParaRPr lang="es-ES" dirty="0"/>
          </a:p>
        </p:txBody>
      </p:sp>
      <p:sp>
        <p:nvSpPr>
          <p:cNvPr id="3" name="Marcador de contenido 2">
            <a:extLst>
              <a:ext uri="{FF2B5EF4-FFF2-40B4-BE49-F238E27FC236}">
                <a16:creationId xmlns:a16="http://schemas.microsoft.com/office/drawing/2014/main" id="{70320D99-2AEF-BFF9-425A-CEA74DFD5895}"/>
              </a:ext>
            </a:extLst>
          </p:cNvPr>
          <p:cNvSpPr>
            <a:spLocks noGrp="1"/>
          </p:cNvSpPr>
          <p:nvPr>
            <p:ph idx="1"/>
          </p:nvPr>
        </p:nvSpPr>
        <p:spPr/>
        <p:txBody>
          <a:bodyPr vert="horz" lIns="91440" tIns="45720" rIns="91440" bIns="45720" rtlCol="0" anchor="t">
            <a:normAutofit fontScale="92500" lnSpcReduction="10000"/>
          </a:bodyPr>
          <a:lstStyle/>
          <a:p>
            <a:r>
              <a:rPr lang="es-ES" dirty="0">
                <a:ea typeface="+mn-lt"/>
                <a:cs typeface="+mn-lt"/>
              </a:rPr>
              <a:t>Funciones de transformación: estas funciones se usan con la propiedad </a:t>
            </a:r>
            <a:r>
              <a:rPr lang="es-ES" dirty="0" err="1">
                <a:ea typeface="+mn-lt"/>
                <a:cs typeface="+mn-lt"/>
              </a:rPr>
              <a:t>transform</a:t>
            </a:r>
            <a:r>
              <a:rPr lang="es-ES" dirty="0">
                <a:ea typeface="+mn-lt"/>
                <a:cs typeface="+mn-lt"/>
              </a:rPr>
              <a:t> para modificar la forma y la posición de un elemento en un espacio 2D o 3D.</a:t>
            </a:r>
            <a:endParaRPr lang="es-ES" dirty="0">
              <a:latin typeface="Bierstadt"/>
              <a:ea typeface="+mn-lt"/>
              <a:cs typeface="+mn-lt"/>
            </a:endParaRPr>
          </a:p>
          <a:p>
            <a:pPr lvl="1">
              <a:buFont typeface="Courier New" panose="020B0604020202020204" pitchFamily="34" charset="0"/>
              <a:buChar char="o"/>
            </a:pPr>
            <a:r>
              <a:rPr lang="es-ES" dirty="0" err="1">
                <a:ea typeface="+mn-lt"/>
                <a:cs typeface="+mn-lt"/>
              </a:rPr>
              <a:t>translate</a:t>
            </a:r>
            <a:r>
              <a:rPr lang="es-ES" dirty="0">
                <a:ea typeface="+mn-lt"/>
                <a:cs typeface="+mn-lt"/>
              </a:rPr>
              <a:t>(): Mueve un elemento en el eje X, Y o Z.</a:t>
            </a:r>
          </a:p>
          <a:p>
            <a:pPr marL="0" indent="0">
              <a:buNone/>
            </a:pPr>
            <a:r>
              <a:rPr lang="es-ES" b="1" dirty="0">
                <a:latin typeface="Courier New"/>
                <a:ea typeface="+mn-lt"/>
                <a:cs typeface="+mn-lt"/>
              </a:rPr>
              <a:t>.icono-flotante {</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transform</a:t>
            </a:r>
            <a:r>
              <a:rPr lang="es-ES" b="1" dirty="0">
                <a:latin typeface="Courier New"/>
                <a:ea typeface="+mn-lt"/>
                <a:cs typeface="+mn-lt"/>
              </a:rPr>
              <a:t>: </a:t>
            </a:r>
            <a:r>
              <a:rPr lang="es-ES" b="1" err="1">
                <a:latin typeface="Courier New"/>
                <a:ea typeface="+mn-lt"/>
                <a:cs typeface="+mn-lt"/>
              </a:rPr>
              <a:t>translate</a:t>
            </a:r>
            <a:r>
              <a:rPr lang="es-ES" b="1" dirty="0">
                <a:latin typeface="Courier New"/>
                <a:ea typeface="+mn-lt"/>
                <a:cs typeface="+mn-lt"/>
              </a:rPr>
              <a:t>(50px, 10px);</a:t>
            </a:r>
            <a:br>
              <a:rPr lang="es-ES" b="1" dirty="0">
                <a:latin typeface="Courier New"/>
                <a:ea typeface="+mn-lt"/>
                <a:cs typeface="+mn-lt"/>
              </a:rPr>
            </a:br>
            <a:r>
              <a:rPr lang="es-ES" b="1" dirty="0">
                <a:latin typeface="Courier New"/>
                <a:ea typeface="+mn-lt"/>
                <a:cs typeface="+mn-lt"/>
              </a:rPr>
              <a:t>}</a:t>
            </a:r>
            <a:endParaRPr lang="es-ES" b="1" dirty="0">
              <a:latin typeface="Courier New"/>
              <a:cs typeface="Courier New"/>
            </a:endParaRPr>
          </a:p>
          <a:p>
            <a:pPr lvl="1">
              <a:buFont typeface="Courier New" panose="020B0604020202020204" pitchFamily="34" charset="0"/>
              <a:buChar char="o"/>
            </a:pPr>
            <a:r>
              <a:rPr lang="es-ES" dirty="0" err="1">
                <a:ea typeface="+mn-lt"/>
                <a:cs typeface="+mn-lt"/>
              </a:rPr>
              <a:t>scale</a:t>
            </a:r>
            <a:r>
              <a:rPr lang="es-ES" dirty="0">
                <a:ea typeface="+mn-lt"/>
                <a:cs typeface="+mn-lt"/>
              </a:rPr>
              <a:t>(): Aumenta o disminuye el tamaño de un elemento.</a:t>
            </a:r>
          </a:p>
          <a:p>
            <a:pPr lvl="1">
              <a:buFont typeface="Courier New" panose="020B0604020202020204" pitchFamily="34" charset="0"/>
              <a:buChar char="o"/>
            </a:pPr>
            <a:r>
              <a:rPr lang="es-ES" dirty="0" err="1">
                <a:ea typeface="+mn-lt"/>
                <a:cs typeface="+mn-lt"/>
              </a:rPr>
              <a:t>rotate</a:t>
            </a:r>
            <a:r>
              <a:rPr lang="es-ES" dirty="0">
                <a:ea typeface="+mn-lt"/>
                <a:cs typeface="+mn-lt"/>
              </a:rPr>
              <a:t>(): Rota un elemento alrededor de un eje.</a:t>
            </a:r>
          </a:p>
          <a:p>
            <a:pPr marL="0" indent="0">
              <a:buNone/>
            </a:pPr>
            <a:r>
              <a:rPr lang="es-ES" b="1" dirty="0">
                <a:latin typeface="Courier New"/>
                <a:ea typeface="+mn-lt"/>
                <a:cs typeface="+mn-lt"/>
              </a:rPr>
              <a:t>.elemento-rotado {</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transform</a:t>
            </a:r>
            <a:r>
              <a:rPr lang="es-ES" b="1" dirty="0">
                <a:latin typeface="Courier New"/>
                <a:ea typeface="+mn-lt"/>
                <a:cs typeface="+mn-lt"/>
              </a:rPr>
              <a:t>: </a:t>
            </a:r>
            <a:r>
              <a:rPr lang="es-ES" b="1" err="1">
                <a:latin typeface="Courier New"/>
                <a:ea typeface="+mn-lt"/>
                <a:cs typeface="+mn-lt"/>
              </a:rPr>
              <a:t>rotate</a:t>
            </a:r>
            <a:r>
              <a:rPr lang="es-ES" b="1" dirty="0">
                <a:latin typeface="Courier New"/>
                <a:ea typeface="+mn-lt"/>
                <a:cs typeface="+mn-lt"/>
              </a:rPr>
              <a:t>(45deg);</a:t>
            </a:r>
            <a:br>
              <a:rPr lang="es-ES" b="1" dirty="0">
                <a:latin typeface="Courier New"/>
                <a:ea typeface="+mn-lt"/>
                <a:cs typeface="+mn-lt"/>
              </a:rPr>
            </a:br>
            <a:r>
              <a:rPr lang="es-ES" b="1" dirty="0">
                <a:latin typeface="Courier New"/>
                <a:ea typeface="+mn-lt"/>
                <a:cs typeface="+mn-lt"/>
              </a:rPr>
              <a:t>}</a:t>
            </a:r>
            <a:endParaRPr lang="es-ES" b="1" dirty="0">
              <a:latin typeface="Courier New"/>
              <a:cs typeface="Courier New"/>
            </a:endParaRPr>
          </a:p>
          <a:p>
            <a:pPr lvl="1">
              <a:buFont typeface="Courier New" panose="020B0604020202020204" pitchFamily="34" charset="0"/>
              <a:buChar char="o"/>
            </a:pPr>
            <a:r>
              <a:rPr lang="es-ES" dirty="0" err="1">
                <a:ea typeface="+mn-lt"/>
                <a:cs typeface="+mn-lt"/>
              </a:rPr>
              <a:t>skew</a:t>
            </a:r>
            <a:r>
              <a:rPr lang="es-ES" dirty="0">
                <a:ea typeface="+mn-lt"/>
                <a:cs typeface="+mn-lt"/>
              </a:rPr>
              <a:t>(): Inclina un elemento.</a:t>
            </a:r>
            <a:endParaRPr lang="es-ES" dirty="0"/>
          </a:p>
          <a:p>
            <a:endParaRPr lang="es-ES" dirty="0"/>
          </a:p>
        </p:txBody>
      </p:sp>
    </p:spTree>
    <p:extLst>
      <p:ext uri="{BB962C8B-B14F-4D97-AF65-F5344CB8AC3E}">
        <p14:creationId xmlns:p14="http://schemas.microsoft.com/office/powerpoint/2010/main" val="291443716"/>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C34DEB-B89B-6CAF-7C6A-0F25680FF44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249D395-C591-6A2A-E150-964DDD477E35}"/>
              </a:ext>
            </a:extLst>
          </p:cNvPr>
          <p:cNvSpPr>
            <a:spLocks noGrp="1"/>
          </p:cNvSpPr>
          <p:nvPr>
            <p:ph type="title"/>
          </p:nvPr>
        </p:nvSpPr>
        <p:spPr/>
        <p:txBody>
          <a:bodyPr/>
          <a:lstStyle/>
          <a:p>
            <a:r>
              <a:rPr lang="es-ES" b="0" dirty="0">
                <a:ea typeface="+mj-lt"/>
                <a:cs typeface="+mj-lt"/>
              </a:rPr>
              <a:t>2.4.5.2. Variables, </a:t>
            </a:r>
            <a:r>
              <a:rPr lang="es-ES" b="0" dirty="0" err="1">
                <a:ea typeface="+mj-lt"/>
                <a:cs typeface="+mj-lt"/>
              </a:rPr>
              <a:t>mixins</a:t>
            </a:r>
            <a:r>
              <a:rPr lang="es-ES" b="0" dirty="0">
                <a:ea typeface="+mj-lt"/>
                <a:cs typeface="+mj-lt"/>
              </a:rPr>
              <a:t> y funciones.</a:t>
            </a:r>
            <a:endParaRPr lang="es-ES" dirty="0"/>
          </a:p>
        </p:txBody>
      </p:sp>
      <p:sp>
        <p:nvSpPr>
          <p:cNvPr id="3" name="Marcador de contenido 2">
            <a:extLst>
              <a:ext uri="{FF2B5EF4-FFF2-40B4-BE49-F238E27FC236}">
                <a16:creationId xmlns:a16="http://schemas.microsoft.com/office/drawing/2014/main" id="{1682A1D1-A200-3D32-1B56-DBCBE4CE1064}"/>
              </a:ext>
            </a:extLst>
          </p:cNvPr>
          <p:cNvSpPr>
            <a:spLocks noGrp="1"/>
          </p:cNvSpPr>
          <p:nvPr>
            <p:ph idx="1"/>
          </p:nvPr>
        </p:nvSpPr>
        <p:spPr/>
        <p:txBody>
          <a:bodyPr vert="horz" lIns="91440" tIns="45720" rIns="91440" bIns="45720" rtlCol="0" anchor="t">
            <a:normAutofit fontScale="85000" lnSpcReduction="20000"/>
          </a:bodyPr>
          <a:lstStyle/>
          <a:p>
            <a:r>
              <a:rPr lang="es-ES" dirty="0">
                <a:ea typeface="+mn-lt"/>
                <a:cs typeface="+mn-lt"/>
              </a:rPr>
              <a:t>Funciones de imagen y gradientes</a:t>
            </a:r>
          </a:p>
          <a:p>
            <a:pPr lvl="1">
              <a:buFont typeface="Courier New" panose="020B0604020202020204" pitchFamily="34" charset="0"/>
              <a:buChar char="o"/>
            </a:pPr>
            <a:r>
              <a:rPr lang="es-ES" dirty="0" err="1">
                <a:ea typeface="+mn-lt"/>
                <a:cs typeface="+mn-lt"/>
              </a:rPr>
              <a:t>url</a:t>
            </a:r>
            <a:r>
              <a:rPr lang="es-ES" dirty="0">
                <a:ea typeface="+mn-lt"/>
                <a:cs typeface="+mn-lt"/>
              </a:rPr>
              <a:t>(): Carga una imagen, una fuente o un archivo desde una URL para usarlo como fondo, cursor, etc.</a:t>
            </a:r>
          </a:p>
          <a:p>
            <a:pPr marL="0" indent="0">
              <a:buNone/>
            </a:pPr>
            <a:r>
              <a:rPr lang="es-ES" b="1" dirty="0">
                <a:latin typeface="Courier New"/>
                <a:ea typeface="+mn-lt"/>
                <a:cs typeface="+mn-lt"/>
              </a:rPr>
              <a:t>.banner {</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background-image</a:t>
            </a:r>
            <a:r>
              <a:rPr lang="es-ES" b="1" dirty="0">
                <a:latin typeface="Courier New"/>
                <a:ea typeface="+mn-lt"/>
                <a:cs typeface="+mn-lt"/>
              </a:rPr>
              <a:t>: </a:t>
            </a:r>
            <a:r>
              <a:rPr lang="es-ES" b="1" err="1">
                <a:latin typeface="Courier New"/>
                <a:ea typeface="+mn-lt"/>
                <a:cs typeface="+mn-lt"/>
              </a:rPr>
              <a:t>url</a:t>
            </a:r>
            <a:r>
              <a:rPr lang="es-ES" b="1" dirty="0">
                <a:latin typeface="Courier New"/>
                <a:ea typeface="+mn-lt"/>
                <a:cs typeface="+mn-lt"/>
              </a:rPr>
              <a:t>('</a:t>
            </a:r>
            <a:r>
              <a:rPr lang="es-ES" b="1" err="1">
                <a:latin typeface="Courier New"/>
                <a:ea typeface="+mn-lt"/>
                <a:cs typeface="+mn-lt"/>
              </a:rPr>
              <a:t>assets</a:t>
            </a:r>
            <a:r>
              <a:rPr lang="es-ES" b="1" dirty="0">
                <a:latin typeface="Courier New"/>
                <a:ea typeface="+mn-lt"/>
                <a:cs typeface="+mn-lt"/>
              </a:rPr>
              <a:t>/banner.jpg');</a:t>
            </a:r>
            <a:br>
              <a:rPr lang="es-ES" b="1" dirty="0">
                <a:latin typeface="Courier New"/>
                <a:ea typeface="+mn-lt"/>
                <a:cs typeface="+mn-lt"/>
              </a:rPr>
            </a:br>
            <a:r>
              <a:rPr lang="es-ES" b="1" dirty="0">
                <a:latin typeface="Courier New"/>
                <a:ea typeface="+mn-lt"/>
                <a:cs typeface="+mn-lt"/>
              </a:rPr>
              <a:t>}</a:t>
            </a:r>
            <a:endParaRPr lang="es-ES" b="1" dirty="0">
              <a:latin typeface="Courier New"/>
              <a:cs typeface="Courier New"/>
            </a:endParaRPr>
          </a:p>
          <a:p>
            <a:pPr lvl="1">
              <a:buFont typeface="Courier New" panose="020B0604020202020204" pitchFamily="34" charset="0"/>
              <a:buChar char="o"/>
            </a:pPr>
            <a:r>
              <a:rPr lang="es-ES" dirty="0">
                <a:ea typeface="+mn-lt"/>
                <a:cs typeface="+mn-lt"/>
              </a:rPr>
              <a:t>linear-</a:t>
            </a:r>
            <a:r>
              <a:rPr lang="es-ES" dirty="0" err="1">
                <a:ea typeface="+mn-lt"/>
                <a:cs typeface="+mn-lt"/>
              </a:rPr>
              <a:t>gradient</a:t>
            </a:r>
            <a:r>
              <a:rPr lang="es-ES" dirty="0">
                <a:ea typeface="+mn-lt"/>
                <a:cs typeface="+mn-lt"/>
              </a:rPr>
              <a:t>(): Crea un gradiente de color lineal (en línea recta).</a:t>
            </a:r>
            <a:endParaRPr lang="es-ES"/>
          </a:p>
          <a:p>
            <a:pPr marL="0" indent="0">
              <a:buNone/>
            </a:pPr>
            <a:r>
              <a:rPr lang="es-ES" b="1" dirty="0">
                <a:latin typeface="Courier New"/>
                <a:ea typeface="+mn-lt"/>
                <a:cs typeface="+mn-lt"/>
              </a:rPr>
              <a:t>.fondo-degradado {</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background-image</a:t>
            </a:r>
            <a:r>
              <a:rPr lang="es-ES" b="1" dirty="0">
                <a:latin typeface="Courier New"/>
                <a:ea typeface="+mn-lt"/>
                <a:cs typeface="+mn-lt"/>
              </a:rPr>
              <a:t>: linear-</a:t>
            </a:r>
            <a:r>
              <a:rPr lang="es-ES" b="1" err="1">
                <a:latin typeface="Courier New"/>
                <a:ea typeface="+mn-lt"/>
                <a:cs typeface="+mn-lt"/>
              </a:rPr>
              <a:t>gradient</a:t>
            </a:r>
            <a:r>
              <a:rPr lang="es-ES" b="1" dirty="0">
                <a:latin typeface="Courier New"/>
                <a:ea typeface="+mn-lt"/>
                <a:cs typeface="+mn-lt"/>
              </a:rPr>
              <a:t>(</a:t>
            </a:r>
            <a:r>
              <a:rPr lang="es-ES" b="1" err="1">
                <a:latin typeface="Courier New"/>
                <a:ea typeface="+mn-lt"/>
                <a:cs typeface="+mn-lt"/>
              </a:rPr>
              <a:t>to</a:t>
            </a:r>
            <a:r>
              <a:rPr lang="es-ES" b="1" dirty="0">
                <a:latin typeface="Courier New"/>
                <a:ea typeface="+mn-lt"/>
                <a:cs typeface="+mn-lt"/>
              </a:rPr>
              <a:t> </a:t>
            </a:r>
            <a:r>
              <a:rPr lang="es-ES" b="1" err="1">
                <a:latin typeface="Courier New"/>
                <a:ea typeface="+mn-lt"/>
                <a:cs typeface="+mn-lt"/>
              </a:rPr>
              <a:t>right</a:t>
            </a:r>
            <a:r>
              <a:rPr lang="es-ES" b="1" dirty="0">
                <a:latin typeface="Courier New"/>
                <a:ea typeface="+mn-lt"/>
                <a:cs typeface="+mn-lt"/>
              </a:rPr>
              <a:t>, red, </a:t>
            </a:r>
            <a:r>
              <a:rPr lang="es-ES" b="1" err="1">
                <a:latin typeface="Courier New"/>
                <a:ea typeface="+mn-lt"/>
                <a:cs typeface="+mn-lt"/>
              </a:rPr>
              <a:t>yellow</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a:t>
            </a:r>
          </a:p>
          <a:p>
            <a:pPr lvl="1">
              <a:buFont typeface="Courier New" panose="020B0604020202020204" pitchFamily="34" charset="0"/>
              <a:buChar char="o"/>
            </a:pPr>
            <a:r>
              <a:rPr lang="es-ES" dirty="0">
                <a:ea typeface="+mn-lt"/>
                <a:cs typeface="+mn-lt"/>
              </a:rPr>
              <a:t>radial-</a:t>
            </a:r>
            <a:r>
              <a:rPr lang="es-ES" dirty="0" err="1">
                <a:ea typeface="+mn-lt"/>
                <a:cs typeface="+mn-lt"/>
              </a:rPr>
              <a:t>gradient</a:t>
            </a:r>
            <a:r>
              <a:rPr lang="es-ES" dirty="0">
                <a:ea typeface="+mn-lt"/>
                <a:cs typeface="+mn-lt"/>
              </a:rPr>
              <a:t>(): Crea un gradiente de color que se irradia desde un punto central.</a:t>
            </a:r>
          </a:p>
          <a:p>
            <a:pPr lvl="1">
              <a:buFont typeface="Courier New" panose="020B0604020202020204" pitchFamily="34" charset="0"/>
              <a:buChar char="o"/>
            </a:pPr>
            <a:r>
              <a:rPr lang="es-ES" dirty="0" err="1">
                <a:ea typeface="+mn-lt"/>
                <a:cs typeface="+mn-lt"/>
              </a:rPr>
              <a:t>conic-gradient</a:t>
            </a:r>
            <a:r>
              <a:rPr lang="es-ES" dirty="0">
                <a:ea typeface="+mn-lt"/>
                <a:cs typeface="+mn-lt"/>
              </a:rPr>
              <a:t>(): Crea un gradiente de color que gira alrededor de un punto central, ideal para gráficos circulares.</a:t>
            </a:r>
          </a:p>
          <a:p>
            <a:pPr marL="0" indent="0">
              <a:buNone/>
            </a:pPr>
            <a:r>
              <a:rPr lang="es-ES" b="1" dirty="0">
                <a:latin typeface="Courier New"/>
                <a:ea typeface="+mn-lt"/>
                <a:cs typeface="+mn-lt"/>
              </a:rPr>
              <a:t>.grafico-circular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background-image</a:t>
            </a:r>
            <a:r>
              <a:rPr lang="es-ES" b="1" dirty="0">
                <a:latin typeface="Courier New"/>
                <a:ea typeface="+mn-lt"/>
                <a:cs typeface="+mn-lt"/>
              </a:rPr>
              <a:t>: </a:t>
            </a:r>
            <a:r>
              <a:rPr lang="es-ES" b="1" dirty="0" err="1">
                <a:latin typeface="Courier New"/>
                <a:ea typeface="+mn-lt"/>
                <a:cs typeface="+mn-lt"/>
              </a:rPr>
              <a:t>conic-gradient</a:t>
            </a:r>
            <a:r>
              <a:rPr lang="es-ES" b="1" dirty="0">
                <a:latin typeface="Courier New"/>
                <a:ea typeface="+mn-lt"/>
                <a:cs typeface="+mn-lt"/>
              </a:rPr>
              <a:t>(blue, </a:t>
            </a:r>
            <a:r>
              <a:rPr lang="es-ES" b="1" dirty="0" err="1">
                <a:latin typeface="Courier New"/>
                <a:ea typeface="+mn-lt"/>
                <a:cs typeface="+mn-lt"/>
              </a:rPr>
              <a:t>green</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a:t>
            </a:r>
            <a:endParaRPr lang="es-ES" b="1" dirty="0">
              <a:latin typeface="Courier New"/>
              <a:cs typeface="Courier New"/>
            </a:endParaRPr>
          </a:p>
          <a:p>
            <a:endParaRPr lang="es-ES" dirty="0"/>
          </a:p>
        </p:txBody>
      </p:sp>
    </p:spTree>
    <p:extLst>
      <p:ext uri="{BB962C8B-B14F-4D97-AF65-F5344CB8AC3E}">
        <p14:creationId xmlns:p14="http://schemas.microsoft.com/office/powerpoint/2010/main" val="794405340"/>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4BC60C-C342-E53E-97D4-F21698BC22D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22CDECF-836B-7E0A-3EBA-50866EEEB916}"/>
              </a:ext>
            </a:extLst>
          </p:cNvPr>
          <p:cNvSpPr>
            <a:spLocks noGrp="1"/>
          </p:cNvSpPr>
          <p:nvPr>
            <p:ph type="title"/>
          </p:nvPr>
        </p:nvSpPr>
        <p:spPr/>
        <p:txBody>
          <a:bodyPr/>
          <a:lstStyle/>
          <a:p>
            <a:r>
              <a:rPr lang="es-ES" b="0" dirty="0">
                <a:ea typeface="+mj-lt"/>
                <a:cs typeface="+mj-lt"/>
              </a:rPr>
              <a:t>2.4.5.2. Variables, </a:t>
            </a:r>
            <a:r>
              <a:rPr lang="es-ES" b="0" dirty="0" err="1">
                <a:ea typeface="+mj-lt"/>
                <a:cs typeface="+mj-lt"/>
              </a:rPr>
              <a:t>mixins</a:t>
            </a:r>
            <a:r>
              <a:rPr lang="es-ES" b="0" dirty="0">
                <a:ea typeface="+mj-lt"/>
                <a:cs typeface="+mj-lt"/>
              </a:rPr>
              <a:t> y funciones.</a:t>
            </a:r>
            <a:endParaRPr lang="es-ES" dirty="0"/>
          </a:p>
        </p:txBody>
      </p:sp>
      <p:sp>
        <p:nvSpPr>
          <p:cNvPr id="3" name="Marcador de contenido 2">
            <a:extLst>
              <a:ext uri="{FF2B5EF4-FFF2-40B4-BE49-F238E27FC236}">
                <a16:creationId xmlns:a16="http://schemas.microsoft.com/office/drawing/2014/main" id="{49A1C960-22C6-4182-F1E2-28DDCBAD8DE9}"/>
              </a:ext>
            </a:extLst>
          </p:cNvPr>
          <p:cNvSpPr>
            <a:spLocks noGrp="1"/>
          </p:cNvSpPr>
          <p:nvPr>
            <p:ph idx="1"/>
          </p:nvPr>
        </p:nvSpPr>
        <p:spPr/>
        <p:txBody>
          <a:bodyPr vert="horz" lIns="91440" tIns="45720" rIns="91440" bIns="45720" rtlCol="0" anchor="t">
            <a:normAutofit/>
          </a:bodyPr>
          <a:lstStyle/>
          <a:p>
            <a:r>
              <a:rPr lang="es-ES" dirty="0">
                <a:ea typeface="+mn-lt"/>
                <a:cs typeface="+mn-lt"/>
              </a:rPr>
              <a:t>Otras funciones de utilidad</a:t>
            </a:r>
          </a:p>
          <a:p>
            <a:pPr lvl="1">
              <a:buFont typeface="Courier New" panose="020B0604020202020204" pitchFamily="34" charset="0"/>
              <a:buChar char="o"/>
            </a:pPr>
            <a:r>
              <a:rPr lang="es-ES" dirty="0" err="1">
                <a:ea typeface="+mn-lt"/>
                <a:cs typeface="+mn-lt"/>
              </a:rPr>
              <a:t>var</a:t>
            </a:r>
            <a:r>
              <a:rPr lang="es-ES" dirty="0">
                <a:ea typeface="+mn-lt"/>
                <a:cs typeface="+mn-lt"/>
              </a:rPr>
              <a:t>(): Se utiliza para insertar el valor de una propiedad personalizada (variable) en una propiedad de CSS.</a:t>
            </a:r>
          </a:p>
          <a:p>
            <a:r>
              <a:rPr lang="es-ES" dirty="0">
                <a:ea typeface="+mn-lt"/>
                <a:cs typeface="+mn-lt"/>
              </a:rPr>
              <a:t>Ejemplo: </a:t>
            </a:r>
            <a:r>
              <a:rPr lang="es-ES" b="1" dirty="0" err="1">
                <a:latin typeface="Courier New"/>
                <a:ea typeface="+mn-lt"/>
                <a:cs typeface="+mn-lt"/>
              </a:rPr>
              <a:t>background</a:t>
            </a:r>
            <a:r>
              <a:rPr lang="es-ES" b="1" dirty="0">
                <a:latin typeface="Courier New"/>
                <a:ea typeface="+mn-lt"/>
                <a:cs typeface="+mn-lt"/>
              </a:rPr>
              <a:t>-color: </a:t>
            </a:r>
            <a:r>
              <a:rPr lang="es-ES" b="1" dirty="0" err="1">
                <a:latin typeface="Courier New"/>
                <a:ea typeface="+mn-lt"/>
                <a:cs typeface="+mn-lt"/>
              </a:rPr>
              <a:t>var</a:t>
            </a:r>
            <a:r>
              <a:rPr lang="es-ES" b="1" dirty="0">
                <a:latin typeface="Courier New"/>
                <a:ea typeface="+mn-lt"/>
                <a:cs typeface="+mn-lt"/>
              </a:rPr>
              <a:t>(--color-primario);</a:t>
            </a:r>
          </a:p>
          <a:p>
            <a:pPr lvl="1">
              <a:buFont typeface="Courier New" panose="020B0604020202020204" pitchFamily="34" charset="0"/>
              <a:buChar char="o"/>
            </a:pPr>
            <a:r>
              <a:rPr lang="es-ES" dirty="0" err="1">
                <a:ea typeface="+mn-lt"/>
                <a:cs typeface="+mn-lt"/>
              </a:rPr>
              <a:t>attr</a:t>
            </a:r>
            <a:r>
              <a:rPr lang="es-ES" dirty="0">
                <a:ea typeface="+mn-lt"/>
                <a:cs typeface="+mn-lt"/>
              </a:rPr>
              <a:t>(): Recupera el valor de un atributo HTML del elemento seleccionado y lo usa en la propiedad </a:t>
            </a:r>
            <a:r>
              <a:rPr lang="es-ES" dirty="0" err="1">
                <a:ea typeface="+mn-lt"/>
                <a:cs typeface="+mn-lt"/>
              </a:rPr>
              <a:t>content</a:t>
            </a:r>
            <a:r>
              <a:rPr lang="es-ES" dirty="0">
                <a:ea typeface="+mn-lt"/>
                <a:cs typeface="+mn-lt"/>
              </a:rPr>
              <a:t>. Es útil para mostrar atributos de datos en el CSS.</a:t>
            </a:r>
          </a:p>
          <a:p>
            <a:r>
              <a:rPr lang="es-ES" b="1" dirty="0">
                <a:latin typeface="Courier New"/>
                <a:ea typeface="+mn-lt"/>
                <a:cs typeface="+mn-lt"/>
              </a:rPr>
              <a:t>.</a:t>
            </a:r>
            <a:r>
              <a:rPr lang="es-ES" b="1" dirty="0" err="1">
                <a:latin typeface="Courier New"/>
                <a:ea typeface="+mn-lt"/>
                <a:cs typeface="+mn-lt"/>
              </a:rPr>
              <a:t>tooltip</a:t>
            </a:r>
            <a:r>
              <a:rPr lang="es-ES" b="1" dirty="0">
                <a:latin typeface="Courier New"/>
                <a:ea typeface="+mn-lt"/>
                <a:cs typeface="+mn-lt"/>
              </a:rPr>
              <a:t>::after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content</a:t>
            </a:r>
            <a:r>
              <a:rPr lang="es-ES" b="1" dirty="0">
                <a:latin typeface="Courier New"/>
                <a:ea typeface="+mn-lt"/>
                <a:cs typeface="+mn-lt"/>
              </a:rPr>
              <a:t>: </a:t>
            </a:r>
            <a:r>
              <a:rPr lang="es-ES" b="1" dirty="0" err="1">
                <a:latin typeface="Courier New"/>
                <a:ea typeface="+mn-lt"/>
                <a:cs typeface="+mn-lt"/>
              </a:rPr>
              <a:t>attr</a:t>
            </a:r>
            <a:r>
              <a:rPr lang="es-ES" b="1" dirty="0">
                <a:latin typeface="Courier New"/>
                <a:ea typeface="+mn-lt"/>
                <a:cs typeface="+mn-lt"/>
              </a:rPr>
              <a:t>(data-</a:t>
            </a:r>
            <a:r>
              <a:rPr lang="es-ES" b="1" dirty="0" err="1">
                <a:latin typeface="Courier New"/>
                <a:ea typeface="+mn-lt"/>
                <a:cs typeface="+mn-lt"/>
              </a:rPr>
              <a:t>tooltip</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a:t>
            </a:r>
          </a:p>
          <a:p>
            <a:pPr lvl="1">
              <a:buFont typeface="Courier New" panose="020B0604020202020204" pitchFamily="34" charset="0"/>
              <a:buChar char="o"/>
            </a:pPr>
            <a:r>
              <a:rPr lang="es-ES" dirty="0" err="1">
                <a:ea typeface="+mn-lt"/>
                <a:cs typeface="+mn-lt"/>
              </a:rPr>
              <a:t>env</a:t>
            </a:r>
            <a:r>
              <a:rPr lang="es-ES" dirty="0">
                <a:ea typeface="+mn-lt"/>
                <a:cs typeface="+mn-lt"/>
              </a:rPr>
              <a:t>(): Obtiene valores definidos por el entorno de usuario, como áreas seguras en dispositivos móviles con "</a:t>
            </a:r>
            <a:r>
              <a:rPr lang="es-ES" dirty="0" err="1">
                <a:ea typeface="+mn-lt"/>
                <a:cs typeface="+mn-lt"/>
              </a:rPr>
              <a:t>notch</a:t>
            </a:r>
            <a:r>
              <a:rPr lang="es-ES" dirty="0">
                <a:ea typeface="+mn-lt"/>
                <a:cs typeface="+mn-lt"/>
              </a:rPr>
              <a:t>" o "muesca" en la pantalla.</a:t>
            </a:r>
            <a:endParaRPr lang="es-ES"/>
          </a:p>
        </p:txBody>
      </p:sp>
    </p:spTree>
    <p:extLst>
      <p:ext uri="{BB962C8B-B14F-4D97-AF65-F5344CB8AC3E}">
        <p14:creationId xmlns:p14="http://schemas.microsoft.com/office/powerpoint/2010/main" val="4019247145"/>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296DCF-4CE1-D148-DBD9-A36C6D4B246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69F168D-A8A6-CA8A-1A1E-9E249EA294BA}"/>
              </a:ext>
            </a:extLst>
          </p:cNvPr>
          <p:cNvSpPr>
            <a:spLocks noGrp="1"/>
          </p:cNvSpPr>
          <p:nvPr>
            <p:ph type="title"/>
          </p:nvPr>
        </p:nvSpPr>
        <p:spPr/>
        <p:txBody>
          <a:bodyPr/>
          <a:lstStyle/>
          <a:p>
            <a:r>
              <a:rPr lang="es-ES" b="0" dirty="0">
                <a:ea typeface="+mj-lt"/>
                <a:cs typeface="+mj-lt"/>
              </a:rPr>
              <a:t>2.4.5.2. Variables, </a:t>
            </a:r>
            <a:r>
              <a:rPr lang="es-ES" b="0" dirty="0" err="1">
                <a:ea typeface="+mj-lt"/>
                <a:cs typeface="+mj-lt"/>
              </a:rPr>
              <a:t>mixins</a:t>
            </a:r>
            <a:r>
              <a:rPr lang="es-ES" b="0" dirty="0">
                <a:ea typeface="+mj-lt"/>
                <a:cs typeface="+mj-lt"/>
              </a:rPr>
              <a:t> y funciones.</a:t>
            </a:r>
            <a:endParaRPr lang="es-ES" dirty="0"/>
          </a:p>
        </p:txBody>
      </p:sp>
      <p:sp>
        <p:nvSpPr>
          <p:cNvPr id="3" name="Marcador de contenido 2">
            <a:extLst>
              <a:ext uri="{FF2B5EF4-FFF2-40B4-BE49-F238E27FC236}">
                <a16:creationId xmlns:a16="http://schemas.microsoft.com/office/drawing/2014/main" id="{C07D5759-5282-3A0E-0B56-2163C65F1ECF}"/>
              </a:ext>
            </a:extLst>
          </p:cNvPr>
          <p:cNvSpPr>
            <a:spLocks noGrp="1"/>
          </p:cNvSpPr>
          <p:nvPr>
            <p:ph idx="1"/>
          </p:nvPr>
        </p:nvSpPr>
        <p:spPr/>
        <p:txBody>
          <a:bodyPr vert="horz" lIns="91440" tIns="45720" rIns="91440" bIns="45720" rtlCol="0" anchor="t">
            <a:normAutofit fontScale="77500" lnSpcReduction="20000"/>
          </a:bodyPr>
          <a:lstStyle/>
          <a:p>
            <a:r>
              <a:rPr lang="es-ES" dirty="0" err="1">
                <a:ea typeface="+mn-lt"/>
                <a:cs typeface="+mn-lt"/>
              </a:rPr>
              <a:t>Mixins</a:t>
            </a:r>
            <a:r>
              <a:rPr lang="es-ES" dirty="0">
                <a:ea typeface="+mn-lt"/>
                <a:cs typeface="+mn-lt"/>
              </a:rPr>
              <a:t>: En CSS nativo no existe un equivalente directo a los </a:t>
            </a:r>
            <a:r>
              <a:rPr lang="es-ES" dirty="0" err="1">
                <a:ea typeface="+mn-lt"/>
                <a:cs typeface="+mn-lt"/>
              </a:rPr>
              <a:t>mixins</a:t>
            </a:r>
            <a:r>
              <a:rPr lang="es-ES" dirty="0">
                <a:ea typeface="+mn-lt"/>
                <a:cs typeface="+mn-lt"/>
              </a:rPr>
              <a:t> de los preprocesadores. Los </a:t>
            </a:r>
            <a:r>
              <a:rPr lang="es-ES" dirty="0" err="1">
                <a:ea typeface="+mn-lt"/>
                <a:cs typeface="+mn-lt"/>
              </a:rPr>
              <a:t>mixins</a:t>
            </a:r>
            <a:r>
              <a:rPr lang="es-ES" dirty="0">
                <a:ea typeface="+mn-lt"/>
                <a:cs typeface="+mn-lt"/>
              </a:rPr>
              <a:t> son un concepto que se basa en la programación, que no está presente en el CSS estándar.</a:t>
            </a:r>
            <a:endParaRPr lang="es-ES" dirty="0"/>
          </a:p>
          <a:p>
            <a:r>
              <a:rPr lang="es-ES" dirty="0">
                <a:ea typeface="+mn-lt"/>
                <a:cs typeface="+mn-lt"/>
              </a:rPr>
              <a:t>Sin embargo, para lograr un efecto similar de reutilización, puedes usar una combinación de clases y propiedades personalizadas. Solución nativa: Usar una clase de utilidad que contenga las propiedades que necesitas reutilizar.</a:t>
            </a:r>
          </a:p>
          <a:p>
            <a:r>
              <a:rPr lang="es-ES" b="1" dirty="0">
                <a:latin typeface="Courier New"/>
                <a:ea typeface="+mn-lt"/>
                <a:cs typeface="+mn-lt"/>
              </a:rPr>
              <a:t>.</a:t>
            </a:r>
            <a:r>
              <a:rPr lang="es-ES" b="1" err="1">
                <a:latin typeface="Courier New"/>
                <a:ea typeface="+mn-lt"/>
                <a:cs typeface="+mn-lt"/>
              </a:rPr>
              <a:t>flex</a:t>
            </a:r>
            <a:r>
              <a:rPr lang="es-ES" b="1" dirty="0">
                <a:latin typeface="Courier New"/>
                <a:ea typeface="+mn-lt"/>
                <a:cs typeface="+mn-lt"/>
              </a:rPr>
              <a:t>-center {</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display</a:t>
            </a:r>
            <a:r>
              <a:rPr lang="es-ES" b="1" dirty="0">
                <a:latin typeface="Courier New"/>
                <a:ea typeface="+mn-lt"/>
                <a:cs typeface="+mn-lt"/>
              </a:rPr>
              <a:t>: </a:t>
            </a:r>
            <a:r>
              <a:rPr lang="es-ES" b="1" err="1">
                <a:latin typeface="Courier New"/>
                <a:ea typeface="+mn-lt"/>
                <a:cs typeface="+mn-lt"/>
              </a:rPr>
              <a:t>flex</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justify-content</a:t>
            </a:r>
            <a:r>
              <a:rPr lang="es-ES" b="1" dirty="0">
                <a:latin typeface="Courier New"/>
                <a:ea typeface="+mn-lt"/>
                <a:cs typeface="+mn-lt"/>
              </a:rPr>
              <a:t>: center;</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align-items</a:t>
            </a:r>
            <a:r>
              <a:rPr lang="es-ES" b="1" dirty="0">
                <a:latin typeface="Courier New"/>
                <a:ea typeface="+mn-lt"/>
                <a:cs typeface="+mn-lt"/>
              </a:rPr>
              <a:t>: center;</a:t>
            </a:r>
            <a:br>
              <a:rPr lang="es-ES" b="1" dirty="0">
                <a:latin typeface="Courier New"/>
                <a:ea typeface="+mn-lt"/>
                <a:cs typeface="+mn-lt"/>
              </a:rPr>
            </a:b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a:t>
            </a:r>
            <a:r>
              <a:rPr lang="es-ES" b="1" err="1">
                <a:latin typeface="Courier New"/>
                <a:ea typeface="+mn-lt"/>
                <a:cs typeface="+mn-lt"/>
              </a:rPr>
              <a:t>header-nav</a:t>
            </a: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 Se reutiliza el bloque de estilos del </a:t>
            </a:r>
            <a:r>
              <a:rPr lang="es-ES" b="1" err="1">
                <a:latin typeface="Courier New"/>
                <a:ea typeface="+mn-lt"/>
                <a:cs typeface="+mn-lt"/>
              </a:rPr>
              <a:t>mixin</a:t>
            </a:r>
            <a:r>
              <a:rPr lang="es-ES" b="1" dirty="0">
                <a:latin typeface="Courier New"/>
                <a:ea typeface="+mn-lt"/>
                <a:cs typeface="+mn-lt"/>
              </a:rPr>
              <a:t> con una clase */</a:t>
            </a:r>
            <a:br>
              <a:rPr lang="es-ES" b="1" dirty="0">
                <a:latin typeface="Courier New"/>
                <a:ea typeface="+mn-lt"/>
                <a:cs typeface="+mn-lt"/>
              </a:rPr>
            </a:br>
            <a:r>
              <a:rPr lang="es-ES" b="1" dirty="0">
                <a:latin typeface="Courier New"/>
                <a:ea typeface="+mn-lt"/>
                <a:cs typeface="+mn-lt"/>
              </a:rPr>
              <a:t>  @extend .</a:t>
            </a:r>
            <a:r>
              <a:rPr lang="es-ES" b="1" err="1">
                <a:latin typeface="Courier New"/>
                <a:ea typeface="+mn-lt"/>
                <a:cs typeface="+mn-lt"/>
              </a:rPr>
              <a:t>flex</a:t>
            </a:r>
            <a:r>
              <a:rPr lang="es-ES" b="1" dirty="0">
                <a:latin typeface="Courier New"/>
                <a:ea typeface="+mn-lt"/>
                <a:cs typeface="+mn-lt"/>
              </a:rPr>
              <a:t>-center; /* Sintaxis de </a:t>
            </a:r>
            <a:r>
              <a:rPr lang="es-ES" b="1" err="1">
                <a:latin typeface="Courier New"/>
                <a:ea typeface="+mn-lt"/>
                <a:cs typeface="+mn-lt"/>
              </a:rPr>
              <a:t>Sass</a:t>
            </a:r>
            <a:r>
              <a:rPr lang="es-ES" b="1" dirty="0">
                <a:latin typeface="Courier New"/>
                <a:ea typeface="+mn-lt"/>
                <a:cs typeface="+mn-lt"/>
              </a:rPr>
              <a:t>, no funciona en CSS nativo */</a:t>
            </a:r>
            <a:br>
              <a:rPr lang="es-ES" b="1" dirty="0">
                <a:latin typeface="Courier New"/>
                <a:ea typeface="+mn-lt"/>
                <a:cs typeface="+mn-lt"/>
              </a:rPr>
            </a:br>
            <a:r>
              <a:rPr lang="es-ES" b="1" dirty="0">
                <a:latin typeface="Courier New"/>
                <a:ea typeface="+mn-lt"/>
                <a:cs typeface="+mn-lt"/>
              </a:rPr>
              <a:t>  /* En CSS nativo, tendrías que aplicar ambas clases en el HTML: */</a:t>
            </a:r>
            <a:br>
              <a:rPr lang="es-ES" b="1" dirty="0">
                <a:latin typeface="Courier New"/>
                <a:ea typeface="+mn-lt"/>
                <a:cs typeface="+mn-lt"/>
              </a:rPr>
            </a:br>
            <a:r>
              <a:rPr lang="es-ES" b="1" dirty="0">
                <a:latin typeface="Courier New"/>
                <a:ea typeface="+mn-lt"/>
                <a:cs typeface="+mn-lt"/>
              </a:rPr>
              <a:t>  /* &lt;</a:t>
            </a:r>
            <a:r>
              <a:rPr lang="es-ES" b="1" err="1">
                <a:latin typeface="Courier New"/>
                <a:ea typeface="+mn-lt"/>
                <a:cs typeface="+mn-lt"/>
              </a:rPr>
              <a:t>div</a:t>
            </a:r>
            <a:r>
              <a:rPr lang="es-ES" b="1" dirty="0">
                <a:latin typeface="Courier New"/>
                <a:ea typeface="+mn-lt"/>
                <a:cs typeface="+mn-lt"/>
              </a:rPr>
              <a:t> </a:t>
            </a:r>
            <a:r>
              <a:rPr lang="es-ES" b="1" err="1">
                <a:latin typeface="Courier New"/>
                <a:ea typeface="+mn-lt"/>
                <a:cs typeface="+mn-lt"/>
              </a:rPr>
              <a:t>class</a:t>
            </a:r>
            <a:r>
              <a:rPr lang="es-ES" b="1" dirty="0">
                <a:latin typeface="Courier New"/>
                <a:ea typeface="+mn-lt"/>
                <a:cs typeface="+mn-lt"/>
              </a:rPr>
              <a:t>="</a:t>
            </a:r>
            <a:r>
              <a:rPr lang="es-ES" b="1" err="1">
                <a:latin typeface="Courier New"/>
                <a:ea typeface="+mn-lt"/>
                <a:cs typeface="+mn-lt"/>
              </a:rPr>
              <a:t>header-nav</a:t>
            </a:r>
            <a:r>
              <a:rPr lang="es-ES" b="1" dirty="0">
                <a:latin typeface="Courier New"/>
                <a:ea typeface="+mn-lt"/>
                <a:cs typeface="+mn-lt"/>
              </a:rPr>
              <a:t> </a:t>
            </a:r>
            <a:r>
              <a:rPr lang="es-ES" b="1" err="1">
                <a:latin typeface="Courier New"/>
                <a:ea typeface="+mn-lt"/>
                <a:cs typeface="+mn-lt"/>
              </a:rPr>
              <a:t>flex</a:t>
            </a:r>
            <a:r>
              <a:rPr lang="es-ES" b="1" dirty="0">
                <a:latin typeface="Courier New"/>
                <a:ea typeface="+mn-lt"/>
                <a:cs typeface="+mn-lt"/>
              </a:rPr>
              <a:t>-center"&gt;...&lt;/</a:t>
            </a:r>
            <a:r>
              <a:rPr lang="es-ES" b="1" err="1">
                <a:latin typeface="Courier New"/>
                <a:ea typeface="+mn-lt"/>
                <a:cs typeface="+mn-lt"/>
              </a:rPr>
              <a:t>div</a:t>
            </a:r>
            <a:r>
              <a:rPr lang="es-ES" b="1" dirty="0">
                <a:latin typeface="Courier New"/>
                <a:ea typeface="+mn-lt"/>
                <a:cs typeface="+mn-lt"/>
              </a:rPr>
              <a:t>&gt; */</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flex-direction</a:t>
            </a:r>
            <a:r>
              <a:rPr lang="es-ES" b="1" dirty="0">
                <a:latin typeface="Courier New"/>
                <a:ea typeface="+mn-lt"/>
                <a:cs typeface="+mn-lt"/>
              </a:rPr>
              <a:t>: </a:t>
            </a:r>
            <a:r>
              <a:rPr lang="es-ES" b="1" err="1">
                <a:latin typeface="Courier New"/>
                <a:ea typeface="+mn-lt"/>
                <a:cs typeface="+mn-lt"/>
              </a:rPr>
              <a:t>row</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  gap: 20px;</a:t>
            </a:r>
            <a:br>
              <a:rPr lang="es-ES" b="1" dirty="0">
                <a:latin typeface="Courier New"/>
                <a:ea typeface="+mn-lt"/>
                <a:cs typeface="+mn-lt"/>
              </a:rPr>
            </a:br>
            <a:r>
              <a:rPr lang="es-ES" b="1" dirty="0">
                <a:latin typeface="Courier New"/>
                <a:ea typeface="+mn-lt"/>
                <a:cs typeface="+mn-lt"/>
              </a:rPr>
              <a:t>}</a:t>
            </a:r>
            <a:endParaRPr lang="es-ES" b="1" dirty="0">
              <a:latin typeface="Courier New"/>
            </a:endParaRPr>
          </a:p>
        </p:txBody>
      </p:sp>
    </p:spTree>
    <p:extLst>
      <p:ext uri="{BB962C8B-B14F-4D97-AF65-F5344CB8AC3E}">
        <p14:creationId xmlns:p14="http://schemas.microsoft.com/office/powerpoint/2010/main" val="3248232506"/>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C3DF33-3ED5-24FD-FB9B-CB9799C0A6D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6F90138-32AE-9B2C-E4B8-116117DCA528}"/>
              </a:ext>
            </a:extLst>
          </p:cNvPr>
          <p:cNvSpPr>
            <a:spLocks noGrp="1"/>
          </p:cNvSpPr>
          <p:nvPr>
            <p:ph type="title"/>
          </p:nvPr>
        </p:nvSpPr>
        <p:spPr/>
        <p:txBody>
          <a:bodyPr/>
          <a:lstStyle/>
          <a:p>
            <a:r>
              <a:rPr lang="es-ES" b="0" dirty="0">
                <a:ea typeface="+mj-lt"/>
                <a:cs typeface="+mj-lt"/>
              </a:rPr>
              <a:t>2.4.5.2. Variables, </a:t>
            </a:r>
            <a:r>
              <a:rPr lang="es-ES" b="0" dirty="0" err="1">
                <a:ea typeface="+mj-lt"/>
                <a:cs typeface="+mj-lt"/>
              </a:rPr>
              <a:t>mixins</a:t>
            </a:r>
            <a:r>
              <a:rPr lang="es-ES" b="0" dirty="0">
                <a:ea typeface="+mj-lt"/>
                <a:cs typeface="+mj-lt"/>
              </a:rPr>
              <a:t> y funciones.</a:t>
            </a:r>
            <a:endParaRPr lang="es-ES" dirty="0"/>
          </a:p>
        </p:txBody>
      </p:sp>
      <p:sp>
        <p:nvSpPr>
          <p:cNvPr id="3" name="Marcador de contenido 2">
            <a:extLst>
              <a:ext uri="{FF2B5EF4-FFF2-40B4-BE49-F238E27FC236}">
                <a16:creationId xmlns:a16="http://schemas.microsoft.com/office/drawing/2014/main" id="{B24EB32F-9D9F-DDA3-2078-6D660CD65C9C}"/>
              </a:ext>
            </a:extLst>
          </p:cNvPr>
          <p:cNvSpPr>
            <a:spLocks noGrp="1"/>
          </p:cNvSpPr>
          <p:nvPr>
            <p:ph idx="1"/>
          </p:nvPr>
        </p:nvSpPr>
        <p:spPr/>
        <p:txBody>
          <a:bodyPr vert="horz" lIns="91440" tIns="45720" rIns="91440" bIns="45720" rtlCol="0" anchor="t">
            <a:normAutofit fontScale="55000" lnSpcReduction="20000"/>
          </a:bodyPr>
          <a:lstStyle/>
          <a:p>
            <a:r>
              <a:rPr lang="es-ES" dirty="0">
                <a:ea typeface="+mn-lt"/>
                <a:cs typeface="+mn-lt"/>
              </a:rPr>
              <a:t>Ejemplo completo con CSS nativo: El siguiente ejemplo combina propiedades personalizadas y la función </a:t>
            </a:r>
            <a:r>
              <a:rPr lang="es-ES" dirty="0" err="1">
                <a:ea typeface="+mn-lt"/>
                <a:cs typeface="+mn-lt"/>
              </a:rPr>
              <a:t>calc</a:t>
            </a:r>
            <a:r>
              <a:rPr lang="es-ES" dirty="0">
                <a:ea typeface="+mn-lt"/>
                <a:cs typeface="+mn-lt"/>
              </a:rPr>
              <a:t>() para crear un diseño de tarjeta reutilizable y dinámico.</a:t>
            </a:r>
          </a:p>
          <a:p>
            <a:pPr marL="0" indent="0">
              <a:buNone/>
            </a:pPr>
            <a:r>
              <a:rPr lang="es-ES" b="1" dirty="0">
                <a:latin typeface="Courier New"/>
                <a:ea typeface="+mn-lt"/>
                <a:cs typeface="+mn-lt"/>
              </a:rPr>
              <a:t>:</a:t>
            </a:r>
            <a:r>
              <a:rPr lang="es-ES" b="1" dirty="0" err="1">
                <a:latin typeface="Courier New"/>
                <a:ea typeface="+mn-lt"/>
                <a:cs typeface="+mn-lt"/>
              </a:rPr>
              <a:t>root</a:t>
            </a: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--color-primario: #3498db;</a:t>
            </a:r>
            <a:br>
              <a:rPr lang="es-ES" b="1" dirty="0">
                <a:latin typeface="Courier New"/>
                <a:ea typeface="+mn-lt"/>
                <a:cs typeface="+mn-lt"/>
              </a:rPr>
            </a:br>
            <a:r>
              <a:rPr lang="es-ES" b="1" dirty="0">
                <a:latin typeface="Courier New"/>
                <a:ea typeface="+mn-lt"/>
                <a:cs typeface="+mn-lt"/>
              </a:rPr>
              <a:t>  --color-texto: #333;</a:t>
            </a:r>
            <a:br>
              <a:rPr lang="es-ES" b="1" dirty="0">
                <a:latin typeface="Courier New"/>
                <a:ea typeface="+mn-lt"/>
                <a:cs typeface="+mn-lt"/>
              </a:rPr>
            </a:br>
            <a:r>
              <a:rPr lang="es-ES" b="1" dirty="0">
                <a:latin typeface="Courier New"/>
                <a:ea typeface="+mn-lt"/>
                <a:cs typeface="+mn-lt"/>
              </a:rPr>
              <a:t>  --sombra-caja: 0 4px 8px </a:t>
            </a:r>
            <a:r>
              <a:rPr lang="es-ES" b="1" dirty="0" err="1">
                <a:latin typeface="Courier New"/>
                <a:ea typeface="+mn-lt"/>
                <a:cs typeface="+mn-lt"/>
              </a:rPr>
              <a:t>rgba</a:t>
            </a:r>
            <a:r>
              <a:rPr lang="es-ES" b="1" dirty="0">
                <a:latin typeface="Courier New"/>
                <a:ea typeface="+mn-lt"/>
                <a:cs typeface="+mn-lt"/>
              </a:rPr>
              <a:t>(0, 0, 0, 0.1);</a:t>
            </a:r>
            <a:br>
              <a:rPr lang="es-ES" b="1" dirty="0">
                <a:latin typeface="Courier New"/>
                <a:ea typeface="+mn-lt"/>
                <a:cs typeface="+mn-lt"/>
              </a:rPr>
            </a:br>
            <a:r>
              <a:rPr lang="es-ES" b="1" dirty="0">
                <a:latin typeface="Courier New"/>
                <a:ea typeface="+mn-lt"/>
                <a:cs typeface="+mn-lt"/>
              </a:rPr>
              <a:t>  --espaciado: 20px;</a:t>
            </a:r>
            <a:br>
              <a:rPr lang="es-ES" b="1" dirty="0">
                <a:latin typeface="Courier New"/>
                <a:ea typeface="+mn-lt"/>
                <a:cs typeface="+mn-lt"/>
              </a:rPr>
            </a:b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.tarjeta-producto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background</a:t>
            </a:r>
            <a:r>
              <a:rPr lang="es-ES" b="1" dirty="0">
                <a:latin typeface="Courier New"/>
                <a:ea typeface="+mn-lt"/>
                <a:cs typeface="+mn-lt"/>
              </a:rPr>
              <a:t>-color: </a:t>
            </a:r>
            <a:r>
              <a:rPr lang="es-ES" b="1" dirty="0" err="1">
                <a:latin typeface="Courier New"/>
                <a:ea typeface="+mn-lt"/>
                <a:cs typeface="+mn-lt"/>
              </a:rPr>
              <a:t>white</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border-radius</a:t>
            </a:r>
            <a:r>
              <a:rPr lang="es-ES" b="1" dirty="0">
                <a:latin typeface="Courier New"/>
                <a:ea typeface="+mn-lt"/>
                <a:cs typeface="+mn-lt"/>
              </a:rPr>
              <a:t>: 8px;</a:t>
            </a:r>
            <a:br>
              <a:rPr lang="es-ES" b="1" dirty="0">
                <a:latin typeface="Courier New"/>
                <a:ea typeface="+mn-lt"/>
                <a:cs typeface="+mn-lt"/>
              </a:rPr>
            </a:br>
            <a:r>
              <a:rPr lang="es-ES" b="1" dirty="0">
                <a:latin typeface="Courier New"/>
                <a:ea typeface="+mn-lt"/>
                <a:cs typeface="+mn-lt"/>
              </a:rPr>
              <a:t>  box-</a:t>
            </a:r>
            <a:r>
              <a:rPr lang="es-ES" b="1" dirty="0" err="1">
                <a:latin typeface="Courier New"/>
                <a:ea typeface="+mn-lt"/>
                <a:cs typeface="+mn-lt"/>
              </a:rPr>
              <a:t>shadow</a:t>
            </a:r>
            <a:r>
              <a:rPr lang="es-ES" b="1" dirty="0">
                <a:latin typeface="Courier New"/>
                <a:ea typeface="+mn-lt"/>
                <a:cs typeface="+mn-lt"/>
              </a:rPr>
              <a:t>: </a:t>
            </a:r>
            <a:r>
              <a:rPr lang="es-ES" b="1" dirty="0" err="1">
                <a:latin typeface="Courier New"/>
                <a:ea typeface="+mn-lt"/>
                <a:cs typeface="+mn-lt"/>
              </a:rPr>
              <a:t>var</a:t>
            </a:r>
            <a:r>
              <a:rPr lang="es-ES" b="1" dirty="0">
                <a:latin typeface="Courier New"/>
                <a:ea typeface="+mn-lt"/>
                <a:cs typeface="+mn-lt"/>
              </a:rPr>
              <a:t>(--sombra-caja);</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padding</a:t>
            </a:r>
            <a:r>
              <a:rPr lang="es-ES" b="1" dirty="0">
                <a:latin typeface="Courier New"/>
                <a:ea typeface="+mn-lt"/>
                <a:cs typeface="+mn-lt"/>
              </a:rPr>
              <a:t>: </a:t>
            </a:r>
            <a:r>
              <a:rPr lang="es-ES" b="1" dirty="0" err="1">
                <a:latin typeface="Courier New"/>
                <a:ea typeface="+mn-lt"/>
                <a:cs typeface="+mn-lt"/>
              </a:rPr>
              <a:t>var</a:t>
            </a:r>
            <a:r>
              <a:rPr lang="es-ES" b="1" dirty="0">
                <a:latin typeface="Courier New"/>
                <a:ea typeface="+mn-lt"/>
                <a:cs typeface="+mn-lt"/>
              </a:rPr>
              <a:t>(--espaciado);</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max-width</a:t>
            </a:r>
            <a:r>
              <a:rPr lang="es-ES" b="1" dirty="0">
                <a:latin typeface="Courier New"/>
                <a:ea typeface="+mn-lt"/>
                <a:cs typeface="+mn-lt"/>
              </a:rPr>
              <a:t>: 300px;</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margin</a:t>
            </a:r>
            <a:r>
              <a:rPr lang="es-ES" b="1" dirty="0">
                <a:latin typeface="Courier New"/>
                <a:ea typeface="+mn-lt"/>
                <a:cs typeface="+mn-lt"/>
              </a:rPr>
              <a:t>: </a:t>
            </a:r>
            <a:r>
              <a:rPr lang="es-ES" b="1" dirty="0" err="1">
                <a:latin typeface="Courier New"/>
                <a:ea typeface="+mn-lt"/>
                <a:cs typeface="+mn-lt"/>
              </a:rPr>
              <a:t>var</a:t>
            </a:r>
            <a:r>
              <a:rPr lang="es-ES" b="1" dirty="0">
                <a:latin typeface="Courier New"/>
                <a:ea typeface="+mn-lt"/>
                <a:cs typeface="+mn-lt"/>
              </a:rPr>
              <a:t>(--espaciado);</a:t>
            </a:r>
            <a:br>
              <a:rPr lang="es-ES" b="1" dirty="0">
                <a:latin typeface="Courier New"/>
                <a:ea typeface="+mn-lt"/>
                <a:cs typeface="+mn-lt"/>
              </a:rPr>
            </a:b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.tarjeta-producto h3 {</a:t>
            </a:r>
            <a:br>
              <a:rPr lang="es-ES" b="1" dirty="0">
                <a:latin typeface="Courier New"/>
                <a:ea typeface="+mn-lt"/>
                <a:cs typeface="+mn-lt"/>
              </a:rPr>
            </a:br>
            <a:r>
              <a:rPr lang="es-ES" b="1" dirty="0">
                <a:latin typeface="Courier New"/>
                <a:ea typeface="+mn-lt"/>
                <a:cs typeface="+mn-lt"/>
              </a:rPr>
              <a:t>  color: </a:t>
            </a:r>
            <a:r>
              <a:rPr lang="es-ES" b="1" dirty="0" err="1">
                <a:latin typeface="Courier New"/>
                <a:ea typeface="+mn-lt"/>
                <a:cs typeface="+mn-lt"/>
              </a:rPr>
              <a:t>var</a:t>
            </a:r>
            <a:r>
              <a:rPr lang="es-ES" b="1" dirty="0">
                <a:latin typeface="Courier New"/>
                <a:ea typeface="+mn-lt"/>
                <a:cs typeface="+mn-lt"/>
              </a:rPr>
              <a:t>(--color-primario);</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font-size</a:t>
            </a:r>
            <a:r>
              <a:rPr lang="es-ES" b="1" dirty="0">
                <a:latin typeface="Courier New"/>
                <a:ea typeface="+mn-lt"/>
                <a:cs typeface="+mn-lt"/>
              </a:rPr>
              <a:t>: 1.5rem;</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margin</a:t>
            </a:r>
            <a:r>
              <a:rPr lang="es-ES" b="1" dirty="0">
                <a:latin typeface="Courier New"/>
                <a:ea typeface="+mn-lt"/>
                <a:cs typeface="+mn-lt"/>
              </a:rPr>
              <a:t>-bottom: </a:t>
            </a:r>
            <a:r>
              <a:rPr lang="es-ES" b="1" dirty="0" err="1">
                <a:latin typeface="Courier New"/>
                <a:ea typeface="+mn-lt"/>
                <a:cs typeface="+mn-lt"/>
              </a:rPr>
              <a:t>calc</a:t>
            </a:r>
            <a:r>
              <a:rPr lang="es-ES" b="1" dirty="0">
                <a:latin typeface="Courier New"/>
                <a:ea typeface="+mn-lt"/>
                <a:cs typeface="+mn-lt"/>
              </a:rPr>
              <a:t>(</a:t>
            </a:r>
            <a:r>
              <a:rPr lang="es-ES" b="1" dirty="0" err="1">
                <a:latin typeface="Courier New"/>
                <a:ea typeface="+mn-lt"/>
                <a:cs typeface="+mn-lt"/>
              </a:rPr>
              <a:t>var</a:t>
            </a:r>
            <a:r>
              <a:rPr lang="es-ES" b="1" dirty="0">
                <a:latin typeface="Courier New"/>
                <a:ea typeface="+mn-lt"/>
                <a:cs typeface="+mn-lt"/>
              </a:rPr>
              <a:t>(--espaciado) / 2); /* Uso de </a:t>
            </a:r>
            <a:r>
              <a:rPr lang="es-ES" b="1" dirty="0" err="1">
                <a:latin typeface="Courier New"/>
                <a:ea typeface="+mn-lt"/>
                <a:cs typeface="+mn-lt"/>
              </a:rPr>
              <a:t>calc</a:t>
            </a:r>
            <a:r>
              <a:rPr lang="es-ES" b="1" dirty="0">
                <a:latin typeface="Courier New"/>
                <a:ea typeface="+mn-lt"/>
                <a:cs typeface="+mn-lt"/>
              </a:rPr>
              <a:t>() para un espaciado dinámico */</a:t>
            </a:r>
            <a:br>
              <a:rPr lang="es-ES" b="1" dirty="0">
                <a:latin typeface="Courier New"/>
                <a:ea typeface="+mn-lt"/>
                <a:cs typeface="+mn-lt"/>
              </a:rPr>
            </a:b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.tarjeta-producto p {</a:t>
            </a:r>
            <a:br>
              <a:rPr lang="es-ES" b="1" dirty="0">
                <a:latin typeface="Courier New"/>
                <a:ea typeface="+mn-lt"/>
                <a:cs typeface="+mn-lt"/>
              </a:rPr>
            </a:br>
            <a:r>
              <a:rPr lang="es-ES" b="1" dirty="0">
                <a:latin typeface="Courier New"/>
                <a:ea typeface="+mn-lt"/>
                <a:cs typeface="+mn-lt"/>
              </a:rPr>
              <a:t>  color: </a:t>
            </a:r>
            <a:r>
              <a:rPr lang="es-ES" b="1" dirty="0" err="1">
                <a:latin typeface="Courier New"/>
                <a:ea typeface="+mn-lt"/>
                <a:cs typeface="+mn-lt"/>
              </a:rPr>
              <a:t>var</a:t>
            </a:r>
            <a:r>
              <a:rPr lang="es-ES" b="1" dirty="0">
                <a:latin typeface="Courier New"/>
                <a:ea typeface="+mn-lt"/>
                <a:cs typeface="+mn-lt"/>
              </a:rPr>
              <a:t>(--color-texto);</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font-size</a:t>
            </a:r>
            <a:r>
              <a:rPr lang="es-ES" b="1" dirty="0">
                <a:latin typeface="Courier New"/>
                <a:ea typeface="+mn-lt"/>
                <a:cs typeface="+mn-lt"/>
              </a:rPr>
              <a:t>: 1rem;</a:t>
            </a:r>
            <a:br>
              <a:rPr lang="es-ES" b="1" dirty="0">
                <a:latin typeface="Courier New"/>
                <a:ea typeface="+mn-lt"/>
                <a:cs typeface="+mn-lt"/>
              </a:rPr>
            </a:br>
            <a:r>
              <a:rPr lang="es-ES" b="1" dirty="0">
                <a:latin typeface="Courier New"/>
                <a:ea typeface="+mn-lt"/>
                <a:cs typeface="+mn-lt"/>
              </a:rPr>
              <a:t>  line-</a:t>
            </a:r>
            <a:r>
              <a:rPr lang="es-ES" b="1" dirty="0" err="1">
                <a:latin typeface="Courier New"/>
                <a:ea typeface="+mn-lt"/>
                <a:cs typeface="+mn-lt"/>
              </a:rPr>
              <a:t>height</a:t>
            </a:r>
            <a:r>
              <a:rPr lang="es-ES" b="1" dirty="0">
                <a:latin typeface="Courier New"/>
                <a:ea typeface="+mn-lt"/>
                <a:cs typeface="+mn-lt"/>
              </a:rPr>
              <a:t>: 1.5;</a:t>
            </a:r>
            <a:br>
              <a:rPr lang="en-US" b="1" dirty="0">
                <a:latin typeface="Courier New"/>
              </a:rPr>
            </a:br>
            <a:r>
              <a:rPr lang="es-ES" b="1" dirty="0">
                <a:latin typeface="Courier New"/>
                <a:ea typeface="+mn-lt"/>
                <a:cs typeface="+mn-lt"/>
              </a:rPr>
              <a:t>}</a:t>
            </a:r>
          </a:p>
          <a:p>
            <a:endParaRPr lang="es-ES" dirty="0">
              <a:latin typeface="Bierstadt"/>
            </a:endParaRPr>
          </a:p>
        </p:txBody>
      </p:sp>
    </p:spTree>
    <p:extLst>
      <p:ext uri="{BB962C8B-B14F-4D97-AF65-F5344CB8AC3E}">
        <p14:creationId xmlns:p14="http://schemas.microsoft.com/office/powerpoint/2010/main" val="844158454"/>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7E05D7-8204-80FD-1E33-B9D10505258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686C8D0-56E5-CE78-999E-144A4796BC88}"/>
              </a:ext>
            </a:extLst>
          </p:cNvPr>
          <p:cNvSpPr>
            <a:spLocks noGrp="1"/>
          </p:cNvSpPr>
          <p:nvPr>
            <p:ph type="title"/>
          </p:nvPr>
        </p:nvSpPr>
        <p:spPr/>
        <p:txBody>
          <a:bodyPr/>
          <a:lstStyle/>
          <a:p>
            <a:r>
              <a:rPr lang="es-ES" b="0" dirty="0">
                <a:ea typeface="+mj-lt"/>
                <a:cs typeface="+mj-lt"/>
              </a:rPr>
              <a:t>2.4.5.3. Anidamiento y </a:t>
            </a:r>
            <a:r>
              <a:rPr lang="es-ES" b="0" dirty="0" err="1">
                <a:ea typeface="+mj-lt"/>
                <a:cs typeface="+mj-lt"/>
              </a:rPr>
              <a:t>modularización</a:t>
            </a:r>
            <a:r>
              <a:rPr lang="es-ES" b="0" dirty="0">
                <a:ea typeface="+mj-lt"/>
                <a:cs typeface="+mj-lt"/>
              </a:rPr>
              <a:t> del código.</a:t>
            </a:r>
            <a:endParaRPr lang="es-ES" dirty="0"/>
          </a:p>
        </p:txBody>
      </p:sp>
      <p:sp>
        <p:nvSpPr>
          <p:cNvPr id="3" name="Marcador de contenido 2">
            <a:extLst>
              <a:ext uri="{FF2B5EF4-FFF2-40B4-BE49-F238E27FC236}">
                <a16:creationId xmlns:a16="http://schemas.microsoft.com/office/drawing/2014/main" id="{CE7604C1-44A3-7632-9323-A10CD3BD3232}"/>
              </a:ext>
            </a:extLst>
          </p:cNvPr>
          <p:cNvSpPr>
            <a:spLocks noGrp="1"/>
          </p:cNvSpPr>
          <p:nvPr>
            <p:ph idx="1"/>
          </p:nvPr>
        </p:nvSpPr>
        <p:spPr/>
        <p:txBody>
          <a:bodyPr vert="horz" lIns="91440" tIns="45720" rIns="91440" bIns="45720" rtlCol="0" anchor="t">
            <a:normAutofit fontScale="55000" lnSpcReduction="20000"/>
          </a:bodyPr>
          <a:lstStyle/>
          <a:p>
            <a:r>
              <a:rPr lang="es-ES" dirty="0">
                <a:ea typeface="+mn-lt"/>
                <a:cs typeface="+mn-lt"/>
              </a:rPr>
              <a:t>El anidamiento y la </a:t>
            </a:r>
            <a:r>
              <a:rPr lang="es-ES" dirty="0" err="1">
                <a:ea typeface="+mn-lt"/>
                <a:cs typeface="+mn-lt"/>
              </a:rPr>
              <a:t>modularización</a:t>
            </a:r>
            <a:r>
              <a:rPr lang="es-ES" dirty="0">
                <a:ea typeface="+mn-lt"/>
                <a:cs typeface="+mn-lt"/>
              </a:rPr>
              <a:t> del código son dos de los principios más importantes que los preprocesadores de CSS (como </a:t>
            </a:r>
            <a:r>
              <a:rPr lang="es-ES" dirty="0" err="1">
                <a:ea typeface="+mn-lt"/>
                <a:cs typeface="+mn-lt"/>
              </a:rPr>
              <a:t>Sass</a:t>
            </a:r>
            <a:r>
              <a:rPr lang="es-ES" dirty="0">
                <a:ea typeface="+mn-lt"/>
                <a:cs typeface="+mn-lt"/>
              </a:rPr>
              <a:t> o </a:t>
            </a:r>
            <a:r>
              <a:rPr lang="es-ES" dirty="0" err="1">
                <a:ea typeface="+mn-lt"/>
                <a:cs typeface="+mn-lt"/>
              </a:rPr>
              <a:t>Less</a:t>
            </a:r>
            <a:r>
              <a:rPr lang="es-ES" dirty="0">
                <a:ea typeface="+mn-lt"/>
                <a:cs typeface="+mn-lt"/>
              </a:rPr>
              <a:t>) han popularizado. Estas prácticas ayudan a mantener un código CSS limpio, organizado y fácil de mantener, especialmente en proyectos grandes.</a:t>
            </a:r>
            <a:endParaRPr lang="es-ES" dirty="0"/>
          </a:p>
          <a:p>
            <a:r>
              <a:rPr lang="es-ES" dirty="0">
                <a:ea typeface="+mn-lt"/>
                <a:cs typeface="+mn-lt"/>
              </a:rPr>
              <a:t>Anidamiento (</a:t>
            </a:r>
            <a:r>
              <a:rPr lang="es-ES" dirty="0" err="1">
                <a:ea typeface="+mn-lt"/>
                <a:cs typeface="+mn-lt"/>
              </a:rPr>
              <a:t>Nesting</a:t>
            </a:r>
            <a:r>
              <a:rPr lang="es-ES" dirty="0">
                <a:ea typeface="+mn-lt"/>
                <a:cs typeface="+mn-lt"/>
              </a:rPr>
              <a:t>). El anidamiento te permite escribir selectores de CSS unos dentro de otros, lo que imita la estructura jerárquica del HTML. Esto no solo hace que tu código sea más legible, sino que también evita la repetición de selectores padres.</a:t>
            </a:r>
            <a:endParaRPr lang="es-ES" dirty="0"/>
          </a:p>
          <a:p>
            <a:pPr marL="0" indent="0">
              <a:buNone/>
            </a:pPr>
            <a:r>
              <a:rPr lang="es-ES" b="1" dirty="0">
                <a:latin typeface="Courier New"/>
                <a:ea typeface="+mn-lt"/>
                <a:cs typeface="+mn-lt"/>
              </a:rPr>
              <a:t>// Código en un preprocesador (SCSS)</a:t>
            </a:r>
            <a:br>
              <a:rPr lang="es-ES" b="1" dirty="0">
                <a:latin typeface="Courier New"/>
                <a:ea typeface="+mn-lt"/>
                <a:cs typeface="+mn-lt"/>
              </a:rPr>
            </a:br>
            <a:r>
              <a:rPr lang="es-ES" b="1" dirty="0">
                <a:latin typeface="Courier New"/>
                <a:ea typeface="+mn-lt"/>
                <a:cs typeface="+mn-lt"/>
              </a:rPr>
              <a:t>.</a:t>
            </a:r>
            <a:r>
              <a:rPr lang="es-ES" b="1" dirty="0" err="1">
                <a:latin typeface="Courier New"/>
                <a:ea typeface="+mn-lt"/>
                <a:cs typeface="+mn-lt"/>
              </a:rPr>
              <a:t>card</a:t>
            </a: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padding</a:t>
            </a:r>
            <a:r>
              <a:rPr lang="es-ES" b="1" dirty="0">
                <a:latin typeface="Courier New"/>
                <a:ea typeface="+mn-lt"/>
                <a:cs typeface="+mn-lt"/>
              </a:rPr>
              <a:t>: 20px;</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border</a:t>
            </a:r>
            <a:r>
              <a:rPr lang="es-ES" b="1" dirty="0">
                <a:latin typeface="Courier New"/>
                <a:ea typeface="+mn-lt"/>
                <a:cs typeface="+mn-lt"/>
              </a:rPr>
              <a:t>: 1px </a:t>
            </a:r>
            <a:r>
              <a:rPr lang="es-ES" b="1" dirty="0" err="1">
                <a:latin typeface="Courier New"/>
                <a:ea typeface="+mn-lt"/>
                <a:cs typeface="+mn-lt"/>
              </a:rPr>
              <a:t>solid</a:t>
            </a:r>
            <a:r>
              <a:rPr lang="es-ES" b="1" dirty="0">
                <a:latin typeface="Courier New"/>
                <a:ea typeface="+mn-lt"/>
                <a:cs typeface="+mn-lt"/>
              </a:rPr>
              <a:t> #ccc;</a:t>
            </a:r>
            <a:br>
              <a:rPr lang="es-ES" b="1" dirty="0">
                <a:latin typeface="Courier New"/>
                <a:ea typeface="+mn-lt"/>
                <a:cs typeface="+mn-lt"/>
              </a:rPr>
            </a:br>
            <a:r>
              <a:rPr lang="es-ES" b="1" dirty="0">
                <a:latin typeface="Courier New"/>
                <a:ea typeface="+mn-lt"/>
                <a:cs typeface="+mn-lt"/>
              </a:rPr>
              <a:t>  h3 {</a:t>
            </a:r>
            <a:br>
              <a:rPr lang="es-ES" b="1" dirty="0">
                <a:latin typeface="Courier New"/>
                <a:ea typeface="+mn-lt"/>
                <a:cs typeface="+mn-lt"/>
              </a:rPr>
            </a:br>
            <a:r>
              <a:rPr lang="es-ES" b="1" dirty="0">
                <a:latin typeface="Courier New"/>
                <a:ea typeface="+mn-lt"/>
                <a:cs typeface="+mn-lt"/>
              </a:rPr>
              <a:t>    color: #333;</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font-size</a:t>
            </a:r>
            <a:r>
              <a:rPr lang="es-ES" b="1" dirty="0">
                <a:latin typeface="Courier New"/>
                <a:ea typeface="+mn-lt"/>
                <a:cs typeface="+mn-lt"/>
              </a:rPr>
              <a:t>: 1.5rem;</a:t>
            </a:r>
            <a:br>
              <a:rPr lang="es-ES" b="1" dirty="0">
                <a:latin typeface="Courier New"/>
                <a:ea typeface="+mn-lt"/>
                <a:cs typeface="+mn-lt"/>
              </a:rPr>
            </a:b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p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font-size</a:t>
            </a:r>
            <a:r>
              <a:rPr lang="es-ES" b="1" dirty="0">
                <a:latin typeface="Courier New"/>
                <a:ea typeface="+mn-lt"/>
                <a:cs typeface="+mn-lt"/>
              </a:rPr>
              <a:t>: 1rem;</a:t>
            </a:r>
            <a:br>
              <a:rPr lang="es-ES" b="1" dirty="0">
                <a:latin typeface="Courier New"/>
                <a:ea typeface="+mn-lt"/>
                <a:cs typeface="+mn-lt"/>
              </a:rPr>
            </a:br>
            <a:r>
              <a:rPr lang="es-ES" b="1" dirty="0">
                <a:latin typeface="Courier New"/>
                <a:ea typeface="+mn-lt"/>
                <a:cs typeface="+mn-lt"/>
              </a:rPr>
              <a:t>    // Uso del </a:t>
            </a:r>
            <a:r>
              <a:rPr lang="es-ES" b="1" dirty="0" err="1">
                <a:latin typeface="Courier New"/>
                <a:ea typeface="+mn-lt"/>
                <a:cs typeface="+mn-lt"/>
              </a:rPr>
              <a:t>ampersand</a:t>
            </a:r>
            <a:r>
              <a:rPr lang="es-ES" b="1" dirty="0">
                <a:latin typeface="Courier New"/>
                <a:ea typeface="+mn-lt"/>
                <a:cs typeface="+mn-lt"/>
              </a:rPr>
              <a:t> '&amp;' para </a:t>
            </a:r>
            <a:r>
              <a:rPr lang="es-ES" b="1" dirty="0" err="1">
                <a:latin typeface="Courier New"/>
                <a:ea typeface="+mn-lt"/>
                <a:cs typeface="+mn-lt"/>
              </a:rPr>
              <a:t>pseudo-clases</a:t>
            </a:r>
            <a:br>
              <a:rPr lang="es-ES" b="1" dirty="0">
                <a:latin typeface="Courier New"/>
                <a:ea typeface="+mn-lt"/>
                <a:cs typeface="+mn-lt"/>
              </a:rPr>
            </a:br>
            <a:r>
              <a:rPr lang="es-ES" b="1" dirty="0">
                <a:latin typeface="Courier New"/>
                <a:ea typeface="+mn-lt"/>
                <a:cs typeface="+mn-lt"/>
              </a:rPr>
              <a:t>    a {</a:t>
            </a:r>
            <a:br>
              <a:rPr lang="es-ES" b="1" dirty="0">
                <a:latin typeface="Courier New"/>
                <a:ea typeface="+mn-lt"/>
                <a:cs typeface="+mn-lt"/>
              </a:rPr>
            </a:br>
            <a:r>
              <a:rPr lang="es-ES" b="1" dirty="0">
                <a:latin typeface="Courier New"/>
                <a:ea typeface="+mn-lt"/>
                <a:cs typeface="+mn-lt"/>
              </a:rPr>
              <a:t>      color: #007bff;</a:t>
            </a:r>
            <a:br>
              <a:rPr lang="es-ES" b="1" dirty="0">
                <a:latin typeface="Courier New"/>
                <a:ea typeface="+mn-lt"/>
                <a:cs typeface="+mn-lt"/>
              </a:rPr>
            </a:br>
            <a:r>
              <a:rPr lang="es-ES" b="1" dirty="0">
                <a:latin typeface="Courier New"/>
                <a:ea typeface="+mn-lt"/>
                <a:cs typeface="+mn-lt"/>
              </a:rPr>
              <a:t>      &amp;:</a:t>
            </a:r>
            <a:r>
              <a:rPr lang="es-ES" b="1" dirty="0" err="1">
                <a:latin typeface="Courier New"/>
                <a:ea typeface="+mn-lt"/>
                <a:cs typeface="+mn-lt"/>
              </a:rPr>
              <a:t>hover</a:t>
            </a: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text-decoration</a:t>
            </a:r>
            <a:r>
              <a:rPr lang="es-ES" b="1" dirty="0">
                <a:latin typeface="Courier New"/>
                <a:ea typeface="+mn-lt"/>
                <a:cs typeface="+mn-lt"/>
              </a:rPr>
              <a:t>: </a:t>
            </a:r>
            <a:r>
              <a:rPr lang="es-ES" b="1" dirty="0" err="1">
                <a:latin typeface="Courier New"/>
                <a:ea typeface="+mn-lt"/>
                <a:cs typeface="+mn-lt"/>
              </a:rPr>
              <a:t>underline</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a:t>
            </a:r>
            <a:endParaRPr lang="es-ES" b="1" dirty="0">
              <a:latin typeface="Courier New"/>
              <a:cs typeface="Courier New"/>
            </a:endParaRPr>
          </a:p>
          <a:p>
            <a:endParaRPr lang="es-ES" dirty="0"/>
          </a:p>
        </p:txBody>
      </p:sp>
    </p:spTree>
    <p:extLst>
      <p:ext uri="{BB962C8B-B14F-4D97-AF65-F5344CB8AC3E}">
        <p14:creationId xmlns:p14="http://schemas.microsoft.com/office/powerpoint/2010/main" val="3206694149"/>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93E9AB-45EB-1391-948C-60F84E5D150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F8C6ABE-063F-C230-71F2-9E949913A53C}"/>
              </a:ext>
            </a:extLst>
          </p:cNvPr>
          <p:cNvSpPr>
            <a:spLocks noGrp="1"/>
          </p:cNvSpPr>
          <p:nvPr>
            <p:ph type="title"/>
          </p:nvPr>
        </p:nvSpPr>
        <p:spPr/>
        <p:txBody>
          <a:bodyPr/>
          <a:lstStyle/>
          <a:p>
            <a:r>
              <a:rPr lang="es-ES" b="0" dirty="0">
                <a:ea typeface="+mj-lt"/>
                <a:cs typeface="+mj-lt"/>
              </a:rPr>
              <a:t>2.4.5.3. Anidamiento y </a:t>
            </a:r>
            <a:r>
              <a:rPr lang="es-ES" b="0" dirty="0" err="1">
                <a:ea typeface="+mj-lt"/>
                <a:cs typeface="+mj-lt"/>
              </a:rPr>
              <a:t>modularización</a:t>
            </a:r>
            <a:r>
              <a:rPr lang="es-ES" b="0" dirty="0">
                <a:ea typeface="+mj-lt"/>
                <a:cs typeface="+mj-lt"/>
              </a:rPr>
              <a:t> del código.</a:t>
            </a:r>
            <a:endParaRPr lang="es-ES" dirty="0"/>
          </a:p>
        </p:txBody>
      </p:sp>
      <p:sp>
        <p:nvSpPr>
          <p:cNvPr id="3" name="Marcador de contenido 2">
            <a:extLst>
              <a:ext uri="{FF2B5EF4-FFF2-40B4-BE49-F238E27FC236}">
                <a16:creationId xmlns:a16="http://schemas.microsoft.com/office/drawing/2014/main" id="{19CE2D0F-3CD5-B09D-3C69-F05410873BFA}"/>
              </a:ext>
            </a:extLst>
          </p:cNvPr>
          <p:cNvSpPr>
            <a:spLocks noGrp="1"/>
          </p:cNvSpPr>
          <p:nvPr>
            <p:ph idx="1"/>
          </p:nvPr>
        </p:nvSpPr>
        <p:spPr/>
        <p:txBody>
          <a:bodyPr vert="horz" lIns="91440" tIns="45720" rIns="91440" bIns="45720" rtlCol="0" anchor="t">
            <a:normAutofit fontScale="70000" lnSpcReduction="20000"/>
          </a:bodyPr>
          <a:lstStyle/>
          <a:p>
            <a:r>
              <a:rPr lang="es-ES" dirty="0">
                <a:ea typeface="+mn-lt"/>
                <a:cs typeface="+mn-lt"/>
              </a:rPr>
              <a:t>Código CSS compilado:</a:t>
            </a:r>
            <a:endParaRPr lang="es-ES" dirty="0"/>
          </a:p>
          <a:p>
            <a:pPr marL="0" indent="0">
              <a:buNone/>
            </a:pPr>
            <a:r>
              <a:rPr lang="es-ES" b="1" dirty="0">
                <a:latin typeface="Courier New"/>
                <a:ea typeface="+mn-lt"/>
                <a:cs typeface="+mn-lt"/>
              </a:rPr>
              <a:t>    .</a:t>
            </a:r>
            <a:r>
              <a:rPr lang="es-ES" b="1" dirty="0" err="1">
                <a:latin typeface="Courier New"/>
                <a:ea typeface="+mn-lt"/>
                <a:cs typeface="+mn-lt"/>
              </a:rPr>
              <a:t>card</a:t>
            </a: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padding</a:t>
            </a:r>
            <a:r>
              <a:rPr lang="es-ES" b="1" dirty="0">
                <a:latin typeface="Courier New"/>
                <a:ea typeface="+mn-lt"/>
                <a:cs typeface="+mn-lt"/>
              </a:rPr>
              <a:t>: 20px;</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border</a:t>
            </a:r>
            <a:r>
              <a:rPr lang="es-ES" b="1" dirty="0">
                <a:latin typeface="Courier New"/>
                <a:ea typeface="+mn-lt"/>
                <a:cs typeface="+mn-lt"/>
              </a:rPr>
              <a:t>: 1px </a:t>
            </a:r>
            <a:r>
              <a:rPr lang="es-ES" b="1" err="1">
                <a:latin typeface="Courier New"/>
                <a:ea typeface="+mn-lt"/>
                <a:cs typeface="+mn-lt"/>
              </a:rPr>
              <a:t>solid</a:t>
            </a:r>
            <a:r>
              <a:rPr lang="es-ES" b="1" dirty="0">
                <a:latin typeface="Courier New"/>
                <a:ea typeface="+mn-lt"/>
                <a:cs typeface="+mn-lt"/>
              </a:rPr>
              <a:t> #ccc;</a:t>
            </a:r>
            <a:br>
              <a:rPr lang="es-ES" b="1" dirty="0">
                <a:latin typeface="Courier New"/>
                <a:ea typeface="+mn-lt"/>
                <a:cs typeface="+mn-lt"/>
              </a:rPr>
            </a:b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card</a:t>
            </a:r>
            <a:r>
              <a:rPr lang="es-ES" b="1" dirty="0">
                <a:latin typeface="Courier New"/>
                <a:ea typeface="+mn-lt"/>
                <a:cs typeface="+mn-lt"/>
              </a:rPr>
              <a:t> h3 {</a:t>
            </a:r>
            <a:br>
              <a:rPr lang="es-ES" b="1" dirty="0">
                <a:latin typeface="Courier New"/>
                <a:ea typeface="+mn-lt"/>
                <a:cs typeface="+mn-lt"/>
              </a:rPr>
            </a:br>
            <a:r>
              <a:rPr lang="es-ES" b="1" dirty="0">
                <a:latin typeface="Courier New"/>
                <a:ea typeface="+mn-lt"/>
                <a:cs typeface="+mn-lt"/>
              </a:rPr>
              <a:t>      color: #333;</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font-size</a:t>
            </a:r>
            <a:r>
              <a:rPr lang="es-ES" b="1" dirty="0">
                <a:latin typeface="Courier New"/>
                <a:ea typeface="+mn-lt"/>
                <a:cs typeface="+mn-lt"/>
              </a:rPr>
              <a:t>: 1.5rem;</a:t>
            </a:r>
            <a:br>
              <a:rPr lang="es-ES" b="1" dirty="0">
                <a:latin typeface="Courier New"/>
                <a:ea typeface="+mn-lt"/>
                <a:cs typeface="+mn-lt"/>
              </a:rPr>
            </a:b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card</a:t>
            </a:r>
            <a:r>
              <a:rPr lang="es-ES" b="1" dirty="0">
                <a:latin typeface="Courier New"/>
                <a:ea typeface="+mn-lt"/>
                <a:cs typeface="+mn-lt"/>
              </a:rPr>
              <a:t> p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font-size</a:t>
            </a:r>
            <a:r>
              <a:rPr lang="es-ES" b="1" dirty="0">
                <a:latin typeface="Courier New"/>
                <a:ea typeface="+mn-lt"/>
                <a:cs typeface="+mn-lt"/>
              </a:rPr>
              <a:t>: 1rem;</a:t>
            </a:r>
            <a:br>
              <a:rPr lang="es-ES" b="1" dirty="0">
                <a:latin typeface="Courier New"/>
                <a:ea typeface="+mn-lt"/>
                <a:cs typeface="+mn-lt"/>
              </a:rPr>
            </a:b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card</a:t>
            </a:r>
            <a:r>
              <a:rPr lang="es-ES" b="1" dirty="0">
                <a:latin typeface="Courier New"/>
                <a:ea typeface="+mn-lt"/>
                <a:cs typeface="+mn-lt"/>
              </a:rPr>
              <a:t> p a {</a:t>
            </a:r>
            <a:br>
              <a:rPr lang="es-ES" b="1" dirty="0">
                <a:latin typeface="Courier New"/>
                <a:ea typeface="+mn-lt"/>
                <a:cs typeface="+mn-lt"/>
              </a:rPr>
            </a:br>
            <a:r>
              <a:rPr lang="es-ES" b="1" dirty="0">
                <a:latin typeface="Courier New"/>
                <a:ea typeface="+mn-lt"/>
                <a:cs typeface="+mn-lt"/>
              </a:rPr>
              <a:t>      color: #007bff;</a:t>
            </a:r>
            <a:br>
              <a:rPr lang="es-ES" b="1" dirty="0">
                <a:latin typeface="Courier New"/>
                <a:ea typeface="+mn-lt"/>
                <a:cs typeface="+mn-lt"/>
              </a:rPr>
            </a:b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card</a:t>
            </a:r>
            <a:r>
              <a:rPr lang="es-ES" b="1" dirty="0">
                <a:latin typeface="Courier New"/>
                <a:ea typeface="+mn-lt"/>
                <a:cs typeface="+mn-lt"/>
              </a:rPr>
              <a:t> p </a:t>
            </a:r>
            <a:r>
              <a:rPr lang="es-ES" b="1" dirty="0" err="1">
                <a:latin typeface="Courier New"/>
                <a:ea typeface="+mn-lt"/>
                <a:cs typeface="+mn-lt"/>
              </a:rPr>
              <a:t>a:hover</a:t>
            </a: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text-decoration</a:t>
            </a:r>
            <a:r>
              <a:rPr lang="es-ES" b="1" dirty="0">
                <a:latin typeface="Courier New"/>
                <a:ea typeface="+mn-lt"/>
                <a:cs typeface="+mn-lt"/>
              </a:rPr>
              <a:t>: </a:t>
            </a:r>
            <a:r>
              <a:rPr lang="es-ES" b="1" dirty="0" err="1">
                <a:latin typeface="Courier New"/>
                <a:ea typeface="+mn-lt"/>
                <a:cs typeface="+mn-lt"/>
              </a:rPr>
              <a:t>underline</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    }</a:t>
            </a:r>
          </a:p>
          <a:p>
            <a:r>
              <a:rPr lang="es-ES" dirty="0">
                <a:ea typeface="+mn-lt"/>
                <a:cs typeface="+mn-lt"/>
              </a:rPr>
              <a:t>La principal ventaja del anidamiento es que reduce la redundancia y ayuda a visualizar la relación entre los elementos y sus estilos.</a:t>
            </a:r>
            <a:endParaRPr lang="es-ES" dirty="0"/>
          </a:p>
          <a:p>
            <a:endParaRPr lang="es-ES" dirty="0"/>
          </a:p>
        </p:txBody>
      </p:sp>
    </p:spTree>
    <p:extLst>
      <p:ext uri="{BB962C8B-B14F-4D97-AF65-F5344CB8AC3E}">
        <p14:creationId xmlns:p14="http://schemas.microsoft.com/office/powerpoint/2010/main" val="3352912563"/>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3A699-7F6E-1737-E3E4-6EDF1A9BF71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3E11FFC-92E7-9761-FCC5-6480C3EB6510}"/>
              </a:ext>
            </a:extLst>
          </p:cNvPr>
          <p:cNvSpPr>
            <a:spLocks noGrp="1"/>
          </p:cNvSpPr>
          <p:nvPr>
            <p:ph type="title"/>
          </p:nvPr>
        </p:nvSpPr>
        <p:spPr/>
        <p:txBody>
          <a:bodyPr/>
          <a:lstStyle/>
          <a:p>
            <a:r>
              <a:rPr lang="es-ES" b="0" dirty="0">
                <a:ea typeface="+mj-lt"/>
                <a:cs typeface="+mj-lt"/>
              </a:rPr>
              <a:t>2.4.5.3. Anidamiento y </a:t>
            </a:r>
            <a:r>
              <a:rPr lang="es-ES" b="0" dirty="0" err="1">
                <a:ea typeface="+mj-lt"/>
                <a:cs typeface="+mj-lt"/>
              </a:rPr>
              <a:t>modularización</a:t>
            </a:r>
            <a:r>
              <a:rPr lang="es-ES" b="0" dirty="0">
                <a:ea typeface="+mj-lt"/>
                <a:cs typeface="+mj-lt"/>
              </a:rPr>
              <a:t> del código.</a:t>
            </a:r>
            <a:endParaRPr lang="es-ES" dirty="0"/>
          </a:p>
        </p:txBody>
      </p:sp>
      <p:sp>
        <p:nvSpPr>
          <p:cNvPr id="3" name="Marcador de contenido 2">
            <a:extLst>
              <a:ext uri="{FF2B5EF4-FFF2-40B4-BE49-F238E27FC236}">
                <a16:creationId xmlns:a16="http://schemas.microsoft.com/office/drawing/2014/main" id="{178DAFC2-AC1D-1818-BEA8-42B269B8D22C}"/>
              </a:ext>
            </a:extLst>
          </p:cNvPr>
          <p:cNvSpPr>
            <a:spLocks noGrp="1"/>
          </p:cNvSpPr>
          <p:nvPr>
            <p:ph idx="1"/>
          </p:nvPr>
        </p:nvSpPr>
        <p:spPr/>
        <p:txBody>
          <a:bodyPr vert="horz" lIns="91440" tIns="45720" rIns="91440" bIns="45720" rtlCol="0" anchor="t">
            <a:normAutofit fontScale="92500" lnSpcReduction="20000"/>
          </a:bodyPr>
          <a:lstStyle/>
          <a:p>
            <a:r>
              <a:rPr lang="es-ES" dirty="0">
                <a:ea typeface="+mn-lt"/>
                <a:cs typeface="+mn-lt"/>
              </a:rPr>
              <a:t>La </a:t>
            </a:r>
            <a:r>
              <a:rPr lang="es-ES" dirty="0" err="1">
                <a:ea typeface="+mn-lt"/>
                <a:cs typeface="+mn-lt"/>
              </a:rPr>
              <a:t>modularización</a:t>
            </a:r>
            <a:r>
              <a:rPr lang="es-ES" dirty="0">
                <a:ea typeface="+mn-lt"/>
                <a:cs typeface="+mn-lt"/>
              </a:rPr>
              <a:t> implica dividir tu código CSS en múltiples archivos más pequeños, cada uno enfocado en una parte específica de tu interfaz (por ejemplo, un archivo para variables, otro para la tipografía, otro para el menú de navegación, etc.). Los preprocesadores te permiten importar todos estos archivos en un único archivo principal, que luego se compila en un solo archivo CSS final.</a:t>
            </a:r>
          </a:p>
          <a:p>
            <a:r>
              <a:rPr lang="es-ES" dirty="0">
                <a:ea typeface="+mn-lt"/>
                <a:cs typeface="+mn-lt"/>
              </a:rPr>
              <a:t>Esto resuelve el problema de tener un archivo style.css gigante, que es difícil de navegar y mantener.</a:t>
            </a:r>
          </a:p>
          <a:p>
            <a:r>
              <a:rPr lang="es-ES" dirty="0">
                <a:ea typeface="+mn-lt"/>
                <a:cs typeface="+mn-lt"/>
              </a:rPr>
              <a:t>Sintaxis: Se utiliza la regla @import para incluir otros archivos. Por convención, los archivos que se van a importar no se compilan directamente y se nombran con un guion bajo _ al principio (por ejemplo, _</a:t>
            </a:r>
            <a:r>
              <a:rPr lang="es-ES" dirty="0" err="1">
                <a:ea typeface="+mn-lt"/>
                <a:cs typeface="+mn-lt"/>
              </a:rPr>
              <a:t>variables.scss</a:t>
            </a:r>
            <a:r>
              <a:rPr lang="es-ES" dirty="0">
                <a:ea typeface="+mn-lt"/>
                <a:cs typeface="+mn-lt"/>
              </a:rPr>
              <a:t>).</a:t>
            </a:r>
            <a:endParaRPr lang="es-ES" dirty="0"/>
          </a:p>
          <a:p>
            <a:pPr marL="0" indent="0">
              <a:buNone/>
            </a:pPr>
            <a:r>
              <a:rPr lang="es-ES" b="1" dirty="0">
                <a:latin typeface="Courier New"/>
                <a:ea typeface="+mn-lt"/>
                <a:cs typeface="+mn-lt"/>
              </a:rPr>
              <a:t>    // Archivo principal: </a:t>
            </a:r>
            <a:r>
              <a:rPr lang="es-ES" b="1" err="1">
                <a:latin typeface="Courier New"/>
                <a:ea typeface="+mn-lt"/>
                <a:cs typeface="+mn-lt"/>
              </a:rPr>
              <a:t>style.scss</a:t>
            </a:r>
            <a:br>
              <a:rPr lang="es-ES" b="1" dirty="0">
                <a:latin typeface="Courier New"/>
                <a:ea typeface="+mn-lt"/>
                <a:cs typeface="+mn-lt"/>
              </a:rPr>
            </a:br>
            <a:r>
              <a:rPr lang="es-ES" b="1" dirty="0">
                <a:latin typeface="Courier New"/>
                <a:ea typeface="+mn-lt"/>
                <a:cs typeface="+mn-lt"/>
              </a:rPr>
              <a:t>    @import 'base/variables';</a:t>
            </a:r>
            <a:br>
              <a:rPr lang="es-ES" b="1" dirty="0">
                <a:latin typeface="Courier New"/>
                <a:ea typeface="+mn-lt"/>
                <a:cs typeface="+mn-lt"/>
              </a:rPr>
            </a:br>
            <a:r>
              <a:rPr lang="es-ES" b="1" dirty="0">
                <a:latin typeface="Courier New"/>
                <a:ea typeface="+mn-lt"/>
                <a:cs typeface="+mn-lt"/>
              </a:rPr>
              <a:t>    @import 'base/</a:t>
            </a:r>
            <a:r>
              <a:rPr lang="es-ES" b="1" err="1">
                <a:latin typeface="Courier New"/>
                <a:ea typeface="+mn-lt"/>
                <a:cs typeface="+mn-lt"/>
              </a:rPr>
              <a:t>tipografia</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    @import 'componentes/botones';</a:t>
            </a:r>
            <a:br>
              <a:rPr lang="es-ES" b="1" dirty="0">
                <a:latin typeface="Courier New"/>
                <a:ea typeface="+mn-lt"/>
                <a:cs typeface="+mn-lt"/>
              </a:rPr>
            </a:br>
            <a:r>
              <a:rPr lang="es-ES" b="1" dirty="0">
                <a:latin typeface="Courier New"/>
                <a:ea typeface="+mn-lt"/>
                <a:cs typeface="+mn-lt"/>
              </a:rPr>
              <a:t>    @import 'componentes/tarjetas';</a:t>
            </a:r>
            <a:br>
              <a:rPr lang="es-ES" b="1" dirty="0">
                <a:latin typeface="Courier New"/>
                <a:ea typeface="+mn-lt"/>
                <a:cs typeface="+mn-lt"/>
              </a:rPr>
            </a:br>
            <a:r>
              <a:rPr lang="es-ES" b="1" dirty="0">
                <a:latin typeface="Courier New"/>
                <a:ea typeface="+mn-lt"/>
                <a:cs typeface="+mn-lt"/>
              </a:rPr>
              <a:t>    @import '</a:t>
            </a:r>
            <a:r>
              <a:rPr lang="es-ES" b="1" err="1">
                <a:latin typeface="Courier New"/>
                <a:ea typeface="+mn-lt"/>
                <a:cs typeface="+mn-lt"/>
              </a:rPr>
              <a:t>layouts</a:t>
            </a:r>
            <a:r>
              <a:rPr lang="es-ES" b="1" dirty="0">
                <a:latin typeface="Courier New"/>
                <a:ea typeface="+mn-lt"/>
                <a:cs typeface="+mn-lt"/>
              </a:rPr>
              <a:t>/</a:t>
            </a:r>
            <a:r>
              <a:rPr lang="es-ES" b="1" err="1">
                <a:latin typeface="Courier New"/>
                <a:ea typeface="+mn-lt"/>
                <a:cs typeface="+mn-lt"/>
              </a:rPr>
              <a:t>header</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    @import '</a:t>
            </a:r>
            <a:r>
              <a:rPr lang="es-ES" b="1" err="1">
                <a:latin typeface="Courier New"/>
                <a:ea typeface="+mn-lt"/>
                <a:cs typeface="+mn-lt"/>
              </a:rPr>
              <a:t>layouts</a:t>
            </a:r>
            <a:r>
              <a:rPr lang="es-ES" b="1" dirty="0">
                <a:latin typeface="Courier New"/>
                <a:ea typeface="+mn-lt"/>
                <a:cs typeface="+mn-lt"/>
              </a:rPr>
              <a:t>/</a:t>
            </a:r>
            <a:r>
              <a:rPr lang="es-ES" b="1" err="1">
                <a:latin typeface="Courier New"/>
                <a:ea typeface="+mn-lt"/>
                <a:cs typeface="+mn-lt"/>
              </a:rPr>
              <a:t>footer</a:t>
            </a:r>
            <a:r>
              <a:rPr lang="es-ES" b="1" dirty="0">
                <a:latin typeface="Courier New"/>
                <a:ea typeface="+mn-lt"/>
                <a:cs typeface="+mn-lt"/>
              </a:rPr>
              <a:t>';</a:t>
            </a:r>
            <a:endParaRPr lang="es-ES" b="1" dirty="0">
              <a:latin typeface="Courier New"/>
              <a:cs typeface="Courier New"/>
            </a:endParaRPr>
          </a:p>
        </p:txBody>
      </p:sp>
    </p:spTree>
    <p:extLst>
      <p:ext uri="{BB962C8B-B14F-4D97-AF65-F5344CB8AC3E}">
        <p14:creationId xmlns:p14="http://schemas.microsoft.com/office/powerpoint/2010/main" val="2175459281"/>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E96EA2-153A-98AC-3E61-659AF3D62DA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5652D89-F501-732C-50BC-8E4AAAB859A5}"/>
              </a:ext>
            </a:extLst>
          </p:cNvPr>
          <p:cNvSpPr>
            <a:spLocks noGrp="1"/>
          </p:cNvSpPr>
          <p:nvPr>
            <p:ph type="title"/>
          </p:nvPr>
        </p:nvSpPr>
        <p:spPr/>
        <p:txBody>
          <a:bodyPr/>
          <a:lstStyle/>
          <a:p>
            <a:r>
              <a:rPr lang="es-ES" b="0" dirty="0">
                <a:ea typeface="+mj-lt"/>
                <a:cs typeface="+mj-lt"/>
              </a:rPr>
              <a:t>2.4.5.3. Anidamiento y </a:t>
            </a:r>
            <a:r>
              <a:rPr lang="es-ES" b="0" dirty="0" err="1">
                <a:ea typeface="+mj-lt"/>
                <a:cs typeface="+mj-lt"/>
              </a:rPr>
              <a:t>modularización</a:t>
            </a:r>
            <a:r>
              <a:rPr lang="es-ES" b="0" dirty="0">
                <a:ea typeface="+mj-lt"/>
                <a:cs typeface="+mj-lt"/>
              </a:rPr>
              <a:t> del código.</a:t>
            </a:r>
            <a:endParaRPr lang="es-ES" dirty="0"/>
          </a:p>
        </p:txBody>
      </p:sp>
      <p:sp>
        <p:nvSpPr>
          <p:cNvPr id="3" name="Marcador de contenido 2">
            <a:extLst>
              <a:ext uri="{FF2B5EF4-FFF2-40B4-BE49-F238E27FC236}">
                <a16:creationId xmlns:a16="http://schemas.microsoft.com/office/drawing/2014/main" id="{1D5500ED-9BF5-F09A-CC7A-CE7CC65B3586}"/>
              </a:ext>
            </a:extLst>
          </p:cNvPr>
          <p:cNvSpPr>
            <a:spLocks noGrp="1"/>
          </p:cNvSpPr>
          <p:nvPr>
            <p:ph idx="1"/>
          </p:nvPr>
        </p:nvSpPr>
        <p:spPr/>
        <p:txBody>
          <a:bodyPr vert="horz" lIns="91440" tIns="45720" rIns="91440" bIns="45720" rtlCol="0" anchor="t">
            <a:normAutofit fontScale="77500" lnSpcReduction="20000"/>
          </a:bodyPr>
          <a:lstStyle/>
          <a:p>
            <a:r>
              <a:rPr lang="es-ES" dirty="0">
                <a:ea typeface="+mn-lt"/>
                <a:cs typeface="+mn-lt"/>
              </a:rPr>
              <a:t>Este enfoque de </a:t>
            </a:r>
            <a:r>
              <a:rPr lang="es-ES" dirty="0" err="1">
                <a:ea typeface="+mn-lt"/>
                <a:cs typeface="+mn-lt"/>
              </a:rPr>
              <a:t>modularización</a:t>
            </a:r>
            <a:r>
              <a:rPr lang="es-ES" dirty="0">
                <a:ea typeface="+mn-lt"/>
                <a:cs typeface="+mn-lt"/>
              </a:rPr>
              <a:t> es una de las mayores ventajas de los preprocesadores, ya que te permite trabajar en un solo componente sin preocuparte por el resto de la hoja de estilos.</a:t>
            </a:r>
          </a:p>
          <a:p>
            <a:r>
              <a:rPr lang="es-ES" dirty="0">
                <a:ea typeface="+mn-lt"/>
                <a:cs typeface="+mn-lt"/>
              </a:rPr>
              <a:t>Un proyecto modular bien estructurado podría tener una jerarquía de carpetas como la siguiente:</a:t>
            </a:r>
          </a:p>
          <a:p>
            <a:r>
              <a:rPr lang="es-ES" b="1" dirty="0" err="1">
                <a:latin typeface="Courier New"/>
                <a:ea typeface="+mn-lt"/>
                <a:cs typeface="+mn-lt"/>
              </a:rPr>
              <a:t>Scss</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abstracts</a:t>
            </a:r>
            <a:r>
              <a:rPr lang="es-ES" b="1" dirty="0">
                <a:latin typeface="Courier New"/>
                <a:ea typeface="+mn-lt"/>
                <a:cs typeface="+mn-lt"/>
              </a:rPr>
              <a:t>/        // Variables, </a:t>
            </a:r>
            <a:r>
              <a:rPr lang="es-ES" b="1" dirty="0" err="1">
                <a:latin typeface="Courier New"/>
                <a:ea typeface="+mn-lt"/>
                <a:cs typeface="+mn-lt"/>
              </a:rPr>
              <a:t>mixins</a:t>
            </a:r>
            <a:r>
              <a:rPr lang="es-ES" b="1" dirty="0">
                <a:latin typeface="Courier New"/>
                <a:ea typeface="+mn-lt"/>
                <a:cs typeface="+mn-lt"/>
              </a:rPr>
              <a:t>, funciones</a:t>
            </a:r>
            <a:br>
              <a:rPr lang="es-ES" b="1" dirty="0">
                <a:latin typeface="Courier New"/>
                <a:ea typeface="+mn-lt"/>
                <a:cs typeface="+mn-lt"/>
              </a:rPr>
            </a:br>
            <a:r>
              <a:rPr lang="es-ES" b="1" dirty="0">
                <a:latin typeface="Courier New"/>
                <a:ea typeface="+mn-lt"/>
                <a:cs typeface="+mn-lt"/>
              </a:rPr>
              <a:t>│   ├── _</a:t>
            </a:r>
            <a:r>
              <a:rPr lang="es-ES" b="1" dirty="0" err="1">
                <a:latin typeface="Courier New"/>
                <a:ea typeface="+mn-lt"/>
                <a:cs typeface="+mn-lt"/>
              </a:rPr>
              <a:t>variables.scss</a:t>
            </a:r>
            <a:br>
              <a:rPr lang="es-ES" b="1" dirty="0">
                <a:latin typeface="Courier New"/>
                <a:ea typeface="+mn-lt"/>
                <a:cs typeface="+mn-lt"/>
              </a:rPr>
            </a:br>
            <a:r>
              <a:rPr lang="es-ES" b="1" dirty="0">
                <a:latin typeface="Courier New"/>
                <a:ea typeface="+mn-lt"/>
                <a:cs typeface="+mn-lt"/>
              </a:rPr>
              <a:t>│   └── _</a:t>
            </a:r>
            <a:r>
              <a:rPr lang="es-ES" b="1" dirty="0" err="1">
                <a:latin typeface="Courier New"/>
                <a:ea typeface="+mn-lt"/>
                <a:cs typeface="+mn-lt"/>
              </a:rPr>
              <a:t>mixins.scss</a:t>
            </a:r>
            <a:br>
              <a:rPr lang="es-ES" b="1" dirty="0">
                <a:latin typeface="Courier New"/>
                <a:ea typeface="+mn-lt"/>
                <a:cs typeface="+mn-lt"/>
              </a:rPr>
            </a:br>
            <a:r>
              <a:rPr lang="es-ES" b="1" dirty="0">
                <a:latin typeface="Courier New"/>
                <a:ea typeface="+mn-lt"/>
                <a:cs typeface="+mn-lt"/>
              </a:rPr>
              <a:t>├── base/            // Estilos base (</a:t>
            </a:r>
            <a:r>
              <a:rPr lang="es-ES" b="1" dirty="0" err="1">
                <a:latin typeface="Courier New"/>
                <a:ea typeface="+mn-lt"/>
                <a:cs typeface="+mn-lt"/>
              </a:rPr>
              <a:t>body</a:t>
            </a:r>
            <a:r>
              <a:rPr lang="es-ES" b="1" dirty="0">
                <a:latin typeface="Courier New"/>
                <a:ea typeface="+mn-lt"/>
                <a:cs typeface="+mn-lt"/>
              </a:rPr>
              <a:t>, h1, etc.)</a:t>
            </a:r>
            <a:br>
              <a:rPr lang="es-ES" b="1" dirty="0">
                <a:latin typeface="Courier New"/>
                <a:ea typeface="+mn-lt"/>
                <a:cs typeface="+mn-lt"/>
              </a:rPr>
            </a:br>
            <a:r>
              <a:rPr lang="es-ES" b="1" dirty="0">
                <a:latin typeface="Courier New"/>
                <a:ea typeface="+mn-lt"/>
                <a:cs typeface="+mn-lt"/>
              </a:rPr>
              <a:t>│   ├── _</a:t>
            </a:r>
            <a:r>
              <a:rPr lang="es-ES" b="1" dirty="0" err="1">
                <a:latin typeface="Courier New"/>
                <a:ea typeface="+mn-lt"/>
                <a:cs typeface="+mn-lt"/>
              </a:rPr>
              <a:t>reset.scss</a:t>
            </a:r>
            <a:br>
              <a:rPr lang="es-ES" b="1" dirty="0">
                <a:latin typeface="Courier New"/>
                <a:ea typeface="+mn-lt"/>
                <a:cs typeface="+mn-lt"/>
              </a:rPr>
            </a:br>
            <a:r>
              <a:rPr lang="es-ES" b="1" dirty="0">
                <a:latin typeface="Courier New"/>
                <a:ea typeface="+mn-lt"/>
                <a:cs typeface="+mn-lt"/>
              </a:rPr>
              <a:t>│   └── _</a:t>
            </a:r>
            <a:r>
              <a:rPr lang="es-ES" b="1" dirty="0" err="1">
                <a:latin typeface="Courier New"/>
                <a:ea typeface="+mn-lt"/>
                <a:cs typeface="+mn-lt"/>
              </a:rPr>
              <a:t>tipografia.scss</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components</a:t>
            </a:r>
            <a:r>
              <a:rPr lang="es-ES" b="1" dirty="0">
                <a:latin typeface="Courier New"/>
                <a:ea typeface="+mn-lt"/>
                <a:cs typeface="+mn-lt"/>
              </a:rPr>
              <a:t>/      // Componentes reutilizables (botones, tarjetas)</a:t>
            </a:r>
            <a:br>
              <a:rPr lang="es-ES" b="1" dirty="0">
                <a:latin typeface="Courier New"/>
                <a:ea typeface="+mn-lt"/>
                <a:cs typeface="+mn-lt"/>
              </a:rPr>
            </a:br>
            <a:r>
              <a:rPr lang="es-ES" b="1" dirty="0">
                <a:latin typeface="Courier New"/>
                <a:ea typeface="+mn-lt"/>
                <a:cs typeface="+mn-lt"/>
              </a:rPr>
              <a:t>│   ├── _</a:t>
            </a:r>
            <a:r>
              <a:rPr lang="es-ES" b="1" dirty="0" err="1">
                <a:latin typeface="Courier New"/>
                <a:ea typeface="+mn-lt"/>
                <a:cs typeface="+mn-lt"/>
              </a:rPr>
              <a:t>botones.scss</a:t>
            </a:r>
            <a:br>
              <a:rPr lang="es-ES" b="1" dirty="0">
                <a:latin typeface="Courier New"/>
                <a:ea typeface="+mn-lt"/>
                <a:cs typeface="+mn-lt"/>
              </a:rPr>
            </a:br>
            <a:r>
              <a:rPr lang="es-ES" b="1" dirty="0">
                <a:latin typeface="Courier New"/>
                <a:ea typeface="+mn-lt"/>
                <a:cs typeface="+mn-lt"/>
              </a:rPr>
              <a:t>│   └── _</a:t>
            </a:r>
            <a:r>
              <a:rPr lang="es-ES" b="1" dirty="0" err="1">
                <a:latin typeface="Courier New"/>
                <a:ea typeface="+mn-lt"/>
                <a:cs typeface="+mn-lt"/>
              </a:rPr>
              <a:t>tarjetas.scss</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layout</a:t>
            </a:r>
            <a:r>
              <a:rPr lang="es-ES" b="1" dirty="0">
                <a:latin typeface="Courier New"/>
                <a:ea typeface="+mn-lt"/>
                <a:cs typeface="+mn-lt"/>
              </a:rPr>
              <a:t>/          // Estructura de la página (</a:t>
            </a:r>
            <a:r>
              <a:rPr lang="es-ES" b="1" dirty="0" err="1">
                <a:latin typeface="Courier New"/>
                <a:ea typeface="+mn-lt"/>
                <a:cs typeface="+mn-lt"/>
              </a:rPr>
              <a:t>header</a:t>
            </a:r>
            <a:r>
              <a:rPr lang="es-ES" b="1" dirty="0">
                <a:latin typeface="Courier New"/>
                <a:ea typeface="+mn-lt"/>
                <a:cs typeface="+mn-lt"/>
              </a:rPr>
              <a:t>, </a:t>
            </a:r>
            <a:r>
              <a:rPr lang="es-ES" b="1" dirty="0" err="1">
                <a:latin typeface="Courier New"/>
                <a:ea typeface="+mn-lt"/>
                <a:cs typeface="+mn-lt"/>
              </a:rPr>
              <a:t>footer</a:t>
            </a:r>
            <a:r>
              <a:rPr lang="es-ES" b="1" dirty="0">
                <a:latin typeface="Courier New"/>
                <a:ea typeface="+mn-lt"/>
                <a:cs typeface="+mn-lt"/>
              </a:rPr>
              <a:t>, </a:t>
            </a:r>
            <a:r>
              <a:rPr lang="es-ES" b="1" dirty="0" err="1">
                <a:latin typeface="Courier New"/>
                <a:ea typeface="+mn-lt"/>
                <a:cs typeface="+mn-lt"/>
              </a:rPr>
              <a:t>grid</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   ├── _</a:t>
            </a:r>
            <a:r>
              <a:rPr lang="es-ES" b="1" dirty="0" err="1">
                <a:latin typeface="Courier New"/>
                <a:ea typeface="+mn-lt"/>
                <a:cs typeface="+mn-lt"/>
              </a:rPr>
              <a:t>header.scss</a:t>
            </a:r>
            <a:br>
              <a:rPr lang="es-ES" b="1" dirty="0">
                <a:latin typeface="Courier New"/>
                <a:ea typeface="+mn-lt"/>
                <a:cs typeface="+mn-lt"/>
              </a:rPr>
            </a:br>
            <a:r>
              <a:rPr lang="es-ES" b="1" dirty="0">
                <a:latin typeface="Courier New"/>
                <a:ea typeface="+mn-lt"/>
                <a:cs typeface="+mn-lt"/>
              </a:rPr>
              <a:t>│   └── _</a:t>
            </a:r>
            <a:r>
              <a:rPr lang="es-ES" b="1" dirty="0" err="1">
                <a:latin typeface="Courier New"/>
                <a:ea typeface="+mn-lt"/>
                <a:cs typeface="+mn-lt"/>
              </a:rPr>
              <a:t>footer.scss</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style.scss</a:t>
            </a:r>
            <a:r>
              <a:rPr lang="es-ES" b="1" dirty="0">
                <a:latin typeface="Courier New"/>
                <a:ea typeface="+mn-lt"/>
                <a:cs typeface="+mn-lt"/>
              </a:rPr>
              <a:t>       // El archivo principal que importa todo</a:t>
            </a:r>
            <a:endParaRPr lang="es-ES" b="1" dirty="0" err="1">
              <a:latin typeface="Courier New"/>
            </a:endParaRPr>
          </a:p>
          <a:p>
            <a:endParaRPr lang="es-ES" dirty="0">
              <a:ea typeface="+mn-lt"/>
              <a:cs typeface="+mn-lt"/>
            </a:endParaRPr>
          </a:p>
        </p:txBody>
      </p:sp>
    </p:spTree>
    <p:extLst>
      <p:ext uri="{BB962C8B-B14F-4D97-AF65-F5344CB8AC3E}">
        <p14:creationId xmlns:p14="http://schemas.microsoft.com/office/powerpoint/2010/main" val="177559288"/>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9A8D46-F687-7425-93A5-93820F76C5F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81F55CE-1D39-030C-C13E-88B35D09A445}"/>
              </a:ext>
            </a:extLst>
          </p:cNvPr>
          <p:cNvSpPr>
            <a:spLocks noGrp="1"/>
          </p:cNvSpPr>
          <p:nvPr>
            <p:ph type="title"/>
          </p:nvPr>
        </p:nvSpPr>
        <p:spPr/>
        <p:txBody>
          <a:bodyPr/>
          <a:lstStyle/>
          <a:p>
            <a:r>
              <a:rPr lang="es-ES" b="0" dirty="0">
                <a:ea typeface="+mj-lt"/>
                <a:cs typeface="+mj-lt"/>
              </a:rPr>
              <a:t>2.4.5.3. Anidamiento y </a:t>
            </a:r>
            <a:r>
              <a:rPr lang="es-ES" b="0" dirty="0" err="1">
                <a:ea typeface="+mj-lt"/>
                <a:cs typeface="+mj-lt"/>
              </a:rPr>
              <a:t>modularización</a:t>
            </a:r>
            <a:r>
              <a:rPr lang="es-ES" b="0" dirty="0">
                <a:ea typeface="+mj-lt"/>
                <a:cs typeface="+mj-lt"/>
              </a:rPr>
              <a:t> del código.</a:t>
            </a:r>
            <a:endParaRPr lang="es-ES" dirty="0"/>
          </a:p>
        </p:txBody>
      </p:sp>
      <p:sp>
        <p:nvSpPr>
          <p:cNvPr id="3" name="Marcador de contenido 2">
            <a:extLst>
              <a:ext uri="{FF2B5EF4-FFF2-40B4-BE49-F238E27FC236}">
                <a16:creationId xmlns:a16="http://schemas.microsoft.com/office/drawing/2014/main" id="{16CC727C-8EF0-02F1-B54F-0B533AAF7A00}"/>
              </a:ext>
            </a:extLst>
          </p:cNvPr>
          <p:cNvSpPr>
            <a:spLocks noGrp="1"/>
          </p:cNvSpPr>
          <p:nvPr>
            <p:ph idx="1"/>
          </p:nvPr>
        </p:nvSpPr>
        <p:spPr/>
        <p:txBody>
          <a:bodyPr vert="horz" lIns="91440" tIns="45720" rIns="91440" bIns="45720" rtlCol="0" anchor="t">
            <a:normAutofit fontScale="55000" lnSpcReduction="20000"/>
          </a:bodyPr>
          <a:lstStyle/>
          <a:p>
            <a:r>
              <a:rPr lang="es-ES" dirty="0">
                <a:ea typeface="+mn-lt"/>
                <a:cs typeface="+mn-lt"/>
              </a:rPr>
              <a:t>El anidamiento y la </a:t>
            </a:r>
            <a:r>
              <a:rPr lang="es-ES" err="1">
                <a:ea typeface="+mn-lt"/>
                <a:cs typeface="+mn-lt"/>
              </a:rPr>
              <a:t>modularización</a:t>
            </a:r>
            <a:r>
              <a:rPr lang="es-ES" dirty="0">
                <a:ea typeface="+mn-lt"/>
                <a:cs typeface="+mn-lt"/>
              </a:rPr>
              <a:t> son principios de organización del código que los preprocesadores popularizaron. En el CSS nativo, estos conceptos se manejan de manera diferente, pero aun así puedes escribir código más limpio y organizado. El CSS nativo no tiene una sintaxis de anidamiento como los preprocesadores. Para lograr una estructura similar, debes escribir los selectores de forma explícita, repitiendo el selector padre. Aunque el CSS moderno está introduciendo el anidamiento nativo, todavía no es una práctica universalmente compatible. Por lo tanto, la forma estándar de trabajar sigue siendo esta:</a:t>
            </a:r>
          </a:p>
          <a:p>
            <a:pPr marL="0" indent="0">
              <a:buNone/>
            </a:pPr>
            <a:r>
              <a:rPr lang="es-ES" b="1" dirty="0">
                <a:latin typeface="Courier New"/>
                <a:ea typeface="+mn-lt"/>
                <a:cs typeface="+mn-lt"/>
              </a:rPr>
              <a:t>    .</a:t>
            </a:r>
            <a:r>
              <a:rPr lang="es-ES" b="1" dirty="0" err="1">
                <a:latin typeface="Courier New"/>
                <a:ea typeface="+mn-lt"/>
                <a:cs typeface="+mn-lt"/>
              </a:rPr>
              <a:t>card</a:t>
            </a: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padding</a:t>
            </a:r>
            <a:r>
              <a:rPr lang="es-ES" b="1" dirty="0">
                <a:latin typeface="Courier New"/>
                <a:ea typeface="+mn-lt"/>
                <a:cs typeface="+mn-lt"/>
              </a:rPr>
              <a:t>: 20px;</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border</a:t>
            </a:r>
            <a:r>
              <a:rPr lang="es-ES" b="1" dirty="0">
                <a:latin typeface="Courier New"/>
                <a:ea typeface="+mn-lt"/>
                <a:cs typeface="+mn-lt"/>
              </a:rPr>
              <a:t>: 1px </a:t>
            </a:r>
            <a:r>
              <a:rPr lang="es-ES" b="1" dirty="0" err="1">
                <a:latin typeface="Courier New"/>
                <a:ea typeface="+mn-lt"/>
                <a:cs typeface="+mn-lt"/>
              </a:rPr>
              <a:t>solid</a:t>
            </a:r>
            <a:r>
              <a:rPr lang="es-ES" b="1" dirty="0">
                <a:latin typeface="Courier New"/>
                <a:ea typeface="+mn-lt"/>
                <a:cs typeface="+mn-lt"/>
              </a:rPr>
              <a:t> #ccc;</a:t>
            </a:r>
            <a:br>
              <a:rPr lang="es-ES" b="1" dirty="0">
                <a:latin typeface="Courier New"/>
                <a:ea typeface="+mn-lt"/>
                <a:cs typeface="+mn-lt"/>
              </a:rPr>
            </a:b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card</a:t>
            </a:r>
            <a:r>
              <a:rPr lang="es-ES" b="1" dirty="0">
                <a:latin typeface="Courier New"/>
                <a:ea typeface="+mn-lt"/>
                <a:cs typeface="+mn-lt"/>
              </a:rPr>
              <a:t> h3 {</a:t>
            </a:r>
            <a:br>
              <a:rPr lang="es-ES" b="1" dirty="0">
                <a:latin typeface="Courier New"/>
                <a:ea typeface="+mn-lt"/>
                <a:cs typeface="+mn-lt"/>
              </a:rPr>
            </a:br>
            <a:br>
              <a:rPr lang="es-ES" b="1" dirty="0">
                <a:latin typeface="Courier New"/>
                <a:ea typeface="+mn-lt"/>
                <a:cs typeface="+mn-lt"/>
              </a:rPr>
            </a:br>
            <a:r>
              <a:rPr lang="es-ES" b="1" dirty="0">
                <a:latin typeface="Courier New"/>
                <a:ea typeface="+mn-lt"/>
                <a:cs typeface="+mn-lt"/>
              </a:rPr>
              <a:t>     color: #333;</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font-size</a:t>
            </a:r>
            <a:r>
              <a:rPr lang="es-ES" b="1" dirty="0">
                <a:latin typeface="Courier New"/>
                <a:ea typeface="+mn-lt"/>
                <a:cs typeface="+mn-lt"/>
              </a:rPr>
              <a:t>: 1.5rem;</a:t>
            </a:r>
            <a:br>
              <a:rPr lang="es-ES" b="1" dirty="0">
                <a:latin typeface="Courier New"/>
                <a:ea typeface="+mn-lt"/>
                <a:cs typeface="+mn-lt"/>
              </a:rPr>
            </a:b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card</a:t>
            </a:r>
            <a:r>
              <a:rPr lang="es-ES" b="1" dirty="0">
                <a:latin typeface="Courier New"/>
                <a:ea typeface="+mn-lt"/>
                <a:cs typeface="+mn-lt"/>
              </a:rPr>
              <a:t> p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font-size</a:t>
            </a:r>
            <a:r>
              <a:rPr lang="es-ES" b="1" dirty="0">
                <a:latin typeface="Courier New"/>
                <a:ea typeface="+mn-lt"/>
                <a:cs typeface="+mn-lt"/>
              </a:rPr>
              <a:t>: 1rem;</a:t>
            </a:r>
            <a:br>
              <a:rPr lang="es-ES" b="1" dirty="0">
                <a:latin typeface="Courier New"/>
                <a:ea typeface="+mn-lt"/>
                <a:cs typeface="+mn-lt"/>
              </a:rPr>
            </a:b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card</a:t>
            </a:r>
            <a:r>
              <a:rPr lang="es-ES" b="1" dirty="0">
                <a:latin typeface="Courier New"/>
                <a:ea typeface="+mn-lt"/>
                <a:cs typeface="+mn-lt"/>
              </a:rPr>
              <a:t> p a {</a:t>
            </a:r>
            <a:br>
              <a:rPr lang="es-ES" b="1" dirty="0">
                <a:latin typeface="Courier New"/>
                <a:ea typeface="+mn-lt"/>
                <a:cs typeface="+mn-lt"/>
              </a:rPr>
            </a:br>
            <a:r>
              <a:rPr lang="es-ES" b="1" dirty="0">
                <a:latin typeface="Courier New"/>
                <a:ea typeface="+mn-lt"/>
                <a:cs typeface="+mn-lt"/>
              </a:rPr>
              <a:t>      color: #007bff;</a:t>
            </a:r>
            <a:br>
              <a:rPr lang="es-ES" b="1" dirty="0">
                <a:latin typeface="Courier New"/>
                <a:ea typeface="+mn-lt"/>
                <a:cs typeface="+mn-lt"/>
              </a:rPr>
            </a:b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card</a:t>
            </a:r>
            <a:r>
              <a:rPr lang="es-ES" b="1" dirty="0">
                <a:latin typeface="Courier New"/>
                <a:ea typeface="+mn-lt"/>
                <a:cs typeface="+mn-lt"/>
              </a:rPr>
              <a:t> p </a:t>
            </a:r>
            <a:r>
              <a:rPr lang="es-ES" b="1" dirty="0" err="1">
                <a:latin typeface="Courier New"/>
                <a:ea typeface="+mn-lt"/>
                <a:cs typeface="+mn-lt"/>
              </a:rPr>
              <a:t>a:hover</a:t>
            </a: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text-decoration</a:t>
            </a:r>
            <a:r>
              <a:rPr lang="es-ES" b="1" dirty="0">
                <a:latin typeface="Courier New"/>
                <a:ea typeface="+mn-lt"/>
                <a:cs typeface="+mn-lt"/>
              </a:rPr>
              <a:t>: </a:t>
            </a:r>
            <a:r>
              <a:rPr lang="es-ES" b="1" dirty="0" err="1">
                <a:latin typeface="Courier New"/>
                <a:ea typeface="+mn-lt"/>
                <a:cs typeface="+mn-lt"/>
              </a:rPr>
              <a:t>underline</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    }</a:t>
            </a:r>
            <a:endParaRPr lang="es-ES" b="1">
              <a:latin typeface="Courier New"/>
              <a:cs typeface="Courier New"/>
            </a:endParaRPr>
          </a:p>
          <a:p>
            <a:r>
              <a:rPr lang="es-ES" dirty="0">
                <a:ea typeface="+mn-lt"/>
                <a:cs typeface="+mn-lt"/>
              </a:rPr>
              <a:t>La principal desventaja aquí es la repetición del selector .</a:t>
            </a:r>
            <a:r>
              <a:rPr lang="es-ES" dirty="0" err="1">
                <a:ea typeface="+mn-lt"/>
                <a:cs typeface="+mn-lt"/>
              </a:rPr>
              <a:t>card</a:t>
            </a:r>
            <a:r>
              <a:rPr lang="es-ES" dirty="0">
                <a:ea typeface="+mn-lt"/>
                <a:cs typeface="+mn-lt"/>
              </a:rPr>
              <a:t>, lo que puede hacer que el código sea más largo.</a:t>
            </a:r>
          </a:p>
        </p:txBody>
      </p:sp>
    </p:spTree>
    <p:extLst>
      <p:ext uri="{BB962C8B-B14F-4D97-AF65-F5344CB8AC3E}">
        <p14:creationId xmlns:p14="http://schemas.microsoft.com/office/powerpoint/2010/main" val="2781739086"/>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F1A1AB-A846-575E-8EF8-3076664041B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6C7DE97-81DE-FA87-F9FA-97644AD49046}"/>
              </a:ext>
            </a:extLst>
          </p:cNvPr>
          <p:cNvSpPr>
            <a:spLocks noGrp="1"/>
          </p:cNvSpPr>
          <p:nvPr>
            <p:ph type="title"/>
          </p:nvPr>
        </p:nvSpPr>
        <p:spPr/>
        <p:txBody>
          <a:bodyPr/>
          <a:lstStyle/>
          <a:p>
            <a:r>
              <a:rPr lang="es-ES" b="0" dirty="0">
                <a:ea typeface="+mj-lt"/>
                <a:cs typeface="+mj-lt"/>
              </a:rPr>
              <a:t>2.4.5.3. Anidamiento y </a:t>
            </a:r>
            <a:r>
              <a:rPr lang="es-ES" b="0" dirty="0" err="1">
                <a:ea typeface="+mj-lt"/>
                <a:cs typeface="+mj-lt"/>
              </a:rPr>
              <a:t>modularización</a:t>
            </a:r>
            <a:r>
              <a:rPr lang="es-ES" b="0" dirty="0">
                <a:ea typeface="+mj-lt"/>
                <a:cs typeface="+mj-lt"/>
              </a:rPr>
              <a:t> del código.</a:t>
            </a:r>
            <a:endParaRPr lang="es-ES" dirty="0"/>
          </a:p>
        </p:txBody>
      </p:sp>
      <p:sp>
        <p:nvSpPr>
          <p:cNvPr id="3" name="Marcador de contenido 2">
            <a:extLst>
              <a:ext uri="{FF2B5EF4-FFF2-40B4-BE49-F238E27FC236}">
                <a16:creationId xmlns:a16="http://schemas.microsoft.com/office/drawing/2014/main" id="{0D18D986-C741-AC64-9ED7-86F266C000A4}"/>
              </a:ext>
            </a:extLst>
          </p:cNvPr>
          <p:cNvSpPr>
            <a:spLocks noGrp="1"/>
          </p:cNvSpPr>
          <p:nvPr>
            <p:ph idx="1"/>
          </p:nvPr>
        </p:nvSpPr>
        <p:spPr/>
        <p:txBody>
          <a:bodyPr vert="horz" lIns="91440" tIns="45720" rIns="91440" bIns="45720" rtlCol="0" anchor="t">
            <a:normAutofit lnSpcReduction="10000"/>
          </a:bodyPr>
          <a:lstStyle/>
          <a:p>
            <a:r>
              <a:rPr lang="es-ES" dirty="0">
                <a:ea typeface="+mn-lt"/>
                <a:cs typeface="+mn-lt"/>
              </a:rPr>
              <a:t>La </a:t>
            </a:r>
            <a:r>
              <a:rPr lang="es-ES" dirty="0" err="1">
                <a:ea typeface="+mn-lt"/>
                <a:cs typeface="+mn-lt"/>
              </a:rPr>
              <a:t>modularización</a:t>
            </a:r>
            <a:r>
              <a:rPr lang="es-ES" dirty="0">
                <a:ea typeface="+mn-lt"/>
                <a:cs typeface="+mn-lt"/>
              </a:rPr>
              <a:t> es una práctica de organización que se logra en CSS nativo usando la regla @import. Puedes dividir tus estilos en múltiples archivos más pequeños (cada uno para un componente o una sección) y luego importarlos en un archivo principal. El navegador los cargará todos como si estuvieran en un solo archivo.</a:t>
            </a:r>
          </a:p>
          <a:p>
            <a:pPr marL="0" indent="0">
              <a:buNone/>
            </a:pPr>
            <a:r>
              <a:rPr lang="es-ES" b="1" dirty="0">
                <a:latin typeface="Courier New"/>
                <a:ea typeface="+mn-lt"/>
                <a:cs typeface="+mn-lt"/>
              </a:rPr>
              <a:t>/* Archivo principal: style.css */</a:t>
            </a:r>
            <a:br>
              <a:rPr lang="es-ES" b="1" dirty="0">
                <a:latin typeface="Courier New"/>
                <a:ea typeface="+mn-lt"/>
                <a:cs typeface="+mn-lt"/>
              </a:rPr>
            </a:br>
            <a:r>
              <a:rPr lang="es-ES" b="1" dirty="0">
                <a:latin typeface="Courier New"/>
                <a:ea typeface="+mn-lt"/>
                <a:cs typeface="+mn-lt"/>
              </a:rPr>
              <a:t>@import </a:t>
            </a:r>
            <a:r>
              <a:rPr lang="es-ES" b="1" dirty="0" err="1">
                <a:latin typeface="Courier New"/>
                <a:ea typeface="+mn-lt"/>
                <a:cs typeface="+mn-lt"/>
              </a:rPr>
              <a:t>url</a:t>
            </a:r>
            <a:r>
              <a:rPr lang="es-ES" b="1" dirty="0">
                <a:latin typeface="Courier New"/>
                <a:ea typeface="+mn-lt"/>
                <a:cs typeface="+mn-lt"/>
              </a:rPr>
              <a:t>('base/variables.css');</a:t>
            </a:r>
            <a:br>
              <a:rPr lang="es-ES" b="1" dirty="0">
                <a:latin typeface="Courier New"/>
                <a:ea typeface="+mn-lt"/>
                <a:cs typeface="+mn-lt"/>
              </a:rPr>
            </a:br>
            <a:r>
              <a:rPr lang="es-ES" b="1" dirty="0">
                <a:latin typeface="Courier New"/>
                <a:ea typeface="+mn-lt"/>
                <a:cs typeface="+mn-lt"/>
              </a:rPr>
              <a:t>@import </a:t>
            </a:r>
            <a:r>
              <a:rPr lang="es-ES" b="1" dirty="0" err="1">
                <a:latin typeface="Courier New"/>
                <a:ea typeface="+mn-lt"/>
                <a:cs typeface="+mn-lt"/>
              </a:rPr>
              <a:t>url</a:t>
            </a:r>
            <a:r>
              <a:rPr lang="es-ES" b="1" dirty="0">
                <a:latin typeface="Courier New"/>
                <a:ea typeface="+mn-lt"/>
                <a:cs typeface="+mn-lt"/>
              </a:rPr>
              <a:t>('componentes/botones.css');</a:t>
            </a:r>
            <a:br>
              <a:rPr lang="es-ES" b="1" dirty="0">
                <a:latin typeface="Courier New"/>
                <a:ea typeface="+mn-lt"/>
                <a:cs typeface="+mn-lt"/>
              </a:rPr>
            </a:br>
            <a:r>
              <a:rPr lang="es-ES" b="1" dirty="0">
                <a:latin typeface="Courier New"/>
                <a:ea typeface="+mn-lt"/>
                <a:cs typeface="+mn-lt"/>
              </a:rPr>
              <a:t>@import </a:t>
            </a:r>
            <a:r>
              <a:rPr lang="es-ES" b="1" dirty="0" err="1">
                <a:latin typeface="Courier New"/>
                <a:ea typeface="+mn-lt"/>
                <a:cs typeface="+mn-lt"/>
              </a:rPr>
              <a:t>url</a:t>
            </a:r>
            <a:r>
              <a:rPr lang="es-ES" b="1" dirty="0">
                <a:latin typeface="Courier New"/>
                <a:ea typeface="+mn-lt"/>
                <a:cs typeface="+mn-lt"/>
              </a:rPr>
              <a:t>('</a:t>
            </a:r>
            <a:r>
              <a:rPr lang="es-ES" b="1" dirty="0" err="1">
                <a:latin typeface="Courier New"/>
                <a:ea typeface="+mn-lt"/>
                <a:cs typeface="+mn-lt"/>
              </a:rPr>
              <a:t>layouts</a:t>
            </a:r>
            <a:r>
              <a:rPr lang="es-ES" b="1" dirty="0">
                <a:latin typeface="Courier New"/>
                <a:ea typeface="+mn-lt"/>
                <a:cs typeface="+mn-lt"/>
              </a:rPr>
              <a:t>/header.css');</a:t>
            </a:r>
            <a:endParaRPr lang="es-ES" b="1" dirty="0">
              <a:latin typeface="Courier New"/>
              <a:cs typeface="Courier New"/>
            </a:endParaRPr>
          </a:p>
          <a:p>
            <a:r>
              <a:rPr lang="es-ES" dirty="0">
                <a:ea typeface="+mn-lt"/>
                <a:cs typeface="+mn-lt"/>
              </a:rPr>
              <a:t>Aunque @import organiza tu código, no compila los archivos en un solo archivo. Esto puede afectar el rendimiento, ya que el navegador tiene que hacer múltiples peticiones para cargar cada archivo. En la práctica, se suele usar un </a:t>
            </a:r>
            <a:r>
              <a:rPr lang="es-ES" dirty="0" err="1">
                <a:ea typeface="+mn-lt"/>
                <a:cs typeface="+mn-lt"/>
              </a:rPr>
              <a:t>bundler</a:t>
            </a:r>
            <a:r>
              <a:rPr lang="es-ES" dirty="0">
                <a:ea typeface="+mn-lt"/>
                <a:cs typeface="+mn-lt"/>
              </a:rPr>
              <a:t> (como </a:t>
            </a:r>
            <a:r>
              <a:rPr lang="es-ES" dirty="0" err="1">
                <a:ea typeface="+mn-lt"/>
                <a:cs typeface="+mn-lt"/>
              </a:rPr>
              <a:t>Webpack</a:t>
            </a:r>
            <a:r>
              <a:rPr lang="es-ES" dirty="0">
                <a:ea typeface="+mn-lt"/>
                <a:cs typeface="+mn-lt"/>
              </a:rPr>
              <a:t> o Vite) para combinar todo en un solo archivo .</a:t>
            </a:r>
            <a:r>
              <a:rPr lang="es-ES" dirty="0" err="1">
                <a:ea typeface="+mn-lt"/>
                <a:cs typeface="+mn-lt"/>
              </a:rPr>
              <a:t>css</a:t>
            </a:r>
            <a:r>
              <a:rPr lang="es-ES" dirty="0">
                <a:ea typeface="+mn-lt"/>
                <a:cs typeface="+mn-lt"/>
              </a:rPr>
              <a:t> antes de la producción.</a:t>
            </a:r>
          </a:p>
        </p:txBody>
      </p:sp>
    </p:spTree>
    <p:extLst>
      <p:ext uri="{BB962C8B-B14F-4D97-AF65-F5344CB8AC3E}">
        <p14:creationId xmlns:p14="http://schemas.microsoft.com/office/powerpoint/2010/main" val="348955166"/>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D2352C-CD4E-1D32-1DA3-71AD499AEB1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934AB72-DFD9-54D3-0DD3-8812C6DADF85}"/>
              </a:ext>
            </a:extLst>
          </p:cNvPr>
          <p:cNvSpPr>
            <a:spLocks noGrp="1"/>
          </p:cNvSpPr>
          <p:nvPr>
            <p:ph type="title"/>
          </p:nvPr>
        </p:nvSpPr>
        <p:spPr/>
        <p:txBody>
          <a:bodyPr/>
          <a:lstStyle/>
          <a:p>
            <a:r>
              <a:rPr lang="es-ES" b="0" dirty="0">
                <a:ea typeface="+mj-lt"/>
                <a:cs typeface="+mj-lt"/>
              </a:rPr>
              <a:t>2.4.5.3. Anidamiento y </a:t>
            </a:r>
            <a:r>
              <a:rPr lang="es-ES" b="0" dirty="0" err="1">
                <a:ea typeface="+mj-lt"/>
                <a:cs typeface="+mj-lt"/>
              </a:rPr>
              <a:t>modularización</a:t>
            </a:r>
            <a:r>
              <a:rPr lang="es-ES" b="0" dirty="0">
                <a:ea typeface="+mj-lt"/>
                <a:cs typeface="+mj-lt"/>
              </a:rPr>
              <a:t> del código.</a:t>
            </a:r>
            <a:endParaRPr lang="es-ES" dirty="0"/>
          </a:p>
        </p:txBody>
      </p:sp>
      <p:sp>
        <p:nvSpPr>
          <p:cNvPr id="3" name="Marcador de contenido 2">
            <a:extLst>
              <a:ext uri="{FF2B5EF4-FFF2-40B4-BE49-F238E27FC236}">
                <a16:creationId xmlns:a16="http://schemas.microsoft.com/office/drawing/2014/main" id="{6386C2A7-1EB6-04C5-03C4-616FA30950AA}"/>
              </a:ext>
            </a:extLst>
          </p:cNvPr>
          <p:cNvSpPr>
            <a:spLocks noGrp="1"/>
          </p:cNvSpPr>
          <p:nvPr>
            <p:ph idx="1"/>
          </p:nvPr>
        </p:nvSpPr>
        <p:spPr/>
        <p:txBody>
          <a:bodyPr vert="horz" lIns="91440" tIns="45720" rIns="91440" bIns="45720" rtlCol="0" anchor="t">
            <a:normAutofit fontScale="92500" lnSpcReduction="10000"/>
          </a:bodyPr>
          <a:lstStyle/>
          <a:p>
            <a:r>
              <a:rPr lang="es-ES" dirty="0">
                <a:ea typeface="+mn-lt"/>
                <a:cs typeface="+mn-lt"/>
              </a:rPr>
              <a:t>Puedes usar una estructura de carpetas similar a la de los preprocesadores, pero con archivos .</a:t>
            </a:r>
            <a:r>
              <a:rPr lang="es-ES" dirty="0" err="1">
                <a:ea typeface="+mn-lt"/>
                <a:cs typeface="+mn-lt"/>
              </a:rPr>
              <a:t>css</a:t>
            </a:r>
            <a:r>
              <a:rPr lang="es-ES" dirty="0">
                <a:ea typeface="+mn-lt"/>
                <a:cs typeface="+mn-lt"/>
              </a:rPr>
              <a:t> en lugar de .</a:t>
            </a:r>
            <a:r>
              <a:rPr lang="es-ES" dirty="0" err="1">
                <a:ea typeface="+mn-lt"/>
                <a:cs typeface="+mn-lt"/>
              </a:rPr>
              <a:t>scss</a:t>
            </a:r>
            <a:r>
              <a:rPr lang="es-ES" dirty="0">
                <a:ea typeface="+mn-lt"/>
                <a:cs typeface="+mn-lt"/>
              </a:rPr>
              <a:t>.</a:t>
            </a:r>
          </a:p>
          <a:p>
            <a:pPr marL="0" indent="0">
              <a:buNone/>
            </a:pPr>
            <a:r>
              <a:rPr lang="es-ES" b="1" dirty="0" err="1">
                <a:latin typeface="Courier New"/>
                <a:ea typeface="+mn-lt"/>
                <a:cs typeface="+mn-lt"/>
              </a:rPr>
              <a:t>css</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 base/</a:t>
            </a:r>
            <a:br>
              <a:rPr lang="es-ES" b="1" dirty="0">
                <a:latin typeface="Courier New"/>
                <a:ea typeface="+mn-lt"/>
                <a:cs typeface="+mn-lt"/>
              </a:rPr>
            </a:br>
            <a:r>
              <a:rPr lang="es-ES" b="1" dirty="0">
                <a:latin typeface="Courier New"/>
                <a:ea typeface="+mn-lt"/>
                <a:cs typeface="+mn-lt"/>
              </a:rPr>
              <a:t>│   ├── variables.css</a:t>
            </a:r>
            <a:br>
              <a:rPr lang="es-ES" b="1" dirty="0">
                <a:latin typeface="Courier New"/>
                <a:ea typeface="+mn-lt"/>
                <a:cs typeface="+mn-lt"/>
              </a:rPr>
            </a:br>
            <a:r>
              <a:rPr lang="es-ES" b="1" dirty="0">
                <a:latin typeface="Courier New"/>
                <a:ea typeface="+mn-lt"/>
                <a:cs typeface="+mn-lt"/>
              </a:rPr>
              <a:t>│   └── tipografia.css</a:t>
            </a:r>
            <a:br>
              <a:rPr lang="es-ES" b="1" dirty="0">
                <a:latin typeface="Courier New"/>
                <a:ea typeface="+mn-lt"/>
                <a:cs typeface="+mn-lt"/>
              </a:rPr>
            </a:br>
            <a:r>
              <a:rPr lang="es-ES" b="1" dirty="0">
                <a:latin typeface="Courier New"/>
                <a:ea typeface="+mn-lt"/>
                <a:cs typeface="+mn-lt"/>
              </a:rPr>
              <a:t>├── componentes/</a:t>
            </a:r>
            <a:br>
              <a:rPr lang="es-ES" b="1" dirty="0">
                <a:latin typeface="Courier New"/>
                <a:ea typeface="+mn-lt"/>
                <a:cs typeface="+mn-lt"/>
              </a:rPr>
            </a:br>
            <a:r>
              <a:rPr lang="es-ES" b="1" dirty="0">
                <a:latin typeface="Courier New"/>
                <a:ea typeface="+mn-lt"/>
                <a:cs typeface="+mn-lt"/>
              </a:rPr>
              <a:t>│   ├── botones.css</a:t>
            </a:r>
            <a:br>
              <a:rPr lang="es-ES" b="1" dirty="0">
                <a:latin typeface="Courier New"/>
                <a:ea typeface="+mn-lt"/>
                <a:cs typeface="+mn-lt"/>
              </a:rPr>
            </a:br>
            <a:r>
              <a:rPr lang="es-ES" b="1" dirty="0">
                <a:latin typeface="Courier New"/>
                <a:ea typeface="+mn-lt"/>
                <a:cs typeface="+mn-lt"/>
              </a:rPr>
              <a:t>│   └── tarjetas.css</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layout</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   ├── header.css</a:t>
            </a:r>
            <a:br>
              <a:rPr lang="es-ES" b="1" dirty="0">
                <a:latin typeface="Courier New"/>
                <a:ea typeface="+mn-lt"/>
                <a:cs typeface="+mn-lt"/>
              </a:rPr>
            </a:br>
            <a:r>
              <a:rPr lang="es-ES" b="1" dirty="0">
                <a:latin typeface="Courier New"/>
                <a:ea typeface="+mn-lt"/>
                <a:cs typeface="+mn-lt"/>
              </a:rPr>
              <a:t>│   └── footer.css</a:t>
            </a:r>
            <a:br>
              <a:rPr lang="es-ES" b="1" dirty="0">
                <a:latin typeface="Courier New"/>
                <a:ea typeface="+mn-lt"/>
                <a:cs typeface="+mn-lt"/>
              </a:rPr>
            </a:br>
            <a:r>
              <a:rPr lang="es-ES" b="1" dirty="0">
                <a:latin typeface="Courier New"/>
                <a:ea typeface="+mn-lt"/>
                <a:cs typeface="+mn-lt"/>
              </a:rPr>
              <a:t>└── style.css       // El archivo principal que importa todo</a:t>
            </a:r>
            <a:endParaRPr lang="es-ES" b="1" dirty="0">
              <a:latin typeface="Courier New"/>
              <a:cs typeface="Courier New"/>
            </a:endParaRPr>
          </a:p>
          <a:p>
            <a:endParaRPr lang="es-ES" dirty="0">
              <a:ea typeface="+mn-lt"/>
              <a:cs typeface="+mn-lt"/>
            </a:endParaRPr>
          </a:p>
        </p:txBody>
      </p:sp>
    </p:spTree>
    <p:extLst>
      <p:ext uri="{BB962C8B-B14F-4D97-AF65-F5344CB8AC3E}">
        <p14:creationId xmlns:p14="http://schemas.microsoft.com/office/powerpoint/2010/main" val="2553133989"/>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58BBA0-9230-C794-BFB8-159BC5EBF21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D5E6FED-8099-D0D8-6466-6D865A2EC753}"/>
              </a:ext>
            </a:extLst>
          </p:cNvPr>
          <p:cNvSpPr>
            <a:spLocks noGrp="1"/>
          </p:cNvSpPr>
          <p:nvPr>
            <p:ph type="title"/>
          </p:nvPr>
        </p:nvSpPr>
        <p:spPr/>
        <p:txBody>
          <a:bodyPr/>
          <a:lstStyle/>
          <a:p>
            <a:r>
              <a:rPr lang="es-ES" b="0" dirty="0">
                <a:ea typeface="+mj-lt"/>
                <a:cs typeface="+mj-lt"/>
              </a:rPr>
              <a:t>2.4.6. Reutilización y organización de estilos</a:t>
            </a:r>
            <a:endParaRPr lang="es-ES" dirty="0"/>
          </a:p>
        </p:txBody>
      </p:sp>
      <p:sp>
        <p:nvSpPr>
          <p:cNvPr id="3" name="Marcador de contenido 2">
            <a:extLst>
              <a:ext uri="{FF2B5EF4-FFF2-40B4-BE49-F238E27FC236}">
                <a16:creationId xmlns:a16="http://schemas.microsoft.com/office/drawing/2014/main" id="{B3510EB0-7748-831E-33F3-8D5AEC5465FF}"/>
              </a:ext>
            </a:extLst>
          </p:cNvPr>
          <p:cNvSpPr>
            <a:spLocks noGrp="1"/>
          </p:cNvSpPr>
          <p:nvPr>
            <p:ph idx="1"/>
          </p:nvPr>
        </p:nvSpPr>
        <p:spPr/>
        <p:txBody>
          <a:bodyPr vert="horz" lIns="91440" tIns="45720" rIns="91440" bIns="45720" rtlCol="0" anchor="t">
            <a:normAutofit lnSpcReduction="10000"/>
          </a:bodyPr>
          <a:lstStyle/>
          <a:p>
            <a:r>
              <a:rPr lang="es-ES" dirty="0">
                <a:ea typeface="+mn-lt"/>
                <a:cs typeface="+mn-lt"/>
              </a:rPr>
              <a:t>La reutilización y organización de estilos es una práctica fundamental para crear hojas de estilo que no solo sean funcionales, sino también mantenibles, escalables y fáciles de entender. En proyectos pequeños, un CSS desorganizado puede ser manejable, pero en proyectos grandes, se convierte rápidamente en un caos.</a:t>
            </a:r>
            <a:endParaRPr lang="es-ES" dirty="0"/>
          </a:p>
          <a:p>
            <a:r>
              <a:rPr lang="es-ES" dirty="0">
                <a:ea typeface="+mn-lt"/>
                <a:cs typeface="+mn-lt"/>
              </a:rPr>
              <a:t>El objetivo principal de esta práctica es seguir el principio DRY (</a:t>
            </a:r>
            <a:r>
              <a:rPr lang="es-ES" dirty="0" err="1">
                <a:ea typeface="+mn-lt"/>
                <a:cs typeface="+mn-lt"/>
              </a:rPr>
              <a:t>Don't</a:t>
            </a:r>
            <a:r>
              <a:rPr lang="es-ES" dirty="0">
                <a:ea typeface="+mn-lt"/>
                <a:cs typeface="+mn-lt"/>
              </a:rPr>
              <a:t> </a:t>
            </a:r>
            <a:r>
              <a:rPr lang="es-ES" dirty="0" err="1">
                <a:ea typeface="+mn-lt"/>
                <a:cs typeface="+mn-lt"/>
              </a:rPr>
              <a:t>Repeat</a:t>
            </a:r>
            <a:r>
              <a:rPr lang="es-ES" dirty="0">
                <a:ea typeface="+mn-lt"/>
                <a:cs typeface="+mn-lt"/>
              </a:rPr>
              <a:t> </a:t>
            </a:r>
            <a:r>
              <a:rPr lang="es-ES" dirty="0" err="1">
                <a:ea typeface="+mn-lt"/>
                <a:cs typeface="+mn-lt"/>
              </a:rPr>
              <a:t>Yourself</a:t>
            </a:r>
            <a:r>
              <a:rPr lang="es-ES" dirty="0">
                <a:ea typeface="+mn-lt"/>
                <a:cs typeface="+mn-lt"/>
              </a:rPr>
              <a:t>), evitando la repetición de código y estableciendo una estructura lógica para todos tus estilos.</a:t>
            </a:r>
            <a:endParaRPr lang="es-ES" dirty="0"/>
          </a:p>
          <a:p>
            <a:r>
              <a:rPr lang="es-ES" dirty="0">
                <a:ea typeface="+mn-lt"/>
                <a:cs typeface="+mn-lt"/>
              </a:rPr>
              <a:t>Principios clave de la organización:</a:t>
            </a:r>
            <a:endParaRPr lang="es-ES" dirty="0"/>
          </a:p>
          <a:p>
            <a:pPr lvl="1">
              <a:buFont typeface="Courier New" panose="020B0604020202020204" pitchFamily="34" charset="0"/>
              <a:buChar char="o"/>
            </a:pPr>
            <a:r>
              <a:rPr lang="es-ES" dirty="0">
                <a:ea typeface="+mn-lt"/>
                <a:cs typeface="+mn-lt"/>
              </a:rPr>
              <a:t>Mantenibilidad: Un código bien organizado es fácil de modificar. Si un desarrollador necesita cambiar el estilo de un botón, debe poder encontrar y actualizar el código en un solo lugar, sin afectar a otros elementos.</a:t>
            </a:r>
            <a:endParaRPr lang="es-ES" dirty="0"/>
          </a:p>
          <a:p>
            <a:pPr lvl="1">
              <a:buFont typeface="Courier New" panose="020B0604020202020204" pitchFamily="34" charset="0"/>
              <a:buChar char="o"/>
            </a:pPr>
            <a:r>
              <a:rPr lang="es-ES" dirty="0">
                <a:ea typeface="+mn-lt"/>
                <a:cs typeface="+mn-lt"/>
              </a:rPr>
              <a:t>Escalabilidad: A medida que tu proyecto crece, la estructura debe poder acomodar nuevos componentes y funcionalidades sin volverse confusa.</a:t>
            </a:r>
            <a:endParaRPr lang="es-ES" dirty="0"/>
          </a:p>
          <a:p>
            <a:pPr lvl="1">
              <a:buFont typeface="Courier New" panose="020B0604020202020204" pitchFamily="34" charset="0"/>
              <a:buChar char="o"/>
            </a:pPr>
            <a:r>
              <a:rPr lang="es-ES" dirty="0">
                <a:ea typeface="+mn-lt"/>
                <a:cs typeface="+mn-lt"/>
              </a:rPr>
              <a:t>Legibilidad: Un código bien estructurado es fácil de leer para otros desarrolladores y para ti mismo en el futuro. Las convenciones de nomenclatura claras son vitales para esto.</a:t>
            </a:r>
            <a:endParaRPr lang="es-ES" dirty="0"/>
          </a:p>
        </p:txBody>
      </p:sp>
    </p:spTree>
    <p:extLst>
      <p:ext uri="{BB962C8B-B14F-4D97-AF65-F5344CB8AC3E}">
        <p14:creationId xmlns:p14="http://schemas.microsoft.com/office/powerpoint/2010/main" val="175928119"/>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AE1400-D46B-2CE1-35C0-0DDEAE91645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5F31BC5-AB6D-1C27-6811-B3D2F753067D}"/>
              </a:ext>
            </a:extLst>
          </p:cNvPr>
          <p:cNvSpPr>
            <a:spLocks noGrp="1"/>
          </p:cNvSpPr>
          <p:nvPr>
            <p:ph type="title"/>
          </p:nvPr>
        </p:nvSpPr>
        <p:spPr/>
        <p:txBody>
          <a:bodyPr/>
          <a:lstStyle/>
          <a:p>
            <a:r>
              <a:rPr lang="es-ES" b="0" dirty="0">
                <a:ea typeface="+mj-lt"/>
                <a:cs typeface="+mj-lt"/>
              </a:rPr>
              <a:t>2.4.6. Reutilización y organización de estilos</a:t>
            </a:r>
            <a:endParaRPr lang="es-ES" dirty="0"/>
          </a:p>
        </p:txBody>
      </p:sp>
      <p:sp>
        <p:nvSpPr>
          <p:cNvPr id="3" name="Marcador de contenido 2">
            <a:extLst>
              <a:ext uri="{FF2B5EF4-FFF2-40B4-BE49-F238E27FC236}">
                <a16:creationId xmlns:a16="http://schemas.microsoft.com/office/drawing/2014/main" id="{3DDF8793-C3F5-F7BC-0617-9250C1092003}"/>
              </a:ext>
            </a:extLst>
          </p:cNvPr>
          <p:cNvSpPr>
            <a:spLocks noGrp="1"/>
          </p:cNvSpPr>
          <p:nvPr>
            <p:ph idx="1"/>
          </p:nvPr>
        </p:nvSpPr>
        <p:spPr/>
        <p:txBody>
          <a:bodyPr vert="horz" lIns="91440" tIns="45720" rIns="91440" bIns="45720" rtlCol="0" anchor="t">
            <a:normAutofit fontScale="62500" lnSpcReduction="20000"/>
          </a:bodyPr>
          <a:lstStyle/>
          <a:p>
            <a:r>
              <a:rPr lang="es-ES" dirty="0">
                <a:ea typeface="+mn-lt"/>
                <a:cs typeface="+mn-lt"/>
              </a:rPr>
              <a:t>El primer paso para organizar tus estilos es adoptar una convención de nomenclatura consistente. BEM (Bloque, Elemento, Modificador) es una de las metodologías más populares y efectivas.</a:t>
            </a:r>
            <a:endParaRPr lang="es-ES" dirty="0"/>
          </a:p>
          <a:p>
            <a:pPr lvl="1">
              <a:buFont typeface="Courier New" panose="020B0604020202020204" pitchFamily="34" charset="0"/>
              <a:buChar char="o"/>
            </a:pPr>
            <a:r>
              <a:rPr lang="es-ES" dirty="0">
                <a:ea typeface="+mn-lt"/>
                <a:cs typeface="+mn-lt"/>
              </a:rPr>
              <a:t>Bloque: Una entidad independiente que tiene un significado por sí misma (ej. </a:t>
            </a:r>
            <a:r>
              <a:rPr lang="es-ES" dirty="0" err="1">
                <a:ea typeface="+mn-lt"/>
                <a:cs typeface="+mn-lt"/>
              </a:rPr>
              <a:t>card</a:t>
            </a:r>
            <a:r>
              <a:rPr lang="es-ES" dirty="0">
                <a:ea typeface="+mn-lt"/>
                <a:cs typeface="+mn-lt"/>
              </a:rPr>
              <a:t>, </a:t>
            </a:r>
            <a:r>
              <a:rPr lang="es-ES" dirty="0" err="1">
                <a:ea typeface="+mn-lt"/>
                <a:cs typeface="+mn-lt"/>
              </a:rPr>
              <a:t>menu</a:t>
            </a:r>
            <a:r>
              <a:rPr lang="es-ES" dirty="0">
                <a:ea typeface="+mn-lt"/>
                <a:cs typeface="+mn-lt"/>
              </a:rPr>
              <a:t>, </a:t>
            </a:r>
            <a:r>
              <a:rPr lang="es-ES" dirty="0" err="1">
                <a:ea typeface="+mn-lt"/>
                <a:cs typeface="+mn-lt"/>
              </a:rPr>
              <a:t>button</a:t>
            </a:r>
            <a:r>
              <a:rPr lang="es-ES" dirty="0">
                <a:ea typeface="+mn-lt"/>
                <a:cs typeface="+mn-lt"/>
              </a:rPr>
              <a:t>).</a:t>
            </a:r>
            <a:endParaRPr lang="es-ES"/>
          </a:p>
          <a:p>
            <a:pPr lvl="1">
              <a:buFont typeface="Courier New" panose="020B0604020202020204" pitchFamily="34" charset="0"/>
              <a:buChar char="o"/>
            </a:pPr>
            <a:r>
              <a:rPr lang="es-ES" dirty="0">
                <a:ea typeface="+mn-lt"/>
                <a:cs typeface="+mn-lt"/>
              </a:rPr>
              <a:t>Elemento: Una parte del bloque que no tiene un significado por sí mismo (ej. </a:t>
            </a:r>
            <a:r>
              <a:rPr lang="es-ES" dirty="0" err="1">
                <a:ea typeface="+mn-lt"/>
                <a:cs typeface="+mn-lt"/>
              </a:rPr>
              <a:t>card</a:t>
            </a:r>
            <a:r>
              <a:rPr lang="es-ES" dirty="0">
                <a:ea typeface="+mn-lt"/>
                <a:cs typeface="+mn-lt"/>
              </a:rPr>
              <a:t>__</a:t>
            </a:r>
            <a:r>
              <a:rPr lang="es-ES" dirty="0" err="1">
                <a:ea typeface="+mn-lt"/>
                <a:cs typeface="+mn-lt"/>
              </a:rPr>
              <a:t>header</a:t>
            </a:r>
            <a:r>
              <a:rPr lang="es-ES" dirty="0">
                <a:ea typeface="+mn-lt"/>
                <a:cs typeface="+mn-lt"/>
              </a:rPr>
              <a:t>, </a:t>
            </a:r>
            <a:r>
              <a:rPr lang="es-ES" dirty="0" err="1">
                <a:ea typeface="+mn-lt"/>
                <a:cs typeface="+mn-lt"/>
              </a:rPr>
              <a:t>menu</a:t>
            </a:r>
            <a:r>
              <a:rPr lang="es-ES" dirty="0">
                <a:ea typeface="+mn-lt"/>
                <a:cs typeface="+mn-lt"/>
              </a:rPr>
              <a:t>__</a:t>
            </a:r>
            <a:r>
              <a:rPr lang="es-ES" dirty="0" err="1">
                <a:ea typeface="+mn-lt"/>
                <a:cs typeface="+mn-lt"/>
              </a:rPr>
              <a:t>item</a:t>
            </a:r>
            <a:r>
              <a:rPr lang="es-ES" dirty="0">
                <a:ea typeface="+mn-lt"/>
                <a:cs typeface="+mn-lt"/>
              </a:rPr>
              <a:t>).</a:t>
            </a:r>
            <a:endParaRPr lang="es-ES"/>
          </a:p>
          <a:p>
            <a:pPr lvl="1">
              <a:buFont typeface="Courier New" panose="020B0604020202020204" pitchFamily="34" charset="0"/>
              <a:buChar char="o"/>
            </a:pPr>
            <a:r>
              <a:rPr lang="es-ES" dirty="0">
                <a:ea typeface="+mn-lt"/>
                <a:cs typeface="+mn-lt"/>
              </a:rPr>
              <a:t>Modificador: Una bandera en el bloque o elemento que cambia su apariencia o comportamiento (ej. </a:t>
            </a:r>
            <a:r>
              <a:rPr lang="es-ES" dirty="0" err="1">
                <a:ea typeface="+mn-lt"/>
                <a:cs typeface="+mn-lt"/>
              </a:rPr>
              <a:t>card</a:t>
            </a:r>
            <a:r>
              <a:rPr lang="es-ES" dirty="0">
                <a:ea typeface="+mn-lt"/>
                <a:cs typeface="+mn-lt"/>
              </a:rPr>
              <a:t>--</a:t>
            </a:r>
            <a:r>
              <a:rPr lang="es-ES" dirty="0" err="1">
                <a:ea typeface="+mn-lt"/>
                <a:cs typeface="+mn-lt"/>
              </a:rPr>
              <a:t>dark</a:t>
            </a:r>
            <a:r>
              <a:rPr lang="es-ES" dirty="0">
                <a:ea typeface="+mn-lt"/>
                <a:cs typeface="+mn-lt"/>
              </a:rPr>
              <a:t>, </a:t>
            </a:r>
            <a:r>
              <a:rPr lang="es-ES" dirty="0" err="1">
                <a:ea typeface="+mn-lt"/>
                <a:cs typeface="+mn-lt"/>
              </a:rPr>
              <a:t>button</a:t>
            </a:r>
            <a:r>
              <a:rPr lang="es-ES" dirty="0">
                <a:ea typeface="+mn-lt"/>
                <a:cs typeface="+mn-lt"/>
              </a:rPr>
              <a:t>--</a:t>
            </a:r>
            <a:r>
              <a:rPr lang="es-ES" dirty="0" err="1">
                <a:ea typeface="+mn-lt"/>
                <a:cs typeface="+mn-lt"/>
              </a:rPr>
              <a:t>disabled</a:t>
            </a:r>
            <a:r>
              <a:rPr lang="es-ES" dirty="0">
                <a:ea typeface="+mn-lt"/>
                <a:cs typeface="+mn-lt"/>
              </a:rPr>
              <a:t>).</a:t>
            </a:r>
          </a:p>
          <a:p>
            <a:pPr marL="0" indent="0">
              <a:buNone/>
            </a:pPr>
            <a:r>
              <a:rPr lang="es-ES" b="1" dirty="0">
                <a:latin typeface="Courier New"/>
                <a:ea typeface="+mn-lt"/>
                <a:cs typeface="+mn-lt"/>
              </a:rPr>
              <a:t>&lt;</a:t>
            </a:r>
            <a:r>
              <a:rPr lang="es-ES" b="1" dirty="0" err="1">
                <a:latin typeface="Courier New"/>
                <a:ea typeface="+mn-lt"/>
                <a:cs typeface="+mn-lt"/>
              </a:rPr>
              <a:t>article</a:t>
            </a:r>
            <a:r>
              <a:rPr lang="es-ES" b="1" dirty="0">
                <a:latin typeface="Courier New"/>
                <a:ea typeface="+mn-lt"/>
                <a:cs typeface="+mn-lt"/>
              </a:rPr>
              <a:t> </a:t>
            </a:r>
            <a:r>
              <a:rPr lang="es-ES" b="1" dirty="0" err="1">
                <a:latin typeface="Courier New"/>
                <a:ea typeface="+mn-lt"/>
                <a:cs typeface="+mn-lt"/>
              </a:rPr>
              <a:t>class</a:t>
            </a:r>
            <a:r>
              <a:rPr lang="es-ES" b="1" dirty="0">
                <a:latin typeface="Courier New"/>
                <a:ea typeface="+mn-lt"/>
                <a:cs typeface="+mn-lt"/>
              </a:rPr>
              <a:t>="</a:t>
            </a:r>
            <a:r>
              <a:rPr lang="es-ES" b="1" dirty="0" err="1">
                <a:latin typeface="Courier New"/>
                <a:ea typeface="+mn-lt"/>
                <a:cs typeface="+mn-lt"/>
              </a:rPr>
              <a:t>card</a:t>
            </a:r>
            <a:r>
              <a:rPr lang="es-ES" b="1" dirty="0">
                <a:latin typeface="Courier New"/>
                <a:ea typeface="+mn-lt"/>
                <a:cs typeface="+mn-lt"/>
              </a:rPr>
              <a:t> </a:t>
            </a:r>
            <a:r>
              <a:rPr lang="es-ES" b="1" dirty="0" err="1">
                <a:latin typeface="Courier New"/>
                <a:ea typeface="+mn-lt"/>
                <a:cs typeface="+mn-lt"/>
              </a:rPr>
              <a:t>card</a:t>
            </a:r>
            <a:r>
              <a:rPr lang="es-ES" b="1" dirty="0">
                <a:latin typeface="Courier New"/>
                <a:ea typeface="+mn-lt"/>
                <a:cs typeface="+mn-lt"/>
              </a:rPr>
              <a:t>--</a:t>
            </a:r>
            <a:r>
              <a:rPr lang="es-ES" b="1" dirty="0" err="1">
                <a:latin typeface="Courier New"/>
                <a:ea typeface="+mn-lt"/>
                <a:cs typeface="+mn-lt"/>
              </a:rPr>
              <a:t>dark</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header</a:t>
            </a:r>
            <a:r>
              <a:rPr lang="es-ES" b="1" dirty="0">
                <a:latin typeface="Courier New"/>
                <a:ea typeface="+mn-lt"/>
                <a:cs typeface="+mn-lt"/>
              </a:rPr>
              <a:t> </a:t>
            </a:r>
            <a:r>
              <a:rPr lang="es-ES" b="1" dirty="0" err="1">
                <a:latin typeface="Courier New"/>
                <a:ea typeface="+mn-lt"/>
                <a:cs typeface="+mn-lt"/>
              </a:rPr>
              <a:t>class</a:t>
            </a:r>
            <a:r>
              <a:rPr lang="es-ES" b="1" dirty="0">
                <a:latin typeface="Courier New"/>
                <a:ea typeface="+mn-lt"/>
                <a:cs typeface="+mn-lt"/>
              </a:rPr>
              <a:t>="</a:t>
            </a:r>
            <a:r>
              <a:rPr lang="es-ES" b="1" dirty="0" err="1">
                <a:latin typeface="Courier New"/>
                <a:ea typeface="+mn-lt"/>
                <a:cs typeface="+mn-lt"/>
              </a:rPr>
              <a:t>card</a:t>
            </a:r>
            <a:r>
              <a:rPr lang="es-ES" b="1" dirty="0">
                <a:latin typeface="Courier New"/>
                <a:ea typeface="+mn-lt"/>
                <a:cs typeface="+mn-lt"/>
              </a:rPr>
              <a:t>__</a:t>
            </a:r>
            <a:r>
              <a:rPr lang="es-ES" b="1" dirty="0" err="1">
                <a:latin typeface="Courier New"/>
                <a:ea typeface="+mn-lt"/>
                <a:cs typeface="+mn-lt"/>
              </a:rPr>
              <a:t>header</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&lt;h3 </a:t>
            </a:r>
            <a:r>
              <a:rPr lang="es-ES" b="1" err="1">
                <a:latin typeface="Courier New"/>
                <a:ea typeface="+mn-lt"/>
                <a:cs typeface="+mn-lt"/>
              </a:rPr>
              <a:t>class</a:t>
            </a:r>
            <a:r>
              <a:rPr lang="es-ES" b="1" dirty="0">
                <a:latin typeface="Courier New"/>
                <a:ea typeface="+mn-lt"/>
                <a:cs typeface="+mn-lt"/>
              </a:rPr>
              <a:t>="</a:t>
            </a:r>
            <a:r>
              <a:rPr lang="es-ES" b="1" err="1">
                <a:latin typeface="Courier New"/>
                <a:ea typeface="+mn-lt"/>
                <a:cs typeface="+mn-lt"/>
              </a:rPr>
              <a:t>card</a:t>
            </a:r>
            <a:r>
              <a:rPr lang="es-ES" b="1" dirty="0">
                <a:latin typeface="Courier New"/>
                <a:ea typeface="+mn-lt"/>
                <a:cs typeface="+mn-lt"/>
              </a:rPr>
              <a:t>__</a:t>
            </a:r>
            <a:r>
              <a:rPr lang="es-ES" b="1" err="1">
                <a:latin typeface="Courier New"/>
                <a:ea typeface="+mn-lt"/>
                <a:cs typeface="+mn-lt"/>
              </a:rPr>
              <a:t>title</a:t>
            </a:r>
            <a:r>
              <a:rPr lang="es-ES" b="1" dirty="0">
                <a:latin typeface="Courier New"/>
                <a:ea typeface="+mn-lt"/>
                <a:cs typeface="+mn-lt"/>
              </a:rPr>
              <a:t>"&gt;Título de la Tarjeta&lt;/h3&gt;</a:t>
            </a:r>
            <a:br>
              <a:rPr lang="es-ES" b="1" dirty="0">
                <a:latin typeface="Courier New"/>
                <a:ea typeface="+mn-lt"/>
                <a:cs typeface="+mn-lt"/>
              </a:rPr>
            </a:br>
            <a:r>
              <a:rPr lang="es-ES" b="1" dirty="0">
                <a:latin typeface="Courier New"/>
                <a:ea typeface="+mn-lt"/>
                <a:cs typeface="+mn-lt"/>
              </a:rPr>
              <a:t>  &lt;/</a:t>
            </a:r>
            <a:r>
              <a:rPr lang="es-ES" b="1" err="1">
                <a:latin typeface="Courier New"/>
                <a:ea typeface="+mn-lt"/>
                <a:cs typeface="+mn-lt"/>
              </a:rPr>
              <a:t>header</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a:t>
            </a:r>
            <a:r>
              <a:rPr lang="es-ES" b="1" err="1">
                <a:latin typeface="Courier New"/>
                <a:ea typeface="+mn-lt"/>
                <a:cs typeface="+mn-lt"/>
              </a:rPr>
              <a:t>div</a:t>
            </a:r>
            <a:r>
              <a:rPr lang="es-ES" b="1" dirty="0">
                <a:latin typeface="Courier New"/>
                <a:ea typeface="+mn-lt"/>
                <a:cs typeface="+mn-lt"/>
              </a:rPr>
              <a:t> </a:t>
            </a:r>
            <a:r>
              <a:rPr lang="es-ES" b="1" err="1">
                <a:latin typeface="Courier New"/>
                <a:ea typeface="+mn-lt"/>
                <a:cs typeface="+mn-lt"/>
              </a:rPr>
              <a:t>class</a:t>
            </a:r>
            <a:r>
              <a:rPr lang="es-ES" b="1" dirty="0">
                <a:latin typeface="Courier New"/>
                <a:ea typeface="+mn-lt"/>
                <a:cs typeface="+mn-lt"/>
              </a:rPr>
              <a:t>="</a:t>
            </a:r>
            <a:r>
              <a:rPr lang="es-ES" b="1" err="1">
                <a:latin typeface="Courier New"/>
                <a:ea typeface="+mn-lt"/>
                <a:cs typeface="+mn-lt"/>
              </a:rPr>
              <a:t>card</a:t>
            </a:r>
            <a:r>
              <a:rPr lang="es-ES" b="1" dirty="0">
                <a:latin typeface="Courier New"/>
                <a:ea typeface="+mn-lt"/>
                <a:cs typeface="+mn-lt"/>
              </a:rPr>
              <a:t>__</a:t>
            </a:r>
            <a:r>
              <a:rPr lang="es-ES" b="1" err="1">
                <a:latin typeface="Courier New"/>
                <a:ea typeface="+mn-lt"/>
                <a:cs typeface="+mn-lt"/>
              </a:rPr>
              <a:t>body</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&lt;p&gt;Contenido de la tarjeta.&lt;/p&gt;</a:t>
            </a:r>
            <a:br>
              <a:rPr lang="es-ES" b="1" dirty="0">
                <a:latin typeface="Courier New"/>
                <a:ea typeface="+mn-lt"/>
                <a:cs typeface="+mn-lt"/>
              </a:rPr>
            </a:br>
            <a:r>
              <a:rPr lang="es-ES" b="1" dirty="0">
                <a:latin typeface="Courier New"/>
                <a:ea typeface="+mn-lt"/>
                <a:cs typeface="+mn-lt"/>
              </a:rPr>
              <a:t>  &lt;/</a:t>
            </a:r>
            <a:r>
              <a:rPr lang="es-ES" b="1" err="1">
                <a:latin typeface="Courier New"/>
                <a:ea typeface="+mn-lt"/>
                <a:cs typeface="+mn-lt"/>
              </a:rPr>
              <a:t>div</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&lt;/</a:t>
            </a:r>
            <a:r>
              <a:rPr lang="es-ES" b="1" err="1">
                <a:latin typeface="Courier New"/>
                <a:ea typeface="+mn-lt"/>
                <a:cs typeface="+mn-lt"/>
              </a:rPr>
              <a:t>article</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a:t>
            </a:r>
            <a:r>
              <a:rPr lang="es-ES" b="1" err="1">
                <a:latin typeface="Courier New"/>
                <a:ea typeface="+mn-lt"/>
                <a:cs typeface="+mn-lt"/>
              </a:rPr>
              <a:t>card</a:t>
            </a: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 Estilos base del bloque */</a:t>
            </a:r>
            <a:br>
              <a:rPr lang="es-ES" b="1" dirty="0">
                <a:latin typeface="Courier New"/>
                <a:ea typeface="+mn-lt"/>
                <a:cs typeface="+mn-lt"/>
              </a:rPr>
            </a:b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a:t>
            </a:r>
            <a:r>
              <a:rPr lang="es-ES" b="1" dirty="0" err="1">
                <a:latin typeface="Courier New"/>
                <a:ea typeface="+mn-lt"/>
                <a:cs typeface="+mn-lt"/>
              </a:rPr>
              <a:t>card</a:t>
            </a:r>
            <a:r>
              <a:rPr lang="es-ES" b="1" dirty="0">
                <a:latin typeface="Courier New"/>
                <a:ea typeface="+mn-lt"/>
                <a:cs typeface="+mn-lt"/>
              </a:rPr>
              <a:t>__</a:t>
            </a:r>
            <a:r>
              <a:rPr lang="es-ES" b="1" dirty="0" err="1">
                <a:latin typeface="Courier New"/>
                <a:ea typeface="+mn-lt"/>
                <a:cs typeface="+mn-lt"/>
              </a:rPr>
              <a:t>header</a:t>
            </a: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 Estilos del elemento */</a:t>
            </a:r>
            <a:br>
              <a:rPr lang="es-ES" b="1" dirty="0">
                <a:latin typeface="Courier New"/>
                <a:ea typeface="+mn-lt"/>
                <a:cs typeface="+mn-lt"/>
              </a:rPr>
            </a:b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a:t>
            </a:r>
            <a:r>
              <a:rPr lang="es-ES" b="1" dirty="0" err="1">
                <a:latin typeface="Courier New"/>
                <a:ea typeface="+mn-lt"/>
                <a:cs typeface="+mn-lt"/>
              </a:rPr>
              <a:t>card</a:t>
            </a:r>
            <a:r>
              <a:rPr lang="es-ES" b="1" dirty="0">
                <a:latin typeface="Courier New"/>
                <a:ea typeface="+mn-lt"/>
                <a:cs typeface="+mn-lt"/>
              </a:rPr>
              <a:t>--</a:t>
            </a:r>
            <a:r>
              <a:rPr lang="es-ES" b="1" dirty="0" err="1">
                <a:latin typeface="Courier New"/>
                <a:ea typeface="+mn-lt"/>
                <a:cs typeface="+mn-lt"/>
              </a:rPr>
              <a:t>dark</a:t>
            </a: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 Estilos del modificador */</a:t>
            </a:r>
            <a:br>
              <a:rPr lang="es-ES" b="1" dirty="0">
                <a:latin typeface="Courier New"/>
                <a:ea typeface="+mn-lt"/>
                <a:cs typeface="+mn-lt"/>
              </a:rPr>
            </a:br>
            <a:r>
              <a:rPr lang="es-ES" b="1" dirty="0">
                <a:latin typeface="Courier New"/>
                <a:ea typeface="+mn-lt"/>
                <a:cs typeface="+mn-lt"/>
              </a:rPr>
              <a:t>}</a:t>
            </a:r>
            <a:endParaRPr lang="es-ES" b="1" dirty="0">
              <a:latin typeface="Courier New"/>
              <a:cs typeface="Courier New"/>
            </a:endParaRPr>
          </a:p>
          <a:p>
            <a:endParaRPr lang="es-ES" dirty="0"/>
          </a:p>
        </p:txBody>
      </p:sp>
    </p:spTree>
    <p:extLst>
      <p:ext uri="{BB962C8B-B14F-4D97-AF65-F5344CB8AC3E}">
        <p14:creationId xmlns:p14="http://schemas.microsoft.com/office/powerpoint/2010/main" val="2714204010"/>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94CA83-7F91-001A-D723-F82D5D67786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8B9767D-5600-370A-437B-E1759D031E1B}"/>
              </a:ext>
            </a:extLst>
          </p:cNvPr>
          <p:cNvSpPr>
            <a:spLocks noGrp="1"/>
          </p:cNvSpPr>
          <p:nvPr>
            <p:ph type="title"/>
          </p:nvPr>
        </p:nvSpPr>
        <p:spPr/>
        <p:txBody>
          <a:bodyPr/>
          <a:lstStyle/>
          <a:p>
            <a:r>
              <a:rPr lang="es-ES" b="0" dirty="0">
                <a:ea typeface="+mj-lt"/>
                <a:cs typeface="+mj-lt"/>
              </a:rPr>
              <a:t>2.4.6. Reutilización y organización de estilos</a:t>
            </a:r>
            <a:endParaRPr lang="es-ES" dirty="0"/>
          </a:p>
        </p:txBody>
      </p:sp>
      <p:sp>
        <p:nvSpPr>
          <p:cNvPr id="3" name="Marcador de contenido 2">
            <a:extLst>
              <a:ext uri="{FF2B5EF4-FFF2-40B4-BE49-F238E27FC236}">
                <a16:creationId xmlns:a16="http://schemas.microsoft.com/office/drawing/2014/main" id="{91AA12B3-A468-2DD6-6FF5-A0DD90F015A8}"/>
              </a:ext>
            </a:extLst>
          </p:cNvPr>
          <p:cNvSpPr>
            <a:spLocks noGrp="1"/>
          </p:cNvSpPr>
          <p:nvPr>
            <p:ph idx="1"/>
          </p:nvPr>
        </p:nvSpPr>
        <p:spPr/>
        <p:txBody>
          <a:bodyPr vert="horz" lIns="91440" tIns="45720" rIns="91440" bIns="45720" rtlCol="0" anchor="t">
            <a:normAutofit fontScale="92500" lnSpcReduction="10000"/>
          </a:bodyPr>
          <a:lstStyle/>
          <a:p>
            <a:r>
              <a:rPr lang="es-ES" dirty="0">
                <a:ea typeface="+mn-lt"/>
                <a:cs typeface="+mn-lt"/>
              </a:rPr>
              <a:t>Componentes reutilizables: Un componente es un bloque de UI independiente que puedes usar en cualquier parte de tu proyecto. Al crear estilos para componentes, mantienes el código encapsulado y reutilizable.</a:t>
            </a:r>
          </a:p>
          <a:p>
            <a:r>
              <a:rPr lang="es-ES" dirty="0">
                <a:ea typeface="+mn-lt"/>
                <a:cs typeface="+mn-lt"/>
              </a:rPr>
              <a:t>Ejemplo: En lugar de estilizar cada botón de forma individual, creas un solo componente .</a:t>
            </a:r>
            <a:r>
              <a:rPr lang="es-ES" dirty="0" err="1">
                <a:ea typeface="+mn-lt"/>
                <a:cs typeface="+mn-lt"/>
              </a:rPr>
              <a:t>button</a:t>
            </a:r>
            <a:r>
              <a:rPr lang="es-ES" dirty="0">
                <a:ea typeface="+mn-lt"/>
                <a:cs typeface="+mn-lt"/>
              </a:rPr>
              <a:t> que puedes usar en toda tu aplicación.</a:t>
            </a:r>
          </a:p>
          <a:p>
            <a:pPr marL="0" indent="0">
              <a:buNone/>
            </a:pPr>
            <a:r>
              <a:rPr lang="es-ES" b="1" dirty="0">
                <a:latin typeface="Courier New"/>
                <a:ea typeface="+mn-lt"/>
                <a:cs typeface="+mn-lt"/>
              </a:rPr>
              <a:t>.</a:t>
            </a:r>
            <a:r>
              <a:rPr lang="es-ES" b="1" err="1">
                <a:latin typeface="Courier New"/>
                <a:ea typeface="+mn-lt"/>
                <a:cs typeface="+mn-lt"/>
              </a:rPr>
              <a:t>button</a:t>
            </a: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padding</a:t>
            </a:r>
            <a:r>
              <a:rPr lang="es-ES" b="1" dirty="0">
                <a:latin typeface="Courier New"/>
                <a:ea typeface="+mn-lt"/>
                <a:cs typeface="+mn-lt"/>
              </a:rPr>
              <a:t>: 10px 15px;</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border-radius</a:t>
            </a:r>
            <a:r>
              <a:rPr lang="es-ES" b="1" dirty="0">
                <a:latin typeface="Courier New"/>
                <a:ea typeface="+mn-lt"/>
                <a:cs typeface="+mn-lt"/>
              </a:rPr>
              <a:t>: 4px;</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font-weight</a:t>
            </a:r>
            <a:r>
              <a:rPr lang="es-ES" b="1" dirty="0">
                <a:latin typeface="Courier New"/>
                <a:ea typeface="+mn-lt"/>
                <a:cs typeface="+mn-lt"/>
              </a:rPr>
              <a:t>: </a:t>
            </a:r>
            <a:r>
              <a:rPr lang="es-ES" b="1" err="1">
                <a:latin typeface="Courier New"/>
                <a:ea typeface="+mn-lt"/>
                <a:cs typeface="+mn-lt"/>
              </a:rPr>
              <a:t>bold</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a:t>
            </a:r>
            <a:r>
              <a:rPr lang="es-ES" b="1" err="1">
                <a:latin typeface="Courier New"/>
                <a:ea typeface="+mn-lt"/>
                <a:cs typeface="+mn-lt"/>
              </a:rPr>
              <a:t>button-primary</a:t>
            </a: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background</a:t>
            </a:r>
            <a:r>
              <a:rPr lang="es-ES" b="1" dirty="0">
                <a:latin typeface="Courier New"/>
                <a:ea typeface="+mn-lt"/>
                <a:cs typeface="+mn-lt"/>
              </a:rPr>
              <a:t>-color: #007bff;</a:t>
            </a:r>
            <a:br>
              <a:rPr lang="es-ES" b="1" dirty="0">
                <a:latin typeface="Courier New"/>
                <a:ea typeface="+mn-lt"/>
                <a:cs typeface="+mn-lt"/>
              </a:rPr>
            </a:br>
            <a:r>
              <a:rPr lang="es-ES" b="1" dirty="0">
                <a:latin typeface="Courier New"/>
                <a:ea typeface="+mn-lt"/>
                <a:cs typeface="+mn-lt"/>
              </a:rPr>
              <a:t>  color: </a:t>
            </a:r>
            <a:r>
              <a:rPr lang="es-ES" b="1" err="1">
                <a:latin typeface="Courier New"/>
                <a:ea typeface="+mn-lt"/>
                <a:cs typeface="+mn-lt"/>
              </a:rPr>
              <a:t>white</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a:t>
            </a:r>
            <a:endParaRPr lang="es-ES" b="1" dirty="0">
              <a:latin typeface="Courier New"/>
              <a:cs typeface="Courier New"/>
            </a:endParaRPr>
          </a:p>
        </p:txBody>
      </p:sp>
    </p:spTree>
    <p:extLst>
      <p:ext uri="{BB962C8B-B14F-4D97-AF65-F5344CB8AC3E}">
        <p14:creationId xmlns:p14="http://schemas.microsoft.com/office/powerpoint/2010/main" val="2907403869"/>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D27F3D-E379-6F2C-7F88-FB31FF3483B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48325B8-804A-63E4-620C-D0B553D6C93A}"/>
              </a:ext>
            </a:extLst>
          </p:cNvPr>
          <p:cNvSpPr>
            <a:spLocks noGrp="1"/>
          </p:cNvSpPr>
          <p:nvPr>
            <p:ph type="title"/>
          </p:nvPr>
        </p:nvSpPr>
        <p:spPr/>
        <p:txBody>
          <a:bodyPr/>
          <a:lstStyle/>
          <a:p>
            <a:r>
              <a:rPr lang="es-ES" b="0" dirty="0">
                <a:ea typeface="+mj-lt"/>
                <a:cs typeface="+mj-lt"/>
              </a:rPr>
              <a:t>2.4.6. Reutilización y organización de estilos</a:t>
            </a:r>
            <a:endParaRPr lang="es-ES" dirty="0"/>
          </a:p>
        </p:txBody>
      </p:sp>
      <p:sp>
        <p:nvSpPr>
          <p:cNvPr id="3" name="Marcador de contenido 2">
            <a:extLst>
              <a:ext uri="{FF2B5EF4-FFF2-40B4-BE49-F238E27FC236}">
                <a16:creationId xmlns:a16="http://schemas.microsoft.com/office/drawing/2014/main" id="{20280E52-9745-829B-E469-59A6BA298E66}"/>
              </a:ext>
            </a:extLst>
          </p:cNvPr>
          <p:cNvSpPr>
            <a:spLocks noGrp="1"/>
          </p:cNvSpPr>
          <p:nvPr>
            <p:ph idx="1"/>
          </p:nvPr>
        </p:nvSpPr>
        <p:spPr/>
        <p:txBody>
          <a:bodyPr vert="horz" lIns="91440" tIns="45720" rIns="91440" bIns="45720" rtlCol="0" anchor="t">
            <a:normAutofit/>
          </a:bodyPr>
          <a:lstStyle/>
          <a:p>
            <a:r>
              <a:rPr lang="es-ES" dirty="0">
                <a:ea typeface="+mn-lt"/>
                <a:cs typeface="+mn-lt"/>
              </a:rPr>
              <a:t>Variables CSS: El uso de Propiedades Personalizadas (--variable-</a:t>
            </a:r>
            <a:r>
              <a:rPr lang="es-ES" dirty="0" err="1">
                <a:ea typeface="+mn-lt"/>
                <a:cs typeface="+mn-lt"/>
              </a:rPr>
              <a:t>name</a:t>
            </a:r>
            <a:r>
              <a:rPr lang="es-ES" dirty="0">
                <a:ea typeface="+mn-lt"/>
                <a:cs typeface="+mn-lt"/>
              </a:rPr>
              <a:t>) es la clave para la reutilización de valores. Si defines tu paleta de colores y tamaños de fuente en variables, puedes usarlas en todo el proyecto y cambiarlas fácilmente en un solo lugar.</a:t>
            </a:r>
            <a:endParaRPr lang="es-ES" dirty="0"/>
          </a:p>
          <a:p>
            <a:pPr marL="0" indent="0">
              <a:buNone/>
            </a:pPr>
            <a:r>
              <a:rPr lang="es-ES" b="1" dirty="0">
                <a:latin typeface="Courier New"/>
                <a:ea typeface="+mn-lt"/>
                <a:cs typeface="+mn-lt"/>
              </a:rPr>
              <a:t>:</a:t>
            </a:r>
            <a:r>
              <a:rPr lang="es-ES" b="1" err="1">
                <a:latin typeface="Courier New"/>
                <a:ea typeface="+mn-lt"/>
                <a:cs typeface="+mn-lt"/>
              </a:rPr>
              <a:t>root</a:t>
            </a: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--color-primario: #007bff;</a:t>
            </a:r>
            <a:br>
              <a:rPr lang="es-ES" b="1" dirty="0">
                <a:latin typeface="Courier New"/>
                <a:ea typeface="+mn-lt"/>
                <a:cs typeface="+mn-lt"/>
              </a:rPr>
            </a:br>
            <a:r>
              <a:rPr lang="es-ES" b="1" dirty="0">
                <a:latin typeface="Courier New"/>
                <a:ea typeface="+mn-lt"/>
                <a:cs typeface="+mn-lt"/>
              </a:rPr>
              <a:t>  --espaciado-</a:t>
            </a:r>
            <a:r>
              <a:rPr lang="es-ES" b="1" err="1">
                <a:latin typeface="Courier New"/>
                <a:ea typeface="+mn-lt"/>
                <a:cs typeface="+mn-lt"/>
              </a:rPr>
              <a:t>sm</a:t>
            </a:r>
            <a:r>
              <a:rPr lang="es-ES" b="1" dirty="0">
                <a:latin typeface="Courier New"/>
                <a:ea typeface="+mn-lt"/>
                <a:cs typeface="+mn-lt"/>
              </a:rPr>
              <a:t>: 10px;</a:t>
            </a:r>
            <a:br>
              <a:rPr lang="es-ES" b="1" dirty="0">
                <a:latin typeface="Courier New"/>
                <a:ea typeface="+mn-lt"/>
                <a:cs typeface="+mn-lt"/>
              </a:rPr>
            </a:b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a:t>
            </a:r>
            <a:r>
              <a:rPr lang="es-ES" b="1" err="1">
                <a:latin typeface="Courier New"/>
                <a:ea typeface="+mn-lt"/>
                <a:cs typeface="+mn-lt"/>
              </a:rPr>
              <a:t>button</a:t>
            </a:r>
            <a:r>
              <a:rPr lang="es-ES" b="1" dirty="0">
                <a:latin typeface="Courier New"/>
                <a:ea typeface="+mn-lt"/>
                <a:cs typeface="+mn-lt"/>
              </a:rPr>
              <a:t>--</a:t>
            </a:r>
            <a:r>
              <a:rPr lang="es-ES" b="1" err="1">
                <a:latin typeface="Courier New"/>
                <a:ea typeface="+mn-lt"/>
                <a:cs typeface="+mn-lt"/>
              </a:rPr>
              <a:t>primary</a:t>
            </a: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background</a:t>
            </a:r>
            <a:r>
              <a:rPr lang="es-ES" b="1" dirty="0">
                <a:latin typeface="Courier New"/>
                <a:ea typeface="+mn-lt"/>
                <a:cs typeface="+mn-lt"/>
              </a:rPr>
              <a:t>-color: </a:t>
            </a:r>
            <a:r>
              <a:rPr lang="es-ES" b="1" err="1">
                <a:latin typeface="Courier New"/>
                <a:ea typeface="+mn-lt"/>
                <a:cs typeface="+mn-lt"/>
              </a:rPr>
              <a:t>var</a:t>
            </a:r>
            <a:r>
              <a:rPr lang="es-ES" b="1" dirty="0">
                <a:latin typeface="Courier New"/>
                <a:ea typeface="+mn-lt"/>
                <a:cs typeface="+mn-lt"/>
              </a:rPr>
              <a:t>(--color-primario);</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padding</a:t>
            </a:r>
            <a:r>
              <a:rPr lang="es-ES" b="1" dirty="0">
                <a:latin typeface="Courier New"/>
                <a:ea typeface="+mn-lt"/>
                <a:cs typeface="+mn-lt"/>
              </a:rPr>
              <a:t>: </a:t>
            </a:r>
            <a:r>
              <a:rPr lang="es-ES" b="1" err="1">
                <a:latin typeface="Courier New"/>
                <a:ea typeface="+mn-lt"/>
                <a:cs typeface="+mn-lt"/>
              </a:rPr>
              <a:t>var</a:t>
            </a:r>
            <a:r>
              <a:rPr lang="es-ES" b="1" dirty="0">
                <a:latin typeface="Courier New"/>
                <a:ea typeface="+mn-lt"/>
                <a:cs typeface="+mn-lt"/>
              </a:rPr>
              <a:t>(--espaciado-</a:t>
            </a:r>
            <a:r>
              <a:rPr lang="es-ES" b="1" err="1">
                <a:latin typeface="Courier New"/>
                <a:ea typeface="+mn-lt"/>
                <a:cs typeface="+mn-lt"/>
              </a:rPr>
              <a:t>sm</a:t>
            </a:r>
            <a:r>
              <a:rPr lang="es-ES" b="1" dirty="0">
                <a:latin typeface="Courier New"/>
                <a:ea typeface="+mn-lt"/>
                <a:cs typeface="+mn-lt"/>
              </a:rPr>
              <a:t>) </a:t>
            </a:r>
            <a:r>
              <a:rPr lang="es-ES" b="1" err="1">
                <a:latin typeface="Courier New"/>
                <a:ea typeface="+mn-lt"/>
                <a:cs typeface="+mn-lt"/>
              </a:rPr>
              <a:t>var</a:t>
            </a:r>
            <a:r>
              <a:rPr lang="es-ES" b="1" dirty="0">
                <a:latin typeface="Courier New"/>
                <a:ea typeface="+mn-lt"/>
                <a:cs typeface="+mn-lt"/>
              </a:rPr>
              <a:t>(--espaciado-</a:t>
            </a:r>
            <a:r>
              <a:rPr lang="es-ES" b="1" err="1">
                <a:latin typeface="Courier New"/>
                <a:ea typeface="+mn-lt"/>
                <a:cs typeface="+mn-lt"/>
              </a:rPr>
              <a:t>sm</a:t>
            </a:r>
            <a:r>
              <a:rPr lang="es-ES" b="1" dirty="0">
                <a:latin typeface="Courier New"/>
                <a:ea typeface="+mn-lt"/>
                <a:cs typeface="+mn-lt"/>
              </a:rPr>
              <a:t>) * 2;</a:t>
            </a:r>
            <a:br>
              <a:rPr lang="es-ES" b="1" dirty="0">
                <a:latin typeface="Courier New"/>
                <a:ea typeface="+mn-lt"/>
                <a:cs typeface="+mn-lt"/>
              </a:rPr>
            </a:br>
            <a:r>
              <a:rPr lang="es-ES" b="1" dirty="0">
                <a:latin typeface="Courier New"/>
                <a:ea typeface="+mn-lt"/>
                <a:cs typeface="+mn-lt"/>
              </a:rPr>
              <a:t>}</a:t>
            </a:r>
            <a:endParaRPr lang="es-ES" dirty="0">
              <a:latin typeface="Bierstadt"/>
            </a:endParaRPr>
          </a:p>
        </p:txBody>
      </p:sp>
    </p:spTree>
    <p:extLst>
      <p:ext uri="{BB962C8B-B14F-4D97-AF65-F5344CB8AC3E}">
        <p14:creationId xmlns:p14="http://schemas.microsoft.com/office/powerpoint/2010/main" val="136132326"/>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1EF850-65A2-65C7-2AB2-19E7422D7A5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48C6E2C-20B6-D643-F8B7-D39BBE1394DE}"/>
              </a:ext>
            </a:extLst>
          </p:cNvPr>
          <p:cNvSpPr>
            <a:spLocks noGrp="1"/>
          </p:cNvSpPr>
          <p:nvPr>
            <p:ph type="title"/>
          </p:nvPr>
        </p:nvSpPr>
        <p:spPr/>
        <p:txBody>
          <a:bodyPr/>
          <a:lstStyle/>
          <a:p>
            <a:r>
              <a:rPr lang="es-ES" b="0" dirty="0">
                <a:ea typeface="+mj-lt"/>
                <a:cs typeface="+mj-lt"/>
              </a:rPr>
              <a:t>2.4.6. Reutilización y organización de estilos</a:t>
            </a:r>
            <a:endParaRPr lang="es-ES" dirty="0"/>
          </a:p>
        </p:txBody>
      </p:sp>
      <p:sp>
        <p:nvSpPr>
          <p:cNvPr id="3" name="Marcador de contenido 2">
            <a:extLst>
              <a:ext uri="{FF2B5EF4-FFF2-40B4-BE49-F238E27FC236}">
                <a16:creationId xmlns:a16="http://schemas.microsoft.com/office/drawing/2014/main" id="{A30ADBC1-A221-0E22-0D55-A6E6945E4661}"/>
              </a:ext>
            </a:extLst>
          </p:cNvPr>
          <p:cNvSpPr>
            <a:spLocks noGrp="1"/>
          </p:cNvSpPr>
          <p:nvPr>
            <p:ph idx="1"/>
          </p:nvPr>
        </p:nvSpPr>
        <p:spPr/>
        <p:txBody>
          <a:bodyPr vert="horz" lIns="91440" tIns="45720" rIns="91440" bIns="45720" rtlCol="0" anchor="t">
            <a:normAutofit lnSpcReduction="10000"/>
          </a:bodyPr>
          <a:lstStyle/>
          <a:p>
            <a:r>
              <a:rPr lang="es-ES" dirty="0">
                <a:ea typeface="+mn-lt"/>
                <a:cs typeface="+mn-lt"/>
              </a:rPr>
              <a:t>Clases de utilidad (</a:t>
            </a:r>
            <a:r>
              <a:rPr lang="es-ES" dirty="0" err="1">
                <a:ea typeface="+mn-lt"/>
                <a:cs typeface="+mn-lt"/>
              </a:rPr>
              <a:t>Utility-first</a:t>
            </a:r>
            <a:r>
              <a:rPr lang="es-ES" dirty="0">
                <a:ea typeface="+mn-lt"/>
                <a:cs typeface="+mn-lt"/>
              </a:rPr>
              <a:t> CSS): Este enfoque, popularizado por </a:t>
            </a:r>
            <a:r>
              <a:rPr lang="es-ES" dirty="0" err="1">
                <a:ea typeface="+mn-lt"/>
                <a:cs typeface="+mn-lt"/>
              </a:rPr>
              <a:t>frameworks</a:t>
            </a:r>
            <a:r>
              <a:rPr lang="es-ES" dirty="0">
                <a:ea typeface="+mn-lt"/>
                <a:cs typeface="+mn-lt"/>
              </a:rPr>
              <a:t> como </a:t>
            </a:r>
            <a:r>
              <a:rPr lang="es-ES" dirty="0" err="1">
                <a:ea typeface="+mn-lt"/>
                <a:cs typeface="+mn-lt"/>
              </a:rPr>
              <a:t>Tailwind</a:t>
            </a:r>
            <a:r>
              <a:rPr lang="es-ES" dirty="0">
                <a:ea typeface="+mn-lt"/>
                <a:cs typeface="+mn-lt"/>
              </a:rPr>
              <a:t> CSS, se basa en clases de un solo propósito. En lugar de crear un componente, aplicas clases de utilidad directamente al HTML para construir el diseño.</a:t>
            </a:r>
          </a:p>
          <a:p>
            <a:r>
              <a:rPr lang="es-ES" b="1" dirty="0">
                <a:latin typeface="Courier New"/>
                <a:ea typeface="+mn-lt"/>
                <a:cs typeface="+mn-lt"/>
              </a:rPr>
              <a:t>&lt;</a:t>
            </a:r>
            <a:r>
              <a:rPr lang="es-ES" b="1" err="1">
                <a:latin typeface="Courier New"/>
                <a:ea typeface="+mn-lt"/>
                <a:cs typeface="+mn-lt"/>
              </a:rPr>
              <a:t>div</a:t>
            </a:r>
            <a:r>
              <a:rPr lang="es-ES" b="1" dirty="0">
                <a:latin typeface="Courier New"/>
                <a:ea typeface="+mn-lt"/>
                <a:cs typeface="+mn-lt"/>
              </a:rPr>
              <a:t> </a:t>
            </a:r>
            <a:r>
              <a:rPr lang="es-ES" b="1" err="1">
                <a:latin typeface="Courier New"/>
                <a:ea typeface="+mn-lt"/>
                <a:cs typeface="+mn-lt"/>
              </a:rPr>
              <a:t>class</a:t>
            </a:r>
            <a:r>
              <a:rPr lang="es-ES" b="1" dirty="0">
                <a:latin typeface="Courier New"/>
                <a:ea typeface="+mn-lt"/>
                <a:cs typeface="+mn-lt"/>
              </a:rPr>
              <a:t>="bg-gray-100 p-4 </a:t>
            </a:r>
            <a:r>
              <a:rPr lang="es-ES" b="1" err="1">
                <a:latin typeface="Courier New"/>
                <a:ea typeface="+mn-lt"/>
                <a:cs typeface="+mn-lt"/>
              </a:rPr>
              <a:t>border</a:t>
            </a:r>
            <a:r>
              <a:rPr lang="es-ES" b="1" dirty="0">
                <a:latin typeface="Courier New"/>
                <a:ea typeface="+mn-lt"/>
                <a:cs typeface="+mn-lt"/>
              </a:rPr>
              <a:t> </a:t>
            </a:r>
            <a:r>
              <a:rPr lang="es-ES" b="1" err="1">
                <a:latin typeface="Courier New"/>
                <a:ea typeface="+mn-lt"/>
                <a:cs typeface="+mn-lt"/>
              </a:rPr>
              <a:t>rounded-md</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&lt;p </a:t>
            </a:r>
            <a:r>
              <a:rPr lang="es-ES" b="1" err="1">
                <a:latin typeface="Courier New"/>
                <a:ea typeface="+mn-lt"/>
                <a:cs typeface="+mn-lt"/>
              </a:rPr>
              <a:t>class</a:t>
            </a:r>
            <a:r>
              <a:rPr lang="es-ES" b="1" dirty="0">
                <a:latin typeface="Courier New"/>
                <a:ea typeface="+mn-lt"/>
                <a:cs typeface="+mn-lt"/>
              </a:rPr>
              <a:t>="</a:t>
            </a:r>
            <a:r>
              <a:rPr lang="es-ES" b="1" err="1">
                <a:latin typeface="Courier New"/>
                <a:ea typeface="+mn-lt"/>
                <a:cs typeface="+mn-lt"/>
              </a:rPr>
              <a:t>font-bold</a:t>
            </a:r>
            <a:r>
              <a:rPr lang="es-ES" b="1" dirty="0">
                <a:latin typeface="Courier New"/>
                <a:ea typeface="+mn-lt"/>
                <a:cs typeface="+mn-lt"/>
              </a:rPr>
              <a:t> </a:t>
            </a:r>
            <a:r>
              <a:rPr lang="es-ES" b="1" err="1">
                <a:latin typeface="Courier New"/>
                <a:ea typeface="+mn-lt"/>
                <a:cs typeface="+mn-lt"/>
              </a:rPr>
              <a:t>text-lg</a:t>
            </a:r>
            <a:r>
              <a:rPr lang="es-ES" b="1" dirty="0">
                <a:latin typeface="Courier New"/>
                <a:ea typeface="+mn-lt"/>
                <a:cs typeface="+mn-lt"/>
              </a:rPr>
              <a:t> </a:t>
            </a:r>
            <a:r>
              <a:rPr lang="es-ES" b="1" err="1">
                <a:latin typeface="Courier New"/>
                <a:ea typeface="+mn-lt"/>
                <a:cs typeface="+mn-lt"/>
              </a:rPr>
              <a:t>text</a:t>
            </a:r>
            <a:r>
              <a:rPr lang="es-ES" b="1" dirty="0">
                <a:latin typeface="Courier New"/>
                <a:ea typeface="+mn-lt"/>
                <a:cs typeface="+mn-lt"/>
              </a:rPr>
              <a:t>-center"&gt;Mi contenido&lt;/p&gt;</a:t>
            </a:r>
            <a:br>
              <a:rPr lang="es-ES" b="1" dirty="0">
                <a:latin typeface="Courier New"/>
                <a:ea typeface="+mn-lt"/>
                <a:cs typeface="+mn-lt"/>
              </a:rPr>
            </a:br>
            <a:r>
              <a:rPr lang="es-ES" b="1" dirty="0">
                <a:latin typeface="Courier New"/>
                <a:ea typeface="+mn-lt"/>
                <a:cs typeface="+mn-lt"/>
              </a:rPr>
              <a:t>&lt;/</a:t>
            </a:r>
            <a:r>
              <a:rPr lang="es-ES" b="1" err="1">
                <a:latin typeface="Courier New"/>
                <a:ea typeface="+mn-lt"/>
                <a:cs typeface="+mn-lt"/>
              </a:rPr>
              <a:t>div</a:t>
            </a:r>
            <a:r>
              <a:rPr lang="es-ES" b="1" dirty="0">
                <a:latin typeface="Courier New"/>
                <a:ea typeface="+mn-lt"/>
                <a:cs typeface="+mn-lt"/>
              </a:rPr>
              <a:t>&gt;</a:t>
            </a:r>
            <a:endParaRPr lang="es-ES" b="1">
              <a:latin typeface="Courier New"/>
              <a:ea typeface="+mn-lt"/>
              <a:cs typeface="+mn-lt"/>
            </a:endParaRPr>
          </a:p>
          <a:p>
            <a:r>
              <a:rPr lang="es-ES" err="1">
                <a:ea typeface="+mn-lt"/>
                <a:cs typeface="+mn-lt"/>
              </a:rPr>
              <a:t>Modularización</a:t>
            </a:r>
            <a:r>
              <a:rPr lang="es-ES" dirty="0">
                <a:ea typeface="+mn-lt"/>
                <a:cs typeface="+mn-lt"/>
              </a:rPr>
              <a:t> del código: Como vimos en puntos anteriores, la </a:t>
            </a:r>
            <a:r>
              <a:rPr lang="es-ES" err="1">
                <a:ea typeface="+mn-lt"/>
                <a:cs typeface="+mn-lt"/>
              </a:rPr>
              <a:t>modularización</a:t>
            </a:r>
            <a:r>
              <a:rPr lang="es-ES" dirty="0">
                <a:ea typeface="+mn-lt"/>
                <a:cs typeface="+mn-lt"/>
              </a:rPr>
              <a:t> te permite dividir tu código en archivos pequeños (botones.css, layouts.css) y luego unificarlos con @import en un solo archivo principal.</a:t>
            </a:r>
          </a:p>
          <a:p>
            <a:r>
              <a:rPr lang="es-ES" dirty="0">
                <a:ea typeface="+mn-lt"/>
                <a:cs typeface="+mn-lt"/>
              </a:rPr>
              <a:t>Al combinar estas técnicas, puedes construir una arquitectura de estilos sólida y duradera para cualquier proyecto web.</a:t>
            </a:r>
            <a:endParaRPr lang="es-ES" dirty="0"/>
          </a:p>
        </p:txBody>
      </p:sp>
    </p:spTree>
    <p:extLst>
      <p:ext uri="{BB962C8B-B14F-4D97-AF65-F5344CB8AC3E}">
        <p14:creationId xmlns:p14="http://schemas.microsoft.com/office/powerpoint/2010/main" val="2144382856"/>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D3F694-D96B-9E6E-704E-D89F3668969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0B58014-B91C-CCA0-F764-F9DADBB22DEA}"/>
              </a:ext>
            </a:extLst>
          </p:cNvPr>
          <p:cNvSpPr>
            <a:spLocks noGrp="1"/>
          </p:cNvSpPr>
          <p:nvPr>
            <p:ph type="title"/>
          </p:nvPr>
        </p:nvSpPr>
        <p:spPr/>
        <p:txBody>
          <a:bodyPr/>
          <a:lstStyle/>
          <a:p>
            <a:r>
              <a:rPr lang="es-ES" b="0" dirty="0">
                <a:ea typeface="+mj-lt"/>
                <a:cs typeface="+mj-lt"/>
              </a:rPr>
              <a:t>2.4.6.1. Hojas de estilo alternativas y temas.</a:t>
            </a:r>
            <a:endParaRPr lang="es-ES" dirty="0"/>
          </a:p>
        </p:txBody>
      </p:sp>
      <p:sp>
        <p:nvSpPr>
          <p:cNvPr id="3" name="Marcador de contenido 2">
            <a:extLst>
              <a:ext uri="{FF2B5EF4-FFF2-40B4-BE49-F238E27FC236}">
                <a16:creationId xmlns:a16="http://schemas.microsoft.com/office/drawing/2014/main" id="{AC853097-4885-3D57-BD97-8F425C937422}"/>
              </a:ext>
            </a:extLst>
          </p:cNvPr>
          <p:cNvSpPr>
            <a:spLocks noGrp="1"/>
          </p:cNvSpPr>
          <p:nvPr>
            <p:ph idx="1"/>
          </p:nvPr>
        </p:nvSpPr>
        <p:spPr/>
        <p:txBody>
          <a:bodyPr vert="horz" lIns="91440" tIns="45720" rIns="91440" bIns="45720" rtlCol="0" anchor="t">
            <a:normAutofit fontScale="85000" lnSpcReduction="20000"/>
          </a:bodyPr>
          <a:lstStyle/>
          <a:p>
            <a:r>
              <a:rPr lang="es-ES" dirty="0">
                <a:ea typeface="+mn-lt"/>
                <a:cs typeface="+mn-lt"/>
              </a:rPr>
              <a:t>Las hojas de estilo alternativas y los temas son técnicas para ofrecer diferentes apariencias visuales para un sitio web sin alterar la estructura HTML o el contenido. Esto es fundamental para la accesibilidad (por ejemplo, temas de alto contraste) y la personalización de la experiencia del usuario (como el popular modo oscuro).</a:t>
            </a:r>
            <a:endParaRPr lang="es-ES" dirty="0"/>
          </a:p>
          <a:p>
            <a:r>
              <a:rPr lang="es-ES" dirty="0">
                <a:ea typeface="+mn-lt"/>
                <a:cs typeface="+mn-lt"/>
              </a:rPr>
              <a:t>Existen varios métodos para implementar temas, desde las formas clásicas de HTML hasta las técnicas modernas de CSS.</a:t>
            </a:r>
            <a:endParaRPr lang="es-ES" dirty="0"/>
          </a:p>
          <a:p>
            <a:r>
              <a:rPr lang="es-ES" dirty="0">
                <a:ea typeface="+mn-lt"/>
                <a:cs typeface="+mn-lt"/>
              </a:rPr>
              <a:t>Múltiples hojas de estilo con HTML (&lt;link&gt;): Este método es una de las formas más antiguas de ofrecer temas. Utiliza la etiqueta &lt;link&gt; para definir las hojas de estilo y atributos para controlarlas. Aunque no es la práctica más común hoy en día, es importante conocerla.</a:t>
            </a:r>
            <a:endParaRPr lang="es-ES" dirty="0"/>
          </a:p>
          <a:p>
            <a:pPr lvl="1">
              <a:buFont typeface="Courier New" panose="020B0604020202020204" pitchFamily="34" charset="0"/>
              <a:buChar char="o"/>
            </a:pPr>
            <a:r>
              <a:rPr lang="es-ES" b="1" err="1">
                <a:latin typeface="Courier New"/>
                <a:ea typeface="+mn-lt"/>
                <a:cs typeface="+mn-lt"/>
              </a:rPr>
              <a:t>rel</a:t>
            </a:r>
            <a:r>
              <a:rPr lang="es-ES" b="1" dirty="0">
                <a:latin typeface="Courier New"/>
                <a:ea typeface="+mn-lt"/>
                <a:cs typeface="+mn-lt"/>
              </a:rPr>
              <a:t>="</a:t>
            </a:r>
            <a:r>
              <a:rPr lang="es-ES" b="1" err="1">
                <a:latin typeface="Courier New"/>
                <a:ea typeface="+mn-lt"/>
                <a:cs typeface="+mn-lt"/>
              </a:rPr>
              <a:t>stylesheet</a:t>
            </a:r>
            <a:r>
              <a:rPr lang="es-ES" b="1" dirty="0">
                <a:latin typeface="Courier New"/>
                <a:ea typeface="+mn-lt"/>
                <a:cs typeface="+mn-lt"/>
              </a:rPr>
              <a:t>"</a:t>
            </a:r>
            <a:r>
              <a:rPr lang="es-ES" dirty="0">
                <a:ea typeface="+mn-lt"/>
                <a:cs typeface="+mn-lt"/>
              </a:rPr>
              <a:t>: Enlaza la hoja de estilo por defecto.</a:t>
            </a:r>
            <a:endParaRPr lang="es-ES"/>
          </a:p>
          <a:p>
            <a:pPr lvl="1">
              <a:buFont typeface="Courier New" panose="020B0604020202020204" pitchFamily="34" charset="0"/>
              <a:buChar char="o"/>
            </a:pPr>
            <a:r>
              <a:rPr lang="es-ES" b="1" err="1">
                <a:latin typeface="Courier New"/>
                <a:ea typeface="+mn-lt"/>
                <a:cs typeface="+mn-lt"/>
              </a:rPr>
              <a:t>rel</a:t>
            </a:r>
            <a:r>
              <a:rPr lang="es-ES" b="1" dirty="0">
                <a:latin typeface="Courier New"/>
                <a:ea typeface="+mn-lt"/>
                <a:cs typeface="+mn-lt"/>
              </a:rPr>
              <a:t>="</a:t>
            </a:r>
            <a:r>
              <a:rPr lang="es-ES" b="1" err="1">
                <a:latin typeface="Courier New"/>
                <a:ea typeface="+mn-lt"/>
                <a:cs typeface="+mn-lt"/>
              </a:rPr>
              <a:t>alternate</a:t>
            </a:r>
            <a:r>
              <a:rPr lang="es-ES" b="1" dirty="0">
                <a:latin typeface="Courier New"/>
                <a:ea typeface="+mn-lt"/>
                <a:cs typeface="+mn-lt"/>
              </a:rPr>
              <a:t> </a:t>
            </a:r>
            <a:r>
              <a:rPr lang="es-ES" b="1" err="1">
                <a:latin typeface="Courier New"/>
                <a:ea typeface="+mn-lt"/>
                <a:cs typeface="+mn-lt"/>
              </a:rPr>
              <a:t>stylesheet</a:t>
            </a:r>
            <a:r>
              <a:rPr lang="es-ES" b="1" dirty="0">
                <a:latin typeface="Courier New"/>
                <a:ea typeface="+mn-lt"/>
                <a:cs typeface="+mn-lt"/>
              </a:rPr>
              <a:t>"</a:t>
            </a:r>
            <a:r>
              <a:rPr lang="es-ES" dirty="0">
                <a:ea typeface="+mn-lt"/>
                <a:cs typeface="+mn-lt"/>
              </a:rPr>
              <a:t>: Enlaza una hoja de estilo alternativa que el usuario puede seleccionar.</a:t>
            </a:r>
            <a:endParaRPr lang="es-ES"/>
          </a:p>
          <a:p>
            <a:pPr lvl="1">
              <a:buFont typeface="Courier New" panose="020B0604020202020204" pitchFamily="34" charset="0"/>
              <a:buChar char="o"/>
            </a:pPr>
            <a:r>
              <a:rPr lang="es-ES" b="1" err="1">
                <a:latin typeface="Courier New"/>
                <a:ea typeface="+mn-lt"/>
                <a:cs typeface="+mn-lt"/>
              </a:rPr>
              <a:t>title</a:t>
            </a:r>
            <a:r>
              <a:rPr lang="es-ES" dirty="0">
                <a:ea typeface="+mn-lt"/>
                <a:cs typeface="+mn-lt"/>
              </a:rPr>
              <a:t>: Asigna un nombre al tema que puede ser usado por el navegador para mostrarlo en un menú.</a:t>
            </a:r>
            <a:endParaRPr lang="es-ES" dirty="0"/>
          </a:p>
          <a:p>
            <a:r>
              <a:rPr lang="es-ES" dirty="0">
                <a:ea typeface="+mn-lt"/>
                <a:cs typeface="+mn-lt"/>
              </a:rPr>
              <a:t>Ejemplo:</a:t>
            </a:r>
            <a:endParaRPr lang="es-ES" dirty="0"/>
          </a:p>
          <a:p>
            <a:pPr marL="0" indent="0">
              <a:buNone/>
            </a:pPr>
            <a:r>
              <a:rPr lang="es-ES" b="1" dirty="0">
                <a:latin typeface="Courier New"/>
                <a:ea typeface="+mn-lt"/>
                <a:cs typeface="+mn-lt"/>
              </a:rPr>
              <a:t>&lt;link </a:t>
            </a:r>
            <a:r>
              <a:rPr lang="es-ES" b="1" dirty="0" err="1">
                <a:latin typeface="Courier New"/>
                <a:ea typeface="+mn-lt"/>
                <a:cs typeface="+mn-lt"/>
              </a:rPr>
              <a:t>rel</a:t>
            </a:r>
            <a:r>
              <a:rPr lang="es-ES" b="1" dirty="0">
                <a:latin typeface="Courier New"/>
                <a:ea typeface="+mn-lt"/>
                <a:cs typeface="+mn-lt"/>
              </a:rPr>
              <a:t>="</a:t>
            </a:r>
            <a:r>
              <a:rPr lang="es-ES" b="1" dirty="0" err="1">
                <a:latin typeface="Courier New"/>
                <a:ea typeface="+mn-lt"/>
                <a:cs typeface="+mn-lt"/>
              </a:rPr>
              <a:t>stylesheet</a:t>
            </a:r>
            <a:r>
              <a:rPr lang="es-ES" b="1" dirty="0">
                <a:latin typeface="Courier New"/>
                <a:ea typeface="+mn-lt"/>
                <a:cs typeface="+mn-lt"/>
              </a:rPr>
              <a:t>" </a:t>
            </a:r>
            <a:r>
              <a:rPr lang="es-ES" b="1" dirty="0" err="1">
                <a:latin typeface="Courier New"/>
                <a:ea typeface="+mn-lt"/>
                <a:cs typeface="+mn-lt"/>
              </a:rPr>
              <a:t>href</a:t>
            </a:r>
            <a:r>
              <a:rPr lang="es-ES" b="1" dirty="0">
                <a:latin typeface="Courier New"/>
                <a:ea typeface="+mn-lt"/>
                <a:cs typeface="+mn-lt"/>
              </a:rPr>
              <a:t>="estilo-base.css" </a:t>
            </a:r>
            <a:r>
              <a:rPr lang="es-ES" b="1" dirty="0" err="1">
                <a:latin typeface="Courier New"/>
                <a:ea typeface="+mn-lt"/>
                <a:cs typeface="+mn-lt"/>
              </a:rPr>
              <a:t>title</a:t>
            </a:r>
            <a:r>
              <a:rPr lang="es-ES" b="1" dirty="0">
                <a:latin typeface="Courier New"/>
                <a:ea typeface="+mn-lt"/>
                <a:cs typeface="+mn-lt"/>
              </a:rPr>
              <a:t>="Claro"&gt;</a:t>
            </a:r>
            <a:br>
              <a:rPr lang="es-ES" b="1" dirty="0">
                <a:latin typeface="Courier New"/>
                <a:ea typeface="+mn-lt"/>
                <a:cs typeface="+mn-lt"/>
              </a:rPr>
            </a:br>
            <a:r>
              <a:rPr lang="es-ES" b="1" dirty="0">
                <a:latin typeface="Courier New"/>
                <a:ea typeface="+mn-lt"/>
                <a:cs typeface="+mn-lt"/>
              </a:rPr>
              <a:t>&lt;link </a:t>
            </a:r>
            <a:r>
              <a:rPr lang="es-ES" b="1" dirty="0" err="1">
                <a:latin typeface="Courier New"/>
                <a:ea typeface="+mn-lt"/>
                <a:cs typeface="+mn-lt"/>
              </a:rPr>
              <a:t>rel</a:t>
            </a:r>
            <a:r>
              <a:rPr lang="es-ES" b="1" dirty="0">
                <a:latin typeface="Courier New"/>
                <a:ea typeface="+mn-lt"/>
                <a:cs typeface="+mn-lt"/>
              </a:rPr>
              <a:t>="</a:t>
            </a:r>
            <a:r>
              <a:rPr lang="es-ES" b="1" dirty="0" err="1">
                <a:latin typeface="Courier New"/>
                <a:ea typeface="+mn-lt"/>
                <a:cs typeface="+mn-lt"/>
              </a:rPr>
              <a:t>alternate</a:t>
            </a:r>
            <a:r>
              <a:rPr lang="es-ES" b="1" dirty="0">
                <a:latin typeface="Courier New"/>
                <a:ea typeface="+mn-lt"/>
                <a:cs typeface="+mn-lt"/>
              </a:rPr>
              <a:t> </a:t>
            </a:r>
            <a:r>
              <a:rPr lang="es-ES" b="1" dirty="0" err="1">
                <a:latin typeface="Courier New"/>
                <a:ea typeface="+mn-lt"/>
                <a:cs typeface="+mn-lt"/>
              </a:rPr>
              <a:t>stylesheet</a:t>
            </a:r>
            <a:r>
              <a:rPr lang="es-ES" b="1" dirty="0">
                <a:latin typeface="Courier New"/>
                <a:ea typeface="+mn-lt"/>
                <a:cs typeface="+mn-lt"/>
              </a:rPr>
              <a:t>" </a:t>
            </a:r>
            <a:r>
              <a:rPr lang="es-ES" b="1" dirty="0" err="1">
                <a:latin typeface="Courier New"/>
                <a:ea typeface="+mn-lt"/>
                <a:cs typeface="+mn-lt"/>
              </a:rPr>
              <a:t>href</a:t>
            </a:r>
            <a:r>
              <a:rPr lang="es-ES" b="1" dirty="0">
                <a:latin typeface="Courier New"/>
                <a:ea typeface="+mn-lt"/>
                <a:cs typeface="+mn-lt"/>
              </a:rPr>
              <a:t>="estilo-oscuro.css" </a:t>
            </a:r>
            <a:r>
              <a:rPr lang="es-ES" b="1" dirty="0" err="1">
                <a:latin typeface="Courier New"/>
                <a:ea typeface="+mn-lt"/>
                <a:cs typeface="+mn-lt"/>
              </a:rPr>
              <a:t>title</a:t>
            </a:r>
            <a:r>
              <a:rPr lang="es-ES" b="1" dirty="0">
                <a:latin typeface="Courier New"/>
                <a:ea typeface="+mn-lt"/>
                <a:cs typeface="+mn-lt"/>
              </a:rPr>
              <a:t>="Oscuro"&gt;</a:t>
            </a:r>
          </a:p>
          <a:p>
            <a:r>
              <a:rPr lang="es-ES" dirty="0">
                <a:ea typeface="+mn-lt"/>
                <a:cs typeface="+mn-lt"/>
              </a:rPr>
              <a:t>Para que el usuario pueda cambiar entre ellas, se necesita una pequeña cantidad de JavaScript.</a:t>
            </a:r>
            <a:endParaRPr lang="es-ES" dirty="0"/>
          </a:p>
          <a:p>
            <a:endParaRPr lang="es-ES" dirty="0"/>
          </a:p>
        </p:txBody>
      </p:sp>
    </p:spTree>
    <p:extLst>
      <p:ext uri="{BB962C8B-B14F-4D97-AF65-F5344CB8AC3E}">
        <p14:creationId xmlns:p14="http://schemas.microsoft.com/office/powerpoint/2010/main" val="1569182392"/>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D772DE-9598-7D40-EA34-B764310B9F2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C8D5A82-DE4B-D5F6-C0F0-EB6DC20FBD6C}"/>
              </a:ext>
            </a:extLst>
          </p:cNvPr>
          <p:cNvSpPr>
            <a:spLocks noGrp="1"/>
          </p:cNvSpPr>
          <p:nvPr>
            <p:ph type="title"/>
          </p:nvPr>
        </p:nvSpPr>
        <p:spPr/>
        <p:txBody>
          <a:bodyPr/>
          <a:lstStyle/>
          <a:p>
            <a:r>
              <a:rPr lang="es-ES" b="0" dirty="0">
                <a:ea typeface="+mj-lt"/>
                <a:cs typeface="+mj-lt"/>
              </a:rPr>
              <a:t>2.4.6.1. Hojas de estilo alternativas y temas.</a:t>
            </a:r>
            <a:endParaRPr lang="es-ES" dirty="0"/>
          </a:p>
        </p:txBody>
      </p:sp>
      <p:sp>
        <p:nvSpPr>
          <p:cNvPr id="3" name="Marcador de contenido 2">
            <a:extLst>
              <a:ext uri="{FF2B5EF4-FFF2-40B4-BE49-F238E27FC236}">
                <a16:creationId xmlns:a16="http://schemas.microsoft.com/office/drawing/2014/main" id="{95528719-E912-9E7A-7B57-238D8656D2DF}"/>
              </a:ext>
            </a:extLst>
          </p:cNvPr>
          <p:cNvSpPr>
            <a:spLocks noGrp="1"/>
          </p:cNvSpPr>
          <p:nvPr>
            <p:ph idx="1"/>
          </p:nvPr>
        </p:nvSpPr>
        <p:spPr/>
        <p:txBody>
          <a:bodyPr vert="horz" lIns="91440" tIns="45720" rIns="91440" bIns="45720" rtlCol="0" anchor="t">
            <a:normAutofit fontScale="62500" lnSpcReduction="20000"/>
          </a:bodyPr>
          <a:lstStyle/>
          <a:p>
            <a:r>
              <a:rPr lang="es-ES" dirty="0">
                <a:ea typeface="+mn-lt"/>
                <a:cs typeface="+mn-lt"/>
              </a:rPr>
              <a:t>Clases de modificador en el &lt;</a:t>
            </a:r>
            <a:r>
              <a:rPr lang="es-ES" dirty="0" err="1">
                <a:ea typeface="+mn-lt"/>
                <a:cs typeface="+mn-lt"/>
              </a:rPr>
              <a:t>body</a:t>
            </a:r>
            <a:r>
              <a:rPr lang="es-ES" dirty="0">
                <a:ea typeface="+mn-lt"/>
                <a:cs typeface="+mn-lt"/>
              </a:rPr>
              <a:t>&gt;: Esta es la técnica más moderna y ampliamente utilizada. Consiste en añadir una clase a un contenedor de alto nivel, como el &lt;</a:t>
            </a:r>
            <a:r>
              <a:rPr lang="es-ES" dirty="0" err="1">
                <a:ea typeface="+mn-lt"/>
                <a:cs typeface="+mn-lt"/>
              </a:rPr>
              <a:t>body</a:t>
            </a:r>
            <a:r>
              <a:rPr lang="es-ES" dirty="0">
                <a:ea typeface="+mn-lt"/>
                <a:cs typeface="+mn-lt"/>
              </a:rPr>
              <a:t>&gt; o el &lt;</a:t>
            </a:r>
            <a:r>
              <a:rPr lang="es-ES" dirty="0" err="1">
                <a:ea typeface="+mn-lt"/>
                <a:cs typeface="+mn-lt"/>
              </a:rPr>
              <a:t>html</a:t>
            </a:r>
            <a:r>
              <a:rPr lang="es-ES" dirty="0">
                <a:ea typeface="+mn-lt"/>
                <a:cs typeface="+mn-lt"/>
              </a:rPr>
              <a:t>&gt;, que actúa como un modificador para todo el contenido interno. Se escribe el CSS para el tema por defecto. Luego, se crean reglas específicas dentro de un selector que incluye la clase de modificador. Ejemplo: Para un tema oscuro, añades la clase .</a:t>
            </a:r>
            <a:r>
              <a:rPr lang="es-ES" dirty="0" err="1">
                <a:ea typeface="+mn-lt"/>
                <a:cs typeface="+mn-lt"/>
              </a:rPr>
              <a:t>theme</a:t>
            </a:r>
            <a:r>
              <a:rPr lang="es-ES" dirty="0">
                <a:ea typeface="+mn-lt"/>
                <a:cs typeface="+mn-lt"/>
              </a:rPr>
              <a:t>--</a:t>
            </a:r>
            <a:r>
              <a:rPr lang="es-ES" dirty="0" err="1">
                <a:ea typeface="+mn-lt"/>
                <a:cs typeface="+mn-lt"/>
              </a:rPr>
              <a:t>dark</a:t>
            </a:r>
            <a:r>
              <a:rPr lang="es-ES" dirty="0">
                <a:ea typeface="+mn-lt"/>
                <a:cs typeface="+mn-lt"/>
              </a:rPr>
              <a:t> al &lt;</a:t>
            </a:r>
            <a:r>
              <a:rPr lang="es-ES" dirty="0" err="1">
                <a:ea typeface="+mn-lt"/>
                <a:cs typeface="+mn-lt"/>
              </a:rPr>
              <a:t>body</a:t>
            </a:r>
            <a:r>
              <a:rPr lang="es-ES" dirty="0">
                <a:ea typeface="+mn-lt"/>
                <a:cs typeface="+mn-lt"/>
              </a:rPr>
              <a:t>&gt;.</a:t>
            </a:r>
            <a:endParaRPr lang="es-ES"/>
          </a:p>
          <a:p>
            <a:pPr marL="0" indent="0">
              <a:buNone/>
            </a:pPr>
            <a:r>
              <a:rPr lang="es-ES" b="1" dirty="0">
                <a:latin typeface="Courier New"/>
                <a:ea typeface="+mn-lt"/>
                <a:cs typeface="+mn-lt"/>
              </a:rPr>
              <a:t>/* Estilos por defecto (tema claro) */</a:t>
            </a:r>
            <a:br>
              <a:rPr lang="es-ES" b="1" dirty="0">
                <a:latin typeface="Courier New"/>
                <a:ea typeface="+mn-lt"/>
                <a:cs typeface="+mn-lt"/>
              </a:rPr>
            </a:br>
            <a:r>
              <a:rPr lang="es-ES" b="1" err="1">
                <a:latin typeface="Courier New"/>
                <a:ea typeface="+mn-lt"/>
                <a:cs typeface="+mn-lt"/>
              </a:rPr>
              <a:t>body</a:t>
            </a: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background</a:t>
            </a:r>
            <a:r>
              <a:rPr lang="es-ES" b="1" dirty="0">
                <a:latin typeface="Courier New"/>
                <a:ea typeface="+mn-lt"/>
                <a:cs typeface="+mn-lt"/>
              </a:rPr>
              <a:t>-color: #fff;</a:t>
            </a:r>
            <a:br>
              <a:rPr lang="es-ES" b="1" dirty="0">
                <a:latin typeface="Courier New"/>
                <a:ea typeface="+mn-lt"/>
                <a:cs typeface="+mn-lt"/>
              </a:rPr>
            </a:br>
            <a:r>
              <a:rPr lang="es-ES" b="1" dirty="0">
                <a:latin typeface="Courier New"/>
                <a:ea typeface="+mn-lt"/>
                <a:cs typeface="+mn-lt"/>
              </a:rPr>
              <a:t>  color: #333;</a:t>
            </a:r>
            <a:br>
              <a:rPr lang="es-ES" b="1" dirty="0">
                <a:latin typeface="Courier New"/>
                <a:ea typeface="+mn-lt"/>
                <a:cs typeface="+mn-lt"/>
              </a:rPr>
            </a:b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 Estilos para el tema oscuro */</a:t>
            </a:r>
            <a:br>
              <a:rPr lang="es-ES" b="1" dirty="0">
                <a:latin typeface="Courier New"/>
                <a:ea typeface="+mn-lt"/>
                <a:cs typeface="+mn-lt"/>
              </a:rPr>
            </a:br>
            <a:r>
              <a:rPr lang="es-ES" b="1" err="1">
                <a:latin typeface="Courier New"/>
                <a:ea typeface="+mn-lt"/>
                <a:cs typeface="+mn-lt"/>
              </a:rPr>
              <a:t>body.theme</a:t>
            </a:r>
            <a:r>
              <a:rPr lang="es-ES" b="1" dirty="0">
                <a:latin typeface="Courier New"/>
                <a:ea typeface="+mn-lt"/>
                <a:cs typeface="+mn-lt"/>
              </a:rPr>
              <a:t>--</a:t>
            </a:r>
            <a:r>
              <a:rPr lang="es-ES" b="1" err="1">
                <a:latin typeface="Courier New"/>
                <a:ea typeface="+mn-lt"/>
                <a:cs typeface="+mn-lt"/>
              </a:rPr>
              <a:t>dark</a:t>
            </a: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background</a:t>
            </a:r>
            <a:r>
              <a:rPr lang="es-ES" b="1" dirty="0">
                <a:latin typeface="Courier New"/>
                <a:ea typeface="+mn-lt"/>
                <a:cs typeface="+mn-lt"/>
              </a:rPr>
              <a:t>-color: #121212;</a:t>
            </a:r>
            <a:br>
              <a:rPr lang="es-ES" b="1" dirty="0">
                <a:latin typeface="Courier New"/>
                <a:ea typeface="+mn-lt"/>
                <a:cs typeface="+mn-lt"/>
              </a:rPr>
            </a:br>
            <a:r>
              <a:rPr lang="es-ES" b="1" dirty="0">
                <a:latin typeface="Courier New"/>
                <a:ea typeface="+mn-lt"/>
                <a:cs typeface="+mn-lt"/>
              </a:rPr>
              <a:t>  color: #f5f5f5;</a:t>
            </a:r>
            <a:br>
              <a:rPr lang="es-ES" b="1" dirty="0">
                <a:latin typeface="Courier New"/>
                <a:ea typeface="+mn-lt"/>
                <a:cs typeface="+mn-lt"/>
              </a:rPr>
            </a:b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 Puedes aplicar estilos a componentes específicos */</a:t>
            </a:r>
            <a:br>
              <a:rPr lang="es-ES" b="1" dirty="0">
                <a:latin typeface="Courier New"/>
                <a:ea typeface="+mn-lt"/>
                <a:cs typeface="+mn-lt"/>
              </a:rPr>
            </a:br>
            <a:r>
              <a:rPr lang="es-ES" b="1" err="1">
                <a:latin typeface="Courier New"/>
                <a:ea typeface="+mn-lt"/>
                <a:cs typeface="+mn-lt"/>
              </a:rPr>
              <a:t>body.theme</a:t>
            </a:r>
            <a:r>
              <a:rPr lang="es-ES" b="1" dirty="0">
                <a:latin typeface="Courier New"/>
                <a:ea typeface="+mn-lt"/>
                <a:cs typeface="+mn-lt"/>
              </a:rPr>
              <a:t>--</a:t>
            </a:r>
            <a:r>
              <a:rPr lang="es-ES" b="1" err="1">
                <a:latin typeface="Courier New"/>
                <a:ea typeface="+mn-lt"/>
                <a:cs typeface="+mn-lt"/>
              </a:rPr>
              <a:t>dark</a:t>
            </a:r>
            <a:r>
              <a:rPr lang="es-ES" b="1" dirty="0">
                <a:latin typeface="Courier New"/>
                <a:ea typeface="+mn-lt"/>
                <a:cs typeface="+mn-lt"/>
              </a:rPr>
              <a:t> .</a:t>
            </a:r>
            <a:r>
              <a:rPr lang="es-ES" b="1" err="1">
                <a:latin typeface="Courier New"/>
                <a:ea typeface="+mn-lt"/>
                <a:cs typeface="+mn-lt"/>
              </a:rPr>
              <a:t>card</a:t>
            </a: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background</a:t>
            </a:r>
            <a:r>
              <a:rPr lang="es-ES" b="1" dirty="0">
                <a:latin typeface="Courier New"/>
                <a:ea typeface="+mn-lt"/>
                <a:cs typeface="+mn-lt"/>
              </a:rPr>
              <a:t>-color: #212121;</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border</a:t>
            </a:r>
            <a:r>
              <a:rPr lang="es-ES" b="1" dirty="0">
                <a:latin typeface="Courier New"/>
                <a:ea typeface="+mn-lt"/>
                <a:cs typeface="+mn-lt"/>
              </a:rPr>
              <a:t>-color: #444;</a:t>
            </a:r>
            <a:br>
              <a:rPr lang="es-ES" b="1" dirty="0">
                <a:latin typeface="Courier New"/>
                <a:ea typeface="+mn-lt"/>
                <a:cs typeface="+mn-lt"/>
              </a:rPr>
            </a:br>
            <a:r>
              <a:rPr lang="es-ES" b="1" dirty="0">
                <a:latin typeface="Courier New"/>
                <a:ea typeface="+mn-lt"/>
                <a:cs typeface="+mn-lt"/>
              </a:rPr>
              <a:t>}</a:t>
            </a:r>
            <a:endParaRPr lang="es-ES" b="1" dirty="0">
              <a:latin typeface="Courier New"/>
              <a:cs typeface="Courier New"/>
            </a:endParaRPr>
          </a:p>
          <a:p>
            <a:r>
              <a:rPr lang="es-ES" dirty="0">
                <a:ea typeface="+mn-lt"/>
                <a:cs typeface="+mn-lt"/>
              </a:rPr>
              <a:t>La clase </a:t>
            </a:r>
            <a:r>
              <a:rPr lang="es-ES" dirty="0" err="1">
                <a:ea typeface="+mn-lt"/>
                <a:cs typeface="+mn-lt"/>
              </a:rPr>
              <a:t>theme</a:t>
            </a:r>
            <a:r>
              <a:rPr lang="es-ES" dirty="0">
                <a:ea typeface="+mn-lt"/>
                <a:cs typeface="+mn-lt"/>
              </a:rPr>
              <a:t>--</a:t>
            </a:r>
            <a:r>
              <a:rPr lang="es-ES" dirty="0" err="1">
                <a:ea typeface="+mn-lt"/>
                <a:cs typeface="+mn-lt"/>
              </a:rPr>
              <a:t>dark</a:t>
            </a:r>
            <a:r>
              <a:rPr lang="es-ES" dirty="0">
                <a:ea typeface="+mn-lt"/>
                <a:cs typeface="+mn-lt"/>
              </a:rPr>
              <a:t> se puede alternar con JavaScript para cambiar entre temas, lo que permite un control total sobre el diseño.</a:t>
            </a:r>
          </a:p>
        </p:txBody>
      </p:sp>
    </p:spTree>
    <p:extLst>
      <p:ext uri="{BB962C8B-B14F-4D97-AF65-F5344CB8AC3E}">
        <p14:creationId xmlns:p14="http://schemas.microsoft.com/office/powerpoint/2010/main" val="2567753781"/>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8FB7DF-175A-F4E9-DE95-8A117C88754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8D90534-E46B-5774-6389-D77C6436117D}"/>
              </a:ext>
            </a:extLst>
          </p:cNvPr>
          <p:cNvSpPr>
            <a:spLocks noGrp="1"/>
          </p:cNvSpPr>
          <p:nvPr>
            <p:ph type="title"/>
          </p:nvPr>
        </p:nvSpPr>
        <p:spPr/>
        <p:txBody>
          <a:bodyPr/>
          <a:lstStyle/>
          <a:p>
            <a:r>
              <a:rPr lang="es-ES" b="0" dirty="0">
                <a:ea typeface="+mj-lt"/>
                <a:cs typeface="+mj-lt"/>
              </a:rPr>
              <a:t>2.4.6.1. Hojas de estilo alternativas y temas.</a:t>
            </a:r>
            <a:endParaRPr lang="es-ES" dirty="0"/>
          </a:p>
        </p:txBody>
      </p:sp>
      <p:sp>
        <p:nvSpPr>
          <p:cNvPr id="3" name="Marcador de contenido 2">
            <a:extLst>
              <a:ext uri="{FF2B5EF4-FFF2-40B4-BE49-F238E27FC236}">
                <a16:creationId xmlns:a16="http://schemas.microsoft.com/office/drawing/2014/main" id="{3B2E45D0-8163-3A64-D665-88B5486D7E4C}"/>
              </a:ext>
            </a:extLst>
          </p:cNvPr>
          <p:cNvSpPr>
            <a:spLocks noGrp="1"/>
          </p:cNvSpPr>
          <p:nvPr>
            <p:ph idx="1"/>
          </p:nvPr>
        </p:nvSpPr>
        <p:spPr/>
        <p:txBody>
          <a:bodyPr vert="horz" lIns="91440" tIns="45720" rIns="91440" bIns="45720" rtlCol="0" anchor="t">
            <a:normAutofit fontScale="92500" lnSpcReduction="20000"/>
          </a:bodyPr>
          <a:lstStyle/>
          <a:p>
            <a:r>
              <a:rPr lang="es-ES" dirty="0">
                <a:ea typeface="+mn-lt"/>
                <a:cs typeface="+mn-lt"/>
              </a:rPr>
              <a:t>El método más eficiente y limpio para gestionar temas es combinar la técnica de las clases de modificador con las Propiedades Personalizadas (Variables CSS).</a:t>
            </a:r>
          </a:p>
          <a:p>
            <a:pPr lvl="1">
              <a:buFont typeface="Courier New" panose="020B0604020202020204" pitchFamily="34" charset="0"/>
              <a:buChar char="o"/>
            </a:pPr>
            <a:r>
              <a:rPr lang="es-ES" dirty="0">
                <a:ea typeface="+mn-lt"/>
                <a:cs typeface="+mn-lt"/>
              </a:rPr>
              <a:t>Define todas las variables de color y estilo en el :</a:t>
            </a:r>
            <a:r>
              <a:rPr lang="es-ES" dirty="0" err="1">
                <a:ea typeface="+mn-lt"/>
                <a:cs typeface="+mn-lt"/>
              </a:rPr>
              <a:t>root</a:t>
            </a:r>
            <a:r>
              <a:rPr lang="es-ES" dirty="0">
                <a:ea typeface="+mn-lt"/>
                <a:cs typeface="+mn-lt"/>
              </a:rPr>
              <a:t> para el tema por defecto.</a:t>
            </a:r>
          </a:p>
          <a:p>
            <a:pPr lvl="1">
              <a:buFont typeface="Courier New" panose="020B0604020202020204" pitchFamily="34" charset="0"/>
              <a:buChar char="o"/>
            </a:pPr>
            <a:r>
              <a:rPr lang="es-ES" dirty="0">
                <a:ea typeface="+mn-lt"/>
                <a:cs typeface="+mn-lt"/>
              </a:rPr>
              <a:t>Dentro de la clase de modificador (por ejemplo, .</a:t>
            </a:r>
            <a:r>
              <a:rPr lang="es-ES" dirty="0" err="1">
                <a:ea typeface="+mn-lt"/>
                <a:cs typeface="+mn-lt"/>
              </a:rPr>
              <a:t>theme</a:t>
            </a:r>
            <a:r>
              <a:rPr lang="es-ES" dirty="0">
                <a:ea typeface="+mn-lt"/>
                <a:cs typeface="+mn-lt"/>
              </a:rPr>
              <a:t>--</a:t>
            </a:r>
            <a:r>
              <a:rPr lang="es-ES" dirty="0" err="1">
                <a:ea typeface="+mn-lt"/>
                <a:cs typeface="+mn-lt"/>
              </a:rPr>
              <a:t>dark</a:t>
            </a:r>
            <a:r>
              <a:rPr lang="es-ES" dirty="0">
                <a:ea typeface="+mn-lt"/>
                <a:cs typeface="+mn-lt"/>
              </a:rPr>
              <a:t>), simplemente redefine los valores de esas variables.</a:t>
            </a:r>
            <a:endParaRPr lang="es-ES"/>
          </a:p>
          <a:p>
            <a:pPr lvl="1">
              <a:buFont typeface="Courier New" panose="020B0604020202020204" pitchFamily="34" charset="0"/>
              <a:buChar char="o"/>
            </a:pPr>
            <a:r>
              <a:rPr lang="es-ES" dirty="0">
                <a:ea typeface="+mn-lt"/>
                <a:cs typeface="+mn-lt"/>
              </a:rPr>
              <a:t>El resto del CSS solo necesita usar la función </a:t>
            </a:r>
            <a:r>
              <a:rPr lang="es-ES" dirty="0" err="1">
                <a:ea typeface="+mn-lt"/>
                <a:cs typeface="+mn-lt"/>
              </a:rPr>
              <a:t>var</a:t>
            </a:r>
            <a:r>
              <a:rPr lang="es-ES" dirty="0">
                <a:ea typeface="+mn-lt"/>
                <a:cs typeface="+mn-lt"/>
              </a:rPr>
              <a:t>() para aplicar los estilos.</a:t>
            </a:r>
            <a:endParaRPr lang="es-ES"/>
          </a:p>
          <a:p>
            <a:r>
              <a:rPr lang="es-ES" dirty="0">
                <a:ea typeface="+mn-lt"/>
                <a:cs typeface="+mn-lt"/>
              </a:rPr>
              <a:t>Ejemplo:</a:t>
            </a:r>
            <a:endParaRPr lang="es-ES" dirty="0"/>
          </a:p>
          <a:p>
            <a:pPr marL="0" indent="0">
              <a:buNone/>
            </a:pPr>
            <a:r>
              <a:rPr lang="es-ES" b="1" dirty="0">
                <a:latin typeface="Courier New"/>
                <a:ea typeface="+mn-lt"/>
                <a:cs typeface="+mn-lt"/>
              </a:rPr>
              <a:t>/* 1. Variables para el tema claro (por defecto) */</a:t>
            </a:r>
            <a:br>
              <a:rPr lang="es-ES" b="1" dirty="0">
                <a:latin typeface="Courier New"/>
                <a:ea typeface="+mn-lt"/>
                <a:cs typeface="+mn-lt"/>
              </a:rPr>
            </a:br>
            <a:r>
              <a:rPr lang="es-ES" b="1" dirty="0">
                <a:latin typeface="Courier New"/>
                <a:ea typeface="+mn-lt"/>
                <a:cs typeface="+mn-lt"/>
              </a:rPr>
              <a:t>:</a:t>
            </a:r>
            <a:r>
              <a:rPr lang="es-ES" b="1" err="1">
                <a:latin typeface="Courier New"/>
                <a:ea typeface="+mn-lt"/>
                <a:cs typeface="+mn-lt"/>
              </a:rPr>
              <a:t>root</a:t>
            </a: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--color-fondo-principal: #fff;</a:t>
            </a:r>
            <a:br>
              <a:rPr lang="es-ES" b="1" dirty="0">
                <a:latin typeface="Courier New"/>
                <a:ea typeface="+mn-lt"/>
                <a:cs typeface="+mn-lt"/>
              </a:rPr>
            </a:br>
            <a:r>
              <a:rPr lang="es-ES" b="1" dirty="0">
                <a:latin typeface="Courier New"/>
                <a:ea typeface="+mn-lt"/>
                <a:cs typeface="+mn-lt"/>
              </a:rPr>
              <a:t>  --color-texto-principal: #333;</a:t>
            </a:r>
            <a:br>
              <a:rPr lang="es-ES" b="1" dirty="0">
                <a:latin typeface="Courier New"/>
                <a:ea typeface="+mn-lt"/>
                <a:cs typeface="+mn-lt"/>
              </a:rPr>
            </a:br>
            <a:r>
              <a:rPr lang="es-ES" b="1" dirty="0">
                <a:latin typeface="Courier New"/>
                <a:ea typeface="+mn-lt"/>
                <a:cs typeface="+mn-lt"/>
              </a:rPr>
              <a:t>  --color-fondo-</a:t>
            </a:r>
            <a:r>
              <a:rPr lang="es-ES" b="1" err="1">
                <a:latin typeface="Courier New"/>
                <a:ea typeface="+mn-lt"/>
                <a:cs typeface="+mn-lt"/>
              </a:rPr>
              <a:t>card</a:t>
            </a:r>
            <a:r>
              <a:rPr lang="es-ES" b="1" dirty="0">
                <a:latin typeface="Courier New"/>
                <a:ea typeface="+mn-lt"/>
                <a:cs typeface="+mn-lt"/>
              </a:rPr>
              <a:t>: #f8f9fa;</a:t>
            </a:r>
            <a:br>
              <a:rPr lang="es-ES" b="1" dirty="0">
                <a:latin typeface="Courier New"/>
                <a:ea typeface="+mn-lt"/>
                <a:cs typeface="+mn-lt"/>
              </a:rPr>
            </a:br>
            <a:r>
              <a:rPr lang="es-ES" b="1" dirty="0">
                <a:latin typeface="Courier New"/>
                <a:ea typeface="+mn-lt"/>
                <a:cs typeface="+mn-lt"/>
              </a:rPr>
              <a:t>  --color-borde-</a:t>
            </a:r>
            <a:r>
              <a:rPr lang="es-ES" b="1" err="1">
                <a:latin typeface="Courier New"/>
                <a:ea typeface="+mn-lt"/>
                <a:cs typeface="+mn-lt"/>
              </a:rPr>
              <a:t>card</a:t>
            </a:r>
            <a:r>
              <a:rPr lang="es-ES" b="1" dirty="0">
                <a:latin typeface="Courier New"/>
                <a:ea typeface="+mn-lt"/>
                <a:cs typeface="+mn-lt"/>
              </a:rPr>
              <a:t>: #e9ecef;</a:t>
            </a:r>
            <a:br>
              <a:rPr lang="es-ES" b="1" dirty="0">
                <a:latin typeface="Courier New"/>
                <a:ea typeface="+mn-lt"/>
                <a:cs typeface="+mn-lt"/>
              </a:rPr>
            </a:br>
            <a:r>
              <a:rPr lang="es-ES" b="1" dirty="0">
                <a:latin typeface="Courier New"/>
                <a:ea typeface="+mn-lt"/>
                <a:cs typeface="+mn-lt"/>
              </a:rPr>
              <a:t>}</a:t>
            </a:r>
          </a:p>
          <a:p>
            <a:endParaRPr lang="es-ES" dirty="0">
              <a:ea typeface="+mn-lt"/>
              <a:cs typeface="+mn-lt"/>
            </a:endParaRPr>
          </a:p>
        </p:txBody>
      </p:sp>
    </p:spTree>
    <p:extLst>
      <p:ext uri="{BB962C8B-B14F-4D97-AF65-F5344CB8AC3E}">
        <p14:creationId xmlns:p14="http://schemas.microsoft.com/office/powerpoint/2010/main" val="3274424446"/>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BA3EC0-E5EA-03AC-EF89-1F583985642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10097E3-DCD4-ADE6-DC02-F3D75E879692}"/>
              </a:ext>
            </a:extLst>
          </p:cNvPr>
          <p:cNvSpPr>
            <a:spLocks noGrp="1"/>
          </p:cNvSpPr>
          <p:nvPr>
            <p:ph type="title"/>
          </p:nvPr>
        </p:nvSpPr>
        <p:spPr/>
        <p:txBody>
          <a:bodyPr/>
          <a:lstStyle/>
          <a:p>
            <a:r>
              <a:rPr lang="es-ES" b="0" dirty="0">
                <a:ea typeface="+mj-lt"/>
                <a:cs typeface="+mj-lt"/>
              </a:rPr>
              <a:t>2.4.6.1. Hojas de estilo alternativas y temas.</a:t>
            </a:r>
            <a:endParaRPr lang="es-ES" dirty="0"/>
          </a:p>
        </p:txBody>
      </p:sp>
      <p:sp>
        <p:nvSpPr>
          <p:cNvPr id="3" name="Marcador de contenido 2">
            <a:extLst>
              <a:ext uri="{FF2B5EF4-FFF2-40B4-BE49-F238E27FC236}">
                <a16:creationId xmlns:a16="http://schemas.microsoft.com/office/drawing/2014/main" id="{B5A4A872-2206-E5BC-A7C7-85300329CC43}"/>
              </a:ext>
            </a:extLst>
          </p:cNvPr>
          <p:cNvSpPr>
            <a:spLocks noGrp="1"/>
          </p:cNvSpPr>
          <p:nvPr>
            <p:ph idx="1"/>
          </p:nvPr>
        </p:nvSpPr>
        <p:spPr/>
        <p:txBody>
          <a:bodyPr vert="horz" lIns="91440" tIns="45720" rIns="91440" bIns="45720" rtlCol="0" anchor="t">
            <a:normAutofit fontScale="77500" lnSpcReduction="20000"/>
          </a:bodyPr>
          <a:lstStyle/>
          <a:p>
            <a:pPr marL="0" indent="0">
              <a:buNone/>
            </a:pPr>
            <a:r>
              <a:rPr lang="es-ES" b="1" dirty="0">
                <a:latin typeface="Courier New"/>
                <a:ea typeface="+mn-lt"/>
                <a:cs typeface="+mn-lt"/>
              </a:rPr>
              <a:t>/* 2. Redefinición de variables para el tema oscuro */</a:t>
            </a:r>
            <a:br>
              <a:rPr lang="es-ES" b="1" dirty="0">
                <a:latin typeface="Courier New"/>
                <a:ea typeface="+mn-lt"/>
                <a:cs typeface="+mn-lt"/>
              </a:rPr>
            </a:br>
            <a:r>
              <a:rPr lang="es-ES" b="1" err="1">
                <a:latin typeface="Courier New"/>
                <a:ea typeface="+mn-lt"/>
                <a:cs typeface="+mn-lt"/>
              </a:rPr>
              <a:t>body.theme</a:t>
            </a:r>
            <a:r>
              <a:rPr lang="es-ES" b="1" dirty="0">
                <a:latin typeface="Courier New"/>
                <a:ea typeface="+mn-lt"/>
                <a:cs typeface="+mn-lt"/>
              </a:rPr>
              <a:t>--</a:t>
            </a:r>
            <a:r>
              <a:rPr lang="es-ES" b="1" err="1">
                <a:latin typeface="Courier New"/>
                <a:ea typeface="+mn-lt"/>
                <a:cs typeface="+mn-lt"/>
              </a:rPr>
              <a:t>dark</a:t>
            </a: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--color-fondo-principal: #121212;</a:t>
            </a:r>
            <a:br>
              <a:rPr lang="es-ES" b="1" dirty="0">
                <a:latin typeface="Courier New"/>
                <a:ea typeface="+mn-lt"/>
                <a:cs typeface="+mn-lt"/>
              </a:rPr>
            </a:br>
            <a:r>
              <a:rPr lang="es-ES" b="1" dirty="0">
                <a:latin typeface="Courier New"/>
                <a:ea typeface="+mn-lt"/>
                <a:cs typeface="+mn-lt"/>
              </a:rPr>
              <a:t>  --color-texto-principal: #f5f5f5;</a:t>
            </a:r>
            <a:br>
              <a:rPr lang="es-ES" b="1" dirty="0">
                <a:latin typeface="Courier New"/>
                <a:ea typeface="+mn-lt"/>
                <a:cs typeface="+mn-lt"/>
              </a:rPr>
            </a:br>
            <a:r>
              <a:rPr lang="es-ES" b="1" dirty="0">
                <a:latin typeface="Courier New"/>
                <a:ea typeface="+mn-lt"/>
                <a:cs typeface="+mn-lt"/>
              </a:rPr>
              <a:t>  --color-fondo-</a:t>
            </a:r>
            <a:r>
              <a:rPr lang="es-ES" b="1" err="1">
                <a:latin typeface="Courier New"/>
                <a:ea typeface="+mn-lt"/>
                <a:cs typeface="+mn-lt"/>
              </a:rPr>
              <a:t>card</a:t>
            </a:r>
            <a:r>
              <a:rPr lang="es-ES" b="1" dirty="0">
                <a:latin typeface="Courier New"/>
                <a:ea typeface="+mn-lt"/>
                <a:cs typeface="+mn-lt"/>
              </a:rPr>
              <a:t>: #212121;</a:t>
            </a:r>
            <a:br>
              <a:rPr lang="es-ES" b="1" dirty="0">
                <a:latin typeface="Courier New"/>
                <a:ea typeface="+mn-lt"/>
                <a:cs typeface="+mn-lt"/>
              </a:rPr>
            </a:br>
            <a:r>
              <a:rPr lang="es-ES" b="1" dirty="0">
                <a:latin typeface="Courier New"/>
                <a:ea typeface="+mn-lt"/>
                <a:cs typeface="+mn-lt"/>
              </a:rPr>
              <a:t>  --color-borde-</a:t>
            </a:r>
            <a:r>
              <a:rPr lang="es-ES" b="1" err="1">
                <a:latin typeface="Courier New"/>
                <a:ea typeface="+mn-lt"/>
                <a:cs typeface="+mn-lt"/>
              </a:rPr>
              <a:t>card</a:t>
            </a:r>
            <a:r>
              <a:rPr lang="es-ES" b="1" dirty="0">
                <a:latin typeface="Courier New"/>
                <a:ea typeface="+mn-lt"/>
                <a:cs typeface="+mn-lt"/>
              </a:rPr>
              <a:t>: #444;</a:t>
            </a:r>
            <a:br>
              <a:rPr lang="es-ES" b="1" dirty="0">
                <a:latin typeface="Courier New"/>
                <a:ea typeface="+mn-lt"/>
                <a:cs typeface="+mn-lt"/>
              </a:rPr>
            </a:b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 3. El CSS solo usa las variables, sin importar el tema */</a:t>
            </a:r>
            <a:br>
              <a:rPr lang="es-ES" b="1" dirty="0">
                <a:latin typeface="Courier New"/>
                <a:ea typeface="+mn-lt"/>
                <a:cs typeface="+mn-lt"/>
              </a:rPr>
            </a:br>
            <a:r>
              <a:rPr lang="es-ES" b="1" err="1">
                <a:latin typeface="Courier New"/>
                <a:ea typeface="+mn-lt"/>
                <a:cs typeface="+mn-lt"/>
              </a:rPr>
              <a:t>body</a:t>
            </a: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background</a:t>
            </a:r>
            <a:r>
              <a:rPr lang="es-ES" b="1" dirty="0">
                <a:latin typeface="Courier New"/>
                <a:ea typeface="+mn-lt"/>
                <a:cs typeface="+mn-lt"/>
              </a:rPr>
              <a:t>-color: </a:t>
            </a:r>
            <a:r>
              <a:rPr lang="es-ES" b="1" err="1">
                <a:latin typeface="Courier New"/>
                <a:ea typeface="+mn-lt"/>
                <a:cs typeface="+mn-lt"/>
              </a:rPr>
              <a:t>var</a:t>
            </a:r>
            <a:r>
              <a:rPr lang="es-ES" b="1" dirty="0">
                <a:latin typeface="Courier New"/>
                <a:ea typeface="+mn-lt"/>
                <a:cs typeface="+mn-lt"/>
              </a:rPr>
              <a:t>(--color-fondo-principal);</a:t>
            </a:r>
            <a:br>
              <a:rPr lang="es-ES" b="1" dirty="0">
                <a:latin typeface="Courier New"/>
                <a:ea typeface="+mn-lt"/>
                <a:cs typeface="+mn-lt"/>
              </a:rPr>
            </a:br>
            <a:r>
              <a:rPr lang="es-ES" b="1" dirty="0">
                <a:latin typeface="Courier New"/>
                <a:ea typeface="+mn-lt"/>
                <a:cs typeface="+mn-lt"/>
              </a:rPr>
              <a:t>  color: </a:t>
            </a:r>
            <a:r>
              <a:rPr lang="es-ES" b="1" err="1">
                <a:latin typeface="Courier New"/>
                <a:ea typeface="+mn-lt"/>
                <a:cs typeface="+mn-lt"/>
              </a:rPr>
              <a:t>var</a:t>
            </a:r>
            <a:r>
              <a:rPr lang="es-ES" b="1" dirty="0">
                <a:latin typeface="Courier New"/>
                <a:ea typeface="+mn-lt"/>
                <a:cs typeface="+mn-lt"/>
              </a:rPr>
              <a:t>(--color-texto-principal);</a:t>
            </a:r>
            <a:br>
              <a:rPr lang="es-ES" b="1" dirty="0">
                <a:latin typeface="Courier New"/>
                <a:ea typeface="+mn-lt"/>
                <a:cs typeface="+mn-lt"/>
              </a:rPr>
            </a:b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a:t>
            </a:r>
            <a:r>
              <a:rPr lang="es-ES" b="1" err="1">
                <a:latin typeface="Courier New"/>
                <a:ea typeface="+mn-lt"/>
                <a:cs typeface="+mn-lt"/>
              </a:rPr>
              <a:t>card</a:t>
            </a: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background</a:t>
            </a:r>
            <a:r>
              <a:rPr lang="es-ES" b="1" dirty="0">
                <a:latin typeface="Courier New"/>
                <a:ea typeface="+mn-lt"/>
                <a:cs typeface="+mn-lt"/>
              </a:rPr>
              <a:t>-color: </a:t>
            </a:r>
            <a:r>
              <a:rPr lang="es-ES" b="1" err="1">
                <a:latin typeface="Courier New"/>
                <a:ea typeface="+mn-lt"/>
                <a:cs typeface="+mn-lt"/>
              </a:rPr>
              <a:t>var</a:t>
            </a:r>
            <a:r>
              <a:rPr lang="es-ES" b="1" dirty="0">
                <a:latin typeface="Courier New"/>
                <a:ea typeface="+mn-lt"/>
                <a:cs typeface="+mn-lt"/>
              </a:rPr>
              <a:t>(--color-fondo-</a:t>
            </a:r>
            <a:r>
              <a:rPr lang="es-ES" b="1" err="1">
                <a:latin typeface="Courier New"/>
                <a:ea typeface="+mn-lt"/>
                <a:cs typeface="+mn-lt"/>
              </a:rPr>
              <a:t>card</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border</a:t>
            </a:r>
            <a:r>
              <a:rPr lang="es-ES" b="1" dirty="0">
                <a:latin typeface="Courier New"/>
                <a:ea typeface="+mn-lt"/>
                <a:cs typeface="+mn-lt"/>
              </a:rPr>
              <a:t>: 1px </a:t>
            </a:r>
            <a:r>
              <a:rPr lang="es-ES" b="1" err="1">
                <a:latin typeface="Courier New"/>
                <a:ea typeface="+mn-lt"/>
                <a:cs typeface="+mn-lt"/>
              </a:rPr>
              <a:t>solid</a:t>
            </a:r>
            <a:r>
              <a:rPr lang="es-ES" b="1" dirty="0">
                <a:latin typeface="Courier New"/>
                <a:ea typeface="+mn-lt"/>
                <a:cs typeface="+mn-lt"/>
              </a:rPr>
              <a:t> </a:t>
            </a:r>
            <a:r>
              <a:rPr lang="es-ES" b="1" err="1">
                <a:latin typeface="Courier New"/>
                <a:ea typeface="+mn-lt"/>
                <a:cs typeface="+mn-lt"/>
              </a:rPr>
              <a:t>var</a:t>
            </a:r>
            <a:r>
              <a:rPr lang="es-ES" b="1" dirty="0">
                <a:latin typeface="Courier New"/>
                <a:ea typeface="+mn-lt"/>
                <a:cs typeface="+mn-lt"/>
              </a:rPr>
              <a:t>(--color-borde-</a:t>
            </a:r>
            <a:r>
              <a:rPr lang="es-ES" b="1" err="1">
                <a:latin typeface="Courier New"/>
                <a:ea typeface="+mn-lt"/>
                <a:cs typeface="+mn-lt"/>
              </a:rPr>
              <a:t>card</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a:t>
            </a:r>
            <a:endParaRPr lang="es-ES"/>
          </a:p>
          <a:p>
            <a:r>
              <a:rPr lang="es-ES" dirty="0">
                <a:ea typeface="+mn-lt"/>
                <a:cs typeface="+mn-lt"/>
              </a:rPr>
              <a:t>Este enfoque es increíblemente poderoso porque te permite gestionar temas completos con solo cambiar los valores de unas pocas variables.</a:t>
            </a:r>
            <a:endParaRPr lang="es-ES" dirty="0"/>
          </a:p>
          <a:p>
            <a:endParaRPr lang="es-ES" dirty="0">
              <a:latin typeface="Bierstadt"/>
              <a:ea typeface="+mn-lt"/>
              <a:cs typeface="+mn-lt"/>
            </a:endParaRPr>
          </a:p>
          <a:p>
            <a:endParaRPr lang="es-ES" dirty="0">
              <a:ea typeface="+mn-lt"/>
              <a:cs typeface="+mn-lt"/>
            </a:endParaRPr>
          </a:p>
        </p:txBody>
      </p:sp>
    </p:spTree>
    <p:extLst>
      <p:ext uri="{BB962C8B-B14F-4D97-AF65-F5344CB8AC3E}">
        <p14:creationId xmlns:p14="http://schemas.microsoft.com/office/powerpoint/2010/main" val="1035854928"/>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7A28D4-E8F0-1535-268A-FF07271F93B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1983CBA-A237-9C91-5EC8-8BA0F6DEB589}"/>
              </a:ext>
            </a:extLst>
          </p:cNvPr>
          <p:cNvSpPr>
            <a:spLocks noGrp="1"/>
          </p:cNvSpPr>
          <p:nvPr>
            <p:ph type="title"/>
          </p:nvPr>
        </p:nvSpPr>
        <p:spPr/>
        <p:txBody>
          <a:bodyPr/>
          <a:lstStyle/>
          <a:p>
            <a:r>
              <a:rPr lang="es-ES" b="0" dirty="0">
                <a:ea typeface="+mj-lt"/>
                <a:cs typeface="+mj-lt"/>
              </a:rPr>
              <a:t>2.4.6.2. Metodologías CSS (BEM, SMACSS).</a:t>
            </a:r>
            <a:endParaRPr lang="es-ES" dirty="0"/>
          </a:p>
        </p:txBody>
      </p:sp>
      <p:sp>
        <p:nvSpPr>
          <p:cNvPr id="3" name="Marcador de contenido 2">
            <a:extLst>
              <a:ext uri="{FF2B5EF4-FFF2-40B4-BE49-F238E27FC236}">
                <a16:creationId xmlns:a16="http://schemas.microsoft.com/office/drawing/2014/main" id="{6F16601F-3444-4522-0FC3-A737EA0DCADE}"/>
              </a:ext>
            </a:extLst>
          </p:cNvPr>
          <p:cNvSpPr>
            <a:spLocks noGrp="1"/>
          </p:cNvSpPr>
          <p:nvPr>
            <p:ph idx="1"/>
          </p:nvPr>
        </p:nvSpPr>
        <p:spPr/>
        <p:txBody>
          <a:bodyPr vert="horz" lIns="91440" tIns="45720" rIns="91440" bIns="45720" rtlCol="0" anchor="t">
            <a:normAutofit fontScale="92500" lnSpcReduction="20000"/>
          </a:bodyPr>
          <a:lstStyle/>
          <a:p>
            <a:r>
              <a:rPr lang="es-ES" dirty="0">
                <a:ea typeface="+mn-lt"/>
                <a:cs typeface="+mn-lt"/>
              </a:rPr>
              <a:t>Las metodologías CSS son conjuntos de reglas y convenciones para organizar y estructurar el código CSS. Su principal objetivo es hacer que las hojas de estilo sean más predecibles, escalables y fáciles de mantener a lo largo del tiempo, especialmente en proyectos grandes o con múltiples desarrolladores. En lugar de escribir selectores y nombres de clases de forma improvisada, estas metodologías te dan un marco de trabajo para seguir.</a:t>
            </a:r>
          </a:p>
          <a:p>
            <a:r>
              <a:rPr lang="es-ES" dirty="0">
                <a:ea typeface="+mn-lt"/>
                <a:cs typeface="+mn-lt"/>
              </a:rPr>
              <a:t>BEM, que significa Bloque, Elemento y Modificador, es una metodología CSS popular para nombrar y organizar clases HTML y CSS. Su objetivo es hacer que las hojas de estilo sean más modulares, legibles y fáciles de mantener, evitando conflictos de especificidad y permitiendo que los componentes de la interfaz de usuario sean reutilizables y se entiendan fácilmente.</a:t>
            </a:r>
          </a:p>
          <a:p>
            <a:r>
              <a:rPr lang="es-ES" dirty="0">
                <a:ea typeface="+mn-lt"/>
                <a:cs typeface="+mn-lt"/>
              </a:rPr>
              <a:t>Ventajas de BEM</a:t>
            </a:r>
          </a:p>
          <a:p>
            <a:pPr lvl="1">
              <a:buFont typeface="Courier New" panose="020B0604020202020204" pitchFamily="34" charset="0"/>
              <a:buChar char="o"/>
            </a:pPr>
            <a:r>
              <a:rPr lang="es-ES">
                <a:ea typeface="+mn-lt"/>
                <a:cs typeface="+mn-lt"/>
              </a:rPr>
              <a:t>Claridad: Los nombres de las clases son muy descriptivos y te permiten entender rápidamente la relación entre el HTML y el CSS.</a:t>
            </a:r>
            <a:endParaRPr lang="es-ES"/>
          </a:p>
          <a:p>
            <a:pPr lvl="1">
              <a:buFont typeface="Courier New" panose="020B0604020202020204" pitchFamily="34" charset="0"/>
              <a:buChar char="o"/>
            </a:pPr>
            <a:r>
              <a:rPr lang="es-ES" dirty="0">
                <a:ea typeface="+mn-lt"/>
                <a:cs typeface="+mn-lt"/>
              </a:rPr>
              <a:t>Modularidad: Los bloques son independientes y reutilizables, lo que simplifica el desarrollo y el mantenimiento.</a:t>
            </a:r>
            <a:endParaRPr lang="es-ES"/>
          </a:p>
          <a:p>
            <a:pPr lvl="1">
              <a:buFont typeface="Courier New" panose="020B0604020202020204" pitchFamily="34" charset="0"/>
              <a:buChar char="o"/>
            </a:pPr>
            <a:r>
              <a:rPr lang="es-ES" dirty="0">
                <a:ea typeface="+mn-lt"/>
                <a:cs typeface="+mn-lt"/>
              </a:rPr>
              <a:t>Baja especificidad: BEM promueve el uso de un solo nivel de selectores, lo que evita que los estilos se sobrescriban inesperadamente y facilita la depuración.</a:t>
            </a:r>
            <a:endParaRPr lang="es-ES"/>
          </a:p>
        </p:txBody>
      </p:sp>
    </p:spTree>
    <p:extLst>
      <p:ext uri="{BB962C8B-B14F-4D97-AF65-F5344CB8AC3E}">
        <p14:creationId xmlns:p14="http://schemas.microsoft.com/office/powerpoint/2010/main" val="3697127486"/>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B1EA1C-9D5E-4A0F-76DC-15A38C4B795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A115927-CB03-A144-73EB-0F5FE506BB37}"/>
              </a:ext>
            </a:extLst>
          </p:cNvPr>
          <p:cNvSpPr>
            <a:spLocks noGrp="1"/>
          </p:cNvSpPr>
          <p:nvPr>
            <p:ph type="title"/>
          </p:nvPr>
        </p:nvSpPr>
        <p:spPr/>
        <p:txBody>
          <a:bodyPr/>
          <a:lstStyle/>
          <a:p>
            <a:r>
              <a:rPr lang="es-ES" b="0" dirty="0">
                <a:ea typeface="+mj-lt"/>
                <a:cs typeface="+mj-lt"/>
              </a:rPr>
              <a:t>2.4.6.2. Metodologías CSS (BEM, SMACSS).</a:t>
            </a:r>
            <a:endParaRPr lang="es-ES" dirty="0"/>
          </a:p>
        </p:txBody>
      </p:sp>
      <p:sp>
        <p:nvSpPr>
          <p:cNvPr id="3" name="Marcador de contenido 2">
            <a:extLst>
              <a:ext uri="{FF2B5EF4-FFF2-40B4-BE49-F238E27FC236}">
                <a16:creationId xmlns:a16="http://schemas.microsoft.com/office/drawing/2014/main" id="{A133892F-99F8-0603-D76D-0CAAE4915A9E}"/>
              </a:ext>
            </a:extLst>
          </p:cNvPr>
          <p:cNvSpPr>
            <a:spLocks noGrp="1"/>
          </p:cNvSpPr>
          <p:nvPr>
            <p:ph idx="1"/>
          </p:nvPr>
        </p:nvSpPr>
        <p:spPr/>
        <p:txBody>
          <a:bodyPr vert="horz" lIns="91440" tIns="45720" rIns="91440" bIns="45720" rtlCol="0" anchor="t">
            <a:normAutofit/>
          </a:bodyPr>
          <a:lstStyle/>
          <a:p>
            <a:r>
              <a:rPr lang="es-ES" dirty="0">
                <a:ea typeface="+mn-lt"/>
                <a:cs typeface="+mn-lt"/>
              </a:rPr>
              <a:t>Bloque (Block): Un bloque es un componente de UI independiente y reutilizable. Puede ser una entidad completa, como un </a:t>
            </a:r>
            <a:r>
              <a:rPr lang="es-ES" dirty="0" err="1">
                <a:ea typeface="+mn-lt"/>
                <a:cs typeface="+mn-lt"/>
              </a:rPr>
              <a:t>button</a:t>
            </a:r>
            <a:r>
              <a:rPr lang="es-ES" dirty="0">
                <a:ea typeface="+mn-lt"/>
                <a:cs typeface="+mn-lt"/>
              </a:rPr>
              <a:t>, </a:t>
            </a:r>
            <a:r>
              <a:rPr lang="es-ES" dirty="0" err="1">
                <a:ea typeface="+mn-lt"/>
                <a:cs typeface="+mn-lt"/>
              </a:rPr>
              <a:t>card</a:t>
            </a:r>
            <a:r>
              <a:rPr lang="es-ES" dirty="0">
                <a:ea typeface="+mn-lt"/>
                <a:cs typeface="+mn-lt"/>
              </a:rPr>
              <a:t>, </a:t>
            </a:r>
            <a:r>
              <a:rPr lang="es-ES" dirty="0" err="1">
                <a:ea typeface="+mn-lt"/>
                <a:cs typeface="+mn-lt"/>
              </a:rPr>
              <a:t>header</a:t>
            </a:r>
            <a:r>
              <a:rPr lang="es-ES" dirty="0">
                <a:ea typeface="+mn-lt"/>
                <a:cs typeface="+mn-lt"/>
              </a:rPr>
              <a:t> o </a:t>
            </a:r>
            <a:r>
              <a:rPr lang="es-ES" dirty="0" err="1">
                <a:ea typeface="+mn-lt"/>
                <a:cs typeface="+mn-lt"/>
              </a:rPr>
              <a:t>menu</a:t>
            </a:r>
            <a:r>
              <a:rPr lang="es-ES" dirty="0">
                <a:ea typeface="+mn-lt"/>
                <a:cs typeface="+mn-lt"/>
              </a:rPr>
              <a:t>. Un bloque tiene un nombre de clase único y no debe depender de su ubicación en el HTML. </a:t>
            </a:r>
            <a:endParaRPr lang="es-ES" dirty="0"/>
          </a:p>
          <a:p>
            <a:r>
              <a:rPr lang="es-ES" dirty="0">
                <a:ea typeface="+mn-lt"/>
                <a:cs typeface="+mn-lt"/>
              </a:rPr>
              <a:t>Elemento (</a:t>
            </a:r>
            <a:r>
              <a:rPr lang="es-ES" dirty="0" err="1">
                <a:ea typeface="+mn-lt"/>
                <a:cs typeface="+mn-lt"/>
              </a:rPr>
              <a:t>Element</a:t>
            </a:r>
            <a:r>
              <a:rPr lang="es-ES" dirty="0">
                <a:ea typeface="+mn-lt"/>
                <a:cs typeface="+mn-lt"/>
              </a:rPr>
              <a:t>): Un elemento es una parte de un bloque que no puede existir por sí misma fuera de él. Se separa del nombre del bloque con dos guiones bajos (__). Por ejemplo, en una tarjeta (</a:t>
            </a:r>
            <a:r>
              <a:rPr lang="es-ES" dirty="0" err="1">
                <a:ea typeface="+mn-lt"/>
                <a:cs typeface="+mn-lt"/>
              </a:rPr>
              <a:t>card</a:t>
            </a:r>
            <a:r>
              <a:rPr lang="es-ES" dirty="0">
                <a:ea typeface="+mn-lt"/>
                <a:cs typeface="+mn-lt"/>
              </a:rPr>
              <a:t>), el encabezado (</a:t>
            </a:r>
            <a:r>
              <a:rPr lang="es-ES" dirty="0" err="1">
                <a:ea typeface="+mn-lt"/>
                <a:cs typeface="+mn-lt"/>
              </a:rPr>
              <a:t>header</a:t>
            </a:r>
            <a:r>
              <a:rPr lang="es-ES" dirty="0">
                <a:ea typeface="+mn-lt"/>
                <a:cs typeface="+mn-lt"/>
              </a:rPr>
              <a:t>) y el título (</a:t>
            </a:r>
            <a:r>
              <a:rPr lang="es-ES" dirty="0" err="1">
                <a:ea typeface="+mn-lt"/>
                <a:cs typeface="+mn-lt"/>
              </a:rPr>
              <a:t>title</a:t>
            </a:r>
            <a:r>
              <a:rPr lang="es-ES" dirty="0">
                <a:ea typeface="+mn-lt"/>
                <a:cs typeface="+mn-lt"/>
              </a:rPr>
              <a:t>) son elementos: </a:t>
            </a:r>
            <a:r>
              <a:rPr lang="es-ES" dirty="0" err="1">
                <a:ea typeface="+mn-lt"/>
                <a:cs typeface="+mn-lt"/>
              </a:rPr>
              <a:t>card</a:t>
            </a:r>
            <a:r>
              <a:rPr lang="es-ES" dirty="0">
                <a:ea typeface="+mn-lt"/>
                <a:cs typeface="+mn-lt"/>
              </a:rPr>
              <a:t>__</a:t>
            </a:r>
            <a:r>
              <a:rPr lang="es-ES" dirty="0" err="1">
                <a:ea typeface="+mn-lt"/>
                <a:cs typeface="+mn-lt"/>
              </a:rPr>
              <a:t>header</a:t>
            </a:r>
            <a:r>
              <a:rPr lang="es-ES" dirty="0">
                <a:ea typeface="+mn-lt"/>
                <a:cs typeface="+mn-lt"/>
              </a:rPr>
              <a:t> y </a:t>
            </a:r>
            <a:r>
              <a:rPr lang="es-ES" dirty="0" err="1">
                <a:ea typeface="+mn-lt"/>
                <a:cs typeface="+mn-lt"/>
              </a:rPr>
              <a:t>card</a:t>
            </a:r>
            <a:r>
              <a:rPr lang="es-ES" dirty="0">
                <a:ea typeface="+mn-lt"/>
                <a:cs typeface="+mn-lt"/>
              </a:rPr>
              <a:t>__</a:t>
            </a:r>
            <a:r>
              <a:rPr lang="es-ES" dirty="0" err="1">
                <a:ea typeface="+mn-lt"/>
                <a:cs typeface="+mn-lt"/>
              </a:rPr>
              <a:t>title</a:t>
            </a:r>
            <a:r>
              <a:rPr lang="es-ES" dirty="0">
                <a:ea typeface="+mn-lt"/>
                <a:cs typeface="+mn-lt"/>
              </a:rPr>
              <a:t>.</a:t>
            </a:r>
            <a:endParaRPr lang="es-ES"/>
          </a:p>
          <a:p>
            <a:r>
              <a:rPr lang="es-ES" dirty="0">
                <a:ea typeface="+mn-lt"/>
                <a:cs typeface="+mn-lt"/>
              </a:rPr>
              <a:t>Modificador (</a:t>
            </a:r>
            <a:r>
              <a:rPr lang="es-ES" dirty="0" err="1">
                <a:ea typeface="+mn-lt"/>
                <a:cs typeface="+mn-lt"/>
              </a:rPr>
              <a:t>Modifier</a:t>
            </a:r>
            <a:r>
              <a:rPr lang="es-ES" dirty="0">
                <a:ea typeface="+mn-lt"/>
                <a:cs typeface="+mn-lt"/>
              </a:rPr>
              <a:t>): Un modificador es una bandera en un bloque o un elemento que cambia su apariencia, estado o comportamiento. Se separa del nombre del bloque o elemento con dos guiones (--). Por ejemplo, para un botón (</a:t>
            </a:r>
            <a:r>
              <a:rPr lang="es-ES" dirty="0" err="1">
                <a:ea typeface="+mn-lt"/>
                <a:cs typeface="+mn-lt"/>
              </a:rPr>
              <a:t>button</a:t>
            </a:r>
            <a:r>
              <a:rPr lang="es-ES" dirty="0">
                <a:ea typeface="+mn-lt"/>
                <a:cs typeface="+mn-lt"/>
              </a:rPr>
              <a:t>), un modificador podría ser </a:t>
            </a:r>
            <a:r>
              <a:rPr lang="es-ES" dirty="0" err="1">
                <a:ea typeface="+mn-lt"/>
                <a:cs typeface="+mn-lt"/>
              </a:rPr>
              <a:t>button</a:t>
            </a:r>
            <a:r>
              <a:rPr lang="es-ES" dirty="0">
                <a:ea typeface="+mn-lt"/>
                <a:cs typeface="+mn-lt"/>
              </a:rPr>
              <a:t>--</a:t>
            </a:r>
            <a:r>
              <a:rPr lang="es-ES" dirty="0" err="1">
                <a:ea typeface="+mn-lt"/>
                <a:cs typeface="+mn-lt"/>
              </a:rPr>
              <a:t>primary</a:t>
            </a:r>
            <a:r>
              <a:rPr lang="es-ES" dirty="0">
                <a:ea typeface="+mn-lt"/>
                <a:cs typeface="+mn-lt"/>
              </a:rPr>
              <a:t> para el color principal, o </a:t>
            </a:r>
            <a:r>
              <a:rPr lang="es-ES" dirty="0" err="1">
                <a:ea typeface="+mn-lt"/>
                <a:cs typeface="+mn-lt"/>
              </a:rPr>
              <a:t>button</a:t>
            </a:r>
            <a:r>
              <a:rPr lang="es-ES" dirty="0">
                <a:ea typeface="+mn-lt"/>
                <a:cs typeface="+mn-lt"/>
              </a:rPr>
              <a:t>--</a:t>
            </a:r>
            <a:r>
              <a:rPr lang="es-ES" dirty="0" err="1">
                <a:ea typeface="+mn-lt"/>
                <a:cs typeface="+mn-lt"/>
              </a:rPr>
              <a:t>disabled</a:t>
            </a:r>
            <a:r>
              <a:rPr lang="es-ES" dirty="0">
                <a:ea typeface="+mn-lt"/>
                <a:cs typeface="+mn-lt"/>
              </a:rPr>
              <a:t> para indicar que está inactivo.</a:t>
            </a:r>
          </a:p>
        </p:txBody>
      </p:sp>
    </p:spTree>
    <p:extLst>
      <p:ext uri="{BB962C8B-B14F-4D97-AF65-F5344CB8AC3E}">
        <p14:creationId xmlns:p14="http://schemas.microsoft.com/office/powerpoint/2010/main" val="1937403724"/>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D803D1-4A52-6E48-5BDE-3649955FA3D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BCB528F-D6AE-229B-A626-FE1883357869}"/>
              </a:ext>
            </a:extLst>
          </p:cNvPr>
          <p:cNvSpPr>
            <a:spLocks noGrp="1"/>
          </p:cNvSpPr>
          <p:nvPr>
            <p:ph type="title"/>
          </p:nvPr>
        </p:nvSpPr>
        <p:spPr/>
        <p:txBody>
          <a:bodyPr/>
          <a:lstStyle/>
          <a:p>
            <a:r>
              <a:rPr lang="es-ES" b="0" dirty="0">
                <a:ea typeface="+mj-lt"/>
                <a:cs typeface="+mj-lt"/>
              </a:rPr>
              <a:t>2.4.6.2. Metodologías CSS (BEM, SMACSS).</a:t>
            </a:r>
            <a:endParaRPr lang="es-ES" dirty="0"/>
          </a:p>
        </p:txBody>
      </p:sp>
      <p:sp>
        <p:nvSpPr>
          <p:cNvPr id="3" name="Marcador de contenido 2">
            <a:extLst>
              <a:ext uri="{FF2B5EF4-FFF2-40B4-BE49-F238E27FC236}">
                <a16:creationId xmlns:a16="http://schemas.microsoft.com/office/drawing/2014/main" id="{43F2C6F9-33BC-1EC0-1D32-653AF6EF05BA}"/>
              </a:ext>
            </a:extLst>
          </p:cNvPr>
          <p:cNvSpPr>
            <a:spLocks noGrp="1"/>
          </p:cNvSpPr>
          <p:nvPr>
            <p:ph idx="1"/>
          </p:nvPr>
        </p:nvSpPr>
        <p:spPr/>
        <p:txBody>
          <a:bodyPr vert="horz" lIns="91440" tIns="45720" rIns="91440" bIns="45720" rtlCol="0" anchor="t">
            <a:normAutofit lnSpcReduction="10000"/>
          </a:bodyPr>
          <a:lstStyle/>
          <a:p>
            <a:r>
              <a:rPr lang="es-ES" dirty="0">
                <a:ea typeface="+mn-lt"/>
                <a:cs typeface="+mn-lt"/>
              </a:rPr>
              <a:t>Aquí se muestra cómo se aplicarían los principios de BEM en un componente de tarjeta.</a:t>
            </a:r>
          </a:p>
          <a:p>
            <a:r>
              <a:rPr lang="es-ES" dirty="0">
                <a:ea typeface="+mn-lt"/>
                <a:cs typeface="+mn-lt"/>
              </a:rPr>
              <a:t>&lt;</a:t>
            </a:r>
            <a:r>
              <a:rPr lang="es-ES" dirty="0" err="1">
                <a:ea typeface="+mn-lt"/>
                <a:cs typeface="+mn-lt"/>
              </a:rPr>
              <a:t>article</a:t>
            </a:r>
            <a:r>
              <a:rPr lang="es-ES" dirty="0">
                <a:ea typeface="+mn-lt"/>
                <a:cs typeface="+mn-lt"/>
              </a:rPr>
              <a:t> </a:t>
            </a:r>
            <a:r>
              <a:rPr lang="es-ES" dirty="0" err="1">
                <a:ea typeface="+mn-lt"/>
                <a:cs typeface="+mn-lt"/>
              </a:rPr>
              <a:t>class</a:t>
            </a:r>
            <a:r>
              <a:rPr lang="es-ES" dirty="0">
                <a:ea typeface="+mn-lt"/>
                <a:cs typeface="+mn-lt"/>
              </a:rPr>
              <a:t>="</a:t>
            </a:r>
            <a:r>
              <a:rPr lang="es-ES" dirty="0" err="1">
                <a:ea typeface="+mn-lt"/>
                <a:cs typeface="+mn-lt"/>
              </a:rPr>
              <a:t>card</a:t>
            </a:r>
            <a:r>
              <a:rPr lang="es-ES" dirty="0">
                <a:ea typeface="+mn-lt"/>
                <a:cs typeface="+mn-lt"/>
              </a:rPr>
              <a:t> </a:t>
            </a:r>
            <a:r>
              <a:rPr lang="es-ES" dirty="0" err="1">
                <a:ea typeface="+mn-lt"/>
                <a:cs typeface="+mn-lt"/>
              </a:rPr>
              <a:t>card</a:t>
            </a:r>
            <a:r>
              <a:rPr lang="es-ES" dirty="0">
                <a:ea typeface="+mn-lt"/>
                <a:cs typeface="+mn-lt"/>
              </a:rPr>
              <a:t>--</a:t>
            </a:r>
            <a:r>
              <a:rPr lang="es-ES" dirty="0" err="1">
                <a:ea typeface="+mn-lt"/>
                <a:cs typeface="+mn-lt"/>
              </a:rPr>
              <a:t>dark</a:t>
            </a:r>
            <a:r>
              <a:rPr lang="es-ES" dirty="0">
                <a:ea typeface="+mn-lt"/>
                <a:cs typeface="+mn-lt"/>
              </a:rPr>
              <a:t>"&gt;</a:t>
            </a:r>
            <a:br>
              <a:rPr lang="es-ES" dirty="0">
                <a:ea typeface="+mn-lt"/>
                <a:cs typeface="+mn-lt"/>
              </a:rPr>
            </a:br>
            <a:r>
              <a:rPr lang="es-ES" dirty="0">
                <a:ea typeface="+mn-lt"/>
                <a:cs typeface="+mn-lt"/>
              </a:rPr>
              <a:t>  &lt;</a:t>
            </a:r>
            <a:r>
              <a:rPr lang="es-ES" dirty="0" err="1">
                <a:ea typeface="+mn-lt"/>
                <a:cs typeface="+mn-lt"/>
              </a:rPr>
              <a:t>header</a:t>
            </a:r>
            <a:r>
              <a:rPr lang="es-ES" dirty="0">
                <a:ea typeface="+mn-lt"/>
                <a:cs typeface="+mn-lt"/>
              </a:rPr>
              <a:t> </a:t>
            </a:r>
            <a:r>
              <a:rPr lang="es-ES" dirty="0" err="1">
                <a:ea typeface="+mn-lt"/>
                <a:cs typeface="+mn-lt"/>
              </a:rPr>
              <a:t>class</a:t>
            </a:r>
            <a:r>
              <a:rPr lang="es-ES" dirty="0">
                <a:ea typeface="+mn-lt"/>
                <a:cs typeface="+mn-lt"/>
              </a:rPr>
              <a:t>="</a:t>
            </a:r>
            <a:r>
              <a:rPr lang="es-ES" dirty="0" err="1">
                <a:ea typeface="+mn-lt"/>
                <a:cs typeface="+mn-lt"/>
              </a:rPr>
              <a:t>card</a:t>
            </a:r>
            <a:r>
              <a:rPr lang="es-ES" dirty="0">
                <a:ea typeface="+mn-lt"/>
                <a:cs typeface="+mn-lt"/>
              </a:rPr>
              <a:t>__</a:t>
            </a:r>
            <a:r>
              <a:rPr lang="es-ES" dirty="0" err="1">
                <a:ea typeface="+mn-lt"/>
                <a:cs typeface="+mn-lt"/>
              </a:rPr>
              <a:t>header</a:t>
            </a:r>
            <a:r>
              <a:rPr lang="es-ES" dirty="0">
                <a:ea typeface="+mn-lt"/>
                <a:cs typeface="+mn-lt"/>
              </a:rPr>
              <a:t>"&gt;</a:t>
            </a:r>
            <a:br>
              <a:rPr lang="es-ES" dirty="0">
                <a:ea typeface="+mn-lt"/>
                <a:cs typeface="+mn-lt"/>
              </a:rPr>
            </a:br>
            <a:r>
              <a:rPr lang="es-ES" dirty="0">
                <a:ea typeface="+mn-lt"/>
                <a:cs typeface="+mn-lt"/>
              </a:rPr>
              <a:t>    &lt;h3 </a:t>
            </a:r>
            <a:r>
              <a:rPr lang="es-ES" dirty="0" err="1">
                <a:ea typeface="+mn-lt"/>
                <a:cs typeface="+mn-lt"/>
              </a:rPr>
              <a:t>class</a:t>
            </a:r>
            <a:r>
              <a:rPr lang="es-ES" dirty="0">
                <a:ea typeface="+mn-lt"/>
                <a:cs typeface="+mn-lt"/>
              </a:rPr>
              <a:t>="</a:t>
            </a:r>
            <a:r>
              <a:rPr lang="es-ES" dirty="0" err="1">
                <a:ea typeface="+mn-lt"/>
                <a:cs typeface="+mn-lt"/>
              </a:rPr>
              <a:t>card</a:t>
            </a:r>
            <a:r>
              <a:rPr lang="es-ES" dirty="0">
                <a:ea typeface="+mn-lt"/>
                <a:cs typeface="+mn-lt"/>
              </a:rPr>
              <a:t>__</a:t>
            </a:r>
            <a:r>
              <a:rPr lang="es-ES" dirty="0" err="1">
                <a:ea typeface="+mn-lt"/>
                <a:cs typeface="+mn-lt"/>
              </a:rPr>
              <a:t>title</a:t>
            </a:r>
            <a:r>
              <a:rPr lang="es-ES" dirty="0">
                <a:ea typeface="+mn-lt"/>
                <a:cs typeface="+mn-lt"/>
              </a:rPr>
              <a:t>"&gt;Título de la Tarjeta&lt;/h3&gt;</a:t>
            </a:r>
            <a:br>
              <a:rPr lang="es-ES" dirty="0">
                <a:ea typeface="+mn-lt"/>
                <a:cs typeface="+mn-lt"/>
              </a:rPr>
            </a:br>
            <a:r>
              <a:rPr lang="es-ES" dirty="0">
                <a:ea typeface="+mn-lt"/>
                <a:cs typeface="+mn-lt"/>
              </a:rPr>
              <a:t>  &lt;/</a:t>
            </a:r>
            <a:r>
              <a:rPr lang="es-ES" dirty="0" err="1">
                <a:ea typeface="+mn-lt"/>
                <a:cs typeface="+mn-lt"/>
              </a:rPr>
              <a:t>header</a:t>
            </a:r>
            <a:r>
              <a:rPr lang="es-ES" dirty="0">
                <a:ea typeface="+mn-lt"/>
                <a:cs typeface="+mn-lt"/>
              </a:rPr>
              <a:t>&gt;</a:t>
            </a:r>
            <a:br>
              <a:rPr lang="es-ES" dirty="0">
                <a:ea typeface="+mn-lt"/>
                <a:cs typeface="+mn-lt"/>
              </a:rPr>
            </a:br>
            <a:r>
              <a:rPr lang="es-ES" dirty="0">
                <a:ea typeface="+mn-lt"/>
                <a:cs typeface="+mn-lt"/>
              </a:rPr>
              <a:t>  &lt;</a:t>
            </a:r>
            <a:r>
              <a:rPr lang="es-ES" dirty="0" err="1">
                <a:ea typeface="+mn-lt"/>
                <a:cs typeface="+mn-lt"/>
              </a:rPr>
              <a:t>div</a:t>
            </a:r>
            <a:r>
              <a:rPr lang="es-ES" dirty="0">
                <a:ea typeface="+mn-lt"/>
                <a:cs typeface="+mn-lt"/>
              </a:rPr>
              <a:t> </a:t>
            </a:r>
            <a:r>
              <a:rPr lang="es-ES" dirty="0" err="1">
                <a:ea typeface="+mn-lt"/>
                <a:cs typeface="+mn-lt"/>
              </a:rPr>
              <a:t>class</a:t>
            </a:r>
            <a:r>
              <a:rPr lang="es-ES" dirty="0">
                <a:ea typeface="+mn-lt"/>
                <a:cs typeface="+mn-lt"/>
              </a:rPr>
              <a:t>="</a:t>
            </a:r>
            <a:r>
              <a:rPr lang="es-ES" dirty="0" err="1">
                <a:ea typeface="+mn-lt"/>
                <a:cs typeface="+mn-lt"/>
              </a:rPr>
              <a:t>card</a:t>
            </a:r>
            <a:r>
              <a:rPr lang="es-ES" dirty="0">
                <a:ea typeface="+mn-lt"/>
                <a:cs typeface="+mn-lt"/>
              </a:rPr>
              <a:t>__</a:t>
            </a:r>
            <a:r>
              <a:rPr lang="es-ES" dirty="0" err="1">
                <a:ea typeface="+mn-lt"/>
                <a:cs typeface="+mn-lt"/>
              </a:rPr>
              <a:t>body</a:t>
            </a:r>
            <a:r>
              <a:rPr lang="es-ES" dirty="0">
                <a:ea typeface="+mn-lt"/>
                <a:cs typeface="+mn-lt"/>
              </a:rPr>
              <a:t>"&gt;</a:t>
            </a:r>
            <a:br>
              <a:rPr lang="es-ES" dirty="0">
                <a:ea typeface="+mn-lt"/>
                <a:cs typeface="+mn-lt"/>
              </a:rPr>
            </a:br>
            <a:r>
              <a:rPr lang="es-ES" dirty="0">
                <a:ea typeface="+mn-lt"/>
                <a:cs typeface="+mn-lt"/>
              </a:rPr>
              <a:t>    &lt;p&gt;Contenido principal de la tarjeta.&lt;/p&gt;</a:t>
            </a:r>
            <a:br>
              <a:rPr lang="es-ES" dirty="0">
                <a:ea typeface="+mn-lt"/>
                <a:cs typeface="+mn-lt"/>
              </a:rPr>
            </a:br>
            <a:r>
              <a:rPr lang="es-ES" dirty="0">
                <a:ea typeface="+mn-lt"/>
                <a:cs typeface="+mn-lt"/>
              </a:rPr>
              <a:t>  &lt;/</a:t>
            </a:r>
            <a:r>
              <a:rPr lang="es-ES" dirty="0" err="1">
                <a:ea typeface="+mn-lt"/>
                <a:cs typeface="+mn-lt"/>
              </a:rPr>
              <a:t>div</a:t>
            </a:r>
            <a:r>
              <a:rPr lang="es-ES" dirty="0">
                <a:ea typeface="+mn-lt"/>
                <a:cs typeface="+mn-lt"/>
              </a:rPr>
              <a:t>&gt;</a:t>
            </a:r>
            <a:br>
              <a:rPr lang="es-ES" dirty="0">
                <a:ea typeface="+mn-lt"/>
                <a:cs typeface="+mn-lt"/>
              </a:rPr>
            </a:br>
            <a:r>
              <a:rPr lang="es-ES" dirty="0">
                <a:ea typeface="+mn-lt"/>
                <a:cs typeface="+mn-lt"/>
              </a:rPr>
              <a:t>  &lt;</a:t>
            </a:r>
            <a:r>
              <a:rPr lang="es-ES" dirty="0" err="1">
                <a:ea typeface="+mn-lt"/>
                <a:cs typeface="+mn-lt"/>
              </a:rPr>
              <a:t>footer</a:t>
            </a:r>
            <a:r>
              <a:rPr lang="es-ES" dirty="0">
                <a:ea typeface="+mn-lt"/>
                <a:cs typeface="+mn-lt"/>
              </a:rPr>
              <a:t> </a:t>
            </a:r>
            <a:r>
              <a:rPr lang="es-ES" dirty="0" err="1">
                <a:ea typeface="+mn-lt"/>
                <a:cs typeface="+mn-lt"/>
              </a:rPr>
              <a:t>class</a:t>
            </a:r>
            <a:r>
              <a:rPr lang="es-ES" dirty="0">
                <a:ea typeface="+mn-lt"/>
                <a:cs typeface="+mn-lt"/>
              </a:rPr>
              <a:t>="</a:t>
            </a:r>
            <a:r>
              <a:rPr lang="es-ES" dirty="0" err="1">
                <a:ea typeface="+mn-lt"/>
                <a:cs typeface="+mn-lt"/>
              </a:rPr>
              <a:t>card</a:t>
            </a:r>
            <a:r>
              <a:rPr lang="es-ES" dirty="0">
                <a:ea typeface="+mn-lt"/>
                <a:cs typeface="+mn-lt"/>
              </a:rPr>
              <a:t>__</a:t>
            </a:r>
            <a:r>
              <a:rPr lang="es-ES" dirty="0" err="1">
                <a:ea typeface="+mn-lt"/>
                <a:cs typeface="+mn-lt"/>
              </a:rPr>
              <a:t>footer</a:t>
            </a:r>
            <a:r>
              <a:rPr lang="es-ES" dirty="0">
                <a:ea typeface="+mn-lt"/>
                <a:cs typeface="+mn-lt"/>
              </a:rPr>
              <a:t>"&gt;</a:t>
            </a:r>
            <a:br>
              <a:rPr lang="es-ES" dirty="0">
                <a:ea typeface="+mn-lt"/>
                <a:cs typeface="+mn-lt"/>
              </a:rPr>
            </a:br>
            <a:r>
              <a:rPr lang="es-ES" dirty="0">
                <a:ea typeface="+mn-lt"/>
                <a:cs typeface="+mn-lt"/>
              </a:rPr>
              <a:t>    &lt;</a:t>
            </a:r>
            <a:r>
              <a:rPr lang="es-ES" dirty="0" err="1">
                <a:ea typeface="+mn-lt"/>
                <a:cs typeface="+mn-lt"/>
              </a:rPr>
              <a:t>button</a:t>
            </a:r>
            <a:r>
              <a:rPr lang="es-ES" dirty="0">
                <a:ea typeface="+mn-lt"/>
                <a:cs typeface="+mn-lt"/>
              </a:rPr>
              <a:t> </a:t>
            </a:r>
            <a:r>
              <a:rPr lang="es-ES" dirty="0" err="1">
                <a:ea typeface="+mn-lt"/>
                <a:cs typeface="+mn-lt"/>
              </a:rPr>
              <a:t>class</a:t>
            </a:r>
            <a:r>
              <a:rPr lang="es-ES" dirty="0">
                <a:ea typeface="+mn-lt"/>
                <a:cs typeface="+mn-lt"/>
              </a:rPr>
              <a:t>="</a:t>
            </a:r>
            <a:r>
              <a:rPr lang="es-ES" dirty="0" err="1">
                <a:ea typeface="+mn-lt"/>
                <a:cs typeface="+mn-lt"/>
              </a:rPr>
              <a:t>button</a:t>
            </a:r>
            <a:r>
              <a:rPr lang="es-ES" dirty="0">
                <a:ea typeface="+mn-lt"/>
                <a:cs typeface="+mn-lt"/>
              </a:rPr>
              <a:t> </a:t>
            </a:r>
            <a:r>
              <a:rPr lang="es-ES" dirty="0" err="1">
                <a:ea typeface="+mn-lt"/>
                <a:cs typeface="+mn-lt"/>
              </a:rPr>
              <a:t>button</a:t>
            </a:r>
            <a:r>
              <a:rPr lang="es-ES" dirty="0">
                <a:ea typeface="+mn-lt"/>
                <a:cs typeface="+mn-lt"/>
              </a:rPr>
              <a:t>--</a:t>
            </a:r>
            <a:r>
              <a:rPr lang="es-ES" dirty="0" err="1">
                <a:ea typeface="+mn-lt"/>
                <a:cs typeface="+mn-lt"/>
              </a:rPr>
              <a:t>primary</a:t>
            </a:r>
            <a:r>
              <a:rPr lang="es-ES" dirty="0">
                <a:ea typeface="+mn-lt"/>
                <a:cs typeface="+mn-lt"/>
              </a:rPr>
              <a:t>"&gt;Leer más&lt;/</a:t>
            </a:r>
            <a:r>
              <a:rPr lang="es-ES" dirty="0" err="1">
                <a:ea typeface="+mn-lt"/>
                <a:cs typeface="+mn-lt"/>
              </a:rPr>
              <a:t>button</a:t>
            </a:r>
            <a:r>
              <a:rPr lang="es-ES" dirty="0">
                <a:ea typeface="+mn-lt"/>
                <a:cs typeface="+mn-lt"/>
              </a:rPr>
              <a:t>&gt;</a:t>
            </a:r>
            <a:br>
              <a:rPr lang="es-ES" dirty="0">
                <a:ea typeface="+mn-lt"/>
                <a:cs typeface="+mn-lt"/>
              </a:rPr>
            </a:br>
            <a:r>
              <a:rPr lang="es-ES" dirty="0">
                <a:ea typeface="+mn-lt"/>
                <a:cs typeface="+mn-lt"/>
              </a:rPr>
              <a:t>  &lt;/</a:t>
            </a:r>
            <a:r>
              <a:rPr lang="es-ES" dirty="0" err="1">
                <a:ea typeface="+mn-lt"/>
                <a:cs typeface="+mn-lt"/>
              </a:rPr>
              <a:t>footer</a:t>
            </a:r>
            <a:r>
              <a:rPr lang="es-ES" dirty="0">
                <a:ea typeface="+mn-lt"/>
                <a:cs typeface="+mn-lt"/>
              </a:rPr>
              <a:t>&gt;</a:t>
            </a:r>
            <a:br>
              <a:rPr lang="es-ES" dirty="0">
                <a:ea typeface="+mn-lt"/>
                <a:cs typeface="+mn-lt"/>
              </a:rPr>
            </a:br>
            <a:r>
              <a:rPr lang="es-ES" dirty="0">
                <a:ea typeface="+mn-lt"/>
                <a:cs typeface="+mn-lt"/>
              </a:rPr>
              <a:t>&lt;/</a:t>
            </a:r>
            <a:r>
              <a:rPr lang="es-ES" dirty="0" err="1">
                <a:ea typeface="+mn-lt"/>
                <a:cs typeface="+mn-lt"/>
              </a:rPr>
              <a:t>article</a:t>
            </a:r>
            <a:r>
              <a:rPr lang="es-ES" dirty="0">
                <a:ea typeface="+mn-lt"/>
                <a:cs typeface="+mn-lt"/>
              </a:rPr>
              <a:t>&gt;</a:t>
            </a:r>
            <a:endParaRPr lang="es-ES" dirty="0"/>
          </a:p>
          <a:p>
            <a:endParaRPr lang="es-ES" dirty="0">
              <a:ea typeface="+mn-lt"/>
              <a:cs typeface="+mn-lt"/>
            </a:endParaRPr>
          </a:p>
        </p:txBody>
      </p:sp>
    </p:spTree>
    <p:extLst>
      <p:ext uri="{BB962C8B-B14F-4D97-AF65-F5344CB8AC3E}">
        <p14:creationId xmlns:p14="http://schemas.microsoft.com/office/powerpoint/2010/main" val="2345437837"/>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EC559F-D1B8-84BB-DFC8-5C93B819AB3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3D581A9-5ECC-4D74-6E42-4319151DAFA5}"/>
              </a:ext>
            </a:extLst>
          </p:cNvPr>
          <p:cNvSpPr>
            <a:spLocks noGrp="1"/>
          </p:cNvSpPr>
          <p:nvPr>
            <p:ph type="title"/>
          </p:nvPr>
        </p:nvSpPr>
        <p:spPr/>
        <p:txBody>
          <a:bodyPr/>
          <a:lstStyle/>
          <a:p>
            <a:r>
              <a:rPr lang="es-ES" b="0" dirty="0">
                <a:ea typeface="+mj-lt"/>
                <a:cs typeface="+mj-lt"/>
              </a:rPr>
              <a:t>2.4.6.2. Metodologías CSS (BEM, SMACSS).</a:t>
            </a:r>
            <a:endParaRPr lang="es-ES" dirty="0"/>
          </a:p>
        </p:txBody>
      </p:sp>
      <p:sp>
        <p:nvSpPr>
          <p:cNvPr id="3" name="Marcador de contenido 2">
            <a:extLst>
              <a:ext uri="{FF2B5EF4-FFF2-40B4-BE49-F238E27FC236}">
                <a16:creationId xmlns:a16="http://schemas.microsoft.com/office/drawing/2014/main" id="{2734208F-0A74-5485-1A2C-DD6084F93D80}"/>
              </a:ext>
            </a:extLst>
          </p:cNvPr>
          <p:cNvSpPr>
            <a:spLocks noGrp="1"/>
          </p:cNvSpPr>
          <p:nvPr>
            <p:ph idx="1"/>
          </p:nvPr>
        </p:nvSpPr>
        <p:spPr/>
        <p:txBody>
          <a:bodyPr vert="horz" lIns="91440" tIns="45720" rIns="91440" bIns="45720" rtlCol="0" anchor="t">
            <a:normAutofit fontScale="62500" lnSpcReduction="20000"/>
          </a:bodyPr>
          <a:lstStyle/>
          <a:p>
            <a:pPr marL="0" indent="0">
              <a:buNone/>
            </a:pPr>
            <a:r>
              <a:rPr lang="es-ES" b="1" dirty="0">
                <a:latin typeface="Courier New"/>
                <a:ea typeface="+mn-lt"/>
                <a:cs typeface="+mn-lt"/>
              </a:rPr>
              <a:t>/* Bloque base de la tarjeta */</a:t>
            </a:r>
            <a:br>
              <a:rPr lang="es-ES" b="1" dirty="0">
                <a:latin typeface="Courier New"/>
                <a:ea typeface="+mn-lt"/>
                <a:cs typeface="+mn-lt"/>
              </a:rPr>
            </a:br>
            <a:r>
              <a:rPr lang="es-ES" b="1" dirty="0">
                <a:latin typeface="Courier New"/>
                <a:ea typeface="+mn-lt"/>
                <a:cs typeface="+mn-lt"/>
              </a:rPr>
              <a:t>.</a:t>
            </a:r>
            <a:r>
              <a:rPr lang="es-ES" b="1" err="1">
                <a:latin typeface="Courier New"/>
                <a:ea typeface="+mn-lt"/>
                <a:cs typeface="+mn-lt"/>
              </a:rPr>
              <a:t>card</a:t>
            </a: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padding</a:t>
            </a:r>
            <a:r>
              <a:rPr lang="es-ES" b="1" dirty="0">
                <a:latin typeface="Courier New"/>
                <a:ea typeface="+mn-lt"/>
                <a:cs typeface="+mn-lt"/>
              </a:rPr>
              <a:t>: 1.5rem;</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border-radius</a:t>
            </a:r>
            <a:r>
              <a:rPr lang="es-ES" b="1" dirty="0">
                <a:latin typeface="Courier New"/>
                <a:ea typeface="+mn-lt"/>
                <a:cs typeface="+mn-lt"/>
              </a:rPr>
              <a:t>: 8px;</a:t>
            </a:r>
            <a:br>
              <a:rPr lang="es-ES" b="1" dirty="0">
                <a:latin typeface="Courier New"/>
                <a:ea typeface="+mn-lt"/>
                <a:cs typeface="+mn-lt"/>
              </a:rPr>
            </a:br>
            <a:r>
              <a:rPr lang="es-ES" b="1" dirty="0">
                <a:latin typeface="Courier New"/>
                <a:ea typeface="+mn-lt"/>
                <a:cs typeface="+mn-lt"/>
              </a:rPr>
              <a:t>  box-</a:t>
            </a:r>
            <a:r>
              <a:rPr lang="es-ES" b="1" err="1">
                <a:latin typeface="Courier New"/>
                <a:ea typeface="+mn-lt"/>
                <a:cs typeface="+mn-lt"/>
              </a:rPr>
              <a:t>shadow</a:t>
            </a:r>
            <a:r>
              <a:rPr lang="es-ES" b="1" dirty="0">
                <a:latin typeface="Courier New"/>
                <a:ea typeface="+mn-lt"/>
                <a:cs typeface="+mn-lt"/>
              </a:rPr>
              <a:t>: 0 4px 6px </a:t>
            </a:r>
            <a:r>
              <a:rPr lang="es-ES" b="1" err="1">
                <a:latin typeface="Courier New"/>
                <a:ea typeface="+mn-lt"/>
                <a:cs typeface="+mn-lt"/>
              </a:rPr>
              <a:t>rgba</a:t>
            </a:r>
            <a:r>
              <a:rPr lang="es-ES" b="1" dirty="0">
                <a:latin typeface="Courier New"/>
                <a:ea typeface="+mn-lt"/>
                <a:cs typeface="+mn-lt"/>
              </a:rPr>
              <a:t>(0, 0, 0, 0.1);</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background</a:t>
            </a:r>
            <a:r>
              <a:rPr lang="es-ES" b="1" dirty="0">
                <a:latin typeface="Courier New"/>
                <a:ea typeface="+mn-lt"/>
                <a:cs typeface="+mn-lt"/>
              </a:rPr>
              <a:t>-color: #fff;</a:t>
            </a:r>
            <a:br>
              <a:rPr lang="es-ES" b="1" dirty="0">
                <a:latin typeface="Courier New"/>
                <a:ea typeface="+mn-lt"/>
                <a:cs typeface="+mn-lt"/>
              </a:rPr>
            </a:b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 Modificador del bloque: versión oscura */</a:t>
            </a:r>
            <a:br>
              <a:rPr lang="es-ES" b="1" dirty="0">
                <a:latin typeface="Courier New"/>
                <a:ea typeface="+mn-lt"/>
                <a:cs typeface="+mn-lt"/>
              </a:rPr>
            </a:br>
            <a:r>
              <a:rPr lang="es-ES" b="1" dirty="0">
                <a:latin typeface="Courier New"/>
                <a:ea typeface="+mn-lt"/>
                <a:cs typeface="+mn-lt"/>
              </a:rPr>
              <a:t>.</a:t>
            </a:r>
            <a:r>
              <a:rPr lang="es-ES" b="1" err="1">
                <a:latin typeface="Courier New"/>
                <a:ea typeface="+mn-lt"/>
                <a:cs typeface="+mn-lt"/>
              </a:rPr>
              <a:t>card</a:t>
            </a:r>
            <a:r>
              <a:rPr lang="es-ES" b="1" dirty="0">
                <a:latin typeface="Courier New"/>
                <a:ea typeface="+mn-lt"/>
                <a:cs typeface="+mn-lt"/>
              </a:rPr>
              <a:t>--</a:t>
            </a:r>
            <a:r>
              <a:rPr lang="es-ES" b="1" err="1">
                <a:latin typeface="Courier New"/>
                <a:ea typeface="+mn-lt"/>
                <a:cs typeface="+mn-lt"/>
              </a:rPr>
              <a:t>dark</a:t>
            </a: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background</a:t>
            </a:r>
            <a:r>
              <a:rPr lang="es-ES" b="1" dirty="0">
                <a:latin typeface="Courier New"/>
                <a:ea typeface="+mn-lt"/>
                <a:cs typeface="+mn-lt"/>
              </a:rPr>
              <a:t>-color: #333;</a:t>
            </a:r>
            <a:br>
              <a:rPr lang="es-ES" b="1" dirty="0">
                <a:latin typeface="Courier New"/>
                <a:ea typeface="+mn-lt"/>
                <a:cs typeface="+mn-lt"/>
              </a:rPr>
            </a:br>
            <a:r>
              <a:rPr lang="es-ES" b="1" dirty="0">
                <a:latin typeface="Courier New"/>
                <a:ea typeface="+mn-lt"/>
                <a:cs typeface="+mn-lt"/>
              </a:rPr>
              <a:t>  color: #fff;</a:t>
            </a:r>
            <a:br>
              <a:rPr lang="es-ES" b="1" dirty="0">
                <a:latin typeface="Courier New"/>
                <a:ea typeface="+mn-lt"/>
                <a:cs typeface="+mn-lt"/>
              </a:rPr>
            </a:b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 Elemento del bloque: el encabezado */</a:t>
            </a:r>
            <a:br>
              <a:rPr lang="es-ES" b="1" dirty="0">
                <a:latin typeface="Courier New"/>
                <a:ea typeface="+mn-lt"/>
                <a:cs typeface="+mn-lt"/>
              </a:rPr>
            </a:br>
            <a:r>
              <a:rPr lang="es-ES" b="1" dirty="0">
                <a:latin typeface="Courier New"/>
                <a:ea typeface="+mn-lt"/>
                <a:cs typeface="+mn-lt"/>
              </a:rPr>
              <a:t>.</a:t>
            </a:r>
            <a:r>
              <a:rPr lang="es-ES" b="1" err="1">
                <a:latin typeface="Courier New"/>
                <a:ea typeface="+mn-lt"/>
                <a:cs typeface="+mn-lt"/>
              </a:rPr>
              <a:t>card</a:t>
            </a:r>
            <a:r>
              <a:rPr lang="es-ES" b="1" dirty="0">
                <a:latin typeface="Courier New"/>
                <a:ea typeface="+mn-lt"/>
                <a:cs typeface="+mn-lt"/>
              </a:rPr>
              <a:t>__</a:t>
            </a:r>
            <a:r>
              <a:rPr lang="es-ES" b="1" err="1">
                <a:latin typeface="Courier New"/>
                <a:ea typeface="+mn-lt"/>
                <a:cs typeface="+mn-lt"/>
              </a:rPr>
              <a:t>header</a:t>
            </a: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margin</a:t>
            </a:r>
            <a:r>
              <a:rPr lang="es-ES" b="1" dirty="0">
                <a:latin typeface="Courier New"/>
                <a:ea typeface="+mn-lt"/>
                <a:cs typeface="+mn-lt"/>
              </a:rPr>
              <a:t>-bottom: 1rem;</a:t>
            </a:r>
            <a:br>
              <a:rPr lang="es-ES" b="1" dirty="0">
                <a:latin typeface="Courier New"/>
                <a:ea typeface="+mn-lt"/>
                <a:cs typeface="+mn-lt"/>
              </a:rPr>
            </a:b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 Elemento del bloque: el título */</a:t>
            </a:r>
            <a:br>
              <a:rPr lang="es-ES" b="1" dirty="0">
                <a:latin typeface="Courier New"/>
                <a:ea typeface="+mn-lt"/>
                <a:cs typeface="+mn-lt"/>
              </a:rPr>
            </a:br>
            <a:r>
              <a:rPr lang="es-ES" b="1" dirty="0">
                <a:latin typeface="Courier New"/>
                <a:ea typeface="+mn-lt"/>
                <a:cs typeface="+mn-lt"/>
              </a:rPr>
              <a:t>.</a:t>
            </a:r>
            <a:r>
              <a:rPr lang="es-ES" b="1" err="1">
                <a:latin typeface="Courier New"/>
                <a:ea typeface="+mn-lt"/>
                <a:cs typeface="+mn-lt"/>
              </a:rPr>
              <a:t>card</a:t>
            </a:r>
            <a:r>
              <a:rPr lang="es-ES" b="1" dirty="0">
                <a:latin typeface="Courier New"/>
                <a:ea typeface="+mn-lt"/>
                <a:cs typeface="+mn-lt"/>
              </a:rPr>
              <a:t>__</a:t>
            </a:r>
            <a:r>
              <a:rPr lang="es-ES" b="1" err="1">
                <a:latin typeface="Courier New"/>
                <a:ea typeface="+mn-lt"/>
                <a:cs typeface="+mn-lt"/>
              </a:rPr>
              <a:t>title</a:t>
            </a: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font-size</a:t>
            </a:r>
            <a:r>
              <a:rPr lang="es-ES" b="1" dirty="0">
                <a:latin typeface="Courier New"/>
                <a:ea typeface="+mn-lt"/>
                <a:cs typeface="+mn-lt"/>
              </a:rPr>
              <a:t>: 1.25rem;</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font-weight</a:t>
            </a:r>
            <a:r>
              <a:rPr lang="es-ES" b="1" dirty="0">
                <a:latin typeface="Courier New"/>
                <a:ea typeface="+mn-lt"/>
                <a:cs typeface="+mn-lt"/>
              </a:rPr>
              <a:t>: </a:t>
            </a:r>
            <a:r>
              <a:rPr lang="es-ES" b="1" err="1">
                <a:latin typeface="Courier New"/>
                <a:ea typeface="+mn-lt"/>
                <a:cs typeface="+mn-lt"/>
              </a:rPr>
              <a:t>bold</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a:t>
            </a:r>
            <a:endParaRPr lang="es-ES" b="1" dirty="0">
              <a:latin typeface="Courier New"/>
              <a:cs typeface="Courier New"/>
            </a:endParaRPr>
          </a:p>
          <a:p>
            <a:endParaRPr lang="es-ES" dirty="0">
              <a:ea typeface="+mn-lt"/>
              <a:cs typeface="+mn-lt"/>
            </a:endParaRPr>
          </a:p>
        </p:txBody>
      </p:sp>
    </p:spTree>
    <p:extLst>
      <p:ext uri="{BB962C8B-B14F-4D97-AF65-F5344CB8AC3E}">
        <p14:creationId xmlns:p14="http://schemas.microsoft.com/office/powerpoint/2010/main" val="157586265"/>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111874-0AA1-0881-A4D2-C2E97A37B02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CDBD2F1-F8FC-DF8C-A5D5-3C29732D40E2}"/>
              </a:ext>
            </a:extLst>
          </p:cNvPr>
          <p:cNvSpPr>
            <a:spLocks noGrp="1"/>
          </p:cNvSpPr>
          <p:nvPr>
            <p:ph type="title"/>
          </p:nvPr>
        </p:nvSpPr>
        <p:spPr/>
        <p:txBody>
          <a:bodyPr/>
          <a:lstStyle/>
          <a:p>
            <a:r>
              <a:rPr lang="es-ES" b="0" dirty="0">
                <a:ea typeface="+mj-lt"/>
                <a:cs typeface="+mj-lt"/>
              </a:rPr>
              <a:t>2.4.6.2. Metodologías CSS (BEM, SMACSS).</a:t>
            </a:r>
            <a:endParaRPr lang="es-ES" dirty="0"/>
          </a:p>
        </p:txBody>
      </p:sp>
      <p:sp>
        <p:nvSpPr>
          <p:cNvPr id="3" name="Marcador de contenido 2">
            <a:extLst>
              <a:ext uri="{FF2B5EF4-FFF2-40B4-BE49-F238E27FC236}">
                <a16:creationId xmlns:a16="http://schemas.microsoft.com/office/drawing/2014/main" id="{130EE3C3-F22C-1751-33F1-415E4B1FED4B}"/>
              </a:ext>
            </a:extLst>
          </p:cNvPr>
          <p:cNvSpPr>
            <a:spLocks noGrp="1"/>
          </p:cNvSpPr>
          <p:nvPr>
            <p:ph idx="1"/>
          </p:nvPr>
        </p:nvSpPr>
        <p:spPr/>
        <p:txBody>
          <a:bodyPr vert="horz" lIns="91440" tIns="45720" rIns="91440" bIns="45720" rtlCol="0" anchor="t">
            <a:normAutofit fontScale="92500" lnSpcReduction="20000"/>
          </a:bodyPr>
          <a:lstStyle/>
          <a:p>
            <a:r>
              <a:rPr lang="es-ES" dirty="0">
                <a:ea typeface="+mn-lt"/>
                <a:cs typeface="+mn-lt"/>
              </a:rPr>
              <a:t>OOCSS es una metodología de desarrollo CSS que aplica los principios de la programación orientada a objetos para crear hojas de estilo más eficientes, mantenibles y escalables. Su objetivo principal es que el código sea reutilizable, lo que reduce la cantidad de código CSS que se necesita escribir y mejora el rendimiento de la carga de la página.</a:t>
            </a:r>
            <a:endParaRPr lang="es-ES" dirty="0"/>
          </a:p>
          <a:p>
            <a:r>
              <a:rPr lang="es-ES">
                <a:ea typeface="+mn-lt"/>
                <a:cs typeface="+mn-lt"/>
              </a:rPr>
              <a:t>OOCSS se basa en dos principios fundamentales:</a:t>
            </a:r>
          </a:p>
          <a:p>
            <a:pPr lvl="1" indent="-342900">
              <a:buFont typeface="Courier New" panose="020B0604020202020204" pitchFamily="34" charset="0"/>
              <a:buChar char="o"/>
            </a:pPr>
            <a:r>
              <a:rPr lang="es-ES">
                <a:ea typeface="+mn-lt"/>
                <a:cs typeface="+mn-lt"/>
              </a:rPr>
              <a:t>1. Separar la estructura de la apariencia ("skin"): Este principio </a:t>
            </a:r>
            <a:r>
              <a:rPr lang="es-ES" dirty="0">
                <a:ea typeface="+mn-lt"/>
                <a:cs typeface="+mn-lt"/>
              </a:rPr>
              <a:t>sugiere que debes separar las propiedades de CSS que definen el diseño y la estructura de un componente (como el </a:t>
            </a:r>
            <a:r>
              <a:rPr lang="es-ES" err="1">
                <a:ea typeface="+mn-lt"/>
                <a:cs typeface="+mn-lt"/>
              </a:rPr>
              <a:t>width</a:t>
            </a:r>
            <a:r>
              <a:rPr lang="es-ES" dirty="0">
                <a:ea typeface="+mn-lt"/>
                <a:cs typeface="+mn-lt"/>
              </a:rPr>
              <a:t>, </a:t>
            </a:r>
            <a:r>
              <a:rPr lang="es-ES" err="1">
                <a:ea typeface="+mn-lt"/>
                <a:cs typeface="+mn-lt"/>
              </a:rPr>
              <a:t>height</a:t>
            </a:r>
            <a:r>
              <a:rPr lang="es-ES" dirty="0">
                <a:ea typeface="+mn-lt"/>
                <a:cs typeface="+mn-lt"/>
              </a:rPr>
              <a:t>, </a:t>
            </a:r>
            <a:r>
              <a:rPr lang="es-ES" err="1">
                <a:ea typeface="+mn-lt"/>
                <a:cs typeface="+mn-lt"/>
              </a:rPr>
              <a:t>padding</a:t>
            </a:r>
            <a:r>
              <a:rPr lang="es-ES" dirty="0">
                <a:ea typeface="+mn-lt"/>
                <a:cs typeface="+mn-lt"/>
              </a:rPr>
              <a:t> o </a:t>
            </a:r>
            <a:r>
              <a:rPr lang="es-ES" err="1">
                <a:ea typeface="+mn-lt"/>
                <a:cs typeface="+mn-lt"/>
              </a:rPr>
              <a:t>margin</a:t>
            </a:r>
            <a:r>
              <a:rPr lang="es-ES" dirty="0">
                <a:ea typeface="+mn-lt"/>
                <a:cs typeface="+mn-lt"/>
              </a:rPr>
              <a:t>) de las propiedades que definen su apariencia visual (como </a:t>
            </a:r>
            <a:r>
              <a:rPr lang="es-ES" err="1">
                <a:ea typeface="+mn-lt"/>
                <a:cs typeface="+mn-lt"/>
              </a:rPr>
              <a:t>background</a:t>
            </a:r>
            <a:r>
              <a:rPr lang="es-ES" dirty="0">
                <a:ea typeface="+mn-lt"/>
                <a:cs typeface="+mn-lt"/>
              </a:rPr>
              <a:t>-color, </a:t>
            </a:r>
            <a:r>
              <a:rPr lang="es-ES" err="1">
                <a:ea typeface="+mn-lt"/>
                <a:cs typeface="+mn-lt"/>
              </a:rPr>
              <a:t>border</a:t>
            </a:r>
            <a:r>
              <a:rPr lang="es-ES" dirty="0">
                <a:ea typeface="+mn-lt"/>
                <a:cs typeface="+mn-lt"/>
              </a:rPr>
              <a:t>, color o box-</a:t>
            </a:r>
            <a:r>
              <a:rPr lang="es-ES" err="1">
                <a:ea typeface="+mn-lt"/>
                <a:cs typeface="+mn-lt"/>
              </a:rPr>
              <a:t>shadow</a:t>
            </a:r>
            <a:r>
              <a:rPr lang="es-ES" dirty="0">
                <a:ea typeface="+mn-lt"/>
                <a:cs typeface="+mn-lt"/>
              </a:rPr>
              <a:t>). Esto te permite crear un objeto de estructura base que puede ser reutilizado en múltiples lugares, aplicándole diferentes apariencias.</a:t>
            </a:r>
            <a:endParaRPr lang="es-ES"/>
          </a:p>
          <a:p>
            <a:r>
              <a:rPr lang="es-ES" dirty="0">
                <a:ea typeface="+mn-lt"/>
                <a:cs typeface="+mn-lt"/>
              </a:rPr>
              <a:t>Ejemplo de estructura vs. apariencia: En este ejemplo, la clase .</a:t>
            </a:r>
            <a:r>
              <a:rPr lang="es-ES" err="1">
                <a:ea typeface="+mn-lt"/>
                <a:cs typeface="+mn-lt"/>
              </a:rPr>
              <a:t>btn</a:t>
            </a:r>
            <a:r>
              <a:rPr lang="es-ES" dirty="0">
                <a:ea typeface="+mn-lt"/>
                <a:cs typeface="+mn-lt"/>
              </a:rPr>
              <a:t> define la estructura (tamaño, relleno, forma), mientras que las clases con el modificador (--</a:t>
            </a:r>
            <a:r>
              <a:rPr lang="es-ES" err="1">
                <a:ea typeface="+mn-lt"/>
                <a:cs typeface="+mn-lt"/>
              </a:rPr>
              <a:t>primary</a:t>
            </a:r>
            <a:r>
              <a:rPr lang="es-ES" dirty="0">
                <a:ea typeface="+mn-lt"/>
                <a:cs typeface="+mn-lt"/>
              </a:rPr>
              <a:t>, --</a:t>
            </a:r>
            <a:r>
              <a:rPr lang="es-ES" err="1">
                <a:ea typeface="+mn-lt"/>
                <a:cs typeface="+mn-lt"/>
              </a:rPr>
              <a:t>success</a:t>
            </a:r>
            <a:r>
              <a:rPr lang="es-ES" dirty="0">
                <a:ea typeface="+mn-lt"/>
                <a:cs typeface="+mn-lt"/>
              </a:rPr>
              <a:t>) se encargan de la apariencia. </a:t>
            </a:r>
            <a:endParaRPr lang="es-ES" dirty="0"/>
          </a:p>
          <a:p>
            <a:pPr marL="0" indent="0">
              <a:buNone/>
            </a:pPr>
            <a:r>
              <a:rPr lang="es-ES" b="1" dirty="0">
                <a:latin typeface="Courier New"/>
                <a:ea typeface="+mn-lt"/>
                <a:cs typeface="+mn-lt"/>
              </a:rPr>
              <a:t>&lt;</a:t>
            </a:r>
            <a:r>
              <a:rPr lang="es-ES" b="1" err="1">
                <a:latin typeface="Courier New"/>
                <a:ea typeface="+mn-lt"/>
                <a:cs typeface="+mn-lt"/>
              </a:rPr>
              <a:t>button</a:t>
            </a:r>
            <a:r>
              <a:rPr lang="es-ES" b="1" dirty="0">
                <a:latin typeface="Courier New"/>
                <a:ea typeface="+mn-lt"/>
                <a:cs typeface="+mn-lt"/>
              </a:rPr>
              <a:t> </a:t>
            </a:r>
            <a:r>
              <a:rPr lang="es-ES" b="1" err="1">
                <a:latin typeface="Courier New"/>
                <a:ea typeface="+mn-lt"/>
                <a:cs typeface="+mn-lt"/>
              </a:rPr>
              <a:t>class</a:t>
            </a:r>
            <a:r>
              <a:rPr lang="es-ES" b="1" dirty="0">
                <a:latin typeface="Courier New"/>
                <a:ea typeface="+mn-lt"/>
                <a:cs typeface="+mn-lt"/>
              </a:rPr>
              <a:t>="</a:t>
            </a:r>
            <a:r>
              <a:rPr lang="es-ES" b="1" err="1">
                <a:latin typeface="Courier New"/>
                <a:ea typeface="+mn-lt"/>
                <a:cs typeface="+mn-lt"/>
              </a:rPr>
              <a:t>btn</a:t>
            </a:r>
            <a:r>
              <a:rPr lang="es-ES" b="1" dirty="0">
                <a:latin typeface="Courier New"/>
                <a:ea typeface="+mn-lt"/>
                <a:cs typeface="+mn-lt"/>
              </a:rPr>
              <a:t>"&gt;Botón estándar&lt;/</a:t>
            </a:r>
            <a:r>
              <a:rPr lang="es-ES" b="1" err="1">
                <a:latin typeface="Courier New"/>
                <a:ea typeface="+mn-lt"/>
                <a:cs typeface="+mn-lt"/>
              </a:rPr>
              <a:t>button</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&lt;</a:t>
            </a:r>
            <a:r>
              <a:rPr lang="es-ES" b="1" err="1">
                <a:latin typeface="Courier New"/>
                <a:ea typeface="+mn-lt"/>
                <a:cs typeface="+mn-lt"/>
              </a:rPr>
              <a:t>button</a:t>
            </a:r>
            <a:r>
              <a:rPr lang="es-ES" b="1" dirty="0">
                <a:latin typeface="Courier New"/>
                <a:ea typeface="+mn-lt"/>
                <a:cs typeface="+mn-lt"/>
              </a:rPr>
              <a:t> </a:t>
            </a:r>
            <a:r>
              <a:rPr lang="es-ES" b="1" err="1">
                <a:latin typeface="Courier New"/>
                <a:ea typeface="+mn-lt"/>
                <a:cs typeface="+mn-lt"/>
              </a:rPr>
              <a:t>class</a:t>
            </a:r>
            <a:r>
              <a:rPr lang="es-ES" b="1" dirty="0">
                <a:latin typeface="Courier New"/>
                <a:ea typeface="+mn-lt"/>
                <a:cs typeface="+mn-lt"/>
              </a:rPr>
              <a:t>="</a:t>
            </a:r>
            <a:r>
              <a:rPr lang="es-ES" b="1" err="1">
                <a:latin typeface="Courier New"/>
                <a:ea typeface="+mn-lt"/>
                <a:cs typeface="+mn-lt"/>
              </a:rPr>
              <a:t>btn</a:t>
            </a:r>
            <a:r>
              <a:rPr lang="es-ES" b="1" dirty="0">
                <a:latin typeface="Courier New"/>
                <a:ea typeface="+mn-lt"/>
                <a:cs typeface="+mn-lt"/>
              </a:rPr>
              <a:t> </a:t>
            </a:r>
            <a:r>
              <a:rPr lang="es-ES" b="1" err="1">
                <a:latin typeface="Courier New"/>
                <a:ea typeface="+mn-lt"/>
                <a:cs typeface="+mn-lt"/>
              </a:rPr>
              <a:t>btn</a:t>
            </a:r>
            <a:r>
              <a:rPr lang="es-ES" b="1" dirty="0">
                <a:latin typeface="Courier New"/>
                <a:ea typeface="+mn-lt"/>
                <a:cs typeface="+mn-lt"/>
              </a:rPr>
              <a:t>--</a:t>
            </a:r>
            <a:r>
              <a:rPr lang="es-ES" b="1" err="1">
                <a:latin typeface="Courier New"/>
                <a:ea typeface="+mn-lt"/>
                <a:cs typeface="+mn-lt"/>
              </a:rPr>
              <a:t>primary</a:t>
            </a:r>
            <a:r>
              <a:rPr lang="es-ES" b="1" dirty="0">
                <a:latin typeface="Courier New"/>
                <a:ea typeface="+mn-lt"/>
                <a:cs typeface="+mn-lt"/>
              </a:rPr>
              <a:t>"&gt;Botón primario&lt;/</a:t>
            </a:r>
            <a:r>
              <a:rPr lang="es-ES" b="1" err="1">
                <a:latin typeface="Courier New"/>
                <a:ea typeface="+mn-lt"/>
                <a:cs typeface="+mn-lt"/>
              </a:rPr>
              <a:t>button</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&lt;</a:t>
            </a:r>
            <a:r>
              <a:rPr lang="es-ES" b="1" err="1">
                <a:latin typeface="Courier New"/>
                <a:ea typeface="+mn-lt"/>
                <a:cs typeface="+mn-lt"/>
              </a:rPr>
              <a:t>button</a:t>
            </a:r>
            <a:r>
              <a:rPr lang="es-ES" b="1" dirty="0">
                <a:latin typeface="Courier New"/>
                <a:ea typeface="+mn-lt"/>
                <a:cs typeface="+mn-lt"/>
              </a:rPr>
              <a:t> </a:t>
            </a:r>
            <a:r>
              <a:rPr lang="es-ES" b="1" err="1">
                <a:latin typeface="Courier New"/>
                <a:ea typeface="+mn-lt"/>
                <a:cs typeface="+mn-lt"/>
              </a:rPr>
              <a:t>class</a:t>
            </a:r>
            <a:r>
              <a:rPr lang="es-ES" b="1" dirty="0">
                <a:latin typeface="Courier New"/>
                <a:ea typeface="+mn-lt"/>
                <a:cs typeface="+mn-lt"/>
              </a:rPr>
              <a:t>="</a:t>
            </a:r>
            <a:r>
              <a:rPr lang="es-ES" b="1" err="1">
                <a:latin typeface="Courier New"/>
                <a:ea typeface="+mn-lt"/>
                <a:cs typeface="+mn-lt"/>
              </a:rPr>
              <a:t>btn</a:t>
            </a:r>
            <a:r>
              <a:rPr lang="es-ES" b="1" dirty="0">
                <a:latin typeface="Courier New"/>
                <a:ea typeface="+mn-lt"/>
                <a:cs typeface="+mn-lt"/>
              </a:rPr>
              <a:t> </a:t>
            </a:r>
            <a:r>
              <a:rPr lang="es-ES" b="1" err="1">
                <a:latin typeface="Courier New"/>
                <a:ea typeface="+mn-lt"/>
                <a:cs typeface="+mn-lt"/>
              </a:rPr>
              <a:t>btn</a:t>
            </a:r>
            <a:r>
              <a:rPr lang="es-ES" b="1" dirty="0">
                <a:latin typeface="Courier New"/>
                <a:ea typeface="+mn-lt"/>
                <a:cs typeface="+mn-lt"/>
              </a:rPr>
              <a:t>--</a:t>
            </a:r>
            <a:r>
              <a:rPr lang="es-ES" b="1" err="1">
                <a:latin typeface="Courier New"/>
                <a:ea typeface="+mn-lt"/>
                <a:cs typeface="+mn-lt"/>
              </a:rPr>
              <a:t>success</a:t>
            </a:r>
            <a:r>
              <a:rPr lang="es-ES" b="1" dirty="0">
                <a:latin typeface="Courier New"/>
                <a:ea typeface="+mn-lt"/>
                <a:cs typeface="+mn-lt"/>
              </a:rPr>
              <a:t>"&gt;Botón de éxito&lt;/</a:t>
            </a:r>
            <a:r>
              <a:rPr lang="es-ES" b="1" err="1">
                <a:latin typeface="Courier New"/>
                <a:ea typeface="+mn-lt"/>
                <a:cs typeface="+mn-lt"/>
              </a:rPr>
              <a:t>button</a:t>
            </a:r>
            <a:r>
              <a:rPr lang="es-ES" b="1" dirty="0">
                <a:latin typeface="Courier New"/>
                <a:ea typeface="+mn-lt"/>
                <a:cs typeface="+mn-lt"/>
              </a:rPr>
              <a:t>&gt;</a:t>
            </a:r>
          </a:p>
        </p:txBody>
      </p:sp>
    </p:spTree>
    <p:extLst>
      <p:ext uri="{BB962C8B-B14F-4D97-AF65-F5344CB8AC3E}">
        <p14:creationId xmlns:p14="http://schemas.microsoft.com/office/powerpoint/2010/main" val="3812575965"/>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DB0052-31DD-F6BE-8422-FE9CBC7EC93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14AE59C-7156-3198-67B0-0CF5CFD4C9B1}"/>
              </a:ext>
            </a:extLst>
          </p:cNvPr>
          <p:cNvSpPr>
            <a:spLocks noGrp="1"/>
          </p:cNvSpPr>
          <p:nvPr>
            <p:ph type="title"/>
          </p:nvPr>
        </p:nvSpPr>
        <p:spPr/>
        <p:txBody>
          <a:bodyPr/>
          <a:lstStyle/>
          <a:p>
            <a:r>
              <a:rPr lang="es-ES" b="0" dirty="0">
                <a:ea typeface="+mj-lt"/>
                <a:cs typeface="+mj-lt"/>
              </a:rPr>
              <a:t>2.4.6.2. Metodologías CSS (BEM, SMACSS).</a:t>
            </a:r>
            <a:endParaRPr lang="es-ES" dirty="0"/>
          </a:p>
        </p:txBody>
      </p:sp>
      <p:sp>
        <p:nvSpPr>
          <p:cNvPr id="3" name="Marcador de contenido 2">
            <a:extLst>
              <a:ext uri="{FF2B5EF4-FFF2-40B4-BE49-F238E27FC236}">
                <a16:creationId xmlns:a16="http://schemas.microsoft.com/office/drawing/2014/main" id="{94FC9531-46C0-D4C2-52F4-A400C0D2F8C7}"/>
              </a:ext>
            </a:extLst>
          </p:cNvPr>
          <p:cNvSpPr>
            <a:spLocks noGrp="1"/>
          </p:cNvSpPr>
          <p:nvPr>
            <p:ph idx="1"/>
          </p:nvPr>
        </p:nvSpPr>
        <p:spPr/>
        <p:txBody>
          <a:bodyPr vert="horz" lIns="91440" tIns="45720" rIns="91440" bIns="45720" rtlCol="0" anchor="t">
            <a:normAutofit fontScale="77500" lnSpcReduction="20000"/>
          </a:bodyPr>
          <a:lstStyle/>
          <a:p>
            <a:pPr marL="0" indent="0">
              <a:buNone/>
            </a:pPr>
            <a:r>
              <a:rPr lang="es-ES" b="1" dirty="0">
                <a:latin typeface="Courier New"/>
                <a:ea typeface="+mn-lt"/>
                <a:cs typeface="+mn-lt"/>
              </a:rPr>
              <a:t>/* Estructura - Define el "objeto" base */</a:t>
            </a:r>
            <a:br>
              <a:rPr lang="es-ES" b="1" dirty="0">
                <a:latin typeface="Courier New"/>
                <a:ea typeface="+mn-lt"/>
                <a:cs typeface="+mn-lt"/>
              </a:rPr>
            </a:br>
            <a:r>
              <a:rPr lang="es-ES" b="1" dirty="0">
                <a:latin typeface="Courier New"/>
                <a:ea typeface="+mn-lt"/>
                <a:cs typeface="+mn-lt"/>
              </a:rPr>
              <a:t>.</a:t>
            </a:r>
            <a:r>
              <a:rPr lang="es-ES" b="1" err="1">
                <a:latin typeface="Courier New"/>
                <a:ea typeface="+mn-lt"/>
                <a:cs typeface="+mn-lt"/>
              </a:rPr>
              <a:t>btn</a:t>
            </a: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display</a:t>
            </a:r>
            <a:r>
              <a:rPr lang="es-ES" b="1" dirty="0">
                <a:latin typeface="Courier New"/>
                <a:ea typeface="+mn-lt"/>
                <a:cs typeface="+mn-lt"/>
              </a:rPr>
              <a:t>: </a:t>
            </a:r>
            <a:r>
              <a:rPr lang="es-ES" b="1" err="1">
                <a:latin typeface="Courier New"/>
                <a:ea typeface="+mn-lt"/>
                <a:cs typeface="+mn-lt"/>
              </a:rPr>
              <a:t>inline</a:t>
            </a:r>
            <a:r>
              <a:rPr lang="es-ES" b="1" dirty="0">
                <a:latin typeface="Courier New"/>
                <a:ea typeface="+mn-lt"/>
                <a:cs typeface="+mn-lt"/>
              </a:rPr>
              <a:t>-block;</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padding</a:t>
            </a:r>
            <a:r>
              <a:rPr lang="es-ES" b="1" dirty="0">
                <a:latin typeface="Courier New"/>
                <a:ea typeface="+mn-lt"/>
                <a:cs typeface="+mn-lt"/>
              </a:rPr>
              <a:t>: 10px 15px;</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border-radius</a:t>
            </a:r>
            <a:r>
              <a:rPr lang="es-ES" b="1" dirty="0">
                <a:latin typeface="Courier New"/>
                <a:ea typeface="+mn-lt"/>
                <a:cs typeface="+mn-lt"/>
              </a:rPr>
              <a:t>: 4px;</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text-align</a:t>
            </a:r>
            <a:r>
              <a:rPr lang="es-ES" b="1" dirty="0">
                <a:latin typeface="Courier New"/>
                <a:ea typeface="+mn-lt"/>
                <a:cs typeface="+mn-lt"/>
              </a:rPr>
              <a:t>: center;</a:t>
            </a:r>
            <a:br>
              <a:rPr lang="es-ES" b="1" dirty="0">
                <a:latin typeface="Courier New"/>
                <a:ea typeface="+mn-lt"/>
                <a:cs typeface="+mn-lt"/>
              </a:rPr>
            </a:b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 Apariencia ("skin") - Define los modificadores */</a:t>
            </a:r>
            <a:br>
              <a:rPr lang="es-ES" b="1" dirty="0">
                <a:latin typeface="Courier New"/>
                <a:ea typeface="+mn-lt"/>
                <a:cs typeface="+mn-lt"/>
              </a:rPr>
            </a:br>
            <a:r>
              <a:rPr lang="es-ES" b="1" dirty="0">
                <a:latin typeface="Courier New"/>
                <a:ea typeface="+mn-lt"/>
                <a:cs typeface="+mn-lt"/>
              </a:rPr>
              <a:t>.</a:t>
            </a:r>
            <a:r>
              <a:rPr lang="es-ES" b="1" err="1">
                <a:latin typeface="Courier New"/>
                <a:ea typeface="+mn-lt"/>
                <a:cs typeface="+mn-lt"/>
              </a:rPr>
              <a:t>btn</a:t>
            </a:r>
            <a:r>
              <a:rPr lang="es-ES" b="1" dirty="0">
                <a:latin typeface="Courier New"/>
                <a:ea typeface="+mn-lt"/>
                <a:cs typeface="+mn-lt"/>
              </a:rPr>
              <a:t>--</a:t>
            </a:r>
            <a:r>
              <a:rPr lang="es-ES" b="1" err="1">
                <a:latin typeface="Courier New"/>
                <a:ea typeface="+mn-lt"/>
                <a:cs typeface="+mn-lt"/>
              </a:rPr>
              <a:t>primary</a:t>
            </a: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background</a:t>
            </a:r>
            <a:r>
              <a:rPr lang="es-ES" b="1" dirty="0">
                <a:latin typeface="Courier New"/>
                <a:ea typeface="+mn-lt"/>
                <a:cs typeface="+mn-lt"/>
              </a:rPr>
              <a:t>-color: #007bff;</a:t>
            </a:r>
            <a:br>
              <a:rPr lang="es-ES" b="1" dirty="0">
                <a:latin typeface="Courier New"/>
                <a:ea typeface="+mn-lt"/>
                <a:cs typeface="+mn-lt"/>
              </a:rPr>
            </a:br>
            <a:r>
              <a:rPr lang="es-ES" b="1" dirty="0">
                <a:latin typeface="Courier New"/>
                <a:ea typeface="+mn-lt"/>
                <a:cs typeface="+mn-lt"/>
              </a:rPr>
              <a:t>  color: </a:t>
            </a:r>
            <a:r>
              <a:rPr lang="es-ES" b="1" err="1">
                <a:latin typeface="Courier New"/>
                <a:ea typeface="+mn-lt"/>
                <a:cs typeface="+mn-lt"/>
              </a:rPr>
              <a:t>white</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border</a:t>
            </a:r>
            <a:r>
              <a:rPr lang="es-ES" b="1" dirty="0">
                <a:latin typeface="Courier New"/>
                <a:ea typeface="+mn-lt"/>
                <a:cs typeface="+mn-lt"/>
              </a:rPr>
              <a:t>: 1px </a:t>
            </a:r>
            <a:r>
              <a:rPr lang="es-ES" b="1" err="1">
                <a:latin typeface="Courier New"/>
                <a:ea typeface="+mn-lt"/>
                <a:cs typeface="+mn-lt"/>
              </a:rPr>
              <a:t>solid</a:t>
            </a:r>
            <a:r>
              <a:rPr lang="es-ES" b="1" dirty="0">
                <a:latin typeface="Courier New"/>
                <a:ea typeface="+mn-lt"/>
                <a:cs typeface="+mn-lt"/>
              </a:rPr>
              <a:t> #007bff;</a:t>
            </a:r>
            <a:br>
              <a:rPr lang="es-ES" b="1" dirty="0">
                <a:latin typeface="Courier New"/>
                <a:ea typeface="+mn-lt"/>
                <a:cs typeface="+mn-lt"/>
              </a:rPr>
            </a:b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a:t>
            </a:r>
            <a:r>
              <a:rPr lang="es-ES" b="1" err="1">
                <a:latin typeface="Courier New"/>
                <a:ea typeface="+mn-lt"/>
                <a:cs typeface="+mn-lt"/>
              </a:rPr>
              <a:t>btn</a:t>
            </a:r>
            <a:r>
              <a:rPr lang="es-ES" b="1" dirty="0">
                <a:latin typeface="Courier New"/>
                <a:ea typeface="+mn-lt"/>
                <a:cs typeface="+mn-lt"/>
              </a:rPr>
              <a:t>--</a:t>
            </a:r>
            <a:r>
              <a:rPr lang="es-ES" b="1" err="1">
                <a:latin typeface="Courier New"/>
                <a:ea typeface="+mn-lt"/>
                <a:cs typeface="+mn-lt"/>
              </a:rPr>
              <a:t>success</a:t>
            </a: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background</a:t>
            </a:r>
            <a:r>
              <a:rPr lang="es-ES" b="1" dirty="0">
                <a:latin typeface="Courier New"/>
                <a:ea typeface="+mn-lt"/>
                <a:cs typeface="+mn-lt"/>
              </a:rPr>
              <a:t>-color: #28a745;</a:t>
            </a:r>
            <a:br>
              <a:rPr lang="es-ES" b="1" dirty="0">
                <a:latin typeface="Courier New"/>
                <a:ea typeface="+mn-lt"/>
                <a:cs typeface="+mn-lt"/>
              </a:rPr>
            </a:br>
            <a:r>
              <a:rPr lang="es-ES" b="1" dirty="0">
                <a:latin typeface="Courier New"/>
                <a:ea typeface="+mn-lt"/>
                <a:cs typeface="+mn-lt"/>
              </a:rPr>
              <a:t>  color: </a:t>
            </a:r>
            <a:r>
              <a:rPr lang="es-ES" b="1" err="1">
                <a:latin typeface="Courier New"/>
                <a:ea typeface="+mn-lt"/>
                <a:cs typeface="+mn-lt"/>
              </a:rPr>
              <a:t>white</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border</a:t>
            </a:r>
            <a:r>
              <a:rPr lang="es-ES" b="1" dirty="0">
                <a:latin typeface="Courier New"/>
                <a:ea typeface="+mn-lt"/>
                <a:cs typeface="+mn-lt"/>
              </a:rPr>
              <a:t>: 1px </a:t>
            </a:r>
            <a:r>
              <a:rPr lang="es-ES" b="1" err="1">
                <a:latin typeface="Courier New"/>
                <a:ea typeface="+mn-lt"/>
                <a:cs typeface="+mn-lt"/>
              </a:rPr>
              <a:t>solid</a:t>
            </a:r>
            <a:r>
              <a:rPr lang="es-ES" b="1" dirty="0">
                <a:latin typeface="Courier New"/>
                <a:ea typeface="+mn-lt"/>
                <a:cs typeface="+mn-lt"/>
              </a:rPr>
              <a:t> #28a745;</a:t>
            </a:r>
            <a:br>
              <a:rPr lang="es-ES" b="1" dirty="0">
                <a:latin typeface="Courier New"/>
                <a:ea typeface="+mn-lt"/>
                <a:cs typeface="+mn-lt"/>
              </a:rPr>
            </a:br>
            <a:r>
              <a:rPr lang="es-ES" b="1" dirty="0">
                <a:latin typeface="Courier New"/>
                <a:ea typeface="+mn-lt"/>
                <a:cs typeface="+mn-lt"/>
              </a:rPr>
              <a:t>}</a:t>
            </a:r>
            <a:endParaRPr lang="es-ES" dirty="0"/>
          </a:p>
        </p:txBody>
      </p:sp>
    </p:spTree>
    <p:extLst>
      <p:ext uri="{BB962C8B-B14F-4D97-AF65-F5344CB8AC3E}">
        <p14:creationId xmlns:p14="http://schemas.microsoft.com/office/powerpoint/2010/main" val="2227850688"/>
      </p:ext>
    </p:extLst>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38D78A-AD0D-FE7C-2908-07A597B3E4E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8C46DCF-6699-0510-C129-B1A18156BE37}"/>
              </a:ext>
            </a:extLst>
          </p:cNvPr>
          <p:cNvSpPr>
            <a:spLocks noGrp="1"/>
          </p:cNvSpPr>
          <p:nvPr>
            <p:ph type="title"/>
          </p:nvPr>
        </p:nvSpPr>
        <p:spPr/>
        <p:txBody>
          <a:bodyPr/>
          <a:lstStyle/>
          <a:p>
            <a:r>
              <a:rPr lang="es-ES" b="0" dirty="0">
                <a:ea typeface="+mj-lt"/>
                <a:cs typeface="+mj-lt"/>
              </a:rPr>
              <a:t>2.4.6.2. Metodologías CSS (BEM, SMACSS).</a:t>
            </a:r>
            <a:endParaRPr lang="es-ES" dirty="0"/>
          </a:p>
        </p:txBody>
      </p:sp>
      <p:sp>
        <p:nvSpPr>
          <p:cNvPr id="3" name="Marcador de contenido 2">
            <a:extLst>
              <a:ext uri="{FF2B5EF4-FFF2-40B4-BE49-F238E27FC236}">
                <a16:creationId xmlns:a16="http://schemas.microsoft.com/office/drawing/2014/main" id="{C30B213D-8CB7-F16E-1A40-536F75836673}"/>
              </a:ext>
            </a:extLst>
          </p:cNvPr>
          <p:cNvSpPr>
            <a:spLocks noGrp="1"/>
          </p:cNvSpPr>
          <p:nvPr>
            <p:ph idx="1"/>
          </p:nvPr>
        </p:nvSpPr>
        <p:spPr/>
        <p:txBody>
          <a:bodyPr vert="horz" lIns="91440" tIns="45720" rIns="91440" bIns="45720" rtlCol="0" anchor="t">
            <a:normAutofit fontScale="70000" lnSpcReduction="20000"/>
          </a:bodyPr>
          <a:lstStyle/>
          <a:p>
            <a:pPr lvl="1" indent="-342900">
              <a:buFont typeface="Courier New" panose="020B0604020202020204" pitchFamily="34" charset="0"/>
              <a:buChar char="o"/>
            </a:pPr>
            <a:r>
              <a:rPr lang="es-ES" dirty="0">
                <a:ea typeface="+mn-lt"/>
                <a:cs typeface="+mn-lt"/>
              </a:rPr>
              <a:t>2. Separar el contenedor del contenido. Este principio establece que los estilos de un componente no deben depender de la ubicación del elemento en el HTML. Un "objeto" debe ser completamente autónomo y funcionar de la misma manera sin importar si está dentro de un </a:t>
            </a:r>
            <a:r>
              <a:rPr lang="es-ES" dirty="0" err="1">
                <a:ea typeface="+mn-lt"/>
                <a:cs typeface="+mn-lt"/>
              </a:rPr>
              <a:t>header</a:t>
            </a:r>
            <a:r>
              <a:rPr lang="es-ES" dirty="0">
                <a:ea typeface="+mn-lt"/>
                <a:cs typeface="+mn-lt"/>
              </a:rPr>
              <a:t>, un </a:t>
            </a:r>
            <a:r>
              <a:rPr lang="es-ES" dirty="0" err="1">
                <a:ea typeface="+mn-lt"/>
                <a:cs typeface="+mn-lt"/>
              </a:rPr>
              <a:t>footer</a:t>
            </a:r>
            <a:r>
              <a:rPr lang="es-ES" dirty="0">
                <a:ea typeface="+mn-lt"/>
                <a:cs typeface="+mn-lt"/>
              </a:rPr>
              <a:t> o cualquier otro contenedor. Para lograr esto, se evitan los selectores de descendencia (.</a:t>
            </a:r>
            <a:r>
              <a:rPr lang="es-ES" dirty="0" err="1">
                <a:ea typeface="+mn-lt"/>
                <a:cs typeface="+mn-lt"/>
              </a:rPr>
              <a:t>header</a:t>
            </a:r>
            <a:r>
              <a:rPr lang="es-ES" dirty="0">
                <a:ea typeface="+mn-lt"/>
                <a:cs typeface="+mn-lt"/>
              </a:rPr>
              <a:t> .</a:t>
            </a:r>
            <a:r>
              <a:rPr lang="es-ES" dirty="0" err="1">
                <a:ea typeface="+mn-lt"/>
                <a:cs typeface="+mn-lt"/>
              </a:rPr>
              <a:t>button</a:t>
            </a:r>
            <a:r>
              <a:rPr lang="es-ES" dirty="0">
                <a:ea typeface="+mn-lt"/>
                <a:cs typeface="+mn-lt"/>
              </a:rPr>
              <a:t>) y se prefieren las clases directas y específicas (.</a:t>
            </a:r>
            <a:r>
              <a:rPr lang="es-ES" dirty="0" err="1">
                <a:ea typeface="+mn-lt"/>
                <a:cs typeface="+mn-lt"/>
              </a:rPr>
              <a:t>button</a:t>
            </a:r>
            <a:r>
              <a:rPr lang="es-ES" dirty="0">
                <a:ea typeface="+mn-lt"/>
                <a:cs typeface="+mn-lt"/>
              </a:rPr>
              <a:t>). Ejemplo de contenedor vs. contenido:</a:t>
            </a:r>
          </a:p>
          <a:p>
            <a:pPr marL="0" indent="0">
              <a:buNone/>
            </a:pPr>
            <a:r>
              <a:rPr lang="es-ES" b="1" dirty="0">
                <a:latin typeface="Courier New"/>
                <a:ea typeface="+mn-lt"/>
                <a:cs typeface="+mn-lt"/>
              </a:rPr>
              <a:t>&lt;</a:t>
            </a:r>
            <a:r>
              <a:rPr lang="es-ES" b="1" err="1">
                <a:latin typeface="Courier New"/>
                <a:ea typeface="+mn-lt"/>
                <a:cs typeface="+mn-lt"/>
              </a:rPr>
              <a:t>header</a:t>
            </a:r>
            <a:r>
              <a:rPr lang="es-ES" b="1" dirty="0">
                <a:latin typeface="Courier New"/>
                <a:ea typeface="+mn-lt"/>
                <a:cs typeface="+mn-lt"/>
              </a:rPr>
              <a:t> </a:t>
            </a:r>
            <a:r>
              <a:rPr lang="es-ES" b="1" err="1">
                <a:latin typeface="Courier New"/>
                <a:ea typeface="+mn-lt"/>
                <a:cs typeface="+mn-lt"/>
              </a:rPr>
              <a:t>class</a:t>
            </a:r>
            <a:r>
              <a:rPr lang="es-ES" b="1" dirty="0">
                <a:latin typeface="Courier New"/>
                <a:ea typeface="+mn-lt"/>
                <a:cs typeface="+mn-lt"/>
              </a:rPr>
              <a:t>="page-</a:t>
            </a:r>
            <a:r>
              <a:rPr lang="es-ES" b="1" err="1">
                <a:latin typeface="Courier New"/>
                <a:ea typeface="+mn-lt"/>
                <a:cs typeface="+mn-lt"/>
              </a:rPr>
              <a:t>header</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a:t>
            </a:r>
            <a:r>
              <a:rPr lang="es-ES" b="1" err="1">
                <a:latin typeface="Courier New"/>
                <a:ea typeface="+mn-lt"/>
                <a:cs typeface="+mn-lt"/>
              </a:rPr>
              <a:t>button</a:t>
            </a:r>
            <a:r>
              <a:rPr lang="es-ES" b="1" dirty="0">
                <a:latin typeface="Courier New"/>
                <a:ea typeface="+mn-lt"/>
                <a:cs typeface="+mn-lt"/>
              </a:rPr>
              <a:t> </a:t>
            </a:r>
            <a:r>
              <a:rPr lang="es-ES" b="1" err="1">
                <a:latin typeface="Courier New"/>
                <a:ea typeface="+mn-lt"/>
                <a:cs typeface="+mn-lt"/>
              </a:rPr>
              <a:t>class</a:t>
            </a:r>
            <a:r>
              <a:rPr lang="es-ES" b="1" dirty="0">
                <a:latin typeface="Courier New"/>
                <a:ea typeface="+mn-lt"/>
                <a:cs typeface="+mn-lt"/>
              </a:rPr>
              <a:t>="</a:t>
            </a:r>
            <a:r>
              <a:rPr lang="es-ES" b="1" err="1">
                <a:latin typeface="Courier New"/>
                <a:ea typeface="+mn-lt"/>
                <a:cs typeface="+mn-lt"/>
              </a:rPr>
              <a:t>btn</a:t>
            </a:r>
            <a:r>
              <a:rPr lang="es-ES" b="1" dirty="0">
                <a:latin typeface="Courier New"/>
                <a:ea typeface="+mn-lt"/>
                <a:cs typeface="+mn-lt"/>
              </a:rPr>
              <a:t>"&gt;Mi botón en el </a:t>
            </a:r>
            <a:r>
              <a:rPr lang="es-ES" b="1" err="1">
                <a:latin typeface="Courier New"/>
                <a:ea typeface="+mn-lt"/>
                <a:cs typeface="+mn-lt"/>
              </a:rPr>
              <a:t>header</a:t>
            </a:r>
            <a:r>
              <a:rPr lang="es-ES" b="1" dirty="0">
                <a:latin typeface="Courier New"/>
                <a:ea typeface="+mn-lt"/>
                <a:cs typeface="+mn-lt"/>
              </a:rPr>
              <a:t>&lt;/</a:t>
            </a:r>
            <a:r>
              <a:rPr lang="es-ES" b="1" err="1">
                <a:latin typeface="Courier New"/>
                <a:ea typeface="+mn-lt"/>
                <a:cs typeface="+mn-lt"/>
              </a:rPr>
              <a:t>button</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&lt;/</a:t>
            </a:r>
            <a:r>
              <a:rPr lang="es-ES" b="1" err="1">
                <a:latin typeface="Courier New"/>
                <a:ea typeface="+mn-lt"/>
                <a:cs typeface="+mn-lt"/>
              </a:rPr>
              <a:t>header</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&lt;</a:t>
            </a:r>
            <a:r>
              <a:rPr lang="es-ES" b="1" err="1">
                <a:latin typeface="Courier New"/>
                <a:ea typeface="+mn-lt"/>
                <a:cs typeface="+mn-lt"/>
              </a:rPr>
              <a:t>div</a:t>
            </a:r>
            <a:r>
              <a:rPr lang="es-ES" b="1" dirty="0">
                <a:latin typeface="Courier New"/>
                <a:ea typeface="+mn-lt"/>
                <a:cs typeface="+mn-lt"/>
              </a:rPr>
              <a:t> </a:t>
            </a:r>
            <a:r>
              <a:rPr lang="es-ES" b="1" err="1">
                <a:latin typeface="Courier New"/>
                <a:ea typeface="+mn-lt"/>
                <a:cs typeface="+mn-lt"/>
              </a:rPr>
              <a:t>class</a:t>
            </a:r>
            <a:r>
              <a:rPr lang="es-ES" b="1" dirty="0">
                <a:latin typeface="Courier New"/>
                <a:ea typeface="+mn-lt"/>
                <a:cs typeface="+mn-lt"/>
              </a:rPr>
              <a:t>="</a:t>
            </a:r>
            <a:r>
              <a:rPr lang="es-ES" b="1" err="1">
                <a:latin typeface="Courier New"/>
                <a:ea typeface="+mn-lt"/>
                <a:cs typeface="+mn-lt"/>
              </a:rPr>
              <a:t>content</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a:t>
            </a:r>
            <a:r>
              <a:rPr lang="es-ES" b="1" err="1">
                <a:latin typeface="Courier New"/>
                <a:ea typeface="+mn-lt"/>
                <a:cs typeface="+mn-lt"/>
              </a:rPr>
              <a:t>button</a:t>
            </a:r>
            <a:r>
              <a:rPr lang="es-ES" b="1" dirty="0">
                <a:latin typeface="Courier New"/>
                <a:ea typeface="+mn-lt"/>
                <a:cs typeface="+mn-lt"/>
              </a:rPr>
              <a:t> </a:t>
            </a:r>
            <a:r>
              <a:rPr lang="es-ES" b="1" err="1">
                <a:latin typeface="Courier New"/>
                <a:ea typeface="+mn-lt"/>
                <a:cs typeface="+mn-lt"/>
              </a:rPr>
              <a:t>class</a:t>
            </a:r>
            <a:r>
              <a:rPr lang="es-ES" b="1" dirty="0">
                <a:latin typeface="Courier New"/>
                <a:ea typeface="+mn-lt"/>
                <a:cs typeface="+mn-lt"/>
              </a:rPr>
              <a:t>="</a:t>
            </a:r>
            <a:r>
              <a:rPr lang="es-ES" b="1" err="1">
                <a:latin typeface="Courier New"/>
                <a:ea typeface="+mn-lt"/>
                <a:cs typeface="+mn-lt"/>
              </a:rPr>
              <a:t>btn</a:t>
            </a:r>
            <a:r>
              <a:rPr lang="es-ES" b="1" dirty="0">
                <a:latin typeface="Courier New"/>
                <a:ea typeface="+mn-lt"/>
                <a:cs typeface="+mn-lt"/>
              </a:rPr>
              <a:t>"&gt;Mi botón en el contenido&lt;/</a:t>
            </a:r>
            <a:r>
              <a:rPr lang="es-ES" b="1" err="1">
                <a:latin typeface="Courier New"/>
                <a:ea typeface="+mn-lt"/>
                <a:cs typeface="+mn-lt"/>
              </a:rPr>
              <a:t>button</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&lt;/</a:t>
            </a:r>
            <a:r>
              <a:rPr lang="es-ES" b="1" err="1">
                <a:latin typeface="Courier New"/>
                <a:ea typeface="+mn-lt"/>
                <a:cs typeface="+mn-lt"/>
              </a:rPr>
              <a:t>div</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CSS (Incorrecto según OOCSS)</a:t>
            </a:r>
            <a:br>
              <a:rPr lang="es-ES" b="1" dirty="0">
                <a:latin typeface="Courier New"/>
                <a:ea typeface="+mn-lt"/>
                <a:cs typeface="+mn-lt"/>
              </a:rPr>
            </a:br>
            <a:r>
              <a:rPr lang="es-ES" b="1" dirty="0">
                <a:latin typeface="Courier New"/>
                <a:ea typeface="+mn-lt"/>
                <a:cs typeface="+mn-lt"/>
              </a:rPr>
              <a:t>/* Los estilos del botón dependen del contenedor */</a:t>
            </a:r>
            <a:br>
              <a:rPr lang="es-ES" b="1" dirty="0">
                <a:latin typeface="Courier New"/>
                <a:ea typeface="+mn-lt"/>
                <a:cs typeface="+mn-lt"/>
              </a:rPr>
            </a:br>
            <a:r>
              <a:rPr lang="es-ES" b="1" dirty="0">
                <a:latin typeface="Courier New"/>
                <a:ea typeface="+mn-lt"/>
                <a:cs typeface="+mn-lt"/>
              </a:rPr>
              <a:t>.page-</a:t>
            </a:r>
            <a:r>
              <a:rPr lang="es-ES" b="1" err="1">
                <a:latin typeface="Courier New"/>
                <a:ea typeface="+mn-lt"/>
                <a:cs typeface="+mn-lt"/>
              </a:rPr>
              <a:t>header</a:t>
            </a:r>
            <a:r>
              <a:rPr lang="es-ES" b="1" dirty="0">
                <a:latin typeface="Courier New"/>
                <a:ea typeface="+mn-lt"/>
                <a:cs typeface="+mn-lt"/>
              </a:rPr>
              <a:t> .</a:t>
            </a:r>
            <a:r>
              <a:rPr lang="es-ES" b="1" err="1">
                <a:latin typeface="Courier New"/>
                <a:ea typeface="+mn-lt"/>
                <a:cs typeface="+mn-lt"/>
              </a:rPr>
              <a:t>btn</a:t>
            </a: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background</a:t>
            </a:r>
            <a:r>
              <a:rPr lang="es-ES" b="1" dirty="0">
                <a:latin typeface="Courier New"/>
                <a:ea typeface="+mn-lt"/>
                <a:cs typeface="+mn-lt"/>
              </a:rPr>
              <a:t>-color: #f00;</a:t>
            </a:r>
            <a:br>
              <a:rPr lang="es-ES" b="1" dirty="0">
                <a:latin typeface="Courier New"/>
                <a:ea typeface="+mn-lt"/>
                <a:cs typeface="+mn-lt"/>
              </a:rPr>
            </a:b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CSS (Correcto según OOCSS)</a:t>
            </a:r>
            <a:br>
              <a:rPr lang="es-ES" b="1" dirty="0">
                <a:latin typeface="Courier New"/>
                <a:ea typeface="+mn-lt"/>
                <a:cs typeface="+mn-lt"/>
              </a:rPr>
            </a:br>
            <a:r>
              <a:rPr lang="es-ES" b="1" dirty="0">
                <a:latin typeface="Courier New"/>
                <a:ea typeface="+mn-lt"/>
                <a:cs typeface="+mn-lt"/>
              </a:rPr>
              <a:t>/* El estilo del botón es independiente */</a:t>
            </a:r>
            <a:br>
              <a:rPr lang="es-ES" b="1" dirty="0">
                <a:latin typeface="Courier New"/>
                <a:ea typeface="+mn-lt"/>
                <a:cs typeface="+mn-lt"/>
              </a:rPr>
            </a:br>
            <a:r>
              <a:rPr lang="es-ES" b="1" dirty="0">
                <a:latin typeface="Courier New"/>
                <a:ea typeface="+mn-lt"/>
                <a:cs typeface="+mn-lt"/>
              </a:rPr>
              <a:t>.</a:t>
            </a:r>
            <a:r>
              <a:rPr lang="es-ES" b="1" err="1">
                <a:latin typeface="Courier New"/>
                <a:ea typeface="+mn-lt"/>
                <a:cs typeface="+mn-lt"/>
              </a:rPr>
              <a:t>btn</a:t>
            </a:r>
            <a:r>
              <a:rPr lang="es-ES" b="1" dirty="0">
                <a:latin typeface="Courier New"/>
                <a:ea typeface="+mn-lt"/>
                <a:cs typeface="+mn-lt"/>
              </a:rPr>
              <a:t>--</a:t>
            </a:r>
            <a:r>
              <a:rPr lang="es-ES" b="1" err="1">
                <a:latin typeface="Courier New"/>
                <a:ea typeface="+mn-lt"/>
                <a:cs typeface="+mn-lt"/>
              </a:rPr>
              <a:t>header</a:t>
            </a: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background</a:t>
            </a:r>
            <a:r>
              <a:rPr lang="es-ES" b="1" dirty="0">
                <a:latin typeface="Courier New"/>
                <a:ea typeface="+mn-lt"/>
                <a:cs typeface="+mn-lt"/>
              </a:rPr>
              <a:t>-color: #f00;</a:t>
            </a:r>
            <a:br>
              <a:rPr lang="es-ES" b="1" dirty="0">
                <a:latin typeface="Courier New"/>
                <a:ea typeface="+mn-lt"/>
                <a:cs typeface="+mn-lt"/>
              </a:rPr>
            </a:br>
            <a:r>
              <a:rPr lang="es-ES" b="1" dirty="0">
                <a:latin typeface="Courier New"/>
                <a:ea typeface="+mn-lt"/>
                <a:cs typeface="+mn-lt"/>
              </a:rPr>
              <a:t>}</a:t>
            </a:r>
            <a:endParaRPr lang="es-ES" b="1" dirty="0">
              <a:latin typeface="Courier New"/>
              <a:cs typeface="Courier New"/>
            </a:endParaRPr>
          </a:p>
        </p:txBody>
      </p:sp>
    </p:spTree>
    <p:extLst>
      <p:ext uri="{BB962C8B-B14F-4D97-AF65-F5344CB8AC3E}">
        <p14:creationId xmlns:p14="http://schemas.microsoft.com/office/powerpoint/2010/main" val="3769148572"/>
      </p:ext>
    </p:extLst>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16EA84-271F-9AB1-AE4F-8EC08D5121B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2639A80-3C59-38C3-563B-25345E0FBEBD}"/>
              </a:ext>
            </a:extLst>
          </p:cNvPr>
          <p:cNvSpPr>
            <a:spLocks noGrp="1"/>
          </p:cNvSpPr>
          <p:nvPr>
            <p:ph type="title"/>
          </p:nvPr>
        </p:nvSpPr>
        <p:spPr/>
        <p:txBody>
          <a:bodyPr/>
          <a:lstStyle/>
          <a:p>
            <a:r>
              <a:rPr lang="es-ES" b="0" dirty="0">
                <a:ea typeface="+mj-lt"/>
                <a:cs typeface="+mj-lt"/>
              </a:rPr>
              <a:t>2.4.6.2. Metodologías CSS (BEM, SMACSS).</a:t>
            </a:r>
            <a:endParaRPr lang="es-ES" dirty="0"/>
          </a:p>
        </p:txBody>
      </p:sp>
      <p:sp>
        <p:nvSpPr>
          <p:cNvPr id="3" name="Marcador de contenido 2">
            <a:extLst>
              <a:ext uri="{FF2B5EF4-FFF2-40B4-BE49-F238E27FC236}">
                <a16:creationId xmlns:a16="http://schemas.microsoft.com/office/drawing/2014/main" id="{36449CDA-7762-0156-B6E4-D3F744CC4B0F}"/>
              </a:ext>
            </a:extLst>
          </p:cNvPr>
          <p:cNvSpPr>
            <a:spLocks noGrp="1"/>
          </p:cNvSpPr>
          <p:nvPr>
            <p:ph idx="1"/>
          </p:nvPr>
        </p:nvSpPr>
        <p:spPr/>
        <p:txBody>
          <a:bodyPr vert="horz" lIns="91440" tIns="45720" rIns="91440" bIns="45720" rtlCol="0" anchor="t">
            <a:normAutofit/>
          </a:bodyPr>
          <a:lstStyle/>
          <a:p>
            <a:r>
              <a:rPr lang="es-ES" dirty="0">
                <a:ea typeface="+mn-lt"/>
                <a:cs typeface="+mn-lt"/>
              </a:rPr>
              <a:t>Al aplicar una clase específica como .</a:t>
            </a:r>
            <a:r>
              <a:rPr lang="es-ES" dirty="0" err="1">
                <a:ea typeface="+mn-lt"/>
                <a:cs typeface="+mn-lt"/>
              </a:rPr>
              <a:t>btn</a:t>
            </a:r>
            <a:r>
              <a:rPr lang="es-ES" dirty="0">
                <a:ea typeface="+mn-lt"/>
                <a:cs typeface="+mn-lt"/>
              </a:rPr>
              <a:t>--</a:t>
            </a:r>
            <a:r>
              <a:rPr lang="es-ES" dirty="0" err="1">
                <a:ea typeface="+mn-lt"/>
                <a:cs typeface="+mn-lt"/>
              </a:rPr>
              <a:t>header</a:t>
            </a:r>
            <a:r>
              <a:rPr lang="es-ES" dirty="0">
                <a:ea typeface="+mn-lt"/>
                <a:cs typeface="+mn-lt"/>
              </a:rPr>
              <a:t> en lugar de un selector de descendencia, el botón se vuelve un objeto independiente que podría ser utilizado en cualquier lugar.</a:t>
            </a:r>
          </a:p>
          <a:p>
            <a:r>
              <a:rPr lang="es-ES" dirty="0">
                <a:ea typeface="+mn-lt"/>
                <a:cs typeface="+mn-lt"/>
              </a:rPr>
              <a:t>Ventajas de usar OOCSS</a:t>
            </a:r>
            <a:endParaRPr lang="es-ES"/>
          </a:p>
          <a:p>
            <a:pPr lvl="1">
              <a:buFont typeface="Courier New" panose="020B0604020202020204" pitchFamily="34" charset="0"/>
              <a:buChar char="o"/>
            </a:pPr>
            <a:r>
              <a:rPr lang="es-ES" dirty="0">
                <a:ea typeface="+mn-lt"/>
                <a:cs typeface="+mn-lt"/>
              </a:rPr>
              <a:t>Reutilización: Se pueden crear componentes y módulos que se reutilizan en toda la aplicación, reduciendo la cantidad de código duplicado.</a:t>
            </a:r>
          </a:p>
          <a:p>
            <a:pPr lvl="1">
              <a:buFont typeface="Courier New" panose="020B0604020202020204" pitchFamily="34" charset="0"/>
              <a:buChar char="o"/>
            </a:pPr>
            <a:r>
              <a:rPr lang="es-ES" dirty="0">
                <a:ea typeface="+mn-lt"/>
                <a:cs typeface="+mn-lt"/>
              </a:rPr>
              <a:t>Mantenibilidad: Es más fácil de depurar y mantener porque los cambios en un objeto no afectarán a otros elementos del DOM.</a:t>
            </a:r>
          </a:p>
          <a:p>
            <a:pPr lvl="1">
              <a:buFont typeface="Courier New" panose="020B0604020202020204" pitchFamily="34" charset="0"/>
              <a:buChar char="o"/>
            </a:pPr>
            <a:r>
              <a:rPr lang="es-ES" dirty="0">
                <a:ea typeface="+mn-lt"/>
                <a:cs typeface="+mn-lt"/>
              </a:rPr>
              <a:t>Rendimiento: Un código más limpio y con menos selectores complejos se traduce en un tamaño de archivo más pequeño y una carga más rápida de la página.</a:t>
            </a:r>
            <a:endParaRPr lang="es-ES" dirty="0"/>
          </a:p>
        </p:txBody>
      </p:sp>
    </p:spTree>
    <p:extLst>
      <p:ext uri="{BB962C8B-B14F-4D97-AF65-F5344CB8AC3E}">
        <p14:creationId xmlns:p14="http://schemas.microsoft.com/office/powerpoint/2010/main" val="656081783"/>
      </p:ext>
    </p:extLst>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E9203-47F6-170A-6156-3254443281C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25A8C89-04FC-43EC-DE72-7D38A13FAFCF}"/>
              </a:ext>
            </a:extLst>
          </p:cNvPr>
          <p:cNvSpPr>
            <a:spLocks noGrp="1"/>
          </p:cNvSpPr>
          <p:nvPr>
            <p:ph type="title"/>
          </p:nvPr>
        </p:nvSpPr>
        <p:spPr/>
        <p:txBody>
          <a:bodyPr/>
          <a:lstStyle/>
          <a:p>
            <a:r>
              <a:rPr lang="es-ES" b="0" dirty="0">
                <a:ea typeface="+mj-lt"/>
                <a:cs typeface="+mj-lt"/>
              </a:rPr>
              <a:t>2.4.6.2. Metodologías CSS (BEM, SMACSS).</a:t>
            </a:r>
            <a:endParaRPr lang="es-ES" dirty="0"/>
          </a:p>
        </p:txBody>
      </p:sp>
      <p:sp>
        <p:nvSpPr>
          <p:cNvPr id="3" name="Marcador de contenido 2">
            <a:extLst>
              <a:ext uri="{FF2B5EF4-FFF2-40B4-BE49-F238E27FC236}">
                <a16:creationId xmlns:a16="http://schemas.microsoft.com/office/drawing/2014/main" id="{A4E5DBB9-0668-480B-A54C-E9D3D709222F}"/>
              </a:ext>
            </a:extLst>
          </p:cNvPr>
          <p:cNvSpPr>
            <a:spLocks noGrp="1"/>
          </p:cNvSpPr>
          <p:nvPr>
            <p:ph idx="1"/>
          </p:nvPr>
        </p:nvSpPr>
        <p:spPr/>
        <p:txBody>
          <a:bodyPr vert="horz" lIns="91440" tIns="45720" rIns="91440" bIns="45720" rtlCol="0" anchor="t">
            <a:normAutofit fontScale="77500" lnSpcReduction="20000"/>
          </a:bodyPr>
          <a:lstStyle/>
          <a:p>
            <a:r>
              <a:rPr lang="es-ES" dirty="0">
                <a:ea typeface="+mn-lt"/>
                <a:cs typeface="+mn-lt"/>
              </a:rPr>
              <a:t>SMACSS es una metodología de organización para hojas de estilo CSS. A diferencia de BEM u OOCSS, que se centran en la nomenclatura de las clases, SMACSS se enfoca en la organización y arquitectura del código. Propone categorizar las reglas de estilo en cinco tipos principales para crear un sistema de estilos más escalable y fácil de mantener.</a:t>
            </a:r>
            <a:endParaRPr lang="es-ES" dirty="0"/>
          </a:p>
          <a:p>
            <a:r>
              <a:rPr lang="es-ES" dirty="0">
                <a:ea typeface="+mn-lt"/>
                <a:cs typeface="+mn-lt"/>
              </a:rPr>
              <a:t>Los objetivos principales de SMACSS son:</a:t>
            </a:r>
            <a:endParaRPr lang="es-ES" dirty="0"/>
          </a:p>
          <a:p>
            <a:pPr lvl="1">
              <a:buFont typeface="Courier New" panose="020B0604020202020204" pitchFamily="34" charset="0"/>
              <a:buChar char="o"/>
            </a:pPr>
            <a:r>
              <a:rPr lang="es-ES" dirty="0">
                <a:ea typeface="+mn-lt"/>
                <a:cs typeface="+mn-lt"/>
              </a:rPr>
              <a:t>Reducir el acoplamiento entre los componentes.</a:t>
            </a:r>
            <a:endParaRPr lang="es-ES"/>
          </a:p>
          <a:p>
            <a:pPr lvl="1">
              <a:buFont typeface="Courier New" panose="020B0604020202020204" pitchFamily="34" charset="0"/>
              <a:buChar char="o"/>
            </a:pPr>
            <a:r>
              <a:rPr lang="es-ES" dirty="0">
                <a:ea typeface="+mn-lt"/>
                <a:cs typeface="+mn-lt"/>
              </a:rPr>
              <a:t>Evitar la especificidad excesiva.</a:t>
            </a:r>
            <a:endParaRPr lang="es-ES"/>
          </a:p>
          <a:p>
            <a:pPr lvl="1">
              <a:buFont typeface="Courier New" panose="020B0604020202020204" pitchFamily="34" charset="0"/>
              <a:buChar char="o"/>
            </a:pPr>
            <a:r>
              <a:rPr lang="es-ES" dirty="0">
                <a:ea typeface="+mn-lt"/>
                <a:cs typeface="+mn-lt"/>
              </a:rPr>
              <a:t>Crear un sistema de estilos predecible y extensible.</a:t>
            </a:r>
          </a:p>
          <a:p>
            <a:r>
              <a:rPr lang="es-ES" dirty="0">
                <a:ea typeface="+mn-lt"/>
                <a:cs typeface="+mn-lt"/>
              </a:rPr>
              <a:t>Las 5 categorías de SMACSS</a:t>
            </a:r>
            <a:endParaRPr lang="es-ES" dirty="0"/>
          </a:p>
          <a:p>
            <a:pPr lvl="1">
              <a:buFont typeface="Courier New" panose="020B0604020202020204" pitchFamily="34" charset="0"/>
              <a:buChar char="o"/>
            </a:pPr>
            <a:r>
              <a:rPr lang="es-ES" dirty="0">
                <a:ea typeface="+mn-lt"/>
                <a:cs typeface="+mn-lt"/>
              </a:rPr>
              <a:t>Reglas Base: Son los estilos por defecto que se aplican directamente a las etiquetas HTML, como </a:t>
            </a:r>
            <a:r>
              <a:rPr lang="es-ES" dirty="0" err="1">
                <a:ea typeface="+mn-lt"/>
                <a:cs typeface="+mn-lt"/>
              </a:rPr>
              <a:t>body</a:t>
            </a:r>
            <a:r>
              <a:rPr lang="es-ES" dirty="0">
                <a:ea typeface="+mn-lt"/>
                <a:cs typeface="+mn-lt"/>
              </a:rPr>
              <a:t>, h1, a, etc. Suelen ser estilos de </a:t>
            </a:r>
            <a:r>
              <a:rPr lang="es-ES" dirty="0" err="1">
                <a:ea typeface="+mn-lt"/>
                <a:cs typeface="+mn-lt"/>
              </a:rPr>
              <a:t>reset</a:t>
            </a:r>
            <a:r>
              <a:rPr lang="es-ES" dirty="0">
                <a:ea typeface="+mn-lt"/>
                <a:cs typeface="+mn-lt"/>
              </a:rPr>
              <a:t> o normalización y no se usan clases ni </a:t>
            </a:r>
            <a:r>
              <a:rPr lang="es-ES" dirty="0" err="1">
                <a:ea typeface="+mn-lt"/>
                <a:cs typeface="+mn-lt"/>
              </a:rPr>
              <a:t>IDs</a:t>
            </a:r>
            <a:r>
              <a:rPr lang="es-ES" dirty="0">
                <a:ea typeface="+mn-lt"/>
                <a:cs typeface="+mn-lt"/>
              </a:rPr>
              <a:t>.</a:t>
            </a:r>
          </a:p>
          <a:p>
            <a:pPr marL="0" indent="0">
              <a:buNone/>
            </a:pPr>
            <a:r>
              <a:rPr lang="es-ES" b="1" dirty="0">
                <a:latin typeface="Courier New"/>
                <a:ea typeface="+mn-lt"/>
                <a:cs typeface="+mn-lt"/>
              </a:rPr>
              <a:t>h1 {</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font-size</a:t>
            </a:r>
            <a:r>
              <a:rPr lang="es-ES" b="1" dirty="0">
                <a:latin typeface="Courier New"/>
                <a:ea typeface="+mn-lt"/>
                <a:cs typeface="+mn-lt"/>
              </a:rPr>
              <a:t>: 2.5rem;</a:t>
            </a:r>
            <a:br>
              <a:rPr lang="es-ES" b="1" dirty="0">
                <a:latin typeface="Courier New"/>
                <a:ea typeface="+mn-lt"/>
                <a:cs typeface="+mn-lt"/>
              </a:rPr>
            </a:b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a {</a:t>
            </a:r>
            <a:br>
              <a:rPr lang="es-ES" b="1" dirty="0">
                <a:latin typeface="Courier New"/>
                <a:ea typeface="+mn-lt"/>
                <a:cs typeface="+mn-lt"/>
              </a:rPr>
            </a:br>
            <a:r>
              <a:rPr lang="es-ES" b="1" dirty="0">
                <a:latin typeface="Courier New"/>
                <a:ea typeface="+mn-lt"/>
                <a:cs typeface="+mn-lt"/>
              </a:rPr>
              <a:t>  color: #007bff;</a:t>
            </a:r>
            <a:br>
              <a:rPr lang="es-ES" b="1" dirty="0">
                <a:latin typeface="Courier New"/>
                <a:ea typeface="+mn-lt"/>
                <a:cs typeface="+mn-lt"/>
              </a:rPr>
            </a:br>
            <a:r>
              <a:rPr lang="es-ES" b="1" dirty="0">
                <a:latin typeface="Courier New"/>
                <a:ea typeface="+mn-lt"/>
                <a:cs typeface="+mn-lt"/>
              </a:rPr>
              <a:t>}</a:t>
            </a:r>
            <a:endParaRPr lang="es-ES" b="1" dirty="0">
              <a:latin typeface="Courier New"/>
              <a:cs typeface="Courier New"/>
            </a:endParaRPr>
          </a:p>
          <a:p>
            <a:endParaRPr lang="es-ES" dirty="0"/>
          </a:p>
        </p:txBody>
      </p:sp>
    </p:spTree>
    <p:extLst>
      <p:ext uri="{BB962C8B-B14F-4D97-AF65-F5344CB8AC3E}">
        <p14:creationId xmlns:p14="http://schemas.microsoft.com/office/powerpoint/2010/main" val="2291404697"/>
      </p:ext>
    </p:extLst>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F977A4-DBD6-5573-E91A-C2ABF7E6E20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D3FE472-750B-E83D-208B-8F74B9020117}"/>
              </a:ext>
            </a:extLst>
          </p:cNvPr>
          <p:cNvSpPr>
            <a:spLocks noGrp="1"/>
          </p:cNvSpPr>
          <p:nvPr>
            <p:ph type="title"/>
          </p:nvPr>
        </p:nvSpPr>
        <p:spPr/>
        <p:txBody>
          <a:bodyPr/>
          <a:lstStyle/>
          <a:p>
            <a:r>
              <a:rPr lang="es-ES" b="0" dirty="0">
                <a:ea typeface="+mj-lt"/>
                <a:cs typeface="+mj-lt"/>
              </a:rPr>
              <a:t>2.4.6.2. Metodologías CSS (BEM, SMACSS).</a:t>
            </a:r>
            <a:endParaRPr lang="es-ES" dirty="0"/>
          </a:p>
        </p:txBody>
      </p:sp>
      <p:sp>
        <p:nvSpPr>
          <p:cNvPr id="3" name="Marcador de contenido 2">
            <a:extLst>
              <a:ext uri="{FF2B5EF4-FFF2-40B4-BE49-F238E27FC236}">
                <a16:creationId xmlns:a16="http://schemas.microsoft.com/office/drawing/2014/main" id="{21DDCE38-67F9-0537-0FBE-74433897C65B}"/>
              </a:ext>
            </a:extLst>
          </p:cNvPr>
          <p:cNvSpPr>
            <a:spLocks noGrp="1"/>
          </p:cNvSpPr>
          <p:nvPr>
            <p:ph idx="1"/>
          </p:nvPr>
        </p:nvSpPr>
        <p:spPr/>
        <p:txBody>
          <a:bodyPr vert="horz" lIns="91440" tIns="45720" rIns="91440" bIns="45720" rtlCol="0" anchor="t">
            <a:normAutofit/>
          </a:bodyPr>
          <a:lstStyle/>
          <a:p>
            <a:pPr lvl="1">
              <a:buFont typeface="Courier New" panose="020B0604020202020204" pitchFamily="34" charset="0"/>
              <a:buChar char="o"/>
            </a:pPr>
            <a:r>
              <a:rPr lang="es-ES" dirty="0">
                <a:ea typeface="+mn-lt"/>
                <a:cs typeface="+mn-lt"/>
              </a:rPr>
              <a:t>Reglas de </a:t>
            </a:r>
            <a:r>
              <a:rPr lang="es-ES" dirty="0" err="1">
                <a:ea typeface="+mn-lt"/>
                <a:cs typeface="+mn-lt"/>
              </a:rPr>
              <a:t>Layout</a:t>
            </a:r>
            <a:r>
              <a:rPr lang="es-ES" dirty="0">
                <a:ea typeface="+mn-lt"/>
                <a:cs typeface="+mn-lt"/>
              </a:rPr>
              <a:t>: Definen la estructura principal de la página, dividiéndola en secciones mayores como </a:t>
            </a:r>
            <a:r>
              <a:rPr lang="es-ES" dirty="0" err="1">
                <a:ea typeface="+mn-lt"/>
                <a:cs typeface="+mn-lt"/>
              </a:rPr>
              <a:t>header</a:t>
            </a:r>
            <a:r>
              <a:rPr lang="es-ES" dirty="0">
                <a:ea typeface="+mn-lt"/>
                <a:cs typeface="+mn-lt"/>
              </a:rPr>
              <a:t>, </a:t>
            </a:r>
            <a:r>
              <a:rPr lang="es-ES" dirty="0" err="1">
                <a:ea typeface="+mn-lt"/>
                <a:cs typeface="+mn-lt"/>
              </a:rPr>
              <a:t>footer</a:t>
            </a:r>
            <a:r>
              <a:rPr lang="es-ES" dirty="0">
                <a:ea typeface="+mn-lt"/>
                <a:cs typeface="+mn-lt"/>
              </a:rPr>
              <a:t>, </a:t>
            </a:r>
            <a:r>
              <a:rPr lang="es-ES" dirty="0" err="1">
                <a:ea typeface="+mn-lt"/>
                <a:cs typeface="+mn-lt"/>
              </a:rPr>
              <a:t>sidebar</a:t>
            </a:r>
            <a:r>
              <a:rPr lang="es-ES" dirty="0">
                <a:ea typeface="+mn-lt"/>
                <a:cs typeface="+mn-lt"/>
              </a:rPr>
              <a:t> o </a:t>
            </a:r>
            <a:r>
              <a:rPr lang="es-ES" dirty="0" err="1">
                <a:ea typeface="+mn-lt"/>
                <a:cs typeface="+mn-lt"/>
              </a:rPr>
              <a:t>grid</a:t>
            </a:r>
            <a:r>
              <a:rPr lang="es-ES" dirty="0">
                <a:ea typeface="+mn-lt"/>
                <a:cs typeface="+mn-lt"/>
              </a:rPr>
              <a:t>. Se pueden usar selectores de ID o clases con un prefijo para identificarlas fácilmente, como l- o </a:t>
            </a:r>
            <a:r>
              <a:rPr lang="es-ES" dirty="0" err="1">
                <a:ea typeface="+mn-lt"/>
                <a:cs typeface="+mn-lt"/>
              </a:rPr>
              <a:t>layout</a:t>
            </a:r>
            <a:r>
              <a:rPr lang="es-ES" dirty="0">
                <a:ea typeface="+mn-lt"/>
                <a:cs typeface="+mn-lt"/>
              </a:rPr>
              <a:t>-.</a:t>
            </a:r>
          </a:p>
          <a:p>
            <a:pPr marL="0" indent="0">
              <a:buNone/>
            </a:pPr>
            <a:r>
              <a:rPr lang="es-ES" b="1" dirty="0">
                <a:latin typeface="Courier New"/>
                <a:ea typeface="+mn-lt"/>
                <a:cs typeface="+mn-lt"/>
              </a:rPr>
              <a:t>.l-</a:t>
            </a:r>
            <a:r>
              <a:rPr lang="es-ES" b="1" err="1">
                <a:latin typeface="Courier New"/>
                <a:ea typeface="+mn-lt"/>
                <a:cs typeface="+mn-lt"/>
              </a:rPr>
              <a:t>header</a:t>
            </a: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width</a:t>
            </a:r>
            <a:r>
              <a:rPr lang="es-ES" b="1" dirty="0">
                <a:latin typeface="Courier New"/>
                <a:ea typeface="+mn-lt"/>
                <a:cs typeface="+mn-lt"/>
              </a:rPr>
              <a:t>: 100%;</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display</a:t>
            </a:r>
            <a:r>
              <a:rPr lang="es-ES" b="1" dirty="0">
                <a:latin typeface="Courier New"/>
                <a:ea typeface="+mn-lt"/>
                <a:cs typeface="+mn-lt"/>
              </a:rPr>
              <a:t>: </a:t>
            </a:r>
            <a:r>
              <a:rPr lang="es-ES" b="1" err="1">
                <a:latin typeface="Courier New"/>
                <a:ea typeface="+mn-lt"/>
                <a:cs typeface="+mn-lt"/>
              </a:rPr>
              <a:t>flex</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.l-</a:t>
            </a:r>
            <a:r>
              <a:rPr lang="es-ES" b="1" err="1">
                <a:latin typeface="Courier New"/>
                <a:ea typeface="+mn-lt"/>
                <a:cs typeface="+mn-lt"/>
              </a:rPr>
              <a:t>sidebar</a:t>
            </a: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width</a:t>
            </a:r>
            <a:r>
              <a:rPr lang="es-ES" b="1" dirty="0">
                <a:latin typeface="Courier New"/>
                <a:ea typeface="+mn-lt"/>
                <a:cs typeface="+mn-lt"/>
              </a:rPr>
              <a:t>: 300px;</a:t>
            </a:r>
            <a:br>
              <a:rPr lang="es-ES" b="1" dirty="0">
                <a:latin typeface="Courier New"/>
                <a:ea typeface="+mn-lt"/>
                <a:cs typeface="+mn-lt"/>
              </a:rPr>
            </a:br>
            <a:r>
              <a:rPr lang="es-ES" b="1" dirty="0">
                <a:latin typeface="Courier New"/>
                <a:ea typeface="+mn-lt"/>
                <a:cs typeface="+mn-lt"/>
              </a:rPr>
              <a:t>}</a:t>
            </a:r>
          </a:p>
          <a:p>
            <a:endParaRPr lang="es-ES" dirty="0"/>
          </a:p>
        </p:txBody>
      </p:sp>
    </p:spTree>
    <p:extLst>
      <p:ext uri="{BB962C8B-B14F-4D97-AF65-F5344CB8AC3E}">
        <p14:creationId xmlns:p14="http://schemas.microsoft.com/office/powerpoint/2010/main" val="443064381"/>
      </p:ext>
    </p:extLst>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F2A99E-CBBA-5F15-4379-1E42ABFCFBB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95F8185-BADE-32DC-8BCB-17B7E5F14F91}"/>
              </a:ext>
            </a:extLst>
          </p:cNvPr>
          <p:cNvSpPr>
            <a:spLocks noGrp="1"/>
          </p:cNvSpPr>
          <p:nvPr>
            <p:ph type="title"/>
          </p:nvPr>
        </p:nvSpPr>
        <p:spPr/>
        <p:txBody>
          <a:bodyPr/>
          <a:lstStyle/>
          <a:p>
            <a:r>
              <a:rPr lang="es-ES" b="0" dirty="0">
                <a:ea typeface="+mj-lt"/>
                <a:cs typeface="+mj-lt"/>
              </a:rPr>
              <a:t>2.4.6.2. Metodologías CSS (BEM, SMACSS).</a:t>
            </a:r>
            <a:endParaRPr lang="es-ES" dirty="0"/>
          </a:p>
        </p:txBody>
      </p:sp>
      <p:sp>
        <p:nvSpPr>
          <p:cNvPr id="3" name="Marcador de contenido 2">
            <a:extLst>
              <a:ext uri="{FF2B5EF4-FFF2-40B4-BE49-F238E27FC236}">
                <a16:creationId xmlns:a16="http://schemas.microsoft.com/office/drawing/2014/main" id="{CF44EEA3-40F0-3368-E630-8C4BDE75741B}"/>
              </a:ext>
            </a:extLst>
          </p:cNvPr>
          <p:cNvSpPr>
            <a:spLocks noGrp="1"/>
          </p:cNvSpPr>
          <p:nvPr>
            <p:ph idx="1"/>
          </p:nvPr>
        </p:nvSpPr>
        <p:spPr/>
        <p:txBody>
          <a:bodyPr vert="horz" lIns="91440" tIns="45720" rIns="91440" bIns="45720" rtlCol="0" anchor="t">
            <a:normAutofit/>
          </a:bodyPr>
          <a:lstStyle/>
          <a:p>
            <a:pPr lvl="1">
              <a:buFont typeface="Courier New" panose="020B0604020202020204" pitchFamily="34" charset="0"/>
              <a:buChar char="o"/>
            </a:pPr>
            <a:r>
              <a:rPr lang="es-ES" dirty="0">
                <a:ea typeface="+mn-lt"/>
                <a:cs typeface="+mn-lt"/>
              </a:rPr>
              <a:t>Módulos: Son los componentes reutilizables de la página, como un </a:t>
            </a:r>
            <a:r>
              <a:rPr lang="es-ES" err="1">
                <a:ea typeface="+mn-lt"/>
                <a:cs typeface="+mn-lt"/>
              </a:rPr>
              <a:t>card</a:t>
            </a:r>
            <a:r>
              <a:rPr lang="es-ES" dirty="0">
                <a:ea typeface="+mn-lt"/>
                <a:cs typeface="+mn-lt"/>
              </a:rPr>
              <a:t>, un </a:t>
            </a:r>
            <a:r>
              <a:rPr lang="es-ES" err="1">
                <a:ea typeface="+mn-lt"/>
                <a:cs typeface="+mn-lt"/>
              </a:rPr>
              <a:t>button</a:t>
            </a:r>
            <a:r>
              <a:rPr lang="es-ES" dirty="0">
                <a:ea typeface="+mn-lt"/>
                <a:cs typeface="+mn-lt"/>
              </a:rPr>
              <a:t>, un </a:t>
            </a:r>
            <a:r>
              <a:rPr lang="es-ES" err="1">
                <a:ea typeface="+mn-lt"/>
                <a:cs typeface="+mn-lt"/>
              </a:rPr>
              <a:t>form</a:t>
            </a:r>
            <a:r>
              <a:rPr lang="es-ES" dirty="0">
                <a:ea typeface="+mn-lt"/>
                <a:cs typeface="+mn-lt"/>
              </a:rPr>
              <a:t> o un </a:t>
            </a:r>
            <a:r>
              <a:rPr lang="es-ES" err="1">
                <a:ea typeface="+mn-lt"/>
                <a:cs typeface="+mn-lt"/>
              </a:rPr>
              <a:t>nav</a:t>
            </a:r>
            <a:r>
              <a:rPr lang="es-ES" dirty="0">
                <a:ea typeface="+mn-lt"/>
                <a:cs typeface="+mn-lt"/>
              </a:rPr>
              <a:t>. Los estilos de los módulos deben ser independientes de su ubicación en el </a:t>
            </a:r>
            <a:r>
              <a:rPr lang="es-ES" err="1">
                <a:ea typeface="+mn-lt"/>
                <a:cs typeface="+mn-lt"/>
              </a:rPr>
              <a:t>layout</a:t>
            </a:r>
            <a:r>
              <a:rPr lang="es-ES" dirty="0">
                <a:ea typeface="+mn-lt"/>
                <a:cs typeface="+mn-lt"/>
              </a:rPr>
              <a:t>. El nombre de sus clases debe ser descriptivo, como .</a:t>
            </a:r>
            <a:r>
              <a:rPr lang="es-ES" err="1">
                <a:ea typeface="+mn-lt"/>
                <a:cs typeface="+mn-lt"/>
              </a:rPr>
              <a:t>card</a:t>
            </a:r>
            <a:r>
              <a:rPr lang="es-ES" dirty="0">
                <a:ea typeface="+mn-lt"/>
                <a:cs typeface="+mn-lt"/>
              </a:rPr>
              <a:t> o .</a:t>
            </a:r>
            <a:r>
              <a:rPr lang="es-ES" err="1">
                <a:ea typeface="+mn-lt"/>
                <a:cs typeface="+mn-lt"/>
              </a:rPr>
              <a:t>btn</a:t>
            </a:r>
            <a:r>
              <a:rPr lang="es-ES" dirty="0">
                <a:ea typeface="+mn-lt"/>
                <a:cs typeface="+mn-lt"/>
              </a:rPr>
              <a:t>.</a:t>
            </a:r>
            <a:endParaRPr lang="es-ES"/>
          </a:p>
          <a:p>
            <a:pPr marL="0" indent="0">
              <a:buNone/>
            </a:pPr>
            <a:r>
              <a:rPr lang="es-ES" b="1" dirty="0">
                <a:latin typeface="Courier New"/>
                <a:ea typeface="+mn-lt"/>
                <a:cs typeface="+mn-lt"/>
              </a:rPr>
              <a:t>.</a:t>
            </a:r>
            <a:r>
              <a:rPr lang="es-ES" b="1" err="1">
                <a:latin typeface="Courier New"/>
                <a:ea typeface="+mn-lt"/>
                <a:cs typeface="+mn-lt"/>
              </a:rPr>
              <a:t>card</a:t>
            </a: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border</a:t>
            </a:r>
            <a:r>
              <a:rPr lang="es-ES" b="1" dirty="0">
                <a:latin typeface="Courier New"/>
                <a:ea typeface="+mn-lt"/>
                <a:cs typeface="+mn-lt"/>
              </a:rPr>
              <a:t>: 1px </a:t>
            </a:r>
            <a:r>
              <a:rPr lang="es-ES" b="1" err="1">
                <a:latin typeface="Courier New"/>
                <a:ea typeface="+mn-lt"/>
                <a:cs typeface="+mn-lt"/>
              </a:rPr>
              <a:t>solid</a:t>
            </a:r>
            <a:r>
              <a:rPr lang="es-ES" b="1" dirty="0">
                <a:latin typeface="Courier New"/>
                <a:ea typeface="+mn-lt"/>
                <a:cs typeface="+mn-lt"/>
              </a:rPr>
              <a:t> #ccc;</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padding</a:t>
            </a:r>
            <a:r>
              <a:rPr lang="es-ES" b="1" dirty="0">
                <a:latin typeface="Courier New"/>
                <a:ea typeface="+mn-lt"/>
                <a:cs typeface="+mn-lt"/>
              </a:rPr>
              <a:t>: 1rem;</a:t>
            </a:r>
            <a:br>
              <a:rPr lang="es-ES" b="1" dirty="0">
                <a:latin typeface="Courier New"/>
                <a:ea typeface="+mn-lt"/>
                <a:cs typeface="+mn-lt"/>
              </a:rPr>
            </a:b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a:t>
            </a:r>
            <a:r>
              <a:rPr lang="es-ES" b="1" err="1">
                <a:latin typeface="Courier New"/>
                <a:ea typeface="+mn-lt"/>
                <a:cs typeface="+mn-lt"/>
              </a:rPr>
              <a:t>btn</a:t>
            </a: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padding</a:t>
            </a:r>
            <a:r>
              <a:rPr lang="es-ES" b="1" dirty="0">
                <a:latin typeface="Courier New"/>
                <a:ea typeface="+mn-lt"/>
                <a:cs typeface="+mn-lt"/>
              </a:rPr>
              <a:t>: 0.5rem 1rem;</a:t>
            </a:r>
            <a:br>
              <a:rPr lang="es-ES" b="1" dirty="0">
                <a:latin typeface="Courier New"/>
                <a:ea typeface="+mn-lt"/>
                <a:cs typeface="+mn-lt"/>
              </a:rPr>
            </a:br>
            <a:r>
              <a:rPr lang="es-ES" b="1" dirty="0">
                <a:latin typeface="Courier New"/>
                <a:ea typeface="+mn-lt"/>
                <a:cs typeface="+mn-lt"/>
              </a:rPr>
              <a:t>}</a:t>
            </a:r>
            <a:endParaRPr lang="es-ES" b="1" dirty="0">
              <a:latin typeface="Courier New"/>
              <a:cs typeface="Courier New"/>
            </a:endParaRPr>
          </a:p>
          <a:p>
            <a:endParaRPr lang="es-ES" dirty="0"/>
          </a:p>
        </p:txBody>
      </p:sp>
    </p:spTree>
    <p:extLst>
      <p:ext uri="{BB962C8B-B14F-4D97-AF65-F5344CB8AC3E}">
        <p14:creationId xmlns:p14="http://schemas.microsoft.com/office/powerpoint/2010/main" val="3082435948"/>
      </p:ext>
    </p:extLst>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C0E1C9-4CFF-F656-6403-0EDFF9FD0CF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2B757DB-8C1E-C06D-E04F-05232718BF6F}"/>
              </a:ext>
            </a:extLst>
          </p:cNvPr>
          <p:cNvSpPr>
            <a:spLocks noGrp="1"/>
          </p:cNvSpPr>
          <p:nvPr>
            <p:ph type="title"/>
          </p:nvPr>
        </p:nvSpPr>
        <p:spPr/>
        <p:txBody>
          <a:bodyPr/>
          <a:lstStyle/>
          <a:p>
            <a:r>
              <a:rPr lang="es-ES" b="0" dirty="0">
                <a:ea typeface="+mj-lt"/>
                <a:cs typeface="+mj-lt"/>
              </a:rPr>
              <a:t>2.4.6.2. Metodologías CSS (BEM, SMACSS).</a:t>
            </a:r>
            <a:endParaRPr lang="es-ES" dirty="0"/>
          </a:p>
        </p:txBody>
      </p:sp>
      <p:sp>
        <p:nvSpPr>
          <p:cNvPr id="3" name="Marcador de contenido 2">
            <a:extLst>
              <a:ext uri="{FF2B5EF4-FFF2-40B4-BE49-F238E27FC236}">
                <a16:creationId xmlns:a16="http://schemas.microsoft.com/office/drawing/2014/main" id="{D05C9A57-FC19-2575-A0A5-B636D283CB31}"/>
              </a:ext>
            </a:extLst>
          </p:cNvPr>
          <p:cNvSpPr>
            <a:spLocks noGrp="1"/>
          </p:cNvSpPr>
          <p:nvPr>
            <p:ph idx="1"/>
          </p:nvPr>
        </p:nvSpPr>
        <p:spPr/>
        <p:txBody>
          <a:bodyPr vert="horz" lIns="91440" tIns="45720" rIns="91440" bIns="45720" rtlCol="0" anchor="t">
            <a:normAutofit/>
          </a:bodyPr>
          <a:lstStyle/>
          <a:p>
            <a:pPr lvl="1">
              <a:buFont typeface="Courier New" panose="020B0604020202020204" pitchFamily="34" charset="0"/>
              <a:buChar char="o"/>
            </a:pPr>
            <a:r>
              <a:rPr lang="es-ES" dirty="0">
                <a:ea typeface="+mn-lt"/>
                <a:cs typeface="+mn-lt"/>
              </a:rPr>
              <a:t>Reglas de Estado: Describen cómo se ve un módulo o un </a:t>
            </a:r>
            <a:r>
              <a:rPr lang="es-ES" dirty="0" err="1">
                <a:ea typeface="+mn-lt"/>
                <a:cs typeface="+mn-lt"/>
              </a:rPr>
              <a:t>layout</a:t>
            </a:r>
            <a:r>
              <a:rPr lang="es-ES" dirty="0">
                <a:ea typeface="+mn-lt"/>
                <a:cs typeface="+mn-lt"/>
              </a:rPr>
              <a:t> en un estado particular. Las reglas de estado suelen cambiar la apariencia o el comportamiento de un módulo. Se usan con un prefijo, como </a:t>
            </a:r>
            <a:r>
              <a:rPr lang="es-ES" dirty="0" err="1">
                <a:ea typeface="+mn-lt"/>
                <a:cs typeface="+mn-lt"/>
              </a:rPr>
              <a:t>is</a:t>
            </a:r>
            <a:r>
              <a:rPr lang="es-ES" dirty="0">
                <a:ea typeface="+mn-lt"/>
                <a:cs typeface="+mn-lt"/>
              </a:rPr>
              <a:t>- o has-, para indicar el estado de forma clara.</a:t>
            </a:r>
          </a:p>
          <a:p>
            <a:pPr marL="0" indent="0">
              <a:buNone/>
            </a:pPr>
            <a:r>
              <a:rPr lang="es-ES" b="1" dirty="0">
                <a:latin typeface="Courier New"/>
                <a:ea typeface="+mn-lt"/>
                <a:cs typeface="+mn-lt"/>
              </a:rPr>
              <a:t>.</a:t>
            </a:r>
            <a:r>
              <a:rPr lang="es-ES" b="1" err="1">
                <a:latin typeface="Courier New"/>
                <a:ea typeface="+mn-lt"/>
                <a:cs typeface="+mn-lt"/>
              </a:rPr>
              <a:t>is-hidden</a:t>
            </a: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display</a:t>
            </a:r>
            <a:r>
              <a:rPr lang="es-ES" b="1" dirty="0">
                <a:latin typeface="Courier New"/>
                <a:ea typeface="+mn-lt"/>
                <a:cs typeface="+mn-lt"/>
              </a:rPr>
              <a:t>: </a:t>
            </a:r>
            <a:r>
              <a:rPr lang="es-ES" b="1" err="1">
                <a:latin typeface="Courier New"/>
                <a:ea typeface="+mn-lt"/>
                <a:cs typeface="+mn-lt"/>
              </a:rPr>
              <a:t>none</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a:t>
            </a:r>
            <a:r>
              <a:rPr lang="es-ES" b="1" err="1">
                <a:latin typeface="Courier New"/>
                <a:ea typeface="+mn-lt"/>
                <a:cs typeface="+mn-lt"/>
              </a:rPr>
              <a:t>is</a:t>
            </a:r>
            <a:r>
              <a:rPr lang="es-ES" b="1" dirty="0">
                <a:latin typeface="Courier New"/>
                <a:ea typeface="+mn-lt"/>
                <a:cs typeface="+mn-lt"/>
              </a:rPr>
              <a:t>-active {</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font-weight</a:t>
            </a:r>
            <a:r>
              <a:rPr lang="es-ES" b="1" dirty="0">
                <a:latin typeface="Courier New"/>
                <a:ea typeface="+mn-lt"/>
                <a:cs typeface="+mn-lt"/>
              </a:rPr>
              <a:t>: </a:t>
            </a:r>
            <a:r>
              <a:rPr lang="es-ES" b="1" err="1">
                <a:latin typeface="Courier New"/>
                <a:ea typeface="+mn-lt"/>
                <a:cs typeface="+mn-lt"/>
              </a:rPr>
              <a:t>bold</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  color: #007bff;</a:t>
            </a:r>
            <a:br>
              <a:rPr lang="es-ES" b="1" dirty="0">
                <a:latin typeface="Courier New"/>
                <a:ea typeface="+mn-lt"/>
                <a:cs typeface="+mn-lt"/>
              </a:rPr>
            </a:br>
            <a:r>
              <a:rPr lang="es-ES" b="1" dirty="0">
                <a:latin typeface="Courier New"/>
                <a:ea typeface="+mn-lt"/>
                <a:cs typeface="+mn-lt"/>
              </a:rPr>
              <a:t>}</a:t>
            </a:r>
          </a:p>
          <a:p>
            <a:pPr lvl="1">
              <a:buFont typeface="Courier New" panose="020B0604020202020204" pitchFamily="34" charset="0"/>
              <a:buChar char="o"/>
            </a:pPr>
            <a:endParaRPr lang="es-ES" dirty="0"/>
          </a:p>
        </p:txBody>
      </p:sp>
    </p:spTree>
    <p:extLst>
      <p:ext uri="{BB962C8B-B14F-4D97-AF65-F5344CB8AC3E}">
        <p14:creationId xmlns:p14="http://schemas.microsoft.com/office/powerpoint/2010/main" val="3901356996"/>
      </p:ext>
    </p:extLst>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EA23F2-5AF0-851C-F1BB-70B9D9D9575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F5A3DF7-7A7A-AB0F-737B-1BB3AC7C39E7}"/>
              </a:ext>
            </a:extLst>
          </p:cNvPr>
          <p:cNvSpPr>
            <a:spLocks noGrp="1"/>
          </p:cNvSpPr>
          <p:nvPr>
            <p:ph type="title"/>
          </p:nvPr>
        </p:nvSpPr>
        <p:spPr/>
        <p:txBody>
          <a:bodyPr/>
          <a:lstStyle/>
          <a:p>
            <a:r>
              <a:rPr lang="es-ES" b="0" dirty="0">
                <a:ea typeface="+mj-lt"/>
                <a:cs typeface="+mj-lt"/>
              </a:rPr>
              <a:t>2.4.6.2. Metodologías CSS (BEM, SMACSS).</a:t>
            </a:r>
            <a:endParaRPr lang="es-ES" dirty="0"/>
          </a:p>
        </p:txBody>
      </p:sp>
      <p:sp>
        <p:nvSpPr>
          <p:cNvPr id="3" name="Marcador de contenido 2">
            <a:extLst>
              <a:ext uri="{FF2B5EF4-FFF2-40B4-BE49-F238E27FC236}">
                <a16:creationId xmlns:a16="http://schemas.microsoft.com/office/drawing/2014/main" id="{F58B15D3-98D4-C1EB-2933-B5265EBD1D1D}"/>
              </a:ext>
            </a:extLst>
          </p:cNvPr>
          <p:cNvSpPr>
            <a:spLocks noGrp="1"/>
          </p:cNvSpPr>
          <p:nvPr>
            <p:ph idx="1"/>
          </p:nvPr>
        </p:nvSpPr>
        <p:spPr/>
        <p:txBody>
          <a:bodyPr vert="horz" lIns="91440" tIns="45720" rIns="91440" bIns="45720" rtlCol="0" anchor="t">
            <a:normAutofit fontScale="92500" lnSpcReduction="10000"/>
          </a:bodyPr>
          <a:lstStyle/>
          <a:p>
            <a:pPr lvl="1">
              <a:buFont typeface="Courier New" panose="020B0604020202020204" pitchFamily="34" charset="0"/>
              <a:buChar char="o"/>
            </a:pPr>
            <a:r>
              <a:rPr lang="es-ES" dirty="0">
                <a:ea typeface="+mn-lt"/>
                <a:cs typeface="+mn-lt"/>
              </a:rPr>
              <a:t>Reglas de Tema: Se usan para sobrescribir los estilos de base, </a:t>
            </a:r>
            <a:r>
              <a:rPr lang="es-ES" err="1">
                <a:ea typeface="+mn-lt"/>
                <a:cs typeface="+mn-lt"/>
              </a:rPr>
              <a:t>layout</a:t>
            </a:r>
            <a:r>
              <a:rPr lang="es-ES" dirty="0">
                <a:ea typeface="+mn-lt"/>
                <a:cs typeface="+mn-lt"/>
              </a:rPr>
              <a:t> o módulo para aplicar un tema específico, como un modo oscuro (</a:t>
            </a:r>
            <a:r>
              <a:rPr lang="es-ES" err="1">
                <a:ea typeface="+mn-lt"/>
                <a:cs typeface="+mn-lt"/>
              </a:rPr>
              <a:t>dark</a:t>
            </a:r>
            <a:r>
              <a:rPr lang="es-ES" dirty="0">
                <a:ea typeface="+mn-lt"/>
                <a:cs typeface="+mn-lt"/>
              </a:rPr>
              <a:t> </a:t>
            </a:r>
            <a:r>
              <a:rPr lang="es-ES" err="1">
                <a:ea typeface="+mn-lt"/>
                <a:cs typeface="+mn-lt"/>
              </a:rPr>
              <a:t>theme</a:t>
            </a:r>
            <a:r>
              <a:rPr lang="es-ES" dirty="0">
                <a:ea typeface="+mn-lt"/>
                <a:cs typeface="+mn-lt"/>
              </a:rPr>
              <a:t>) o un tema de color diferente. Suelen vivir en un archivo aparte.</a:t>
            </a:r>
            <a:endParaRPr lang="es-ES"/>
          </a:p>
          <a:p>
            <a:pPr marL="0" indent="0">
              <a:buNone/>
            </a:pPr>
            <a:r>
              <a:rPr lang="es-ES" b="1" dirty="0">
                <a:latin typeface="Courier New"/>
                <a:ea typeface="+mn-lt"/>
                <a:cs typeface="+mn-lt"/>
              </a:rPr>
              <a:t>/* En un archivo theme.css */</a:t>
            </a:r>
            <a:br>
              <a:rPr lang="es-ES" b="1" dirty="0">
                <a:latin typeface="Courier New"/>
                <a:ea typeface="+mn-lt"/>
                <a:cs typeface="+mn-lt"/>
              </a:rPr>
            </a:br>
            <a:r>
              <a:rPr lang="es-ES" b="1" dirty="0">
                <a:latin typeface="Courier New"/>
                <a:ea typeface="+mn-lt"/>
                <a:cs typeface="+mn-lt"/>
              </a:rPr>
              <a:t>.</a:t>
            </a:r>
            <a:r>
              <a:rPr lang="es-ES" b="1" dirty="0" err="1">
                <a:latin typeface="Courier New"/>
                <a:ea typeface="+mn-lt"/>
                <a:cs typeface="+mn-lt"/>
              </a:rPr>
              <a:t>card</a:t>
            </a:r>
            <a:r>
              <a:rPr lang="es-ES" b="1" dirty="0">
                <a:latin typeface="Courier New"/>
                <a:ea typeface="+mn-lt"/>
                <a:cs typeface="+mn-lt"/>
              </a:rPr>
              <a:t>--</a:t>
            </a:r>
            <a:r>
              <a:rPr lang="es-ES" b="1" dirty="0" err="1">
                <a:latin typeface="Courier New"/>
                <a:ea typeface="+mn-lt"/>
                <a:cs typeface="+mn-lt"/>
              </a:rPr>
              <a:t>dark</a:t>
            </a: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background</a:t>
            </a:r>
            <a:r>
              <a:rPr lang="es-ES" b="1" dirty="0">
                <a:latin typeface="Courier New"/>
                <a:ea typeface="+mn-lt"/>
                <a:cs typeface="+mn-lt"/>
              </a:rPr>
              <a:t>-color: #333;</a:t>
            </a:r>
            <a:br>
              <a:rPr lang="es-ES" b="1" dirty="0">
                <a:latin typeface="Courier New"/>
                <a:ea typeface="+mn-lt"/>
                <a:cs typeface="+mn-lt"/>
              </a:rPr>
            </a:br>
            <a:r>
              <a:rPr lang="es-ES" b="1" dirty="0">
                <a:latin typeface="Courier New"/>
                <a:ea typeface="+mn-lt"/>
                <a:cs typeface="+mn-lt"/>
              </a:rPr>
              <a:t>  color: #fff;</a:t>
            </a:r>
            <a:br>
              <a:rPr lang="es-ES" b="1" dirty="0">
                <a:latin typeface="Courier New"/>
                <a:ea typeface="+mn-lt"/>
                <a:cs typeface="+mn-lt"/>
              </a:rPr>
            </a:br>
            <a:r>
              <a:rPr lang="es-ES" b="1" dirty="0">
                <a:latin typeface="Courier New"/>
                <a:ea typeface="+mn-lt"/>
                <a:cs typeface="+mn-lt"/>
              </a:rPr>
              <a:t>}</a:t>
            </a:r>
          </a:p>
          <a:p>
            <a:r>
              <a:rPr lang="es-ES" dirty="0">
                <a:ea typeface="+mn-lt"/>
                <a:cs typeface="+mn-lt"/>
              </a:rPr>
              <a:t>La principal ventaja de SMACSS es que ofrece una estructura clara para organizar el código CSS, lo que facilita la colaboración y hace que el mantenimiento del código sea mucho más sencillo a medida que el proyecto crece.</a:t>
            </a:r>
          </a:p>
          <a:p>
            <a:r>
              <a:rPr lang="es-ES" dirty="0">
                <a:ea typeface="+mn-lt"/>
                <a:cs typeface="+mn-lt"/>
              </a:rPr>
              <a:t>En la práctica, muchos proyectos adoptan un enfoque híbrido, combinando principios de varias metodologías. Por ejemplo, se puede usar BEM para la nomenclatura de clases, mientras se organiza el código de forma modular, como sugiere SMACSS.</a:t>
            </a:r>
            <a:endParaRPr lang="es-ES" dirty="0"/>
          </a:p>
          <a:p>
            <a:pPr lvl="1">
              <a:buFont typeface="Courier New" panose="020B0604020202020204" pitchFamily="34" charset="0"/>
              <a:buChar char="o"/>
            </a:pPr>
            <a:endParaRPr lang="es-ES" dirty="0"/>
          </a:p>
        </p:txBody>
      </p:sp>
    </p:spTree>
    <p:extLst>
      <p:ext uri="{BB962C8B-B14F-4D97-AF65-F5344CB8AC3E}">
        <p14:creationId xmlns:p14="http://schemas.microsoft.com/office/powerpoint/2010/main" val="2794338999"/>
      </p:ext>
    </p:extLst>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8A54C9-2419-4886-3117-16BCD6EA1AE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5F2DBA2-6B94-2EBE-02F3-61D10F6F197F}"/>
              </a:ext>
            </a:extLst>
          </p:cNvPr>
          <p:cNvSpPr>
            <a:spLocks noGrp="1"/>
          </p:cNvSpPr>
          <p:nvPr>
            <p:ph type="title"/>
          </p:nvPr>
        </p:nvSpPr>
        <p:spPr/>
        <p:txBody>
          <a:bodyPr/>
          <a:lstStyle/>
          <a:p>
            <a:r>
              <a:rPr lang="es-ES" b="0" dirty="0">
                <a:ea typeface="+mj-lt"/>
                <a:cs typeface="+mj-lt"/>
              </a:rPr>
              <a:t>2.4.7. Herramientas de validación de hojas de estilo</a:t>
            </a:r>
            <a:endParaRPr lang="es-ES" dirty="0"/>
          </a:p>
        </p:txBody>
      </p:sp>
      <p:sp>
        <p:nvSpPr>
          <p:cNvPr id="3" name="Marcador de contenido 2">
            <a:extLst>
              <a:ext uri="{FF2B5EF4-FFF2-40B4-BE49-F238E27FC236}">
                <a16:creationId xmlns:a16="http://schemas.microsoft.com/office/drawing/2014/main" id="{1CE5178D-49E6-8512-91CE-4671F29B531B}"/>
              </a:ext>
            </a:extLst>
          </p:cNvPr>
          <p:cNvSpPr>
            <a:spLocks noGrp="1"/>
          </p:cNvSpPr>
          <p:nvPr>
            <p:ph idx="1"/>
          </p:nvPr>
        </p:nvSpPr>
        <p:spPr/>
        <p:txBody>
          <a:bodyPr vert="horz" lIns="91440" tIns="45720" rIns="91440" bIns="45720" rtlCol="0" anchor="t">
            <a:normAutofit lnSpcReduction="10000"/>
          </a:bodyPr>
          <a:lstStyle/>
          <a:p>
            <a:r>
              <a:rPr lang="es-ES" dirty="0">
                <a:ea typeface="+mn-lt"/>
                <a:cs typeface="+mn-lt"/>
              </a:rPr>
              <a:t>Las herramientas de validación de hojas de estilo son esenciales para asegurar la calidad, la consistencia y la compatibilidad de tu código CSS. Estas herramientas te ayudan a detectar errores de sintaxis, advertir sobre posibles problemas de rendimiento y garantizar que tu código siga las mejores prácticas, lo que es crucial para proyectos grandes y colaborativos.</a:t>
            </a:r>
            <a:endParaRPr lang="es-ES" dirty="0"/>
          </a:p>
          <a:p>
            <a:r>
              <a:rPr lang="es-ES" dirty="0">
                <a:ea typeface="+mn-lt"/>
                <a:cs typeface="+mn-lt"/>
              </a:rPr>
              <a:t>Existen varios tipos de herramientas, cada una con un propósito específico:</a:t>
            </a:r>
            <a:endParaRPr lang="es-ES" dirty="0"/>
          </a:p>
          <a:p>
            <a:r>
              <a:rPr lang="es-ES" dirty="0">
                <a:ea typeface="+mn-lt"/>
                <a:cs typeface="+mn-lt"/>
              </a:rPr>
              <a:t>Validadores de sintaxis: Estos servicios se centran en el cumplimiento de los estándares del W3C, la organización que rige las especificaciones web. Su función principal es verificar que tu código esté libre de errores de sintaxis y que las propiedades utilizadas sean válidas.</a:t>
            </a:r>
            <a:endParaRPr lang="es-ES" dirty="0"/>
          </a:p>
          <a:p>
            <a:r>
              <a:rPr lang="es-ES" dirty="0">
                <a:ea typeface="+mn-lt"/>
                <a:cs typeface="+mn-lt"/>
              </a:rPr>
              <a:t>Servicio de validación CSS del W3C: Es la herramienta oficial y más autoritativa. Te permite pegar tu código CSS, subir un archivo o ingresar la URL de una página para obtener un informe detallado de errores y advertencias. Es ideal para garantizar que tu código se adhiera a los estándares web.</a:t>
            </a:r>
            <a:endParaRPr lang="es-ES" dirty="0"/>
          </a:p>
          <a:p>
            <a:endParaRPr lang="es-ES" dirty="0"/>
          </a:p>
        </p:txBody>
      </p:sp>
    </p:spTree>
    <p:extLst>
      <p:ext uri="{BB962C8B-B14F-4D97-AF65-F5344CB8AC3E}">
        <p14:creationId xmlns:p14="http://schemas.microsoft.com/office/powerpoint/2010/main" val="3012995383"/>
      </p:ext>
    </p:extLst>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3F902C-BC52-037E-F77B-2BC2F19D9E9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4CF598D-00F0-82DA-34B1-E91F98C9E291}"/>
              </a:ext>
            </a:extLst>
          </p:cNvPr>
          <p:cNvSpPr>
            <a:spLocks noGrp="1"/>
          </p:cNvSpPr>
          <p:nvPr>
            <p:ph type="title"/>
          </p:nvPr>
        </p:nvSpPr>
        <p:spPr/>
        <p:txBody>
          <a:bodyPr/>
          <a:lstStyle/>
          <a:p>
            <a:r>
              <a:rPr lang="es-ES" b="0" dirty="0">
                <a:ea typeface="+mj-lt"/>
                <a:cs typeface="+mj-lt"/>
              </a:rPr>
              <a:t>2.4.7. Herramientas de validación de hojas de estilo</a:t>
            </a:r>
            <a:endParaRPr lang="es-ES" dirty="0"/>
          </a:p>
        </p:txBody>
      </p:sp>
      <p:sp>
        <p:nvSpPr>
          <p:cNvPr id="3" name="Marcador de contenido 2">
            <a:extLst>
              <a:ext uri="{FF2B5EF4-FFF2-40B4-BE49-F238E27FC236}">
                <a16:creationId xmlns:a16="http://schemas.microsoft.com/office/drawing/2014/main" id="{3978C4AA-895C-3028-F45D-97667D6E5D67}"/>
              </a:ext>
            </a:extLst>
          </p:cNvPr>
          <p:cNvSpPr>
            <a:spLocks noGrp="1"/>
          </p:cNvSpPr>
          <p:nvPr>
            <p:ph idx="1"/>
          </p:nvPr>
        </p:nvSpPr>
        <p:spPr/>
        <p:txBody>
          <a:bodyPr vert="horz" lIns="91440" tIns="45720" rIns="91440" bIns="45720" rtlCol="0" anchor="t">
            <a:normAutofit/>
          </a:bodyPr>
          <a:lstStyle/>
          <a:p>
            <a:r>
              <a:rPr lang="es-ES" dirty="0" err="1">
                <a:ea typeface="+mn-lt"/>
                <a:cs typeface="+mn-lt"/>
              </a:rPr>
              <a:t>Linters</a:t>
            </a:r>
            <a:r>
              <a:rPr lang="es-ES" dirty="0">
                <a:ea typeface="+mn-lt"/>
                <a:cs typeface="+mn-lt"/>
              </a:rPr>
              <a:t> de CSS: Los </a:t>
            </a:r>
            <a:r>
              <a:rPr lang="es-ES" dirty="0" err="1">
                <a:ea typeface="+mn-lt"/>
                <a:cs typeface="+mn-lt"/>
              </a:rPr>
              <a:t>linters</a:t>
            </a:r>
            <a:r>
              <a:rPr lang="es-ES" dirty="0">
                <a:ea typeface="+mn-lt"/>
                <a:cs typeface="+mn-lt"/>
              </a:rPr>
              <a:t> son herramientas más avanzadas que van más allá de la simple sintaxis. Analizan tu código para detectar problemas de estilo, incoherencias y posibles errores lógicos. Son altamente configurables y te permiten establecer reglas personalizadas para tu proyecto.</a:t>
            </a:r>
          </a:p>
          <a:p>
            <a:r>
              <a:rPr lang="es-ES" dirty="0" err="1">
                <a:ea typeface="+mn-lt"/>
                <a:cs typeface="+mn-lt"/>
              </a:rPr>
              <a:t>Stylelint</a:t>
            </a:r>
            <a:r>
              <a:rPr lang="es-ES" dirty="0">
                <a:ea typeface="+mn-lt"/>
                <a:cs typeface="+mn-lt"/>
              </a:rPr>
              <a:t> Es el </a:t>
            </a:r>
            <a:r>
              <a:rPr lang="es-ES" dirty="0" err="1">
                <a:ea typeface="+mn-lt"/>
                <a:cs typeface="+mn-lt"/>
              </a:rPr>
              <a:t>linter</a:t>
            </a:r>
            <a:r>
              <a:rPr lang="es-ES" dirty="0">
                <a:ea typeface="+mn-lt"/>
                <a:cs typeface="+mn-lt"/>
              </a:rPr>
              <a:t> de CSS más popular. Se puede integrar directamente en tu editor de código (como VS </a:t>
            </a:r>
            <a:r>
              <a:rPr lang="es-ES" dirty="0" err="1">
                <a:ea typeface="+mn-lt"/>
                <a:cs typeface="+mn-lt"/>
              </a:rPr>
              <a:t>Code</a:t>
            </a:r>
            <a:r>
              <a:rPr lang="es-ES" dirty="0">
                <a:ea typeface="+mn-lt"/>
                <a:cs typeface="+mn-lt"/>
              </a:rPr>
              <a:t>) y en tu proceso de construcción (a través de </a:t>
            </a:r>
            <a:r>
              <a:rPr lang="es-ES" dirty="0" err="1">
                <a:ea typeface="+mn-lt"/>
                <a:cs typeface="+mn-lt"/>
              </a:rPr>
              <a:t>npm</a:t>
            </a:r>
            <a:r>
              <a:rPr lang="es-ES" dirty="0">
                <a:ea typeface="+mn-lt"/>
                <a:cs typeface="+mn-lt"/>
              </a:rPr>
              <a:t>). </a:t>
            </a:r>
            <a:r>
              <a:rPr lang="es-ES" dirty="0" err="1">
                <a:ea typeface="+mn-lt"/>
                <a:cs typeface="+mn-lt"/>
              </a:rPr>
              <a:t>Stylelint</a:t>
            </a:r>
            <a:r>
              <a:rPr lang="es-ES" dirty="0">
                <a:ea typeface="+mn-lt"/>
                <a:cs typeface="+mn-lt"/>
              </a:rPr>
              <a:t> puede hacer lo siguiente:</a:t>
            </a:r>
            <a:endParaRPr lang="es-ES" dirty="0"/>
          </a:p>
          <a:p>
            <a:pPr lvl="1">
              <a:buFont typeface="Courier New" panose="020B0604020202020204" pitchFamily="34" charset="0"/>
              <a:buChar char="o"/>
            </a:pPr>
            <a:r>
              <a:rPr lang="es-ES" dirty="0">
                <a:ea typeface="+mn-lt"/>
                <a:cs typeface="+mn-lt"/>
              </a:rPr>
              <a:t>Detectar propiedades duplicadas.</a:t>
            </a:r>
          </a:p>
          <a:p>
            <a:pPr lvl="1">
              <a:buFont typeface="Courier New" panose="020B0604020202020204" pitchFamily="34" charset="0"/>
              <a:buChar char="o"/>
            </a:pPr>
            <a:r>
              <a:rPr lang="es-ES" dirty="0">
                <a:ea typeface="+mn-lt"/>
                <a:cs typeface="+mn-lt"/>
              </a:rPr>
              <a:t>Encontrar selectores que no cumplen con las convenciones de nomenclatura (por ejemplo, BEM).</a:t>
            </a:r>
            <a:endParaRPr lang="es-ES"/>
          </a:p>
          <a:p>
            <a:pPr lvl="1">
              <a:buFont typeface="Courier New" panose="020B0604020202020204" pitchFamily="34" charset="0"/>
              <a:buChar char="o"/>
            </a:pPr>
            <a:r>
              <a:rPr lang="es-ES" dirty="0">
                <a:ea typeface="+mn-lt"/>
                <a:cs typeface="+mn-lt"/>
              </a:rPr>
              <a:t>Forzar un formato de código consistente (por ejemplo, el uso de ; al final de cada línea).</a:t>
            </a:r>
            <a:endParaRPr lang="es-ES"/>
          </a:p>
          <a:p>
            <a:pPr lvl="1">
              <a:buFont typeface="Courier New" panose="020B0604020202020204" pitchFamily="34" charset="0"/>
              <a:buChar char="o"/>
            </a:pPr>
            <a:r>
              <a:rPr lang="es-ES" dirty="0">
                <a:ea typeface="+mn-lt"/>
                <a:cs typeface="+mn-lt"/>
              </a:rPr>
              <a:t>Advertir sobre propiedades en desuso.</a:t>
            </a:r>
          </a:p>
          <a:p>
            <a:endParaRPr lang="es-ES" dirty="0"/>
          </a:p>
        </p:txBody>
      </p:sp>
    </p:spTree>
    <p:extLst>
      <p:ext uri="{BB962C8B-B14F-4D97-AF65-F5344CB8AC3E}">
        <p14:creationId xmlns:p14="http://schemas.microsoft.com/office/powerpoint/2010/main" val="1404995391"/>
      </p:ext>
    </p:extLst>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7ED847-AE0F-0FA4-13EA-0EEC44657B2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A693868-D87F-9EE6-1C5B-AEC6029DEEBF}"/>
              </a:ext>
            </a:extLst>
          </p:cNvPr>
          <p:cNvSpPr>
            <a:spLocks noGrp="1"/>
          </p:cNvSpPr>
          <p:nvPr>
            <p:ph type="title"/>
          </p:nvPr>
        </p:nvSpPr>
        <p:spPr/>
        <p:txBody>
          <a:bodyPr/>
          <a:lstStyle/>
          <a:p>
            <a:r>
              <a:rPr lang="es-ES" b="0" dirty="0">
                <a:ea typeface="+mj-lt"/>
                <a:cs typeface="+mj-lt"/>
              </a:rPr>
              <a:t>2.4.7. Herramientas de validación de hojas de estilo</a:t>
            </a:r>
            <a:endParaRPr lang="es-ES" dirty="0"/>
          </a:p>
        </p:txBody>
      </p:sp>
      <p:sp>
        <p:nvSpPr>
          <p:cNvPr id="3" name="Marcador de contenido 2">
            <a:extLst>
              <a:ext uri="{FF2B5EF4-FFF2-40B4-BE49-F238E27FC236}">
                <a16:creationId xmlns:a16="http://schemas.microsoft.com/office/drawing/2014/main" id="{5E1E4B1C-D18F-B70B-706F-61B0E2E95071}"/>
              </a:ext>
            </a:extLst>
          </p:cNvPr>
          <p:cNvSpPr>
            <a:spLocks noGrp="1"/>
          </p:cNvSpPr>
          <p:nvPr>
            <p:ph idx="1"/>
          </p:nvPr>
        </p:nvSpPr>
        <p:spPr/>
        <p:txBody>
          <a:bodyPr vert="horz" lIns="91440" tIns="45720" rIns="91440" bIns="45720" rtlCol="0" anchor="t">
            <a:normAutofit fontScale="92500" lnSpcReduction="20000"/>
          </a:bodyPr>
          <a:lstStyle/>
          <a:p>
            <a:r>
              <a:rPr lang="es-ES" dirty="0">
                <a:ea typeface="+mn-lt"/>
                <a:cs typeface="+mn-lt"/>
              </a:rPr>
              <a:t>Ejemplo de cómo funciona un </a:t>
            </a:r>
            <a:r>
              <a:rPr lang="es-ES" dirty="0" err="1">
                <a:ea typeface="+mn-lt"/>
                <a:cs typeface="+mn-lt"/>
              </a:rPr>
              <a:t>linter</a:t>
            </a:r>
            <a:r>
              <a:rPr lang="es-ES" dirty="0">
                <a:ea typeface="+mn-lt"/>
                <a:cs typeface="+mn-lt"/>
              </a:rPr>
              <a:t>: Imagina el siguiente código CSS con un error y una inconsistencia:</a:t>
            </a:r>
            <a:endParaRPr lang="es-ES" dirty="0"/>
          </a:p>
          <a:p>
            <a:r>
              <a:rPr lang="es-ES" b="1" dirty="0">
                <a:latin typeface="Courier New"/>
                <a:ea typeface="+mn-lt"/>
                <a:cs typeface="+mn-lt"/>
              </a:rPr>
              <a:t>/* Código con errores */</a:t>
            </a:r>
            <a:br>
              <a:rPr lang="es-ES" b="1" dirty="0">
                <a:latin typeface="Courier New"/>
                <a:ea typeface="+mn-lt"/>
                <a:cs typeface="+mn-lt"/>
              </a:rPr>
            </a:br>
            <a:r>
              <a:rPr lang="es-ES" b="1" dirty="0">
                <a:latin typeface="Courier New"/>
                <a:ea typeface="+mn-lt"/>
                <a:cs typeface="+mn-lt"/>
              </a:rPr>
              <a:t>.caja-ejemplo {</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background</a:t>
            </a:r>
            <a:r>
              <a:rPr lang="es-ES" b="1" dirty="0">
                <a:latin typeface="Courier New"/>
                <a:ea typeface="+mn-lt"/>
                <a:cs typeface="+mn-lt"/>
              </a:rPr>
              <a:t>-color: #f0f0f0</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padding</a:t>
            </a:r>
            <a:r>
              <a:rPr lang="es-ES" b="1" dirty="0">
                <a:latin typeface="Courier New"/>
                <a:ea typeface="+mn-lt"/>
                <a:cs typeface="+mn-lt"/>
              </a:rPr>
              <a:t>: 10px;</a:t>
            </a:r>
            <a:br>
              <a:rPr lang="es-ES" b="1" dirty="0">
                <a:latin typeface="Courier New"/>
                <a:ea typeface="+mn-lt"/>
                <a:cs typeface="+mn-lt"/>
              </a:rPr>
            </a:b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.caja-ejemplo {</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border-radius</a:t>
            </a:r>
            <a:r>
              <a:rPr lang="es-ES" b="1" dirty="0">
                <a:latin typeface="Courier New"/>
                <a:ea typeface="+mn-lt"/>
                <a:cs typeface="+mn-lt"/>
              </a:rPr>
              <a:t>: 5px;</a:t>
            </a:r>
            <a:br>
              <a:rPr lang="es-ES" b="1" dirty="0">
                <a:latin typeface="Courier New"/>
                <a:ea typeface="+mn-lt"/>
                <a:cs typeface="+mn-lt"/>
              </a:rPr>
            </a:br>
            <a:r>
              <a:rPr lang="es-ES" b="1" dirty="0">
                <a:latin typeface="Courier New"/>
                <a:ea typeface="+mn-lt"/>
                <a:cs typeface="+mn-lt"/>
              </a:rPr>
              <a:t>}</a:t>
            </a:r>
            <a:endParaRPr lang="es-ES" b="1" dirty="0">
              <a:latin typeface="Courier New"/>
            </a:endParaRPr>
          </a:p>
          <a:p>
            <a:r>
              <a:rPr lang="es-ES" dirty="0">
                <a:ea typeface="+mn-lt"/>
                <a:cs typeface="+mn-lt"/>
              </a:rPr>
              <a:t>Un </a:t>
            </a:r>
            <a:r>
              <a:rPr lang="es-ES" dirty="0" err="1">
                <a:ea typeface="+mn-lt"/>
                <a:cs typeface="+mn-lt"/>
              </a:rPr>
              <a:t>linter</a:t>
            </a:r>
            <a:r>
              <a:rPr lang="es-ES" dirty="0">
                <a:ea typeface="+mn-lt"/>
                <a:cs typeface="+mn-lt"/>
              </a:rPr>
              <a:t> como </a:t>
            </a:r>
            <a:r>
              <a:rPr lang="es-ES" dirty="0" err="1">
                <a:ea typeface="+mn-lt"/>
                <a:cs typeface="+mn-lt"/>
              </a:rPr>
              <a:t>Stylelint</a:t>
            </a:r>
            <a:r>
              <a:rPr lang="es-ES" dirty="0">
                <a:ea typeface="+mn-lt"/>
                <a:cs typeface="+mn-lt"/>
              </a:rPr>
              <a:t> te daría una salida similar a esta:</a:t>
            </a:r>
          </a:p>
          <a:p>
            <a:pPr marL="457200" lvl="1" indent="0">
              <a:buNone/>
            </a:pPr>
            <a:r>
              <a:rPr lang="es-ES" b="1" dirty="0">
                <a:latin typeface="Courier New"/>
                <a:ea typeface="+mn-lt"/>
                <a:cs typeface="+mn-lt"/>
              </a:rPr>
              <a:t>1:23  ✖  Esperaba un punto y coma  (</a:t>
            </a:r>
            <a:r>
              <a:rPr lang="es-ES" b="1" err="1">
                <a:latin typeface="Courier New"/>
                <a:ea typeface="+mn-lt"/>
                <a:cs typeface="+mn-lt"/>
              </a:rPr>
              <a:t>declaration</a:t>
            </a:r>
            <a:r>
              <a:rPr lang="es-ES" b="1" dirty="0">
                <a:latin typeface="Courier New"/>
                <a:ea typeface="+mn-lt"/>
                <a:cs typeface="+mn-lt"/>
              </a:rPr>
              <a:t>-block-</a:t>
            </a:r>
            <a:r>
              <a:rPr lang="es-ES" b="1" err="1">
                <a:latin typeface="Courier New"/>
                <a:ea typeface="+mn-lt"/>
                <a:cs typeface="+mn-lt"/>
              </a:rPr>
              <a:t>semicolon</a:t>
            </a:r>
            <a:r>
              <a:rPr lang="es-ES" b="1" dirty="0">
                <a:latin typeface="Courier New"/>
                <a:ea typeface="+mn-lt"/>
                <a:cs typeface="+mn-lt"/>
              </a:rPr>
              <a:t>-</a:t>
            </a:r>
            <a:r>
              <a:rPr lang="es-ES" b="1" err="1">
                <a:latin typeface="Courier New"/>
                <a:ea typeface="+mn-lt"/>
                <a:cs typeface="+mn-lt"/>
              </a:rPr>
              <a:t>newline</a:t>
            </a:r>
            <a:r>
              <a:rPr lang="es-ES" b="1" dirty="0">
                <a:latin typeface="Courier New"/>
                <a:ea typeface="+mn-lt"/>
                <a:cs typeface="+mn-lt"/>
              </a:rPr>
              <a:t>-after)</a:t>
            </a:r>
            <a:br>
              <a:rPr lang="es-ES" b="1" dirty="0">
                <a:latin typeface="Courier New"/>
                <a:ea typeface="+mn-lt"/>
                <a:cs typeface="+mn-lt"/>
              </a:rPr>
            </a:br>
            <a:r>
              <a:rPr lang="es-ES" b="1" dirty="0">
                <a:latin typeface="Courier New"/>
                <a:ea typeface="+mn-lt"/>
                <a:cs typeface="+mn-lt"/>
              </a:rPr>
              <a:t>5:1   ✖  Bloque de reglas duplicado  (no-</a:t>
            </a:r>
            <a:r>
              <a:rPr lang="es-ES" b="1" err="1">
                <a:latin typeface="Courier New"/>
                <a:ea typeface="+mn-lt"/>
                <a:cs typeface="+mn-lt"/>
              </a:rPr>
              <a:t>duplicate</a:t>
            </a:r>
            <a:r>
              <a:rPr lang="es-ES" b="1" dirty="0">
                <a:latin typeface="Courier New"/>
                <a:ea typeface="+mn-lt"/>
                <a:cs typeface="+mn-lt"/>
              </a:rPr>
              <a:t>-</a:t>
            </a:r>
            <a:r>
              <a:rPr lang="es-ES" b="1" err="1">
                <a:latin typeface="Courier New"/>
                <a:ea typeface="+mn-lt"/>
                <a:cs typeface="+mn-lt"/>
              </a:rPr>
              <a:t>selectors</a:t>
            </a:r>
            <a:r>
              <a:rPr lang="es-ES" b="1" dirty="0">
                <a:latin typeface="Courier New"/>
                <a:ea typeface="+mn-lt"/>
                <a:cs typeface="+mn-lt"/>
              </a:rPr>
              <a:t>)</a:t>
            </a:r>
            <a:endParaRPr lang="es-ES" b="1" dirty="0">
              <a:latin typeface="Courier New"/>
            </a:endParaRPr>
          </a:p>
          <a:p>
            <a:r>
              <a:rPr lang="es-ES" dirty="0">
                <a:ea typeface="+mn-lt"/>
                <a:cs typeface="+mn-lt"/>
              </a:rPr>
              <a:t>Esto te ayuda a corregir errores antes de que lleguen al navegador y a mantener un código limpio y consistente.</a:t>
            </a:r>
          </a:p>
          <a:p>
            <a:endParaRPr lang="es-ES" dirty="0"/>
          </a:p>
        </p:txBody>
      </p:sp>
    </p:spTree>
    <p:extLst>
      <p:ext uri="{BB962C8B-B14F-4D97-AF65-F5344CB8AC3E}">
        <p14:creationId xmlns:p14="http://schemas.microsoft.com/office/powerpoint/2010/main" val="3247063376"/>
      </p:ext>
    </p:extLst>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97185D-757B-E0D1-2448-23AC173144E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C49876E-47BA-E3A0-241B-C4651404E5E0}"/>
              </a:ext>
            </a:extLst>
          </p:cNvPr>
          <p:cNvSpPr>
            <a:spLocks noGrp="1"/>
          </p:cNvSpPr>
          <p:nvPr>
            <p:ph type="title"/>
          </p:nvPr>
        </p:nvSpPr>
        <p:spPr/>
        <p:txBody>
          <a:bodyPr/>
          <a:lstStyle/>
          <a:p>
            <a:r>
              <a:rPr lang="es-ES" b="0" dirty="0">
                <a:ea typeface="+mj-lt"/>
                <a:cs typeface="+mj-lt"/>
              </a:rPr>
              <a:t>2.4.7. Herramientas de validación de hojas de estilo</a:t>
            </a:r>
            <a:endParaRPr lang="es-ES" dirty="0"/>
          </a:p>
        </p:txBody>
      </p:sp>
      <p:sp>
        <p:nvSpPr>
          <p:cNvPr id="3" name="Marcador de contenido 2">
            <a:extLst>
              <a:ext uri="{FF2B5EF4-FFF2-40B4-BE49-F238E27FC236}">
                <a16:creationId xmlns:a16="http://schemas.microsoft.com/office/drawing/2014/main" id="{6740ED2A-3135-9D29-6B14-3EB0CA3A99B3}"/>
              </a:ext>
            </a:extLst>
          </p:cNvPr>
          <p:cNvSpPr>
            <a:spLocks noGrp="1"/>
          </p:cNvSpPr>
          <p:nvPr>
            <p:ph idx="1"/>
          </p:nvPr>
        </p:nvSpPr>
        <p:spPr/>
        <p:txBody>
          <a:bodyPr vert="horz" lIns="91440" tIns="45720" rIns="91440" bIns="45720" rtlCol="0" anchor="t">
            <a:normAutofit/>
          </a:bodyPr>
          <a:lstStyle/>
          <a:p>
            <a:r>
              <a:rPr lang="es-ES" dirty="0">
                <a:ea typeface="+mn-lt"/>
                <a:cs typeface="+mn-lt"/>
              </a:rPr>
              <a:t>Herramientas de compatibilidad: Estas herramientas te ayudan a verificar si una propiedad de CSS es compatible con los diferentes navegadores web y sus versiones.</a:t>
            </a:r>
            <a:endParaRPr lang="es-ES" dirty="0"/>
          </a:p>
          <a:p>
            <a:r>
              <a:rPr lang="es-ES" dirty="0">
                <a:ea typeface="+mn-lt"/>
                <a:cs typeface="+mn-lt"/>
              </a:rPr>
              <a:t>Can I use...: No es un validador en sí mismo, pero es el recurso principal para comprobar la compatibilidad de las propiedades CSS, HTML y JavaScript. Al buscar una propiedad (</a:t>
            </a:r>
            <a:r>
              <a:rPr lang="es-ES" err="1">
                <a:ea typeface="+mn-lt"/>
                <a:cs typeface="+mn-lt"/>
              </a:rPr>
              <a:t>grid</a:t>
            </a:r>
            <a:r>
              <a:rPr lang="es-ES" dirty="0">
                <a:ea typeface="+mn-lt"/>
                <a:cs typeface="+mn-lt"/>
              </a:rPr>
              <a:t>, </a:t>
            </a:r>
            <a:r>
              <a:rPr lang="es-ES" err="1">
                <a:ea typeface="+mn-lt"/>
                <a:cs typeface="+mn-lt"/>
              </a:rPr>
              <a:t>flexbox</a:t>
            </a:r>
            <a:r>
              <a:rPr lang="es-ES" dirty="0">
                <a:ea typeface="+mn-lt"/>
                <a:cs typeface="+mn-lt"/>
              </a:rPr>
              <a:t>, etc.), te muestra una tabla detallada con información sobre la compatibilidad con los principales navegadores, lo que te ayuda a evitar errores de visualización en ciertos dispositivos.</a:t>
            </a:r>
          </a:p>
          <a:p>
            <a:r>
              <a:rPr lang="es-ES" dirty="0">
                <a:ea typeface="+mn-lt"/>
                <a:cs typeface="+mn-lt"/>
              </a:rPr>
              <a:t>El uso de estas herramientas en tu flujo de trabajo te permite:</a:t>
            </a:r>
          </a:p>
          <a:p>
            <a:pPr lvl="1">
              <a:buFont typeface="Courier New" panose="020B0604020202020204" pitchFamily="34" charset="0"/>
              <a:buChar char="o"/>
            </a:pPr>
            <a:r>
              <a:rPr lang="es-ES" dirty="0">
                <a:ea typeface="+mn-lt"/>
                <a:cs typeface="+mn-lt"/>
              </a:rPr>
              <a:t>Ahorrar tiempo: Detectan errores de manera automática y más rápida que la revisión manual.</a:t>
            </a:r>
            <a:endParaRPr lang="es-ES"/>
          </a:p>
          <a:p>
            <a:pPr lvl="1">
              <a:buFont typeface="Courier New" panose="020B0604020202020204" pitchFamily="34" charset="0"/>
              <a:buChar char="o"/>
            </a:pPr>
            <a:r>
              <a:rPr lang="es-ES" dirty="0">
                <a:ea typeface="+mn-lt"/>
                <a:cs typeface="+mn-lt"/>
              </a:rPr>
              <a:t>Mejorar la colaboración: Garantizan que todo el equipo siga las mismas reglas de estilo.</a:t>
            </a:r>
            <a:endParaRPr lang="es-ES"/>
          </a:p>
          <a:p>
            <a:pPr lvl="1">
              <a:buFont typeface="Courier New" panose="020B0604020202020204" pitchFamily="34" charset="0"/>
              <a:buChar char="o"/>
            </a:pPr>
            <a:r>
              <a:rPr lang="es-ES" dirty="0">
                <a:ea typeface="+mn-lt"/>
                <a:cs typeface="+mn-lt"/>
              </a:rPr>
              <a:t>Prevenir errores: Reducen la probabilidad de que surjan problemas de visualización en diferentes navegadores.</a:t>
            </a:r>
          </a:p>
        </p:txBody>
      </p:sp>
    </p:spTree>
    <p:extLst>
      <p:ext uri="{BB962C8B-B14F-4D97-AF65-F5344CB8AC3E}">
        <p14:creationId xmlns:p14="http://schemas.microsoft.com/office/powerpoint/2010/main" val="3794991206"/>
      </p:ext>
    </p:extLst>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729C5E-A7C4-FC82-6D0F-4DCAF026274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0B67A80-A723-F85B-1177-CE432CFF4F72}"/>
              </a:ext>
            </a:extLst>
          </p:cNvPr>
          <p:cNvSpPr>
            <a:spLocks noGrp="1"/>
          </p:cNvSpPr>
          <p:nvPr>
            <p:ph type="title"/>
          </p:nvPr>
        </p:nvSpPr>
        <p:spPr/>
        <p:txBody>
          <a:bodyPr/>
          <a:lstStyle/>
          <a:p>
            <a:r>
              <a:rPr lang="es-ES" b="0" dirty="0">
                <a:ea typeface="+mj-lt"/>
                <a:cs typeface="+mj-lt"/>
              </a:rPr>
              <a:t>2.4.7.1. Validadores del W3C.</a:t>
            </a:r>
            <a:endParaRPr lang="es-ES" dirty="0"/>
          </a:p>
        </p:txBody>
      </p:sp>
      <p:sp>
        <p:nvSpPr>
          <p:cNvPr id="3" name="Marcador de contenido 2">
            <a:extLst>
              <a:ext uri="{FF2B5EF4-FFF2-40B4-BE49-F238E27FC236}">
                <a16:creationId xmlns:a16="http://schemas.microsoft.com/office/drawing/2014/main" id="{62F19C47-4423-A883-255B-989C2C2F1826}"/>
              </a:ext>
            </a:extLst>
          </p:cNvPr>
          <p:cNvSpPr>
            <a:spLocks noGrp="1"/>
          </p:cNvSpPr>
          <p:nvPr>
            <p:ph idx="1"/>
          </p:nvPr>
        </p:nvSpPr>
        <p:spPr/>
        <p:txBody>
          <a:bodyPr vert="horz" lIns="91440" tIns="45720" rIns="91440" bIns="45720" rtlCol="0" anchor="t">
            <a:normAutofit lnSpcReduction="10000"/>
          </a:bodyPr>
          <a:lstStyle/>
          <a:p>
            <a:r>
              <a:rPr lang="es-ES" dirty="0">
                <a:ea typeface="+mn-lt"/>
                <a:cs typeface="+mn-lt"/>
              </a:rPr>
              <a:t>El validador de CSS del W3C es la herramienta específica para analizar las hojas de estilo. Su objetivo principal es revisar la sintaxis y el uso de las propiedades para garantizar que el CSS es correcto y que será interpretado de forma consistente por los navegadores.</a:t>
            </a:r>
            <a:endParaRPr lang="es-ES" dirty="0"/>
          </a:p>
          <a:p>
            <a:r>
              <a:rPr lang="es-ES" dirty="0">
                <a:ea typeface="+mn-lt"/>
                <a:cs typeface="+mn-lt"/>
              </a:rPr>
              <a:t>El validador de CSS del W3C revisa tu código en busca de:</a:t>
            </a:r>
            <a:endParaRPr lang="es-ES" dirty="0"/>
          </a:p>
          <a:p>
            <a:pPr lvl="1">
              <a:buFont typeface="Courier New" panose="020B0604020202020204" pitchFamily="34" charset="0"/>
              <a:buChar char="o"/>
            </a:pPr>
            <a:r>
              <a:rPr lang="es-ES" dirty="0">
                <a:ea typeface="+mn-lt"/>
                <a:cs typeface="+mn-lt"/>
              </a:rPr>
              <a:t>Errores de sintaxis: Faltas de ortografía en los nombres de las propiedades, falta de puntos y comas, llaves mal cerradas, etc.</a:t>
            </a:r>
            <a:endParaRPr lang="es-ES" dirty="0"/>
          </a:p>
          <a:p>
            <a:pPr lvl="1">
              <a:buFont typeface="Courier New" panose="020B0604020202020204" pitchFamily="34" charset="0"/>
              <a:buChar char="o"/>
            </a:pPr>
            <a:r>
              <a:rPr lang="es-ES" dirty="0">
                <a:ea typeface="+mn-lt"/>
                <a:cs typeface="+mn-lt"/>
              </a:rPr>
              <a:t>Propiedades y valores no válidos: Verifica si las propiedades que estás usando y los valores que les asignas son parte de la especificación CSS. Por ejemplo, te alertará si usas un valor numérico donde se espera un color.</a:t>
            </a:r>
            <a:endParaRPr lang="es-ES" dirty="0"/>
          </a:p>
          <a:p>
            <a:pPr lvl="1">
              <a:buFont typeface="Courier New" panose="020B0604020202020204" pitchFamily="34" charset="0"/>
              <a:buChar char="o"/>
            </a:pPr>
            <a:r>
              <a:rPr lang="es-ES" dirty="0">
                <a:ea typeface="+mn-lt"/>
                <a:cs typeface="+mn-lt"/>
              </a:rPr>
              <a:t>Compatibilidad básica: Aunque no es su función principal, el validador te puede advertir sobre propiedades que están en desuso o que son específicas de un proveedor (-webkit-, -</a:t>
            </a:r>
            <a:r>
              <a:rPr lang="es-ES" dirty="0" err="1">
                <a:ea typeface="+mn-lt"/>
                <a:cs typeface="+mn-lt"/>
              </a:rPr>
              <a:t>moz</a:t>
            </a:r>
            <a:r>
              <a:rPr lang="es-ES" dirty="0">
                <a:ea typeface="+mn-lt"/>
                <a:cs typeface="+mn-lt"/>
              </a:rPr>
              <a:t>-).</a:t>
            </a:r>
            <a:endParaRPr lang="es-ES" dirty="0"/>
          </a:p>
          <a:p>
            <a:pPr lvl="1">
              <a:buFont typeface="Courier New" panose="020B0604020202020204" pitchFamily="34" charset="0"/>
              <a:buChar char="o"/>
            </a:pPr>
            <a:r>
              <a:rPr lang="es-ES" dirty="0">
                <a:ea typeface="+mn-lt"/>
                <a:cs typeface="+mn-lt"/>
              </a:rPr>
              <a:t>Cumplimiento de los estándares: Garantiza que tu código sigue la especificación CSS que has declarado, por ejemplo, CSS3 o CSS2.</a:t>
            </a:r>
            <a:endParaRPr lang="es-ES" dirty="0"/>
          </a:p>
          <a:p>
            <a:endParaRPr lang="es-ES" dirty="0"/>
          </a:p>
        </p:txBody>
      </p:sp>
    </p:spTree>
    <p:extLst>
      <p:ext uri="{BB962C8B-B14F-4D97-AF65-F5344CB8AC3E}">
        <p14:creationId xmlns:p14="http://schemas.microsoft.com/office/powerpoint/2010/main" val="1238612110"/>
      </p:ext>
    </p:extLst>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160872-2D8B-66BD-B046-5E95C0CA529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63FFEF7-1265-0105-AF5F-02B632F7A740}"/>
              </a:ext>
            </a:extLst>
          </p:cNvPr>
          <p:cNvSpPr>
            <a:spLocks noGrp="1"/>
          </p:cNvSpPr>
          <p:nvPr>
            <p:ph type="title"/>
          </p:nvPr>
        </p:nvSpPr>
        <p:spPr/>
        <p:txBody>
          <a:bodyPr/>
          <a:lstStyle/>
          <a:p>
            <a:r>
              <a:rPr lang="es-ES" b="0" dirty="0">
                <a:ea typeface="+mj-lt"/>
                <a:cs typeface="+mj-lt"/>
              </a:rPr>
              <a:t>2.4.7.1. Validadores del W3C.</a:t>
            </a:r>
            <a:endParaRPr lang="es-ES" dirty="0"/>
          </a:p>
        </p:txBody>
      </p:sp>
      <p:sp>
        <p:nvSpPr>
          <p:cNvPr id="3" name="Marcador de contenido 2">
            <a:extLst>
              <a:ext uri="{FF2B5EF4-FFF2-40B4-BE49-F238E27FC236}">
                <a16:creationId xmlns:a16="http://schemas.microsoft.com/office/drawing/2014/main" id="{83F0DDB0-53E2-4BA1-5A55-250369BB2C5F}"/>
              </a:ext>
            </a:extLst>
          </p:cNvPr>
          <p:cNvSpPr>
            <a:spLocks noGrp="1"/>
          </p:cNvSpPr>
          <p:nvPr>
            <p:ph idx="1"/>
          </p:nvPr>
        </p:nvSpPr>
        <p:spPr/>
        <p:txBody>
          <a:bodyPr vert="horz" lIns="91440" tIns="45720" rIns="91440" bIns="45720" rtlCol="0" anchor="t">
            <a:normAutofit fontScale="62500" lnSpcReduction="20000"/>
          </a:bodyPr>
          <a:lstStyle/>
          <a:p>
            <a:r>
              <a:rPr lang="es-ES" dirty="0">
                <a:ea typeface="+mn-lt"/>
                <a:cs typeface="+mn-lt"/>
              </a:rPr>
              <a:t>El servicio es muy sencillo de usar. Puedes validar tu código de tres formas:</a:t>
            </a:r>
          </a:p>
          <a:p>
            <a:pPr lvl="1">
              <a:buFont typeface="Courier New" panose="020B0604020202020204" pitchFamily="34" charset="0"/>
              <a:buChar char="o"/>
            </a:pPr>
            <a:r>
              <a:rPr lang="es-ES" dirty="0">
                <a:ea typeface="+mn-lt"/>
                <a:cs typeface="+mn-lt"/>
              </a:rPr>
              <a:t>Por URI: Ingresas la URL de tu página para que el validador revise los archivos CSS enlazados.</a:t>
            </a:r>
            <a:endParaRPr lang="es-ES" dirty="0"/>
          </a:p>
          <a:p>
            <a:pPr lvl="1">
              <a:buFont typeface="Courier New" panose="020B0604020202020204" pitchFamily="34" charset="0"/>
              <a:buChar char="o"/>
            </a:pPr>
            <a:r>
              <a:rPr lang="es-ES" dirty="0">
                <a:ea typeface="+mn-lt"/>
                <a:cs typeface="+mn-lt"/>
              </a:rPr>
              <a:t>Por archivo: Subes un archivo .</a:t>
            </a:r>
            <a:r>
              <a:rPr lang="es-ES" dirty="0" err="1">
                <a:ea typeface="+mn-lt"/>
                <a:cs typeface="+mn-lt"/>
              </a:rPr>
              <a:t>css</a:t>
            </a:r>
            <a:r>
              <a:rPr lang="es-ES" dirty="0">
                <a:ea typeface="+mn-lt"/>
                <a:cs typeface="+mn-lt"/>
              </a:rPr>
              <a:t> directamente desde tu ordenador.</a:t>
            </a:r>
          </a:p>
          <a:p>
            <a:pPr lvl="1">
              <a:buFont typeface="Courier New" panose="020B0604020202020204" pitchFamily="34" charset="0"/>
              <a:buChar char="o"/>
            </a:pPr>
            <a:r>
              <a:rPr lang="es-ES" dirty="0">
                <a:ea typeface="+mn-lt"/>
                <a:cs typeface="+mn-lt"/>
              </a:rPr>
              <a:t>Por entrada directa: Pegas tu código CSS en un cuadro de texto.</a:t>
            </a:r>
            <a:endParaRPr lang="es-ES" dirty="0"/>
          </a:p>
          <a:p>
            <a:r>
              <a:rPr lang="es-ES" dirty="0">
                <a:ea typeface="+mn-lt"/>
                <a:cs typeface="+mn-lt"/>
              </a:rPr>
              <a:t>Una vez que envías tu código, el validador te muestra un informe detallado con una lista de errores y advertencias, indicando la línea y la columna exactas donde se encuentran.</a:t>
            </a:r>
          </a:p>
          <a:p>
            <a:r>
              <a:rPr lang="es-ES" dirty="0">
                <a:ea typeface="+mn-lt"/>
                <a:cs typeface="+mn-lt"/>
              </a:rPr>
              <a:t>Ejemplo de uso: Imagina que tienes el siguiente fragmento de CSS:</a:t>
            </a:r>
            <a:endParaRPr lang="es-ES" dirty="0"/>
          </a:p>
          <a:p>
            <a:pPr marL="0" indent="0">
              <a:buNone/>
            </a:pPr>
            <a:r>
              <a:rPr lang="es-ES" b="1" dirty="0">
                <a:latin typeface="Courier New"/>
                <a:ea typeface="+mn-lt"/>
                <a:cs typeface="+mn-lt"/>
              </a:rPr>
              <a:t>p {</a:t>
            </a:r>
            <a:br>
              <a:rPr lang="es-ES" b="1" dirty="0">
                <a:latin typeface="Courier New"/>
                <a:ea typeface="+mn-lt"/>
                <a:cs typeface="+mn-lt"/>
              </a:rPr>
            </a:br>
            <a:r>
              <a:rPr lang="es-ES" b="1" dirty="0">
                <a:latin typeface="Courier New"/>
                <a:ea typeface="+mn-lt"/>
                <a:cs typeface="+mn-lt"/>
              </a:rPr>
              <a:t>  color: red;</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font-size</a:t>
            </a:r>
            <a:r>
              <a:rPr lang="es-ES" b="1" dirty="0">
                <a:latin typeface="Courier New"/>
                <a:ea typeface="+mn-lt"/>
                <a:cs typeface="+mn-lt"/>
              </a:rPr>
              <a:t>: 16px</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padding</a:t>
            </a:r>
            <a:r>
              <a:rPr lang="es-ES" b="1" dirty="0">
                <a:latin typeface="Courier New"/>
                <a:ea typeface="+mn-lt"/>
                <a:cs typeface="+mn-lt"/>
              </a:rPr>
              <a:t>: 10px;</a:t>
            </a:r>
            <a:br>
              <a:rPr lang="es-ES" b="1" dirty="0">
                <a:latin typeface="Courier New"/>
                <a:ea typeface="+mn-lt"/>
                <a:cs typeface="+mn-lt"/>
              </a:rPr>
            </a:br>
            <a:r>
              <a:rPr lang="es-ES" b="1" dirty="0">
                <a:latin typeface="Courier New"/>
                <a:ea typeface="+mn-lt"/>
                <a:cs typeface="+mn-lt"/>
              </a:rPr>
              <a:t>}</a:t>
            </a:r>
            <a:endParaRPr lang="es-ES" b="1" dirty="0">
              <a:latin typeface="Courier New"/>
              <a:cs typeface="Courier New"/>
            </a:endParaRPr>
          </a:p>
          <a:p>
            <a:r>
              <a:rPr lang="es-ES" dirty="0">
                <a:ea typeface="+mn-lt"/>
                <a:cs typeface="+mn-lt"/>
              </a:rPr>
              <a:t>Al pasar este código por el validador, recibirías una advertencia similar a esta:</a:t>
            </a:r>
            <a:endParaRPr lang="es-ES" dirty="0"/>
          </a:p>
          <a:p>
            <a:pPr marL="0" indent="0">
              <a:buNone/>
            </a:pPr>
            <a:r>
              <a:rPr lang="es-ES" b="1" dirty="0">
                <a:latin typeface="Courier New"/>
                <a:ea typeface="+mn-lt"/>
                <a:cs typeface="+mn-lt"/>
              </a:rPr>
              <a:t>Error en la línea 3, columna 16: "</a:t>
            </a:r>
            <a:r>
              <a:rPr lang="es-ES" b="1" err="1">
                <a:latin typeface="Courier New"/>
                <a:ea typeface="+mn-lt"/>
                <a:cs typeface="+mn-lt"/>
              </a:rPr>
              <a:t>font-size</a:t>
            </a:r>
            <a:r>
              <a:rPr lang="es-ES" b="1" dirty="0">
                <a:latin typeface="Courier New"/>
                <a:ea typeface="+mn-lt"/>
                <a:cs typeface="+mn-lt"/>
              </a:rPr>
              <a:t>" no va precedido de punto y coma.</a:t>
            </a:r>
            <a:endParaRPr lang="es-ES" b="1" dirty="0">
              <a:latin typeface="Courier New"/>
              <a:cs typeface="Courier New"/>
            </a:endParaRPr>
          </a:p>
          <a:p>
            <a:r>
              <a:rPr lang="es-ES" dirty="0">
                <a:ea typeface="+mn-lt"/>
                <a:cs typeface="+mn-lt"/>
              </a:rPr>
              <a:t>Este tipo de error, fácil de cometer, puede hacer que el siguiente estilo (</a:t>
            </a:r>
            <a:r>
              <a:rPr lang="es-ES" dirty="0" err="1">
                <a:ea typeface="+mn-lt"/>
                <a:cs typeface="+mn-lt"/>
              </a:rPr>
              <a:t>padding</a:t>
            </a:r>
            <a:r>
              <a:rPr lang="es-ES" dirty="0">
                <a:ea typeface="+mn-lt"/>
                <a:cs typeface="+mn-lt"/>
              </a:rPr>
              <a:t>: 10px;) no se aplique correctamente en algunos navegadores. El validador te ayuda a encontrar y corregir estos pequeños fallos que pueden causar grandes problemas.</a:t>
            </a:r>
          </a:p>
          <a:p>
            <a:endParaRPr lang="es-ES" dirty="0"/>
          </a:p>
          <a:p>
            <a:endParaRPr lang="es-ES" dirty="0"/>
          </a:p>
        </p:txBody>
      </p:sp>
    </p:spTree>
    <p:extLst>
      <p:ext uri="{BB962C8B-B14F-4D97-AF65-F5344CB8AC3E}">
        <p14:creationId xmlns:p14="http://schemas.microsoft.com/office/powerpoint/2010/main" val="1747599521"/>
      </p:ext>
    </p:extLst>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792088-2499-0997-FBCD-89DC986BDAE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729E711-A6EA-B029-4B4C-8FA492B4FD1D}"/>
              </a:ext>
            </a:extLst>
          </p:cNvPr>
          <p:cNvSpPr>
            <a:spLocks noGrp="1"/>
          </p:cNvSpPr>
          <p:nvPr>
            <p:ph type="title"/>
          </p:nvPr>
        </p:nvSpPr>
        <p:spPr/>
        <p:txBody>
          <a:bodyPr/>
          <a:lstStyle/>
          <a:p>
            <a:r>
              <a:rPr lang="es-ES" b="0" dirty="0">
                <a:ea typeface="+mj-lt"/>
                <a:cs typeface="+mj-lt"/>
              </a:rPr>
              <a:t>2.4.7.2. </a:t>
            </a:r>
            <a:r>
              <a:rPr lang="es-ES" b="0" dirty="0" err="1">
                <a:ea typeface="+mj-lt"/>
                <a:cs typeface="+mj-lt"/>
              </a:rPr>
              <a:t>Linting</a:t>
            </a:r>
            <a:r>
              <a:rPr lang="es-ES" b="0" dirty="0">
                <a:ea typeface="+mj-lt"/>
                <a:cs typeface="+mj-lt"/>
              </a:rPr>
              <a:t> de CSS.</a:t>
            </a:r>
            <a:endParaRPr lang="es-ES" dirty="0"/>
          </a:p>
        </p:txBody>
      </p:sp>
      <p:sp>
        <p:nvSpPr>
          <p:cNvPr id="3" name="Marcador de contenido 2">
            <a:extLst>
              <a:ext uri="{FF2B5EF4-FFF2-40B4-BE49-F238E27FC236}">
                <a16:creationId xmlns:a16="http://schemas.microsoft.com/office/drawing/2014/main" id="{A8E5609F-8735-4B21-9288-EE31718016A0}"/>
              </a:ext>
            </a:extLst>
          </p:cNvPr>
          <p:cNvSpPr>
            <a:spLocks noGrp="1"/>
          </p:cNvSpPr>
          <p:nvPr>
            <p:ph idx="1"/>
          </p:nvPr>
        </p:nvSpPr>
        <p:spPr/>
        <p:txBody>
          <a:bodyPr vert="horz" lIns="91440" tIns="45720" rIns="91440" bIns="45720" rtlCol="0" anchor="t">
            <a:normAutofit fontScale="92500" lnSpcReduction="20000"/>
          </a:bodyPr>
          <a:lstStyle/>
          <a:p>
            <a:r>
              <a:rPr lang="es-ES" dirty="0">
                <a:ea typeface="+mn-lt"/>
                <a:cs typeface="+mn-lt"/>
              </a:rPr>
              <a:t>El </a:t>
            </a:r>
            <a:r>
              <a:rPr lang="es-ES" dirty="0" err="1">
                <a:ea typeface="+mn-lt"/>
                <a:cs typeface="+mn-lt"/>
              </a:rPr>
              <a:t>linting</a:t>
            </a:r>
            <a:r>
              <a:rPr lang="es-ES" dirty="0">
                <a:ea typeface="+mn-lt"/>
                <a:cs typeface="+mn-lt"/>
              </a:rPr>
              <a:t> es el proceso de analizar el código fuente para detectar errores programáticos, bugs, errores estilísticos y construcciones sospechosas. Un </a:t>
            </a:r>
            <a:r>
              <a:rPr lang="es-ES" dirty="0" err="1">
                <a:ea typeface="+mn-lt"/>
                <a:cs typeface="+mn-lt"/>
              </a:rPr>
              <a:t>linter</a:t>
            </a:r>
            <a:r>
              <a:rPr lang="es-ES" dirty="0">
                <a:ea typeface="+mn-lt"/>
                <a:cs typeface="+mn-lt"/>
              </a:rPr>
              <a:t> de CSS va más allá de la validación de sintaxis básica del W3C; es una herramienta que refuerza las mejores prácticas y las reglas de estilo que un equipo o un proyecto ha definido.</a:t>
            </a:r>
            <a:endParaRPr lang="es-ES" dirty="0"/>
          </a:p>
          <a:p>
            <a:r>
              <a:rPr lang="es-ES" dirty="0">
                <a:ea typeface="+mn-lt"/>
                <a:cs typeface="+mn-lt"/>
              </a:rPr>
              <a:t>La herramienta de </a:t>
            </a:r>
            <a:r>
              <a:rPr lang="es-ES" dirty="0" err="1">
                <a:ea typeface="+mn-lt"/>
                <a:cs typeface="+mn-lt"/>
              </a:rPr>
              <a:t>linting</a:t>
            </a:r>
            <a:r>
              <a:rPr lang="es-ES" dirty="0">
                <a:ea typeface="+mn-lt"/>
                <a:cs typeface="+mn-lt"/>
              </a:rPr>
              <a:t> más popular y avanzada para CSS es </a:t>
            </a:r>
            <a:r>
              <a:rPr lang="es-ES" dirty="0" err="1">
                <a:ea typeface="+mn-lt"/>
                <a:cs typeface="+mn-lt"/>
              </a:rPr>
              <a:t>Stylelint</a:t>
            </a:r>
            <a:r>
              <a:rPr lang="es-ES" dirty="0">
                <a:ea typeface="+mn-lt"/>
                <a:cs typeface="+mn-lt"/>
              </a:rPr>
              <a:t>.</a:t>
            </a:r>
            <a:endParaRPr lang="es-ES" dirty="0"/>
          </a:p>
          <a:p>
            <a:r>
              <a:rPr lang="es-ES" dirty="0">
                <a:ea typeface="+mn-lt"/>
                <a:cs typeface="+mn-lt"/>
              </a:rPr>
              <a:t>Un </a:t>
            </a:r>
            <a:r>
              <a:rPr lang="es-ES" dirty="0" err="1">
                <a:ea typeface="+mn-lt"/>
                <a:cs typeface="+mn-lt"/>
              </a:rPr>
              <a:t>linter</a:t>
            </a:r>
            <a:r>
              <a:rPr lang="es-ES" dirty="0">
                <a:ea typeface="+mn-lt"/>
                <a:cs typeface="+mn-lt"/>
              </a:rPr>
              <a:t> de CSS verifica tu código en busca de una amplia gama de problemas, incluyendo:</a:t>
            </a:r>
            <a:endParaRPr lang="es-ES" dirty="0"/>
          </a:p>
          <a:p>
            <a:pPr lvl="1">
              <a:buFont typeface="Courier New" panose="020B0604020202020204" pitchFamily="34" charset="0"/>
              <a:buChar char="o"/>
            </a:pPr>
            <a:r>
              <a:rPr lang="es-ES" dirty="0">
                <a:ea typeface="+mn-lt"/>
                <a:cs typeface="+mn-lt"/>
              </a:rPr>
              <a:t>Errores de sintaxis: Faltas de punto y coma, llaves desequilibradas, etc.</a:t>
            </a:r>
            <a:endParaRPr lang="es-ES" dirty="0"/>
          </a:p>
          <a:p>
            <a:pPr lvl="1">
              <a:buFont typeface="Courier New" panose="020B0604020202020204" pitchFamily="34" charset="0"/>
              <a:buChar char="o"/>
            </a:pPr>
            <a:r>
              <a:rPr lang="es-ES" dirty="0">
                <a:ea typeface="+mn-lt"/>
                <a:cs typeface="+mn-lt"/>
              </a:rPr>
              <a:t>Inconsistencias de formato: Comprueba si el código sigue una convención de formato específica, como el uso de espacios o tabulaciones, o si las propiedades y valores están en minúsculas.</a:t>
            </a:r>
            <a:endParaRPr lang="es-ES" dirty="0"/>
          </a:p>
          <a:p>
            <a:pPr lvl="1">
              <a:buFont typeface="Courier New" panose="020B0604020202020204" pitchFamily="34" charset="0"/>
              <a:buChar char="o"/>
            </a:pPr>
            <a:r>
              <a:rPr lang="es-ES" dirty="0">
                <a:ea typeface="+mn-lt"/>
                <a:cs typeface="+mn-lt"/>
              </a:rPr>
              <a:t>Adherencia a convenciones de código: Puede asegurar que los nombres de las clases sigan una metodología como BEM o que las propiedades de CSS se declaren en un orden específico.</a:t>
            </a:r>
            <a:endParaRPr lang="es-ES" dirty="0"/>
          </a:p>
          <a:p>
            <a:pPr lvl="1">
              <a:buFont typeface="Courier New" panose="020B0604020202020204" pitchFamily="34" charset="0"/>
              <a:buChar char="o"/>
            </a:pPr>
            <a:r>
              <a:rPr lang="es-ES" dirty="0">
                <a:ea typeface="+mn-lt"/>
                <a:cs typeface="+mn-lt"/>
              </a:rPr>
              <a:t>Uso de propiedades problemáticas: Advierte sobre el uso de propiedades en desuso o que pueden causar problemas de rendimiento, como el uso excesivo de @import.</a:t>
            </a:r>
            <a:endParaRPr lang="es-ES" dirty="0"/>
          </a:p>
          <a:p>
            <a:pPr lvl="1">
              <a:buFont typeface="Courier New" panose="020B0604020202020204" pitchFamily="34" charset="0"/>
              <a:buChar char="o"/>
            </a:pPr>
            <a:r>
              <a:rPr lang="es-ES" dirty="0">
                <a:ea typeface="+mn-lt"/>
                <a:cs typeface="+mn-lt"/>
              </a:rPr>
              <a:t>Posibles errores lógicos: Detecta selectores duplicados o propiedades que se sobrescriben innecesariamente.</a:t>
            </a:r>
            <a:endParaRPr lang="es-ES" dirty="0"/>
          </a:p>
          <a:p>
            <a:endParaRPr lang="es-ES" dirty="0"/>
          </a:p>
        </p:txBody>
      </p:sp>
    </p:spTree>
    <p:extLst>
      <p:ext uri="{BB962C8B-B14F-4D97-AF65-F5344CB8AC3E}">
        <p14:creationId xmlns:p14="http://schemas.microsoft.com/office/powerpoint/2010/main" val="3874882807"/>
      </p:ext>
    </p:extLst>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9D8AD9-7691-E89C-E24E-B967C084791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E8861AA-F4DF-43C6-14BC-E5590C257FB9}"/>
              </a:ext>
            </a:extLst>
          </p:cNvPr>
          <p:cNvSpPr>
            <a:spLocks noGrp="1"/>
          </p:cNvSpPr>
          <p:nvPr>
            <p:ph type="title"/>
          </p:nvPr>
        </p:nvSpPr>
        <p:spPr/>
        <p:txBody>
          <a:bodyPr/>
          <a:lstStyle/>
          <a:p>
            <a:r>
              <a:rPr lang="es-ES" b="0" dirty="0">
                <a:ea typeface="+mj-lt"/>
                <a:cs typeface="+mj-lt"/>
              </a:rPr>
              <a:t>2.4.7.2. </a:t>
            </a:r>
            <a:r>
              <a:rPr lang="es-ES" b="0" dirty="0" err="1">
                <a:ea typeface="+mj-lt"/>
                <a:cs typeface="+mj-lt"/>
              </a:rPr>
              <a:t>Linting</a:t>
            </a:r>
            <a:r>
              <a:rPr lang="es-ES" b="0" dirty="0">
                <a:ea typeface="+mj-lt"/>
                <a:cs typeface="+mj-lt"/>
              </a:rPr>
              <a:t> de CSS.</a:t>
            </a:r>
            <a:endParaRPr lang="es-ES" dirty="0"/>
          </a:p>
        </p:txBody>
      </p:sp>
      <p:sp>
        <p:nvSpPr>
          <p:cNvPr id="3" name="Marcador de contenido 2">
            <a:extLst>
              <a:ext uri="{FF2B5EF4-FFF2-40B4-BE49-F238E27FC236}">
                <a16:creationId xmlns:a16="http://schemas.microsoft.com/office/drawing/2014/main" id="{A512BEB6-C729-9145-7103-7E6229CD514C}"/>
              </a:ext>
            </a:extLst>
          </p:cNvPr>
          <p:cNvSpPr>
            <a:spLocks noGrp="1"/>
          </p:cNvSpPr>
          <p:nvPr>
            <p:ph idx="1"/>
          </p:nvPr>
        </p:nvSpPr>
        <p:spPr/>
        <p:txBody>
          <a:bodyPr vert="horz" lIns="91440" tIns="45720" rIns="91440" bIns="45720" rtlCol="0" anchor="t">
            <a:normAutofit fontScale="92500" lnSpcReduction="10000"/>
          </a:bodyPr>
          <a:lstStyle/>
          <a:p>
            <a:r>
              <a:rPr lang="es-ES" dirty="0">
                <a:ea typeface="+mn-lt"/>
                <a:cs typeface="+mn-lt"/>
              </a:rPr>
              <a:t>Ejemplo:</a:t>
            </a:r>
          </a:p>
          <a:p>
            <a:r>
              <a:rPr lang="es-ES" b="1" dirty="0">
                <a:latin typeface="Courier New"/>
                <a:ea typeface="+mn-lt"/>
                <a:cs typeface="+mn-lt"/>
              </a:rPr>
              <a:t>.</a:t>
            </a:r>
            <a:r>
              <a:rPr lang="es-ES" b="1" err="1">
                <a:latin typeface="Courier New"/>
                <a:ea typeface="+mn-lt"/>
                <a:cs typeface="+mn-lt"/>
              </a:rPr>
              <a:t>card</a:t>
            </a:r>
            <a:r>
              <a:rPr lang="es-ES" b="1" dirty="0">
                <a:latin typeface="Courier New"/>
                <a:ea typeface="+mn-lt"/>
                <a:cs typeface="+mn-lt"/>
              </a:rPr>
              <a:t>{ /* Sin espacio */</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background</a:t>
            </a:r>
            <a:r>
              <a:rPr lang="es-ES" b="1" dirty="0">
                <a:latin typeface="Courier New"/>
                <a:ea typeface="+mn-lt"/>
                <a:cs typeface="+mn-lt"/>
              </a:rPr>
              <a:t>-color: #F0F0F0; /* Mayúsculas */</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display</a:t>
            </a:r>
            <a:r>
              <a:rPr lang="es-ES" b="1" dirty="0">
                <a:latin typeface="Courier New"/>
                <a:ea typeface="+mn-lt"/>
                <a:cs typeface="+mn-lt"/>
              </a:rPr>
              <a:t>: block; /* Uso de propiedad prohibida */</a:t>
            </a:r>
            <a:br>
              <a:rPr lang="es-ES" b="1" dirty="0">
                <a:latin typeface="Courier New"/>
                <a:ea typeface="+mn-lt"/>
                <a:cs typeface="+mn-lt"/>
              </a:rPr>
            </a:br>
            <a:r>
              <a:rPr lang="es-ES" b="1" dirty="0">
                <a:latin typeface="Courier New"/>
                <a:ea typeface="+mn-lt"/>
                <a:cs typeface="+mn-lt"/>
              </a:rPr>
              <a:t>}</a:t>
            </a:r>
            <a:endParaRPr lang="es-ES" b="1" dirty="0">
              <a:latin typeface="Courier New"/>
            </a:endParaRPr>
          </a:p>
          <a:p>
            <a:r>
              <a:rPr lang="es-ES" dirty="0">
                <a:ea typeface="+mn-lt"/>
                <a:cs typeface="+mn-lt"/>
              </a:rPr>
              <a:t>Al pasar este código por </a:t>
            </a:r>
            <a:r>
              <a:rPr lang="es-ES" dirty="0" err="1">
                <a:ea typeface="+mn-lt"/>
                <a:cs typeface="+mn-lt"/>
              </a:rPr>
              <a:t>Stylelint</a:t>
            </a:r>
            <a:r>
              <a:rPr lang="es-ES" dirty="0">
                <a:ea typeface="+mn-lt"/>
                <a:cs typeface="+mn-lt"/>
              </a:rPr>
              <a:t>, la herramienta te mostraría una lista de los errores, indicando la línea y la columna donde se encuentran.</a:t>
            </a:r>
          </a:p>
          <a:p>
            <a:r>
              <a:rPr lang="es-ES" dirty="0">
                <a:ea typeface="+mn-lt"/>
                <a:cs typeface="+mn-lt"/>
              </a:rPr>
              <a:t>Ventajas del </a:t>
            </a:r>
            <a:r>
              <a:rPr lang="es-ES" dirty="0" err="1">
                <a:ea typeface="+mn-lt"/>
                <a:cs typeface="+mn-lt"/>
              </a:rPr>
              <a:t>linting</a:t>
            </a:r>
          </a:p>
          <a:p>
            <a:pPr lvl="1">
              <a:buFont typeface="Courier New" panose="020B0604020202020204" pitchFamily="34" charset="0"/>
              <a:buChar char="o"/>
            </a:pPr>
            <a:r>
              <a:rPr lang="es-ES" dirty="0">
                <a:ea typeface="+mn-lt"/>
                <a:cs typeface="+mn-lt"/>
              </a:rPr>
              <a:t>Automatización: El </a:t>
            </a:r>
            <a:r>
              <a:rPr lang="es-ES" dirty="0" err="1">
                <a:ea typeface="+mn-lt"/>
                <a:cs typeface="+mn-lt"/>
              </a:rPr>
              <a:t>linter</a:t>
            </a:r>
            <a:r>
              <a:rPr lang="es-ES" dirty="0">
                <a:ea typeface="+mn-lt"/>
                <a:cs typeface="+mn-lt"/>
              </a:rPr>
              <a:t> realiza miles de comprobaciones en segundos, algo imposible de hacer de forma manual.</a:t>
            </a:r>
          </a:p>
          <a:p>
            <a:pPr lvl="1">
              <a:buFont typeface="Courier New" panose="020B0604020202020204" pitchFamily="34" charset="0"/>
              <a:buChar char="o"/>
            </a:pPr>
            <a:r>
              <a:rPr lang="es-ES" dirty="0">
                <a:ea typeface="+mn-lt"/>
                <a:cs typeface="+mn-lt"/>
              </a:rPr>
              <a:t>Consistencia: Obliga a que todo el código del proyecto, sin importar quién lo escriba, siga las mismas reglas de estilo.</a:t>
            </a:r>
          </a:p>
          <a:p>
            <a:pPr lvl="1">
              <a:buFont typeface="Courier New" panose="020B0604020202020204" pitchFamily="34" charset="0"/>
              <a:buChar char="o"/>
            </a:pPr>
            <a:r>
              <a:rPr lang="es-ES" dirty="0">
                <a:ea typeface="+mn-lt"/>
                <a:cs typeface="+mn-lt"/>
              </a:rPr>
              <a:t>Mejora de la calidad del código: Al aplicar las mejores prácticas de forma sistemática, se reduce la probabilidad de errores y de futuros problemas de mantenimiento.</a:t>
            </a:r>
          </a:p>
          <a:p>
            <a:endParaRPr lang="es-ES" dirty="0"/>
          </a:p>
        </p:txBody>
      </p:sp>
    </p:spTree>
    <p:extLst>
      <p:ext uri="{BB962C8B-B14F-4D97-AF65-F5344CB8AC3E}">
        <p14:creationId xmlns:p14="http://schemas.microsoft.com/office/powerpoint/2010/main" val="1077828502"/>
      </p:ext>
    </p:extLst>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F96907-01B3-49DB-14AA-975C515DC80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CBEBF31-6D44-DA13-5B4B-E42AE8A885A2}"/>
              </a:ext>
            </a:extLst>
          </p:cNvPr>
          <p:cNvSpPr>
            <a:spLocks noGrp="1"/>
          </p:cNvSpPr>
          <p:nvPr>
            <p:ph type="title"/>
          </p:nvPr>
        </p:nvSpPr>
        <p:spPr/>
        <p:txBody>
          <a:bodyPr/>
          <a:lstStyle/>
          <a:p>
            <a:r>
              <a:rPr lang="es-ES" b="0" dirty="0">
                <a:ea typeface="+mj-lt"/>
                <a:cs typeface="+mj-lt"/>
              </a:rPr>
              <a:t>2.5. Efectos y animaciones con CSS3</a:t>
            </a:r>
            <a:endParaRPr lang="es-ES" dirty="0"/>
          </a:p>
        </p:txBody>
      </p:sp>
      <p:sp>
        <p:nvSpPr>
          <p:cNvPr id="3" name="Marcador de contenido 2">
            <a:extLst>
              <a:ext uri="{FF2B5EF4-FFF2-40B4-BE49-F238E27FC236}">
                <a16:creationId xmlns:a16="http://schemas.microsoft.com/office/drawing/2014/main" id="{9DA48F6D-E07A-54D1-8C85-744F6FC08B8B}"/>
              </a:ext>
            </a:extLst>
          </p:cNvPr>
          <p:cNvSpPr>
            <a:spLocks noGrp="1"/>
          </p:cNvSpPr>
          <p:nvPr>
            <p:ph idx="1"/>
          </p:nvPr>
        </p:nvSpPr>
        <p:spPr/>
        <p:txBody>
          <a:bodyPr vert="horz" lIns="91440" tIns="45720" rIns="91440" bIns="45720" rtlCol="0" anchor="t">
            <a:normAutofit fontScale="85000" lnSpcReduction="20000"/>
          </a:bodyPr>
          <a:lstStyle/>
          <a:p>
            <a:r>
              <a:rPr lang="es-ES" dirty="0">
                <a:ea typeface="+mn-lt"/>
                <a:cs typeface="+mn-lt"/>
              </a:rPr>
              <a:t>Con la llegada de CSS3, el desarrollo web dio un gran salto al permitir la creación de efectos visuales y animaciones dinámicas directamente desde las hojas de estilo. Antes de esto, la mayoría de las interacciones y animaciones complejas requerían JavaScript o tecnologías como Flash. Hoy en día, las animaciones CSS son la forma preferida de crear efectos visuales, ya que ofrecen un mejor rendimiento, son más fáciles de mantener y reducen la dependencia de JavaScript.</a:t>
            </a:r>
            <a:endParaRPr lang="es-ES" dirty="0"/>
          </a:p>
          <a:p>
            <a:r>
              <a:rPr lang="es-ES" dirty="0">
                <a:ea typeface="+mn-lt"/>
                <a:cs typeface="+mn-lt"/>
              </a:rPr>
              <a:t>Las animaciones y efectos CSS3 se ejecutan directamente en la GPU (unidad de procesamiento gráfico) de los dispositivos, lo que se traduce en un movimiento más suave y eficiente. Esto es crucial para una experiencia de usuario fluida y para el rendimiento general de una página web.</a:t>
            </a:r>
            <a:endParaRPr lang="es-ES" dirty="0"/>
          </a:p>
          <a:p>
            <a:r>
              <a:rPr lang="es-ES" dirty="0">
                <a:ea typeface="+mn-lt"/>
                <a:cs typeface="+mn-lt"/>
              </a:rPr>
              <a:t>Las principales herramientas que CSS3 nos ofrece para lograr estos efectos son:</a:t>
            </a:r>
            <a:endParaRPr lang="es-ES" dirty="0"/>
          </a:p>
          <a:p>
            <a:pPr lvl="1">
              <a:buFont typeface="Courier New" panose="020B0604020202020204" pitchFamily="34" charset="0"/>
              <a:buChar char="o"/>
            </a:pPr>
            <a:r>
              <a:rPr lang="es-ES" dirty="0">
                <a:ea typeface="+mn-lt"/>
                <a:cs typeface="+mn-lt"/>
              </a:rPr>
              <a:t>Transiciones (</a:t>
            </a:r>
            <a:r>
              <a:rPr lang="es-ES" dirty="0" err="1">
                <a:ea typeface="+mn-lt"/>
                <a:cs typeface="+mn-lt"/>
              </a:rPr>
              <a:t>Transitions</a:t>
            </a:r>
            <a:r>
              <a:rPr lang="es-ES" dirty="0">
                <a:ea typeface="+mn-lt"/>
                <a:cs typeface="+mn-lt"/>
              </a:rPr>
              <a:t>): Permiten crear cambios suaves y animados entre diferentes estados de un elemento, como cuando se pasa el cursor por encima (:</a:t>
            </a:r>
            <a:r>
              <a:rPr lang="es-ES" dirty="0" err="1">
                <a:ea typeface="+mn-lt"/>
                <a:cs typeface="+mn-lt"/>
              </a:rPr>
              <a:t>hover</a:t>
            </a:r>
            <a:r>
              <a:rPr lang="es-ES" dirty="0">
                <a:ea typeface="+mn-lt"/>
                <a:cs typeface="+mn-lt"/>
              </a:rPr>
              <a:t>). Son ideales para efectos simples y directos.</a:t>
            </a:r>
            <a:endParaRPr lang="es-ES"/>
          </a:p>
          <a:p>
            <a:pPr lvl="1">
              <a:buFont typeface="Courier New" panose="020B0604020202020204" pitchFamily="34" charset="0"/>
              <a:buChar char="o"/>
            </a:pPr>
            <a:r>
              <a:rPr lang="es-ES" dirty="0">
                <a:ea typeface="+mn-lt"/>
                <a:cs typeface="+mn-lt"/>
              </a:rPr>
              <a:t>Transformaciones (</a:t>
            </a:r>
            <a:r>
              <a:rPr lang="es-ES" dirty="0" err="1">
                <a:ea typeface="+mn-lt"/>
                <a:cs typeface="+mn-lt"/>
              </a:rPr>
              <a:t>Transforms</a:t>
            </a:r>
            <a:r>
              <a:rPr lang="es-ES" dirty="0">
                <a:ea typeface="+mn-lt"/>
                <a:cs typeface="+mn-lt"/>
              </a:rPr>
              <a:t>): Modifican la posición, el tamaño, la rotación o la inclinación de un elemento en un espacio 2D o 3D. Se pueden combinar con las transiciones y animaciones para crear efectos complejos.</a:t>
            </a:r>
            <a:endParaRPr lang="es-ES" dirty="0"/>
          </a:p>
          <a:p>
            <a:pPr lvl="1">
              <a:buFont typeface="Courier New" panose="020B0604020202020204" pitchFamily="34" charset="0"/>
              <a:buChar char="o"/>
            </a:pPr>
            <a:r>
              <a:rPr lang="es-ES" dirty="0">
                <a:ea typeface="+mn-lt"/>
                <a:cs typeface="+mn-lt"/>
              </a:rPr>
              <a:t>Animaciones (</a:t>
            </a:r>
            <a:r>
              <a:rPr lang="es-ES" dirty="0" err="1">
                <a:ea typeface="+mn-lt"/>
                <a:cs typeface="+mn-lt"/>
              </a:rPr>
              <a:t>Animations</a:t>
            </a:r>
            <a:r>
              <a:rPr lang="es-ES" dirty="0">
                <a:ea typeface="+mn-lt"/>
                <a:cs typeface="+mn-lt"/>
              </a:rPr>
              <a:t>): Usando la regla @keyframes, las animaciones permiten crear secuencias de movimiento complejas y con múltiples pasos. Son perfectas para efectos que no se limitan a un solo cambio de estado, como un icono que se mueve continuamente o un </a:t>
            </a:r>
            <a:r>
              <a:rPr lang="es-ES" dirty="0" err="1">
                <a:ea typeface="+mn-lt"/>
                <a:cs typeface="+mn-lt"/>
              </a:rPr>
              <a:t>loader</a:t>
            </a:r>
            <a:r>
              <a:rPr lang="es-ES" dirty="0">
                <a:ea typeface="+mn-lt"/>
                <a:cs typeface="+mn-lt"/>
              </a:rPr>
              <a:t> que gira.</a:t>
            </a:r>
            <a:endParaRPr lang="es-ES" dirty="0"/>
          </a:p>
        </p:txBody>
      </p:sp>
    </p:spTree>
    <p:extLst>
      <p:ext uri="{BB962C8B-B14F-4D97-AF65-F5344CB8AC3E}">
        <p14:creationId xmlns:p14="http://schemas.microsoft.com/office/powerpoint/2010/main" val="2902638281"/>
      </p:ext>
    </p:extLst>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B487A6-EFAC-AD58-6854-A245C5B3702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670033D-30E9-980C-5B2B-40CD9C972131}"/>
              </a:ext>
            </a:extLst>
          </p:cNvPr>
          <p:cNvSpPr>
            <a:spLocks noGrp="1"/>
          </p:cNvSpPr>
          <p:nvPr>
            <p:ph type="title"/>
          </p:nvPr>
        </p:nvSpPr>
        <p:spPr/>
        <p:txBody>
          <a:bodyPr/>
          <a:lstStyle/>
          <a:p>
            <a:r>
              <a:rPr lang="es-ES" b="0" dirty="0">
                <a:ea typeface="+mj-lt"/>
                <a:cs typeface="+mj-lt"/>
              </a:rPr>
              <a:t>2.5. Efectos y animaciones con CSS3</a:t>
            </a:r>
            <a:endParaRPr lang="es-ES" dirty="0"/>
          </a:p>
        </p:txBody>
      </p:sp>
      <p:sp>
        <p:nvSpPr>
          <p:cNvPr id="3" name="Marcador de contenido 2">
            <a:extLst>
              <a:ext uri="{FF2B5EF4-FFF2-40B4-BE49-F238E27FC236}">
                <a16:creationId xmlns:a16="http://schemas.microsoft.com/office/drawing/2014/main" id="{7613C301-2216-6063-B9E1-347C15644908}"/>
              </a:ext>
            </a:extLst>
          </p:cNvPr>
          <p:cNvSpPr>
            <a:spLocks noGrp="1"/>
          </p:cNvSpPr>
          <p:nvPr>
            <p:ph idx="1"/>
          </p:nvPr>
        </p:nvSpPr>
        <p:spPr/>
        <p:txBody>
          <a:bodyPr vert="horz" lIns="91440" tIns="45720" rIns="91440" bIns="45720" rtlCol="0" anchor="t">
            <a:normAutofit fontScale="77500" lnSpcReduction="20000"/>
          </a:bodyPr>
          <a:lstStyle/>
          <a:p>
            <a:r>
              <a:rPr lang="es-ES" dirty="0">
                <a:ea typeface="+mn-lt"/>
                <a:cs typeface="+mn-lt"/>
              </a:rPr>
              <a:t>Ejemplo: Transición básica. Este ejemplo muestra un </a:t>
            </a:r>
            <a:r>
              <a:rPr lang="es-ES" dirty="0" err="1">
                <a:ea typeface="+mn-lt"/>
                <a:cs typeface="+mn-lt"/>
              </a:rPr>
              <a:t>div</a:t>
            </a:r>
            <a:r>
              <a:rPr lang="es-ES" dirty="0">
                <a:ea typeface="+mn-lt"/>
                <a:cs typeface="+mn-lt"/>
              </a:rPr>
              <a:t> que cambia su color de fondo y su tamaño de forma suave cuando el cursor del ratón pasa por encima.</a:t>
            </a:r>
            <a:endParaRPr lang="es-ES" dirty="0"/>
          </a:p>
          <a:p>
            <a:r>
              <a:rPr lang="es-ES" b="1" dirty="0">
                <a:latin typeface="Courier New"/>
                <a:ea typeface="+mn-lt"/>
                <a:cs typeface="+mn-lt"/>
              </a:rPr>
              <a:t>&lt;</a:t>
            </a:r>
            <a:r>
              <a:rPr lang="es-ES" b="1" err="1">
                <a:latin typeface="Courier New"/>
                <a:ea typeface="+mn-lt"/>
                <a:cs typeface="+mn-lt"/>
              </a:rPr>
              <a:t>div</a:t>
            </a:r>
            <a:r>
              <a:rPr lang="es-ES" b="1" dirty="0">
                <a:latin typeface="Courier New"/>
                <a:ea typeface="+mn-lt"/>
                <a:cs typeface="+mn-lt"/>
              </a:rPr>
              <a:t> </a:t>
            </a:r>
            <a:r>
              <a:rPr lang="es-ES" b="1" err="1">
                <a:latin typeface="Courier New"/>
                <a:ea typeface="+mn-lt"/>
                <a:cs typeface="+mn-lt"/>
              </a:rPr>
              <a:t>class</a:t>
            </a:r>
            <a:r>
              <a:rPr lang="es-ES" b="1" dirty="0">
                <a:latin typeface="Courier New"/>
                <a:ea typeface="+mn-lt"/>
                <a:cs typeface="+mn-lt"/>
              </a:rPr>
              <a:t>="caja-animada"&gt;&lt;/</a:t>
            </a:r>
            <a:r>
              <a:rPr lang="es-ES" b="1" err="1">
                <a:latin typeface="Courier New"/>
                <a:ea typeface="+mn-lt"/>
                <a:cs typeface="+mn-lt"/>
              </a:rPr>
              <a:t>div</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.caja-animada {</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width</a:t>
            </a:r>
            <a:r>
              <a:rPr lang="es-ES" b="1" dirty="0">
                <a:latin typeface="Courier New"/>
                <a:ea typeface="+mn-lt"/>
                <a:cs typeface="+mn-lt"/>
              </a:rPr>
              <a:t>: 100px;</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height</a:t>
            </a:r>
            <a:r>
              <a:rPr lang="es-ES" b="1" dirty="0">
                <a:latin typeface="Courier New"/>
                <a:ea typeface="+mn-lt"/>
                <a:cs typeface="+mn-lt"/>
              </a:rPr>
              <a:t>: 100px;</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background</a:t>
            </a:r>
            <a:r>
              <a:rPr lang="es-ES" b="1" dirty="0">
                <a:latin typeface="Courier New"/>
                <a:ea typeface="+mn-lt"/>
                <a:cs typeface="+mn-lt"/>
              </a:rPr>
              <a:t>-color: #007bff;</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transition</a:t>
            </a:r>
            <a:r>
              <a:rPr lang="es-ES" b="1" dirty="0">
                <a:latin typeface="Courier New"/>
                <a:ea typeface="+mn-lt"/>
                <a:cs typeface="+mn-lt"/>
              </a:rPr>
              <a:t>: </a:t>
            </a:r>
            <a:r>
              <a:rPr lang="es-ES" b="1" err="1">
                <a:latin typeface="Courier New"/>
                <a:ea typeface="+mn-lt"/>
                <a:cs typeface="+mn-lt"/>
              </a:rPr>
              <a:t>all</a:t>
            </a:r>
            <a:r>
              <a:rPr lang="es-ES" b="1" dirty="0">
                <a:latin typeface="Courier New"/>
                <a:ea typeface="+mn-lt"/>
                <a:cs typeface="+mn-lt"/>
              </a:rPr>
              <a:t> 0.5s </a:t>
            </a:r>
            <a:r>
              <a:rPr lang="es-ES" b="1" err="1">
                <a:latin typeface="Courier New"/>
                <a:ea typeface="+mn-lt"/>
                <a:cs typeface="+mn-lt"/>
              </a:rPr>
              <a:t>ease</a:t>
            </a:r>
            <a:r>
              <a:rPr lang="es-ES" b="1" dirty="0">
                <a:latin typeface="Courier New"/>
                <a:ea typeface="+mn-lt"/>
                <a:cs typeface="+mn-lt"/>
              </a:rPr>
              <a:t>-</a:t>
            </a:r>
            <a:r>
              <a:rPr lang="es-ES" b="1" err="1">
                <a:latin typeface="Courier New"/>
                <a:ea typeface="+mn-lt"/>
                <a:cs typeface="+mn-lt"/>
              </a:rPr>
              <a:t>in-out</a:t>
            </a:r>
            <a:r>
              <a:rPr lang="es-ES" b="1" dirty="0">
                <a:latin typeface="Courier New"/>
                <a:ea typeface="+mn-lt"/>
                <a:cs typeface="+mn-lt"/>
              </a:rPr>
              <a:t>; /* La transición dura 0.5 segundos */</a:t>
            </a:r>
            <a:br>
              <a:rPr lang="es-ES" b="1" dirty="0">
                <a:latin typeface="Courier New"/>
                <a:ea typeface="+mn-lt"/>
                <a:cs typeface="+mn-lt"/>
              </a:rPr>
            </a:b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 Estado al pasar el cursor */</a:t>
            </a:r>
            <a:br>
              <a:rPr lang="es-ES" b="1" dirty="0">
                <a:latin typeface="Courier New"/>
                <a:ea typeface="+mn-lt"/>
                <a:cs typeface="+mn-lt"/>
              </a:rPr>
            </a:br>
            <a:r>
              <a:rPr lang="es-ES" b="1" dirty="0">
                <a:latin typeface="Courier New"/>
                <a:ea typeface="+mn-lt"/>
                <a:cs typeface="+mn-lt"/>
              </a:rPr>
              <a:t>.</a:t>
            </a:r>
            <a:r>
              <a:rPr lang="es-ES" b="1" err="1">
                <a:latin typeface="Courier New"/>
                <a:ea typeface="+mn-lt"/>
                <a:cs typeface="+mn-lt"/>
              </a:rPr>
              <a:t>caja-animada:hover</a:t>
            </a: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width</a:t>
            </a:r>
            <a:r>
              <a:rPr lang="es-ES" b="1" dirty="0">
                <a:latin typeface="Courier New"/>
                <a:ea typeface="+mn-lt"/>
                <a:cs typeface="+mn-lt"/>
              </a:rPr>
              <a:t>: 150px;</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height</a:t>
            </a:r>
            <a:r>
              <a:rPr lang="es-ES" b="1" dirty="0">
                <a:latin typeface="Courier New"/>
                <a:ea typeface="+mn-lt"/>
                <a:cs typeface="+mn-lt"/>
              </a:rPr>
              <a:t>: 150px;</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background</a:t>
            </a:r>
            <a:r>
              <a:rPr lang="es-ES" b="1" dirty="0">
                <a:latin typeface="Courier New"/>
                <a:ea typeface="+mn-lt"/>
                <a:cs typeface="+mn-lt"/>
              </a:rPr>
              <a:t>-color: #28a745;</a:t>
            </a:r>
            <a:br>
              <a:rPr lang="es-ES" b="1" dirty="0">
                <a:latin typeface="Courier New"/>
                <a:ea typeface="+mn-lt"/>
                <a:cs typeface="+mn-lt"/>
              </a:rPr>
            </a:br>
            <a:r>
              <a:rPr lang="es-ES" b="1" dirty="0">
                <a:latin typeface="Courier New"/>
                <a:ea typeface="+mn-lt"/>
                <a:cs typeface="+mn-lt"/>
              </a:rPr>
              <a:t>}</a:t>
            </a:r>
            <a:endParaRPr lang="es-ES" b="1" dirty="0">
              <a:latin typeface="Courier New"/>
            </a:endParaRPr>
          </a:p>
          <a:p>
            <a:r>
              <a:rPr lang="es-ES" dirty="0">
                <a:ea typeface="+mn-lt"/>
                <a:cs typeface="+mn-lt"/>
              </a:rPr>
              <a:t>En este caso, la propiedad </a:t>
            </a:r>
            <a:r>
              <a:rPr lang="es-ES" dirty="0" err="1">
                <a:ea typeface="+mn-lt"/>
                <a:cs typeface="+mn-lt"/>
              </a:rPr>
              <a:t>transition</a:t>
            </a:r>
            <a:r>
              <a:rPr lang="es-ES" dirty="0">
                <a:ea typeface="+mn-lt"/>
                <a:cs typeface="+mn-lt"/>
              </a:rPr>
              <a:t> es la que hace la magia. Le dice al navegador que cualquier cambio en las propiedades (</a:t>
            </a:r>
            <a:r>
              <a:rPr lang="es-ES" dirty="0" err="1">
                <a:ea typeface="+mn-lt"/>
                <a:cs typeface="+mn-lt"/>
              </a:rPr>
              <a:t>all</a:t>
            </a:r>
            <a:r>
              <a:rPr lang="es-ES" dirty="0">
                <a:ea typeface="+mn-lt"/>
                <a:cs typeface="+mn-lt"/>
              </a:rPr>
              <a:t>) debe ser animado durante medio segundo (0.5s) con una curva de velocidad suave (</a:t>
            </a:r>
            <a:r>
              <a:rPr lang="es-ES" dirty="0" err="1">
                <a:ea typeface="+mn-lt"/>
                <a:cs typeface="+mn-lt"/>
              </a:rPr>
              <a:t>ease</a:t>
            </a:r>
            <a:r>
              <a:rPr lang="es-ES" dirty="0">
                <a:ea typeface="+mn-lt"/>
                <a:cs typeface="+mn-lt"/>
              </a:rPr>
              <a:t>-</a:t>
            </a:r>
            <a:r>
              <a:rPr lang="es-ES" dirty="0" err="1">
                <a:ea typeface="+mn-lt"/>
                <a:cs typeface="+mn-lt"/>
              </a:rPr>
              <a:t>in-out</a:t>
            </a:r>
            <a:r>
              <a:rPr lang="es-ES" dirty="0">
                <a:ea typeface="+mn-lt"/>
                <a:cs typeface="+mn-lt"/>
              </a:rPr>
              <a:t>).</a:t>
            </a:r>
            <a:endParaRPr lang="es-ES" dirty="0"/>
          </a:p>
        </p:txBody>
      </p:sp>
    </p:spTree>
    <p:extLst>
      <p:ext uri="{BB962C8B-B14F-4D97-AF65-F5344CB8AC3E}">
        <p14:creationId xmlns:p14="http://schemas.microsoft.com/office/powerpoint/2010/main" val="3079950068"/>
      </p:ext>
    </p:extLst>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F6C84B-661C-A901-00EC-469BB25CF27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2D54DB7-A6C4-013B-A2C3-204527778FBC}"/>
              </a:ext>
            </a:extLst>
          </p:cNvPr>
          <p:cNvSpPr>
            <a:spLocks noGrp="1"/>
          </p:cNvSpPr>
          <p:nvPr>
            <p:ph type="title"/>
          </p:nvPr>
        </p:nvSpPr>
        <p:spPr/>
        <p:txBody>
          <a:bodyPr/>
          <a:lstStyle/>
          <a:p>
            <a:r>
              <a:rPr lang="es-ES" b="0" dirty="0">
                <a:ea typeface="+mj-lt"/>
                <a:cs typeface="+mj-lt"/>
              </a:rPr>
              <a:t>2.5.1. Transiciones.</a:t>
            </a:r>
            <a:endParaRPr lang="es-ES" dirty="0"/>
          </a:p>
        </p:txBody>
      </p:sp>
      <p:sp>
        <p:nvSpPr>
          <p:cNvPr id="3" name="Marcador de contenido 2">
            <a:extLst>
              <a:ext uri="{FF2B5EF4-FFF2-40B4-BE49-F238E27FC236}">
                <a16:creationId xmlns:a16="http://schemas.microsoft.com/office/drawing/2014/main" id="{975DD6F8-7D65-E4FF-4BB3-B0AE4EEB9DDB}"/>
              </a:ext>
            </a:extLst>
          </p:cNvPr>
          <p:cNvSpPr>
            <a:spLocks noGrp="1"/>
          </p:cNvSpPr>
          <p:nvPr>
            <p:ph idx="1"/>
          </p:nvPr>
        </p:nvSpPr>
        <p:spPr/>
        <p:txBody>
          <a:bodyPr vert="horz" lIns="91440" tIns="45720" rIns="91440" bIns="45720" rtlCol="0" anchor="t">
            <a:normAutofit fontScale="92500" lnSpcReduction="20000"/>
          </a:bodyPr>
          <a:lstStyle/>
          <a:p>
            <a:r>
              <a:rPr lang="es-ES" dirty="0">
                <a:ea typeface="+mn-lt"/>
                <a:cs typeface="+mn-lt"/>
              </a:rPr>
              <a:t>Las transiciones de CSS son una forma sencilla y potente de crear animaciones suaves cuando una propiedad de un elemento cambia de un estado a otro. Son ideales para efectos simples y directos, como cambiar el color o el tamaño de un botón cuando el usuario pasa el cursor por encima.</a:t>
            </a:r>
            <a:endParaRPr lang="es-ES" dirty="0"/>
          </a:p>
          <a:p>
            <a:r>
              <a:rPr lang="es-ES" dirty="0">
                <a:ea typeface="+mn-lt"/>
                <a:cs typeface="+mn-lt"/>
              </a:rPr>
              <a:t>El objetivo principal de las transiciones es que la interfaz no se sienta estática, sino que reaccione de forma fluida a la interacción del usuario. Una transición se define usando cuatro propiedades principales:</a:t>
            </a:r>
            <a:endParaRPr lang="es-ES" dirty="0"/>
          </a:p>
          <a:p>
            <a:r>
              <a:rPr lang="es-ES" b="1" err="1">
                <a:latin typeface="Courier New"/>
                <a:ea typeface="+mn-lt"/>
                <a:cs typeface="+mn-lt"/>
              </a:rPr>
              <a:t>transition-property</a:t>
            </a:r>
            <a:r>
              <a:rPr lang="es-ES" dirty="0">
                <a:ea typeface="+mn-lt"/>
                <a:cs typeface="+mn-lt"/>
              </a:rPr>
              <a:t>: Esta propiedad especifica qué propiedades de CSS deben ser animadas. Puedes nombrar una sola propiedad, varias propiedades separadas por comas, o usar </a:t>
            </a:r>
            <a:r>
              <a:rPr lang="es-ES" err="1">
                <a:ea typeface="+mn-lt"/>
                <a:cs typeface="+mn-lt"/>
              </a:rPr>
              <a:t>all</a:t>
            </a:r>
            <a:r>
              <a:rPr lang="es-ES" dirty="0">
                <a:ea typeface="+mn-lt"/>
                <a:cs typeface="+mn-lt"/>
              </a:rPr>
              <a:t> para animar cualquier propiedad que cambie.</a:t>
            </a:r>
            <a:endParaRPr lang="es-ES"/>
          </a:p>
          <a:p>
            <a:r>
              <a:rPr lang="es-ES" dirty="0">
                <a:ea typeface="+mn-lt"/>
                <a:cs typeface="+mn-lt"/>
              </a:rPr>
              <a:t>Valores: </a:t>
            </a:r>
            <a:r>
              <a:rPr lang="es-ES" dirty="0" err="1">
                <a:ea typeface="+mn-lt"/>
                <a:cs typeface="+mn-lt"/>
              </a:rPr>
              <a:t>none</a:t>
            </a:r>
            <a:r>
              <a:rPr lang="es-ES" dirty="0">
                <a:ea typeface="+mn-lt"/>
                <a:cs typeface="+mn-lt"/>
              </a:rPr>
              <a:t> (por defecto), </a:t>
            </a:r>
            <a:r>
              <a:rPr lang="es-ES" dirty="0" err="1">
                <a:ea typeface="+mn-lt"/>
                <a:cs typeface="+mn-lt"/>
              </a:rPr>
              <a:t>all</a:t>
            </a:r>
            <a:r>
              <a:rPr lang="es-ES" dirty="0">
                <a:ea typeface="+mn-lt"/>
                <a:cs typeface="+mn-lt"/>
              </a:rPr>
              <a:t>, &lt;nombre-de-propiedad&gt; (ej. </a:t>
            </a:r>
            <a:r>
              <a:rPr lang="es-ES" dirty="0" err="1">
                <a:ea typeface="+mn-lt"/>
                <a:cs typeface="+mn-lt"/>
              </a:rPr>
              <a:t>background</a:t>
            </a:r>
            <a:r>
              <a:rPr lang="es-ES" dirty="0">
                <a:ea typeface="+mn-lt"/>
                <a:cs typeface="+mn-lt"/>
              </a:rPr>
              <a:t>-color, </a:t>
            </a:r>
            <a:r>
              <a:rPr lang="es-ES" dirty="0" err="1">
                <a:ea typeface="+mn-lt"/>
                <a:cs typeface="+mn-lt"/>
              </a:rPr>
              <a:t>transform</a:t>
            </a:r>
            <a:r>
              <a:rPr lang="es-ES" dirty="0">
                <a:ea typeface="+mn-lt"/>
                <a:cs typeface="+mn-lt"/>
              </a:rPr>
              <a:t>).</a:t>
            </a:r>
            <a:endParaRPr lang="es-ES" dirty="0"/>
          </a:p>
          <a:p>
            <a:pPr marL="0" indent="0">
              <a:buNone/>
            </a:pPr>
            <a:r>
              <a:rPr lang="es-ES" b="1" dirty="0">
                <a:latin typeface="Courier New"/>
                <a:ea typeface="+mn-lt"/>
                <a:cs typeface="+mn-lt"/>
              </a:rPr>
              <a:t>    .caja {</a:t>
            </a:r>
            <a:br>
              <a:rPr lang="es-ES" b="1" dirty="0">
                <a:latin typeface="Courier New"/>
                <a:ea typeface="+mn-lt"/>
                <a:cs typeface="+mn-lt"/>
              </a:rPr>
            </a:br>
            <a:r>
              <a:rPr lang="es-ES" b="1" dirty="0">
                <a:latin typeface="Courier New"/>
                <a:ea typeface="+mn-lt"/>
                <a:cs typeface="+mn-lt"/>
              </a:rPr>
              <a:t>      /* Solo </a:t>
            </a:r>
            <a:r>
              <a:rPr lang="es-ES" b="1" err="1">
                <a:latin typeface="Courier New"/>
                <a:ea typeface="+mn-lt"/>
                <a:cs typeface="+mn-lt"/>
              </a:rPr>
              <a:t>transiciona</a:t>
            </a:r>
            <a:r>
              <a:rPr lang="es-ES" b="1" dirty="0">
                <a:latin typeface="Courier New"/>
                <a:ea typeface="+mn-lt"/>
                <a:cs typeface="+mn-lt"/>
              </a:rPr>
              <a:t> el color de fondo */</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transition-property</a:t>
            </a:r>
            <a:r>
              <a:rPr lang="es-ES" b="1" dirty="0">
                <a:latin typeface="Courier New"/>
                <a:ea typeface="+mn-lt"/>
                <a:cs typeface="+mn-lt"/>
              </a:rPr>
              <a:t>: </a:t>
            </a:r>
            <a:r>
              <a:rPr lang="es-ES" b="1" err="1">
                <a:latin typeface="Courier New"/>
                <a:ea typeface="+mn-lt"/>
                <a:cs typeface="+mn-lt"/>
              </a:rPr>
              <a:t>background</a:t>
            </a:r>
            <a:r>
              <a:rPr lang="es-ES" b="1" dirty="0">
                <a:latin typeface="Courier New"/>
                <a:ea typeface="+mn-lt"/>
                <a:cs typeface="+mn-lt"/>
              </a:rPr>
              <a:t>-color; </a:t>
            </a:r>
            <a:br>
              <a:rPr lang="es-ES" b="1" dirty="0">
                <a:latin typeface="Courier New"/>
                <a:ea typeface="+mn-lt"/>
                <a:cs typeface="+mn-lt"/>
              </a:rPr>
            </a:br>
            <a:r>
              <a:rPr lang="es-ES" b="1" dirty="0">
                <a:latin typeface="Courier New"/>
                <a:ea typeface="+mn-lt"/>
                <a:cs typeface="+mn-lt"/>
              </a:rPr>
              <a:t>    }</a:t>
            </a:r>
            <a:endParaRPr lang="es-ES" b="1" dirty="0">
              <a:latin typeface="Courier New"/>
              <a:cs typeface="Courier New"/>
            </a:endParaRPr>
          </a:p>
          <a:p>
            <a:endParaRPr lang="es-ES" dirty="0"/>
          </a:p>
        </p:txBody>
      </p:sp>
    </p:spTree>
    <p:extLst>
      <p:ext uri="{BB962C8B-B14F-4D97-AF65-F5344CB8AC3E}">
        <p14:creationId xmlns:p14="http://schemas.microsoft.com/office/powerpoint/2010/main" val="2013761604"/>
      </p:ext>
    </p:extLst>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90A88-D762-2509-AEFC-2C5E03ABED1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8D240C8-141B-EBA2-F0BE-DE6F67624AD9}"/>
              </a:ext>
            </a:extLst>
          </p:cNvPr>
          <p:cNvSpPr>
            <a:spLocks noGrp="1"/>
          </p:cNvSpPr>
          <p:nvPr>
            <p:ph type="title"/>
          </p:nvPr>
        </p:nvSpPr>
        <p:spPr/>
        <p:txBody>
          <a:bodyPr/>
          <a:lstStyle/>
          <a:p>
            <a:r>
              <a:rPr lang="es-ES" b="0" dirty="0">
                <a:ea typeface="+mj-lt"/>
                <a:cs typeface="+mj-lt"/>
              </a:rPr>
              <a:t>2.5.1. Transiciones.</a:t>
            </a:r>
            <a:endParaRPr lang="es-ES" dirty="0"/>
          </a:p>
        </p:txBody>
      </p:sp>
      <p:sp>
        <p:nvSpPr>
          <p:cNvPr id="3" name="Marcador de contenido 2">
            <a:extLst>
              <a:ext uri="{FF2B5EF4-FFF2-40B4-BE49-F238E27FC236}">
                <a16:creationId xmlns:a16="http://schemas.microsoft.com/office/drawing/2014/main" id="{9792704F-9E08-7979-CF50-20E88D38E428}"/>
              </a:ext>
            </a:extLst>
          </p:cNvPr>
          <p:cNvSpPr>
            <a:spLocks noGrp="1"/>
          </p:cNvSpPr>
          <p:nvPr>
            <p:ph idx="1"/>
          </p:nvPr>
        </p:nvSpPr>
        <p:spPr/>
        <p:txBody>
          <a:bodyPr vert="horz" lIns="91440" tIns="45720" rIns="91440" bIns="45720" rtlCol="0" anchor="t">
            <a:normAutofit fontScale="77500" lnSpcReduction="20000"/>
          </a:bodyPr>
          <a:lstStyle/>
          <a:p>
            <a:r>
              <a:rPr lang="es-ES" b="1" dirty="0" err="1">
                <a:latin typeface="Courier New"/>
                <a:ea typeface="+mn-lt"/>
                <a:cs typeface="+mn-lt"/>
              </a:rPr>
              <a:t>transition-duration</a:t>
            </a:r>
            <a:r>
              <a:rPr lang="es-ES" dirty="0">
                <a:ea typeface="+mn-lt"/>
                <a:cs typeface="+mn-lt"/>
              </a:rPr>
              <a:t>: Define cuánto tiempo durará la transición. Este valor es crucial para controlar la velocidad del efecto. Se especifica en segundos (s) o milisegundos (ms).</a:t>
            </a:r>
            <a:endParaRPr lang="es-ES"/>
          </a:p>
          <a:p>
            <a:r>
              <a:rPr lang="es-ES" dirty="0">
                <a:ea typeface="+mn-lt"/>
                <a:cs typeface="+mn-lt"/>
              </a:rPr>
              <a:t>Valores: &lt;tiempo&gt; (ej. 0.5s, 500ms).</a:t>
            </a:r>
          </a:p>
          <a:p>
            <a:pPr marL="0" indent="0">
              <a:buNone/>
            </a:pPr>
            <a:r>
              <a:rPr lang="es-ES" b="1" dirty="0">
                <a:latin typeface="Courier New"/>
                <a:ea typeface="+mn-lt"/>
                <a:cs typeface="+mn-lt"/>
              </a:rPr>
              <a:t>    .caja {</a:t>
            </a:r>
            <a:br>
              <a:rPr lang="es-ES" b="1" dirty="0">
                <a:latin typeface="Courier New"/>
                <a:ea typeface="+mn-lt"/>
                <a:cs typeface="+mn-lt"/>
              </a:rPr>
            </a:br>
            <a:r>
              <a:rPr lang="es-ES" b="1" dirty="0">
                <a:latin typeface="Courier New"/>
                <a:ea typeface="+mn-lt"/>
                <a:cs typeface="+mn-lt"/>
              </a:rPr>
              <a:t>      /* La transición durará 0.5 segundos */</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transition-duration</a:t>
            </a:r>
            <a:r>
              <a:rPr lang="es-ES" b="1" dirty="0">
                <a:latin typeface="Courier New"/>
                <a:ea typeface="+mn-lt"/>
                <a:cs typeface="+mn-lt"/>
              </a:rPr>
              <a:t>: 0.5s;</a:t>
            </a:r>
            <a:br>
              <a:rPr lang="es-ES" b="1" dirty="0">
                <a:latin typeface="Courier New"/>
                <a:ea typeface="+mn-lt"/>
                <a:cs typeface="+mn-lt"/>
              </a:rPr>
            </a:br>
            <a:r>
              <a:rPr lang="es-ES" b="1" dirty="0">
                <a:latin typeface="Courier New"/>
                <a:ea typeface="+mn-lt"/>
                <a:cs typeface="+mn-lt"/>
              </a:rPr>
              <a:t>    }</a:t>
            </a:r>
          </a:p>
          <a:p>
            <a:r>
              <a:rPr lang="es-ES" b="1" dirty="0" err="1">
                <a:latin typeface="Courier New"/>
                <a:ea typeface="+mn-lt"/>
                <a:cs typeface="+mn-lt"/>
              </a:rPr>
              <a:t>transition</a:t>
            </a:r>
            <a:r>
              <a:rPr lang="es-ES" b="1" dirty="0">
                <a:latin typeface="Courier New"/>
                <a:ea typeface="+mn-lt"/>
                <a:cs typeface="+mn-lt"/>
              </a:rPr>
              <a:t>-timing-</a:t>
            </a:r>
            <a:r>
              <a:rPr lang="es-ES" b="1" dirty="0" err="1">
                <a:latin typeface="Courier New"/>
                <a:ea typeface="+mn-lt"/>
                <a:cs typeface="+mn-lt"/>
              </a:rPr>
              <a:t>function</a:t>
            </a:r>
            <a:r>
              <a:rPr lang="es-ES" dirty="0">
                <a:ea typeface="+mn-lt"/>
                <a:cs typeface="+mn-lt"/>
              </a:rPr>
              <a:t>: Establece la curva de velocidad de la transición, es decir, cómo se acelera o desacelera la animación a lo largo del tiempo.</a:t>
            </a:r>
            <a:endParaRPr lang="es-ES"/>
          </a:p>
          <a:p>
            <a:r>
              <a:rPr lang="es-ES" dirty="0">
                <a:ea typeface="+mn-lt"/>
                <a:cs typeface="+mn-lt"/>
              </a:rPr>
              <a:t>Valores:</a:t>
            </a:r>
            <a:endParaRPr lang="es-ES"/>
          </a:p>
          <a:p>
            <a:pPr lvl="1">
              <a:buFont typeface="Courier New" panose="020B0604020202020204" pitchFamily="34" charset="0"/>
              <a:buChar char="o"/>
            </a:pPr>
            <a:r>
              <a:rPr lang="es-ES" b="1" err="1">
                <a:latin typeface="Courier New"/>
                <a:ea typeface="+mn-lt"/>
                <a:cs typeface="+mn-lt"/>
              </a:rPr>
              <a:t>ease</a:t>
            </a:r>
            <a:r>
              <a:rPr lang="es-ES" b="1" dirty="0">
                <a:latin typeface="Courier New"/>
                <a:ea typeface="+mn-lt"/>
                <a:cs typeface="+mn-lt"/>
              </a:rPr>
              <a:t> </a:t>
            </a:r>
            <a:r>
              <a:rPr lang="es-ES" dirty="0">
                <a:ea typeface="+mn-lt"/>
                <a:cs typeface="+mn-lt"/>
              </a:rPr>
              <a:t>(por defecto): La animación comienza y termina lentamente.</a:t>
            </a:r>
            <a:endParaRPr lang="es-ES"/>
          </a:p>
          <a:p>
            <a:pPr lvl="1">
              <a:buFont typeface="Courier New" panose="020B0604020202020204" pitchFamily="34" charset="0"/>
              <a:buChar char="o"/>
            </a:pPr>
            <a:r>
              <a:rPr lang="es-ES" b="1" dirty="0">
                <a:latin typeface="Courier New"/>
                <a:ea typeface="+mn-lt"/>
                <a:cs typeface="+mn-lt"/>
              </a:rPr>
              <a:t>linear</a:t>
            </a:r>
            <a:r>
              <a:rPr lang="es-ES" dirty="0">
                <a:ea typeface="+mn-lt"/>
                <a:cs typeface="+mn-lt"/>
              </a:rPr>
              <a:t>: Velocidad constante de principio a fin.</a:t>
            </a:r>
            <a:endParaRPr lang="es-ES"/>
          </a:p>
          <a:p>
            <a:pPr lvl="1">
              <a:buFont typeface="Courier New" panose="020B0604020202020204" pitchFamily="34" charset="0"/>
              <a:buChar char="o"/>
            </a:pPr>
            <a:r>
              <a:rPr lang="es-ES" b="1" err="1">
                <a:latin typeface="Courier New"/>
                <a:ea typeface="+mn-lt"/>
                <a:cs typeface="+mn-lt"/>
              </a:rPr>
              <a:t>ease</a:t>
            </a:r>
            <a:r>
              <a:rPr lang="es-ES" b="1" dirty="0">
                <a:latin typeface="Courier New"/>
                <a:ea typeface="+mn-lt"/>
                <a:cs typeface="+mn-lt"/>
              </a:rPr>
              <a:t>-in</a:t>
            </a:r>
            <a:r>
              <a:rPr lang="es-ES" dirty="0">
                <a:ea typeface="+mn-lt"/>
                <a:cs typeface="+mn-lt"/>
              </a:rPr>
              <a:t>: Comienza lentamente y luego acelera.</a:t>
            </a:r>
            <a:endParaRPr lang="es-ES"/>
          </a:p>
          <a:p>
            <a:pPr lvl="1">
              <a:buFont typeface="Courier New" panose="020B0604020202020204" pitchFamily="34" charset="0"/>
              <a:buChar char="o"/>
            </a:pPr>
            <a:r>
              <a:rPr lang="es-ES" b="1" err="1">
                <a:latin typeface="Courier New"/>
                <a:ea typeface="+mn-lt"/>
                <a:cs typeface="+mn-lt"/>
              </a:rPr>
              <a:t>ease-out</a:t>
            </a:r>
            <a:r>
              <a:rPr lang="es-ES" dirty="0">
                <a:ea typeface="+mn-lt"/>
                <a:cs typeface="+mn-lt"/>
              </a:rPr>
              <a:t>: Comienza rápido y luego desacelera.</a:t>
            </a:r>
            <a:endParaRPr lang="es-ES"/>
          </a:p>
          <a:p>
            <a:pPr lvl="1">
              <a:buFont typeface="Courier New" panose="020B0604020202020204" pitchFamily="34" charset="0"/>
              <a:buChar char="o"/>
            </a:pPr>
            <a:r>
              <a:rPr lang="es-ES" b="1" err="1">
                <a:latin typeface="Courier New"/>
                <a:ea typeface="+mn-lt"/>
                <a:cs typeface="+mn-lt"/>
              </a:rPr>
              <a:t>ease</a:t>
            </a:r>
            <a:r>
              <a:rPr lang="es-ES" b="1" dirty="0">
                <a:latin typeface="Courier New"/>
                <a:ea typeface="+mn-lt"/>
                <a:cs typeface="+mn-lt"/>
              </a:rPr>
              <a:t>-</a:t>
            </a:r>
            <a:r>
              <a:rPr lang="es-ES" b="1" err="1">
                <a:latin typeface="Courier New"/>
                <a:ea typeface="+mn-lt"/>
                <a:cs typeface="+mn-lt"/>
              </a:rPr>
              <a:t>in-out</a:t>
            </a:r>
            <a:r>
              <a:rPr lang="es-ES" dirty="0">
                <a:ea typeface="+mn-lt"/>
                <a:cs typeface="+mn-lt"/>
              </a:rPr>
              <a:t>: Comienza y termina lentamente, con una velocidad más rápida en el medio.</a:t>
            </a:r>
            <a:endParaRPr lang="es-ES" dirty="0"/>
          </a:p>
        </p:txBody>
      </p:sp>
    </p:spTree>
    <p:extLst>
      <p:ext uri="{BB962C8B-B14F-4D97-AF65-F5344CB8AC3E}">
        <p14:creationId xmlns:p14="http://schemas.microsoft.com/office/powerpoint/2010/main" val="987349761"/>
      </p:ext>
    </p:extLst>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59527D-1617-69FB-AD4A-04AA303F301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94D0AA3-770E-2C2B-8181-69C164417993}"/>
              </a:ext>
            </a:extLst>
          </p:cNvPr>
          <p:cNvSpPr>
            <a:spLocks noGrp="1"/>
          </p:cNvSpPr>
          <p:nvPr>
            <p:ph type="title"/>
          </p:nvPr>
        </p:nvSpPr>
        <p:spPr/>
        <p:txBody>
          <a:bodyPr/>
          <a:lstStyle/>
          <a:p>
            <a:r>
              <a:rPr lang="es-ES" b="0" dirty="0">
                <a:ea typeface="+mj-lt"/>
                <a:cs typeface="+mj-lt"/>
              </a:rPr>
              <a:t>2.5.1. Transiciones.</a:t>
            </a:r>
            <a:endParaRPr lang="es-ES" dirty="0"/>
          </a:p>
        </p:txBody>
      </p:sp>
      <p:sp>
        <p:nvSpPr>
          <p:cNvPr id="3" name="Marcador de contenido 2">
            <a:extLst>
              <a:ext uri="{FF2B5EF4-FFF2-40B4-BE49-F238E27FC236}">
                <a16:creationId xmlns:a16="http://schemas.microsoft.com/office/drawing/2014/main" id="{1A0CABE2-DAA4-8235-B42E-996C8B2FD8E8}"/>
              </a:ext>
            </a:extLst>
          </p:cNvPr>
          <p:cNvSpPr>
            <a:spLocks noGrp="1"/>
          </p:cNvSpPr>
          <p:nvPr>
            <p:ph idx="1"/>
          </p:nvPr>
        </p:nvSpPr>
        <p:spPr/>
        <p:txBody>
          <a:bodyPr vert="horz" lIns="91440" tIns="45720" rIns="91440" bIns="45720" rtlCol="0" anchor="t">
            <a:normAutofit fontScale="62500" lnSpcReduction="20000"/>
          </a:bodyPr>
          <a:lstStyle/>
          <a:p>
            <a:r>
              <a:rPr lang="es-ES" b="1" dirty="0" err="1">
                <a:latin typeface="Courier New"/>
                <a:ea typeface="+mn-lt"/>
                <a:cs typeface="+mn-lt"/>
              </a:rPr>
              <a:t>transition-delay</a:t>
            </a:r>
            <a:r>
              <a:rPr lang="es-ES" dirty="0">
                <a:ea typeface="+mn-lt"/>
                <a:cs typeface="+mn-lt"/>
              </a:rPr>
              <a:t>: Especifica un tiempo de espera antes de que comience la transición. También se define en segundos (s) o milisegundos (ms).</a:t>
            </a:r>
          </a:p>
          <a:p>
            <a:r>
              <a:rPr lang="es-ES" b="1" dirty="0" err="1">
                <a:latin typeface="Courier New"/>
                <a:ea typeface="+mn-lt"/>
                <a:cs typeface="+mn-lt"/>
              </a:rPr>
              <a:t>transition</a:t>
            </a:r>
            <a:r>
              <a:rPr lang="es-ES" dirty="0">
                <a:ea typeface="+mn-lt"/>
                <a:cs typeface="+mn-lt"/>
              </a:rPr>
              <a:t>: Puedes combinar todas las propiedades anteriores en una sola línea usando la propiedad abreviada </a:t>
            </a:r>
            <a:r>
              <a:rPr lang="es-ES" dirty="0" err="1">
                <a:ea typeface="+mn-lt"/>
                <a:cs typeface="+mn-lt"/>
              </a:rPr>
              <a:t>transition</a:t>
            </a:r>
            <a:r>
              <a:rPr lang="es-ES" dirty="0">
                <a:ea typeface="+mn-lt"/>
                <a:cs typeface="+mn-lt"/>
              </a:rPr>
              <a:t>. El orden es importante, aunque los valores </a:t>
            </a:r>
            <a:r>
              <a:rPr lang="es-ES" dirty="0" err="1">
                <a:ea typeface="+mn-lt"/>
                <a:cs typeface="+mn-lt"/>
              </a:rPr>
              <a:t>duration</a:t>
            </a:r>
            <a:r>
              <a:rPr lang="es-ES" dirty="0">
                <a:ea typeface="+mn-lt"/>
                <a:cs typeface="+mn-lt"/>
              </a:rPr>
              <a:t> y </a:t>
            </a:r>
            <a:r>
              <a:rPr lang="es-ES" dirty="0" err="1">
                <a:ea typeface="+mn-lt"/>
                <a:cs typeface="+mn-lt"/>
              </a:rPr>
              <a:t>delay</a:t>
            </a:r>
            <a:r>
              <a:rPr lang="es-ES" dirty="0">
                <a:ea typeface="+mn-lt"/>
                <a:cs typeface="+mn-lt"/>
              </a:rPr>
              <a:t> pueden intercambiarse si no son ambiguos.</a:t>
            </a:r>
          </a:p>
          <a:p>
            <a:r>
              <a:rPr lang="es-ES" dirty="0">
                <a:ea typeface="+mn-lt"/>
                <a:cs typeface="+mn-lt"/>
              </a:rPr>
              <a:t>Sintaxis: </a:t>
            </a:r>
            <a:r>
              <a:rPr lang="es-ES" dirty="0" err="1">
                <a:ea typeface="+mn-lt"/>
                <a:cs typeface="+mn-lt"/>
              </a:rPr>
              <a:t>transition</a:t>
            </a:r>
            <a:r>
              <a:rPr lang="es-ES" dirty="0">
                <a:ea typeface="+mn-lt"/>
                <a:cs typeface="+mn-lt"/>
              </a:rPr>
              <a:t>: &lt;</a:t>
            </a:r>
            <a:r>
              <a:rPr lang="es-ES" dirty="0" err="1">
                <a:ea typeface="+mn-lt"/>
                <a:cs typeface="+mn-lt"/>
              </a:rPr>
              <a:t>property</a:t>
            </a:r>
            <a:r>
              <a:rPr lang="es-ES" dirty="0">
                <a:ea typeface="+mn-lt"/>
                <a:cs typeface="+mn-lt"/>
              </a:rPr>
              <a:t>&gt; &lt;</a:t>
            </a:r>
            <a:r>
              <a:rPr lang="es-ES" dirty="0" err="1">
                <a:ea typeface="+mn-lt"/>
                <a:cs typeface="+mn-lt"/>
              </a:rPr>
              <a:t>duration</a:t>
            </a:r>
            <a:r>
              <a:rPr lang="es-ES" dirty="0">
                <a:ea typeface="+mn-lt"/>
                <a:cs typeface="+mn-lt"/>
              </a:rPr>
              <a:t>&gt; &lt;timing-</a:t>
            </a:r>
            <a:r>
              <a:rPr lang="es-ES" dirty="0" err="1">
                <a:ea typeface="+mn-lt"/>
                <a:cs typeface="+mn-lt"/>
              </a:rPr>
              <a:t>function</a:t>
            </a:r>
            <a:r>
              <a:rPr lang="es-ES" dirty="0">
                <a:ea typeface="+mn-lt"/>
                <a:cs typeface="+mn-lt"/>
              </a:rPr>
              <a:t>&gt; &lt;</a:t>
            </a:r>
            <a:r>
              <a:rPr lang="es-ES" dirty="0" err="1">
                <a:ea typeface="+mn-lt"/>
                <a:cs typeface="+mn-lt"/>
              </a:rPr>
              <a:t>delay</a:t>
            </a:r>
            <a:r>
              <a:rPr lang="es-ES" dirty="0">
                <a:ea typeface="+mn-lt"/>
                <a:cs typeface="+mn-lt"/>
              </a:rPr>
              <a:t>&gt;;</a:t>
            </a:r>
            <a:endParaRPr lang="es-ES" dirty="0"/>
          </a:p>
          <a:p>
            <a:r>
              <a:rPr lang="es-ES" dirty="0">
                <a:ea typeface="+mn-lt"/>
                <a:cs typeface="+mn-lt"/>
              </a:rPr>
              <a:t>Ejemplo:</a:t>
            </a:r>
          </a:p>
          <a:p>
            <a:r>
              <a:rPr lang="es-ES" b="1" dirty="0">
                <a:latin typeface="Courier New"/>
                <a:ea typeface="+mn-lt"/>
                <a:cs typeface="+mn-lt"/>
              </a:rPr>
              <a:t>.</a:t>
            </a:r>
            <a:r>
              <a:rPr lang="es-ES" b="1" err="1">
                <a:latin typeface="Courier New"/>
                <a:ea typeface="+mn-lt"/>
                <a:cs typeface="+mn-lt"/>
              </a:rPr>
              <a:t>boton</a:t>
            </a: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background</a:t>
            </a:r>
            <a:r>
              <a:rPr lang="es-ES" b="1" dirty="0">
                <a:latin typeface="Courier New"/>
                <a:ea typeface="+mn-lt"/>
                <a:cs typeface="+mn-lt"/>
              </a:rPr>
              <a:t>-color: #007bff;</a:t>
            </a:r>
            <a:br>
              <a:rPr lang="es-ES" b="1" dirty="0">
                <a:latin typeface="Courier New"/>
                <a:ea typeface="+mn-lt"/>
                <a:cs typeface="+mn-lt"/>
              </a:rPr>
            </a:br>
            <a:r>
              <a:rPr lang="es-ES" b="1" dirty="0">
                <a:latin typeface="Courier New"/>
                <a:ea typeface="+mn-lt"/>
                <a:cs typeface="+mn-lt"/>
              </a:rPr>
              <a:t>  color: </a:t>
            </a:r>
            <a:r>
              <a:rPr lang="es-ES" b="1" err="1">
                <a:latin typeface="Courier New"/>
                <a:ea typeface="+mn-lt"/>
                <a:cs typeface="+mn-lt"/>
              </a:rPr>
              <a:t>white</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padding</a:t>
            </a:r>
            <a:r>
              <a:rPr lang="es-ES" b="1" dirty="0">
                <a:latin typeface="Courier New"/>
                <a:ea typeface="+mn-lt"/>
                <a:cs typeface="+mn-lt"/>
              </a:rPr>
              <a:t>: 10px 15px;</a:t>
            </a:r>
            <a:br>
              <a:rPr lang="es-ES" b="1" dirty="0">
                <a:latin typeface="Courier New"/>
                <a:ea typeface="+mn-lt"/>
                <a:cs typeface="+mn-lt"/>
              </a:rPr>
            </a:br>
            <a:r>
              <a:rPr lang="es-ES" b="1" dirty="0">
                <a:latin typeface="Courier New"/>
                <a:ea typeface="+mn-lt"/>
                <a:cs typeface="+mn-lt"/>
              </a:rPr>
              <a:t>  /* </a:t>
            </a:r>
            <a:r>
              <a:rPr lang="es-ES" b="1" err="1">
                <a:latin typeface="Courier New"/>
                <a:ea typeface="+mn-lt"/>
                <a:cs typeface="+mn-lt"/>
              </a:rPr>
              <a:t>Transiciona</a:t>
            </a:r>
            <a:r>
              <a:rPr lang="es-ES" b="1" dirty="0">
                <a:latin typeface="Courier New"/>
                <a:ea typeface="+mn-lt"/>
                <a:cs typeface="+mn-lt"/>
              </a:rPr>
              <a:t> todas las propiedades en 0.3s con un efecto de desaceleración */</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transition</a:t>
            </a:r>
            <a:r>
              <a:rPr lang="es-ES" b="1" dirty="0">
                <a:latin typeface="Courier New"/>
                <a:ea typeface="+mn-lt"/>
                <a:cs typeface="+mn-lt"/>
              </a:rPr>
              <a:t>: </a:t>
            </a:r>
            <a:r>
              <a:rPr lang="es-ES" b="1" err="1">
                <a:latin typeface="Courier New"/>
                <a:ea typeface="+mn-lt"/>
                <a:cs typeface="+mn-lt"/>
              </a:rPr>
              <a:t>all</a:t>
            </a:r>
            <a:r>
              <a:rPr lang="es-ES" b="1" dirty="0">
                <a:latin typeface="Courier New"/>
                <a:ea typeface="+mn-lt"/>
                <a:cs typeface="+mn-lt"/>
              </a:rPr>
              <a:t> 0.3s </a:t>
            </a:r>
            <a:r>
              <a:rPr lang="es-ES" b="1" err="1">
                <a:latin typeface="Courier New"/>
                <a:ea typeface="+mn-lt"/>
                <a:cs typeface="+mn-lt"/>
              </a:rPr>
              <a:t>ease-out</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a:t>
            </a:r>
            <a:r>
              <a:rPr lang="es-ES" b="1" err="1">
                <a:latin typeface="Courier New"/>
                <a:ea typeface="+mn-lt"/>
                <a:cs typeface="+mn-lt"/>
              </a:rPr>
              <a:t>boton:hover</a:t>
            </a: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background</a:t>
            </a:r>
            <a:r>
              <a:rPr lang="es-ES" b="1" dirty="0">
                <a:latin typeface="Courier New"/>
                <a:ea typeface="+mn-lt"/>
                <a:cs typeface="+mn-lt"/>
              </a:rPr>
              <a:t>-color: #0056b3; /* Propiedad que cambia */</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transform</a:t>
            </a:r>
            <a:r>
              <a:rPr lang="es-ES" b="1" dirty="0">
                <a:latin typeface="Courier New"/>
                <a:ea typeface="+mn-lt"/>
                <a:cs typeface="+mn-lt"/>
              </a:rPr>
              <a:t>: </a:t>
            </a:r>
            <a:r>
              <a:rPr lang="es-ES" b="1" err="1">
                <a:latin typeface="Courier New"/>
                <a:ea typeface="+mn-lt"/>
                <a:cs typeface="+mn-lt"/>
              </a:rPr>
              <a:t>scale</a:t>
            </a:r>
            <a:r>
              <a:rPr lang="es-ES" b="1" dirty="0">
                <a:latin typeface="Courier New"/>
                <a:ea typeface="+mn-lt"/>
                <a:cs typeface="+mn-lt"/>
              </a:rPr>
              <a:t>(1.05);     /* Otra propiedad que cambia */</a:t>
            </a:r>
            <a:br>
              <a:rPr lang="es-ES" b="1" dirty="0">
                <a:latin typeface="Courier New"/>
                <a:ea typeface="+mn-lt"/>
                <a:cs typeface="+mn-lt"/>
              </a:rPr>
            </a:br>
            <a:r>
              <a:rPr lang="es-ES" b="1" dirty="0">
                <a:latin typeface="Courier New"/>
                <a:ea typeface="+mn-lt"/>
                <a:cs typeface="+mn-lt"/>
              </a:rPr>
              <a:t>}</a:t>
            </a:r>
            <a:endParaRPr lang="es-ES" b="1" dirty="0">
              <a:latin typeface="Courier New"/>
            </a:endParaRPr>
          </a:p>
          <a:p>
            <a:r>
              <a:rPr lang="es-ES" dirty="0">
                <a:ea typeface="+mn-lt"/>
                <a:cs typeface="+mn-lt"/>
              </a:rPr>
              <a:t>En este ejemplo, cuando pasas el cursor sobre el botón, tanto el color de fondo como la escala del botón cambian de forma suave gracias a la transición, en lugar de hacerlo instantáneamente.</a:t>
            </a:r>
          </a:p>
        </p:txBody>
      </p:sp>
    </p:spTree>
    <p:extLst>
      <p:ext uri="{BB962C8B-B14F-4D97-AF65-F5344CB8AC3E}">
        <p14:creationId xmlns:p14="http://schemas.microsoft.com/office/powerpoint/2010/main" val="2238093525"/>
      </p:ext>
    </p:extLst>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9923CA-D031-F87A-3696-027C9B2A6DD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DCC9814-D609-E02F-D72D-B97048AD867A}"/>
              </a:ext>
            </a:extLst>
          </p:cNvPr>
          <p:cNvSpPr>
            <a:spLocks noGrp="1"/>
          </p:cNvSpPr>
          <p:nvPr>
            <p:ph type="title"/>
          </p:nvPr>
        </p:nvSpPr>
        <p:spPr/>
        <p:txBody>
          <a:bodyPr/>
          <a:lstStyle/>
          <a:p>
            <a:r>
              <a:rPr lang="es-ES" b="0" dirty="0">
                <a:ea typeface="+mj-lt"/>
                <a:cs typeface="+mj-lt"/>
              </a:rPr>
              <a:t>2.5.2. Transformaciones.</a:t>
            </a:r>
            <a:endParaRPr lang="es-ES" dirty="0"/>
          </a:p>
        </p:txBody>
      </p:sp>
      <p:sp>
        <p:nvSpPr>
          <p:cNvPr id="3" name="Marcador de contenido 2">
            <a:extLst>
              <a:ext uri="{FF2B5EF4-FFF2-40B4-BE49-F238E27FC236}">
                <a16:creationId xmlns:a16="http://schemas.microsoft.com/office/drawing/2014/main" id="{B8931C06-C9B4-EC19-2C17-229D6832E5D2}"/>
              </a:ext>
            </a:extLst>
          </p:cNvPr>
          <p:cNvSpPr>
            <a:spLocks noGrp="1"/>
          </p:cNvSpPr>
          <p:nvPr>
            <p:ph idx="1"/>
          </p:nvPr>
        </p:nvSpPr>
        <p:spPr/>
        <p:txBody>
          <a:bodyPr vert="horz" lIns="91440" tIns="45720" rIns="91440" bIns="45720" rtlCol="0" anchor="t">
            <a:normAutofit/>
          </a:bodyPr>
          <a:lstStyle/>
          <a:p>
            <a:r>
              <a:rPr lang="es-ES" dirty="0">
                <a:ea typeface="+mn-lt"/>
                <a:cs typeface="+mn-lt"/>
              </a:rPr>
              <a:t>Las transformaciones en CSS te permiten modificar la forma y la posición de un elemento en un espacio 2D o 3D. A diferencia de las propiedades de posicionamiento tradicionales que mueven un elemento y afectan al flujo del documento, las transformaciones lo manipulan visualmente sin cambiar su posición original. Esto es fundamental para animaciones de alto rendimiento.</a:t>
            </a:r>
            <a:endParaRPr lang="es-ES" dirty="0"/>
          </a:p>
          <a:p>
            <a:r>
              <a:rPr lang="es-ES" dirty="0">
                <a:ea typeface="+mn-lt"/>
                <a:cs typeface="+mn-lt"/>
              </a:rPr>
              <a:t>La propiedad principal que controla las transformaciones es </a:t>
            </a:r>
            <a:r>
              <a:rPr lang="es-ES" dirty="0" err="1">
                <a:ea typeface="+mn-lt"/>
                <a:cs typeface="+mn-lt"/>
              </a:rPr>
              <a:t>transform</a:t>
            </a:r>
            <a:r>
              <a:rPr lang="es-ES" dirty="0">
                <a:ea typeface="+mn-lt"/>
                <a:cs typeface="+mn-lt"/>
              </a:rPr>
              <a:t>. Dentro de esta propiedad, se utilizan diversas funciones para aplicar las transformaciones deseadas.</a:t>
            </a:r>
            <a:endParaRPr lang="es-ES" dirty="0"/>
          </a:p>
          <a:p>
            <a:endParaRPr lang="es-ES" dirty="0"/>
          </a:p>
        </p:txBody>
      </p:sp>
    </p:spTree>
    <p:extLst>
      <p:ext uri="{BB962C8B-B14F-4D97-AF65-F5344CB8AC3E}">
        <p14:creationId xmlns:p14="http://schemas.microsoft.com/office/powerpoint/2010/main" val="3132847041"/>
      </p:ext>
    </p:extLst>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D9A155-2564-F69A-30EC-AECEEBC38F1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FBAA949-C3B0-2D75-B534-5842715B9462}"/>
              </a:ext>
            </a:extLst>
          </p:cNvPr>
          <p:cNvSpPr>
            <a:spLocks noGrp="1"/>
          </p:cNvSpPr>
          <p:nvPr>
            <p:ph type="title"/>
          </p:nvPr>
        </p:nvSpPr>
        <p:spPr/>
        <p:txBody>
          <a:bodyPr/>
          <a:lstStyle/>
          <a:p>
            <a:r>
              <a:rPr lang="es-ES" b="0" dirty="0">
                <a:ea typeface="+mj-lt"/>
                <a:cs typeface="+mj-lt"/>
              </a:rPr>
              <a:t>2.5.2.1. Transformaciones 2D.</a:t>
            </a:r>
            <a:endParaRPr lang="es-ES" dirty="0"/>
          </a:p>
        </p:txBody>
      </p:sp>
      <p:sp>
        <p:nvSpPr>
          <p:cNvPr id="3" name="Marcador de contenido 2">
            <a:extLst>
              <a:ext uri="{FF2B5EF4-FFF2-40B4-BE49-F238E27FC236}">
                <a16:creationId xmlns:a16="http://schemas.microsoft.com/office/drawing/2014/main" id="{5AC7D485-ED24-BD1C-0E9C-43C3D4D0C54E}"/>
              </a:ext>
            </a:extLst>
          </p:cNvPr>
          <p:cNvSpPr>
            <a:spLocks noGrp="1"/>
          </p:cNvSpPr>
          <p:nvPr>
            <p:ph idx="1"/>
          </p:nvPr>
        </p:nvSpPr>
        <p:spPr/>
        <p:txBody>
          <a:bodyPr vert="horz" lIns="91440" tIns="45720" rIns="91440" bIns="45720" rtlCol="0" anchor="t">
            <a:normAutofit fontScale="85000" lnSpcReduction="20000"/>
          </a:bodyPr>
          <a:lstStyle/>
          <a:p>
            <a:r>
              <a:rPr lang="es-ES" dirty="0">
                <a:ea typeface="+mn-lt"/>
                <a:cs typeface="+mn-lt"/>
              </a:rPr>
              <a:t>Las transformaciones 2D en CSS te permiten manipular la posición, rotación, escala e inclinación de un elemento en un plano bidimensional (el eje X e Y). A diferencia de cambiar las propiedades </a:t>
            </a:r>
            <a:r>
              <a:rPr lang="es-ES" dirty="0" err="1">
                <a:ea typeface="+mn-lt"/>
                <a:cs typeface="+mn-lt"/>
              </a:rPr>
              <a:t>left</a:t>
            </a:r>
            <a:r>
              <a:rPr lang="es-ES" dirty="0">
                <a:ea typeface="+mn-lt"/>
                <a:cs typeface="+mn-lt"/>
              </a:rPr>
              <a:t> o top, las transformaciones no afectan al flujo normal del documento; el espacio original del elemento se mantiene intacto. Esto las hace ideales para animaciones fluidas y eficientes.</a:t>
            </a:r>
          </a:p>
          <a:p>
            <a:r>
              <a:rPr lang="es-ES" dirty="0">
                <a:ea typeface="+mn-lt"/>
                <a:cs typeface="+mn-lt"/>
              </a:rPr>
              <a:t>La propiedad principal para aplicar estas transformaciones es </a:t>
            </a:r>
            <a:r>
              <a:rPr lang="es-ES" dirty="0" err="1">
                <a:ea typeface="+mn-lt"/>
                <a:cs typeface="+mn-lt"/>
              </a:rPr>
              <a:t>transform</a:t>
            </a:r>
            <a:r>
              <a:rPr lang="es-ES" dirty="0">
                <a:ea typeface="+mn-lt"/>
                <a:cs typeface="+mn-lt"/>
              </a:rPr>
              <a:t>, que acepta una o más funciones de transformación.</a:t>
            </a:r>
            <a:endParaRPr lang="es-ES" dirty="0"/>
          </a:p>
          <a:p>
            <a:r>
              <a:rPr lang="es-ES" b="1" dirty="0" err="1">
                <a:latin typeface="Courier New"/>
                <a:ea typeface="+mn-lt"/>
                <a:cs typeface="+mn-lt"/>
              </a:rPr>
              <a:t>translate</a:t>
            </a:r>
            <a:r>
              <a:rPr lang="es-ES" b="1" dirty="0">
                <a:latin typeface="Courier New"/>
                <a:ea typeface="+mn-lt"/>
                <a:cs typeface="+mn-lt"/>
              </a:rPr>
              <a:t>()</a:t>
            </a:r>
            <a:r>
              <a:rPr lang="es-ES" dirty="0">
                <a:ea typeface="+mn-lt"/>
                <a:cs typeface="+mn-lt"/>
              </a:rPr>
              <a:t> (Mover): La función </a:t>
            </a:r>
            <a:r>
              <a:rPr lang="es-ES" dirty="0" err="1">
                <a:ea typeface="+mn-lt"/>
                <a:cs typeface="+mn-lt"/>
              </a:rPr>
              <a:t>translate</a:t>
            </a:r>
            <a:r>
              <a:rPr lang="es-ES" dirty="0">
                <a:ea typeface="+mn-lt"/>
                <a:cs typeface="+mn-lt"/>
              </a:rPr>
              <a:t>(x, y) mueve un elemento horizontalmente a lo largo del eje X e verticalmente a lo largo del eje Y.</a:t>
            </a:r>
            <a:endParaRPr lang="es-ES" dirty="0"/>
          </a:p>
          <a:p>
            <a:r>
              <a:rPr lang="es-ES" b="1" dirty="0" err="1">
                <a:latin typeface="Courier New"/>
                <a:ea typeface="+mn-lt"/>
                <a:cs typeface="+mn-lt"/>
              </a:rPr>
              <a:t>translateX</a:t>
            </a:r>
            <a:r>
              <a:rPr lang="es-ES" b="1" dirty="0">
                <a:latin typeface="Courier New"/>
                <a:ea typeface="+mn-lt"/>
                <a:cs typeface="+mn-lt"/>
              </a:rPr>
              <a:t>(x)</a:t>
            </a:r>
            <a:r>
              <a:rPr lang="es-ES" dirty="0">
                <a:ea typeface="+mn-lt"/>
                <a:cs typeface="+mn-lt"/>
              </a:rPr>
              <a:t>: Mueve el elemento solo en el eje horizontal.</a:t>
            </a:r>
            <a:endParaRPr lang="es-ES" dirty="0"/>
          </a:p>
          <a:p>
            <a:r>
              <a:rPr lang="es-ES" b="1" dirty="0" err="1">
                <a:latin typeface="Courier New"/>
                <a:ea typeface="+mn-lt"/>
                <a:cs typeface="+mn-lt"/>
              </a:rPr>
              <a:t>translateY</a:t>
            </a:r>
            <a:r>
              <a:rPr lang="es-ES" b="1" dirty="0">
                <a:latin typeface="Courier New"/>
                <a:ea typeface="+mn-lt"/>
                <a:cs typeface="+mn-lt"/>
              </a:rPr>
              <a:t>(y)</a:t>
            </a:r>
            <a:r>
              <a:rPr lang="es-ES" dirty="0">
                <a:ea typeface="+mn-lt"/>
                <a:cs typeface="+mn-lt"/>
              </a:rPr>
              <a:t>: Mueve el elemento solo en el eje vertical.</a:t>
            </a:r>
            <a:endParaRPr lang="es-ES" dirty="0"/>
          </a:p>
          <a:p>
            <a:r>
              <a:rPr lang="es-ES" dirty="0">
                <a:ea typeface="+mn-lt"/>
                <a:cs typeface="+mn-lt"/>
              </a:rPr>
              <a:t>Puedes usar cualquier unidad de medida (</a:t>
            </a:r>
            <a:r>
              <a:rPr lang="es-ES" dirty="0" err="1">
                <a:ea typeface="+mn-lt"/>
                <a:cs typeface="+mn-lt"/>
              </a:rPr>
              <a:t>px</a:t>
            </a:r>
            <a:r>
              <a:rPr lang="es-ES" dirty="0">
                <a:ea typeface="+mn-lt"/>
                <a:cs typeface="+mn-lt"/>
              </a:rPr>
              <a:t>, %, em, etc.).</a:t>
            </a:r>
          </a:p>
          <a:p>
            <a:r>
              <a:rPr lang="es-ES" dirty="0">
                <a:ea typeface="+mn-lt"/>
                <a:cs typeface="+mn-lt"/>
              </a:rPr>
              <a:t>Ejemplo:</a:t>
            </a:r>
            <a:endParaRPr lang="es-ES" dirty="0"/>
          </a:p>
          <a:p>
            <a:r>
              <a:rPr lang="es-ES" b="1" dirty="0">
                <a:latin typeface="Courier New"/>
                <a:ea typeface="+mn-lt"/>
                <a:cs typeface="+mn-lt"/>
              </a:rPr>
              <a:t>.caja-movida {</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transform</a:t>
            </a:r>
            <a:r>
              <a:rPr lang="es-ES" b="1" dirty="0">
                <a:latin typeface="Courier New"/>
                <a:ea typeface="+mn-lt"/>
                <a:cs typeface="+mn-lt"/>
              </a:rPr>
              <a:t>: </a:t>
            </a:r>
            <a:r>
              <a:rPr lang="es-ES" b="1" err="1">
                <a:latin typeface="Courier New"/>
                <a:ea typeface="+mn-lt"/>
                <a:cs typeface="+mn-lt"/>
              </a:rPr>
              <a:t>translate</a:t>
            </a:r>
            <a:r>
              <a:rPr lang="es-ES" b="1" dirty="0">
                <a:latin typeface="Courier New"/>
                <a:ea typeface="+mn-lt"/>
                <a:cs typeface="+mn-lt"/>
              </a:rPr>
              <a:t>(50px, 20px); /* Se mueve 50px a la derecha y 20px hacia abajo */</a:t>
            </a:r>
            <a:br>
              <a:rPr lang="es-ES" b="1" dirty="0">
                <a:latin typeface="Courier New"/>
                <a:ea typeface="+mn-lt"/>
                <a:cs typeface="+mn-lt"/>
              </a:rPr>
            </a:br>
            <a:r>
              <a:rPr lang="es-ES" b="1" dirty="0">
                <a:latin typeface="Courier New"/>
                <a:ea typeface="+mn-lt"/>
                <a:cs typeface="+mn-lt"/>
              </a:rPr>
              <a:t>}</a:t>
            </a:r>
            <a:endParaRPr lang="es-ES" b="1" dirty="0">
              <a:latin typeface="Courier New"/>
            </a:endParaRPr>
          </a:p>
          <a:p>
            <a:endParaRPr lang="es-ES" dirty="0"/>
          </a:p>
        </p:txBody>
      </p:sp>
    </p:spTree>
    <p:extLst>
      <p:ext uri="{BB962C8B-B14F-4D97-AF65-F5344CB8AC3E}">
        <p14:creationId xmlns:p14="http://schemas.microsoft.com/office/powerpoint/2010/main" val="3401484203"/>
      </p:ext>
    </p:extLst>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66C351-3AA0-851B-C0CF-6001A8206FF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E4CA685-A86C-8070-B752-AD3C02ABC027}"/>
              </a:ext>
            </a:extLst>
          </p:cNvPr>
          <p:cNvSpPr>
            <a:spLocks noGrp="1"/>
          </p:cNvSpPr>
          <p:nvPr>
            <p:ph type="title"/>
          </p:nvPr>
        </p:nvSpPr>
        <p:spPr/>
        <p:txBody>
          <a:bodyPr/>
          <a:lstStyle/>
          <a:p>
            <a:r>
              <a:rPr lang="es-ES" b="0" dirty="0">
                <a:ea typeface="+mj-lt"/>
                <a:cs typeface="+mj-lt"/>
              </a:rPr>
              <a:t>2.5.2.1. Transformaciones 2D.</a:t>
            </a:r>
            <a:endParaRPr lang="es-ES" dirty="0"/>
          </a:p>
        </p:txBody>
      </p:sp>
      <p:sp>
        <p:nvSpPr>
          <p:cNvPr id="3" name="Marcador de contenido 2">
            <a:extLst>
              <a:ext uri="{FF2B5EF4-FFF2-40B4-BE49-F238E27FC236}">
                <a16:creationId xmlns:a16="http://schemas.microsoft.com/office/drawing/2014/main" id="{6F74BF8B-853F-4AF9-E64D-55FDFE09AD4F}"/>
              </a:ext>
            </a:extLst>
          </p:cNvPr>
          <p:cNvSpPr>
            <a:spLocks noGrp="1"/>
          </p:cNvSpPr>
          <p:nvPr>
            <p:ph idx="1"/>
          </p:nvPr>
        </p:nvSpPr>
        <p:spPr/>
        <p:txBody>
          <a:bodyPr vert="horz" lIns="91440" tIns="45720" rIns="91440" bIns="45720" rtlCol="0" anchor="t">
            <a:normAutofit/>
          </a:bodyPr>
          <a:lstStyle/>
          <a:p>
            <a:r>
              <a:rPr lang="es-ES" b="1" dirty="0" err="1">
                <a:latin typeface="Courier New"/>
                <a:ea typeface="+mn-lt"/>
                <a:cs typeface="+mn-lt"/>
              </a:rPr>
              <a:t>scale</a:t>
            </a:r>
            <a:r>
              <a:rPr lang="es-ES" b="1" dirty="0">
                <a:latin typeface="Courier New"/>
                <a:ea typeface="+mn-lt"/>
                <a:cs typeface="+mn-lt"/>
              </a:rPr>
              <a:t>()</a:t>
            </a:r>
            <a:r>
              <a:rPr lang="es-ES" dirty="0">
                <a:ea typeface="+mn-lt"/>
                <a:cs typeface="+mn-lt"/>
              </a:rPr>
              <a:t> (Escalar): La función </a:t>
            </a:r>
            <a:r>
              <a:rPr lang="es-ES" dirty="0" err="1">
                <a:ea typeface="+mn-lt"/>
                <a:cs typeface="+mn-lt"/>
              </a:rPr>
              <a:t>scale</a:t>
            </a:r>
            <a:r>
              <a:rPr lang="es-ES" dirty="0">
                <a:ea typeface="+mn-lt"/>
                <a:cs typeface="+mn-lt"/>
              </a:rPr>
              <a:t>(x, y) aumenta o disminuye el tamaño de un elemento. Un valor de 1 representa el tamaño original, mientras que un valor de 2 lo duplica.</a:t>
            </a:r>
          </a:p>
          <a:p>
            <a:r>
              <a:rPr lang="es-ES" b="1" dirty="0" err="1">
                <a:latin typeface="Courier New"/>
                <a:ea typeface="+mn-lt"/>
                <a:cs typeface="+mn-lt"/>
              </a:rPr>
              <a:t>scaleX</a:t>
            </a:r>
            <a:r>
              <a:rPr lang="es-ES" b="1" dirty="0">
                <a:latin typeface="Courier New"/>
                <a:ea typeface="+mn-lt"/>
                <a:cs typeface="+mn-lt"/>
              </a:rPr>
              <a:t>(x)</a:t>
            </a:r>
            <a:r>
              <a:rPr lang="es-ES" dirty="0">
                <a:ea typeface="+mn-lt"/>
                <a:cs typeface="+mn-lt"/>
              </a:rPr>
              <a:t>: Escala el elemento solo en el eje horizontal.</a:t>
            </a:r>
          </a:p>
          <a:p>
            <a:r>
              <a:rPr lang="es-ES" b="1" dirty="0" err="1">
                <a:latin typeface="Courier New"/>
                <a:ea typeface="+mn-lt"/>
                <a:cs typeface="+mn-lt"/>
              </a:rPr>
              <a:t>scaleY</a:t>
            </a:r>
            <a:r>
              <a:rPr lang="es-ES" b="1" dirty="0">
                <a:latin typeface="Courier New"/>
                <a:ea typeface="+mn-lt"/>
                <a:cs typeface="+mn-lt"/>
              </a:rPr>
              <a:t>(y)</a:t>
            </a:r>
            <a:r>
              <a:rPr lang="es-ES" dirty="0">
                <a:ea typeface="+mn-lt"/>
                <a:cs typeface="+mn-lt"/>
              </a:rPr>
              <a:t>: Escala el elemento solo en el eje vertical.</a:t>
            </a:r>
          </a:p>
          <a:p>
            <a:r>
              <a:rPr lang="es-ES" dirty="0">
                <a:ea typeface="+mn-lt"/>
                <a:cs typeface="+mn-lt"/>
              </a:rPr>
              <a:t>Si solo se proporciona un valor, se aplica a ambos ejes.</a:t>
            </a:r>
            <a:endParaRPr lang="es-ES" dirty="0"/>
          </a:p>
          <a:p>
            <a:r>
              <a:rPr lang="es-ES" dirty="0">
                <a:ea typeface="+mn-lt"/>
                <a:cs typeface="+mn-lt"/>
              </a:rPr>
              <a:t>Ejemplo:</a:t>
            </a:r>
            <a:endParaRPr lang="es-ES" dirty="0"/>
          </a:p>
          <a:p>
            <a:r>
              <a:rPr lang="es-ES" b="1" dirty="0">
                <a:latin typeface="Courier New"/>
                <a:ea typeface="+mn-lt"/>
                <a:cs typeface="+mn-lt"/>
              </a:rPr>
              <a:t>.caja-escalada {</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transform</a:t>
            </a:r>
            <a:r>
              <a:rPr lang="es-ES" b="1" dirty="0">
                <a:latin typeface="Courier New"/>
                <a:ea typeface="+mn-lt"/>
                <a:cs typeface="+mn-lt"/>
              </a:rPr>
              <a:t>: </a:t>
            </a:r>
            <a:r>
              <a:rPr lang="es-ES" b="1" err="1">
                <a:latin typeface="Courier New"/>
                <a:ea typeface="+mn-lt"/>
                <a:cs typeface="+mn-lt"/>
              </a:rPr>
              <a:t>scale</a:t>
            </a:r>
            <a:r>
              <a:rPr lang="es-ES" b="1" dirty="0">
                <a:latin typeface="Courier New"/>
                <a:ea typeface="+mn-lt"/>
                <a:cs typeface="+mn-lt"/>
              </a:rPr>
              <a:t>(1.5); /* Aumenta el tamaño un 50% en ambos ejes */</a:t>
            </a:r>
            <a:br>
              <a:rPr lang="es-ES" b="1" dirty="0">
                <a:latin typeface="Courier New"/>
                <a:ea typeface="+mn-lt"/>
                <a:cs typeface="+mn-lt"/>
              </a:rPr>
            </a:br>
            <a:r>
              <a:rPr lang="es-ES" b="1" dirty="0">
                <a:latin typeface="Courier New"/>
                <a:ea typeface="+mn-lt"/>
                <a:cs typeface="+mn-lt"/>
              </a:rPr>
              <a:t>}</a:t>
            </a:r>
            <a:endParaRPr lang="es-ES" b="1" dirty="0">
              <a:latin typeface="Courier New"/>
            </a:endParaRPr>
          </a:p>
        </p:txBody>
      </p:sp>
    </p:spTree>
    <p:extLst>
      <p:ext uri="{BB962C8B-B14F-4D97-AF65-F5344CB8AC3E}">
        <p14:creationId xmlns:p14="http://schemas.microsoft.com/office/powerpoint/2010/main" val="364779760"/>
      </p:ext>
    </p:extLst>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0A4340-EE78-E8BB-AADA-2A968E9973D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398D9C5-A61B-CDD1-3A6B-4785115372E3}"/>
              </a:ext>
            </a:extLst>
          </p:cNvPr>
          <p:cNvSpPr>
            <a:spLocks noGrp="1"/>
          </p:cNvSpPr>
          <p:nvPr>
            <p:ph type="title"/>
          </p:nvPr>
        </p:nvSpPr>
        <p:spPr/>
        <p:txBody>
          <a:bodyPr/>
          <a:lstStyle/>
          <a:p>
            <a:r>
              <a:rPr lang="es-ES" b="0" dirty="0">
                <a:ea typeface="+mj-lt"/>
                <a:cs typeface="+mj-lt"/>
              </a:rPr>
              <a:t>2.5.2.1. Transformaciones 2D.</a:t>
            </a:r>
            <a:endParaRPr lang="es-ES" dirty="0"/>
          </a:p>
        </p:txBody>
      </p:sp>
      <p:sp>
        <p:nvSpPr>
          <p:cNvPr id="3" name="Marcador de contenido 2">
            <a:extLst>
              <a:ext uri="{FF2B5EF4-FFF2-40B4-BE49-F238E27FC236}">
                <a16:creationId xmlns:a16="http://schemas.microsoft.com/office/drawing/2014/main" id="{355C4F39-237E-C722-BFEE-6E18CAECED1C}"/>
              </a:ext>
            </a:extLst>
          </p:cNvPr>
          <p:cNvSpPr>
            <a:spLocks noGrp="1"/>
          </p:cNvSpPr>
          <p:nvPr>
            <p:ph idx="1"/>
          </p:nvPr>
        </p:nvSpPr>
        <p:spPr/>
        <p:txBody>
          <a:bodyPr vert="horz" lIns="91440" tIns="45720" rIns="91440" bIns="45720" rtlCol="0" anchor="t">
            <a:normAutofit fontScale="77500" lnSpcReduction="20000"/>
          </a:bodyPr>
          <a:lstStyle/>
          <a:p>
            <a:r>
              <a:rPr lang="es-ES" b="1" dirty="0" err="1">
                <a:latin typeface="Courier New"/>
                <a:ea typeface="+mn-lt"/>
                <a:cs typeface="+mn-lt"/>
              </a:rPr>
              <a:t>rotate</a:t>
            </a:r>
            <a:r>
              <a:rPr lang="es-ES" b="1" dirty="0">
                <a:latin typeface="Courier New"/>
                <a:ea typeface="+mn-lt"/>
                <a:cs typeface="+mn-lt"/>
              </a:rPr>
              <a:t>()</a:t>
            </a:r>
            <a:r>
              <a:rPr lang="es-ES" dirty="0">
                <a:ea typeface="+mn-lt"/>
                <a:cs typeface="+mn-lt"/>
              </a:rPr>
              <a:t> (Rotar): La función </a:t>
            </a:r>
            <a:r>
              <a:rPr lang="es-ES" dirty="0" err="1">
                <a:ea typeface="+mn-lt"/>
                <a:cs typeface="+mn-lt"/>
              </a:rPr>
              <a:t>rotate</a:t>
            </a:r>
            <a:r>
              <a:rPr lang="es-ES" dirty="0">
                <a:ea typeface="+mn-lt"/>
                <a:cs typeface="+mn-lt"/>
              </a:rPr>
              <a:t>(ángulo) gira un elemento alrededor de su centro. El ángulo puede ser un valor positivo (sentido horario) o negativo (sentido antihorario). El valor se especifica en grados (</a:t>
            </a:r>
            <a:r>
              <a:rPr lang="es-ES" dirty="0" err="1">
                <a:ea typeface="+mn-lt"/>
                <a:cs typeface="+mn-lt"/>
              </a:rPr>
              <a:t>deg</a:t>
            </a:r>
            <a:r>
              <a:rPr lang="es-ES" dirty="0">
                <a:ea typeface="+mn-lt"/>
                <a:cs typeface="+mn-lt"/>
              </a:rPr>
              <a:t>), vueltas (</a:t>
            </a:r>
            <a:r>
              <a:rPr lang="es-ES" dirty="0" err="1">
                <a:ea typeface="+mn-lt"/>
                <a:cs typeface="+mn-lt"/>
              </a:rPr>
              <a:t>turn</a:t>
            </a:r>
            <a:r>
              <a:rPr lang="es-ES" dirty="0">
                <a:ea typeface="+mn-lt"/>
                <a:cs typeface="+mn-lt"/>
              </a:rPr>
              <a:t>) o radianes (rad).</a:t>
            </a:r>
            <a:endParaRPr lang="es-ES"/>
          </a:p>
          <a:p>
            <a:r>
              <a:rPr lang="es-ES" dirty="0">
                <a:ea typeface="+mn-lt"/>
                <a:cs typeface="+mn-lt"/>
              </a:rPr>
              <a:t>Ejemplo:</a:t>
            </a:r>
          </a:p>
          <a:p>
            <a:r>
              <a:rPr lang="es-ES" b="1" dirty="0">
                <a:latin typeface="Courier New"/>
                <a:ea typeface="+mn-lt"/>
                <a:cs typeface="+mn-lt"/>
              </a:rPr>
              <a:t>.caja-rotada {</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transform</a:t>
            </a:r>
            <a:r>
              <a:rPr lang="es-ES" b="1" dirty="0">
                <a:latin typeface="Courier New"/>
                <a:ea typeface="+mn-lt"/>
                <a:cs typeface="+mn-lt"/>
              </a:rPr>
              <a:t>: </a:t>
            </a:r>
            <a:r>
              <a:rPr lang="es-ES" b="1" err="1">
                <a:latin typeface="Courier New"/>
                <a:ea typeface="+mn-lt"/>
                <a:cs typeface="+mn-lt"/>
              </a:rPr>
              <a:t>rotate</a:t>
            </a:r>
            <a:r>
              <a:rPr lang="es-ES" b="1" dirty="0">
                <a:latin typeface="Courier New"/>
                <a:ea typeface="+mn-lt"/>
                <a:cs typeface="+mn-lt"/>
              </a:rPr>
              <a:t>(45deg); /* Gira 45 grados en el sentido de las agujas del reloj */</a:t>
            </a:r>
            <a:br>
              <a:rPr lang="es-ES" b="1" dirty="0">
                <a:latin typeface="Courier New"/>
                <a:ea typeface="+mn-lt"/>
                <a:cs typeface="+mn-lt"/>
              </a:rPr>
            </a:br>
            <a:r>
              <a:rPr lang="es-ES" b="1" dirty="0">
                <a:latin typeface="Courier New"/>
                <a:ea typeface="+mn-lt"/>
                <a:cs typeface="+mn-lt"/>
              </a:rPr>
              <a:t>}</a:t>
            </a:r>
            <a:endParaRPr lang="es-ES" b="1">
              <a:latin typeface="Courier New"/>
              <a:ea typeface="+mn-lt"/>
              <a:cs typeface="+mn-lt"/>
            </a:endParaRPr>
          </a:p>
          <a:p>
            <a:r>
              <a:rPr lang="es-ES" b="1" dirty="0" err="1">
                <a:latin typeface="Courier New"/>
                <a:ea typeface="+mn-lt"/>
                <a:cs typeface="+mn-lt"/>
              </a:rPr>
              <a:t>skew</a:t>
            </a:r>
            <a:r>
              <a:rPr lang="es-ES" b="1" dirty="0">
                <a:latin typeface="Courier New"/>
                <a:ea typeface="+mn-lt"/>
                <a:cs typeface="+mn-lt"/>
              </a:rPr>
              <a:t>() </a:t>
            </a:r>
            <a:r>
              <a:rPr lang="es-ES" dirty="0">
                <a:ea typeface="+mn-lt"/>
                <a:cs typeface="+mn-lt"/>
              </a:rPr>
              <a:t>(Inclinar): La función </a:t>
            </a:r>
            <a:r>
              <a:rPr lang="es-ES" dirty="0" err="1">
                <a:ea typeface="+mn-lt"/>
                <a:cs typeface="+mn-lt"/>
              </a:rPr>
              <a:t>skew</a:t>
            </a:r>
            <a:r>
              <a:rPr lang="es-ES" dirty="0">
                <a:ea typeface="+mn-lt"/>
                <a:cs typeface="+mn-lt"/>
              </a:rPr>
              <a:t>(x, y) inclina un elemento. Es una transformación menos común pero útil para ciertos efectos de distorsión. El valor se especifica en grados (</a:t>
            </a:r>
            <a:r>
              <a:rPr lang="es-ES" dirty="0" err="1">
                <a:ea typeface="+mn-lt"/>
                <a:cs typeface="+mn-lt"/>
              </a:rPr>
              <a:t>deg</a:t>
            </a:r>
            <a:r>
              <a:rPr lang="es-ES" dirty="0">
                <a:ea typeface="+mn-lt"/>
                <a:cs typeface="+mn-lt"/>
              </a:rPr>
              <a:t>).</a:t>
            </a:r>
            <a:endParaRPr lang="es-ES" dirty="0"/>
          </a:p>
          <a:p>
            <a:r>
              <a:rPr lang="es-ES" b="1" dirty="0" err="1">
                <a:latin typeface="Courier New"/>
                <a:ea typeface="+mn-lt"/>
                <a:cs typeface="+mn-lt"/>
              </a:rPr>
              <a:t>skewX</a:t>
            </a:r>
            <a:r>
              <a:rPr lang="es-ES" b="1" dirty="0">
                <a:latin typeface="Courier New"/>
                <a:ea typeface="+mn-lt"/>
                <a:cs typeface="+mn-lt"/>
              </a:rPr>
              <a:t>(x)</a:t>
            </a:r>
            <a:r>
              <a:rPr lang="es-ES" dirty="0">
                <a:ea typeface="+mn-lt"/>
                <a:cs typeface="+mn-lt"/>
              </a:rPr>
              <a:t>: Inclina el elemento en el eje horizontal.</a:t>
            </a:r>
            <a:endParaRPr lang="es-ES"/>
          </a:p>
          <a:p>
            <a:r>
              <a:rPr lang="es-ES" b="1" dirty="0" err="1">
                <a:latin typeface="Courier New"/>
                <a:ea typeface="+mn-lt"/>
                <a:cs typeface="+mn-lt"/>
              </a:rPr>
              <a:t>skewY</a:t>
            </a:r>
            <a:r>
              <a:rPr lang="es-ES" b="1" dirty="0">
                <a:latin typeface="Courier New"/>
                <a:ea typeface="+mn-lt"/>
                <a:cs typeface="+mn-lt"/>
              </a:rPr>
              <a:t>(y)</a:t>
            </a:r>
            <a:r>
              <a:rPr lang="es-ES" dirty="0">
                <a:ea typeface="+mn-lt"/>
                <a:cs typeface="+mn-lt"/>
              </a:rPr>
              <a:t>: Inclina el elemento en el eje vertical.</a:t>
            </a:r>
            <a:endParaRPr lang="es-ES" dirty="0"/>
          </a:p>
          <a:p>
            <a:r>
              <a:rPr lang="es-ES" dirty="0">
                <a:ea typeface="+mn-lt"/>
                <a:cs typeface="+mn-lt"/>
              </a:rPr>
              <a:t>Ejemplo:</a:t>
            </a:r>
            <a:endParaRPr lang="es-ES"/>
          </a:p>
          <a:p>
            <a:r>
              <a:rPr lang="es-ES" b="1" dirty="0">
                <a:latin typeface="Courier New"/>
                <a:ea typeface="+mn-lt"/>
                <a:cs typeface="+mn-lt"/>
              </a:rPr>
              <a:t>.caja-inclinada {</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transform</a:t>
            </a:r>
            <a:r>
              <a:rPr lang="es-ES" b="1" dirty="0">
                <a:latin typeface="Courier New"/>
                <a:ea typeface="+mn-lt"/>
                <a:cs typeface="+mn-lt"/>
              </a:rPr>
              <a:t>: </a:t>
            </a:r>
            <a:r>
              <a:rPr lang="es-ES" b="1" err="1">
                <a:latin typeface="Courier New"/>
                <a:ea typeface="+mn-lt"/>
                <a:cs typeface="+mn-lt"/>
              </a:rPr>
              <a:t>skew</a:t>
            </a:r>
            <a:r>
              <a:rPr lang="es-ES" b="1" dirty="0">
                <a:latin typeface="Courier New"/>
                <a:ea typeface="+mn-lt"/>
                <a:cs typeface="+mn-lt"/>
              </a:rPr>
              <a:t>(10deg, 20deg); /* Inclina 10 grados en X y 20 en Y */</a:t>
            </a:r>
            <a:br>
              <a:rPr lang="es-ES" b="1" dirty="0">
                <a:latin typeface="Courier New"/>
                <a:ea typeface="+mn-lt"/>
                <a:cs typeface="+mn-lt"/>
              </a:rPr>
            </a:br>
            <a:r>
              <a:rPr lang="es-ES" b="1" dirty="0">
                <a:latin typeface="Courier New"/>
                <a:ea typeface="+mn-lt"/>
                <a:cs typeface="+mn-lt"/>
              </a:rPr>
              <a:t>}</a:t>
            </a:r>
            <a:endParaRPr lang="es-ES" b="1" dirty="0">
              <a:latin typeface="Courier New"/>
            </a:endParaRPr>
          </a:p>
        </p:txBody>
      </p:sp>
    </p:spTree>
    <p:extLst>
      <p:ext uri="{BB962C8B-B14F-4D97-AF65-F5344CB8AC3E}">
        <p14:creationId xmlns:p14="http://schemas.microsoft.com/office/powerpoint/2010/main" val="357574680"/>
      </p:ext>
    </p:extLst>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225337-02B2-76EF-2788-C8FD0E711C5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10649CE-A019-4569-FF2C-BC81321A4EA7}"/>
              </a:ext>
            </a:extLst>
          </p:cNvPr>
          <p:cNvSpPr>
            <a:spLocks noGrp="1"/>
          </p:cNvSpPr>
          <p:nvPr>
            <p:ph type="title"/>
          </p:nvPr>
        </p:nvSpPr>
        <p:spPr/>
        <p:txBody>
          <a:bodyPr/>
          <a:lstStyle/>
          <a:p>
            <a:r>
              <a:rPr lang="es-ES" b="0" dirty="0">
                <a:ea typeface="+mj-lt"/>
                <a:cs typeface="+mj-lt"/>
              </a:rPr>
              <a:t>2.5.2.1. Transformaciones 2D.</a:t>
            </a:r>
            <a:endParaRPr lang="es-ES" dirty="0"/>
          </a:p>
        </p:txBody>
      </p:sp>
      <p:sp>
        <p:nvSpPr>
          <p:cNvPr id="3" name="Marcador de contenido 2">
            <a:extLst>
              <a:ext uri="{FF2B5EF4-FFF2-40B4-BE49-F238E27FC236}">
                <a16:creationId xmlns:a16="http://schemas.microsoft.com/office/drawing/2014/main" id="{36241EB6-A9D3-0436-4CA4-EBE8310D3EEA}"/>
              </a:ext>
            </a:extLst>
          </p:cNvPr>
          <p:cNvSpPr>
            <a:spLocks noGrp="1"/>
          </p:cNvSpPr>
          <p:nvPr>
            <p:ph idx="1"/>
          </p:nvPr>
        </p:nvSpPr>
        <p:spPr/>
        <p:txBody>
          <a:bodyPr vert="horz" lIns="91440" tIns="45720" rIns="91440" bIns="45720" rtlCol="0" anchor="t">
            <a:normAutofit/>
          </a:bodyPr>
          <a:lstStyle/>
          <a:p>
            <a:r>
              <a:rPr lang="es-ES" dirty="0">
                <a:ea typeface="+mn-lt"/>
                <a:cs typeface="+mn-lt"/>
              </a:rPr>
              <a:t>Combinación de transformaciones: Puedes aplicar varias transformaciones en una sola línea, separadas por un espacio. Se aplican en el orden en que se escriben, lo que puede afectar el resultado final.</a:t>
            </a:r>
            <a:endParaRPr lang="es-ES" dirty="0"/>
          </a:p>
          <a:p>
            <a:r>
              <a:rPr lang="es-ES" dirty="0">
                <a:ea typeface="+mn-lt"/>
                <a:cs typeface="+mn-lt"/>
              </a:rPr>
              <a:t>Ejemplo:</a:t>
            </a:r>
          </a:p>
          <a:p>
            <a:pPr marL="0" indent="0">
              <a:buNone/>
            </a:pPr>
            <a:r>
              <a:rPr lang="es-ES" b="1" dirty="0">
                <a:latin typeface="Courier New"/>
                <a:ea typeface="+mn-lt"/>
                <a:cs typeface="+mn-lt"/>
              </a:rPr>
              <a:t>.caja-combo {</a:t>
            </a:r>
            <a:br>
              <a:rPr lang="es-ES" b="1" dirty="0">
                <a:latin typeface="Courier New"/>
                <a:ea typeface="+mn-lt"/>
                <a:cs typeface="+mn-lt"/>
              </a:rPr>
            </a:br>
            <a:r>
              <a:rPr lang="es-ES" b="1" dirty="0">
                <a:latin typeface="Courier New"/>
                <a:ea typeface="+mn-lt"/>
                <a:cs typeface="+mn-lt"/>
              </a:rPr>
              <a:t>  /* Gira 45 grados, luego se mueve 20px a la derecha */</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transform</a:t>
            </a:r>
            <a:r>
              <a:rPr lang="es-ES" b="1" dirty="0">
                <a:latin typeface="Courier New"/>
                <a:ea typeface="+mn-lt"/>
                <a:cs typeface="+mn-lt"/>
              </a:rPr>
              <a:t>: </a:t>
            </a:r>
            <a:r>
              <a:rPr lang="es-ES" b="1" err="1">
                <a:latin typeface="Courier New"/>
                <a:ea typeface="+mn-lt"/>
                <a:cs typeface="+mn-lt"/>
              </a:rPr>
              <a:t>rotate</a:t>
            </a:r>
            <a:r>
              <a:rPr lang="es-ES" b="1" dirty="0">
                <a:latin typeface="Courier New"/>
                <a:ea typeface="+mn-lt"/>
                <a:cs typeface="+mn-lt"/>
              </a:rPr>
              <a:t>(45deg) </a:t>
            </a:r>
            <a:r>
              <a:rPr lang="es-ES" b="1" err="1">
                <a:latin typeface="Courier New"/>
                <a:ea typeface="+mn-lt"/>
                <a:cs typeface="+mn-lt"/>
              </a:rPr>
              <a:t>translateX</a:t>
            </a:r>
            <a:r>
              <a:rPr lang="es-ES" b="1" dirty="0">
                <a:latin typeface="Courier New"/>
                <a:ea typeface="+mn-lt"/>
                <a:cs typeface="+mn-lt"/>
              </a:rPr>
              <a:t>(20px);</a:t>
            </a:r>
            <a:br>
              <a:rPr lang="es-ES" b="1" dirty="0">
                <a:latin typeface="Courier New"/>
                <a:ea typeface="+mn-lt"/>
                <a:cs typeface="+mn-lt"/>
              </a:rPr>
            </a:br>
            <a:r>
              <a:rPr lang="es-ES" b="1" dirty="0">
                <a:latin typeface="Courier New"/>
                <a:ea typeface="+mn-lt"/>
                <a:cs typeface="+mn-lt"/>
              </a:rPr>
              <a:t>}</a:t>
            </a:r>
          </a:p>
          <a:p>
            <a:r>
              <a:rPr lang="es-ES" dirty="0">
                <a:ea typeface="+mn-lt"/>
                <a:cs typeface="+mn-lt"/>
              </a:rPr>
              <a:t>Al combinar estas transformaciones con la propiedad </a:t>
            </a:r>
            <a:r>
              <a:rPr lang="es-ES" dirty="0" err="1">
                <a:ea typeface="+mn-lt"/>
                <a:cs typeface="+mn-lt"/>
              </a:rPr>
              <a:t>transition</a:t>
            </a:r>
            <a:r>
              <a:rPr lang="es-ES" dirty="0">
                <a:ea typeface="+mn-lt"/>
                <a:cs typeface="+mn-lt"/>
              </a:rPr>
              <a:t>, puedes crear animaciones 2D fluidas y complejas sin necesidad de JavaScript.</a:t>
            </a:r>
            <a:endParaRPr lang="es-ES" dirty="0"/>
          </a:p>
        </p:txBody>
      </p:sp>
    </p:spTree>
    <p:extLst>
      <p:ext uri="{BB962C8B-B14F-4D97-AF65-F5344CB8AC3E}">
        <p14:creationId xmlns:p14="http://schemas.microsoft.com/office/powerpoint/2010/main" val="1039391374"/>
      </p:ext>
    </p:extLst>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E2083C-2012-B49C-6BEB-423CD9483B9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56A42B6-7CD2-33C3-C6FF-DB50B6F87B35}"/>
              </a:ext>
            </a:extLst>
          </p:cNvPr>
          <p:cNvSpPr>
            <a:spLocks noGrp="1"/>
          </p:cNvSpPr>
          <p:nvPr>
            <p:ph type="title"/>
          </p:nvPr>
        </p:nvSpPr>
        <p:spPr/>
        <p:txBody>
          <a:bodyPr/>
          <a:lstStyle/>
          <a:p>
            <a:r>
              <a:rPr lang="es-ES" b="0" dirty="0">
                <a:ea typeface="+mj-lt"/>
                <a:cs typeface="+mj-lt"/>
              </a:rPr>
              <a:t>2.5.2.2. Transformaciones 3D.</a:t>
            </a:r>
            <a:endParaRPr lang="es-ES" dirty="0">
              <a:ea typeface="+mj-lt"/>
              <a:cs typeface="+mj-lt"/>
            </a:endParaRPr>
          </a:p>
        </p:txBody>
      </p:sp>
      <p:sp>
        <p:nvSpPr>
          <p:cNvPr id="3" name="Marcador de contenido 2">
            <a:extLst>
              <a:ext uri="{FF2B5EF4-FFF2-40B4-BE49-F238E27FC236}">
                <a16:creationId xmlns:a16="http://schemas.microsoft.com/office/drawing/2014/main" id="{7866B95E-71FF-CC1D-5072-9D1DA8172539}"/>
              </a:ext>
            </a:extLst>
          </p:cNvPr>
          <p:cNvSpPr>
            <a:spLocks noGrp="1"/>
          </p:cNvSpPr>
          <p:nvPr>
            <p:ph idx="1"/>
          </p:nvPr>
        </p:nvSpPr>
        <p:spPr/>
        <p:txBody>
          <a:bodyPr vert="horz" lIns="91440" tIns="45720" rIns="91440" bIns="45720" rtlCol="0" anchor="t">
            <a:normAutofit/>
          </a:bodyPr>
          <a:lstStyle/>
          <a:p>
            <a:r>
              <a:rPr lang="es-ES" dirty="0">
                <a:ea typeface="+mn-lt"/>
                <a:cs typeface="+mn-lt"/>
              </a:rPr>
              <a:t>Las transformaciones 3D en CSS te permiten manipular la posición, rotación y escala de un elemento en un espacio tridimensional. Esto va más allá del plano 2D de la pantalla, añadiendo profundidad y perspectiva a tus diseños. A diferencia de las transformaciones 2D, para que las 3D sean visibles, es necesario establecer un "espacio" 3D para el elemento padre con la propiedad </a:t>
            </a:r>
            <a:r>
              <a:rPr lang="es-ES" dirty="0" err="1">
                <a:ea typeface="+mn-lt"/>
                <a:cs typeface="+mn-lt"/>
              </a:rPr>
              <a:t>perspective</a:t>
            </a:r>
            <a:r>
              <a:rPr lang="es-ES" dirty="0">
                <a:ea typeface="+mn-lt"/>
                <a:cs typeface="+mn-lt"/>
              </a:rPr>
              <a:t>.</a:t>
            </a:r>
          </a:p>
          <a:p>
            <a:r>
              <a:rPr lang="es-ES" dirty="0">
                <a:ea typeface="+mn-lt"/>
                <a:cs typeface="+mn-lt"/>
              </a:rPr>
              <a:t>Perspectiva (</a:t>
            </a:r>
            <a:r>
              <a:rPr lang="es-ES" dirty="0" err="1">
                <a:ea typeface="+mn-lt"/>
                <a:cs typeface="+mn-lt"/>
              </a:rPr>
              <a:t>perspective</a:t>
            </a:r>
            <a:r>
              <a:rPr lang="es-ES" dirty="0">
                <a:ea typeface="+mn-lt"/>
                <a:cs typeface="+mn-lt"/>
              </a:rPr>
              <a:t>): La propiedad </a:t>
            </a:r>
            <a:r>
              <a:rPr lang="es-ES" dirty="0" err="1">
                <a:ea typeface="+mn-lt"/>
                <a:cs typeface="+mn-lt"/>
              </a:rPr>
              <a:t>perspective</a:t>
            </a:r>
            <a:r>
              <a:rPr lang="es-ES" dirty="0">
                <a:ea typeface="+mn-lt"/>
                <a:cs typeface="+mn-lt"/>
              </a:rPr>
              <a:t> se aplica al elemento padre y define la distancia desde la que el usuario observa el contenido. Cuanto menor sea el valor en píxeles, más pronunciado será el efecto 3D. Un valor de </a:t>
            </a:r>
            <a:r>
              <a:rPr lang="es-ES" dirty="0" err="1">
                <a:ea typeface="+mn-lt"/>
                <a:cs typeface="+mn-lt"/>
              </a:rPr>
              <a:t>none</a:t>
            </a:r>
            <a:r>
              <a:rPr lang="es-ES" dirty="0">
                <a:ea typeface="+mn-lt"/>
                <a:cs typeface="+mn-lt"/>
              </a:rPr>
              <a:t> (por defecto) o 0 deshabilita los efectos 3D.</a:t>
            </a:r>
          </a:p>
          <a:p>
            <a:pPr marL="0" indent="0">
              <a:buNone/>
            </a:pPr>
            <a:r>
              <a:rPr lang="es-ES" b="1" dirty="0">
                <a:latin typeface="Courier New"/>
                <a:ea typeface="+mn-lt"/>
                <a:cs typeface="+mn-lt"/>
              </a:rPr>
              <a:t>.contenedor-3d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perspective</a:t>
            </a:r>
            <a:r>
              <a:rPr lang="es-ES" b="1" dirty="0">
                <a:latin typeface="Courier New"/>
                <a:ea typeface="+mn-lt"/>
                <a:cs typeface="+mn-lt"/>
              </a:rPr>
              <a:t>: 800px; /* Define la profundidad del espacio 3D */</a:t>
            </a:r>
            <a:br>
              <a:rPr lang="es-ES" b="1" dirty="0">
                <a:latin typeface="Courier New"/>
                <a:ea typeface="+mn-lt"/>
                <a:cs typeface="+mn-lt"/>
              </a:rPr>
            </a:br>
            <a:r>
              <a:rPr lang="es-ES" b="1" dirty="0">
                <a:latin typeface="Courier New"/>
                <a:ea typeface="+mn-lt"/>
                <a:cs typeface="+mn-lt"/>
              </a:rPr>
              <a:t>}</a:t>
            </a:r>
            <a:endParaRPr lang="es-ES" b="1" dirty="0">
              <a:latin typeface="Courier New"/>
              <a:cs typeface="Courier New"/>
            </a:endParaRPr>
          </a:p>
          <a:p>
            <a:endParaRPr lang="es-ES" dirty="0"/>
          </a:p>
        </p:txBody>
      </p:sp>
    </p:spTree>
    <p:extLst>
      <p:ext uri="{BB962C8B-B14F-4D97-AF65-F5344CB8AC3E}">
        <p14:creationId xmlns:p14="http://schemas.microsoft.com/office/powerpoint/2010/main" val="3086758829"/>
      </p:ext>
    </p:extLst>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5C66C7-F561-6D46-9690-7993E384170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7FC29ED-DB98-4296-F7DB-41A0C80497C1}"/>
              </a:ext>
            </a:extLst>
          </p:cNvPr>
          <p:cNvSpPr>
            <a:spLocks noGrp="1"/>
          </p:cNvSpPr>
          <p:nvPr>
            <p:ph type="title"/>
          </p:nvPr>
        </p:nvSpPr>
        <p:spPr/>
        <p:txBody>
          <a:bodyPr/>
          <a:lstStyle/>
          <a:p>
            <a:r>
              <a:rPr lang="es-ES" b="0" dirty="0">
                <a:ea typeface="+mj-lt"/>
                <a:cs typeface="+mj-lt"/>
              </a:rPr>
              <a:t>2.5.2.2. Transformaciones 3D.</a:t>
            </a:r>
            <a:endParaRPr lang="es-ES" dirty="0">
              <a:ea typeface="+mj-lt"/>
              <a:cs typeface="+mj-lt"/>
            </a:endParaRPr>
          </a:p>
        </p:txBody>
      </p:sp>
      <p:sp>
        <p:nvSpPr>
          <p:cNvPr id="3" name="Marcador de contenido 2">
            <a:extLst>
              <a:ext uri="{FF2B5EF4-FFF2-40B4-BE49-F238E27FC236}">
                <a16:creationId xmlns:a16="http://schemas.microsoft.com/office/drawing/2014/main" id="{292EC9F2-0D9F-2F9C-41A5-EC2C5A310129}"/>
              </a:ext>
            </a:extLst>
          </p:cNvPr>
          <p:cNvSpPr>
            <a:spLocks noGrp="1"/>
          </p:cNvSpPr>
          <p:nvPr>
            <p:ph idx="1"/>
          </p:nvPr>
        </p:nvSpPr>
        <p:spPr/>
        <p:txBody>
          <a:bodyPr vert="horz" lIns="91440" tIns="45720" rIns="91440" bIns="45720" rtlCol="0" anchor="t">
            <a:normAutofit fontScale="77500" lnSpcReduction="20000"/>
          </a:bodyPr>
          <a:lstStyle/>
          <a:p>
            <a:r>
              <a:rPr lang="es-ES" dirty="0">
                <a:ea typeface="+mn-lt"/>
                <a:cs typeface="+mn-lt"/>
              </a:rPr>
              <a:t>Funciones de transformación 3D: Estas funciones se aplican a los elementos hijos dentro del contenedor con perspectiva.</a:t>
            </a:r>
            <a:endParaRPr lang="es-ES" dirty="0"/>
          </a:p>
          <a:p>
            <a:pPr lvl="1">
              <a:buFont typeface="Courier New" panose="020B0604020202020204" pitchFamily="34" charset="0"/>
              <a:buChar char="o"/>
            </a:pPr>
            <a:r>
              <a:rPr lang="es-ES" b="1" dirty="0">
                <a:latin typeface="Courier New"/>
                <a:ea typeface="+mn-lt"/>
                <a:cs typeface="+mn-lt"/>
              </a:rPr>
              <a:t>translate3d(x, y, z)</a:t>
            </a:r>
            <a:r>
              <a:rPr lang="es-ES" dirty="0">
                <a:ea typeface="+mn-lt"/>
                <a:cs typeface="+mn-lt"/>
              </a:rPr>
              <a:t>: Mueve el elemento en el espacio 3D.</a:t>
            </a:r>
            <a:endParaRPr lang="es-ES"/>
          </a:p>
          <a:p>
            <a:pPr lvl="2">
              <a:buFont typeface="Wingdings" panose="020B0604020202020204" pitchFamily="34" charset="0"/>
              <a:buChar char="§"/>
            </a:pPr>
            <a:r>
              <a:rPr lang="es-ES" dirty="0">
                <a:ea typeface="+mn-lt"/>
                <a:cs typeface="+mn-lt"/>
              </a:rPr>
              <a:t>x: Movimiento horizontal.</a:t>
            </a:r>
            <a:endParaRPr lang="es-ES"/>
          </a:p>
          <a:p>
            <a:pPr lvl="2">
              <a:buFont typeface="Wingdings" panose="020B0604020202020204" pitchFamily="34" charset="0"/>
              <a:buChar char="§"/>
            </a:pPr>
            <a:r>
              <a:rPr lang="es-ES" dirty="0">
                <a:ea typeface="+mn-lt"/>
                <a:cs typeface="+mn-lt"/>
              </a:rPr>
              <a:t>y: Movimiento vertical.</a:t>
            </a:r>
            <a:endParaRPr lang="es-ES"/>
          </a:p>
          <a:p>
            <a:pPr lvl="2">
              <a:buFont typeface="Wingdings" panose="020B0604020202020204" pitchFamily="34" charset="0"/>
              <a:buChar char="§"/>
            </a:pPr>
            <a:r>
              <a:rPr lang="es-ES" dirty="0">
                <a:ea typeface="+mn-lt"/>
                <a:cs typeface="+mn-lt"/>
              </a:rPr>
              <a:t>z: Movimiento en profundidad. Un valor positivo acerca el elemento al observador; un valor negativo lo aleja.</a:t>
            </a:r>
            <a:endParaRPr lang="es-ES"/>
          </a:p>
          <a:p>
            <a:pPr marL="0" indent="0">
              <a:buNone/>
            </a:pPr>
            <a:r>
              <a:rPr lang="es-ES" b="1" dirty="0">
                <a:latin typeface="Courier New"/>
                <a:ea typeface="+mn-lt"/>
                <a:cs typeface="+mn-lt"/>
              </a:rPr>
              <a:t>.caja-cercana {</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transform</a:t>
            </a:r>
            <a:r>
              <a:rPr lang="es-ES" b="1" dirty="0">
                <a:latin typeface="Courier New"/>
                <a:ea typeface="+mn-lt"/>
                <a:cs typeface="+mn-lt"/>
              </a:rPr>
              <a:t>: translate3d(0, 0, 100px); /* Acerca la caja 100px */</a:t>
            </a:r>
            <a:br>
              <a:rPr lang="es-ES" b="1" dirty="0">
                <a:latin typeface="Courier New"/>
                <a:ea typeface="+mn-lt"/>
                <a:cs typeface="+mn-lt"/>
              </a:rPr>
            </a:br>
            <a:r>
              <a:rPr lang="es-ES" b="1" dirty="0">
                <a:latin typeface="Courier New"/>
                <a:ea typeface="+mn-lt"/>
                <a:cs typeface="+mn-lt"/>
              </a:rPr>
              <a:t>}</a:t>
            </a:r>
            <a:endParaRPr lang="es-ES" b="1" dirty="0">
              <a:latin typeface="Courier New"/>
              <a:cs typeface="Courier New"/>
            </a:endParaRPr>
          </a:p>
          <a:p>
            <a:pPr lvl="1">
              <a:buFont typeface="Courier New" panose="020B0604020202020204" pitchFamily="34" charset="0"/>
              <a:buChar char="o"/>
            </a:pPr>
            <a:r>
              <a:rPr lang="es-ES" b="1" dirty="0">
                <a:latin typeface="Courier New"/>
                <a:ea typeface="+mn-lt"/>
                <a:cs typeface="+mn-lt"/>
              </a:rPr>
              <a:t>rotate3d(x, y, z, ángulo)</a:t>
            </a:r>
            <a:r>
              <a:rPr lang="es-ES" dirty="0">
                <a:ea typeface="+mn-lt"/>
                <a:cs typeface="+mn-lt"/>
              </a:rPr>
              <a:t>: Rota el elemento alrededor de un vector tridimensional. Los valores x, y </a:t>
            </a:r>
            <a:r>
              <a:rPr lang="es-ES" err="1">
                <a:ea typeface="+mn-lt"/>
                <a:cs typeface="+mn-lt"/>
              </a:rPr>
              <a:t>y</a:t>
            </a:r>
            <a:r>
              <a:rPr lang="es-ES" dirty="0">
                <a:ea typeface="+mn-lt"/>
                <a:cs typeface="+mn-lt"/>
              </a:rPr>
              <a:t> z pueden ser 0 o 1 para indicar el eje de rotación.</a:t>
            </a:r>
          </a:p>
          <a:p>
            <a:pPr lvl="2">
              <a:buFont typeface="Wingdings" panose="020B0604020202020204" pitchFamily="34" charset="0"/>
              <a:buChar char="§"/>
            </a:pPr>
            <a:r>
              <a:rPr lang="es-ES" b="1" err="1">
                <a:latin typeface="Courier New"/>
                <a:ea typeface="+mn-lt"/>
                <a:cs typeface="+mn-lt"/>
              </a:rPr>
              <a:t>rotateX</a:t>
            </a:r>
            <a:r>
              <a:rPr lang="es-ES" b="1" dirty="0">
                <a:latin typeface="Courier New"/>
                <a:ea typeface="+mn-lt"/>
                <a:cs typeface="+mn-lt"/>
              </a:rPr>
              <a:t>(ángulo)</a:t>
            </a:r>
            <a:r>
              <a:rPr lang="es-ES" dirty="0">
                <a:ea typeface="+mn-lt"/>
                <a:cs typeface="+mn-lt"/>
              </a:rPr>
              <a:t>: Rota alrededor del eje horizontal (como si fuera una puerta).</a:t>
            </a:r>
            <a:endParaRPr lang="es-ES"/>
          </a:p>
          <a:p>
            <a:pPr lvl="2">
              <a:buFont typeface="Wingdings" panose="020B0604020202020204" pitchFamily="34" charset="0"/>
              <a:buChar char="§"/>
            </a:pPr>
            <a:r>
              <a:rPr lang="es-ES" b="1" err="1">
                <a:latin typeface="Courier New"/>
                <a:ea typeface="+mn-lt"/>
                <a:cs typeface="+mn-lt"/>
              </a:rPr>
              <a:t>rotateY</a:t>
            </a:r>
            <a:r>
              <a:rPr lang="es-ES" b="1" dirty="0">
                <a:latin typeface="Courier New"/>
                <a:ea typeface="+mn-lt"/>
                <a:cs typeface="+mn-lt"/>
              </a:rPr>
              <a:t>(ángulo)</a:t>
            </a:r>
            <a:r>
              <a:rPr lang="es-ES" dirty="0">
                <a:ea typeface="+mn-lt"/>
                <a:cs typeface="+mn-lt"/>
              </a:rPr>
              <a:t>: Rota alrededor del eje vertical (como un libro que se abre).</a:t>
            </a:r>
            <a:endParaRPr lang="es-ES"/>
          </a:p>
          <a:p>
            <a:pPr lvl="2">
              <a:buFont typeface="Wingdings" panose="020B0604020202020204" pitchFamily="34" charset="0"/>
              <a:buChar char="§"/>
            </a:pPr>
            <a:r>
              <a:rPr lang="es-ES" b="1" err="1">
                <a:latin typeface="Courier New"/>
                <a:ea typeface="+mn-lt"/>
                <a:cs typeface="+mn-lt"/>
              </a:rPr>
              <a:t>rotateZ</a:t>
            </a:r>
            <a:r>
              <a:rPr lang="es-ES" b="1" dirty="0">
                <a:latin typeface="Courier New"/>
                <a:ea typeface="+mn-lt"/>
                <a:cs typeface="+mn-lt"/>
              </a:rPr>
              <a:t>(ángulo)</a:t>
            </a:r>
            <a:r>
              <a:rPr lang="es-ES" dirty="0">
                <a:ea typeface="+mn-lt"/>
                <a:cs typeface="+mn-lt"/>
              </a:rPr>
              <a:t>: Rota alrededor del eje Z (lo mismo que </a:t>
            </a:r>
            <a:r>
              <a:rPr lang="es-ES" err="1">
                <a:ea typeface="+mn-lt"/>
                <a:cs typeface="+mn-lt"/>
              </a:rPr>
              <a:t>rotate</a:t>
            </a:r>
            <a:r>
              <a:rPr lang="es-ES" dirty="0">
                <a:ea typeface="+mn-lt"/>
                <a:cs typeface="+mn-lt"/>
              </a:rPr>
              <a:t>(ángulo) en 2D).</a:t>
            </a:r>
            <a:endParaRPr lang="es-ES"/>
          </a:p>
          <a:p>
            <a:pPr marL="0" indent="0">
              <a:buNone/>
            </a:pPr>
            <a:r>
              <a:rPr lang="es-ES" b="1" dirty="0">
                <a:latin typeface="Courier New"/>
                <a:ea typeface="+mn-lt"/>
                <a:cs typeface="+mn-lt"/>
              </a:rPr>
              <a:t>.tarjeta-giratoria {</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transform</a:t>
            </a:r>
            <a:r>
              <a:rPr lang="es-ES" b="1" dirty="0">
                <a:latin typeface="Courier New"/>
                <a:ea typeface="+mn-lt"/>
                <a:cs typeface="+mn-lt"/>
              </a:rPr>
              <a:t>: </a:t>
            </a:r>
            <a:r>
              <a:rPr lang="es-ES" b="1" err="1">
                <a:latin typeface="Courier New"/>
                <a:ea typeface="+mn-lt"/>
                <a:cs typeface="+mn-lt"/>
              </a:rPr>
              <a:t>rotateY</a:t>
            </a:r>
            <a:r>
              <a:rPr lang="es-ES" b="1" dirty="0">
                <a:latin typeface="Courier New"/>
                <a:ea typeface="+mn-lt"/>
                <a:cs typeface="+mn-lt"/>
              </a:rPr>
              <a:t>(180deg); /* Gira 180 grados en el eje Y */</a:t>
            </a:r>
            <a:br>
              <a:rPr lang="es-ES" b="1" dirty="0">
                <a:latin typeface="Courier New"/>
                <a:ea typeface="+mn-lt"/>
                <a:cs typeface="+mn-lt"/>
              </a:rPr>
            </a:br>
            <a:r>
              <a:rPr lang="es-ES" b="1" dirty="0">
                <a:latin typeface="Courier New"/>
                <a:ea typeface="+mn-lt"/>
                <a:cs typeface="+mn-lt"/>
              </a:rPr>
              <a:t>}</a:t>
            </a:r>
            <a:endParaRPr lang="es-ES" b="1" dirty="0">
              <a:latin typeface="Courier New"/>
              <a:cs typeface="Courier New"/>
            </a:endParaRPr>
          </a:p>
          <a:p>
            <a:endParaRPr lang="es-ES" dirty="0"/>
          </a:p>
        </p:txBody>
      </p:sp>
    </p:spTree>
    <p:extLst>
      <p:ext uri="{BB962C8B-B14F-4D97-AF65-F5344CB8AC3E}">
        <p14:creationId xmlns:p14="http://schemas.microsoft.com/office/powerpoint/2010/main" val="1900515672"/>
      </p:ext>
    </p:extLst>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0247C4-731C-CA0D-98CA-00A9BBAA7BA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7768EE5-0D01-485B-05CF-01A4A82A1A89}"/>
              </a:ext>
            </a:extLst>
          </p:cNvPr>
          <p:cNvSpPr>
            <a:spLocks noGrp="1"/>
          </p:cNvSpPr>
          <p:nvPr>
            <p:ph type="title"/>
          </p:nvPr>
        </p:nvSpPr>
        <p:spPr/>
        <p:txBody>
          <a:bodyPr/>
          <a:lstStyle/>
          <a:p>
            <a:r>
              <a:rPr lang="es-ES" b="0" dirty="0">
                <a:ea typeface="+mj-lt"/>
                <a:cs typeface="+mj-lt"/>
              </a:rPr>
              <a:t>2.5.2.2. Transformaciones 3D.</a:t>
            </a:r>
            <a:endParaRPr lang="es-ES" dirty="0">
              <a:ea typeface="+mj-lt"/>
              <a:cs typeface="+mj-lt"/>
            </a:endParaRPr>
          </a:p>
        </p:txBody>
      </p:sp>
      <p:sp>
        <p:nvSpPr>
          <p:cNvPr id="3" name="Marcador de contenido 2">
            <a:extLst>
              <a:ext uri="{FF2B5EF4-FFF2-40B4-BE49-F238E27FC236}">
                <a16:creationId xmlns:a16="http://schemas.microsoft.com/office/drawing/2014/main" id="{53301550-93DA-2209-DDD5-289363518943}"/>
              </a:ext>
            </a:extLst>
          </p:cNvPr>
          <p:cNvSpPr>
            <a:spLocks noGrp="1"/>
          </p:cNvSpPr>
          <p:nvPr>
            <p:ph idx="1"/>
          </p:nvPr>
        </p:nvSpPr>
        <p:spPr/>
        <p:txBody>
          <a:bodyPr vert="horz" lIns="91440" tIns="45720" rIns="91440" bIns="45720" rtlCol="0" anchor="t">
            <a:normAutofit/>
          </a:bodyPr>
          <a:lstStyle/>
          <a:p>
            <a:pPr lvl="1">
              <a:buFont typeface="Courier New" panose="020B0604020202020204" pitchFamily="34" charset="0"/>
              <a:buChar char="o"/>
            </a:pPr>
            <a:r>
              <a:rPr lang="es-ES" b="1" dirty="0">
                <a:latin typeface="Courier New"/>
                <a:ea typeface="+mn-lt"/>
                <a:cs typeface="+mn-lt"/>
              </a:rPr>
              <a:t>scale3d(x, y, z)</a:t>
            </a:r>
            <a:r>
              <a:rPr lang="es-ES" dirty="0">
                <a:ea typeface="+mn-lt"/>
                <a:cs typeface="+mn-lt"/>
              </a:rPr>
              <a:t>: Aumenta o disminuye el tamaño del elemento en los tres ejes.</a:t>
            </a:r>
            <a:endParaRPr lang="es-ES"/>
          </a:p>
          <a:p>
            <a:pPr marL="0" indent="0">
              <a:buNone/>
            </a:pPr>
            <a:r>
              <a:rPr lang="es-ES" b="1" dirty="0">
                <a:latin typeface="Courier New"/>
                <a:ea typeface="+mn-lt"/>
                <a:cs typeface="+mn-lt"/>
              </a:rPr>
              <a:t>.caja-tridimensional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transform</a:t>
            </a:r>
            <a:r>
              <a:rPr lang="es-ES" b="1" dirty="0">
                <a:latin typeface="Courier New"/>
                <a:ea typeface="+mn-lt"/>
                <a:cs typeface="+mn-lt"/>
              </a:rPr>
              <a:t>: scale3d(1.5, 1.5, 1.5); /* Aumenta el tamaño en un 50% */</a:t>
            </a:r>
            <a:br>
              <a:rPr lang="es-ES" b="1" dirty="0">
                <a:latin typeface="Courier New"/>
                <a:ea typeface="+mn-lt"/>
                <a:cs typeface="+mn-lt"/>
              </a:rPr>
            </a:br>
            <a:r>
              <a:rPr lang="es-ES" b="1" dirty="0">
                <a:latin typeface="Courier New"/>
                <a:ea typeface="+mn-lt"/>
                <a:cs typeface="+mn-lt"/>
              </a:rPr>
              <a:t>}</a:t>
            </a:r>
          </a:p>
          <a:p>
            <a:r>
              <a:rPr lang="es-ES" dirty="0">
                <a:ea typeface="+mn-lt"/>
                <a:cs typeface="+mn-lt"/>
              </a:rPr>
              <a:t>Propiedad </a:t>
            </a:r>
            <a:r>
              <a:rPr lang="es-ES" dirty="0" err="1">
                <a:ea typeface="+mn-lt"/>
                <a:cs typeface="+mn-lt"/>
              </a:rPr>
              <a:t>transform-style</a:t>
            </a:r>
            <a:r>
              <a:rPr lang="es-ES" dirty="0">
                <a:ea typeface="+mn-lt"/>
                <a:cs typeface="+mn-lt"/>
              </a:rPr>
              <a:t>: preserve-3d. Para que las transformaciones 3D de los elementos anidados funcionen correctamente, es recomendable aplicar </a:t>
            </a:r>
            <a:r>
              <a:rPr lang="es-ES" dirty="0" err="1">
                <a:ea typeface="+mn-lt"/>
                <a:cs typeface="+mn-lt"/>
              </a:rPr>
              <a:t>transform-style</a:t>
            </a:r>
            <a:r>
              <a:rPr lang="es-ES" dirty="0">
                <a:ea typeface="+mn-lt"/>
                <a:cs typeface="+mn-lt"/>
              </a:rPr>
              <a:t>: preserve-3d al elemento padre. Esto indica al navegador que los hijos deben mantener su contexto 3D.</a:t>
            </a:r>
            <a:endParaRPr lang="es-ES" dirty="0"/>
          </a:p>
          <a:p>
            <a:pPr marL="0" indent="0">
              <a:buNone/>
            </a:pPr>
            <a:r>
              <a:rPr lang="es-ES" b="1" dirty="0">
                <a:latin typeface="Courier New"/>
                <a:ea typeface="+mn-lt"/>
                <a:cs typeface="+mn-lt"/>
              </a:rPr>
              <a:t>.contenedor-3d {</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perspective</a:t>
            </a:r>
            <a:r>
              <a:rPr lang="es-ES" b="1" dirty="0">
                <a:latin typeface="Courier New"/>
                <a:ea typeface="+mn-lt"/>
                <a:cs typeface="+mn-lt"/>
              </a:rPr>
              <a:t>: 800px;</a:t>
            </a:r>
            <a:br>
              <a:rPr lang="es-ES" b="1" dirty="0">
                <a:latin typeface="Courier New"/>
                <a:ea typeface="+mn-lt"/>
                <a:cs typeface="+mn-lt"/>
              </a:rPr>
            </a:br>
            <a:r>
              <a:rPr lang="es-ES" b="1" dirty="0">
                <a:latin typeface="Courier New"/>
                <a:ea typeface="+mn-lt"/>
                <a:cs typeface="+mn-lt"/>
              </a:rPr>
              <a:t>  </a:t>
            </a:r>
            <a:r>
              <a:rPr lang="es-ES" b="1" dirty="0" err="1">
                <a:latin typeface="Courier New"/>
                <a:ea typeface="+mn-lt"/>
                <a:cs typeface="+mn-lt"/>
              </a:rPr>
              <a:t>transform-style</a:t>
            </a:r>
            <a:r>
              <a:rPr lang="es-ES" b="1" dirty="0">
                <a:latin typeface="Courier New"/>
                <a:ea typeface="+mn-lt"/>
                <a:cs typeface="+mn-lt"/>
              </a:rPr>
              <a:t>: preserve-3d;</a:t>
            </a:r>
            <a:br>
              <a:rPr lang="es-ES" b="1" dirty="0">
                <a:latin typeface="Courier New"/>
                <a:ea typeface="+mn-lt"/>
                <a:cs typeface="+mn-lt"/>
              </a:rPr>
            </a:br>
            <a:r>
              <a:rPr lang="es-ES" b="1" dirty="0">
                <a:latin typeface="Courier New"/>
                <a:ea typeface="+mn-lt"/>
                <a:cs typeface="+mn-lt"/>
              </a:rPr>
              <a:t>}</a:t>
            </a:r>
            <a:endParaRPr lang="es-ES" b="1" dirty="0">
              <a:latin typeface="Courier New"/>
            </a:endParaRPr>
          </a:p>
        </p:txBody>
      </p:sp>
    </p:spTree>
    <p:extLst>
      <p:ext uri="{BB962C8B-B14F-4D97-AF65-F5344CB8AC3E}">
        <p14:creationId xmlns:p14="http://schemas.microsoft.com/office/powerpoint/2010/main" val="355936058"/>
      </p:ext>
    </p:extLst>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23697D-3F9E-4B56-9A1B-20CFFAFADA8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D4F9055-C6DE-542F-3808-A792320A62A6}"/>
              </a:ext>
            </a:extLst>
          </p:cNvPr>
          <p:cNvSpPr>
            <a:spLocks noGrp="1"/>
          </p:cNvSpPr>
          <p:nvPr>
            <p:ph type="title"/>
          </p:nvPr>
        </p:nvSpPr>
        <p:spPr/>
        <p:txBody>
          <a:bodyPr/>
          <a:lstStyle/>
          <a:p>
            <a:r>
              <a:rPr lang="es-ES" b="0" dirty="0">
                <a:ea typeface="+mj-lt"/>
                <a:cs typeface="+mj-lt"/>
              </a:rPr>
              <a:t>2.5.2.2. Transformaciones 3D.</a:t>
            </a:r>
            <a:endParaRPr lang="es-ES" dirty="0">
              <a:ea typeface="+mj-lt"/>
              <a:cs typeface="+mj-lt"/>
            </a:endParaRPr>
          </a:p>
        </p:txBody>
      </p:sp>
      <p:sp>
        <p:nvSpPr>
          <p:cNvPr id="3" name="Marcador de contenido 2">
            <a:extLst>
              <a:ext uri="{FF2B5EF4-FFF2-40B4-BE49-F238E27FC236}">
                <a16:creationId xmlns:a16="http://schemas.microsoft.com/office/drawing/2014/main" id="{21C6FD1C-CC0D-7495-5954-3E7FA299B2B0}"/>
              </a:ext>
            </a:extLst>
          </p:cNvPr>
          <p:cNvSpPr>
            <a:spLocks noGrp="1"/>
          </p:cNvSpPr>
          <p:nvPr>
            <p:ph idx="1"/>
          </p:nvPr>
        </p:nvSpPr>
        <p:spPr/>
        <p:txBody>
          <a:bodyPr vert="horz" lIns="91440" tIns="45720" rIns="91440" bIns="45720" rtlCol="0" anchor="t">
            <a:normAutofit fontScale="85000" lnSpcReduction="20000"/>
          </a:bodyPr>
          <a:lstStyle/>
          <a:p>
            <a:r>
              <a:rPr lang="es-ES" dirty="0">
                <a:ea typeface="+mn-lt"/>
                <a:cs typeface="+mn-lt"/>
              </a:rPr>
              <a:t>Ejemplo completo: Un efecto de tarjeta 3D. Este ejemplo crea </a:t>
            </a:r>
            <a:r>
              <a:rPr lang="es-ES" sz="1600" dirty="0">
                <a:ea typeface="+mn-lt"/>
                <a:cs typeface="+mn-lt"/>
              </a:rPr>
              <a:t>una tarjeta que gira 180 grados al pasar el cursor</a:t>
            </a:r>
            <a:r>
              <a:rPr lang="es-ES" dirty="0">
                <a:ea typeface="+mn-lt"/>
                <a:cs typeface="+mn-lt"/>
              </a:rPr>
              <a:t>, </a:t>
            </a:r>
            <a:r>
              <a:rPr lang="es-ES" sz="1600" dirty="0">
                <a:ea typeface="+mn-lt"/>
                <a:cs typeface="+mn-lt"/>
              </a:rPr>
              <a:t>mostrando un contenido diferente </a:t>
            </a:r>
            <a:r>
              <a:rPr lang="es-ES" dirty="0">
                <a:ea typeface="+mn-lt"/>
                <a:cs typeface="+mn-lt"/>
              </a:rPr>
              <a:t>en </a:t>
            </a:r>
            <a:r>
              <a:rPr lang="es-ES" sz="1600" dirty="0">
                <a:ea typeface="+mn-lt"/>
                <a:cs typeface="+mn-lt"/>
              </a:rPr>
              <a:t>la parte trasera</a:t>
            </a:r>
            <a:r>
              <a:rPr lang="es-ES" dirty="0">
                <a:ea typeface="+mn-lt"/>
                <a:cs typeface="+mn-lt"/>
              </a:rPr>
              <a:t>.</a:t>
            </a:r>
          </a:p>
          <a:p>
            <a:pPr marL="457200" lvl="1" indent="0">
              <a:buNone/>
            </a:pPr>
            <a:r>
              <a:rPr lang="es-ES" b="1" dirty="0">
                <a:latin typeface="Courier New"/>
                <a:ea typeface="+mn-lt"/>
                <a:cs typeface="+mn-lt"/>
              </a:rPr>
              <a:t>&lt;</a:t>
            </a:r>
            <a:r>
              <a:rPr lang="es-ES" b="1" err="1">
                <a:latin typeface="Courier New"/>
                <a:ea typeface="+mn-lt"/>
                <a:cs typeface="+mn-lt"/>
              </a:rPr>
              <a:t>div</a:t>
            </a:r>
            <a:r>
              <a:rPr lang="es-ES" b="1" dirty="0">
                <a:latin typeface="Courier New"/>
                <a:ea typeface="+mn-lt"/>
                <a:cs typeface="+mn-lt"/>
              </a:rPr>
              <a:t> </a:t>
            </a:r>
            <a:r>
              <a:rPr lang="es-ES" b="1" err="1">
                <a:latin typeface="Courier New"/>
                <a:ea typeface="+mn-lt"/>
                <a:cs typeface="+mn-lt"/>
              </a:rPr>
              <a:t>class</a:t>
            </a:r>
            <a:r>
              <a:rPr lang="es-ES" b="1" dirty="0">
                <a:latin typeface="Courier New"/>
                <a:ea typeface="+mn-lt"/>
                <a:cs typeface="+mn-lt"/>
              </a:rPr>
              <a:t>="contenedor-tarjeta"&gt;</a:t>
            </a:r>
            <a:br>
              <a:rPr lang="es-ES" b="1" dirty="0">
                <a:latin typeface="Courier New"/>
                <a:ea typeface="+mn-lt"/>
                <a:cs typeface="+mn-lt"/>
              </a:rPr>
            </a:br>
            <a:r>
              <a:rPr lang="es-ES" b="1" dirty="0">
                <a:latin typeface="Courier New"/>
                <a:ea typeface="+mn-lt"/>
                <a:cs typeface="+mn-lt"/>
              </a:rPr>
              <a:t>  &lt;</a:t>
            </a:r>
            <a:r>
              <a:rPr lang="es-ES" b="1" err="1">
                <a:latin typeface="Courier New"/>
                <a:ea typeface="+mn-lt"/>
                <a:cs typeface="+mn-lt"/>
              </a:rPr>
              <a:t>div</a:t>
            </a:r>
            <a:r>
              <a:rPr lang="es-ES" b="1" dirty="0">
                <a:latin typeface="Courier New"/>
                <a:ea typeface="+mn-lt"/>
                <a:cs typeface="+mn-lt"/>
              </a:rPr>
              <a:t> </a:t>
            </a:r>
            <a:r>
              <a:rPr lang="es-ES" b="1" err="1">
                <a:latin typeface="Courier New"/>
                <a:ea typeface="+mn-lt"/>
                <a:cs typeface="+mn-lt"/>
              </a:rPr>
              <a:t>class</a:t>
            </a:r>
            <a:r>
              <a:rPr lang="es-ES" b="1" dirty="0">
                <a:latin typeface="Courier New"/>
                <a:ea typeface="+mn-lt"/>
                <a:cs typeface="+mn-lt"/>
              </a:rPr>
              <a:t>="tarjeta"&gt;</a:t>
            </a:r>
            <a:br>
              <a:rPr lang="es-ES" b="1" dirty="0">
                <a:latin typeface="Courier New"/>
                <a:ea typeface="+mn-lt"/>
                <a:cs typeface="+mn-lt"/>
              </a:rPr>
            </a:br>
            <a:r>
              <a:rPr lang="es-ES" b="1" dirty="0">
                <a:latin typeface="Courier New"/>
                <a:ea typeface="+mn-lt"/>
                <a:cs typeface="+mn-lt"/>
              </a:rPr>
              <a:t>    &lt;</a:t>
            </a:r>
            <a:r>
              <a:rPr lang="es-ES" b="1" err="1">
                <a:latin typeface="Courier New"/>
                <a:ea typeface="+mn-lt"/>
                <a:cs typeface="+mn-lt"/>
              </a:rPr>
              <a:t>div</a:t>
            </a:r>
            <a:r>
              <a:rPr lang="es-ES" b="1" dirty="0">
                <a:latin typeface="Courier New"/>
                <a:ea typeface="+mn-lt"/>
                <a:cs typeface="+mn-lt"/>
              </a:rPr>
              <a:t> </a:t>
            </a:r>
            <a:r>
              <a:rPr lang="es-ES" b="1" err="1">
                <a:latin typeface="Courier New"/>
                <a:ea typeface="+mn-lt"/>
                <a:cs typeface="+mn-lt"/>
              </a:rPr>
              <a:t>class</a:t>
            </a:r>
            <a:r>
              <a:rPr lang="es-ES" b="1" dirty="0">
                <a:latin typeface="Courier New"/>
                <a:ea typeface="+mn-lt"/>
                <a:cs typeface="+mn-lt"/>
              </a:rPr>
              <a:t>="cara-frontal"&gt;</a:t>
            </a:r>
            <a:br>
              <a:rPr lang="es-ES" b="1" dirty="0">
                <a:latin typeface="Courier New"/>
                <a:ea typeface="+mn-lt"/>
                <a:cs typeface="+mn-lt"/>
              </a:rPr>
            </a:br>
            <a:r>
              <a:rPr lang="es-ES" b="1" dirty="0">
                <a:latin typeface="Courier New"/>
                <a:ea typeface="+mn-lt"/>
                <a:cs typeface="+mn-lt"/>
              </a:rPr>
              <a:t>      &lt;h3&gt;Haz </a:t>
            </a:r>
            <a:r>
              <a:rPr lang="es-ES" b="1" err="1">
                <a:latin typeface="Courier New"/>
                <a:ea typeface="+mn-lt"/>
                <a:cs typeface="+mn-lt"/>
              </a:rPr>
              <a:t>hover</a:t>
            </a:r>
            <a:r>
              <a:rPr lang="es-ES" b="1" dirty="0">
                <a:latin typeface="Courier New"/>
                <a:ea typeface="+mn-lt"/>
                <a:cs typeface="+mn-lt"/>
              </a:rPr>
              <a:t> aquí&lt;/h3&gt;</a:t>
            </a:r>
            <a:br>
              <a:rPr lang="es-ES" b="1" dirty="0">
                <a:latin typeface="Courier New"/>
                <a:ea typeface="+mn-lt"/>
                <a:cs typeface="+mn-lt"/>
              </a:rPr>
            </a:br>
            <a:r>
              <a:rPr lang="es-ES" b="1" dirty="0">
                <a:latin typeface="Courier New"/>
                <a:ea typeface="+mn-lt"/>
                <a:cs typeface="+mn-lt"/>
              </a:rPr>
              <a:t>    &lt;/</a:t>
            </a:r>
            <a:r>
              <a:rPr lang="es-ES" b="1" err="1">
                <a:latin typeface="Courier New"/>
                <a:ea typeface="+mn-lt"/>
                <a:cs typeface="+mn-lt"/>
              </a:rPr>
              <a:t>div</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a:t>
            </a:r>
            <a:r>
              <a:rPr lang="es-ES" b="1" err="1">
                <a:latin typeface="Courier New"/>
                <a:ea typeface="+mn-lt"/>
                <a:cs typeface="+mn-lt"/>
              </a:rPr>
              <a:t>div</a:t>
            </a:r>
            <a:r>
              <a:rPr lang="es-ES" b="1" dirty="0">
                <a:latin typeface="Courier New"/>
                <a:ea typeface="+mn-lt"/>
                <a:cs typeface="+mn-lt"/>
              </a:rPr>
              <a:t> </a:t>
            </a:r>
            <a:r>
              <a:rPr lang="es-ES" b="1" err="1">
                <a:latin typeface="Courier New"/>
                <a:ea typeface="+mn-lt"/>
                <a:cs typeface="+mn-lt"/>
              </a:rPr>
              <a:t>class</a:t>
            </a:r>
            <a:r>
              <a:rPr lang="es-ES" b="1" dirty="0">
                <a:latin typeface="Courier New"/>
                <a:ea typeface="+mn-lt"/>
                <a:cs typeface="+mn-lt"/>
              </a:rPr>
              <a:t>="cara-trasera"&gt;</a:t>
            </a:r>
            <a:br>
              <a:rPr lang="es-ES" b="1" dirty="0">
                <a:latin typeface="Courier New"/>
                <a:ea typeface="+mn-lt"/>
                <a:cs typeface="+mn-lt"/>
              </a:rPr>
            </a:br>
            <a:r>
              <a:rPr lang="es-ES" b="1" dirty="0">
                <a:latin typeface="Courier New"/>
                <a:ea typeface="+mn-lt"/>
                <a:cs typeface="+mn-lt"/>
              </a:rPr>
              <a:t>      &lt;h3&gt;¡Hola, mundo 3D!&lt;/h3&gt;</a:t>
            </a:r>
            <a:br>
              <a:rPr lang="es-ES" b="1" dirty="0">
                <a:latin typeface="Courier New"/>
                <a:ea typeface="+mn-lt"/>
                <a:cs typeface="+mn-lt"/>
              </a:rPr>
            </a:br>
            <a:r>
              <a:rPr lang="es-ES" b="1" dirty="0">
                <a:latin typeface="Courier New"/>
                <a:ea typeface="+mn-lt"/>
                <a:cs typeface="+mn-lt"/>
              </a:rPr>
              <a:t>    &lt;/</a:t>
            </a:r>
            <a:r>
              <a:rPr lang="es-ES" b="1" err="1">
                <a:latin typeface="Courier New"/>
                <a:ea typeface="+mn-lt"/>
                <a:cs typeface="+mn-lt"/>
              </a:rPr>
              <a:t>div</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a:t>
            </a:r>
            <a:r>
              <a:rPr lang="es-ES" b="1" err="1">
                <a:latin typeface="Courier New"/>
                <a:ea typeface="+mn-lt"/>
                <a:cs typeface="+mn-lt"/>
              </a:rPr>
              <a:t>div</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&lt;/</a:t>
            </a:r>
            <a:r>
              <a:rPr lang="es-ES" b="1" err="1">
                <a:latin typeface="Courier New"/>
                <a:ea typeface="+mn-lt"/>
                <a:cs typeface="+mn-lt"/>
              </a:rPr>
              <a:t>div</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Espacio 3D y perspectiva */</a:t>
            </a:r>
            <a:br>
              <a:rPr lang="es-ES" b="1" dirty="0">
                <a:latin typeface="Courier New"/>
                <a:ea typeface="+mn-lt"/>
                <a:cs typeface="+mn-lt"/>
              </a:rPr>
            </a:br>
            <a:r>
              <a:rPr lang="es-ES" b="1" dirty="0">
                <a:latin typeface="Courier New"/>
                <a:ea typeface="+mn-lt"/>
                <a:cs typeface="+mn-lt"/>
              </a:rPr>
              <a:t>.contenedor-tarjeta {</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perspective</a:t>
            </a:r>
            <a:r>
              <a:rPr lang="es-ES" b="1" dirty="0">
                <a:latin typeface="Courier New"/>
                <a:ea typeface="+mn-lt"/>
                <a:cs typeface="+mn-lt"/>
              </a:rPr>
              <a:t>: 1000px;</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width</a:t>
            </a:r>
            <a:r>
              <a:rPr lang="es-ES" b="1" dirty="0">
                <a:latin typeface="Courier New"/>
                <a:ea typeface="+mn-lt"/>
                <a:cs typeface="+mn-lt"/>
              </a:rPr>
              <a:t>: 300px;</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height</a:t>
            </a:r>
            <a:r>
              <a:rPr lang="es-ES" b="1" dirty="0">
                <a:latin typeface="Courier New"/>
                <a:ea typeface="+mn-lt"/>
                <a:cs typeface="+mn-lt"/>
              </a:rPr>
              <a:t>: 200px;</a:t>
            </a:r>
            <a:br>
              <a:rPr lang="es-ES" b="1" dirty="0">
                <a:latin typeface="Courier New"/>
                <a:ea typeface="+mn-lt"/>
                <a:cs typeface="+mn-lt"/>
              </a:rPr>
            </a:br>
            <a:r>
              <a:rPr lang="es-ES" b="1" dirty="0">
                <a:latin typeface="Courier New"/>
                <a:ea typeface="+mn-lt"/>
                <a:cs typeface="+mn-lt"/>
              </a:rPr>
              <a:t>}</a:t>
            </a:r>
          </a:p>
          <a:p>
            <a:pPr lvl="1">
              <a:buFont typeface="Courier New" panose="020B0604020202020204" pitchFamily="34" charset="0"/>
              <a:buChar char="o"/>
            </a:pPr>
            <a:endParaRPr lang="es-ES" dirty="0">
              <a:latin typeface="Bierstadt"/>
            </a:endParaRPr>
          </a:p>
        </p:txBody>
      </p:sp>
    </p:spTree>
    <p:extLst>
      <p:ext uri="{BB962C8B-B14F-4D97-AF65-F5344CB8AC3E}">
        <p14:creationId xmlns:p14="http://schemas.microsoft.com/office/powerpoint/2010/main" val="1655961422"/>
      </p:ext>
    </p:extLst>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A468C2-BCF4-5957-C747-5DFD8AADE81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3DA64AC-0EDD-3F92-06EB-008753A89AB3}"/>
              </a:ext>
            </a:extLst>
          </p:cNvPr>
          <p:cNvSpPr>
            <a:spLocks noGrp="1"/>
          </p:cNvSpPr>
          <p:nvPr>
            <p:ph type="title"/>
          </p:nvPr>
        </p:nvSpPr>
        <p:spPr/>
        <p:txBody>
          <a:bodyPr/>
          <a:lstStyle/>
          <a:p>
            <a:r>
              <a:rPr lang="es-ES" b="0" dirty="0">
                <a:ea typeface="+mj-lt"/>
                <a:cs typeface="+mj-lt"/>
              </a:rPr>
              <a:t>2.5.2.2. Transformaciones 3D.</a:t>
            </a:r>
            <a:endParaRPr lang="es-ES" dirty="0">
              <a:ea typeface="+mj-lt"/>
              <a:cs typeface="+mj-lt"/>
            </a:endParaRPr>
          </a:p>
        </p:txBody>
      </p:sp>
      <p:sp>
        <p:nvSpPr>
          <p:cNvPr id="3" name="Marcador de contenido 2">
            <a:extLst>
              <a:ext uri="{FF2B5EF4-FFF2-40B4-BE49-F238E27FC236}">
                <a16:creationId xmlns:a16="http://schemas.microsoft.com/office/drawing/2014/main" id="{E86502A5-A601-F6B8-2ABC-F7117C045DF6}"/>
              </a:ext>
            </a:extLst>
          </p:cNvPr>
          <p:cNvSpPr>
            <a:spLocks noGrp="1"/>
          </p:cNvSpPr>
          <p:nvPr>
            <p:ph idx="1"/>
          </p:nvPr>
        </p:nvSpPr>
        <p:spPr/>
        <p:txBody>
          <a:bodyPr vert="horz" lIns="91440" tIns="45720" rIns="91440" bIns="45720" rtlCol="0" anchor="t">
            <a:normAutofit fontScale="62500" lnSpcReduction="20000"/>
          </a:bodyPr>
          <a:lstStyle/>
          <a:p>
            <a:pPr marL="0" indent="0">
              <a:buNone/>
            </a:pPr>
            <a:r>
              <a:rPr lang="es-ES" b="1" dirty="0">
                <a:latin typeface="Courier New"/>
                <a:ea typeface="+mn-lt"/>
                <a:cs typeface="+mn-lt"/>
              </a:rPr>
              <a:t>/* El elemento que va a rotar */</a:t>
            </a:r>
            <a:br>
              <a:rPr lang="es-ES" b="1" dirty="0">
                <a:latin typeface="Courier New"/>
                <a:ea typeface="+mn-lt"/>
                <a:cs typeface="+mn-lt"/>
              </a:rPr>
            </a:br>
            <a:r>
              <a:rPr lang="es-ES" b="1" dirty="0">
                <a:latin typeface="Courier New"/>
                <a:ea typeface="+mn-lt"/>
                <a:cs typeface="+mn-lt"/>
              </a:rPr>
              <a:t>.tarjeta {</a:t>
            </a:r>
            <a:br>
              <a:rPr lang="es-ES" b="1" dirty="0">
                <a:latin typeface="Courier New"/>
                <a:ea typeface="+mn-lt"/>
                <a:cs typeface="+mn-lt"/>
              </a:rPr>
            </a:br>
            <a:r>
              <a:rPr lang="es-ES" b="1" dirty="0">
                <a:latin typeface="Courier New"/>
                <a:ea typeface="+mn-lt"/>
                <a:cs typeface="+mn-lt"/>
              </a:rPr>
              <a:t>  position: relative;</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width</a:t>
            </a:r>
            <a:r>
              <a:rPr lang="es-ES" b="1" dirty="0">
                <a:latin typeface="Courier New"/>
                <a:ea typeface="+mn-lt"/>
                <a:cs typeface="+mn-lt"/>
              </a:rPr>
              <a:t>: 100%;</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height</a:t>
            </a:r>
            <a:r>
              <a:rPr lang="es-ES" b="1" dirty="0">
                <a:latin typeface="Courier New"/>
                <a:ea typeface="+mn-lt"/>
                <a:cs typeface="+mn-lt"/>
              </a:rPr>
              <a:t>: 100%;</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transition</a:t>
            </a:r>
            <a:r>
              <a:rPr lang="es-ES" b="1" dirty="0">
                <a:latin typeface="Courier New"/>
                <a:ea typeface="+mn-lt"/>
                <a:cs typeface="+mn-lt"/>
              </a:rPr>
              <a:t>: </a:t>
            </a:r>
            <a:r>
              <a:rPr lang="es-ES" b="1" err="1">
                <a:latin typeface="Courier New"/>
                <a:ea typeface="+mn-lt"/>
                <a:cs typeface="+mn-lt"/>
              </a:rPr>
              <a:t>transform</a:t>
            </a:r>
            <a:r>
              <a:rPr lang="es-ES" b="1" dirty="0">
                <a:latin typeface="Courier New"/>
                <a:ea typeface="+mn-lt"/>
                <a:cs typeface="+mn-lt"/>
              </a:rPr>
              <a:t> 0.8s;</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transform-style</a:t>
            </a:r>
            <a:r>
              <a:rPr lang="es-ES" b="1" dirty="0">
                <a:latin typeface="Courier New"/>
                <a:ea typeface="+mn-lt"/>
                <a:cs typeface="+mn-lt"/>
              </a:rPr>
              <a:t>: preserve-3d; /* Permite que los hijos hereden el espacio 3D */</a:t>
            </a:r>
            <a:br>
              <a:rPr lang="es-ES" b="1" dirty="0">
                <a:latin typeface="Courier New"/>
                <a:ea typeface="+mn-lt"/>
                <a:cs typeface="+mn-lt"/>
              </a:rPr>
            </a:b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 Las caras de la tarjeta */</a:t>
            </a:r>
            <a:br>
              <a:rPr lang="es-ES" b="1" dirty="0">
                <a:latin typeface="Courier New"/>
                <a:ea typeface="+mn-lt"/>
                <a:cs typeface="+mn-lt"/>
              </a:rPr>
            </a:br>
            <a:r>
              <a:rPr lang="es-ES" b="1" dirty="0">
                <a:latin typeface="Courier New"/>
                <a:ea typeface="+mn-lt"/>
                <a:cs typeface="+mn-lt"/>
              </a:rPr>
              <a:t>.cara-frontal, .cara-trasera {</a:t>
            </a:r>
            <a:br>
              <a:rPr lang="es-ES" b="1" dirty="0">
                <a:latin typeface="Courier New"/>
                <a:ea typeface="+mn-lt"/>
                <a:cs typeface="+mn-lt"/>
              </a:rPr>
            </a:br>
            <a:r>
              <a:rPr lang="es-ES" b="1" dirty="0">
                <a:latin typeface="Courier New"/>
                <a:ea typeface="+mn-lt"/>
                <a:cs typeface="+mn-lt"/>
              </a:rPr>
              <a:t>  position: absolute;</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width</a:t>
            </a:r>
            <a:r>
              <a:rPr lang="es-ES" b="1" dirty="0">
                <a:latin typeface="Courier New"/>
                <a:ea typeface="+mn-lt"/>
                <a:cs typeface="+mn-lt"/>
              </a:rPr>
              <a:t>: 100%;</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height</a:t>
            </a:r>
            <a:r>
              <a:rPr lang="es-ES" b="1" dirty="0">
                <a:latin typeface="Courier New"/>
                <a:ea typeface="+mn-lt"/>
                <a:cs typeface="+mn-lt"/>
              </a:rPr>
              <a:t>: 100%;</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backface-visibility</a:t>
            </a:r>
            <a:r>
              <a:rPr lang="es-ES" b="1" dirty="0">
                <a:latin typeface="Courier New"/>
                <a:ea typeface="+mn-lt"/>
                <a:cs typeface="+mn-lt"/>
              </a:rPr>
              <a:t>: </a:t>
            </a:r>
            <a:r>
              <a:rPr lang="es-ES" b="1" err="1">
                <a:latin typeface="Courier New"/>
                <a:ea typeface="+mn-lt"/>
                <a:cs typeface="+mn-lt"/>
              </a:rPr>
              <a:t>hidden</a:t>
            </a:r>
            <a:r>
              <a:rPr lang="es-ES" b="1" dirty="0">
                <a:latin typeface="Courier New"/>
                <a:ea typeface="+mn-lt"/>
                <a:cs typeface="+mn-lt"/>
              </a:rPr>
              <a:t>; /* Oculta la cara cuando no está de frente */</a:t>
            </a:r>
            <a:br>
              <a:rPr lang="es-ES" b="1" dirty="0">
                <a:latin typeface="Courier New"/>
                <a:ea typeface="+mn-lt"/>
                <a:cs typeface="+mn-lt"/>
              </a:rPr>
            </a:b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.cara-frontal { </a:t>
            </a:r>
            <a:r>
              <a:rPr lang="es-ES" b="1" err="1">
                <a:latin typeface="Courier New"/>
                <a:ea typeface="+mn-lt"/>
                <a:cs typeface="+mn-lt"/>
              </a:rPr>
              <a:t>background</a:t>
            </a:r>
            <a:r>
              <a:rPr lang="es-ES" b="1" dirty="0">
                <a:latin typeface="Courier New"/>
                <a:ea typeface="+mn-lt"/>
                <a:cs typeface="+mn-lt"/>
              </a:rPr>
              <a:t>-color: #007bff; }</a:t>
            </a:r>
            <a:br>
              <a:rPr lang="es-ES" b="1" dirty="0">
                <a:latin typeface="Courier New"/>
                <a:ea typeface="+mn-lt"/>
                <a:cs typeface="+mn-lt"/>
              </a:rPr>
            </a:br>
            <a:r>
              <a:rPr lang="es-ES" b="1" dirty="0">
                <a:latin typeface="Courier New"/>
                <a:ea typeface="+mn-lt"/>
                <a:cs typeface="+mn-lt"/>
              </a:rPr>
              <a:t>.cara-trasera { </a:t>
            </a:r>
            <a:r>
              <a:rPr lang="es-ES" b="1" err="1">
                <a:latin typeface="Courier New"/>
                <a:ea typeface="+mn-lt"/>
                <a:cs typeface="+mn-lt"/>
              </a:rPr>
              <a:t>background</a:t>
            </a:r>
            <a:r>
              <a:rPr lang="es-ES" b="1" dirty="0">
                <a:latin typeface="Courier New"/>
                <a:ea typeface="+mn-lt"/>
                <a:cs typeface="+mn-lt"/>
              </a:rPr>
              <a:t>-color: #28a745; </a:t>
            </a:r>
            <a:r>
              <a:rPr lang="es-ES" b="1" err="1">
                <a:latin typeface="Courier New"/>
                <a:ea typeface="+mn-lt"/>
                <a:cs typeface="+mn-lt"/>
              </a:rPr>
              <a:t>transform</a:t>
            </a:r>
            <a:r>
              <a:rPr lang="es-ES" b="1" dirty="0">
                <a:latin typeface="Courier New"/>
                <a:ea typeface="+mn-lt"/>
                <a:cs typeface="+mn-lt"/>
              </a:rPr>
              <a:t>: </a:t>
            </a:r>
            <a:r>
              <a:rPr lang="es-ES" b="1" err="1">
                <a:latin typeface="Courier New"/>
                <a:ea typeface="+mn-lt"/>
                <a:cs typeface="+mn-lt"/>
              </a:rPr>
              <a:t>rotateY</a:t>
            </a:r>
            <a:r>
              <a:rPr lang="es-ES" b="1" dirty="0">
                <a:latin typeface="Courier New"/>
                <a:ea typeface="+mn-lt"/>
                <a:cs typeface="+mn-lt"/>
              </a:rPr>
              <a:t>(180deg); }</a:t>
            </a:r>
            <a:br>
              <a:rPr lang="es-ES" b="1" dirty="0">
                <a:latin typeface="Courier New"/>
                <a:ea typeface="+mn-lt"/>
                <a:cs typeface="+mn-lt"/>
              </a:rPr>
            </a:br>
            <a:r>
              <a:rPr lang="es-ES" b="1" dirty="0">
                <a:latin typeface="Courier New"/>
                <a:ea typeface="+mn-lt"/>
                <a:cs typeface="+mn-lt"/>
              </a:rPr>
              <a:t>/* Efecto al hacer </a:t>
            </a:r>
            <a:r>
              <a:rPr lang="es-ES" b="1" err="1">
                <a:latin typeface="Courier New"/>
                <a:ea typeface="+mn-lt"/>
                <a:cs typeface="+mn-lt"/>
              </a:rPr>
              <a:t>hover</a:t>
            </a: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a:t>
            </a:r>
            <a:r>
              <a:rPr lang="es-ES" b="1" err="1">
                <a:latin typeface="Courier New"/>
                <a:ea typeface="+mn-lt"/>
                <a:cs typeface="+mn-lt"/>
              </a:rPr>
              <a:t>contenedor-tarjeta:hover</a:t>
            </a:r>
            <a:r>
              <a:rPr lang="es-ES" b="1" dirty="0">
                <a:latin typeface="Courier New"/>
                <a:ea typeface="+mn-lt"/>
                <a:cs typeface="+mn-lt"/>
              </a:rPr>
              <a:t> .tarjeta {</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transform</a:t>
            </a:r>
            <a:r>
              <a:rPr lang="es-ES" b="1" dirty="0">
                <a:latin typeface="Courier New"/>
                <a:ea typeface="+mn-lt"/>
                <a:cs typeface="+mn-lt"/>
              </a:rPr>
              <a:t>: </a:t>
            </a:r>
            <a:r>
              <a:rPr lang="es-ES" b="1" err="1">
                <a:latin typeface="Courier New"/>
                <a:ea typeface="+mn-lt"/>
                <a:cs typeface="+mn-lt"/>
              </a:rPr>
              <a:t>rotateY</a:t>
            </a:r>
            <a:r>
              <a:rPr lang="es-ES" b="1" dirty="0">
                <a:latin typeface="Courier New"/>
                <a:ea typeface="+mn-lt"/>
                <a:cs typeface="+mn-lt"/>
              </a:rPr>
              <a:t>(180deg);</a:t>
            </a:r>
            <a:br>
              <a:rPr lang="es-ES" b="1" dirty="0">
                <a:latin typeface="Courier New"/>
                <a:ea typeface="+mn-lt"/>
                <a:cs typeface="+mn-lt"/>
              </a:rPr>
            </a:br>
            <a:r>
              <a:rPr lang="es-ES" b="1" dirty="0">
                <a:latin typeface="Courier New"/>
                <a:ea typeface="+mn-lt"/>
                <a:cs typeface="+mn-lt"/>
              </a:rPr>
              <a:t>}</a:t>
            </a:r>
            <a:endParaRPr lang="es-ES"/>
          </a:p>
        </p:txBody>
      </p:sp>
    </p:spTree>
    <p:extLst>
      <p:ext uri="{BB962C8B-B14F-4D97-AF65-F5344CB8AC3E}">
        <p14:creationId xmlns:p14="http://schemas.microsoft.com/office/powerpoint/2010/main" val="1201010549"/>
      </p:ext>
    </p:extLst>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E893DE-0667-ECB3-FF43-02FEB0D6EAF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FEBA409-EBF5-5E38-38A0-700AADE99F3E}"/>
              </a:ext>
            </a:extLst>
          </p:cNvPr>
          <p:cNvSpPr>
            <a:spLocks noGrp="1"/>
          </p:cNvSpPr>
          <p:nvPr>
            <p:ph type="title"/>
          </p:nvPr>
        </p:nvSpPr>
        <p:spPr/>
        <p:txBody>
          <a:bodyPr/>
          <a:lstStyle/>
          <a:p>
            <a:r>
              <a:rPr lang="es-ES" b="0" dirty="0">
                <a:ea typeface="+mj-lt"/>
                <a:cs typeface="+mj-lt"/>
              </a:rPr>
              <a:t>2.5.3. Animaciones (@keyframes y </a:t>
            </a:r>
            <a:r>
              <a:rPr lang="es-ES" b="0" dirty="0" err="1">
                <a:ea typeface="+mj-lt"/>
                <a:cs typeface="+mj-lt"/>
              </a:rPr>
              <a:t>animation</a:t>
            </a:r>
            <a:r>
              <a:rPr lang="es-ES" b="0" dirty="0">
                <a:ea typeface="+mj-lt"/>
                <a:cs typeface="+mj-lt"/>
              </a:rPr>
              <a:t>).</a:t>
            </a:r>
            <a:endParaRPr lang="es-ES" dirty="0"/>
          </a:p>
        </p:txBody>
      </p:sp>
      <p:sp>
        <p:nvSpPr>
          <p:cNvPr id="3" name="Marcador de contenido 2">
            <a:extLst>
              <a:ext uri="{FF2B5EF4-FFF2-40B4-BE49-F238E27FC236}">
                <a16:creationId xmlns:a16="http://schemas.microsoft.com/office/drawing/2014/main" id="{758D7DD6-D5F4-7A02-0D62-C1D0640BB10E}"/>
              </a:ext>
            </a:extLst>
          </p:cNvPr>
          <p:cNvSpPr>
            <a:spLocks noGrp="1"/>
          </p:cNvSpPr>
          <p:nvPr>
            <p:ph idx="1"/>
          </p:nvPr>
        </p:nvSpPr>
        <p:spPr/>
        <p:txBody>
          <a:bodyPr vert="horz" lIns="91440" tIns="45720" rIns="91440" bIns="45720" rtlCol="0" anchor="t">
            <a:normAutofit lnSpcReduction="10000"/>
          </a:bodyPr>
          <a:lstStyle/>
          <a:p>
            <a:r>
              <a:rPr lang="es-ES" dirty="0">
                <a:ea typeface="+mn-lt"/>
                <a:cs typeface="+mn-lt"/>
              </a:rPr>
              <a:t>Las animaciones CSS te permiten crear secuencias de movimiento complejas y con múltiples pasos. A diferencia de las transiciones, que solo cambian de un estado a otro, las animaciones ofrecen un control total sobre el comportamiento del elemento a lo largo de un período de tiempo. Esto se logra con dos propiedades principales: @keyframes y </a:t>
            </a:r>
            <a:r>
              <a:rPr lang="es-ES" dirty="0" err="1">
                <a:ea typeface="+mn-lt"/>
                <a:cs typeface="+mn-lt"/>
              </a:rPr>
              <a:t>animation</a:t>
            </a:r>
            <a:r>
              <a:rPr lang="es-ES" dirty="0">
                <a:ea typeface="+mn-lt"/>
                <a:cs typeface="+mn-lt"/>
              </a:rPr>
              <a:t>.</a:t>
            </a:r>
            <a:endParaRPr lang="es-ES" dirty="0"/>
          </a:p>
          <a:p>
            <a:r>
              <a:rPr lang="es-ES" dirty="0">
                <a:ea typeface="+mn-lt"/>
                <a:cs typeface="+mn-lt"/>
              </a:rPr>
              <a:t>@keyframes es la regla fundamental que define el comportamiento de la animación. Actúa como un guion o una línea de tiempo que especifica los estilos que un elemento debe tener en diferentes puntos de la animación.</a:t>
            </a:r>
            <a:endParaRPr lang="es-ES" dirty="0"/>
          </a:p>
          <a:p>
            <a:r>
              <a:rPr lang="es-ES" dirty="0">
                <a:ea typeface="+mn-lt"/>
                <a:cs typeface="+mn-lt"/>
              </a:rPr>
              <a:t>Sintaxis: Le asignas un nombre único a la animación y defines los "fotogramas clave" (</a:t>
            </a:r>
            <a:r>
              <a:rPr lang="es-ES" dirty="0" err="1">
                <a:ea typeface="+mn-lt"/>
                <a:cs typeface="+mn-lt"/>
              </a:rPr>
              <a:t>keyframes</a:t>
            </a:r>
            <a:r>
              <a:rPr lang="es-ES" dirty="0">
                <a:ea typeface="+mn-lt"/>
                <a:cs typeface="+mn-lt"/>
              </a:rPr>
              <a:t>) con porcentajes.</a:t>
            </a:r>
            <a:endParaRPr lang="es-ES" dirty="0"/>
          </a:p>
          <a:p>
            <a:pPr lvl="1">
              <a:buFont typeface="Courier New" panose="020B0604020202020204" pitchFamily="34" charset="0"/>
              <a:buChar char="o"/>
            </a:pPr>
            <a:r>
              <a:rPr lang="es-ES" dirty="0">
                <a:ea typeface="+mn-lt"/>
                <a:cs typeface="+mn-lt"/>
              </a:rPr>
              <a:t>0% (o </a:t>
            </a:r>
            <a:r>
              <a:rPr lang="es-ES" dirty="0" err="1">
                <a:ea typeface="+mn-lt"/>
                <a:cs typeface="+mn-lt"/>
              </a:rPr>
              <a:t>from</a:t>
            </a:r>
            <a:r>
              <a:rPr lang="es-ES" dirty="0">
                <a:ea typeface="+mn-lt"/>
                <a:cs typeface="+mn-lt"/>
              </a:rPr>
              <a:t>): El estado inicial de la animación.</a:t>
            </a:r>
            <a:endParaRPr lang="es-ES"/>
          </a:p>
          <a:p>
            <a:pPr lvl="1">
              <a:buFont typeface="Courier New" panose="020B0604020202020204" pitchFamily="34" charset="0"/>
              <a:buChar char="o"/>
            </a:pPr>
            <a:r>
              <a:rPr lang="es-ES" dirty="0">
                <a:ea typeface="+mn-lt"/>
                <a:cs typeface="+mn-lt"/>
              </a:rPr>
              <a:t>100% (o </a:t>
            </a:r>
            <a:r>
              <a:rPr lang="es-ES" dirty="0" err="1">
                <a:ea typeface="+mn-lt"/>
                <a:cs typeface="+mn-lt"/>
              </a:rPr>
              <a:t>to</a:t>
            </a:r>
            <a:r>
              <a:rPr lang="es-ES" dirty="0">
                <a:ea typeface="+mn-lt"/>
                <a:cs typeface="+mn-lt"/>
              </a:rPr>
              <a:t>): El estado final de la animación.</a:t>
            </a:r>
            <a:endParaRPr lang="es-ES"/>
          </a:p>
          <a:p>
            <a:pPr lvl="1">
              <a:buFont typeface="Courier New" panose="020B0604020202020204" pitchFamily="34" charset="0"/>
              <a:buChar char="o"/>
            </a:pPr>
            <a:r>
              <a:rPr lang="es-ES" dirty="0">
                <a:ea typeface="+mn-lt"/>
                <a:cs typeface="+mn-lt"/>
              </a:rPr>
              <a:t>Puedes usar cualquier porcentaje entre el 0% y el 100% para definir estados intermedios.</a:t>
            </a:r>
            <a:endParaRPr lang="es-ES" dirty="0"/>
          </a:p>
          <a:p>
            <a:endParaRPr lang="es-ES" dirty="0"/>
          </a:p>
        </p:txBody>
      </p:sp>
    </p:spTree>
    <p:extLst>
      <p:ext uri="{BB962C8B-B14F-4D97-AF65-F5344CB8AC3E}">
        <p14:creationId xmlns:p14="http://schemas.microsoft.com/office/powerpoint/2010/main" val="1336809734"/>
      </p:ext>
    </p:extLst>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91B869-086D-0A24-6617-118CBF522F1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BFB4EBC-2839-C669-38C1-961F7904FCCD}"/>
              </a:ext>
            </a:extLst>
          </p:cNvPr>
          <p:cNvSpPr>
            <a:spLocks noGrp="1"/>
          </p:cNvSpPr>
          <p:nvPr>
            <p:ph type="title"/>
          </p:nvPr>
        </p:nvSpPr>
        <p:spPr/>
        <p:txBody>
          <a:bodyPr/>
          <a:lstStyle/>
          <a:p>
            <a:r>
              <a:rPr lang="es-ES" b="0" dirty="0">
                <a:ea typeface="+mj-lt"/>
                <a:cs typeface="+mj-lt"/>
              </a:rPr>
              <a:t>2.5.3. Animaciones (@keyframes y </a:t>
            </a:r>
            <a:r>
              <a:rPr lang="es-ES" b="0" dirty="0" err="1">
                <a:ea typeface="+mj-lt"/>
                <a:cs typeface="+mj-lt"/>
              </a:rPr>
              <a:t>animation</a:t>
            </a:r>
            <a:r>
              <a:rPr lang="es-ES" b="0" dirty="0">
                <a:ea typeface="+mj-lt"/>
                <a:cs typeface="+mj-lt"/>
              </a:rPr>
              <a:t>).</a:t>
            </a:r>
            <a:endParaRPr lang="es-ES" dirty="0"/>
          </a:p>
        </p:txBody>
      </p:sp>
      <p:sp>
        <p:nvSpPr>
          <p:cNvPr id="3" name="Marcador de contenido 2">
            <a:extLst>
              <a:ext uri="{FF2B5EF4-FFF2-40B4-BE49-F238E27FC236}">
                <a16:creationId xmlns:a16="http://schemas.microsoft.com/office/drawing/2014/main" id="{BC3AB168-2193-73D0-302F-42B5A2327AC1}"/>
              </a:ext>
            </a:extLst>
          </p:cNvPr>
          <p:cNvSpPr>
            <a:spLocks noGrp="1"/>
          </p:cNvSpPr>
          <p:nvPr>
            <p:ph idx="1"/>
          </p:nvPr>
        </p:nvSpPr>
        <p:spPr/>
        <p:txBody>
          <a:bodyPr vert="horz" lIns="91440" tIns="45720" rIns="91440" bIns="45720" rtlCol="0" anchor="t">
            <a:normAutofit fontScale="70000" lnSpcReduction="20000"/>
          </a:bodyPr>
          <a:lstStyle/>
          <a:p>
            <a:r>
              <a:rPr lang="es-ES" dirty="0">
                <a:ea typeface="+mn-lt"/>
                <a:cs typeface="+mn-lt"/>
              </a:rPr>
              <a:t>Ejemplo de @keyframes</a:t>
            </a:r>
            <a:endParaRPr lang="es-ES">
              <a:ea typeface="+mn-lt"/>
              <a:cs typeface="+mn-lt"/>
            </a:endParaRPr>
          </a:p>
          <a:p>
            <a:pPr marL="0" indent="0">
              <a:buNone/>
            </a:pPr>
            <a:r>
              <a:rPr lang="es-ES" b="1" dirty="0">
                <a:latin typeface="Courier New"/>
                <a:ea typeface="+mn-lt"/>
                <a:cs typeface="+mn-lt"/>
              </a:rPr>
              <a:t>/* Definición de la animación */</a:t>
            </a:r>
            <a:br>
              <a:rPr lang="es-ES" b="1" dirty="0">
                <a:latin typeface="Courier New"/>
                <a:ea typeface="+mn-lt"/>
                <a:cs typeface="+mn-lt"/>
              </a:rPr>
            </a:br>
            <a:r>
              <a:rPr lang="es-ES" b="1" dirty="0">
                <a:latin typeface="Courier New"/>
                <a:ea typeface="+mn-lt"/>
                <a:cs typeface="+mn-lt"/>
              </a:rPr>
              <a:t>@keyframes pulso {</a:t>
            </a:r>
            <a:br>
              <a:rPr lang="es-ES" b="1" dirty="0">
                <a:latin typeface="Courier New"/>
                <a:ea typeface="+mn-lt"/>
                <a:cs typeface="+mn-lt"/>
              </a:rPr>
            </a:br>
            <a:r>
              <a:rPr lang="es-ES" b="1" dirty="0">
                <a:latin typeface="Courier New"/>
                <a:ea typeface="+mn-lt"/>
                <a:cs typeface="+mn-lt"/>
              </a:rPr>
              <a:t>  0% {</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transform</a:t>
            </a:r>
            <a:r>
              <a:rPr lang="es-ES" b="1" dirty="0">
                <a:latin typeface="Courier New"/>
                <a:ea typeface="+mn-lt"/>
                <a:cs typeface="+mn-lt"/>
              </a:rPr>
              <a:t>: </a:t>
            </a:r>
            <a:r>
              <a:rPr lang="es-ES" b="1" err="1">
                <a:latin typeface="Courier New"/>
                <a:ea typeface="+mn-lt"/>
                <a:cs typeface="+mn-lt"/>
              </a:rPr>
              <a:t>scale</a:t>
            </a:r>
            <a:r>
              <a:rPr lang="es-ES" b="1" dirty="0">
                <a:latin typeface="Courier New"/>
                <a:ea typeface="+mn-lt"/>
                <a:cs typeface="+mn-lt"/>
              </a:rPr>
              <a:t>(1);</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opacity</a:t>
            </a:r>
            <a:r>
              <a:rPr lang="es-ES" b="1" dirty="0">
                <a:latin typeface="Courier New"/>
                <a:ea typeface="+mn-lt"/>
                <a:cs typeface="+mn-lt"/>
              </a:rPr>
              <a:t>: 1;</a:t>
            </a:r>
            <a:br>
              <a:rPr lang="es-ES" b="1" dirty="0">
                <a:latin typeface="Courier New"/>
                <a:ea typeface="+mn-lt"/>
                <a:cs typeface="+mn-lt"/>
              </a:rPr>
            </a:b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50% {</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transform</a:t>
            </a:r>
            <a:r>
              <a:rPr lang="es-ES" b="1" dirty="0">
                <a:latin typeface="Courier New"/>
                <a:ea typeface="+mn-lt"/>
                <a:cs typeface="+mn-lt"/>
              </a:rPr>
              <a:t>: </a:t>
            </a:r>
            <a:r>
              <a:rPr lang="es-ES" b="1" err="1">
                <a:latin typeface="Courier New"/>
                <a:ea typeface="+mn-lt"/>
                <a:cs typeface="+mn-lt"/>
              </a:rPr>
              <a:t>scale</a:t>
            </a:r>
            <a:r>
              <a:rPr lang="es-ES" b="1" dirty="0">
                <a:latin typeface="Courier New"/>
                <a:ea typeface="+mn-lt"/>
                <a:cs typeface="+mn-lt"/>
              </a:rPr>
              <a:t>(1.1);</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opacity</a:t>
            </a:r>
            <a:r>
              <a:rPr lang="es-ES" b="1" dirty="0">
                <a:latin typeface="Courier New"/>
                <a:ea typeface="+mn-lt"/>
                <a:cs typeface="+mn-lt"/>
              </a:rPr>
              <a:t>: 0.7;</a:t>
            </a:r>
            <a:br>
              <a:rPr lang="es-ES" b="1" dirty="0">
                <a:latin typeface="Courier New"/>
                <a:ea typeface="+mn-lt"/>
                <a:cs typeface="+mn-lt"/>
              </a:rPr>
            </a:b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100% {</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transform</a:t>
            </a:r>
            <a:r>
              <a:rPr lang="es-ES" b="1" dirty="0">
                <a:latin typeface="Courier New"/>
                <a:ea typeface="+mn-lt"/>
                <a:cs typeface="+mn-lt"/>
              </a:rPr>
              <a:t>: </a:t>
            </a:r>
            <a:r>
              <a:rPr lang="es-ES" b="1" err="1">
                <a:latin typeface="Courier New"/>
                <a:ea typeface="+mn-lt"/>
                <a:cs typeface="+mn-lt"/>
              </a:rPr>
              <a:t>scale</a:t>
            </a:r>
            <a:r>
              <a:rPr lang="es-ES" b="1" dirty="0">
                <a:latin typeface="Courier New"/>
                <a:ea typeface="+mn-lt"/>
                <a:cs typeface="+mn-lt"/>
              </a:rPr>
              <a:t>(1);</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opacity</a:t>
            </a:r>
            <a:r>
              <a:rPr lang="es-ES" b="1" dirty="0">
                <a:latin typeface="Courier New"/>
                <a:ea typeface="+mn-lt"/>
                <a:cs typeface="+mn-lt"/>
              </a:rPr>
              <a:t>: 1;</a:t>
            </a:r>
            <a:br>
              <a:rPr lang="es-ES" b="1" dirty="0">
                <a:latin typeface="Courier New"/>
                <a:ea typeface="+mn-lt"/>
                <a:cs typeface="+mn-lt"/>
              </a:rPr>
            </a:b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a:t>
            </a:r>
          </a:p>
          <a:p>
            <a:r>
              <a:rPr lang="es-ES" dirty="0">
                <a:ea typeface="+mn-lt"/>
                <a:cs typeface="+mn-lt"/>
              </a:rPr>
              <a:t>En este caso, la animación se llama pulso y hace que un elemento aumente de tamaño y luego vuelva a su estado original, creando un efecto de latido.</a:t>
            </a:r>
          </a:p>
        </p:txBody>
      </p:sp>
    </p:spTree>
    <p:extLst>
      <p:ext uri="{BB962C8B-B14F-4D97-AF65-F5344CB8AC3E}">
        <p14:creationId xmlns:p14="http://schemas.microsoft.com/office/powerpoint/2010/main" val="54194960"/>
      </p:ext>
    </p:extLst>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783781-D19C-219F-80FA-A7975F28D18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1C333AD-AF81-C73F-4C72-73FF61F8E01B}"/>
              </a:ext>
            </a:extLst>
          </p:cNvPr>
          <p:cNvSpPr>
            <a:spLocks noGrp="1"/>
          </p:cNvSpPr>
          <p:nvPr>
            <p:ph type="title"/>
          </p:nvPr>
        </p:nvSpPr>
        <p:spPr/>
        <p:txBody>
          <a:bodyPr/>
          <a:lstStyle/>
          <a:p>
            <a:r>
              <a:rPr lang="es-ES" b="0" dirty="0">
                <a:ea typeface="+mj-lt"/>
                <a:cs typeface="+mj-lt"/>
              </a:rPr>
              <a:t>2.5.3. Animaciones (@keyframes y </a:t>
            </a:r>
            <a:r>
              <a:rPr lang="es-ES" b="0" dirty="0" err="1">
                <a:ea typeface="+mj-lt"/>
                <a:cs typeface="+mj-lt"/>
              </a:rPr>
              <a:t>animation</a:t>
            </a:r>
            <a:r>
              <a:rPr lang="es-ES" b="0" dirty="0">
                <a:ea typeface="+mj-lt"/>
                <a:cs typeface="+mj-lt"/>
              </a:rPr>
              <a:t>).</a:t>
            </a:r>
            <a:endParaRPr lang="es-ES" dirty="0"/>
          </a:p>
        </p:txBody>
      </p:sp>
      <p:sp>
        <p:nvSpPr>
          <p:cNvPr id="3" name="Marcador de contenido 2">
            <a:extLst>
              <a:ext uri="{FF2B5EF4-FFF2-40B4-BE49-F238E27FC236}">
                <a16:creationId xmlns:a16="http://schemas.microsoft.com/office/drawing/2014/main" id="{A96440A7-0491-8A05-1811-5A705BA4E6F4}"/>
              </a:ext>
            </a:extLst>
          </p:cNvPr>
          <p:cNvSpPr>
            <a:spLocks noGrp="1"/>
          </p:cNvSpPr>
          <p:nvPr>
            <p:ph idx="1"/>
          </p:nvPr>
        </p:nvSpPr>
        <p:spPr/>
        <p:txBody>
          <a:bodyPr vert="horz" lIns="91440" tIns="45720" rIns="91440" bIns="45720" rtlCol="0" anchor="t">
            <a:normAutofit fontScale="92500" lnSpcReduction="10000"/>
          </a:bodyPr>
          <a:lstStyle/>
          <a:p>
            <a:r>
              <a:rPr lang="es-ES" dirty="0">
                <a:ea typeface="+mn-lt"/>
                <a:cs typeface="+mn-lt"/>
              </a:rPr>
              <a:t>Una vez que has definido la animación con @keyframes, debes aplicarla a un elemento con la propiedad animation. Esta propiedad es una abreviatura que combina todas las propiedades de control de la animación.</a:t>
            </a:r>
            <a:endParaRPr lang="es-ES">
              <a:ea typeface="+mn-lt"/>
              <a:cs typeface="+mn-lt"/>
            </a:endParaRPr>
          </a:p>
          <a:p>
            <a:r>
              <a:rPr lang="es-ES" dirty="0">
                <a:ea typeface="+mn-lt"/>
                <a:cs typeface="+mn-lt"/>
              </a:rPr>
              <a:t>Sintaxis: </a:t>
            </a:r>
            <a:r>
              <a:rPr lang="es-ES" dirty="0" err="1">
                <a:ea typeface="+mn-lt"/>
                <a:cs typeface="+mn-lt"/>
              </a:rPr>
              <a:t>animation</a:t>
            </a:r>
            <a:r>
              <a:rPr lang="es-ES" dirty="0">
                <a:ea typeface="+mn-lt"/>
                <a:cs typeface="+mn-lt"/>
              </a:rPr>
              <a:t>: &lt;</a:t>
            </a:r>
            <a:r>
              <a:rPr lang="es-ES" dirty="0" err="1">
                <a:ea typeface="+mn-lt"/>
                <a:cs typeface="+mn-lt"/>
              </a:rPr>
              <a:t>name</a:t>
            </a:r>
            <a:r>
              <a:rPr lang="es-ES" dirty="0">
                <a:ea typeface="+mn-lt"/>
                <a:cs typeface="+mn-lt"/>
              </a:rPr>
              <a:t>&gt; &lt;</a:t>
            </a:r>
            <a:r>
              <a:rPr lang="es-ES" dirty="0" err="1">
                <a:ea typeface="+mn-lt"/>
                <a:cs typeface="+mn-lt"/>
              </a:rPr>
              <a:t>duration</a:t>
            </a:r>
            <a:r>
              <a:rPr lang="es-ES" dirty="0">
                <a:ea typeface="+mn-lt"/>
                <a:cs typeface="+mn-lt"/>
              </a:rPr>
              <a:t>&gt; &lt;timing-</a:t>
            </a:r>
            <a:r>
              <a:rPr lang="es-ES" dirty="0" err="1">
                <a:ea typeface="+mn-lt"/>
                <a:cs typeface="+mn-lt"/>
              </a:rPr>
              <a:t>function</a:t>
            </a:r>
            <a:r>
              <a:rPr lang="es-ES" dirty="0">
                <a:ea typeface="+mn-lt"/>
                <a:cs typeface="+mn-lt"/>
              </a:rPr>
              <a:t>&gt; &lt;</a:t>
            </a:r>
            <a:r>
              <a:rPr lang="es-ES" dirty="0" err="1">
                <a:ea typeface="+mn-lt"/>
                <a:cs typeface="+mn-lt"/>
              </a:rPr>
              <a:t>delay</a:t>
            </a:r>
            <a:r>
              <a:rPr lang="es-ES" dirty="0">
                <a:ea typeface="+mn-lt"/>
                <a:cs typeface="+mn-lt"/>
              </a:rPr>
              <a:t>&gt; &lt;iteration-count&gt; &lt;direction&gt; &lt;fill-mode&gt;;</a:t>
            </a:r>
            <a:endParaRPr lang="es-ES">
              <a:ea typeface="+mn-lt"/>
              <a:cs typeface="+mn-lt"/>
            </a:endParaRPr>
          </a:p>
          <a:p>
            <a:pPr lvl="1">
              <a:buFont typeface="Courier New" panose="020B0604020202020204" pitchFamily="34" charset="0"/>
              <a:buChar char="o"/>
            </a:pPr>
            <a:r>
              <a:rPr lang="es-ES" dirty="0" err="1">
                <a:ea typeface="+mn-lt"/>
                <a:cs typeface="+mn-lt"/>
              </a:rPr>
              <a:t>animation-name</a:t>
            </a:r>
            <a:r>
              <a:rPr lang="es-ES" dirty="0">
                <a:ea typeface="+mn-lt"/>
                <a:cs typeface="+mn-lt"/>
              </a:rPr>
              <a:t>: El nombre de la animación definida con @keyframes (ej. pulso).</a:t>
            </a:r>
          </a:p>
          <a:p>
            <a:pPr lvl="1">
              <a:buFont typeface="Courier New" panose="020B0604020202020204" pitchFamily="34" charset="0"/>
              <a:buChar char="o"/>
            </a:pPr>
            <a:r>
              <a:rPr lang="es-ES" dirty="0" err="1">
                <a:ea typeface="+mn-lt"/>
                <a:cs typeface="+mn-lt"/>
              </a:rPr>
              <a:t>animation-duration</a:t>
            </a:r>
            <a:r>
              <a:rPr lang="es-ES" dirty="0">
                <a:ea typeface="+mn-lt"/>
                <a:cs typeface="+mn-lt"/>
              </a:rPr>
              <a:t>: La duración de un ciclo de animación (ej. 2s).</a:t>
            </a:r>
          </a:p>
          <a:p>
            <a:pPr lvl="1">
              <a:buFont typeface="Courier New" panose="020B0604020202020204" pitchFamily="34" charset="0"/>
              <a:buChar char="o"/>
            </a:pPr>
            <a:r>
              <a:rPr lang="es-ES" dirty="0" err="1">
                <a:ea typeface="+mn-lt"/>
                <a:cs typeface="+mn-lt"/>
              </a:rPr>
              <a:t>animation</a:t>
            </a:r>
            <a:r>
              <a:rPr lang="es-ES" dirty="0">
                <a:ea typeface="+mn-lt"/>
                <a:cs typeface="+mn-lt"/>
              </a:rPr>
              <a:t>-timing-</a:t>
            </a:r>
            <a:r>
              <a:rPr lang="es-ES" dirty="0" err="1">
                <a:ea typeface="+mn-lt"/>
                <a:cs typeface="+mn-lt"/>
              </a:rPr>
              <a:t>function</a:t>
            </a:r>
            <a:r>
              <a:rPr lang="es-ES" dirty="0">
                <a:ea typeface="+mn-lt"/>
                <a:cs typeface="+mn-lt"/>
              </a:rPr>
              <a:t>: La curva de velocidad de la animación (ej. </a:t>
            </a:r>
            <a:r>
              <a:rPr lang="es-ES" dirty="0" err="1">
                <a:ea typeface="+mn-lt"/>
                <a:cs typeface="+mn-lt"/>
              </a:rPr>
              <a:t>ease</a:t>
            </a:r>
            <a:r>
              <a:rPr lang="es-ES" dirty="0">
                <a:ea typeface="+mn-lt"/>
                <a:cs typeface="+mn-lt"/>
              </a:rPr>
              <a:t>-</a:t>
            </a:r>
            <a:r>
              <a:rPr lang="es-ES" dirty="0" err="1">
                <a:ea typeface="+mn-lt"/>
                <a:cs typeface="+mn-lt"/>
              </a:rPr>
              <a:t>in-out</a:t>
            </a:r>
            <a:r>
              <a:rPr lang="es-ES" dirty="0">
                <a:ea typeface="+mn-lt"/>
                <a:cs typeface="+mn-lt"/>
              </a:rPr>
              <a:t>).</a:t>
            </a:r>
          </a:p>
          <a:p>
            <a:pPr lvl="1">
              <a:buFont typeface="Courier New" panose="020B0604020202020204" pitchFamily="34" charset="0"/>
              <a:buChar char="o"/>
            </a:pPr>
            <a:r>
              <a:rPr lang="es-ES" dirty="0" err="1">
                <a:ea typeface="+mn-lt"/>
                <a:cs typeface="+mn-lt"/>
              </a:rPr>
              <a:t>animation-delay</a:t>
            </a:r>
            <a:r>
              <a:rPr lang="es-ES" dirty="0">
                <a:ea typeface="+mn-lt"/>
                <a:cs typeface="+mn-lt"/>
              </a:rPr>
              <a:t>: El tiempo de espera antes de que comience la animación (ej. 0.5s).</a:t>
            </a:r>
          </a:p>
          <a:p>
            <a:pPr lvl="1">
              <a:buFont typeface="Courier New" panose="020B0604020202020204" pitchFamily="34" charset="0"/>
              <a:buChar char="o"/>
            </a:pPr>
            <a:r>
              <a:rPr lang="es-ES" dirty="0" err="1">
                <a:ea typeface="+mn-lt"/>
                <a:cs typeface="+mn-lt"/>
              </a:rPr>
              <a:t>animation-iteration-count</a:t>
            </a:r>
            <a:r>
              <a:rPr lang="es-ES" dirty="0">
                <a:ea typeface="+mn-lt"/>
                <a:cs typeface="+mn-lt"/>
              </a:rPr>
              <a:t>: El número de veces que se repetirá la animación. Puede ser un número o infinite para una repetición continua.</a:t>
            </a:r>
          </a:p>
          <a:p>
            <a:pPr lvl="1">
              <a:buFont typeface="Courier New" panose="020B0604020202020204" pitchFamily="34" charset="0"/>
              <a:buChar char="o"/>
            </a:pPr>
            <a:r>
              <a:rPr lang="es-ES" dirty="0" err="1">
                <a:ea typeface="+mn-lt"/>
                <a:cs typeface="+mn-lt"/>
              </a:rPr>
              <a:t>animation-direction</a:t>
            </a:r>
            <a:r>
              <a:rPr lang="es-ES" dirty="0">
                <a:ea typeface="+mn-lt"/>
                <a:cs typeface="+mn-lt"/>
              </a:rPr>
              <a:t>: Define si la animación se reproduce hacia adelante, hacia atrás o en ciclos alternos (normal, reverse, </a:t>
            </a:r>
            <a:r>
              <a:rPr lang="es-ES" dirty="0" err="1">
                <a:ea typeface="+mn-lt"/>
                <a:cs typeface="+mn-lt"/>
              </a:rPr>
              <a:t>alternate</a:t>
            </a:r>
            <a:r>
              <a:rPr lang="es-ES" dirty="0">
                <a:ea typeface="+mn-lt"/>
                <a:cs typeface="+mn-lt"/>
              </a:rPr>
              <a:t>).</a:t>
            </a:r>
          </a:p>
          <a:p>
            <a:pPr lvl="1">
              <a:buFont typeface="Courier New" panose="020B0604020202020204" pitchFamily="34" charset="0"/>
              <a:buChar char="o"/>
            </a:pPr>
            <a:r>
              <a:rPr lang="es-ES" dirty="0" err="1">
                <a:ea typeface="+mn-lt"/>
                <a:cs typeface="+mn-lt"/>
              </a:rPr>
              <a:t>animation-fill-mode</a:t>
            </a:r>
            <a:r>
              <a:rPr lang="es-ES" dirty="0">
                <a:ea typeface="+mn-lt"/>
                <a:cs typeface="+mn-lt"/>
              </a:rPr>
              <a:t>: Especifica los estilos que el elemento tendrá antes y después de la animación (forwards, </a:t>
            </a:r>
            <a:r>
              <a:rPr lang="es-ES" dirty="0" err="1">
                <a:ea typeface="+mn-lt"/>
                <a:cs typeface="+mn-lt"/>
              </a:rPr>
              <a:t>backwards</a:t>
            </a:r>
            <a:r>
              <a:rPr lang="es-ES" dirty="0">
                <a:ea typeface="+mn-lt"/>
                <a:cs typeface="+mn-lt"/>
              </a:rPr>
              <a:t>).</a:t>
            </a:r>
          </a:p>
          <a:p>
            <a:endParaRPr lang="es-ES" dirty="0">
              <a:ea typeface="+mn-lt"/>
              <a:cs typeface="+mn-lt"/>
            </a:endParaRPr>
          </a:p>
        </p:txBody>
      </p:sp>
    </p:spTree>
    <p:extLst>
      <p:ext uri="{BB962C8B-B14F-4D97-AF65-F5344CB8AC3E}">
        <p14:creationId xmlns:p14="http://schemas.microsoft.com/office/powerpoint/2010/main" val="2727222996"/>
      </p:ext>
    </p:extLst>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7C66D6-E377-7645-8824-287D7B97E55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2871E9F-0644-D426-21C5-7E11F94E9927}"/>
              </a:ext>
            </a:extLst>
          </p:cNvPr>
          <p:cNvSpPr>
            <a:spLocks noGrp="1"/>
          </p:cNvSpPr>
          <p:nvPr>
            <p:ph type="title"/>
          </p:nvPr>
        </p:nvSpPr>
        <p:spPr/>
        <p:txBody>
          <a:bodyPr/>
          <a:lstStyle/>
          <a:p>
            <a:r>
              <a:rPr lang="es-ES" b="0" dirty="0">
                <a:ea typeface="+mj-lt"/>
                <a:cs typeface="+mj-lt"/>
              </a:rPr>
              <a:t>2.5.3. Animaciones (@keyframes y </a:t>
            </a:r>
            <a:r>
              <a:rPr lang="es-ES" b="0" dirty="0" err="1">
                <a:ea typeface="+mj-lt"/>
                <a:cs typeface="+mj-lt"/>
              </a:rPr>
              <a:t>animation</a:t>
            </a:r>
            <a:r>
              <a:rPr lang="es-ES" b="0" dirty="0">
                <a:ea typeface="+mj-lt"/>
                <a:cs typeface="+mj-lt"/>
              </a:rPr>
              <a:t>).</a:t>
            </a:r>
            <a:endParaRPr lang="es-ES" dirty="0"/>
          </a:p>
        </p:txBody>
      </p:sp>
      <p:sp>
        <p:nvSpPr>
          <p:cNvPr id="3" name="Marcador de contenido 2">
            <a:extLst>
              <a:ext uri="{FF2B5EF4-FFF2-40B4-BE49-F238E27FC236}">
                <a16:creationId xmlns:a16="http://schemas.microsoft.com/office/drawing/2014/main" id="{4839F724-3901-726B-ED4D-66F2DB260D43}"/>
              </a:ext>
            </a:extLst>
          </p:cNvPr>
          <p:cNvSpPr>
            <a:spLocks noGrp="1"/>
          </p:cNvSpPr>
          <p:nvPr>
            <p:ph idx="1"/>
          </p:nvPr>
        </p:nvSpPr>
        <p:spPr/>
        <p:txBody>
          <a:bodyPr vert="horz" lIns="91440" tIns="45720" rIns="91440" bIns="45720" rtlCol="0" anchor="t">
            <a:normAutofit fontScale="62500" lnSpcReduction="20000"/>
          </a:bodyPr>
          <a:lstStyle/>
          <a:p>
            <a:r>
              <a:rPr lang="es-ES" dirty="0">
                <a:ea typeface="+mn-lt"/>
                <a:cs typeface="+mn-lt"/>
              </a:rPr>
              <a:t>Ejemplo: Este es el ejemplo del pulso aplicado a un </a:t>
            </a:r>
            <a:r>
              <a:rPr lang="es-ES" dirty="0" err="1">
                <a:ea typeface="+mn-lt"/>
                <a:cs typeface="+mn-lt"/>
              </a:rPr>
              <a:t>div</a:t>
            </a:r>
            <a:r>
              <a:rPr lang="es-ES" dirty="0">
                <a:ea typeface="+mn-lt"/>
                <a:cs typeface="+mn-lt"/>
              </a:rPr>
              <a:t>. En él, el </a:t>
            </a:r>
            <a:r>
              <a:rPr lang="es-ES" dirty="0" err="1">
                <a:ea typeface="+mn-lt"/>
                <a:cs typeface="+mn-lt"/>
              </a:rPr>
              <a:t>div</a:t>
            </a:r>
            <a:r>
              <a:rPr lang="es-ES" dirty="0">
                <a:ea typeface="+mn-lt"/>
                <a:cs typeface="+mn-lt"/>
              </a:rPr>
              <a:t> con la clase icono-animado ejecutará la animación pulso de forma continua (infinite), cada ciclo durará 2 segundos y tendrá una curva de velocidad suave (</a:t>
            </a:r>
            <a:r>
              <a:rPr lang="es-ES" dirty="0" err="1">
                <a:ea typeface="+mn-lt"/>
                <a:cs typeface="+mn-lt"/>
              </a:rPr>
              <a:t>ease</a:t>
            </a:r>
            <a:r>
              <a:rPr lang="es-ES" dirty="0">
                <a:ea typeface="+mn-lt"/>
                <a:cs typeface="+mn-lt"/>
              </a:rPr>
              <a:t>-</a:t>
            </a:r>
            <a:r>
              <a:rPr lang="es-ES" dirty="0" err="1">
                <a:ea typeface="+mn-lt"/>
                <a:cs typeface="+mn-lt"/>
              </a:rPr>
              <a:t>in-out</a:t>
            </a:r>
            <a:r>
              <a:rPr lang="es-ES" dirty="0">
                <a:ea typeface="+mn-lt"/>
                <a:cs typeface="+mn-lt"/>
              </a:rPr>
              <a:t>).</a:t>
            </a:r>
          </a:p>
          <a:p>
            <a:r>
              <a:rPr lang="es-ES" dirty="0">
                <a:ea typeface="+mn-lt"/>
                <a:cs typeface="+mn-lt"/>
              </a:rPr>
              <a:t>Con las animaciones, puedes crear efectos de carga, banners dinámicos, iconos que reaccionan a la interacción y mucho más, todo con un rendimiento óptimo.</a:t>
            </a:r>
          </a:p>
          <a:p>
            <a:pPr marL="0" indent="0">
              <a:buNone/>
            </a:pPr>
            <a:r>
              <a:rPr lang="es-ES" b="1" dirty="0">
                <a:latin typeface="Courier New"/>
                <a:ea typeface="+mn-lt"/>
                <a:cs typeface="+mn-lt"/>
              </a:rPr>
              <a:t>&lt;</a:t>
            </a:r>
            <a:r>
              <a:rPr lang="es-ES" b="1" err="1">
                <a:latin typeface="Courier New"/>
                <a:ea typeface="+mn-lt"/>
                <a:cs typeface="+mn-lt"/>
              </a:rPr>
              <a:t>div</a:t>
            </a:r>
            <a:r>
              <a:rPr lang="es-ES" b="1" dirty="0">
                <a:latin typeface="Courier New"/>
                <a:ea typeface="+mn-lt"/>
                <a:cs typeface="+mn-lt"/>
              </a:rPr>
              <a:t> </a:t>
            </a:r>
            <a:r>
              <a:rPr lang="es-ES" b="1" err="1">
                <a:latin typeface="Courier New"/>
                <a:ea typeface="+mn-lt"/>
                <a:cs typeface="+mn-lt"/>
              </a:rPr>
              <a:t>class</a:t>
            </a:r>
            <a:r>
              <a:rPr lang="es-ES" b="1" dirty="0">
                <a:latin typeface="Courier New"/>
                <a:ea typeface="+mn-lt"/>
                <a:cs typeface="+mn-lt"/>
              </a:rPr>
              <a:t>="icono-animado"&gt;&lt;/</a:t>
            </a:r>
            <a:r>
              <a:rPr lang="es-ES" b="1" err="1">
                <a:latin typeface="Courier New"/>
                <a:ea typeface="+mn-lt"/>
                <a:cs typeface="+mn-lt"/>
              </a:rPr>
              <a:t>div</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Definición de la animación */</a:t>
            </a:r>
            <a:br>
              <a:rPr lang="es-ES" b="1" dirty="0">
                <a:latin typeface="Courier New"/>
                <a:ea typeface="+mn-lt"/>
                <a:cs typeface="+mn-lt"/>
              </a:rPr>
            </a:br>
            <a:r>
              <a:rPr lang="es-ES" b="1" dirty="0">
                <a:latin typeface="Courier New"/>
                <a:ea typeface="+mn-lt"/>
                <a:cs typeface="+mn-lt"/>
              </a:rPr>
              <a:t>@keyframes pulso {</a:t>
            </a:r>
            <a:br>
              <a:rPr lang="es-ES" b="1" dirty="0">
                <a:latin typeface="Courier New"/>
                <a:ea typeface="+mn-lt"/>
                <a:cs typeface="+mn-lt"/>
              </a:rPr>
            </a:br>
            <a:r>
              <a:rPr lang="es-ES" b="1" dirty="0">
                <a:latin typeface="Courier New"/>
                <a:ea typeface="+mn-lt"/>
                <a:cs typeface="+mn-lt"/>
              </a:rPr>
              <a:t>  0% { </a:t>
            </a:r>
            <a:r>
              <a:rPr lang="es-ES" b="1" err="1">
                <a:latin typeface="Courier New"/>
                <a:ea typeface="+mn-lt"/>
                <a:cs typeface="+mn-lt"/>
              </a:rPr>
              <a:t>transform</a:t>
            </a:r>
            <a:r>
              <a:rPr lang="es-ES" b="1" dirty="0">
                <a:latin typeface="Courier New"/>
                <a:ea typeface="+mn-lt"/>
                <a:cs typeface="+mn-lt"/>
              </a:rPr>
              <a:t>: </a:t>
            </a:r>
            <a:r>
              <a:rPr lang="es-ES" b="1" err="1">
                <a:latin typeface="Courier New"/>
                <a:ea typeface="+mn-lt"/>
                <a:cs typeface="+mn-lt"/>
              </a:rPr>
              <a:t>scale</a:t>
            </a:r>
            <a:r>
              <a:rPr lang="es-ES" b="1" dirty="0">
                <a:latin typeface="Courier New"/>
                <a:ea typeface="+mn-lt"/>
                <a:cs typeface="+mn-lt"/>
              </a:rPr>
              <a:t>(1); }</a:t>
            </a:r>
            <a:br>
              <a:rPr lang="es-ES" b="1" dirty="0">
                <a:latin typeface="Courier New"/>
                <a:ea typeface="+mn-lt"/>
                <a:cs typeface="+mn-lt"/>
              </a:rPr>
            </a:br>
            <a:r>
              <a:rPr lang="es-ES" b="1" dirty="0">
                <a:latin typeface="Courier New"/>
                <a:ea typeface="+mn-lt"/>
                <a:cs typeface="+mn-lt"/>
              </a:rPr>
              <a:t>  50% { </a:t>
            </a:r>
            <a:r>
              <a:rPr lang="es-ES" b="1" err="1">
                <a:latin typeface="Courier New"/>
                <a:ea typeface="+mn-lt"/>
                <a:cs typeface="+mn-lt"/>
              </a:rPr>
              <a:t>transform</a:t>
            </a:r>
            <a:r>
              <a:rPr lang="es-ES" b="1" dirty="0">
                <a:latin typeface="Courier New"/>
                <a:ea typeface="+mn-lt"/>
                <a:cs typeface="+mn-lt"/>
              </a:rPr>
              <a:t>: </a:t>
            </a:r>
            <a:r>
              <a:rPr lang="es-ES" b="1" err="1">
                <a:latin typeface="Courier New"/>
                <a:ea typeface="+mn-lt"/>
                <a:cs typeface="+mn-lt"/>
              </a:rPr>
              <a:t>scale</a:t>
            </a:r>
            <a:r>
              <a:rPr lang="es-ES" b="1" dirty="0">
                <a:latin typeface="Courier New"/>
                <a:ea typeface="+mn-lt"/>
                <a:cs typeface="+mn-lt"/>
              </a:rPr>
              <a:t>(1.1); }</a:t>
            </a:r>
            <a:br>
              <a:rPr lang="es-ES" b="1" dirty="0">
                <a:latin typeface="Courier New"/>
                <a:ea typeface="+mn-lt"/>
                <a:cs typeface="+mn-lt"/>
              </a:rPr>
            </a:br>
            <a:r>
              <a:rPr lang="es-ES" b="1" dirty="0">
                <a:latin typeface="Courier New"/>
                <a:ea typeface="+mn-lt"/>
                <a:cs typeface="+mn-lt"/>
              </a:rPr>
              <a:t>  100% { </a:t>
            </a:r>
            <a:r>
              <a:rPr lang="es-ES" b="1" err="1">
                <a:latin typeface="Courier New"/>
                <a:ea typeface="+mn-lt"/>
                <a:cs typeface="+mn-lt"/>
              </a:rPr>
              <a:t>transform</a:t>
            </a:r>
            <a:r>
              <a:rPr lang="es-ES" b="1" dirty="0">
                <a:latin typeface="Courier New"/>
                <a:ea typeface="+mn-lt"/>
                <a:cs typeface="+mn-lt"/>
              </a:rPr>
              <a:t>: </a:t>
            </a:r>
            <a:r>
              <a:rPr lang="es-ES" b="1" err="1">
                <a:latin typeface="Courier New"/>
                <a:ea typeface="+mn-lt"/>
                <a:cs typeface="+mn-lt"/>
              </a:rPr>
              <a:t>scale</a:t>
            </a:r>
            <a:r>
              <a:rPr lang="es-ES" b="1" dirty="0">
                <a:latin typeface="Courier New"/>
                <a:ea typeface="+mn-lt"/>
                <a:cs typeface="+mn-lt"/>
              </a:rPr>
              <a:t>(1); }</a:t>
            </a:r>
            <a:br>
              <a:rPr lang="es-ES" b="1" dirty="0">
                <a:latin typeface="Courier New"/>
                <a:ea typeface="+mn-lt"/>
                <a:cs typeface="+mn-lt"/>
              </a:rPr>
            </a:b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 Aplicación de la animación al elemento */</a:t>
            </a:r>
            <a:br>
              <a:rPr lang="es-ES" b="1" dirty="0">
                <a:latin typeface="Courier New"/>
                <a:ea typeface="+mn-lt"/>
                <a:cs typeface="+mn-lt"/>
              </a:rPr>
            </a:br>
            <a:r>
              <a:rPr lang="es-ES" b="1" dirty="0">
                <a:latin typeface="Courier New"/>
                <a:ea typeface="+mn-lt"/>
                <a:cs typeface="+mn-lt"/>
              </a:rPr>
              <a:t>.icono-animado {</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width</a:t>
            </a:r>
            <a:r>
              <a:rPr lang="es-ES" b="1" dirty="0">
                <a:latin typeface="Courier New"/>
                <a:ea typeface="+mn-lt"/>
                <a:cs typeface="+mn-lt"/>
              </a:rPr>
              <a:t>: 50px;</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height</a:t>
            </a:r>
            <a:r>
              <a:rPr lang="es-ES" b="1" dirty="0">
                <a:latin typeface="Courier New"/>
                <a:ea typeface="+mn-lt"/>
                <a:cs typeface="+mn-lt"/>
              </a:rPr>
              <a:t>: 50px;</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background</a:t>
            </a:r>
            <a:r>
              <a:rPr lang="es-ES" b="1" dirty="0">
                <a:latin typeface="Courier New"/>
                <a:ea typeface="+mn-lt"/>
                <a:cs typeface="+mn-lt"/>
              </a:rPr>
              <a:t>-color: #28a745;</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border-radius</a:t>
            </a:r>
            <a:r>
              <a:rPr lang="es-ES" b="1" dirty="0">
                <a:latin typeface="Courier New"/>
                <a:ea typeface="+mn-lt"/>
                <a:cs typeface="+mn-lt"/>
              </a:rPr>
              <a:t>: 50%;</a:t>
            </a:r>
            <a:br>
              <a:rPr lang="es-ES" b="1" dirty="0">
                <a:latin typeface="Courier New"/>
                <a:ea typeface="+mn-lt"/>
                <a:cs typeface="+mn-lt"/>
              </a:rPr>
            </a:br>
            <a:r>
              <a:rPr lang="es-ES" b="1" dirty="0">
                <a:latin typeface="Courier New"/>
                <a:ea typeface="+mn-lt"/>
                <a:cs typeface="+mn-lt"/>
              </a:rPr>
              <a:t>  /* Nombre | Duración | Velocidad | Repetición */</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animation</a:t>
            </a:r>
            <a:r>
              <a:rPr lang="es-ES" b="1" dirty="0">
                <a:latin typeface="Courier New"/>
                <a:ea typeface="+mn-lt"/>
                <a:cs typeface="+mn-lt"/>
              </a:rPr>
              <a:t>: pulso 2s </a:t>
            </a:r>
            <a:r>
              <a:rPr lang="es-ES" b="1" err="1">
                <a:latin typeface="Courier New"/>
                <a:ea typeface="+mn-lt"/>
                <a:cs typeface="+mn-lt"/>
              </a:rPr>
              <a:t>ease</a:t>
            </a:r>
            <a:r>
              <a:rPr lang="es-ES" b="1" dirty="0">
                <a:latin typeface="Courier New"/>
                <a:ea typeface="+mn-lt"/>
                <a:cs typeface="+mn-lt"/>
              </a:rPr>
              <a:t>-</a:t>
            </a:r>
            <a:r>
              <a:rPr lang="es-ES" b="1" err="1">
                <a:latin typeface="Courier New"/>
                <a:ea typeface="+mn-lt"/>
                <a:cs typeface="+mn-lt"/>
              </a:rPr>
              <a:t>in-out</a:t>
            </a:r>
            <a:r>
              <a:rPr lang="es-ES" b="1" dirty="0">
                <a:latin typeface="Courier New"/>
                <a:ea typeface="+mn-lt"/>
                <a:cs typeface="+mn-lt"/>
              </a:rPr>
              <a:t> infinite;</a:t>
            </a:r>
            <a:br>
              <a:rPr lang="es-ES" b="1" dirty="0">
                <a:latin typeface="Courier New"/>
                <a:ea typeface="+mn-lt"/>
                <a:cs typeface="+mn-lt"/>
              </a:rPr>
            </a:br>
            <a:r>
              <a:rPr lang="es-ES" b="1" dirty="0">
                <a:latin typeface="Courier New"/>
                <a:ea typeface="+mn-lt"/>
                <a:cs typeface="+mn-lt"/>
              </a:rPr>
              <a:t>}</a:t>
            </a:r>
            <a:endParaRPr lang="es-ES" b="1" dirty="0">
              <a:latin typeface="Courier New"/>
              <a:cs typeface="Courier New"/>
            </a:endParaRPr>
          </a:p>
        </p:txBody>
      </p:sp>
    </p:spTree>
    <p:extLst>
      <p:ext uri="{BB962C8B-B14F-4D97-AF65-F5344CB8AC3E}">
        <p14:creationId xmlns:p14="http://schemas.microsoft.com/office/powerpoint/2010/main" val="2306534174"/>
      </p:ext>
    </p:extLst>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E4255F-EF03-6924-105F-E1CAC7ACE2B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4417391-2D65-F715-9092-72F9C9BF375E}"/>
              </a:ext>
            </a:extLst>
          </p:cNvPr>
          <p:cNvSpPr>
            <a:spLocks noGrp="1"/>
          </p:cNvSpPr>
          <p:nvPr>
            <p:ph type="title"/>
          </p:nvPr>
        </p:nvSpPr>
        <p:spPr/>
        <p:txBody>
          <a:bodyPr/>
          <a:lstStyle/>
          <a:p>
            <a:r>
              <a:rPr lang="es-ES" b="0" dirty="0">
                <a:ea typeface="+mj-lt"/>
                <a:cs typeface="+mj-lt"/>
              </a:rPr>
              <a:t>2.5.4. Ejemplos prácticos: botones animados, </a:t>
            </a:r>
            <a:r>
              <a:rPr lang="es-ES" b="0" dirty="0" err="1">
                <a:ea typeface="+mj-lt"/>
                <a:cs typeface="+mj-lt"/>
              </a:rPr>
              <a:t>loaders</a:t>
            </a:r>
            <a:r>
              <a:rPr lang="es-ES" b="0" dirty="0">
                <a:ea typeface="+mj-lt"/>
                <a:cs typeface="+mj-lt"/>
              </a:rPr>
              <a:t>, efectos </a:t>
            </a:r>
            <a:r>
              <a:rPr lang="es-ES" b="0" dirty="0" err="1">
                <a:ea typeface="+mj-lt"/>
                <a:cs typeface="+mj-lt"/>
              </a:rPr>
              <a:t>hover</a:t>
            </a:r>
            <a:r>
              <a:rPr lang="es-ES" b="0" dirty="0">
                <a:ea typeface="+mj-lt"/>
                <a:cs typeface="+mj-lt"/>
              </a:rPr>
              <a:t>.</a:t>
            </a:r>
            <a:endParaRPr lang="es-ES" dirty="0"/>
          </a:p>
        </p:txBody>
      </p:sp>
      <p:sp>
        <p:nvSpPr>
          <p:cNvPr id="3" name="Marcador de contenido 2">
            <a:extLst>
              <a:ext uri="{FF2B5EF4-FFF2-40B4-BE49-F238E27FC236}">
                <a16:creationId xmlns:a16="http://schemas.microsoft.com/office/drawing/2014/main" id="{16EEE0BE-4CD1-325A-E3FF-6BEB0F5425E8}"/>
              </a:ext>
            </a:extLst>
          </p:cNvPr>
          <p:cNvSpPr>
            <a:spLocks noGrp="1"/>
          </p:cNvSpPr>
          <p:nvPr>
            <p:ph idx="1"/>
          </p:nvPr>
        </p:nvSpPr>
        <p:spPr/>
        <p:txBody>
          <a:bodyPr vert="horz" lIns="91440" tIns="45720" rIns="91440" bIns="45720" rtlCol="0" anchor="t">
            <a:normAutofit fontScale="77500" lnSpcReduction="20000"/>
          </a:bodyPr>
          <a:lstStyle/>
          <a:p>
            <a:r>
              <a:rPr lang="es-ES" dirty="0">
                <a:ea typeface="+mn-lt"/>
                <a:cs typeface="+mn-lt"/>
              </a:rPr>
              <a:t>Botón animado (Efecto de transición y transformación) Este ejemplo crea un botón que cambia de color y escala sutilmente cuando el usuario pasa el cursor por encima, dándole una sensación de interactividad y dinamismo.</a:t>
            </a:r>
            <a:endParaRPr lang="es-ES" dirty="0"/>
          </a:p>
          <a:p>
            <a:pPr marL="0" indent="0">
              <a:buNone/>
            </a:pPr>
            <a:r>
              <a:rPr lang="es-ES" b="1" dirty="0">
                <a:latin typeface="Courier New"/>
                <a:ea typeface="+mn-lt"/>
                <a:cs typeface="+mn-lt"/>
              </a:rPr>
              <a:t>&lt;</a:t>
            </a:r>
            <a:r>
              <a:rPr lang="es-ES" b="1" err="1">
                <a:latin typeface="Courier New"/>
                <a:ea typeface="+mn-lt"/>
                <a:cs typeface="+mn-lt"/>
              </a:rPr>
              <a:t>button</a:t>
            </a:r>
            <a:r>
              <a:rPr lang="es-ES" b="1" dirty="0">
                <a:latin typeface="Courier New"/>
                <a:ea typeface="+mn-lt"/>
                <a:cs typeface="+mn-lt"/>
              </a:rPr>
              <a:t> </a:t>
            </a:r>
            <a:r>
              <a:rPr lang="es-ES" b="1" err="1">
                <a:latin typeface="Courier New"/>
                <a:ea typeface="+mn-lt"/>
                <a:cs typeface="+mn-lt"/>
              </a:rPr>
              <a:t>class</a:t>
            </a:r>
            <a:r>
              <a:rPr lang="es-ES" b="1" dirty="0">
                <a:latin typeface="Courier New"/>
                <a:ea typeface="+mn-lt"/>
                <a:cs typeface="+mn-lt"/>
              </a:rPr>
              <a:t>="</a:t>
            </a:r>
            <a:r>
              <a:rPr lang="es-ES" b="1" err="1">
                <a:latin typeface="Courier New"/>
                <a:ea typeface="+mn-lt"/>
                <a:cs typeface="+mn-lt"/>
              </a:rPr>
              <a:t>btn</a:t>
            </a:r>
            <a:r>
              <a:rPr lang="es-ES" b="1" dirty="0">
                <a:latin typeface="Courier New"/>
                <a:ea typeface="+mn-lt"/>
                <a:cs typeface="+mn-lt"/>
              </a:rPr>
              <a:t> </a:t>
            </a:r>
            <a:r>
              <a:rPr lang="es-ES" b="1" err="1">
                <a:latin typeface="Courier New"/>
                <a:ea typeface="+mn-lt"/>
                <a:cs typeface="+mn-lt"/>
              </a:rPr>
              <a:t>btn</a:t>
            </a:r>
            <a:r>
              <a:rPr lang="es-ES" b="1" dirty="0">
                <a:latin typeface="Courier New"/>
                <a:ea typeface="+mn-lt"/>
                <a:cs typeface="+mn-lt"/>
              </a:rPr>
              <a:t>-animado"&gt;Hacer clic&lt;/</a:t>
            </a:r>
            <a:r>
              <a:rPr lang="es-ES" b="1" err="1">
                <a:latin typeface="Courier New"/>
                <a:ea typeface="+mn-lt"/>
                <a:cs typeface="+mn-lt"/>
              </a:rPr>
              <a:t>button</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a:t>
            </a:r>
            <a:r>
              <a:rPr lang="es-ES" b="1" err="1">
                <a:latin typeface="Courier New"/>
                <a:ea typeface="+mn-lt"/>
                <a:cs typeface="+mn-lt"/>
              </a:rPr>
              <a:t>btn</a:t>
            </a:r>
            <a:r>
              <a:rPr lang="es-ES" b="1" dirty="0">
                <a:latin typeface="Courier New"/>
                <a:ea typeface="+mn-lt"/>
                <a:cs typeface="+mn-lt"/>
              </a:rPr>
              <a:t>-animado {</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background</a:t>
            </a:r>
            <a:r>
              <a:rPr lang="es-ES" b="1" dirty="0">
                <a:latin typeface="Courier New"/>
                <a:ea typeface="+mn-lt"/>
                <a:cs typeface="+mn-lt"/>
              </a:rPr>
              <a:t>-color: #007bff;</a:t>
            </a:r>
            <a:br>
              <a:rPr lang="es-ES" b="1" dirty="0">
                <a:latin typeface="Courier New"/>
                <a:ea typeface="+mn-lt"/>
                <a:cs typeface="+mn-lt"/>
              </a:rPr>
            </a:br>
            <a:r>
              <a:rPr lang="es-ES" b="1" dirty="0">
                <a:latin typeface="Courier New"/>
                <a:ea typeface="+mn-lt"/>
                <a:cs typeface="+mn-lt"/>
              </a:rPr>
              <a:t>  color: </a:t>
            </a:r>
            <a:r>
              <a:rPr lang="es-ES" b="1" err="1">
                <a:latin typeface="Courier New"/>
                <a:ea typeface="+mn-lt"/>
                <a:cs typeface="+mn-lt"/>
              </a:rPr>
              <a:t>white</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padding</a:t>
            </a:r>
            <a:r>
              <a:rPr lang="es-ES" b="1" dirty="0">
                <a:latin typeface="Courier New"/>
                <a:ea typeface="+mn-lt"/>
                <a:cs typeface="+mn-lt"/>
              </a:rPr>
              <a:t>: 10px 20px;</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border</a:t>
            </a:r>
            <a:r>
              <a:rPr lang="es-ES" b="1" dirty="0">
                <a:latin typeface="Courier New"/>
                <a:ea typeface="+mn-lt"/>
                <a:cs typeface="+mn-lt"/>
              </a:rPr>
              <a:t>: </a:t>
            </a:r>
            <a:r>
              <a:rPr lang="es-ES" b="1" err="1">
                <a:latin typeface="Courier New"/>
                <a:ea typeface="+mn-lt"/>
                <a:cs typeface="+mn-lt"/>
              </a:rPr>
              <a:t>none</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border-radius</a:t>
            </a:r>
            <a:r>
              <a:rPr lang="es-ES" b="1" dirty="0">
                <a:latin typeface="Courier New"/>
                <a:ea typeface="+mn-lt"/>
                <a:cs typeface="+mn-lt"/>
              </a:rPr>
              <a:t>: 5px;</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font-size</a:t>
            </a:r>
            <a:r>
              <a:rPr lang="es-ES" b="1" dirty="0">
                <a:latin typeface="Courier New"/>
                <a:ea typeface="+mn-lt"/>
                <a:cs typeface="+mn-lt"/>
              </a:rPr>
              <a:t>: 16px;</a:t>
            </a:r>
            <a:br>
              <a:rPr lang="es-ES" b="1" dirty="0">
                <a:latin typeface="Courier New"/>
                <a:ea typeface="+mn-lt"/>
                <a:cs typeface="+mn-lt"/>
              </a:rPr>
            </a:br>
            <a:r>
              <a:rPr lang="es-ES" b="1" dirty="0">
                <a:latin typeface="Courier New"/>
                <a:ea typeface="+mn-lt"/>
                <a:cs typeface="+mn-lt"/>
              </a:rPr>
              <a:t>  cursor: pointer;</a:t>
            </a:r>
            <a:br>
              <a:rPr lang="es-ES" b="1" dirty="0">
                <a:latin typeface="Courier New"/>
                <a:ea typeface="+mn-lt"/>
                <a:cs typeface="+mn-lt"/>
              </a:rPr>
            </a:br>
            <a:r>
              <a:rPr lang="es-ES" b="1" dirty="0">
                <a:latin typeface="Courier New"/>
                <a:ea typeface="+mn-lt"/>
                <a:cs typeface="+mn-lt"/>
              </a:rPr>
              <a:t>  /* La magia está aquí: transición suave de 0.3 segundos */</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transition</a:t>
            </a:r>
            <a:r>
              <a:rPr lang="es-ES" b="1" dirty="0">
                <a:latin typeface="Courier New"/>
                <a:ea typeface="+mn-lt"/>
                <a:cs typeface="+mn-lt"/>
              </a:rPr>
              <a:t>: </a:t>
            </a:r>
            <a:r>
              <a:rPr lang="es-ES" b="1" err="1">
                <a:latin typeface="Courier New"/>
                <a:ea typeface="+mn-lt"/>
                <a:cs typeface="+mn-lt"/>
              </a:rPr>
              <a:t>background</a:t>
            </a:r>
            <a:r>
              <a:rPr lang="es-ES" b="1" dirty="0">
                <a:latin typeface="Courier New"/>
                <a:ea typeface="+mn-lt"/>
                <a:cs typeface="+mn-lt"/>
              </a:rPr>
              <a:t>-color 0.3s </a:t>
            </a:r>
            <a:r>
              <a:rPr lang="es-ES" b="1" err="1">
                <a:latin typeface="Courier New"/>
                <a:ea typeface="+mn-lt"/>
                <a:cs typeface="+mn-lt"/>
              </a:rPr>
              <a:t>ease</a:t>
            </a:r>
            <a:r>
              <a:rPr lang="es-ES" b="1" dirty="0">
                <a:latin typeface="Courier New"/>
                <a:ea typeface="+mn-lt"/>
                <a:cs typeface="+mn-lt"/>
              </a:rPr>
              <a:t>, </a:t>
            </a:r>
            <a:r>
              <a:rPr lang="es-ES" b="1" err="1">
                <a:latin typeface="Courier New"/>
                <a:ea typeface="+mn-lt"/>
                <a:cs typeface="+mn-lt"/>
              </a:rPr>
              <a:t>transform</a:t>
            </a:r>
            <a:r>
              <a:rPr lang="es-ES" b="1" dirty="0">
                <a:latin typeface="Courier New"/>
                <a:ea typeface="+mn-lt"/>
                <a:cs typeface="+mn-lt"/>
              </a:rPr>
              <a:t> 0.3s </a:t>
            </a:r>
            <a:r>
              <a:rPr lang="es-ES" b="1" err="1">
                <a:latin typeface="Courier New"/>
                <a:ea typeface="+mn-lt"/>
                <a:cs typeface="+mn-lt"/>
              </a:rPr>
              <a:t>ease</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a:t>
            </a:r>
            <a:r>
              <a:rPr lang="es-ES" b="1" err="1">
                <a:latin typeface="Courier New"/>
                <a:ea typeface="+mn-lt"/>
                <a:cs typeface="+mn-lt"/>
              </a:rPr>
              <a:t>btn-animado:hover</a:t>
            </a: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background</a:t>
            </a:r>
            <a:r>
              <a:rPr lang="es-ES" b="1" dirty="0">
                <a:latin typeface="Courier New"/>
                <a:ea typeface="+mn-lt"/>
                <a:cs typeface="+mn-lt"/>
              </a:rPr>
              <a:t>-color: #0056b3; /* Cambia el color */</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transform</a:t>
            </a:r>
            <a:r>
              <a:rPr lang="es-ES" b="1" dirty="0">
                <a:latin typeface="Courier New"/>
                <a:ea typeface="+mn-lt"/>
                <a:cs typeface="+mn-lt"/>
              </a:rPr>
              <a:t>: </a:t>
            </a:r>
            <a:r>
              <a:rPr lang="es-ES" b="1" err="1">
                <a:latin typeface="Courier New"/>
                <a:ea typeface="+mn-lt"/>
                <a:cs typeface="+mn-lt"/>
              </a:rPr>
              <a:t>scale</a:t>
            </a:r>
            <a:r>
              <a:rPr lang="es-ES" b="1" dirty="0">
                <a:latin typeface="Courier New"/>
                <a:ea typeface="+mn-lt"/>
                <a:cs typeface="+mn-lt"/>
              </a:rPr>
              <a:t>(1.05); /* Aumenta ligeramente el tamaño */</a:t>
            </a:r>
            <a:br>
              <a:rPr lang="es-ES" b="1" dirty="0">
                <a:latin typeface="Courier New"/>
                <a:ea typeface="+mn-lt"/>
                <a:cs typeface="+mn-lt"/>
              </a:rPr>
            </a:br>
            <a:r>
              <a:rPr lang="es-ES" b="1" dirty="0">
                <a:latin typeface="Courier New"/>
                <a:ea typeface="+mn-lt"/>
                <a:cs typeface="+mn-lt"/>
              </a:rPr>
              <a:t>}</a:t>
            </a:r>
            <a:endParaRPr lang="es-ES" b="1" dirty="0">
              <a:latin typeface="Courier New"/>
              <a:cs typeface="Courier New"/>
            </a:endParaRPr>
          </a:p>
        </p:txBody>
      </p:sp>
    </p:spTree>
    <p:extLst>
      <p:ext uri="{BB962C8B-B14F-4D97-AF65-F5344CB8AC3E}">
        <p14:creationId xmlns:p14="http://schemas.microsoft.com/office/powerpoint/2010/main" val="1908820577"/>
      </p:ext>
    </p:extLst>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3D5093-1528-557A-5C0D-99A0125BB76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983CF3A-FA39-F6A8-DA5E-1A6BD8270B0F}"/>
              </a:ext>
            </a:extLst>
          </p:cNvPr>
          <p:cNvSpPr>
            <a:spLocks noGrp="1"/>
          </p:cNvSpPr>
          <p:nvPr>
            <p:ph type="title"/>
          </p:nvPr>
        </p:nvSpPr>
        <p:spPr/>
        <p:txBody>
          <a:bodyPr/>
          <a:lstStyle/>
          <a:p>
            <a:r>
              <a:rPr lang="es-ES" b="0" dirty="0">
                <a:ea typeface="+mj-lt"/>
                <a:cs typeface="+mj-lt"/>
              </a:rPr>
              <a:t>2.5.4. Ejemplos prácticos: botones animados, </a:t>
            </a:r>
            <a:r>
              <a:rPr lang="es-ES" b="0" dirty="0" err="1">
                <a:ea typeface="+mj-lt"/>
                <a:cs typeface="+mj-lt"/>
              </a:rPr>
              <a:t>loaders</a:t>
            </a:r>
            <a:r>
              <a:rPr lang="es-ES" b="0" dirty="0">
                <a:ea typeface="+mj-lt"/>
                <a:cs typeface="+mj-lt"/>
              </a:rPr>
              <a:t>, efectos </a:t>
            </a:r>
            <a:r>
              <a:rPr lang="es-ES" b="0" dirty="0" err="1">
                <a:ea typeface="+mj-lt"/>
                <a:cs typeface="+mj-lt"/>
              </a:rPr>
              <a:t>hover</a:t>
            </a:r>
            <a:r>
              <a:rPr lang="es-ES" b="0" dirty="0">
                <a:ea typeface="+mj-lt"/>
                <a:cs typeface="+mj-lt"/>
              </a:rPr>
              <a:t>.</a:t>
            </a:r>
            <a:endParaRPr lang="es-ES" dirty="0"/>
          </a:p>
        </p:txBody>
      </p:sp>
      <p:sp>
        <p:nvSpPr>
          <p:cNvPr id="3" name="Marcador de contenido 2">
            <a:extLst>
              <a:ext uri="{FF2B5EF4-FFF2-40B4-BE49-F238E27FC236}">
                <a16:creationId xmlns:a16="http://schemas.microsoft.com/office/drawing/2014/main" id="{34532B23-12D4-4792-81D1-5094ADBD615A}"/>
              </a:ext>
            </a:extLst>
          </p:cNvPr>
          <p:cNvSpPr>
            <a:spLocks noGrp="1"/>
          </p:cNvSpPr>
          <p:nvPr>
            <p:ph idx="1"/>
          </p:nvPr>
        </p:nvSpPr>
        <p:spPr/>
        <p:txBody>
          <a:bodyPr vert="horz" lIns="91440" tIns="45720" rIns="91440" bIns="45720" rtlCol="0" anchor="t">
            <a:normAutofit fontScale="70000" lnSpcReduction="20000"/>
          </a:bodyPr>
          <a:lstStyle/>
          <a:p>
            <a:r>
              <a:rPr lang="es-ES" err="1">
                <a:ea typeface="+mn-lt"/>
                <a:cs typeface="+mn-lt"/>
              </a:rPr>
              <a:t>Loader</a:t>
            </a:r>
            <a:r>
              <a:rPr lang="es-ES" dirty="0">
                <a:ea typeface="+mn-lt"/>
                <a:cs typeface="+mn-lt"/>
              </a:rPr>
              <a:t> (Efecto de animación con @keyframes) Los </a:t>
            </a:r>
            <a:r>
              <a:rPr lang="es-ES" err="1">
                <a:ea typeface="+mn-lt"/>
                <a:cs typeface="+mn-lt"/>
              </a:rPr>
              <a:t>loaders</a:t>
            </a:r>
            <a:r>
              <a:rPr lang="es-ES" dirty="0">
                <a:ea typeface="+mn-lt"/>
                <a:cs typeface="+mn-lt"/>
              </a:rPr>
              <a:t> son elementos que indican al usuario que la página está cargando. Este ejemplo crea un círculo que gira infinitamente para representar la carga.</a:t>
            </a:r>
          </a:p>
          <a:p>
            <a:pPr marL="0" indent="0">
              <a:buNone/>
            </a:pPr>
            <a:r>
              <a:rPr lang="es-ES" b="1" dirty="0">
                <a:latin typeface="Courier New"/>
                <a:ea typeface="+mn-lt"/>
                <a:cs typeface="+mn-lt"/>
              </a:rPr>
              <a:t>&lt;</a:t>
            </a:r>
            <a:r>
              <a:rPr lang="es-ES" b="1" err="1">
                <a:latin typeface="Courier New"/>
                <a:ea typeface="+mn-lt"/>
                <a:cs typeface="+mn-lt"/>
              </a:rPr>
              <a:t>div</a:t>
            </a:r>
            <a:r>
              <a:rPr lang="es-ES" b="1" dirty="0">
                <a:latin typeface="Courier New"/>
                <a:ea typeface="+mn-lt"/>
                <a:cs typeface="+mn-lt"/>
              </a:rPr>
              <a:t> </a:t>
            </a:r>
            <a:r>
              <a:rPr lang="es-ES" b="1" err="1">
                <a:latin typeface="Courier New"/>
                <a:ea typeface="+mn-lt"/>
                <a:cs typeface="+mn-lt"/>
              </a:rPr>
              <a:t>class</a:t>
            </a:r>
            <a:r>
              <a:rPr lang="es-ES" b="1" dirty="0">
                <a:latin typeface="Courier New"/>
                <a:ea typeface="+mn-lt"/>
                <a:cs typeface="+mn-lt"/>
              </a:rPr>
              <a:t>="</a:t>
            </a:r>
            <a:r>
              <a:rPr lang="es-ES" b="1" err="1">
                <a:latin typeface="Courier New"/>
                <a:ea typeface="+mn-lt"/>
                <a:cs typeface="+mn-lt"/>
              </a:rPr>
              <a:t>loader</a:t>
            </a:r>
            <a:r>
              <a:rPr lang="es-ES" b="1" dirty="0">
                <a:latin typeface="Courier New"/>
                <a:ea typeface="+mn-lt"/>
                <a:cs typeface="+mn-lt"/>
              </a:rPr>
              <a:t>"&gt;&lt;/</a:t>
            </a:r>
            <a:r>
              <a:rPr lang="es-ES" b="1" err="1">
                <a:latin typeface="Courier New"/>
                <a:ea typeface="+mn-lt"/>
                <a:cs typeface="+mn-lt"/>
              </a:rPr>
              <a:t>div</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@keyframes giro {</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from</a:t>
            </a: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transform</a:t>
            </a:r>
            <a:r>
              <a:rPr lang="es-ES" b="1" dirty="0">
                <a:latin typeface="Courier New"/>
                <a:ea typeface="+mn-lt"/>
                <a:cs typeface="+mn-lt"/>
              </a:rPr>
              <a:t>: </a:t>
            </a:r>
            <a:r>
              <a:rPr lang="es-ES" b="1" err="1">
                <a:latin typeface="Courier New"/>
                <a:ea typeface="+mn-lt"/>
                <a:cs typeface="+mn-lt"/>
              </a:rPr>
              <a:t>rotate</a:t>
            </a:r>
            <a:r>
              <a:rPr lang="es-ES" b="1" dirty="0">
                <a:latin typeface="Courier New"/>
                <a:ea typeface="+mn-lt"/>
                <a:cs typeface="+mn-lt"/>
              </a:rPr>
              <a:t>(0deg);</a:t>
            </a:r>
            <a:br>
              <a:rPr lang="es-ES" b="1" dirty="0">
                <a:latin typeface="Courier New"/>
                <a:ea typeface="+mn-lt"/>
                <a:cs typeface="+mn-lt"/>
              </a:rPr>
            </a:b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to</a:t>
            </a: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transform</a:t>
            </a:r>
            <a:r>
              <a:rPr lang="es-ES" b="1" dirty="0">
                <a:latin typeface="Courier New"/>
                <a:ea typeface="+mn-lt"/>
                <a:cs typeface="+mn-lt"/>
              </a:rPr>
              <a:t>: </a:t>
            </a:r>
            <a:r>
              <a:rPr lang="es-ES" b="1" err="1">
                <a:latin typeface="Courier New"/>
                <a:ea typeface="+mn-lt"/>
                <a:cs typeface="+mn-lt"/>
              </a:rPr>
              <a:t>rotate</a:t>
            </a:r>
            <a:r>
              <a:rPr lang="es-ES" b="1" dirty="0">
                <a:latin typeface="Courier New"/>
                <a:ea typeface="+mn-lt"/>
                <a:cs typeface="+mn-lt"/>
              </a:rPr>
              <a:t>(360deg);</a:t>
            </a:r>
            <a:br>
              <a:rPr lang="es-ES" b="1" dirty="0">
                <a:latin typeface="Courier New"/>
                <a:ea typeface="+mn-lt"/>
                <a:cs typeface="+mn-lt"/>
              </a:rPr>
            </a:b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a:t>
            </a:r>
            <a:r>
              <a:rPr lang="es-ES" b="1" err="1">
                <a:latin typeface="Courier New"/>
                <a:ea typeface="+mn-lt"/>
                <a:cs typeface="+mn-lt"/>
              </a:rPr>
              <a:t>loader</a:t>
            </a: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border</a:t>
            </a:r>
            <a:r>
              <a:rPr lang="es-ES" b="1" dirty="0">
                <a:latin typeface="Courier New"/>
                <a:ea typeface="+mn-lt"/>
                <a:cs typeface="+mn-lt"/>
              </a:rPr>
              <a:t>: 4px </a:t>
            </a:r>
            <a:r>
              <a:rPr lang="es-ES" b="1" err="1">
                <a:latin typeface="Courier New"/>
                <a:ea typeface="+mn-lt"/>
                <a:cs typeface="+mn-lt"/>
              </a:rPr>
              <a:t>solid</a:t>
            </a:r>
            <a:r>
              <a:rPr lang="es-ES" b="1" dirty="0">
                <a:latin typeface="Courier New"/>
                <a:ea typeface="+mn-lt"/>
                <a:cs typeface="+mn-lt"/>
              </a:rPr>
              <a:t> #f3f3f3; /* Color del círculo exterior */</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border</a:t>
            </a:r>
            <a:r>
              <a:rPr lang="es-ES" b="1" dirty="0">
                <a:latin typeface="Courier New"/>
                <a:ea typeface="+mn-lt"/>
                <a:cs typeface="+mn-lt"/>
              </a:rPr>
              <a:t>-top: 4px </a:t>
            </a:r>
            <a:r>
              <a:rPr lang="es-ES" b="1" err="1">
                <a:latin typeface="Courier New"/>
                <a:ea typeface="+mn-lt"/>
                <a:cs typeface="+mn-lt"/>
              </a:rPr>
              <a:t>solid</a:t>
            </a:r>
            <a:r>
              <a:rPr lang="es-ES" b="1" dirty="0">
                <a:latin typeface="Courier New"/>
                <a:ea typeface="+mn-lt"/>
                <a:cs typeface="+mn-lt"/>
              </a:rPr>
              <a:t> #007bff; /* Color del círculo interior que gira */</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border-radius</a:t>
            </a:r>
            <a:r>
              <a:rPr lang="es-ES" b="1" dirty="0">
                <a:latin typeface="Courier New"/>
                <a:ea typeface="+mn-lt"/>
                <a:cs typeface="+mn-lt"/>
              </a:rPr>
              <a:t>: 50%; /* Lo convierte en un círculo */</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width</a:t>
            </a:r>
            <a:r>
              <a:rPr lang="es-ES" b="1" dirty="0">
                <a:latin typeface="Courier New"/>
                <a:ea typeface="+mn-lt"/>
                <a:cs typeface="+mn-lt"/>
              </a:rPr>
              <a:t>: 40px;</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height</a:t>
            </a:r>
            <a:r>
              <a:rPr lang="es-ES" b="1" dirty="0">
                <a:latin typeface="Courier New"/>
                <a:ea typeface="+mn-lt"/>
                <a:cs typeface="+mn-lt"/>
              </a:rPr>
              <a:t>: 40px;</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animation</a:t>
            </a:r>
            <a:r>
              <a:rPr lang="es-ES" b="1" dirty="0">
                <a:latin typeface="Courier New"/>
                <a:ea typeface="+mn-lt"/>
                <a:cs typeface="+mn-lt"/>
              </a:rPr>
              <a:t>: giro 1s linear infinite; /* Nombre, duración, velocidad, repetición */</a:t>
            </a:r>
            <a:br>
              <a:rPr lang="es-ES" b="1" dirty="0">
                <a:latin typeface="Courier New"/>
                <a:ea typeface="+mn-lt"/>
                <a:cs typeface="+mn-lt"/>
              </a:rPr>
            </a:br>
            <a:r>
              <a:rPr lang="es-ES" b="1" dirty="0">
                <a:latin typeface="Courier New"/>
                <a:ea typeface="+mn-lt"/>
                <a:cs typeface="+mn-lt"/>
              </a:rPr>
              <a:t>}</a:t>
            </a:r>
          </a:p>
        </p:txBody>
      </p:sp>
    </p:spTree>
    <p:extLst>
      <p:ext uri="{BB962C8B-B14F-4D97-AF65-F5344CB8AC3E}">
        <p14:creationId xmlns:p14="http://schemas.microsoft.com/office/powerpoint/2010/main" val="4107636698"/>
      </p:ext>
    </p:extLst>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383D7C-DB99-5D77-31C7-CB31252378A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82A91EC-4014-1F4E-C486-8D0945CF4E53}"/>
              </a:ext>
            </a:extLst>
          </p:cNvPr>
          <p:cNvSpPr>
            <a:spLocks noGrp="1"/>
          </p:cNvSpPr>
          <p:nvPr>
            <p:ph type="title"/>
          </p:nvPr>
        </p:nvSpPr>
        <p:spPr/>
        <p:txBody>
          <a:bodyPr/>
          <a:lstStyle/>
          <a:p>
            <a:r>
              <a:rPr lang="es-ES" b="0" dirty="0">
                <a:ea typeface="+mj-lt"/>
                <a:cs typeface="+mj-lt"/>
              </a:rPr>
              <a:t>2.5.4. Ejemplos prácticos: botones animados, </a:t>
            </a:r>
            <a:r>
              <a:rPr lang="es-ES" b="0" dirty="0" err="1">
                <a:ea typeface="+mj-lt"/>
                <a:cs typeface="+mj-lt"/>
              </a:rPr>
              <a:t>loaders</a:t>
            </a:r>
            <a:r>
              <a:rPr lang="es-ES" b="0" dirty="0">
                <a:ea typeface="+mj-lt"/>
                <a:cs typeface="+mj-lt"/>
              </a:rPr>
              <a:t>, efectos </a:t>
            </a:r>
            <a:r>
              <a:rPr lang="es-ES" b="0" dirty="0" err="1">
                <a:ea typeface="+mj-lt"/>
                <a:cs typeface="+mj-lt"/>
              </a:rPr>
              <a:t>hover</a:t>
            </a:r>
            <a:r>
              <a:rPr lang="es-ES" b="0" dirty="0">
                <a:ea typeface="+mj-lt"/>
                <a:cs typeface="+mj-lt"/>
              </a:rPr>
              <a:t>.</a:t>
            </a:r>
            <a:endParaRPr lang="es-ES" dirty="0"/>
          </a:p>
        </p:txBody>
      </p:sp>
      <p:sp>
        <p:nvSpPr>
          <p:cNvPr id="3" name="Marcador de contenido 2">
            <a:extLst>
              <a:ext uri="{FF2B5EF4-FFF2-40B4-BE49-F238E27FC236}">
                <a16:creationId xmlns:a16="http://schemas.microsoft.com/office/drawing/2014/main" id="{15AB6513-C69F-28BF-7580-8204C1F32C29}"/>
              </a:ext>
            </a:extLst>
          </p:cNvPr>
          <p:cNvSpPr>
            <a:spLocks noGrp="1"/>
          </p:cNvSpPr>
          <p:nvPr>
            <p:ph idx="1"/>
          </p:nvPr>
        </p:nvSpPr>
        <p:spPr/>
        <p:txBody>
          <a:bodyPr vert="horz" lIns="91440" tIns="45720" rIns="91440" bIns="45720" rtlCol="0" anchor="t">
            <a:normAutofit fontScale="62500" lnSpcReduction="20000"/>
          </a:bodyPr>
          <a:lstStyle/>
          <a:p>
            <a:r>
              <a:rPr lang="es-ES" dirty="0">
                <a:ea typeface="+mn-lt"/>
                <a:cs typeface="+mn-lt"/>
              </a:rPr>
              <a:t>Efecto </a:t>
            </a:r>
            <a:r>
              <a:rPr lang="es-ES" dirty="0" err="1">
                <a:ea typeface="+mn-lt"/>
                <a:cs typeface="+mn-lt"/>
              </a:rPr>
              <a:t>hover</a:t>
            </a:r>
            <a:r>
              <a:rPr lang="es-ES" dirty="0">
                <a:ea typeface="+mn-lt"/>
                <a:cs typeface="+mn-lt"/>
              </a:rPr>
              <a:t> avanzado (Múltiples transformaciones) Este ejemplo muestra un efecto </a:t>
            </a:r>
            <a:r>
              <a:rPr lang="es-ES" dirty="0" err="1">
                <a:ea typeface="+mn-lt"/>
                <a:cs typeface="+mn-lt"/>
              </a:rPr>
              <a:t>hover</a:t>
            </a:r>
            <a:r>
              <a:rPr lang="es-ES" dirty="0">
                <a:ea typeface="+mn-lt"/>
                <a:cs typeface="+mn-lt"/>
              </a:rPr>
              <a:t> más complejo donde un elemento se mueve, rota y se escala al mismo tiempo. En este caso, la tarjeta se eleva (</a:t>
            </a:r>
            <a:r>
              <a:rPr lang="es-ES" dirty="0" err="1">
                <a:ea typeface="+mn-lt"/>
                <a:cs typeface="+mn-lt"/>
              </a:rPr>
              <a:t>translateY</a:t>
            </a:r>
            <a:r>
              <a:rPr lang="es-ES" dirty="0">
                <a:ea typeface="+mn-lt"/>
                <a:cs typeface="+mn-lt"/>
              </a:rPr>
              <a:t>), se agranda (</a:t>
            </a:r>
            <a:r>
              <a:rPr lang="es-ES" dirty="0" err="1">
                <a:ea typeface="+mn-lt"/>
                <a:cs typeface="+mn-lt"/>
              </a:rPr>
              <a:t>scale</a:t>
            </a:r>
            <a:r>
              <a:rPr lang="es-ES" dirty="0">
                <a:ea typeface="+mn-lt"/>
                <a:cs typeface="+mn-lt"/>
              </a:rPr>
              <a:t>) y se inclina (</a:t>
            </a:r>
            <a:r>
              <a:rPr lang="es-ES" dirty="0" err="1">
                <a:ea typeface="+mn-lt"/>
                <a:cs typeface="+mn-lt"/>
              </a:rPr>
              <a:t>rotate</a:t>
            </a:r>
            <a:r>
              <a:rPr lang="es-ES" dirty="0">
                <a:ea typeface="+mn-lt"/>
                <a:cs typeface="+mn-lt"/>
              </a:rPr>
              <a:t>) de forma simultánea, creando un efecto de "flotación" llamativo.</a:t>
            </a:r>
          </a:p>
          <a:p>
            <a:pPr marL="0" indent="0">
              <a:buNone/>
            </a:pPr>
            <a:r>
              <a:rPr lang="es-ES" b="1" dirty="0">
                <a:latin typeface="Courier New"/>
                <a:ea typeface="+mn-lt"/>
                <a:cs typeface="+mn-lt"/>
              </a:rPr>
              <a:t>&lt;</a:t>
            </a:r>
            <a:r>
              <a:rPr lang="es-ES" b="1" err="1">
                <a:latin typeface="Courier New"/>
                <a:ea typeface="+mn-lt"/>
                <a:cs typeface="+mn-lt"/>
              </a:rPr>
              <a:t>div</a:t>
            </a:r>
            <a:r>
              <a:rPr lang="es-ES" b="1" dirty="0">
                <a:latin typeface="Courier New"/>
                <a:ea typeface="+mn-lt"/>
                <a:cs typeface="+mn-lt"/>
              </a:rPr>
              <a:t> </a:t>
            </a:r>
            <a:r>
              <a:rPr lang="es-ES" b="1" err="1">
                <a:latin typeface="Courier New"/>
                <a:ea typeface="+mn-lt"/>
                <a:cs typeface="+mn-lt"/>
              </a:rPr>
              <a:t>class</a:t>
            </a:r>
            <a:r>
              <a:rPr lang="es-ES" b="1" dirty="0">
                <a:latin typeface="Courier New"/>
                <a:ea typeface="+mn-lt"/>
                <a:cs typeface="+mn-lt"/>
              </a:rPr>
              <a:t>="tarjeta-</a:t>
            </a:r>
            <a:r>
              <a:rPr lang="es-ES" b="1" err="1">
                <a:latin typeface="Courier New"/>
                <a:ea typeface="+mn-lt"/>
                <a:cs typeface="+mn-lt"/>
              </a:rPr>
              <a:t>hover</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&lt;h3&gt;Efecto 3 en 1&lt;/h3&gt;</a:t>
            </a:r>
            <a:br>
              <a:rPr lang="es-ES" b="1" dirty="0">
                <a:latin typeface="Courier New"/>
                <a:ea typeface="+mn-lt"/>
                <a:cs typeface="+mn-lt"/>
              </a:rPr>
            </a:br>
            <a:r>
              <a:rPr lang="es-ES" b="1" dirty="0">
                <a:latin typeface="Courier New"/>
                <a:ea typeface="+mn-lt"/>
                <a:cs typeface="+mn-lt"/>
              </a:rPr>
              <a:t>&lt;/</a:t>
            </a:r>
            <a:r>
              <a:rPr lang="es-ES" b="1" err="1">
                <a:latin typeface="Courier New"/>
                <a:ea typeface="+mn-lt"/>
                <a:cs typeface="+mn-lt"/>
              </a:rPr>
              <a:t>div</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.tarjeta-</a:t>
            </a:r>
            <a:r>
              <a:rPr lang="es-ES" b="1" err="1">
                <a:latin typeface="Courier New"/>
                <a:ea typeface="+mn-lt"/>
                <a:cs typeface="+mn-lt"/>
              </a:rPr>
              <a:t>hover</a:t>
            </a: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width</a:t>
            </a:r>
            <a:r>
              <a:rPr lang="es-ES" b="1" dirty="0">
                <a:latin typeface="Courier New"/>
                <a:ea typeface="+mn-lt"/>
                <a:cs typeface="+mn-lt"/>
              </a:rPr>
              <a:t>: 200px;</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height</a:t>
            </a:r>
            <a:r>
              <a:rPr lang="es-ES" b="1" dirty="0">
                <a:latin typeface="Courier New"/>
                <a:ea typeface="+mn-lt"/>
                <a:cs typeface="+mn-lt"/>
              </a:rPr>
              <a:t>: 150px;</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background</a:t>
            </a:r>
            <a:r>
              <a:rPr lang="es-ES" b="1" dirty="0">
                <a:latin typeface="Courier New"/>
                <a:ea typeface="+mn-lt"/>
                <a:cs typeface="+mn-lt"/>
              </a:rPr>
              <a:t>-color: #28a745;</a:t>
            </a:r>
            <a:br>
              <a:rPr lang="es-ES" b="1" dirty="0">
                <a:latin typeface="Courier New"/>
                <a:ea typeface="+mn-lt"/>
                <a:cs typeface="+mn-lt"/>
              </a:rPr>
            </a:br>
            <a:r>
              <a:rPr lang="es-ES" b="1" dirty="0">
                <a:latin typeface="Courier New"/>
                <a:ea typeface="+mn-lt"/>
                <a:cs typeface="+mn-lt"/>
              </a:rPr>
              <a:t>  color: </a:t>
            </a:r>
            <a:r>
              <a:rPr lang="es-ES" b="1" err="1">
                <a:latin typeface="Courier New"/>
                <a:ea typeface="+mn-lt"/>
                <a:cs typeface="+mn-lt"/>
              </a:rPr>
              <a:t>white</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text-align</a:t>
            </a:r>
            <a:r>
              <a:rPr lang="es-ES" b="1" dirty="0">
                <a:latin typeface="Courier New"/>
                <a:ea typeface="+mn-lt"/>
                <a:cs typeface="+mn-lt"/>
              </a:rPr>
              <a:t>: center;</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padding</a:t>
            </a:r>
            <a:r>
              <a:rPr lang="es-ES" b="1" dirty="0">
                <a:latin typeface="Courier New"/>
                <a:ea typeface="+mn-lt"/>
                <a:cs typeface="+mn-lt"/>
              </a:rPr>
              <a:t>: 20px;</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border-radius</a:t>
            </a:r>
            <a:r>
              <a:rPr lang="es-ES" b="1" dirty="0">
                <a:latin typeface="Courier New"/>
                <a:ea typeface="+mn-lt"/>
                <a:cs typeface="+mn-lt"/>
              </a:rPr>
              <a:t>: 10px;</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transition</a:t>
            </a:r>
            <a:r>
              <a:rPr lang="es-ES" b="1" dirty="0">
                <a:latin typeface="Courier New"/>
                <a:ea typeface="+mn-lt"/>
                <a:cs typeface="+mn-lt"/>
              </a:rPr>
              <a:t>: </a:t>
            </a:r>
            <a:r>
              <a:rPr lang="es-ES" b="1" err="1">
                <a:latin typeface="Courier New"/>
                <a:ea typeface="+mn-lt"/>
                <a:cs typeface="+mn-lt"/>
              </a:rPr>
              <a:t>all</a:t>
            </a:r>
            <a:r>
              <a:rPr lang="es-ES" b="1" dirty="0">
                <a:latin typeface="Courier New"/>
                <a:ea typeface="+mn-lt"/>
                <a:cs typeface="+mn-lt"/>
              </a:rPr>
              <a:t> 0.5s </a:t>
            </a:r>
            <a:r>
              <a:rPr lang="es-ES" b="1" err="1">
                <a:latin typeface="Courier New"/>
                <a:ea typeface="+mn-lt"/>
                <a:cs typeface="+mn-lt"/>
              </a:rPr>
              <a:t>ease</a:t>
            </a:r>
            <a:r>
              <a:rPr lang="es-ES" b="1" dirty="0">
                <a:latin typeface="Courier New"/>
                <a:ea typeface="+mn-lt"/>
                <a:cs typeface="+mn-lt"/>
              </a:rPr>
              <a:t>-</a:t>
            </a:r>
            <a:r>
              <a:rPr lang="es-ES" b="1" err="1">
                <a:latin typeface="Courier New"/>
                <a:ea typeface="+mn-lt"/>
                <a:cs typeface="+mn-lt"/>
              </a:rPr>
              <a:t>in-out</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a:t>
            </a:r>
            <a:r>
              <a:rPr lang="es-ES" b="1" err="1">
                <a:latin typeface="Courier New"/>
                <a:ea typeface="+mn-lt"/>
                <a:cs typeface="+mn-lt"/>
              </a:rPr>
              <a:t>tarjeta-hover:hover</a:t>
            </a: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 Combinación de múltiples transformaciones */</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transform</a:t>
            </a:r>
            <a:r>
              <a:rPr lang="es-ES" b="1" dirty="0">
                <a:latin typeface="Courier New"/>
                <a:ea typeface="+mn-lt"/>
                <a:cs typeface="+mn-lt"/>
              </a:rPr>
              <a:t>: </a:t>
            </a:r>
            <a:r>
              <a:rPr lang="es-ES" b="1" err="1">
                <a:latin typeface="Courier New"/>
                <a:ea typeface="+mn-lt"/>
                <a:cs typeface="+mn-lt"/>
              </a:rPr>
              <a:t>translateY</a:t>
            </a:r>
            <a:r>
              <a:rPr lang="es-ES" b="1" dirty="0">
                <a:latin typeface="Courier New"/>
                <a:ea typeface="+mn-lt"/>
                <a:cs typeface="+mn-lt"/>
              </a:rPr>
              <a:t>(-10px) </a:t>
            </a:r>
            <a:r>
              <a:rPr lang="es-ES" b="1" err="1">
                <a:latin typeface="Courier New"/>
                <a:ea typeface="+mn-lt"/>
                <a:cs typeface="+mn-lt"/>
              </a:rPr>
              <a:t>scale</a:t>
            </a:r>
            <a:r>
              <a:rPr lang="es-ES" b="1" dirty="0">
                <a:latin typeface="Courier New"/>
                <a:ea typeface="+mn-lt"/>
                <a:cs typeface="+mn-lt"/>
              </a:rPr>
              <a:t>(1.1) </a:t>
            </a:r>
            <a:r>
              <a:rPr lang="es-ES" b="1" err="1">
                <a:latin typeface="Courier New"/>
                <a:ea typeface="+mn-lt"/>
                <a:cs typeface="+mn-lt"/>
              </a:rPr>
              <a:t>rotate</a:t>
            </a:r>
            <a:r>
              <a:rPr lang="es-ES" b="1" dirty="0">
                <a:latin typeface="Courier New"/>
                <a:ea typeface="+mn-lt"/>
                <a:cs typeface="+mn-lt"/>
              </a:rPr>
              <a:t>(5deg);</a:t>
            </a:r>
            <a:br>
              <a:rPr lang="es-ES" b="1" dirty="0">
                <a:latin typeface="Courier New"/>
                <a:ea typeface="+mn-lt"/>
                <a:cs typeface="+mn-lt"/>
              </a:rPr>
            </a:br>
            <a:r>
              <a:rPr lang="es-ES" b="1" dirty="0">
                <a:latin typeface="Courier New"/>
                <a:ea typeface="+mn-lt"/>
                <a:cs typeface="+mn-lt"/>
              </a:rPr>
              <a:t>  box-</a:t>
            </a:r>
            <a:r>
              <a:rPr lang="es-ES" b="1" err="1">
                <a:latin typeface="Courier New"/>
                <a:ea typeface="+mn-lt"/>
                <a:cs typeface="+mn-lt"/>
              </a:rPr>
              <a:t>shadow</a:t>
            </a:r>
            <a:r>
              <a:rPr lang="es-ES" b="1" dirty="0">
                <a:latin typeface="Courier New"/>
                <a:ea typeface="+mn-lt"/>
                <a:cs typeface="+mn-lt"/>
              </a:rPr>
              <a:t>: 0 10px 20px </a:t>
            </a:r>
            <a:r>
              <a:rPr lang="es-ES" b="1" err="1">
                <a:latin typeface="Courier New"/>
                <a:ea typeface="+mn-lt"/>
                <a:cs typeface="+mn-lt"/>
              </a:rPr>
              <a:t>rgba</a:t>
            </a:r>
            <a:r>
              <a:rPr lang="es-ES" b="1" dirty="0">
                <a:latin typeface="Courier New"/>
                <a:ea typeface="+mn-lt"/>
                <a:cs typeface="+mn-lt"/>
              </a:rPr>
              <a:t>(0, 0, 0, 0.2);</a:t>
            </a:r>
            <a:br>
              <a:rPr lang="es-ES" b="1" dirty="0">
                <a:latin typeface="Courier New"/>
                <a:ea typeface="+mn-lt"/>
                <a:cs typeface="+mn-lt"/>
              </a:rPr>
            </a:br>
            <a:r>
              <a:rPr lang="es-ES" b="1" dirty="0">
                <a:latin typeface="Courier New"/>
                <a:ea typeface="+mn-lt"/>
                <a:cs typeface="+mn-lt"/>
              </a:rPr>
              <a:t>}</a:t>
            </a:r>
          </a:p>
        </p:txBody>
      </p:sp>
    </p:spTree>
    <p:extLst>
      <p:ext uri="{BB962C8B-B14F-4D97-AF65-F5344CB8AC3E}">
        <p14:creationId xmlns:p14="http://schemas.microsoft.com/office/powerpoint/2010/main" val="2656049120"/>
      </p:ext>
    </p:extLst>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769DEF-EB00-E870-EB00-E303D2F7FFA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1E03E88-0F3B-D9D9-969D-E638A50D6E8F}"/>
              </a:ext>
            </a:extLst>
          </p:cNvPr>
          <p:cNvSpPr>
            <a:spLocks noGrp="1"/>
          </p:cNvSpPr>
          <p:nvPr>
            <p:ph type="title"/>
          </p:nvPr>
        </p:nvSpPr>
        <p:spPr/>
        <p:txBody>
          <a:bodyPr/>
          <a:lstStyle/>
          <a:p>
            <a:r>
              <a:rPr lang="es-ES" b="0" dirty="0">
                <a:ea typeface="+mj-lt"/>
                <a:cs typeface="+mj-lt"/>
              </a:rPr>
              <a:t>2.6. Verificación y compatibilidad</a:t>
            </a:r>
            <a:endParaRPr lang="es-ES" dirty="0"/>
          </a:p>
        </p:txBody>
      </p:sp>
      <p:sp>
        <p:nvSpPr>
          <p:cNvPr id="3" name="Marcador de contenido 2">
            <a:extLst>
              <a:ext uri="{FF2B5EF4-FFF2-40B4-BE49-F238E27FC236}">
                <a16:creationId xmlns:a16="http://schemas.microsoft.com/office/drawing/2014/main" id="{8805A25D-5390-B452-4260-5985F6CAF6F3}"/>
              </a:ext>
            </a:extLst>
          </p:cNvPr>
          <p:cNvSpPr>
            <a:spLocks noGrp="1"/>
          </p:cNvSpPr>
          <p:nvPr>
            <p:ph idx="1"/>
          </p:nvPr>
        </p:nvSpPr>
        <p:spPr/>
        <p:txBody>
          <a:bodyPr vert="horz" lIns="91440" tIns="45720" rIns="91440" bIns="45720" rtlCol="0" anchor="t">
            <a:normAutofit fontScale="85000" lnSpcReduction="20000"/>
          </a:bodyPr>
          <a:lstStyle/>
          <a:p>
            <a:r>
              <a:rPr lang="es-ES" dirty="0">
                <a:ea typeface="+mn-lt"/>
                <a:cs typeface="+mn-lt"/>
              </a:rPr>
              <a:t>La verificación y compatibilidad son pasos cruciales en el desarrollo web. Aunque escribas un CSS impecable, no hay garantía de que se vea exactamente igual en todos los navegadores, dispositivos y sistemas operativos. Cada navegador (Chrome, Firefox, Safari, Edge) tiene su propio motor de renderizado, y los dispositivos tienen diferentes tamaños de pantalla y densidades de píxeles.</a:t>
            </a:r>
            <a:endParaRPr lang="es-ES" dirty="0"/>
          </a:p>
          <a:p>
            <a:r>
              <a:rPr lang="es-ES" dirty="0">
                <a:ea typeface="+mn-lt"/>
                <a:cs typeface="+mn-lt"/>
              </a:rPr>
              <a:t>El objetivo de esta fase es asegurar que tu sitio web se vea y se comporte de forma consistente, o al menos funcionalmente, para la mayor cantidad de usuarios posible. Esto no se trata de hacer que cada píxel sea idéntico, sino de evitar que la experiencia se rompa por completo en ciertos entornos.</a:t>
            </a:r>
            <a:endParaRPr lang="es-ES" dirty="0"/>
          </a:p>
          <a:p>
            <a:r>
              <a:rPr lang="es-ES" dirty="0">
                <a:ea typeface="+mn-lt"/>
                <a:cs typeface="+mn-lt"/>
              </a:rPr>
              <a:t>Las técnicas y herramientas para abordar la compatibilidad son variadas e importantes para un desarrollo profesional:</a:t>
            </a:r>
            <a:endParaRPr lang="es-ES" dirty="0"/>
          </a:p>
          <a:p>
            <a:pPr lvl="1">
              <a:buFont typeface="Courier New" panose="020B0604020202020204" pitchFamily="34" charset="0"/>
              <a:buChar char="o"/>
            </a:pPr>
            <a:r>
              <a:rPr lang="es-ES" dirty="0">
                <a:ea typeface="+mn-lt"/>
                <a:cs typeface="+mn-lt"/>
              </a:rPr>
              <a:t>Herramientas de desarrollo del navegador: Son la primera línea de defensa para inspeccionar y depurar el código CSS en tiempo real.</a:t>
            </a:r>
            <a:endParaRPr lang="es-ES"/>
          </a:p>
          <a:p>
            <a:pPr lvl="1">
              <a:buFont typeface="Courier New" panose="020B0604020202020204" pitchFamily="34" charset="0"/>
              <a:buChar char="o"/>
            </a:pPr>
            <a:r>
              <a:rPr lang="es-ES" dirty="0">
                <a:ea typeface="+mn-lt"/>
                <a:cs typeface="+mn-lt"/>
              </a:rPr>
              <a:t>Prefijos de navegador: Son una forma histórica de lidiar con propiedades experimentales que los navegadores implementan de forma individual.</a:t>
            </a:r>
            <a:endParaRPr lang="es-ES"/>
          </a:p>
          <a:p>
            <a:pPr lvl="1">
              <a:buFont typeface="Courier New" panose="020B0604020202020204" pitchFamily="34" charset="0"/>
              <a:buChar char="o"/>
            </a:pPr>
            <a:r>
              <a:rPr lang="es-ES" dirty="0" err="1">
                <a:ea typeface="+mn-lt"/>
                <a:cs typeface="+mn-lt"/>
              </a:rPr>
              <a:t>Fallbacks</a:t>
            </a:r>
            <a:r>
              <a:rPr lang="es-ES" dirty="0">
                <a:ea typeface="+mn-lt"/>
                <a:cs typeface="+mn-lt"/>
              </a:rPr>
              <a:t> y </a:t>
            </a:r>
            <a:r>
              <a:rPr lang="es-ES" dirty="0" err="1">
                <a:ea typeface="+mn-lt"/>
                <a:cs typeface="+mn-lt"/>
              </a:rPr>
              <a:t>Graceful</a:t>
            </a:r>
            <a:r>
              <a:rPr lang="es-ES" dirty="0">
                <a:ea typeface="+mn-lt"/>
                <a:cs typeface="+mn-lt"/>
              </a:rPr>
              <a:t> </a:t>
            </a:r>
            <a:r>
              <a:rPr lang="es-ES" dirty="0" err="1">
                <a:ea typeface="+mn-lt"/>
                <a:cs typeface="+mn-lt"/>
              </a:rPr>
              <a:t>Degradation</a:t>
            </a:r>
            <a:r>
              <a:rPr lang="es-ES" dirty="0">
                <a:ea typeface="+mn-lt"/>
                <a:cs typeface="+mn-lt"/>
              </a:rPr>
              <a:t>: Son estrategias para proporcionar estilos alternativos cuando una propiedad avanzada no es compatible con un navegador.</a:t>
            </a:r>
            <a:endParaRPr lang="es-ES"/>
          </a:p>
          <a:p>
            <a:pPr lvl="1">
              <a:buFont typeface="Courier New" panose="020B0604020202020204" pitchFamily="34" charset="0"/>
              <a:buChar char="o"/>
            </a:pPr>
            <a:r>
              <a:rPr lang="es-ES" dirty="0" err="1">
                <a:ea typeface="+mn-lt"/>
                <a:cs typeface="+mn-lt"/>
              </a:rPr>
              <a:t>Reset</a:t>
            </a:r>
            <a:r>
              <a:rPr lang="es-ES" dirty="0">
                <a:ea typeface="+mn-lt"/>
                <a:cs typeface="+mn-lt"/>
              </a:rPr>
              <a:t> y Normalización: Son hojas de estilo base que aseguran que todos los navegadores empiecen a renderizar la página desde un punto de partida consistente.</a:t>
            </a:r>
            <a:endParaRPr lang="es-ES"/>
          </a:p>
          <a:p>
            <a:endParaRPr lang="es-ES" dirty="0"/>
          </a:p>
        </p:txBody>
      </p:sp>
    </p:spTree>
    <p:extLst>
      <p:ext uri="{BB962C8B-B14F-4D97-AF65-F5344CB8AC3E}">
        <p14:creationId xmlns:p14="http://schemas.microsoft.com/office/powerpoint/2010/main" val="458531722"/>
      </p:ext>
    </p:extLst>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001E1C-A31F-7F71-8A05-04CD420BDED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D1BB3AC-8852-DF17-296E-F56A5B190FDD}"/>
              </a:ext>
            </a:extLst>
          </p:cNvPr>
          <p:cNvSpPr>
            <a:spLocks noGrp="1"/>
          </p:cNvSpPr>
          <p:nvPr>
            <p:ph type="title"/>
          </p:nvPr>
        </p:nvSpPr>
        <p:spPr/>
        <p:txBody>
          <a:bodyPr/>
          <a:lstStyle/>
          <a:p>
            <a:r>
              <a:rPr lang="es-ES" b="0" dirty="0">
                <a:ea typeface="+mj-lt"/>
                <a:cs typeface="+mj-lt"/>
              </a:rPr>
              <a:t>2.6. Verificación y compatibilidad</a:t>
            </a:r>
            <a:endParaRPr lang="es-ES" dirty="0"/>
          </a:p>
        </p:txBody>
      </p:sp>
      <p:sp>
        <p:nvSpPr>
          <p:cNvPr id="3" name="Marcador de contenido 2">
            <a:extLst>
              <a:ext uri="{FF2B5EF4-FFF2-40B4-BE49-F238E27FC236}">
                <a16:creationId xmlns:a16="http://schemas.microsoft.com/office/drawing/2014/main" id="{6F6F5CA7-1EA3-D112-5942-CB00FC308A4D}"/>
              </a:ext>
            </a:extLst>
          </p:cNvPr>
          <p:cNvSpPr>
            <a:spLocks noGrp="1"/>
          </p:cNvSpPr>
          <p:nvPr>
            <p:ph idx="1"/>
          </p:nvPr>
        </p:nvSpPr>
        <p:spPr/>
        <p:txBody>
          <a:bodyPr vert="horz" lIns="91440" tIns="45720" rIns="91440" bIns="45720" rtlCol="0" anchor="t">
            <a:normAutofit fontScale="92500" lnSpcReduction="20000"/>
          </a:bodyPr>
          <a:lstStyle/>
          <a:p>
            <a:r>
              <a:rPr lang="es-ES" dirty="0">
                <a:ea typeface="+mn-lt"/>
                <a:cs typeface="+mn-lt"/>
              </a:rPr>
              <a:t>Ejemplo de un problema de compatibilidad. Imagina que quieres usar la propiedad </a:t>
            </a:r>
            <a:r>
              <a:rPr lang="es-ES" dirty="0" err="1">
                <a:ea typeface="+mn-lt"/>
                <a:cs typeface="+mn-lt"/>
              </a:rPr>
              <a:t>filter</a:t>
            </a:r>
            <a:r>
              <a:rPr lang="es-ES" dirty="0">
                <a:ea typeface="+mn-lt"/>
                <a:cs typeface="+mn-lt"/>
              </a:rPr>
              <a:t> para aplicar un efecto de sombra a una imagen, pero te das cuenta de que no funciona en una versión antigua de un navegador.</a:t>
            </a:r>
          </a:p>
          <a:p>
            <a:pPr marL="0" indent="0">
              <a:buNone/>
            </a:pPr>
            <a:r>
              <a:rPr lang="es-ES" b="1" dirty="0">
                <a:latin typeface="Courier New"/>
                <a:ea typeface="+mn-lt"/>
                <a:cs typeface="+mn-lt"/>
              </a:rPr>
              <a:t>&lt;</a:t>
            </a:r>
            <a:r>
              <a:rPr lang="es-ES" b="1" err="1">
                <a:latin typeface="Courier New"/>
                <a:ea typeface="+mn-lt"/>
                <a:cs typeface="+mn-lt"/>
              </a:rPr>
              <a:t>img</a:t>
            </a:r>
            <a:r>
              <a:rPr lang="es-ES" b="1" dirty="0">
                <a:latin typeface="Courier New"/>
                <a:ea typeface="+mn-lt"/>
                <a:cs typeface="+mn-lt"/>
              </a:rPr>
              <a:t> </a:t>
            </a:r>
            <a:r>
              <a:rPr lang="es-ES" b="1" err="1">
                <a:latin typeface="Courier New"/>
                <a:ea typeface="+mn-lt"/>
                <a:cs typeface="+mn-lt"/>
              </a:rPr>
              <a:t>src</a:t>
            </a:r>
            <a:r>
              <a:rPr lang="es-ES" b="1" dirty="0">
                <a:latin typeface="Courier New"/>
                <a:ea typeface="+mn-lt"/>
                <a:cs typeface="+mn-lt"/>
              </a:rPr>
              <a:t>="foto.jpg" </a:t>
            </a:r>
            <a:r>
              <a:rPr lang="es-ES" b="1" err="1">
                <a:latin typeface="Courier New"/>
                <a:ea typeface="+mn-lt"/>
                <a:cs typeface="+mn-lt"/>
              </a:rPr>
              <a:t>class</a:t>
            </a:r>
            <a:r>
              <a:rPr lang="es-ES" b="1" dirty="0">
                <a:latin typeface="Courier New"/>
                <a:ea typeface="+mn-lt"/>
                <a:cs typeface="+mn-lt"/>
              </a:rPr>
              <a:t>="foto-filtrada"&gt;</a:t>
            </a:r>
            <a:br>
              <a:rPr lang="es-ES" b="1" dirty="0">
                <a:latin typeface="Courier New"/>
                <a:ea typeface="+mn-lt"/>
                <a:cs typeface="+mn-lt"/>
              </a:rPr>
            </a:br>
            <a:r>
              <a:rPr lang="es-ES" b="1" dirty="0">
                <a:latin typeface="Courier New"/>
                <a:ea typeface="+mn-lt"/>
                <a:cs typeface="+mn-lt"/>
              </a:rPr>
              <a:t>/* Esto funciona en navegadores modernos */</a:t>
            </a:r>
            <a:br>
              <a:rPr lang="es-ES" b="1" dirty="0">
                <a:latin typeface="Courier New"/>
                <a:ea typeface="+mn-lt"/>
                <a:cs typeface="+mn-lt"/>
              </a:rPr>
            </a:br>
            <a:r>
              <a:rPr lang="es-ES" b="1" dirty="0">
                <a:latin typeface="Courier New"/>
                <a:ea typeface="+mn-lt"/>
                <a:cs typeface="+mn-lt"/>
              </a:rPr>
              <a:t>.foto-filtrada {</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filter</a:t>
            </a:r>
            <a:r>
              <a:rPr lang="es-ES" b="1" dirty="0">
                <a:latin typeface="Courier New"/>
                <a:ea typeface="+mn-lt"/>
                <a:cs typeface="+mn-lt"/>
              </a:rPr>
              <a:t>: </a:t>
            </a:r>
            <a:r>
              <a:rPr lang="es-ES" b="1" err="1">
                <a:latin typeface="Courier New"/>
                <a:ea typeface="+mn-lt"/>
                <a:cs typeface="+mn-lt"/>
              </a:rPr>
              <a:t>drop-shadow</a:t>
            </a:r>
            <a:r>
              <a:rPr lang="es-ES" b="1" dirty="0">
                <a:latin typeface="Courier New"/>
                <a:ea typeface="+mn-lt"/>
                <a:cs typeface="+mn-lt"/>
              </a:rPr>
              <a:t>(5px </a:t>
            </a:r>
            <a:r>
              <a:rPr lang="es-ES" b="1" err="1">
                <a:latin typeface="Courier New"/>
                <a:ea typeface="+mn-lt"/>
                <a:cs typeface="+mn-lt"/>
              </a:rPr>
              <a:t>5px</a:t>
            </a:r>
            <a:r>
              <a:rPr lang="es-ES" b="1" dirty="0">
                <a:latin typeface="Courier New"/>
                <a:ea typeface="+mn-lt"/>
                <a:cs typeface="+mn-lt"/>
              </a:rPr>
              <a:t> </a:t>
            </a:r>
            <a:r>
              <a:rPr lang="es-ES" b="1" err="1">
                <a:latin typeface="Courier New"/>
                <a:ea typeface="+mn-lt"/>
                <a:cs typeface="+mn-lt"/>
              </a:rPr>
              <a:t>5px</a:t>
            </a:r>
            <a:r>
              <a:rPr lang="es-ES" b="1" dirty="0">
                <a:latin typeface="Courier New"/>
                <a:ea typeface="+mn-lt"/>
                <a:cs typeface="+mn-lt"/>
              </a:rPr>
              <a:t> </a:t>
            </a:r>
            <a:r>
              <a:rPr lang="es-ES" b="1" err="1">
                <a:latin typeface="Courier New"/>
                <a:ea typeface="+mn-lt"/>
                <a:cs typeface="+mn-lt"/>
              </a:rPr>
              <a:t>rgba</a:t>
            </a:r>
            <a:r>
              <a:rPr lang="es-ES" b="1" dirty="0">
                <a:latin typeface="Courier New"/>
                <a:ea typeface="+mn-lt"/>
                <a:cs typeface="+mn-lt"/>
              </a:rPr>
              <a:t>(0,0,0,0.5));</a:t>
            </a:r>
            <a:br>
              <a:rPr lang="es-ES" b="1" dirty="0">
                <a:latin typeface="Courier New"/>
                <a:ea typeface="+mn-lt"/>
                <a:cs typeface="+mn-lt"/>
              </a:rPr>
            </a:br>
            <a:r>
              <a:rPr lang="es-ES" b="1" dirty="0">
                <a:latin typeface="Courier New"/>
                <a:ea typeface="+mn-lt"/>
                <a:cs typeface="+mn-lt"/>
              </a:rPr>
              <a:t>}</a:t>
            </a:r>
            <a:endParaRPr lang="es-ES" b="1" dirty="0">
              <a:latin typeface="Courier New"/>
              <a:cs typeface="Courier New"/>
            </a:endParaRPr>
          </a:p>
          <a:p>
            <a:r>
              <a:rPr lang="es-ES" dirty="0">
                <a:ea typeface="+mn-lt"/>
                <a:cs typeface="+mn-lt"/>
              </a:rPr>
              <a:t>En este caso, si el navegador del usuario no soporta </a:t>
            </a:r>
            <a:r>
              <a:rPr lang="es-ES" dirty="0" err="1">
                <a:ea typeface="+mn-lt"/>
                <a:cs typeface="+mn-lt"/>
              </a:rPr>
              <a:t>filter</a:t>
            </a:r>
            <a:r>
              <a:rPr lang="es-ES" dirty="0">
                <a:ea typeface="+mn-lt"/>
                <a:cs typeface="+mn-lt"/>
              </a:rPr>
              <a:t>, simplemente no verá el efecto de sombra. La solución sería proporcionar una alternativa (un </a:t>
            </a:r>
            <a:r>
              <a:rPr lang="es-ES" dirty="0" err="1">
                <a:ea typeface="+mn-lt"/>
                <a:cs typeface="+mn-lt"/>
              </a:rPr>
              <a:t>fallback</a:t>
            </a:r>
            <a:r>
              <a:rPr lang="es-ES" dirty="0">
                <a:ea typeface="+mn-lt"/>
                <a:cs typeface="+mn-lt"/>
              </a:rPr>
              <a:t>), como la propiedad box-</a:t>
            </a:r>
            <a:r>
              <a:rPr lang="es-ES" dirty="0" err="1">
                <a:ea typeface="+mn-lt"/>
                <a:cs typeface="+mn-lt"/>
              </a:rPr>
              <a:t>shadow</a:t>
            </a:r>
            <a:r>
              <a:rPr lang="es-ES" dirty="0">
                <a:ea typeface="+mn-lt"/>
                <a:cs typeface="+mn-lt"/>
              </a:rPr>
              <a:t>, que es mucho más compatible.</a:t>
            </a:r>
          </a:p>
          <a:p>
            <a:pPr marL="0" indent="0">
              <a:buNone/>
            </a:pPr>
            <a:r>
              <a:rPr lang="es-ES" b="1" dirty="0">
                <a:latin typeface="Courier New"/>
                <a:ea typeface="+mn-lt"/>
                <a:cs typeface="+mn-lt"/>
              </a:rPr>
              <a:t>/* El </a:t>
            </a:r>
            <a:r>
              <a:rPr lang="es-ES" b="1" err="1">
                <a:latin typeface="Courier New"/>
                <a:ea typeface="+mn-lt"/>
                <a:cs typeface="+mn-lt"/>
              </a:rPr>
              <a:t>fallback</a:t>
            </a:r>
            <a:r>
              <a:rPr lang="es-ES" b="1" dirty="0">
                <a:latin typeface="Courier New"/>
                <a:ea typeface="+mn-lt"/>
                <a:cs typeface="+mn-lt"/>
              </a:rPr>
              <a:t> para navegadores antiguos */</a:t>
            </a:r>
            <a:br>
              <a:rPr lang="es-ES" b="1" dirty="0">
                <a:latin typeface="Courier New"/>
                <a:ea typeface="+mn-lt"/>
                <a:cs typeface="+mn-lt"/>
              </a:rPr>
            </a:br>
            <a:r>
              <a:rPr lang="es-ES" b="1" dirty="0">
                <a:latin typeface="Courier New"/>
                <a:ea typeface="+mn-lt"/>
                <a:cs typeface="+mn-lt"/>
              </a:rPr>
              <a:t>.foto-filtrada {</a:t>
            </a:r>
            <a:br>
              <a:rPr lang="es-ES" b="1" dirty="0">
                <a:latin typeface="Courier New"/>
                <a:ea typeface="+mn-lt"/>
                <a:cs typeface="+mn-lt"/>
              </a:rPr>
            </a:br>
            <a:r>
              <a:rPr lang="es-ES" b="1" dirty="0">
                <a:latin typeface="Courier New"/>
                <a:ea typeface="+mn-lt"/>
                <a:cs typeface="+mn-lt"/>
              </a:rPr>
              <a:t>  -webkit-box-</a:t>
            </a:r>
            <a:r>
              <a:rPr lang="es-ES" b="1" err="1">
                <a:latin typeface="Courier New"/>
                <a:ea typeface="+mn-lt"/>
                <a:cs typeface="+mn-lt"/>
              </a:rPr>
              <a:t>shadow</a:t>
            </a:r>
            <a:r>
              <a:rPr lang="es-ES" b="1" dirty="0">
                <a:latin typeface="Courier New"/>
                <a:ea typeface="+mn-lt"/>
                <a:cs typeface="+mn-lt"/>
              </a:rPr>
              <a:t>: 5px </a:t>
            </a:r>
            <a:r>
              <a:rPr lang="es-ES" b="1" err="1">
                <a:latin typeface="Courier New"/>
                <a:ea typeface="+mn-lt"/>
                <a:cs typeface="+mn-lt"/>
              </a:rPr>
              <a:t>5px</a:t>
            </a:r>
            <a:r>
              <a:rPr lang="es-ES" b="1" dirty="0">
                <a:latin typeface="Courier New"/>
                <a:ea typeface="+mn-lt"/>
                <a:cs typeface="+mn-lt"/>
              </a:rPr>
              <a:t> </a:t>
            </a:r>
            <a:r>
              <a:rPr lang="es-ES" b="1" err="1">
                <a:latin typeface="Courier New"/>
                <a:ea typeface="+mn-lt"/>
                <a:cs typeface="+mn-lt"/>
              </a:rPr>
              <a:t>5px</a:t>
            </a:r>
            <a:r>
              <a:rPr lang="es-ES" b="1" dirty="0">
                <a:latin typeface="Courier New"/>
                <a:ea typeface="+mn-lt"/>
                <a:cs typeface="+mn-lt"/>
              </a:rPr>
              <a:t> </a:t>
            </a:r>
            <a:r>
              <a:rPr lang="es-ES" b="1" err="1">
                <a:latin typeface="Courier New"/>
                <a:ea typeface="+mn-lt"/>
                <a:cs typeface="+mn-lt"/>
              </a:rPr>
              <a:t>rgba</a:t>
            </a:r>
            <a:r>
              <a:rPr lang="es-ES" b="1" dirty="0">
                <a:latin typeface="Courier New"/>
                <a:ea typeface="+mn-lt"/>
                <a:cs typeface="+mn-lt"/>
              </a:rPr>
              <a:t>(0,0,0,0.5); /* Prefijo para Webkit */</a:t>
            </a:r>
            <a:br>
              <a:rPr lang="es-ES" b="1" dirty="0">
                <a:latin typeface="Courier New"/>
                <a:ea typeface="+mn-lt"/>
                <a:cs typeface="+mn-lt"/>
              </a:rPr>
            </a:br>
            <a:r>
              <a:rPr lang="es-ES" b="1" dirty="0">
                <a:latin typeface="Courier New"/>
                <a:ea typeface="+mn-lt"/>
                <a:cs typeface="+mn-lt"/>
              </a:rPr>
              <a:t>  box-</a:t>
            </a:r>
            <a:r>
              <a:rPr lang="es-ES" b="1" err="1">
                <a:latin typeface="Courier New"/>
                <a:ea typeface="+mn-lt"/>
                <a:cs typeface="+mn-lt"/>
              </a:rPr>
              <a:t>shadow</a:t>
            </a:r>
            <a:r>
              <a:rPr lang="es-ES" b="1" dirty="0">
                <a:latin typeface="Courier New"/>
                <a:ea typeface="+mn-lt"/>
                <a:cs typeface="+mn-lt"/>
              </a:rPr>
              <a:t>: 5px </a:t>
            </a:r>
            <a:r>
              <a:rPr lang="es-ES" b="1" err="1">
                <a:latin typeface="Courier New"/>
                <a:ea typeface="+mn-lt"/>
                <a:cs typeface="+mn-lt"/>
              </a:rPr>
              <a:t>5px</a:t>
            </a:r>
            <a:r>
              <a:rPr lang="es-ES" b="1" dirty="0">
                <a:latin typeface="Courier New"/>
                <a:ea typeface="+mn-lt"/>
                <a:cs typeface="+mn-lt"/>
              </a:rPr>
              <a:t> </a:t>
            </a:r>
            <a:r>
              <a:rPr lang="es-ES" b="1" err="1">
                <a:latin typeface="Courier New"/>
                <a:ea typeface="+mn-lt"/>
                <a:cs typeface="+mn-lt"/>
              </a:rPr>
              <a:t>5px</a:t>
            </a:r>
            <a:r>
              <a:rPr lang="es-ES" b="1" dirty="0">
                <a:latin typeface="Courier New"/>
                <a:ea typeface="+mn-lt"/>
                <a:cs typeface="+mn-lt"/>
              </a:rPr>
              <a:t> </a:t>
            </a:r>
            <a:r>
              <a:rPr lang="es-ES" b="1" err="1">
                <a:latin typeface="Courier New"/>
                <a:ea typeface="+mn-lt"/>
                <a:cs typeface="+mn-lt"/>
              </a:rPr>
              <a:t>rgba</a:t>
            </a:r>
            <a:r>
              <a:rPr lang="es-ES" b="1" dirty="0">
                <a:latin typeface="Courier New"/>
                <a:ea typeface="+mn-lt"/>
                <a:cs typeface="+mn-lt"/>
              </a:rPr>
              <a:t>(0,0,0,0.5);</a:t>
            </a:r>
            <a:br>
              <a:rPr lang="es-ES" b="1" dirty="0">
                <a:latin typeface="Courier New"/>
                <a:ea typeface="+mn-lt"/>
                <a:cs typeface="+mn-lt"/>
              </a:rPr>
            </a:br>
            <a:r>
              <a:rPr lang="es-ES" b="1" dirty="0">
                <a:latin typeface="Courier New"/>
                <a:ea typeface="+mn-lt"/>
                <a:cs typeface="+mn-lt"/>
              </a:rPr>
              <a:t>}</a:t>
            </a:r>
            <a:endParaRPr lang="es-ES" b="1" dirty="0">
              <a:latin typeface="Courier New"/>
              <a:cs typeface="Courier New"/>
            </a:endParaRPr>
          </a:p>
          <a:p>
            <a:endParaRPr lang="es-ES" dirty="0"/>
          </a:p>
          <a:p>
            <a:endParaRPr lang="es-ES" dirty="0"/>
          </a:p>
        </p:txBody>
      </p:sp>
    </p:spTree>
    <p:extLst>
      <p:ext uri="{BB962C8B-B14F-4D97-AF65-F5344CB8AC3E}">
        <p14:creationId xmlns:p14="http://schemas.microsoft.com/office/powerpoint/2010/main" val="3549638504"/>
      </p:ext>
    </p:extLst>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3CDEE5-1A66-149C-EDF8-35FE8A965D2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EC5DA15-E8FC-04E9-5568-D52675A221C1}"/>
              </a:ext>
            </a:extLst>
          </p:cNvPr>
          <p:cNvSpPr>
            <a:spLocks noGrp="1"/>
          </p:cNvSpPr>
          <p:nvPr>
            <p:ph type="title"/>
          </p:nvPr>
        </p:nvSpPr>
        <p:spPr/>
        <p:txBody>
          <a:bodyPr/>
          <a:lstStyle/>
          <a:p>
            <a:r>
              <a:rPr lang="es-ES" b="0" dirty="0">
                <a:ea typeface="+mj-lt"/>
                <a:cs typeface="+mj-lt"/>
              </a:rPr>
              <a:t>2.6.1. Herramientas de testeo de estilos.</a:t>
            </a:r>
            <a:endParaRPr lang="es-ES" dirty="0"/>
          </a:p>
        </p:txBody>
      </p:sp>
      <p:sp>
        <p:nvSpPr>
          <p:cNvPr id="3" name="Marcador de contenido 2">
            <a:extLst>
              <a:ext uri="{FF2B5EF4-FFF2-40B4-BE49-F238E27FC236}">
                <a16:creationId xmlns:a16="http://schemas.microsoft.com/office/drawing/2014/main" id="{637B0B51-7995-FF07-D095-647089A4BD33}"/>
              </a:ext>
            </a:extLst>
          </p:cNvPr>
          <p:cNvSpPr>
            <a:spLocks noGrp="1"/>
          </p:cNvSpPr>
          <p:nvPr>
            <p:ph idx="1"/>
          </p:nvPr>
        </p:nvSpPr>
        <p:spPr/>
        <p:txBody>
          <a:bodyPr vert="horz" lIns="91440" tIns="45720" rIns="91440" bIns="45720" rtlCol="0" anchor="t">
            <a:normAutofit fontScale="92500" lnSpcReduction="20000"/>
          </a:bodyPr>
          <a:lstStyle/>
          <a:p>
            <a:r>
              <a:rPr lang="es-ES" dirty="0">
                <a:ea typeface="+mn-lt"/>
                <a:cs typeface="+mn-lt"/>
              </a:rPr>
              <a:t>Las herramientas de testeo de estilos son funcionalidades integradas en los navegadores web que permiten a los desarrolladores inspeccionar, depurar y modificar el CSS en tiempo real. Son la primera y más importante línea de defensa para comprender cómo el navegador interpreta y renderiza tus hojas de estilo. La más conocida y utilizada es el Inspector de Elementos o Herramientas de Desarrollador, disponible en todos los navegadores modernos como Chrome, Firefox, Edge y Safari.</a:t>
            </a:r>
            <a:endParaRPr lang="es-ES" dirty="0"/>
          </a:p>
          <a:p>
            <a:r>
              <a:rPr lang="es-ES" dirty="0">
                <a:ea typeface="+mn-lt"/>
                <a:cs typeface="+mn-lt"/>
              </a:rPr>
              <a:t>El Inspector de Elementos es una suite completa de herramientas, pero nos centraremos en las que son cruciales para el CSS.</a:t>
            </a:r>
            <a:endParaRPr lang="es-ES" dirty="0"/>
          </a:p>
          <a:p>
            <a:pPr lvl="1">
              <a:buFont typeface="Courier New" panose="020B0604020202020204" pitchFamily="34" charset="0"/>
              <a:buChar char="o"/>
            </a:pPr>
            <a:r>
              <a:rPr lang="es-ES" dirty="0">
                <a:ea typeface="+mn-lt"/>
                <a:cs typeface="+mn-lt"/>
              </a:rPr>
              <a:t>Panel de Estilos: Es el corazón de la depuración de CSS. Cuando seleccionas un elemento en el árbol del DOM, este panel muestra todas las reglas de estilo que se le aplican.</a:t>
            </a:r>
            <a:endParaRPr lang="es-ES" dirty="0"/>
          </a:p>
          <a:p>
            <a:pPr lvl="1">
              <a:buFont typeface="Courier New" panose="020B0604020202020204" pitchFamily="34" charset="0"/>
              <a:buChar char="o"/>
            </a:pPr>
            <a:r>
              <a:rPr lang="es-ES" dirty="0">
                <a:ea typeface="+mn-lt"/>
                <a:cs typeface="+mn-lt"/>
              </a:rPr>
              <a:t>Visualización de la cascada: Te muestra el orden de las reglas, desde las más genéricas hasta las más específicas. Puedes ver qué reglas se están aplicando y cuáles han sido tachadas por una regla de mayor especificidad.</a:t>
            </a:r>
            <a:endParaRPr lang="es-ES"/>
          </a:p>
          <a:p>
            <a:pPr lvl="1">
              <a:buFont typeface="Courier New" panose="020B0604020202020204" pitchFamily="34" charset="0"/>
              <a:buChar char="o"/>
            </a:pPr>
            <a:r>
              <a:rPr lang="es-ES" dirty="0">
                <a:ea typeface="+mn-lt"/>
                <a:cs typeface="+mn-lt"/>
              </a:rPr>
              <a:t>Orígenes de los estilos: Indica de qué archivo CSS y en qué línea proviene cada regla, lo que te permite ir directamente al código fuente para hacer cambios.</a:t>
            </a:r>
            <a:endParaRPr lang="es-ES"/>
          </a:p>
          <a:p>
            <a:pPr lvl="1">
              <a:buFont typeface="Courier New" panose="020B0604020202020204" pitchFamily="34" charset="0"/>
              <a:buChar char="o"/>
            </a:pPr>
            <a:r>
              <a:rPr lang="es-ES" dirty="0">
                <a:ea typeface="+mn-lt"/>
                <a:cs typeface="+mn-lt"/>
              </a:rPr>
              <a:t>Modificación en tiempo real: Te permite añadir, desactivar o modificar propiedades de CSS directamente en el navegador. Esto es invaluable para probar rápidamente diferentes estilos sin tener que recargar la página.</a:t>
            </a:r>
            <a:endParaRPr lang="es-ES"/>
          </a:p>
          <a:p>
            <a:endParaRPr lang="es-ES" dirty="0"/>
          </a:p>
        </p:txBody>
      </p:sp>
    </p:spTree>
    <p:extLst>
      <p:ext uri="{BB962C8B-B14F-4D97-AF65-F5344CB8AC3E}">
        <p14:creationId xmlns:p14="http://schemas.microsoft.com/office/powerpoint/2010/main" val="393840122"/>
      </p:ext>
    </p:extLst>
  </p:cSld>
  <p:clrMapOvr>
    <a:masterClrMapping/>
  </p:clrMapOvr>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76630-0F9E-1EFB-8B95-4280DA37C22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BD4EE1D-9C88-C2DD-22E0-5C7A2E0DB969}"/>
              </a:ext>
            </a:extLst>
          </p:cNvPr>
          <p:cNvSpPr>
            <a:spLocks noGrp="1"/>
          </p:cNvSpPr>
          <p:nvPr>
            <p:ph type="title"/>
          </p:nvPr>
        </p:nvSpPr>
        <p:spPr/>
        <p:txBody>
          <a:bodyPr/>
          <a:lstStyle/>
          <a:p>
            <a:r>
              <a:rPr lang="es-ES" b="0" dirty="0">
                <a:ea typeface="+mj-lt"/>
                <a:cs typeface="+mj-lt"/>
              </a:rPr>
              <a:t>2.6.1. Herramientas de testeo de estilos.</a:t>
            </a:r>
            <a:endParaRPr lang="es-ES" dirty="0"/>
          </a:p>
        </p:txBody>
      </p:sp>
      <p:sp>
        <p:nvSpPr>
          <p:cNvPr id="3" name="Marcador de contenido 2">
            <a:extLst>
              <a:ext uri="{FF2B5EF4-FFF2-40B4-BE49-F238E27FC236}">
                <a16:creationId xmlns:a16="http://schemas.microsoft.com/office/drawing/2014/main" id="{BB5A23E3-8828-B25E-B85B-3C8A55445E62}"/>
              </a:ext>
            </a:extLst>
          </p:cNvPr>
          <p:cNvSpPr>
            <a:spLocks noGrp="1"/>
          </p:cNvSpPr>
          <p:nvPr>
            <p:ph idx="1"/>
          </p:nvPr>
        </p:nvSpPr>
        <p:spPr/>
        <p:txBody>
          <a:bodyPr vert="horz" lIns="91440" tIns="45720" rIns="91440" bIns="45720" rtlCol="0" anchor="t">
            <a:normAutofit fontScale="85000" lnSpcReduction="20000"/>
          </a:bodyPr>
          <a:lstStyle/>
          <a:p>
            <a:pPr lvl="1">
              <a:buFont typeface="Courier New" panose="020B0604020202020204" pitchFamily="34" charset="0"/>
              <a:buChar char="o"/>
            </a:pPr>
            <a:r>
              <a:rPr lang="es-ES" dirty="0">
                <a:ea typeface="+mn-lt"/>
                <a:cs typeface="+mn-lt"/>
              </a:rPr>
              <a:t>Modelo de Caja (Box </a:t>
            </a:r>
            <a:r>
              <a:rPr lang="es-ES" dirty="0" err="1">
                <a:ea typeface="+mn-lt"/>
                <a:cs typeface="+mn-lt"/>
              </a:rPr>
              <a:t>Model</a:t>
            </a:r>
            <a:r>
              <a:rPr lang="es-ES" dirty="0">
                <a:ea typeface="+mn-lt"/>
                <a:cs typeface="+mn-lt"/>
              </a:rPr>
              <a:t>): Debajo del panel de estilos, se encuentra una representación visual del modelo de caja. Esta herramienta te ayuda a entender las dimensiones, el </a:t>
            </a:r>
            <a:r>
              <a:rPr lang="es-ES" dirty="0" err="1">
                <a:ea typeface="+mn-lt"/>
                <a:cs typeface="+mn-lt"/>
              </a:rPr>
              <a:t>padding</a:t>
            </a:r>
            <a:r>
              <a:rPr lang="es-ES" dirty="0">
                <a:ea typeface="+mn-lt"/>
                <a:cs typeface="+mn-lt"/>
              </a:rPr>
              <a:t>, el </a:t>
            </a:r>
            <a:r>
              <a:rPr lang="es-ES" dirty="0" err="1">
                <a:ea typeface="+mn-lt"/>
                <a:cs typeface="+mn-lt"/>
              </a:rPr>
              <a:t>border</a:t>
            </a:r>
            <a:r>
              <a:rPr lang="es-ES" dirty="0">
                <a:ea typeface="+mn-lt"/>
                <a:cs typeface="+mn-lt"/>
              </a:rPr>
              <a:t> y el </a:t>
            </a:r>
            <a:r>
              <a:rPr lang="es-ES" dirty="0" err="1">
                <a:ea typeface="+mn-lt"/>
                <a:cs typeface="+mn-lt"/>
              </a:rPr>
              <a:t>margin</a:t>
            </a:r>
            <a:r>
              <a:rPr lang="es-ES" dirty="0">
                <a:ea typeface="+mn-lt"/>
                <a:cs typeface="+mn-lt"/>
              </a:rPr>
              <a:t> de un elemento, lo cual es fundamental para corregir problemas de maquetación y espaciado.</a:t>
            </a:r>
            <a:endParaRPr lang="es-ES" dirty="0"/>
          </a:p>
          <a:p>
            <a:pPr lvl="1">
              <a:buFont typeface="Courier New" panose="020B0604020202020204" pitchFamily="34" charset="0"/>
              <a:buChar char="o"/>
            </a:pPr>
            <a:r>
              <a:rPr lang="es-ES" dirty="0">
                <a:ea typeface="+mn-lt"/>
                <a:cs typeface="+mn-lt"/>
              </a:rPr>
              <a:t>Modo de diseño adaptativo (Responsive </a:t>
            </a:r>
            <a:r>
              <a:rPr lang="es-ES" dirty="0" err="1">
                <a:ea typeface="+mn-lt"/>
                <a:cs typeface="+mn-lt"/>
              </a:rPr>
              <a:t>Design</a:t>
            </a:r>
            <a:r>
              <a:rPr lang="es-ES" dirty="0">
                <a:ea typeface="+mn-lt"/>
                <a:cs typeface="+mn-lt"/>
              </a:rPr>
              <a:t> </a:t>
            </a:r>
            <a:r>
              <a:rPr lang="es-ES" dirty="0" err="1">
                <a:ea typeface="+mn-lt"/>
                <a:cs typeface="+mn-lt"/>
              </a:rPr>
              <a:t>Mode</a:t>
            </a:r>
            <a:r>
              <a:rPr lang="es-ES" dirty="0">
                <a:ea typeface="+mn-lt"/>
                <a:cs typeface="+mn-lt"/>
              </a:rPr>
              <a:t>): Esta funcionalidad te permite simular diferentes tamaños de pantalla y dispositivos móviles para ver cómo se comporta tu CSS responsivo. Es una forma rápida de verificar si los media </a:t>
            </a:r>
            <a:r>
              <a:rPr lang="es-ES" dirty="0" err="1">
                <a:ea typeface="+mn-lt"/>
                <a:cs typeface="+mn-lt"/>
              </a:rPr>
              <a:t>queries</a:t>
            </a:r>
            <a:r>
              <a:rPr lang="es-ES" dirty="0">
                <a:ea typeface="+mn-lt"/>
                <a:cs typeface="+mn-lt"/>
              </a:rPr>
              <a:t> funcionan como se espera.</a:t>
            </a:r>
          </a:p>
          <a:p>
            <a:r>
              <a:rPr lang="es-ES" dirty="0">
                <a:ea typeface="+mn-lt"/>
                <a:cs typeface="+mn-lt"/>
              </a:rPr>
              <a:t>Imagina que un </a:t>
            </a:r>
            <a:r>
              <a:rPr lang="es-ES" dirty="0" err="1">
                <a:ea typeface="+mn-lt"/>
                <a:cs typeface="+mn-lt"/>
              </a:rPr>
              <a:t>div</a:t>
            </a:r>
            <a:r>
              <a:rPr lang="es-ES" dirty="0">
                <a:ea typeface="+mn-lt"/>
                <a:cs typeface="+mn-lt"/>
              </a:rPr>
              <a:t> no tiene el margen inferior que le has asignado. Usarías las herramientas de testeo de esta manera:</a:t>
            </a:r>
            <a:endParaRPr lang="es-ES" dirty="0"/>
          </a:p>
          <a:p>
            <a:pPr lvl="1">
              <a:buFont typeface="Courier New" panose="020B0604020202020204" pitchFamily="34" charset="0"/>
              <a:buChar char="o"/>
            </a:pPr>
            <a:r>
              <a:rPr lang="es-ES" dirty="0">
                <a:ea typeface="+mn-lt"/>
                <a:cs typeface="+mn-lt"/>
              </a:rPr>
              <a:t>Seleccionar el elemento: Haces clic derecho en el </a:t>
            </a:r>
            <a:r>
              <a:rPr lang="es-ES" dirty="0" err="1">
                <a:ea typeface="+mn-lt"/>
                <a:cs typeface="+mn-lt"/>
              </a:rPr>
              <a:t>div</a:t>
            </a:r>
            <a:r>
              <a:rPr lang="es-ES" dirty="0">
                <a:ea typeface="+mn-lt"/>
                <a:cs typeface="+mn-lt"/>
              </a:rPr>
              <a:t> y seleccionas "Inspeccionar".</a:t>
            </a:r>
            <a:endParaRPr lang="es-ES" dirty="0"/>
          </a:p>
          <a:p>
            <a:pPr lvl="1">
              <a:buFont typeface="Courier New" panose="020B0604020202020204" pitchFamily="34" charset="0"/>
              <a:buChar char="o"/>
            </a:pPr>
            <a:r>
              <a:rPr lang="es-ES" dirty="0">
                <a:ea typeface="+mn-lt"/>
                <a:cs typeface="+mn-lt"/>
              </a:rPr>
              <a:t>Verificar el panel de Estilos: Buscas la propiedad </a:t>
            </a:r>
            <a:r>
              <a:rPr lang="es-ES" dirty="0" err="1">
                <a:ea typeface="+mn-lt"/>
                <a:cs typeface="+mn-lt"/>
              </a:rPr>
              <a:t>margin</a:t>
            </a:r>
            <a:r>
              <a:rPr lang="es-ES" dirty="0">
                <a:ea typeface="+mn-lt"/>
                <a:cs typeface="+mn-lt"/>
              </a:rPr>
              <a:t>-bottom en la lista. Si no está, significa que la regla no se está aplicando. Si está tachada, significa que otra regla la está sobrescribiendo.</a:t>
            </a:r>
          </a:p>
          <a:p>
            <a:pPr lvl="1">
              <a:buFont typeface="Courier New" panose="020B0604020202020204" pitchFamily="34" charset="0"/>
              <a:buChar char="o"/>
            </a:pPr>
            <a:r>
              <a:rPr lang="es-ES" dirty="0">
                <a:ea typeface="+mn-lt"/>
                <a:cs typeface="+mn-lt"/>
              </a:rPr>
              <a:t>Identificar el conflicto: El panel te dirá qué regla la está sobrescribiendo y por qué (mayor especificidad, orden en el código).</a:t>
            </a:r>
            <a:endParaRPr lang="es-ES" dirty="0"/>
          </a:p>
          <a:p>
            <a:pPr lvl="1">
              <a:buFont typeface="Courier New" panose="020B0604020202020204" pitchFamily="34" charset="0"/>
              <a:buChar char="o"/>
            </a:pPr>
            <a:r>
              <a:rPr lang="es-ES" dirty="0">
                <a:ea typeface="+mn-lt"/>
                <a:cs typeface="+mn-lt"/>
              </a:rPr>
              <a:t>Probar una solución: Puedes añadir temporalmente </a:t>
            </a:r>
            <a:r>
              <a:rPr lang="es-ES" dirty="0" err="1">
                <a:ea typeface="+mn-lt"/>
                <a:cs typeface="+mn-lt"/>
              </a:rPr>
              <a:t>margin</a:t>
            </a:r>
            <a:r>
              <a:rPr lang="es-ES" dirty="0">
                <a:ea typeface="+mn-lt"/>
                <a:cs typeface="+mn-lt"/>
              </a:rPr>
              <a:t>-bottom: 20px !</a:t>
            </a:r>
            <a:r>
              <a:rPr lang="es-ES" dirty="0" err="1">
                <a:ea typeface="+mn-lt"/>
                <a:cs typeface="+mn-lt"/>
              </a:rPr>
              <a:t>important</a:t>
            </a:r>
            <a:r>
              <a:rPr lang="es-ES" dirty="0">
                <a:ea typeface="+mn-lt"/>
                <a:cs typeface="+mn-lt"/>
              </a:rPr>
              <a:t>; o aumentar la especificidad en el panel de estilos. Si la solución funciona, sabes exactamente qué corregir en tu archivo CSS.</a:t>
            </a:r>
            <a:endParaRPr lang="es-ES" dirty="0"/>
          </a:p>
          <a:p>
            <a:r>
              <a:rPr lang="es-ES" dirty="0">
                <a:ea typeface="+mn-lt"/>
                <a:cs typeface="+mn-lt"/>
              </a:rPr>
              <a:t>El dominio de estas herramientas es una habilidad fundamental para cualquier desarrollador web, ya que te permiten pasar de adivinar a entender por qué tu código se comporta de cierta manera.</a:t>
            </a:r>
          </a:p>
        </p:txBody>
      </p:sp>
    </p:spTree>
    <p:extLst>
      <p:ext uri="{BB962C8B-B14F-4D97-AF65-F5344CB8AC3E}">
        <p14:creationId xmlns:p14="http://schemas.microsoft.com/office/powerpoint/2010/main" val="1509682719"/>
      </p:ext>
    </p:extLst>
  </p:cSld>
  <p:clrMapOvr>
    <a:masterClrMapping/>
  </p:clrMapOvr>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CFFEC3-8CBD-4782-4C87-580AD5E0754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6F92C06-AF97-29B9-75FD-A68F9D444F5E}"/>
              </a:ext>
            </a:extLst>
          </p:cNvPr>
          <p:cNvSpPr>
            <a:spLocks noGrp="1"/>
          </p:cNvSpPr>
          <p:nvPr>
            <p:ph type="title"/>
          </p:nvPr>
        </p:nvSpPr>
        <p:spPr/>
        <p:txBody>
          <a:bodyPr/>
          <a:lstStyle/>
          <a:p>
            <a:r>
              <a:rPr lang="es-ES" b="0" dirty="0">
                <a:ea typeface="+mj-lt"/>
                <a:cs typeface="+mj-lt"/>
              </a:rPr>
              <a:t>2.6.2. Compatibilidad entre navegadores.</a:t>
            </a:r>
            <a:endParaRPr lang="es-ES" dirty="0"/>
          </a:p>
        </p:txBody>
      </p:sp>
      <p:sp>
        <p:nvSpPr>
          <p:cNvPr id="3" name="Marcador de contenido 2">
            <a:extLst>
              <a:ext uri="{FF2B5EF4-FFF2-40B4-BE49-F238E27FC236}">
                <a16:creationId xmlns:a16="http://schemas.microsoft.com/office/drawing/2014/main" id="{56C3E030-3B8A-6BF9-04B7-9D19346D7C2E}"/>
              </a:ext>
            </a:extLst>
          </p:cNvPr>
          <p:cNvSpPr>
            <a:spLocks noGrp="1"/>
          </p:cNvSpPr>
          <p:nvPr>
            <p:ph idx="1"/>
          </p:nvPr>
        </p:nvSpPr>
        <p:spPr/>
        <p:txBody>
          <a:bodyPr vert="horz" lIns="91440" tIns="45720" rIns="91440" bIns="45720" rtlCol="0" anchor="t">
            <a:normAutofit fontScale="62500" lnSpcReduction="20000"/>
          </a:bodyPr>
          <a:lstStyle/>
          <a:p>
            <a:r>
              <a:rPr lang="es-ES" dirty="0">
                <a:ea typeface="+mn-lt"/>
                <a:cs typeface="+mn-lt"/>
              </a:rPr>
              <a:t>La compatibilidad entre navegadores es la práctica de asegurar que tu código CSS se interprete y se visualice de forma consistente en diferentes navegadores web como Chrome, Firefox, Safari y Edge. A pesar de que los estándares web son cada vez más uniformes, cada navegador tiene su propio motor de renderizado, y las nuevas propiedades de CSS se implementan a ritmos diferentes, lo que puede causar inconsistencias. Para lidiar con estas diferencias, se utilizan varias técnicas clave:</a:t>
            </a:r>
            <a:endParaRPr lang="es-ES" dirty="0"/>
          </a:p>
          <a:p>
            <a:r>
              <a:rPr lang="es-ES" dirty="0">
                <a:ea typeface="+mn-lt"/>
                <a:cs typeface="+mn-lt"/>
              </a:rPr>
              <a:t>Los prefijos de navegador son una forma en que los navegadores experimentan con nuevas propiedades de CSS antes de que sean estandarizadas. Los prefijos indican al navegador que aplique una propiedad específica de su motor de renderizado.</a:t>
            </a:r>
            <a:endParaRPr lang="es-ES" dirty="0"/>
          </a:p>
          <a:p>
            <a:pPr lvl="1">
              <a:buFont typeface="Courier New" panose="020B0604020202020204" pitchFamily="34" charset="0"/>
              <a:buChar char="o"/>
            </a:pPr>
            <a:r>
              <a:rPr lang="es-ES" dirty="0">
                <a:ea typeface="+mn-lt"/>
                <a:cs typeface="+mn-lt"/>
              </a:rPr>
              <a:t>-webkit-: Para navegadores basados en WebKit (Chrome, Safari, nuevos Edge, Opera).</a:t>
            </a:r>
            <a:endParaRPr lang="es-ES"/>
          </a:p>
          <a:p>
            <a:pPr lvl="1">
              <a:buFont typeface="Courier New" panose="020B0604020202020204" pitchFamily="34" charset="0"/>
              <a:buChar char="o"/>
            </a:pPr>
            <a:r>
              <a:rPr lang="es-ES" dirty="0">
                <a:ea typeface="+mn-lt"/>
                <a:cs typeface="+mn-lt"/>
              </a:rPr>
              <a:t>-</a:t>
            </a:r>
            <a:r>
              <a:rPr lang="es-ES" dirty="0" err="1">
                <a:ea typeface="+mn-lt"/>
                <a:cs typeface="+mn-lt"/>
              </a:rPr>
              <a:t>moz</a:t>
            </a:r>
            <a:r>
              <a:rPr lang="es-ES" dirty="0">
                <a:ea typeface="+mn-lt"/>
                <a:cs typeface="+mn-lt"/>
              </a:rPr>
              <a:t>-: Para navegadores basados en Gecko (Firefox).</a:t>
            </a:r>
            <a:endParaRPr lang="es-ES"/>
          </a:p>
          <a:p>
            <a:pPr lvl="1">
              <a:buFont typeface="Courier New" panose="020B0604020202020204" pitchFamily="34" charset="0"/>
              <a:buChar char="o"/>
            </a:pPr>
            <a:r>
              <a:rPr lang="es-ES" dirty="0">
                <a:ea typeface="+mn-lt"/>
                <a:cs typeface="+mn-lt"/>
              </a:rPr>
              <a:t>-o-: Para versiones antiguas de Opera.</a:t>
            </a:r>
            <a:endParaRPr lang="es-ES"/>
          </a:p>
          <a:p>
            <a:pPr lvl="1">
              <a:buFont typeface="Courier New" panose="020B0604020202020204" pitchFamily="34" charset="0"/>
              <a:buChar char="o"/>
            </a:pPr>
            <a:r>
              <a:rPr lang="es-ES" dirty="0">
                <a:ea typeface="+mn-lt"/>
                <a:cs typeface="+mn-lt"/>
              </a:rPr>
              <a:t>-ms-: Para Internet Explorer y versiones antiguas de Edge.</a:t>
            </a:r>
            <a:endParaRPr lang="es-ES"/>
          </a:p>
          <a:p>
            <a:r>
              <a:rPr lang="es-ES" dirty="0">
                <a:ea typeface="+mn-lt"/>
                <a:cs typeface="+mn-lt"/>
              </a:rPr>
              <a:t>Ejemplo de prefijos para una transición:</a:t>
            </a:r>
            <a:endParaRPr lang="es-ES" dirty="0"/>
          </a:p>
          <a:p>
            <a:pPr marL="0" indent="0">
              <a:buNone/>
            </a:pPr>
            <a:r>
              <a:rPr lang="es-ES" b="1" dirty="0">
                <a:latin typeface="Courier New"/>
                <a:ea typeface="+mn-lt"/>
                <a:cs typeface="+mn-lt"/>
              </a:rPr>
              <a:t>.caja-animada {</a:t>
            </a:r>
            <a:br>
              <a:rPr lang="es-ES" b="1" dirty="0">
                <a:latin typeface="Courier New"/>
                <a:ea typeface="+mn-lt"/>
                <a:cs typeface="+mn-lt"/>
              </a:rPr>
            </a:br>
            <a:r>
              <a:rPr lang="es-ES" b="1" dirty="0">
                <a:latin typeface="Courier New"/>
                <a:ea typeface="+mn-lt"/>
                <a:cs typeface="+mn-lt"/>
              </a:rPr>
              <a:t>  -webkit-</a:t>
            </a:r>
            <a:r>
              <a:rPr lang="es-ES" b="1" err="1">
                <a:latin typeface="Courier New"/>
                <a:ea typeface="+mn-lt"/>
                <a:cs typeface="+mn-lt"/>
              </a:rPr>
              <a:t>transition</a:t>
            </a:r>
            <a:r>
              <a:rPr lang="es-ES" b="1" dirty="0">
                <a:latin typeface="Courier New"/>
                <a:ea typeface="+mn-lt"/>
                <a:cs typeface="+mn-lt"/>
              </a:rPr>
              <a:t>: </a:t>
            </a:r>
            <a:r>
              <a:rPr lang="es-ES" b="1" err="1">
                <a:latin typeface="Courier New"/>
                <a:ea typeface="+mn-lt"/>
                <a:cs typeface="+mn-lt"/>
              </a:rPr>
              <a:t>all</a:t>
            </a:r>
            <a:r>
              <a:rPr lang="es-ES" b="1" dirty="0">
                <a:latin typeface="Courier New"/>
                <a:ea typeface="+mn-lt"/>
                <a:cs typeface="+mn-lt"/>
              </a:rPr>
              <a:t> 0.5s </a:t>
            </a:r>
            <a:r>
              <a:rPr lang="es-ES" b="1" err="1">
                <a:latin typeface="Courier New"/>
                <a:ea typeface="+mn-lt"/>
                <a:cs typeface="+mn-lt"/>
              </a:rPr>
              <a:t>ease</a:t>
            </a:r>
            <a:r>
              <a:rPr lang="es-ES" b="1" dirty="0">
                <a:latin typeface="Courier New"/>
                <a:ea typeface="+mn-lt"/>
                <a:cs typeface="+mn-lt"/>
              </a:rPr>
              <a:t>; /* Para WebKit */</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moz-transition</a:t>
            </a:r>
            <a:r>
              <a:rPr lang="es-ES" b="1" dirty="0">
                <a:latin typeface="Courier New"/>
                <a:ea typeface="+mn-lt"/>
                <a:cs typeface="+mn-lt"/>
              </a:rPr>
              <a:t>: </a:t>
            </a:r>
            <a:r>
              <a:rPr lang="es-ES" b="1" err="1">
                <a:latin typeface="Courier New"/>
                <a:ea typeface="+mn-lt"/>
                <a:cs typeface="+mn-lt"/>
              </a:rPr>
              <a:t>all</a:t>
            </a:r>
            <a:r>
              <a:rPr lang="es-ES" b="1" dirty="0">
                <a:latin typeface="Courier New"/>
                <a:ea typeface="+mn-lt"/>
                <a:cs typeface="+mn-lt"/>
              </a:rPr>
              <a:t> 0.5s </a:t>
            </a:r>
            <a:r>
              <a:rPr lang="es-ES" b="1" err="1">
                <a:latin typeface="Courier New"/>
                <a:ea typeface="+mn-lt"/>
                <a:cs typeface="+mn-lt"/>
              </a:rPr>
              <a:t>ease</a:t>
            </a:r>
            <a:r>
              <a:rPr lang="es-ES" b="1" dirty="0">
                <a:latin typeface="Courier New"/>
                <a:ea typeface="+mn-lt"/>
                <a:cs typeface="+mn-lt"/>
              </a:rPr>
              <a:t>;    /* Para Gecko */</a:t>
            </a:r>
            <a:br>
              <a:rPr lang="es-ES" b="1" dirty="0">
                <a:latin typeface="Courier New"/>
                <a:ea typeface="+mn-lt"/>
                <a:cs typeface="+mn-lt"/>
              </a:rPr>
            </a:br>
            <a:r>
              <a:rPr lang="es-ES" b="1" dirty="0">
                <a:latin typeface="Courier New"/>
                <a:ea typeface="+mn-lt"/>
                <a:cs typeface="+mn-lt"/>
              </a:rPr>
              <a:t>  -o-</a:t>
            </a:r>
            <a:r>
              <a:rPr lang="es-ES" b="1" err="1">
                <a:latin typeface="Courier New"/>
                <a:ea typeface="+mn-lt"/>
                <a:cs typeface="+mn-lt"/>
              </a:rPr>
              <a:t>transition</a:t>
            </a:r>
            <a:r>
              <a:rPr lang="es-ES" b="1" dirty="0">
                <a:latin typeface="Courier New"/>
                <a:ea typeface="+mn-lt"/>
                <a:cs typeface="+mn-lt"/>
              </a:rPr>
              <a:t>: </a:t>
            </a:r>
            <a:r>
              <a:rPr lang="es-ES" b="1" err="1">
                <a:latin typeface="Courier New"/>
                <a:ea typeface="+mn-lt"/>
                <a:cs typeface="+mn-lt"/>
              </a:rPr>
              <a:t>all</a:t>
            </a:r>
            <a:r>
              <a:rPr lang="es-ES" b="1" dirty="0">
                <a:latin typeface="Courier New"/>
                <a:ea typeface="+mn-lt"/>
                <a:cs typeface="+mn-lt"/>
              </a:rPr>
              <a:t> 0.5s </a:t>
            </a:r>
            <a:r>
              <a:rPr lang="es-ES" b="1" err="1">
                <a:latin typeface="Courier New"/>
                <a:ea typeface="+mn-lt"/>
                <a:cs typeface="+mn-lt"/>
              </a:rPr>
              <a:t>ease</a:t>
            </a:r>
            <a:r>
              <a:rPr lang="es-ES" b="1" dirty="0">
                <a:latin typeface="Courier New"/>
                <a:ea typeface="+mn-lt"/>
                <a:cs typeface="+mn-lt"/>
              </a:rPr>
              <a:t>;      /* Para Opera */</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transition</a:t>
            </a:r>
            <a:r>
              <a:rPr lang="es-ES" b="1" dirty="0">
                <a:latin typeface="Courier New"/>
                <a:ea typeface="+mn-lt"/>
                <a:cs typeface="+mn-lt"/>
              </a:rPr>
              <a:t>: </a:t>
            </a:r>
            <a:r>
              <a:rPr lang="es-ES" b="1" err="1">
                <a:latin typeface="Courier New"/>
                <a:ea typeface="+mn-lt"/>
                <a:cs typeface="+mn-lt"/>
              </a:rPr>
              <a:t>all</a:t>
            </a:r>
            <a:r>
              <a:rPr lang="es-ES" b="1" dirty="0">
                <a:latin typeface="Courier New"/>
                <a:ea typeface="+mn-lt"/>
                <a:cs typeface="+mn-lt"/>
              </a:rPr>
              <a:t> 0.5s </a:t>
            </a:r>
            <a:r>
              <a:rPr lang="es-ES" b="1" err="1">
                <a:latin typeface="Courier New"/>
                <a:ea typeface="+mn-lt"/>
                <a:cs typeface="+mn-lt"/>
              </a:rPr>
              <a:t>ease</a:t>
            </a:r>
            <a:r>
              <a:rPr lang="es-ES" b="1" dirty="0">
                <a:latin typeface="Courier New"/>
                <a:ea typeface="+mn-lt"/>
                <a:cs typeface="+mn-lt"/>
              </a:rPr>
              <a:t>;         /* Versión estándar */</a:t>
            </a:r>
            <a:br>
              <a:rPr lang="es-ES" b="1" dirty="0">
                <a:latin typeface="Courier New"/>
                <a:ea typeface="+mn-lt"/>
                <a:cs typeface="+mn-lt"/>
              </a:rPr>
            </a:br>
            <a:r>
              <a:rPr lang="es-ES" b="1" dirty="0">
                <a:latin typeface="Courier New"/>
                <a:ea typeface="+mn-lt"/>
                <a:cs typeface="+mn-lt"/>
              </a:rPr>
              <a:t>}</a:t>
            </a:r>
            <a:endParaRPr lang="es-ES" b="1" dirty="0">
              <a:latin typeface="Courier New"/>
              <a:cs typeface="Courier New"/>
            </a:endParaRPr>
          </a:p>
          <a:p>
            <a:r>
              <a:rPr lang="es-ES" dirty="0">
                <a:ea typeface="+mn-lt"/>
                <a:cs typeface="+mn-lt"/>
              </a:rPr>
              <a:t>Actualmente, la mayoría de los desarrolladores usan herramientas como </a:t>
            </a:r>
            <a:r>
              <a:rPr lang="es-ES" dirty="0" err="1">
                <a:ea typeface="+mn-lt"/>
                <a:cs typeface="+mn-lt"/>
              </a:rPr>
              <a:t>Autoprefixer</a:t>
            </a:r>
            <a:r>
              <a:rPr lang="es-ES" dirty="0">
                <a:ea typeface="+mn-lt"/>
                <a:cs typeface="+mn-lt"/>
              </a:rPr>
              <a:t> que añaden automáticamente estos prefijos al código CSS durante la compilación, haciendo el proceso más eficiente.</a:t>
            </a:r>
            <a:endParaRPr lang="es-ES" dirty="0"/>
          </a:p>
          <a:p>
            <a:endParaRPr lang="es-ES" dirty="0"/>
          </a:p>
        </p:txBody>
      </p:sp>
    </p:spTree>
    <p:extLst>
      <p:ext uri="{BB962C8B-B14F-4D97-AF65-F5344CB8AC3E}">
        <p14:creationId xmlns:p14="http://schemas.microsoft.com/office/powerpoint/2010/main" val="382702161"/>
      </p:ext>
    </p:extLst>
  </p:cSld>
  <p:clrMapOvr>
    <a:masterClrMapping/>
  </p:clrMapOvr>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942200-B451-3681-80BA-DA9F58D3989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96CB469-8234-1418-7BD4-76CE7606637B}"/>
              </a:ext>
            </a:extLst>
          </p:cNvPr>
          <p:cNvSpPr>
            <a:spLocks noGrp="1"/>
          </p:cNvSpPr>
          <p:nvPr>
            <p:ph type="title"/>
          </p:nvPr>
        </p:nvSpPr>
        <p:spPr/>
        <p:txBody>
          <a:bodyPr/>
          <a:lstStyle/>
          <a:p>
            <a:r>
              <a:rPr lang="es-ES" b="0" dirty="0">
                <a:ea typeface="+mj-lt"/>
                <a:cs typeface="+mj-lt"/>
              </a:rPr>
              <a:t>2.6.2. Compatibilidad entre navegadores.</a:t>
            </a:r>
            <a:endParaRPr lang="es-ES" dirty="0"/>
          </a:p>
        </p:txBody>
      </p:sp>
      <p:sp>
        <p:nvSpPr>
          <p:cNvPr id="3" name="Marcador de contenido 2">
            <a:extLst>
              <a:ext uri="{FF2B5EF4-FFF2-40B4-BE49-F238E27FC236}">
                <a16:creationId xmlns:a16="http://schemas.microsoft.com/office/drawing/2014/main" id="{C7BF51B6-EA9C-440C-E5C8-E916ED08AF10}"/>
              </a:ext>
            </a:extLst>
          </p:cNvPr>
          <p:cNvSpPr>
            <a:spLocks noGrp="1"/>
          </p:cNvSpPr>
          <p:nvPr>
            <p:ph idx="1"/>
          </p:nvPr>
        </p:nvSpPr>
        <p:spPr/>
        <p:txBody>
          <a:bodyPr vert="horz" lIns="91440" tIns="45720" rIns="91440" bIns="45720" rtlCol="0" anchor="t">
            <a:normAutofit lnSpcReduction="10000"/>
          </a:bodyPr>
          <a:lstStyle/>
          <a:p>
            <a:r>
              <a:rPr lang="es-ES" dirty="0" err="1">
                <a:ea typeface="+mn-lt"/>
                <a:cs typeface="+mn-lt"/>
              </a:rPr>
              <a:t>Fallbacks</a:t>
            </a:r>
            <a:r>
              <a:rPr lang="es-ES" dirty="0">
                <a:ea typeface="+mn-lt"/>
                <a:cs typeface="+mn-lt"/>
              </a:rPr>
              <a:t> (Estilos alternativos): Un </a:t>
            </a:r>
            <a:r>
              <a:rPr lang="es-ES" dirty="0" err="1">
                <a:ea typeface="+mn-lt"/>
                <a:cs typeface="+mn-lt"/>
              </a:rPr>
              <a:t>fallback</a:t>
            </a:r>
            <a:r>
              <a:rPr lang="es-ES" dirty="0">
                <a:ea typeface="+mn-lt"/>
                <a:cs typeface="+mn-lt"/>
              </a:rPr>
              <a:t> es una técnica que consiste en proporcionar una regla CSS más simple y compatible antes de la regla más avanzada. Si un navegador no reconoce la regla avanzada, simplemente la ignorará y aplicará el </a:t>
            </a:r>
            <a:r>
              <a:rPr lang="es-ES" dirty="0" err="1">
                <a:ea typeface="+mn-lt"/>
                <a:cs typeface="+mn-lt"/>
              </a:rPr>
              <a:t>fallback</a:t>
            </a:r>
            <a:r>
              <a:rPr lang="es-ES" dirty="0">
                <a:ea typeface="+mn-lt"/>
                <a:cs typeface="+mn-lt"/>
              </a:rPr>
              <a:t>.</a:t>
            </a:r>
          </a:p>
          <a:p>
            <a:r>
              <a:rPr lang="es-ES" dirty="0">
                <a:ea typeface="+mn-lt"/>
                <a:cs typeface="+mn-lt"/>
              </a:rPr>
              <a:t>Ejemplo de un </a:t>
            </a:r>
            <a:r>
              <a:rPr lang="es-ES" dirty="0" err="1">
                <a:ea typeface="+mn-lt"/>
                <a:cs typeface="+mn-lt"/>
              </a:rPr>
              <a:t>fallback</a:t>
            </a:r>
            <a:r>
              <a:rPr lang="es-ES" dirty="0">
                <a:ea typeface="+mn-lt"/>
                <a:cs typeface="+mn-lt"/>
              </a:rPr>
              <a:t> para un gradiente:</a:t>
            </a:r>
          </a:p>
          <a:p>
            <a:r>
              <a:rPr lang="es-ES" dirty="0">
                <a:ea typeface="+mn-lt"/>
                <a:cs typeface="+mn-lt"/>
              </a:rPr>
              <a:t>.</a:t>
            </a:r>
            <a:r>
              <a:rPr lang="es-ES" dirty="0" err="1">
                <a:ea typeface="+mn-lt"/>
                <a:cs typeface="+mn-lt"/>
              </a:rPr>
              <a:t>hero</a:t>
            </a:r>
            <a:r>
              <a:rPr lang="es-ES" dirty="0">
                <a:ea typeface="+mn-lt"/>
                <a:cs typeface="+mn-lt"/>
              </a:rPr>
              <a:t>-banner {</a:t>
            </a:r>
            <a:br>
              <a:rPr lang="es-ES" dirty="0">
                <a:ea typeface="+mn-lt"/>
                <a:cs typeface="+mn-lt"/>
              </a:rPr>
            </a:br>
            <a:r>
              <a:rPr lang="es-ES" dirty="0">
                <a:ea typeface="+mn-lt"/>
                <a:cs typeface="+mn-lt"/>
              </a:rPr>
              <a:t>  /* </a:t>
            </a:r>
            <a:r>
              <a:rPr lang="es-ES" dirty="0" err="1">
                <a:ea typeface="+mn-lt"/>
                <a:cs typeface="+mn-lt"/>
              </a:rPr>
              <a:t>Fallback</a:t>
            </a:r>
            <a:r>
              <a:rPr lang="es-ES" dirty="0">
                <a:ea typeface="+mn-lt"/>
                <a:cs typeface="+mn-lt"/>
              </a:rPr>
              <a:t>: color de fondo plano para navegadores antiguos */</a:t>
            </a:r>
            <a:br>
              <a:rPr lang="es-ES" dirty="0">
                <a:ea typeface="+mn-lt"/>
                <a:cs typeface="+mn-lt"/>
              </a:rPr>
            </a:br>
            <a:r>
              <a:rPr lang="es-ES" dirty="0">
                <a:ea typeface="+mn-lt"/>
                <a:cs typeface="+mn-lt"/>
              </a:rPr>
              <a:t>  </a:t>
            </a:r>
            <a:r>
              <a:rPr lang="es-ES" dirty="0" err="1">
                <a:ea typeface="+mn-lt"/>
                <a:cs typeface="+mn-lt"/>
              </a:rPr>
              <a:t>background</a:t>
            </a:r>
            <a:r>
              <a:rPr lang="es-ES" dirty="0">
                <a:ea typeface="+mn-lt"/>
                <a:cs typeface="+mn-lt"/>
              </a:rPr>
              <a:t>-color: #28a745;</a:t>
            </a:r>
            <a:br>
              <a:rPr lang="es-ES" dirty="0">
                <a:ea typeface="+mn-lt"/>
                <a:cs typeface="+mn-lt"/>
              </a:rPr>
            </a:br>
            <a:r>
              <a:rPr lang="es-ES" dirty="0">
                <a:ea typeface="+mn-lt"/>
                <a:cs typeface="+mn-lt"/>
              </a:rPr>
              <a:t>  /* Versión moderna con gradiente, que sobrescribe al </a:t>
            </a:r>
            <a:r>
              <a:rPr lang="es-ES" dirty="0" err="1">
                <a:ea typeface="+mn-lt"/>
                <a:cs typeface="+mn-lt"/>
              </a:rPr>
              <a:t>fallback</a:t>
            </a:r>
            <a:r>
              <a:rPr lang="es-ES" dirty="0">
                <a:ea typeface="+mn-lt"/>
                <a:cs typeface="+mn-lt"/>
              </a:rPr>
              <a:t> si es compatible */</a:t>
            </a:r>
            <a:br>
              <a:rPr lang="es-ES" dirty="0">
                <a:ea typeface="+mn-lt"/>
                <a:cs typeface="+mn-lt"/>
              </a:rPr>
            </a:br>
            <a:r>
              <a:rPr lang="es-ES" dirty="0">
                <a:ea typeface="+mn-lt"/>
                <a:cs typeface="+mn-lt"/>
              </a:rPr>
              <a:t>  </a:t>
            </a:r>
            <a:r>
              <a:rPr lang="es-ES" dirty="0" err="1">
                <a:ea typeface="+mn-lt"/>
                <a:cs typeface="+mn-lt"/>
              </a:rPr>
              <a:t>background-image</a:t>
            </a:r>
            <a:r>
              <a:rPr lang="es-ES" dirty="0">
                <a:ea typeface="+mn-lt"/>
                <a:cs typeface="+mn-lt"/>
              </a:rPr>
              <a:t>: linear-</a:t>
            </a:r>
            <a:r>
              <a:rPr lang="es-ES" dirty="0" err="1">
                <a:ea typeface="+mn-lt"/>
                <a:cs typeface="+mn-lt"/>
              </a:rPr>
              <a:t>gradient</a:t>
            </a:r>
            <a:r>
              <a:rPr lang="es-ES" dirty="0">
                <a:ea typeface="+mn-lt"/>
                <a:cs typeface="+mn-lt"/>
              </a:rPr>
              <a:t>(</a:t>
            </a:r>
            <a:r>
              <a:rPr lang="es-ES" dirty="0" err="1">
                <a:ea typeface="+mn-lt"/>
                <a:cs typeface="+mn-lt"/>
              </a:rPr>
              <a:t>to</a:t>
            </a:r>
            <a:r>
              <a:rPr lang="es-ES" dirty="0">
                <a:ea typeface="+mn-lt"/>
                <a:cs typeface="+mn-lt"/>
              </a:rPr>
              <a:t> </a:t>
            </a:r>
            <a:r>
              <a:rPr lang="es-ES" dirty="0" err="1">
                <a:ea typeface="+mn-lt"/>
                <a:cs typeface="+mn-lt"/>
              </a:rPr>
              <a:t>right</a:t>
            </a:r>
            <a:r>
              <a:rPr lang="es-ES" dirty="0">
                <a:ea typeface="+mn-lt"/>
                <a:cs typeface="+mn-lt"/>
              </a:rPr>
              <a:t>, #28a745, #0056b3);</a:t>
            </a:r>
            <a:br>
              <a:rPr lang="es-ES" dirty="0">
                <a:ea typeface="+mn-lt"/>
                <a:cs typeface="+mn-lt"/>
              </a:rPr>
            </a:br>
            <a:r>
              <a:rPr lang="es-ES" dirty="0">
                <a:ea typeface="+mn-lt"/>
                <a:cs typeface="+mn-lt"/>
              </a:rPr>
              <a:t>}</a:t>
            </a:r>
          </a:p>
          <a:p>
            <a:r>
              <a:rPr lang="es-ES" dirty="0">
                <a:ea typeface="+mn-lt"/>
                <a:cs typeface="+mn-lt"/>
              </a:rPr>
              <a:t>En este caso, si el navegador no soporta linear-</a:t>
            </a:r>
            <a:r>
              <a:rPr lang="es-ES" dirty="0" err="1">
                <a:ea typeface="+mn-lt"/>
                <a:cs typeface="+mn-lt"/>
              </a:rPr>
              <a:t>gradient</a:t>
            </a:r>
            <a:r>
              <a:rPr lang="es-ES" dirty="0">
                <a:ea typeface="+mn-lt"/>
                <a:cs typeface="+mn-lt"/>
              </a:rPr>
              <a:t>, el banner tendrá un color de fondo plano (#28a745). Si lo soporta, el gradiente sobrescribirá el color plano, y el usuario verá el efecto completo.</a:t>
            </a:r>
          </a:p>
        </p:txBody>
      </p:sp>
    </p:spTree>
    <p:extLst>
      <p:ext uri="{BB962C8B-B14F-4D97-AF65-F5344CB8AC3E}">
        <p14:creationId xmlns:p14="http://schemas.microsoft.com/office/powerpoint/2010/main" val="1568207424"/>
      </p:ext>
    </p:extLst>
  </p:cSld>
  <p:clrMapOvr>
    <a:masterClrMapping/>
  </p:clrMapOvr>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C612F7-848F-8E60-B59D-C7BAA63575C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946CAE5-01CC-0C88-19FA-15842A9F3052}"/>
              </a:ext>
            </a:extLst>
          </p:cNvPr>
          <p:cNvSpPr>
            <a:spLocks noGrp="1"/>
          </p:cNvSpPr>
          <p:nvPr>
            <p:ph type="title"/>
          </p:nvPr>
        </p:nvSpPr>
        <p:spPr/>
        <p:txBody>
          <a:bodyPr/>
          <a:lstStyle/>
          <a:p>
            <a:r>
              <a:rPr lang="es-ES" b="0" dirty="0">
                <a:ea typeface="+mj-lt"/>
                <a:cs typeface="+mj-lt"/>
              </a:rPr>
              <a:t>2.6.2. Compatibilidad entre navegadores.</a:t>
            </a:r>
            <a:endParaRPr lang="es-ES" dirty="0"/>
          </a:p>
        </p:txBody>
      </p:sp>
      <p:sp>
        <p:nvSpPr>
          <p:cNvPr id="3" name="Marcador de contenido 2">
            <a:extLst>
              <a:ext uri="{FF2B5EF4-FFF2-40B4-BE49-F238E27FC236}">
                <a16:creationId xmlns:a16="http://schemas.microsoft.com/office/drawing/2014/main" id="{9338C1F3-2DD1-A599-B1F8-299C5C85C99C}"/>
              </a:ext>
            </a:extLst>
          </p:cNvPr>
          <p:cNvSpPr>
            <a:spLocks noGrp="1"/>
          </p:cNvSpPr>
          <p:nvPr>
            <p:ph idx="1"/>
          </p:nvPr>
        </p:nvSpPr>
        <p:spPr/>
        <p:txBody>
          <a:bodyPr vert="horz" lIns="91440" tIns="45720" rIns="91440" bIns="45720" rtlCol="0" anchor="t">
            <a:normAutofit fontScale="62500" lnSpcReduction="20000"/>
          </a:bodyPr>
          <a:lstStyle/>
          <a:p>
            <a:r>
              <a:rPr lang="es-ES" dirty="0">
                <a:ea typeface="+mn-lt"/>
                <a:cs typeface="+mn-lt"/>
              </a:rPr>
              <a:t>Uso de la regla @supports: La regla @supports es una forma más moderna y potente de manejar la compatibilidad. Funciona como un </a:t>
            </a:r>
            <a:r>
              <a:rPr lang="es-ES" dirty="0" err="1">
                <a:ea typeface="+mn-lt"/>
                <a:cs typeface="+mn-lt"/>
              </a:rPr>
              <a:t>if</a:t>
            </a:r>
            <a:r>
              <a:rPr lang="es-ES" dirty="0">
                <a:ea typeface="+mn-lt"/>
                <a:cs typeface="+mn-lt"/>
              </a:rPr>
              <a:t>/</a:t>
            </a:r>
            <a:r>
              <a:rPr lang="es-ES" dirty="0" err="1">
                <a:ea typeface="+mn-lt"/>
                <a:cs typeface="+mn-lt"/>
              </a:rPr>
              <a:t>else</a:t>
            </a:r>
            <a:r>
              <a:rPr lang="es-ES" dirty="0">
                <a:ea typeface="+mn-lt"/>
                <a:cs typeface="+mn-lt"/>
              </a:rPr>
              <a:t> para CSS, permitiéndote aplicar estilos de forma condicional basándote en si el navegador soporta o no una propiedad específica.</a:t>
            </a:r>
          </a:p>
          <a:p>
            <a:r>
              <a:rPr lang="es-ES" dirty="0">
                <a:ea typeface="+mn-lt"/>
                <a:cs typeface="+mn-lt"/>
              </a:rPr>
              <a:t>Sintaxis: @supports (propiedad: valor) { ... }</a:t>
            </a:r>
            <a:endParaRPr lang="es-ES" dirty="0"/>
          </a:p>
          <a:p>
            <a:r>
              <a:rPr lang="es-ES" dirty="0">
                <a:ea typeface="+mn-lt"/>
                <a:cs typeface="+mn-lt"/>
              </a:rPr>
              <a:t>Ejemplo de @supports para </a:t>
            </a:r>
            <a:r>
              <a:rPr lang="es-ES" dirty="0" err="1">
                <a:ea typeface="+mn-lt"/>
                <a:cs typeface="+mn-lt"/>
              </a:rPr>
              <a:t>grid</a:t>
            </a:r>
            <a:r>
              <a:rPr lang="es-ES" dirty="0">
                <a:ea typeface="+mn-lt"/>
                <a:cs typeface="+mn-lt"/>
              </a:rPr>
              <a:t>:</a:t>
            </a:r>
          </a:p>
          <a:p>
            <a:r>
              <a:rPr lang="es-ES" b="1" dirty="0">
                <a:latin typeface="Courier New"/>
                <a:ea typeface="+mn-lt"/>
                <a:cs typeface="+mn-lt"/>
              </a:rPr>
              <a:t>/* </a:t>
            </a:r>
            <a:r>
              <a:rPr lang="es-ES" b="1" err="1">
                <a:latin typeface="Courier New"/>
                <a:ea typeface="+mn-lt"/>
                <a:cs typeface="+mn-lt"/>
              </a:rPr>
              <a:t>Fallback</a:t>
            </a:r>
            <a:r>
              <a:rPr lang="es-ES" b="1" dirty="0">
                <a:latin typeface="Courier New"/>
                <a:ea typeface="+mn-lt"/>
                <a:cs typeface="+mn-lt"/>
              </a:rPr>
              <a:t> por defecto, para navegadores que no soportan </a:t>
            </a:r>
            <a:r>
              <a:rPr lang="es-ES" b="1" err="1">
                <a:latin typeface="Courier New"/>
                <a:ea typeface="+mn-lt"/>
                <a:cs typeface="+mn-lt"/>
              </a:rPr>
              <a:t>grid</a:t>
            </a: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a:t>
            </a:r>
            <a:r>
              <a:rPr lang="es-ES" b="1" err="1">
                <a:latin typeface="Courier New"/>
                <a:ea typeface="+mn-lt"/>
                <a:cs typeface="+mn-lt"/>
              </a:rPr>
              <a:t>grid</a:t>
            </a:r>
            <a:r>
              <a:rPr lang="es-ES" b="1" dirty="0">
                <a:latin typeface="Courier New"/>
                <a:ea typeface="+mn-lt"/>
                <a:cs typeface="+mn-lt"/>
              </a:rPr>
              <a:t>-container {</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display</a:t>
            </a:r>
            <a:r>
              <a:rPr lang="es-ES" b="1" dirty="0">
                <a:latin typeface="Courier New"/>
                <a:ea typeface="+mn-lt"/>
                <a:cs typeface="+mn-lt"/>
              </a:rPr>
              <a:t>: </a:t>
            </a:r>
            <a:r>
              <a:rPr lang="es-ES" b="1" err="1">
                <a:latin typeface="Courier New"/>
                <a:ea typeface="+mn-lt"/>
                <a:cs typeface="+mn-lt"/>
              </a:rPr>
              <a:t>flex</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flex-direction</a:t>
            </a:r>
            <a:r>
              <a:rPr lang="es-ES" b="1" dirty="0">
                <a:latin typeface="Courier New"/>
                <a:ea typeface="+mn-lt"/>
                <a:cs typeface="+mn-lt"/>
              </a:rPr>
              <a:t>: </a:t>
            </a:r>
            <a:r>
              <a:rPr lang="es-ES" b="1" err="1">
                <a:latin typeface="Courier New"/>
                <a:ea typeface="+mn-lt"/>
                <a:cs typeface="+mn-lt"/>
              </a:rPr>
              <a:t>column</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 Los estilos de </a:t>
            </a:r>
            <a:r>
              <a:rPr lang="es-ES" b="1" err="1">
                <a:latin typeface="Courier New"/>
                <a:ea typeface="+mn-lt"/>
                <a:cs typeface="+mn-lt"/>
              </a:rPr>
              <a:t>grid</a:t>
            </a:r>
            <a:r>
              <a:rPr lang="es-ES" b="1" dirty="0">
                <a:latin typeface="Courier New"/>
                <a:ea typeface="+mn-lt"/>
                <a:cs typeface="+mn-lt"/>
              </a:rPr>
              <a:t> se aplicarán SÓLO si el navegador lo soporta. */</a:t>
            </a:r>
            <a:br>
              <a:rPr lang="es-ES" b="1" dirty="0">
                <a:latin typeface="Courier New"/>
                <a:ea typeface="+mn-lt"/>
                <a:cs typeface="+mn-lt"/>
              </a:rPr>
            </a:br>
            <a:r>
              <a:rPr lang="es-ES" b="1" dirty="0">
                <a:latin typeface="Courier New"/>
                <a:ea typeface="+mn-lt"/>
                <a:cs typeface="+mn-lt"/>
              </a:rPr>
              <a:t>@supports (</a:t>
            </a:r>
            <a:r>
              <a:rPr lang="es-ES" b="1" err="1">
                <a:latin typeface="Courier New"/>
                <a:ea typeface="+mn-lt"/>
                <a:cs typeface="+mn-lt"/>
              </a:rPr>
              <a:t>display</a:t>
            </a:r>
            <a:r>
              <a:rPr lang="es-ES" b="1" dirty="0">
                <a:latin typeface="Courier New"/>
                <a:ea typeface="+mn-lt"/>
                <a:cs typeface="+mn-lt"/>
              </a:rPr>
              <a:t>: </a:t>
            </a:r>
            <a:r>
              <a:rPr lang="es-ES" b="1" err="1">
                <a:latin typeface="Courier New"/>
                <a:ea typeface="+mn-lt"/>
                <a:cs typeface="+mn-lt"/>
              </a:rPr>
              <a:t>grid</a:t>
            </a: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grid</a:t>
            </a:r>
            <a:r>
              <a:rPr lang="es-ES" b="1" dirty="0">
                <a:latin typeface="Courier New"/>
                <a:ea typeface="+mn-lt"/>
                <a:cs typeface="+mn-lt"/>
              </a:rPr>
              <a:t>-container {</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display</a:t>
            </a:r>
            <a:r>
              <a:rPr lang="es-ES" b="1" dirty="0">
                <a:latin typeface="Courier New"/>
                <a:ea typeface="+mn-lt"/>
                <a:cs typeface="+mn-lt"/>
              </a:rPr>
              <a:t>: </a:t>
            </a:r>
            <a:r>
              <a:rPr lang="es-ES" b="1" err="1">
                <a:latin typeface="Courier New"/>
                <a:ea typeface="+mn-lt"/>
                <a:cs typeface="+mn-lt"/>
              </a:rPr>
              <a:t>grid</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    </a:t>
            </a:r>
            <a:r>
              <a:rPr lang="es-ES" b="1" err="1">
                <a:latin typeface="Courier New"/>
                <a:ea typeface="+mn-lt"/>
                <a:cs typeface="+mn-lt"/>
              </a:rPr>
              <a:t>grid-template-columns</a:t>
            </a:r>
            <a:r>
              <a:rPr lang="es-ES" b="1" dirty="0">
                <a:latin typeface="Courier New"/>
                <a:ea typeface="+mn-lt"/>
                <a:cs typeface="+mn-lt"/>
              </a:rPr>
              <a:t>: 1fr </a:t>
            </a:r>
            <a:r>
              <a:rPr lang="es-ES" b="1" err="1">
                <a:latin typeface="Courier New"/>
                <a:ea typeface="+mn-lt"/>
                <a:cs typeface="+mn-lt"/>
              </a:rPr>
              <a:t>1fr</a:t>
            </a:r>
            <a:r>
              <a:rPr lang="es-ES" b="1" dirty="0">
                <a:latin typeface="Courier New"/>
                <a:ea typeface="+mn-lt"/>
                <a:cs typeface="+mn-lt"/>
              </a:rPr>
              <a:t> </a:t>
            </a:r>
            <a:r>
              <a:rPr lang="es-ES" b="1" err="1">
                <a:latin typeface="Courier New"/>
                <a:ea typeface="+mn-lt"/>
                <a:cs typeface="+mn-lt"/>
              </a:rPr>
              <a:t>1fr</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a:t>
            </a:r>
            <a:endParaRPr lang="es-ES" b="1">
              <a:latin typeface="Courier New"/>
              <a:ea typeface="+mn-lt"/>
              <a:cs typeface="+mn-lt"/>
            </a:endParaRPr>
          </a:p>
          <a:p>
            <a:r>
              <a:rPr lang="es-ES" dirty="0">
                <a:ea typeface="+mn-lt"/>
                <a:cs typeface="+mn-lt"/>
              </a:rPr>
              <a:t>Aquí, todos los navegadores aplicarán los estilos de </a:t>
            </a:r>
            <a:r>
              <a:rPr lang="es-ES" dirty="0" err="1">
                <a:ea typeface="+mn-lt"/>
                <a:cs typeface="+mn-lt"/>
              </a:rPr>
              <a:t>Flexbox</a:t>
            </a:r>
            <a:r>
              <a:rPr lang="es-ES" dirty="0">
                <a:ea typeface="+mn-lt"/>
                <a:cs typeface="+mn-lt"/>
              </a:rPr>
              <a:t> por defecto. Luego, si el navegador soporta </a:t>
            </a:r>
            <a:r>
              <a:rPr lang="es-ES" dirty="0" err="1">
                <a:ea typeface="+mn-lt"/>
                <a:cs typeface="+mn-lt"/>
              </a:rPr>
              <a:t>display</a:t>
            </a:r>
            <a:r>
              <a:rPr lang="es-ES" dirty="0">
                <a:ea typeface="+mn-lt"/>
                <a:cs typeface="+mn-lt"/>
              </a:rPr>
              <a:t>: </a:t>
            </a:r>
            <a:r>
              <a:rPr lang="es-ES" dirty="0" err="1">
                <a:ea typeface="+mn-lt"/>
                <a:cs typeface="+mn-lt"/>
              </a:rPr>
              <a:t>grid</a:t>
            </a:r>
            <a:r>
              <a:rPr lang="es-ES" dirty="0">
                <a:ea typeface="+mn-lt"/>
                <a:cs typeface="+mn-lt"/>
              </a:rPr>
              <a:t>, esos estilos se aplicarán automáticamente, sobrescribiendo los anteriores.</a:t>
            </a:r>
            <a:endParaRPr lang="es-ES" b="1" dirty="0">
              <a:latin typeface="Courier New"/>
              <a:cs typeface="Courier New"/>
            </a:endParaRPr>
          </a:p>
        </p:txBody>
      </p:sp>
    </p:spTree>
    <p:extLst>
      <p:ext uri="{BB962C8B-B14F-4D97-AF65-F5344CB8AC3E}">
        <p14:creationId xmlns:p14="http://schemas.microsoft.com/office/powerpoint/2010/main" val="1086528938"/>
      </p:ext>
    </p:extLst>
  </p:cSld>
  <p:clrMapOvr>
    <a:masterClrMapping/>
  </p:clrMapOvr>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B43B85-7D07-6C73-C88B-A132838C27F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E9C99E2-584D-213D-4734-C5A82A8A6259}"/>
              </a:ext>
            </a:extLst>
          </p:cNvPr>
          <p:cNvSpPr>
            <a:spLocks noGrp="1"/>
          </p:cNvSpPr>
          <p:nvPr>
            <p:ph type="title"/>
          </p:nvPr>
        </p:nvSpPr>
        <p:spPr/>
        <p:txBody>
          <a:bodyPr/>
          <a:lstStyle/>
          <a:p>
            <a:r>
              <a:rPr lang="es-ES" b="0" dirty="0">
                <a:ea typeface="+mj-lt"/>
                <a:cs typeface="+mj-lt"/>
              </a:rPr>
              <a:t>2.6.2. Compatibilidad entre navegadores.</a:t>
            </a:r>
            <a:endParaRPr lang="es-ES" dirty="0"/>
          </a:p>
        </p:txBody>
      </p:sp>
      <p:sp>
        <p:nvSpPr>
          <p:cNvPr id="3" name="Marcador de contenido 2">
            <a:extLst>
              <a:ext uri="{FF2B5EF4-FFF2-40B4-BE49-F238E27FC236}">
                <a16:creationId xmlns:a16="http://schemas.microsoft.com/office/drawing/2014/main" id="{35CECF0D-DA08-9EBF-36DC-1C2E01331BDC}"/>
              </a:ext>
            </a:extLst>
          </p:cNvPr>
          <p:cNvSpPr>
            <a:spLocks noGrp="1"/>
          </p:cNvSpPr>
          <p:nvPr>
            <p:ph idx="1"/>
          </p:nvPr>
        </p:nvSpPr>
        <p:spPr/>
        <p:txBody>
          <a:bodyPr vert="horz" lIns="91440" tIns="45720" rIns="91440" bIns="45720" rtlCol="0" anchor="t">
            <a:normAutofit fontScale="62500" lnSpcReduction="20000"/>
          </a:bodyPr>
          <a:lstStyle/>
          <a:p>
            <a:r>
              <a:rPr lang="es-ES">
                <a:ea typeface="+mn-lt"/>
                <a:cs typeface="+mn-lt"/>
              </a:rPr>
              <a:t>Ejemplo: Degradación elegante de un botón con sombra. Este ejemplo muestra un botón que se verá bien en navegadores antiguos, pero que tendrá un efecto de sombra más moderno en los navegadores que lo soporten.</a:t>
            </a:r>
            <a:endParaRPr lang="es-ES" dirty="0">
              <a:ea typeface="+mn-lt"/>
              <a:cs typeface="+mn-lt"/>
            </a:endParaRPr>
          </a:p>
          <a:p>
            <a:r>
              <a:rPr lang="es-ES" dirty="0">
                <a:ea typeface="+mn-lt"/>
                <a:cs typeface="+mn-lt"/>
              </a:rPr>
              <a:t>&lt;</a:t>
            </a:r>
            <a:r>
              <a:rPr lang="es-ES" dirty="0" err="1">
                <a:ea typeface="+mn-lt"/>
                <a:cs typeface="+mn-lt"/>
              </a:rPr>
              <a:t>button</a:t>
            </a:r>
            <a:r>
              <a:rPr lang="es-ES" dirty="0">
                <a:ea typeface="+mn-lt"/>
                <a:cs typeface="+mn-lt"/>
              </a:rPr>
              <a:t> </a:t>
            </a:r>
            <a:r>
              <a:rPr lang="es-ES" dirty="0" err="1">
                <a:ea typeface="+mn-lt"/>
                <a:cs typeface="+mn-lt"/>
              </a:rPr>
              <a:t>class</a:t>
            </a:r>
            <a:r>
              <a:rPr lang="es-ES" dirty="0">
                <a:ea typeface="+mn-lt"/>
                <a:cs typeface="+mn-lt"/>
              </a:rPr>
              <a:t>="</a:t>
            </a:r>
            <a:r>
              <a:rPr lang="es-ES" dirty="0" err="1">
                <a:ea typeface="+mn-lt"/>
                <a:cs typeface="+mn-lt"/>
              </a:rPr>
              <a:t>btn</a:t>
            </a:r>
            <a:r>
              <a:rPr lang="es-ES" dirty="0">
                <a:ea typeface="+mn-lt"/>
                <a:cs typeface="+mn-lt"/>
              </a:rPr>
              <a:t>-sombra"&gt;Haz clic&lt;/</a:t>
            </a:r>
            <a:r>
              <a:rPr lang="es-ES" dirty="0" err="1">
                <a:ea typeface="+mn-lt"/>
                <a:cs typeface="+mn-lt"/>
              </a:rPr>
              <a:t>button</a:t>
            </a:r>
            <a:r>
              <a:rPr lang="es-ES" dirty="0">
                <a:ea typeface="+mn-lt"/>
                <a:cs typeface="+mn-lt"/>
              </a:rPr>
              <a:t>&gt;</a:t>
            </a:r>
            <a:br>
              <a:rPr lang="es-ES" dirty="0">
                <a:ea typeface="+mn-lt"/>
                <a:cs typeface="+mn-lt"/>
              </a:rPr>
            </a:br>
            <a:r>
              <a:rPr lang="es-ES" dirty="0">
                <a:ea typeface="+mn-lt"/>
                <a:cs typeface="+mn-lt"/>
              </a:rPr>
              <a:t>/* Estilos base del botón */</a:t>
            </a:r>
            <a:br>
              <a:rPr lang="es-ES" dirty="0">
                <a:ea typeface="+mn-lt"/>
                <a:cs typeface="+mn-lt"/>
              </a:rPr>
            </a:br>
            <a:r>
              <a:rPr lang="es-ES" dirty="0">
                <a:ea typeface="+mn-lt"/>
                <a:cs typeface="+mn-lt"/>
              </a:rPr>
              <a:t>.</a:t>
            </a:r>
            <a:r>
              <a:rPr lang="es-ES" dirty="0" err="1">
                <a:ea typeface="+mn-lt"/>
                <a:cs typeface="+mn-lt"/>
              </a:rPr>
              <a:t>btn</a:t>
            </a:r>
            <a:r>
              <a:rPr lang="es-ES" dirty="0">
                <a:ea typeface="+mn-lt"/>
                <a:cs typeface="+mn-lt"/>
              </a:rPr>
              <a:t>-sombra {</a:t>
            </a:r>
            <a:br>
              <a:rPr lang="es-ES" dirty="0">
                <a:ea typeface="+mn-lt"/>
                <a:cs typeface="+mn-lt"/>
              </a:rPr>
            </a:br>
            <a:r>
              <a:rPr lang="es-ES" dirty="0">
                <a:ea typeface="+mn-lt"/>
                <a:cs typeface="+mn-lt"/>
              </a:rPr>
              <a:t>  </a:t>
            </a:r>
            <a:r>
              <a:rPr lang="es-ES" dirty="0" err="1">
                <a:ea typeface="+mn-lt"/>
                <a:cs typeface="+mn-lt"/>
              </a:rPr>
              <a:t>padding</a:t>
            </a:r>
            <a:r>
              <a:rPr lang="es-ES" dirty="0">
                <a:ea typeface="+mn-lt"/>
                <a:cs typeface="+mn-lt"/>
              </a:rPr>
              <a:t>: 10px 15px;</a:t>
            </a:r>
            <a:br>
              <a:rPr lang="es-ES" dirty="0">
                <a:ea typeface="+mn-lt"/>
                <a:cs typeface="+mn-lt"/>
              </a:rPr>
            </a:br>
            <a:r>
              <a:rPr lang="es-ES" dirty="0">
                <a:ea typeface="+mn-lt"/>
                <a:cs typeface="+mn-lt"/>
              </a:rPr>
              <a:t>  </a:t>
            </a:r>
            <a:r>
              <a:rPr lang="es-ES" dirty="0" err="1">
                <a:ea typeface="+mn-lt"/>
                <a:cs typeface="+mn-lt"/>
              </a:rPr>
              <a:t>border-radius</a:t>
            </a:r>
            <a:r>
              <a:rPr lang="es-ES" dirty="0">
                <a:ea typeface="+mn-lt"/>
                <a:cs typeface="+mn-lt"/>
              </a:rPr>
              <a:t>: 5px;</a:t>
            </a:r>
            <a:br>
              <a:rPr lang="es-ES" dirty="0">
                <a:ea typeface="+mn-lt"/>
                <a:cs typeface="+mn-lt"/>
              </a:rPr>
            </a:br>
            <a:r>
              <a:rPr lang="es-ES" dirty="0">
                <a:ea typeface="+mn-lt"/>
                <a:cs typeface="+mn-lt"/>
              </a:rPr>
              <a:t>  </a:t>
            </a:r>
            <a:r>
              <a:rPr lang="es-ES" dirty="0" err="1">
                <a:ea typeface="+mn-lt"/>
                <a:cs typeface="+mn-lt"/>
              </a:rPr>
              <a:t>background</a:t>
            </a:r>
            <a:r>
              <a:rPr lang="es-ES" dirty="0">
                <a:ea typeface="+mn-lt"/>
                <a:cs typeface="+mn-lt"/>
              </a:rPr>
              <a:t>-color: #007bff;</a:t>
            </a:r>
            <a:br>
              <a:rPr lang="es-ES" dirty="0">
                <a:ea typeface="+mn-lt"/>
                <a:cs typeface="+mn-lt"/>
              </a:rPr>
            </a:br>
            <a:r>
              <a:rPr lang="es-ES" dirty="0">
                <a:ea typeface="+mn-lt"/>
                <a:cs typeface="+mn-lt"/>
              </a:rPr>
              <a:t>  color: </a:t>
            </a:r>
            <a:r>
              <a:rPr lang="es-ES" dirty="0" err="1">
                <a:ea typeface="+mn-lt"/>
                <a:cs typeface="+mn-lt"/>
              </a:rPr>
              <a:t>white</a:t>
            </a:r>
            <a:r>
              <a:rPr lang="es-ES" dirty="0">
                <a:ea typeface="+mn-lt"/>
                <a:cs typeface="+mn-lt"/>
              </a:rPr>
              <a:t>;</a:t>
            </a:r>
            <a:br>
              <a:rPr lang="es-ES" dirty="0">
                <a:ea typeface="+mn-lt"/>
                <a:cs typeface="+mn-lt"/>
              </a:rPr>
            </a:br>
            <a:r>
              <a:rPr lang="es-ES" dirty="0">
                <a:ea typeface="+mn-lt"/>
                <a:cs typeface="+mn-lt"/>
              </a:rPr>
              <a:t>  /* 1. </a:t>
            </a:r>
            <a:r>
              <a:rPr lang="es-ES" dirty="0" err="1">
                <a:ea typeface="+mn-lt"/>
                <a:cs typeface="+mn-lt"/>
              </a:rPr>
              <a:t>Fallback</a:t>
            </a:r>
            <a:r>
              <a:rPr lang="es-ES" dirty="0">
                <a:ea typeface="+mn-lt"/>
                <a:cs typeface="+mn-lt"/>
              </a:rPr>
              <a:t> para la sombra: box-</a:t>
            </a:r>
            <a:r>
              <a:rPr lang="es-ES" dirty="0" err="1">
                <a:ea typeface="+mn-lt"/>
                <a:cs typeface="+mn-lt"/>
              </a:rPr>
              <a:t>shadow</a:t>
            </a:r>
            <a:r>
              <a:rPr lang="es-ES" dirty="0">
                <a:ea typeface="+mn-lt"/>
                <a:cs typeface="+mn-lt"/>
              </a:rPr>
              <a:t> (ampliamente soportado) */</a:t>
            </a:r>
            <a:br>
              <a:rPr lang="es-ES" dirty="0">
                <a:ea typeface="+mn-lt"/>
                <a:cs typeface="+mn-lt"/>
              </a:rPr>
            </a:br>
            <a:r>
              <a:rPr lang="es-ES" dirty="0">
                <a:ea typeface="+mn-lt"/>
                <a:cs typeface="+mn-lt"/>
              </a:rPr>
              <a:t>  box-</a:t>
            </a:r>
            <a:r>
              <a:rPr lang="es-ES" dirty="0" err="1">
                <a:ea typeface="+mn-lt"/>
                <a:cs typeface="+mn-lt"/>
              </a:rPr>
              <a:t>shadow</a:t>
            </a:r>
            <a:r>
              <a:rPr lang="es-ES" dirty="0">
                <a:ea typeface="+mn-lt"/>
                <a:cs typeface="+mn-lt"/>
              </a:rPr>
              <a:t>: 2px </a:t>
            </a:r>
            <a:r>
              <a:rPr lang="es-ES" dirty="0" err="1">
                <a:ea typeface="+mn-lt"/>
                <a:cs typeface="+mn-lt"/>
              </a:rPr>
              <a:t>2px</a:t>
            </a:r>
            <a:r>
              <a:rPr lang="es-ES" dirty="0">
                <a:ea typeface="+mn-lt"/>
                <a:cs typeface="+mn-lt"/>
              </a:rPr>
              <a:t> 5px </a:t>
            </a:r>
            <a:r>
              <a:rPr lang="es-ES" dirty="0" err="1">
                <a:ea typeface="+mn-lt"/>
                <a:cs typeface="+mn-lt"/>
              </a:rPr>
              <a:t>rgba</a:t>
            </a:r>
            <a:r>
              <a:rPr lang="es-ES" dirty="0">
                <a:ea typeface="+mn-lt"/>
                <a:cs typeface="+mn-lt"/>
              </a:rPr>
              <a:t>(0, 0, 0, 0.3);</a:t>
            </a:r>
            <a:br>
              <a:rPr lang="es-ES" dirty="0">
                <a:ea typeface="+mn-lt"/>
                <a:cs typeface="+mn-lt"/>
              </a:rPr>
            </a:br>
            <a:r>
              <a:rPr lang="es-ES" dirty="0">
                <a:ea typeface="+mn-lt"/>
                <a:cs typeface="+mn-lt"/>
              </a:rPr>
              <a:t>}</a:t>
            </a:r>
            <a:br>
              <a:rPr lang="es-ES" dirty="0">
                <a:ea typeface="+mn-lt"/>
                <a:cs typeface="+mn-lt"/>
              </a:rPr>
            </a:br>
            <a:r>
              <a:rPr lang="es-ES" dirty="0">
                <a:ea typeface="+mn-lt"/>
                <a:cs typeface="+mn-lt"/>
              </a:rPr>
              <a:t>/* 2. Estilos avanzados: La propiedad </a:t>
            </a:r>
            <a:r>
              <a:rPr lang="es-ES" dirty="0" err="1">
                <a:ea typeface="+mn-lt"/>
                <a:cs typeface="+mn-lt"/>
              </a:rPr>
              <a:t>filter</a:t>
            </a:r>
            <a:r>
              <a:rPr lang="es-ES" dirty="0">
                <a:ea typeface="+mn-lt"/>
                <a:cs typeface="+mn-lt"/>
              </a:rPr>
              <a:t> (menos compatible), que sobrescribe la anterior. */</a:t>
            </a:r>
            <a:br>
              <a:rPr lang="es-ES" dirty="0">
                <a:ea typeface="+mn-lt"/>
                <a:cs typeface="+mn-lt"/>
              </a:rPr>
            </a:br>
            <a:r>
              <a:rPr lang="es-ES" dirty="0">
                <a:ea typeface="+mn-lt"/>
                <a:cs typeface="+mn-lt"/>
              </a:rPr>
              <a:t>@supports (</a:t>
            </a:r>
            <a:r>
              <a:rPr lang="es-ES" dirty="0" err="1">
                <a:ea typeface="+mn-lt"/>
                <a:cs typeface="+mn-lt"/>
              </a:rPr>
              <a:t>filter</a:t>
            </a:r>
            <a:r>
              <a:rPr lang="es-ES" dirty="0">
                <a:ea typeface="+mn-lt"/>
                <a:cs typeface="+mn-lt"/>
              </a:rPr>
              <a:t>: </a:t>
            </a:r>
            <a:r>
              <a:rPr lang="es-ES" dirty="0" err="1">
                <a:ea typeface="+mn-lt"/>
                <a:cs typeface="+mn-lt"/>
              </a:rPr>
              <a:t>drop-shadow</a:t>
            </a:r>
            <a:r>
              <a:rPr lang="es-ES" dirty="0">
                <a:ea typeface="+mn-lt"/>
                <a:cs typeface="+mn-lt"/>
              </a:rPr>
              <a:t>(1px </a:t>
            </a:r>
            <a:r>
              <a:rPr lang="es-ES" dirty="0" err="1">
                <a:ea typeface="+mn-lt"/>
                <a:cs typeface="+mn-lt"/>
              </a:rPr>
              <a:t>1px</a:t>
            </a:r>
            <a:r>
              <a:rPr lang="es-ES" dirty="0">
                <a:ea typeface="+mn-lt"/>
                <a:cs typeface="+mn-lt"/>
              </a:rPr>
              <a:t> </a:t>
            </a:r>
            <a:r>
              <a:rPr lang="es-ES" dirty="0" err="1">
                <a:ea typeface="+mn-lt"/>
                <a:cs typeface="+mn-lt"/>
              </a:rPr>
              <a:t>1px</a:t>
            </a:r>
            <a:r>
              <a:rPr lang="es-ES" dirty="0">
                <a:ea typeface="+mn-lt"/>
                <a:cs typeface="+mn-lt"/>
              </a:rPr>
              <a:t> #000)) {</a:t>
            </a:r>
            <a:br>
              <a:rPr lang="es-ES" dirty="0">
                <a:ea typeface="+mn-lt"/>
                <a:cs typeface="+mn-lt"/>
              </a:rPr>
            </a:br>
            <a:r>
              <a:rPr lang="es-ES" dirty="0">
                <a:ea typeface="+mn-lt"/>
                <a:cs typeface="+mn-lt"/>
              </a:rPr>
              <a:t>  .</a:t>
            </a:r>
            <a:r>
              <a:rPr lang="es-ES" dirty="0" err="1">
                <a:ea typeface="+mn-lt"/>
                <a:cs typeface="+mn-lt"/>
              </a:rPr>
              <a:t>btn</a:t>
            </a:r>
            <a:r>
              <a:rPr lang="es-ES" dirty="0">
                <a:ea typeface="+mn-lt"/>
                <a:cs typeface="+mn-lt"/>
              </a:rPr>
              <a:t>-sombra {</a:t>
            </a:r>
            <a:br>
              <a:rPr lang="es-ES" dirty="0">
                <a:ea typeface="+mn-lt"/>
                <a:cs typeface="+mn-lt"/>
              </a:rPr>
            </a:br>
            <a:r>
              <a:rPr lang="es-ES" dirty="0">
                <a:ea typeface="+mn-lt"/>
                <a:cs typeface="+mn-lt"/>
              </a:rPr>
              <a:t>    box-</a:t>
            </a:r>
            <a:r>
              <a:rPr lang="es-ES" dirty="0" err="1">
                <a:ea typeface="+mn-lt"/>
                <a:cs typeface="+mn-lt"/>
              </a:rPr>
              <a:t>shadow</a:t>
            </a:r>
            <a:r>
              <a:rPr lang="es-ES" dirty="0">
                <a:ea typeface="+mn-lt"/>
                <a:cs typeface="+mn-lt"/>
              </a:rPr>
              <a:t>: </a:t>
            </a:r>
            <a:r>
              <a:rPr lang="es-ES" dirty="0" err="1">
                <a:ea typeface="+mn-lt"/>
                <a:cs typeface="+mn-lt"/>
              </a:rPr>
              <a:t>none</a:t>
            </a:r>
            <a:r>
              <a:rPr lang="es-ES" dirty="0">
                <a:ea typeface="+mn-lt"/>
                <a:cs typeface="+mn-lt"/>
              </a:rPr>
              <a:t>; /* Desactivamos el </a:t>
            </a:r>
            <a:r>
              <a:rPr lang="es-ES" dirty="0" err="1">
                <a:ea typeface="+mn-lt"/>
                <a:cs typeface="+mn-lt"/>
              </a:rPr>
              <a:t>fallback</a:t>
            </a:r>
            <a:r>
              <a:rPr lang="es-ES" dirty="0">
                <a:ea typeface="+mn-lt"/>
                <a:cs typeface="+mn-lt"/>
              </a:rPr>
              <a:t> */</a:t>
            </a:r>
            <a:br>
              <a:rPr lang="es-ES" dirty="0">
                <a:ea typeface="+mn-lt"/>
                <a:cs typeface="+mn-lt"/>
              </a:rPr>
            </a:br>
            <a:r>
              <a:rPr lang="es-ES" dirty="0">
                <a:ea typeface="+mn-lt"/>
                <a:cs typeface="+mn-lt"/>
              </a:rPr>
              <a:t>    </a:t>
            </a:r>
            <a:r>
              <a:rPr lang="es-ES" dirty="0" err="1">
                <a:ea typeface="+mn-lt"/>
                <a:cs typeface="+mn-lt"/>
              </a:rPr>
              <a:t>filter</a:t>
            </a:r>
            <a:r>
              <a:rPr lang="es-ES" dirty="0">
                <a:ea typeface="+mn-lt"/>
                <a:cs typeface="+mn-lt"/>
              </a:rPr>
              <a:t>: </a:t>
            </a:r>
            <a:r>
              <a:rPr lang="es-ES" dirty="0" err="1">
                <a:ea typeface="+mn-lt"/>
                <a:cs typeface="+mn-lt"/>
              </a:rPr>
              <a:t>drop-shadow</a:t>
            </a:r>
            <a:r>
              <a:rPr lang="es-ES" dirty="0">
                <a:ea typeface="+mn-lt"/>
                <a:cs typeface="+mn-lt"/>
              </a:rPr>
              <a:t>(2px </a:t>
            </a:r>
            <a:r>
              <a:rPr lang="es-ES" dirty="0" err="1">
                <a:ea typeface="+mn-lt"/>
                <a:cs typeface="+mn-lt"/>
              </a:rPr>
              <a:t>2px</a:t>
            </a:r>
            <a:r>
              <a:rPr lang="es-ES" dirty="0">
                <a:ea typeface="+mn-lt"/>
                <a:cs typeface="+mn-lt"/>
              </a:rPr>
              <a:t> 5px </a:t>
            </a:r>
            <a:r>
              <a:rPr lang="es-ES" dirty="0" err="1">
                <a:ea typeface="+mn-lt"/>
                <a:cs typeface="+mn-lt"/>
              </a:rPr>
              <a:t>rgba</a:t>
            </a:r>
            <a:r>
              <a:rPr lang="es-ES" dirty="0">
                <a:ea typeface="+mn-lt"/>
                <a:cs typeface="+mn-lt"/>
              </a:rPr>
              <a:t>(0, 0, 0, 0.3));</a:t>
            </a:r>
            <a:br>
              <a:rPr lang="es-ES" dirty="0">
                <a:ea typeface="+mn-lt"/>
                <a:cs typeface="+mn-lt"/>
              </a:rPr>
            </a:br>
            <a:r>
              <a:rPr lang="es-ES" dirty="0">
                <a:ea typeface="+mn-lt"/>
                <a:cs typeface="+mn-lt"/>
              </a:rPr>
              <a:t>  }</a:t>
            </a:r>
            <a:br>
              <a:rPr lang="es-ES" dirty="0">
                <a:ea typeface="+mn-lt"/>
                <a:cs typeface="+mn-lt"/>
              </a:rPr>
            </a:br>
            <a:r>
              <a:rPr lang="es-ES" dirty="0">
                <a:ea typeface="+mn-lt"/>
                <a:cs typeface="+mn-lt"/>
              </a:rPr>
              <a:t>}</a:t>
            </a:r>
          </a:p>
          <a:p>
            <a:r>
              <a:rPr lang="es-ES">
                <a:ea typeface="+mn-lt"/>
                <a:cs typeface="+mn-lt"/>
              </a:rPr>
              <a:t>En este caso, si el navegador del usuario soporta </a:t>
            </a:r>
            <a:r>
              <a:rPr lang="es-ES" err="1">
                <a:ea typeface="+mn-lt"/>
                <a:cs typeface="+mn-lt"/>
              </a:rPr>
              <a:t>filter</a:t>
            </a:r>
            <a:r>
              <a:rPr lang="es-ES">
                <a:ea typeface="+mn-lt"/>
                <a:cs typeface="+mn-lt"/>
              </a:rPr>
              <a:t>, se verá la sombra más realista. Si no, se mostrará la sombra más simple de box-</a:t>
            </a:r>
            <a:r>
              <a:rPr lang="es-ES" err="1">
                <a:ea typeface="+mn-lt"/>
                <a:cs typeface="+mn-lt"/>
              </a:rPr>
              <a:t>shadow</a:t>
            </a:r>
            <a:r>
              <a:rPr lang="es-ES">
                <a:ea typeface="+mn-lt"/>
                <a:cs typeface="+mn-lt"/>
              </a:rPr>
              <a:t>, garantizando una experiencia visual consistente.</a:t>
            </a:r>
          </a:p>
          <a:p>
            <a:endParaRPr lang="es-ES" dirty="0">
              <a:latin typeface="Bierstadt"/>
              <a:cs typeface="Courier New"/>
            </a:endParaRPr>
          </a:p>
        </p:txBody>
      </p:sp>
    </p:spTree>
    <p:extLst>
      <p:ext uri="{BB962C8B-B14F-4D97-AF65-F5344CB8AC3E}">
        <p14:creationId xmlns:p14="http://schemas.microsoft.com/office/powerpoint/2010/main" val="2469791660"/>
      </p:ext>
    </p:extLst>
  </p:cSld>
  <p:clrMapOvr>
    <a:masterClrMapping/>
  </p:clrMapOvr>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F5E7DB-3F23-6941-8E73-D2F6B23FC76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30B0C34-355B-8AA0-6931-EADCC2D12128}"/>
              </a:ext>
            </a:extLst>
          </p:cNvPr>
          <p:cNvSpPr>
            <a:spLocks noGrp="1"/>
          </p:cNvSpPr>
          <p:nvPr>
            <p:ph type="title"/>
          </p:nvPr>
        </p:nvSpPr>
        <p:spPr/>
        <p:txBody>
          <a:bodyPr/>
          <a:lstStyle/>
          <a:p>
            <a:r>
              <a:rPr lang="es-ES" b="0" dirty="0">
                <a:ea typeface="+mj-lt"/>
                <a:cs typeface="+mj-lt"/>
              </a:rPr>
              <a:t>2.6.2. Compatibilidad entre navegadores.</a:t>
            </a:r>
            <a:endParaRPr lang="es-ES" dirty="0"/>
          </a:p>
        </p:txBody>
      </p:sp>
      <p:sp>
        <p:nvSpPr>
          <p:cNvPr id="3" name="Marcador de contenido 2">
            <a:extLst>
              <a:ext uri="{FF2B5EF4-FFF2-40B4-BE49-F238E27FC236}">
                <a16:creationId xmlns:a16="http://schemas.microsoft.com/office/drawing/2014/main" id="{A9352C95-F4ED-90B4-7B10-30D534BB701F}"/>
              </a:ext>
            </a:extLst>
          </p:cNvPr>
          <p:cNvSpPr>
            <a:spLocks noGrp="1"/>
          </p:cNvSpPr>
          <p:nvPr>
            <p:ph idx="1"/>
          </p:nvPr>
        </p:nvSpPr>
        <p:spPr/>
        <p:txBody>
          <a:bodyPr vert="horz" lIns="91440" tIns="45720" rIns="91440" bIns="45720" rtlCol="0" anchor="t">
            <a:normAutofit/>
          </a:bodyPr>
          <a:lstStyle/>
          <a:p>
            <a:r>
              <a:rPr lang="es-ES" dirty="0" err="1">
                <a:ea typeface="+mn-lt"/>
                <a:cs typeface="+mn-lt"/>
              </a:rPr>
              <a:t>Reset</a:t>
            </a:r>
            <a:r>
              <a:rPr lang="es-ES" dirty="0">
                <a:ea typeface="+mn-lt"/>
                <a:cs typeface="+mn-lt"/>
              </a:rPr>
              <a:t> y normalización. Antes de empezar a estilizar, es una buena práctica neutralizar las diferencias en los estilos por defecto que los navegadores aplican a las etiquetas HTML.</a:t>
            </a:r>
            <a:endParaRPr lang="es-ES" dirty="0"/>
          </a:p>
          <a:p>
            <a:pPr lvl="1">
              <a:buFont typeface="Courier New" panose="020B0604020202020204" pitchFamily="34" charset="0"/>
              <a:buChar char="o"/>
            </a:pPr>
            <a:r>
              <a:rPr lang="es-ES" dirty="0" err="1">
                <a:ea typeface="+mn-lt"/>
                <a:cs typeface="+mn-lt"/>
              </a:rPr>
              <a:t>Reset</a:t>
            </a:r>
            <a:r>
              <a:rPr lang="es-ES" dirty="0">
                <a:ea typeface="+mn-lt"/>
                <a:cs typeface="+mn-lt"/>
              </a:rPr>
              <a:t>: Una hoja de estilo que elimina casi todos los estilos predeterminados del navegador, dejando una "página en blanco" para que el desarrollador construya los estilos desde cero.</a:t>
            </a:r>
          </a:p>
          <a:p>
            <a:pPr lvl="1">
              <a:buFont typeface="Courier New" panose="020B0604020202020204" pitchFamily="34" charset="0"/>
              <a:buChar char="o"/>
            </a:pPr>
            <a:r>
              <a:rPr lang="es-ES" dirty="0">
                <a:ea typeface="+mn-lt"/>
                <a:cs typeface="+mn-lt"/>
              </a:rPr>
              <a:t>Normalización: Utiliza una hoja de estilo como Normalize.css, que en lugar de eliminar todos los estilos, los hace consistentes entre navegadores. Mantiene una apariencia más coherente sin tener que reescribir todos los estilos básicos.</a:t>
            </a:r>
            <a:endParaRPr lang="es-ES" dirty="0"/>
          </a:p>
          <a:p>
            <a:r>
              <a:rPr lang="es-ES" dirty="0">
                <a:ea typeface="+mn-lt"/>
                <a:cs typeface="+mn-lt"/>
              </a:rPr>
              <a:t>&lt;link </a:t>
            </a:r>
            <a:r>
              <a:rPr lang="es-ES" dirty="0" err="1">
                <a:ea typeface="+mn-lt"/>
                <a:cs typeface="+mn-lt"/>
              </a:rPr>
              <a:t>rel</a:t>
            </a:r>
            <a:r>
              <a:rPr lang="es-ES" dirty="0">
                <a:ea typeface="+mn-lt"/>
                <a:cs typeface="+mn-lt"/>
              </a:rPr>
              <a:t>="</a:t>
            </a:r>
            <a:r>
              <a:rPr lang="es-ES" dirty="0" err="1">
                <a:ea typeface="+mn-lt"/>
                <a:cs typeface="+mn-lt"/>
              </a:rPr>
              <a:t>stylesheet</a:t>
            </a:r>
            <a:r>
              <a:rPr lang="es-ES" dirty="0">
                <a:ea typeface="+mn-lt"/>
                <a:cs typeface="+mn-lt"/>
              </a:rPr>
              <a:t>" </a:t>
            </a:r>
            <a:r>
              <a:rPr lang="es-ES" dirty="0" err="1">
                <a:ea typeface="+mn-lt"/>
                <a:cs typeface="+mn-lt"/>
              </a:rPr>
              <a:t>href</a:t>
            </a:r>
            <a:r>
              <a:rPr lang="es-ES" dirty="0">
                <a:ea typeface="+mn-lt"/>
                <a:cs typeface="+mn-lt"/>
              </a:rPr>
              <a:t>="https://cdnjs.cloudflare.com/</a:t>
            </a:r>
            <a:r>
              <a:rPr lang="es-ES" dirty="0" err="1">
                <a:ea typeface="+mn-lt"/>
                <a:cs typeface="+mn-lt"/>
              </a:rPr>
              <a:t>ajax</a:t>
            </a:r>
            <a:r>
              <a:rPr lang="es-ES" dirty="0">
                <a:ea typeface="+mn-lt"/>
                <a:cs typeface="+mn-lt"/>
              </a:rPr>
              <a:t>/</a:t>
            </a:r>
            <a:r>
              <a:rPr lang="es-ES" dirty="0" err="1">
                <a:ea typeface="+mn-lt"/>
                <a:cs typeface="+mn-lt"/>
              </a:rPr>
              <a:t>libs</a:t>
            </a:r>
            <a:r>
              <a:rPr lang="es-ES" dirty="0">
                <a:ea typeface="+mn-lt"/>
                <a:cs typeface="+mn-lt"/>
              </a:rPr>
              <a:t>/</a:t>
            </a:r>
            <a:r>
              <a:rPr lang="es-ES" dirty="0" err="1">
                <a:ea typeface="+mn-lt"/>
                <a:cs typeface="+mn-lt"/>
              </a:rPr>
              <a:t>normalize</a:t>
            </a:r>
            <a:r>
              <a:rPr lang="es-ES" dirty="0">
                <a:ea typeface="+mn-lt"/>
                <a:cs typeface="+mn-lt"/>
              </a:rPr>
              <a:t>/8.0.1/normalize.min.css"&gt;</a:t>
            </a:r>
            <a:endParaRPr lang="es-ES" dirty="0"/>
          </a:p>
          <a:p>
            <a:r>
              <a:rPr lang="es-ES" dirty="0">
                <a:ea typeface="+mn-lt"/>
                <a:cs typeface="+mn-lt"/>
              </a:rPr>
              <a:t>Al combinar estas técnicas y utilizando herramientas como Can I use... para verificar la compatibilidad, puedes asegurar una experiencia de usuario sólida y predecible en todo tipo de entornos.</a:t>
            </a:r>
          </a:p>
        </p:txBody>
      </p:sp>
    </p:spTree>
    <p:extLst>
      <p:ext uri="{BB962C8B-B14F-4D97-AF65-F5344CB8AC3E}">
        <p14:creationId xmlns:p14="http://schemas.microsoft.com/office/powerpoint/2010/main" val="3075662414"/>
      </p:ext>
    </p:extLst>
  </p:cSld>
  <p:clrMapOvr>
    <a:masterClrMapping/>
  </p:clrMapOvr>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2A0C1-2CC7-3F41-3BA1-21E6EDB574A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0ECED3D-E70B-0977-0AE3-32F8DDFA2DB4}"/>
              </a:ext>
            </a:extLst>
          </p:cNvPr>
          <p:cNvSpPr>
            <a:spLocks noGrp="1"/>
          </p:cNvSpPr>
          <p:nvPr>
            <p:ph type="title"/>
          </p:nvPr>
        </p:nvSpPr>
        <p:spPr/>
        <p:txBody>
          <a:bodyPr/>
          <a:lstStyle/>
          <a:p>
            <a:r>
              <a:rPr lang="es-ES" b="0" dirty="0">
                <a:ea typeface="+mj-lt"/>
                <a:cs typeface="+mj-lt"/>
              </a:rPr>
              <a:t>2.6.3. Buenas prácticas para evitar errores comunes.</a:t>
            </a:r>
            <a:endParaRPr lang="es-ES" dirty="0"/>
          </a:p>
        </p:txBody>
      </p:sp>
      <p:sp>
        <p:nvSpPr>
          <p:cNvPr id="3" name="Marcador de contenido 2">
            <a:extLst>
              <a:ext uri="{FF2B5EF4-FFF2-40B4-BE49-F238E27FC236}">
                <a16:creationId xmlns:a16="http://schemas.microsoft.com/office/drawing/2014/main" id="{E6C6CF53-6C03-5F4B-E3EC-C885A5B4F2FA}"/>
              </a:ext>
            </a:extLst>
          </p:cNvPr>
          <p:cNvSpPr>
            <a:spLocks noGrp="1"/>
          </p:cNvSpPr>
          <p:nvPr>
            <p:ph idx="1"/>
          </p:nvPr>
        </p:nvSpPr>
        <p:spPr/>
        <p:txBody>
          <a:bodyPr vert="horz" lIns="91440" tIns="45720" rIns="91440" bIns="45720" rtlCol="0" anchor="t">
            <a:normAutofit fontScale="77500" lnSpcReduction="20000"/>
          </a:bodyPr>
          <a:lstStyle/>
          <a:p>
            <a:r>
              <a:rPr lang="es-ES" dirty="0">
                <a:ea typeface="+mn-lt"/>
                <a:cs typeface="+mn-lt"/>
              </a:rPr>
              <a:t>La mejor manera de manejar los errores en CSS es prevenirlos. Adoptar una serie de buenas prácticas desde el inicio de un proyecto te ayuda a escribir un código más limpio, predecible y fácil de mantener. Estas prácticas están diseñadas para evitar la especificidad excesiva, la falta de organización y la inconsistencia, que son las principales causas de los errores en CSS.</a:t>
            </a:r>
            <a:endParaRPr lang="es-ES" dirty="0"/>
          </a:p>
          <a:p>
            <a:r>
              <a:rPr lang="es-ES" dirty="0">
                <a:ea typeface="+mn-lt"/>
                <a:cs typeface="+mn-lt"/>
              </a:rPr>
              <a:t>Evitar selectores de alta especificidad. La especificidad de CSS es el sistema que determina qué regla de estilo se aplica a un elemento. Los selectores más específicos, como los </a:t>
            </a:r>
            <a:r>
              <a:rPr lang="es-ES" dirty="0" err="1">
                <a:ea typeface="+mn-lt"/>
                <a:cs typeface="+mn-lt"/>
              </a:rPr>
              <a:t>IDs</a:t>
            </a:r>
            <a:r>
              <a:rPr lang="es-ES" dirty="0">
                <a:ea typeface="+mn-lt"/>
                <a:cs typeface="+mn-lt"/>
              </a:rPr>
              <a:t> (#mi-id) y las cadenas de selectores (.contenedor .</a:t>
            </a:r>
            <a:r>
              <a:rPr lang="es-ES" dirty="0" err="1">
                <a:ea typeface="+mn-lt"/>
                <a:cs typeface="+mn-lt"/>
              </a:rPr>
              <a:t>card</a:t>
            </a:r>
            <a:r>
              <a:rPr lang="es-ES" dirty="0">
                <a:ea typeface="+mn-lt"/>
                <a:cs typeface="+mn-lt"/>
              </a:rPr>
              <a:t> p), son difíciles de sobrescribir. Evitar selectores de alta especificidad y la propiedad !</a:t>
            </a:r>
            <a:r>
              <a:rPr lang="es-ES" dirty="0" err="1">
                <a:ea typeface="+mn-lt"/>
                <a:cs typeface="+mn-lt"/>
              </a:rPr>
              <a:t>important</a:t>
            </a:r>
            <a:r>
              <a:rPr lang="es-ES" dirty="0">
                <a:ea typeface="+mn-lt"/>
                <a:cs typeface="+mn-lt"/>
              </a:rPr>
              <a:t> ayuda a prevenir conflictos y hace que el código sea más flexible.</a:t>
            </a:r>
            <a:endParaRPr lang="es-ES" dirty="0"/>
          </a:p>
          <a:p>
            <a:r>
              <a:rPr lang="es-ES" dirty="0">
                <a:ea typeface="+mn-lt"/>
                <a:cs typeface="+mn-lt"/>
              </a:rPr>
              <a:t>Mala práctica:</a:t>
            </a:r>
            <a:endParaRPr lang="es-ES" dirty="0"/>
          </a:p>
          <a:p>
            <a:r>
              <a:rPr lang="es-ES" b="1" dirty="0">
                <a:latin typeface="Courier New"/>
                <a:ea typeface="+mn-lt"/>
                <a:cs typeface="+mn-lt"/>
              </a:rPr>
              <a:t>#header .</a:t>
            </a:r>
            <a:r>
              <a:rPr lang="es-ES" b="1" dirty="0" err="1">
                <a:latin typeface="Courier New"/>
                <a:ea typeface="+mn-lt"/>
                <a:cs typeface="+mn-lt"/>
              </a:rPr>
              <a:t>nav-menu</a:t>
            </a:r>
            <a:r>
              <a:rPr lang="es-ES" b="1" dirty="0">
                <a:latin typeface="Courier New"/>
                <a:ea typeface="+mn-lt"/>
                <a:cs typeface="+mn-lt"/>
              </a:rPr>
              <a:t> .</a:t>
            </a:r>
            <a:r>
              <a:rPr lang="es-ES" b="1" dirty="0" err="1">
                <a:latin typeface="Courier New"/>
                <a:ea typeface="+mn-lt"/>
                <a:cs typeface="+mn-lt"/>
              </a:rPr>
              <a:t>nav-item</a:t>
            </a:r>
            <a:r>
              <a:rPr lang="es-ES" b="1" dirty="0">
                <a:latin typeface="Courier New"/>
                <a:ea typeface="+mn-lt"/>
                <a:cs typeface="+mn-lt"/>
              </a:rPr>
              <a:t> </a:t>
            </a:r>
            <a:r>
              <a:rPr lang="es-ES" b="1" dirty="0" err="1">
                <a:latin typeface="Courier New"/>
                <a:ea typeface="+mn-lt"/>
                <a:cs typeface="+mn-lt"/>
              </a:rPr>
              <a:t>a:hover</a:t>
            </a: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color: #ff0000 !</a:t>
            </a:r>
            <a:r>
              <a:rPr lang="es-ES" b="1" dirty="0" err="1">
                <a:latin typeface="Courier New"/>
                <a:ea typeface="+mn-lt"/>
                <a:cs typeface="+mn-lt"/>
              </a:rPr>
              <a:t>important</a:t>
            </a:r>
            <a:r>
              <a:rPr lang="es-ES" b="1" dirty="0">
                <a:latin typeface="Courier New"/>
                <a:ea typeface="+mn-lt"/>
                <a:cs typeface="+mn-lt"/>
              </a:rPr>
              <a:t>;</a:t>
            </a:r>
            <a:br>
              <a:rPr lang="es-ES" b="1" dirty="0">
                <a:latin typeface="Courier New"/>
                <a:ea typeface="+mn-lt"/>
                <a:cs typeface="+mn-lt"/>
              </a:rPr>
            </a:br>
            <a:r>
              <a:rPr lang="es-ES" b="1" dirty="0">
                <a:latin typeface="Courier New"/>
                <a:ea typeface="+mn-lt"/>
                <a:cs typeface="+mn-lt"/>
              </a:rPr>
              <a:t>}</a:t>
            </a:r>
          </a:p>
          <a:p>
            <a:r>
              <a:rPr lang="es-ES" dirty="0">
                <a:ea typeface="+mn-lt"/>
                <a:cs typeface="+mn-lt"/>
              </a:rPr>
              <a:t>Buena práctica:</a:t>
            </a:r>
            <a:endParaRPr lang="es-ES" dirty="0"/>
          </a:p>
          <a:p>
            <a:r>
              <a:rPr lang="es-ES" b="1" dirty="0">
                <a:latin typeface="Courier New"/>
                <a:ea typeface="+mn-lt"/>
                <a:cs typeface="+mn-lt"/>
              </a:rPr>
              <a:t>.</a:t>
            </a:r>
            <a:r>
              <a:rPr lang="es-ES" b="1" err="1">
                <a:latin typeface="Courier New"/>
                <a:ea typeface="+mn-lt"/>
                <a:cs typeface="+mn-lt"/>
              </a:rPr>
              <a:t>nav</a:t>
            </a:r>
            <a:r>
              <a:rPr lang="es-ES" b="1" dirty="0">
                <a:latin typeface="Courier New"/>
                <a:ea typeface="+mn-lt"/>
                <a:cs typeface="+mn-lt"/>
              </a:rPr>
              <a:t>-</a:t>
            </a:r>
            <a:r>
              <a:rPr lang="es-ES" b="1" err="1">
                <a:latin typeface="Courier New"/>
                <a:ea typeface="+mn-lt"/>
                <a:cs typeface="+mn-lt"/>
              </a:rPr>
              <a:t>item</a:t>
            </a:r>
            <a:r>
              <a:rPr lang="es-ES" b="1" dirty="0">
                <a:latin typeface="Courier New"/>
                <a:ea typeface="+mn-lt"/>
                <a:cs typeface="+mn-lt"/>
              </a:rPr>
              <a:t>--</a:t>
            </a:r>
            <a:r>
              <a:rPr lang="es-ES" b="1" err="1">
                <a:latin typeface="Courier New"/>
                <a:ea typeface="+mn-lt"/>
                <a:cs typeface="+mn-lt"/>
              </a:rPr>
              <a:t>hover</a:t>
            </a:r>
            <a:r>
              <a:rPr lang="es-ES" b="1" dirty="0">
                <a:latin typeface="Courier New"/>
                <a:ea typeface="+mn-lt"/>
                <a:cs typeface="+mn-lt"/>
              </a:rPr>
              <a:t> {</a:t>
            </a:r>
            <a:br>
              <a:rPr lang="es-ES" b="1" dirty="0">
                <a:latin typeface="Courier New"/>
                <a:ea typeface="+mn-lt"/>
                <a:cs typeface="+mn-lt"/>
              </a:rPr>
            </a:br>
            <a:r>
              <a:rPr lang="es-ES" b="1" dirty="0">
                <a:latin typeface="Courier New"/>
                <a:ea typeface="+mn-lt"/>
                <a:cs typeface="+mn-lt"/>
              </a:rPr>
              <a:t>  color: #ff0000;</a:t>
            </a:r>
            <a:br>
              <a:rPr lang="es-ES" b="1" dirty="0">
                <a:latin typeface="Courier New"/>
                <a:ea typeface="+mn-lt"/>
                <a:cs typeface="+mn-lt"/>
              </a:rPr>
            </a:br>
            <a:r>
              <a:rPr lang="es-ES" b="1" dirty="0">
                <a:latin typeface="Courier New"/>
                <a:ea typeface="+mn-lt"/>
                <a:cs typeface="+mn-lt"/>
              </a:rPr>
              <a:t>}</a:t>
            </a:r>
            <a:endParaRPr lang="es-ES" b="1">
              <a:latin typeface="Courier New"/>
            </a:endParaRPr>
          </a:p>
          <a:p>
            <a:r>
              <a:rPr lang="es-ES" dirty="0">
                <a:ea typeface="+mn-lt"/>
                <a:cs typeface="+mn-lt"/>
              </a:rPr>
              <a:t>La buena práctica utiliza una clase simple, que es más fácil de sobrescribir y de reutilizar.</a:t>
            </a:r>
            <a:endParaRPr lang="es-ES" dirty="0"/>
          </a:p>
          <a:p>
            <a:endParaRPr lang="es-ES" dirty="0"/>
          </a:p>
        </p:txBody>
      </p:sp>
    </p:spTree>
    <p:extLst>
      <p:ext uri="{BB962C8B-B14F-4D97-AF65-F5344CB8AC3E}">
        <p14:creationId xmlns:p14="http://schemas.microsoft.com/office/powerpoint/2010/main" val="1603513357"/>
      </p:ext>
    </p:extLst>
  </p:cSld>
  <p:clrMapOvr>
    <a:masterClrMapping/>
  </p:clrMapOvr>
</p:sld>
</file>

<file path=ppt/slides/slide2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F3FE49-9CC1-8C1B-2A63-CA93F483BF0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AD7B973-B652-D6E5-8A91-B0A8E86924BD}"/>
              </a:ext>
            </a:extLst>
          </p:cNvPr>
          <p:cNvSpPr>
            <a:spLocks noGrp="1"/>
          </p:cNvSpPr>
          <p:nvPr>
            <p:ph type="title"/>
          </p:nvPr>
        </p:nvSpPr>
        <p:spPr/>
        <p:txBody>
          <a:bodyPr/>
          <a:lstStyle/>
          <a:p>
            <a:r>
              <a:rPr lang="es-ES" b="0" dirty="0">
                <a:ea typeface="+mj-lt"/>
                <a:cs typeface="+mj-lt"/>
              </a:rPr>
              <a:t>2.6.3. Buenas prácticas para evitar errores comunes.</a:t>
            </a:r>
            <a:endParaRPr lang="es-ES" dirty="0"/>
          </a:p>
        </p:txBody>
      </p:sp>
      <p:sp>
        <p:nvSpPr>
          <p:cNvPr id="3" name="Marcador de contenido 2">
            <a:extLst>
              <a:ext uri="{FF2B5EF4-FFF2-40B4-BE49-F238E27FC236}">
                <a16:creationId xmlns:a16="http://schemas.microsoft.com/office/drawing/2014/main" id="{3B612BE7-805C-F4B4-32C8-F0FF59367352}"/>
              </a:ext>
            </a:extLst>
          </p:cNvPr>
          <p:cNvSpPr>
            <a:spLocks noGrp="1"/>
          </p:cNvSpPr>
          <p:nvPr>
            <p:ph idx="1"/>
          </p:nvPr>
        </p:nvSpPr>
        <p:spPr/>
        <p:txBody>
          <a:bodyPr vert="horz" lIns="91440" tIns="45720" rIns="91440" bIns="45720" rtlCol="0" anchor="t">
            <a:normAutofit fontScale="70000" lnSpcReduction="20000"/>
          </a:bodyPr>
          <a:lstStyle/>
          <a:p>
            <a:r>
              <a:rPr lang="es-ES" dirty="0">
                <a:ea typeface="+mn-lt"/>
                <a:cs typeface="+mn-lt"/>
              </a:rPr>
              <a:t>Usar una metodología CSS. Adoptar una metodología como BEM, OOCSS o SMACSS te da un marco de trabajo para nombrar clases de forma consistente. Esto elimina la ambigüedad y reduce la probabilidad de colisiones de nombres.</a:t>
            </a:r>
          </a:p>
          <a:p>
            <a:r>
              <a:rPr lang="es-ES" dirty="0">
                <a:ea typeface="+mn-lt"/>
                <a:cs typeface="+mn-lt"/>
              </a:rPr>
              <a:t>Sin metodología:</a:t>
            </a:r>
            <a:endParaRPr lang="es-ES" dirty="0"/>
          </a:p>
          <a:p>
            <a:pPr marL="0" indent="0">
              <a:buNone/>
            </a:pPr>
            <a:r>
              <a:rPr lang="es-ES" b="1" dirty="0">
                <a:latin typeface="Courier New"/>
                <a:ea typeface="+mn-lt"/>
                <a:cs typeface="+mn-lt"/>
              </a:rPr>
              <a:t>&lt;</a:t>
            </a:r>
            <a:r>
              <a:rPr lang="es-ES" b="1" err="1">
                <a:latin typeface="Courier New"/>
                <a:ea typeface="+mn-lt"/>
                <a:cs typeface="+mn-lt"/>
              </a:rPr>
              <a:t>div</a:t>
            </a:r>
            <a:r>
              <a:rPr lang="es-ES" b="1" dirty="0">
                <a:latin typeface="Courier New"/>
                <a:ea typeface="+mn-lt"/>
                <a:cs typeface="+mn-lt"/>
              </a:rPr>
              <a:t> </a:t>
            </a:r>
            <a:r>
              <a:rPr lang="es-ES" b="1" err="1">
                <a:latin typeface="Courier New"/>
                <a:ea typeface="+mn-lt"/>
                <a:cs typeface="+mn-lt"/>
              </a:rPr>
              <a:t>class</a:t>
            </a:r>
            <a:r>
              <a:rPr lang="es-ES" b="1" dirty="0">
                <a:latin typeface="Courier New"/>
                <a:ea typeface="+mn-lt"/>
                <a:cs typeface="+mn-lt"/>
              </a:rPr>
              <a:t>="</a:t>
            </a:r>
            <a:r>
              <a:rPr lang="es-ES" b="1" err="1">
                <a:latin typeface="Courier New"/>
                <a:ea typeface="+mn-lt"/>
                <a:cs typeface="+mn-lt"/>
              </a:rPr>
              <a:t>header</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a:t>
            </a:r>
            <a:r>
              <a:rPr lang="es-ES" b="1" err="1">
                <a:latin typeface="Courier New"/>
                <a:ea typeface="+mn-lt"/>
                <a:cs typeface="+mn-lt"/>
              </a:rPr>
              <a:t>div</a:t>
            </a:r>
            <a:r>
              <a:rPr lang="es-ES" b="1" dirty="0">
                <a:latin typeface="Courier New"/>
                <a:ea typeface="+mn-lt"/>
                <a:cs typeface="+mn-lt"/>
              </a:rPr>
              <a:t> </a:t>
            </a:r>
            <a:r>
              <a:rPr lang="es-ES" b="1" err="1">
                <a:latin typeface="Courier New"/>
                <a:ea typeface="+mn-lt"/>
                <a:cs typeface="+mn-lt"/>
              </a:rPr>
              <a:t>class</a:t>
            </a:r>
            <a:r>
              <a:rPr lang="es-ES" b="1" dirty="0">
                <a:latin typeface="Courier New"/>
                <a:ea typeface="+mn-lt"/>
                <a:cs typeface="+mn-lt"/>
              </a:rPr>
              <a:t>="</a:t>
            </a:r>
            <a:r>
              <a:rPr lang="es-ES" b="1" err="1">
                <a:latin typeface="Courier New"/>
                <a:ea typeface="+mn-lt"/>
                <a:cs typeface="+mn-lt"/>
              </a:rPr>
              <a:t>title</a:t>
            </a:r>
            <a:r>
              <a:rPr lang="es-ES" b="1" dirty="0">
                <a:latin typeface="Courier New"/>
                <a:ea typeface="+mn-lt"/>
                <a:cs typeface="+mn-lt"/>
              </a:rPr>
              <a:t>"&gt;...&lt;/</a:t>
            </a:r>
            <a:r>
              <a:rPr lang="es-ES" b="1" err="1">
                <a:latin typeface="Courier New"/>
                <a:ea typeface="+mn-lt"/>
                <a:cs typeface="+mn-lt"/>
              </a:rPr>
              <a:t>div</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&lt;/</a:t>
            </a:r>
            <a:r>
              <a:rPr lang="es-ES" b="1" err="1">
                <a:latin typeface="Courier New"/>
                <a:ea typeface="+mn-lt"/>
                <a:cs typeface="+mn-lt"/>
              </a:rPr>
              <a:t>div</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&lt;</a:t>
            </a:r>
            <a:r>
              <a:rPr lang="es-ES" b="1" err="1">
                <a:latin typeface="Courier New"/>
                <a:ea typeface="+mn-lt"/>
                <a:cs typeface="+mn-lt"/>
              </a:rPr>
              <a:t>div</a:t>
            </a:r>
            <a:r>
              <a:rPr lang="es-ES" b="1" dirty="0">
                <a:latin typeface="Courier New"/>
                <a:ea typeface="+mn-lt"/>
                <a:cs typeface="+mn-lt"/>
              </a:rPr>
              <a:t> </a:t>
            </a:r>
            <a:r>
              <a:rPr lang="es-ES" b="1" err="1">
                <a:latin typeface="Courier New"/>
                <a:ea typeface="+mn-lt"/>
                <a:cs typeface="+mn-lt"/>
              </a:rPr>
              <a:t>class</a:t>
            </a:r>
            <a:r>
              <a:rPr lang="es-ES" b="1" dirty="0">
                <a:latin typeface="Courier New"/>
                <a:ea typeface="+mn-lt"/>
                <a:cs typeface="+mn-lt"/>
              </a:rPr>
              <a:t>="</a:t>
            </a:r>
            <a:r>
              <a:rPr lang="es-ES" b="1" err="1">
                <a:latin typeface="Courier New"/>
                <a:ea typeface="+mn-lt"/>
                <a:cs typeface="+mn-lt"/>
              </a:rPr>
              <a:t>footer</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a:t>
            </a:r>
            <a:r>
              <a:rPr lang="es-ES" b="1" err="1">
                <a:latin typeface="Courier New"/>
                <a:ea typeface="+mn-lt"/>
                <a:cs typeface="+mn-lt"/>
              </a:rPr>
              <a:t>div</a:t>
            </a:r>
            <a:r>
              <a:rPr lang="es-ES" b="1" dirty="0">
                <a:latin typeface="Courier New"/>
                <a:ea typeface="+mn-lt"/>
                <a:cs typeface="+mn-lt"/>
              </a:rPr>
              <a:t> </a:t>
            </a:r>
            <a:r>
              <a:rPr lang="es-ES" b="1" err="1">
                <a:latin typeface="Courier New"/>
                <a:ea typeface="+mn-lt"/>
                <a:cs typeface="+mn-lt"/>
              </a:rPr>
              <a:t>class</a:t>
            </a:r>
            <a:r>
              <a:rPr lang="es-ES" b="1" dirty="0">
                <a:latin typeface="Courier New"/>
                <a:ea typeface="+mn-lt"/>
                <a:cs typeface="+mn-lt"/>
              </a:rPr>
              <a:t>="</a:t>
            </a:r>
            <a:r>
              <a:rPr lang="es-ES" b="1" err="1">
                <a:latin typeface="Courier New"/>
                <a:ea typeface="+mn-lt"/>
                <a:cs typeface="+mn-lt"/>
              </a:rPr>
              <a:t>title</a:t>
            </a:r>
            <a:r>
              <a:rPr lang="es-ES" b="1" dirty="0">
                <a:latin typeface="Courier New"/>
                <a:ea typeface="+mn-lt"/>
                <a:cs typeface="+mn-lt"/>
              </a:rPr>
              <a:t>"&gt;...&lt;/</a:t>
            </a:r>
            <a:r>
              <a:rPr lang="es-ES" b="1" err="1">
                <a:latin typeface="Courier New"/>
                <a:ea typeface="+mn-lt"/>
                <a:cs typeface="+mn-lt"/>
              </a:rPr>
              <a:t>div</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&lt;/</a:t>
            </a:r>
            <a:r>
              <a:rPr lang="es-ES" b="1" err="1">
                <a:latin typeface="Courier New"/>
                <a:ea typeface="+mn-lt"/>
                <a:cs typeface="+mn-lt"/>
              </a:rPr>
              <a:t>div</a:t>
            </a:r>
            <a:r>
              <a:rPr lang="es-ES" b="1" dirty="0">
                <a:latin typeface="Courier New"/>
                <a:ea typeface="+mn-lt"/>
                <a:cs typeface="+mn-lt"/>
              </a:rPr>
              <a:t>&gt;</a:t>
            </a:r>
            <a:endParaRPr lang="es-ES" b="1" dirty="0">
              <a:latin typeface="Courier New"/>
              <a:cs typeface="Courier New"/>
            </a:endParaRPr>
          </a:p>
          <a:p>
            <a:r>
              <a:rPr lang="es-ES" dirty="0">
                <a:ea typeface="+mn-lt"/>
                <a:cs typeface="+mn-lt"/>
              </a:rPr>
              <a:t>En este caso, la clase </a:t>
            </a:r>
            <a:r>
              <a:rPr lang="es-ES" dirty="0" err="1">
                <a:ea typeface="+mn-lt"/>
                <a:cs typeface="+mn-lt"/>
              </a:rPr>
              <a:t>title</a:t>
            </a:r>
            <a:r>
              <a:rPr lang="es-ES" dirty="0">
                <a:ea typeface="+mn-lt"/>
                <a:cs typeface="+mn-lt"/>
              </a:rPr>
              <a:t> puede generar conflictos.</a:t>
            </a:r>
          </a:p>
          <a:p>
            <a:r>
              <a:rPr lang="es-ES" dirty="0">
                <a:ea typeface="+mn-lt"/>
                <a:cs typeface="+mn-lt"/>
              </a:rPr>
              <a:t>Con BEM, el nombre de la clase es único para el bloque en el que se encuentra:</a:t>
            </a:r>
          </a:p>
          <a:p>
            <a:pPr marL="0" indent="0">
              <a:buNone/>
            </a:pPr>
            <a:r>
              <a:rPr lang="es-ES" b="1" dirty="0">
                <a:latin typeface="Courier New"/>
                <a:ea typeface="+mn-lt"/>
                <a:cs typeface="+mn-lt"/>
              </a:rPr>
              <a:t>&lt;</a:t>
            </a:r>
            <a:r>
              <a:rPr lang="es-ES" b="1" dirty="0" err="1">
                <a:latin typeface="Courier New"/>
                <a:ea typeface="+mn-lt"/>
                <a:cs typeface="+mn-lt"/>
              </a:rPr>
              <a:t>div</a:t>
            </a:r>
            <a:r>
              <a:rPr lang="es-ES" b="1" dirty="0">
                <a:latin typeface="Courier New"/>
                <a:ea typeface="+mn-lt"/>
                <a:cs typeface="+mn-lt"/>
              </a:rPr>
              <a:t> </a:t>
            </a:r>
            <a:r>
              <a:rPr lang="es-ES" b="1" dirty="0" err="1">
                <a:latin typeface="Courier New"/>
                <a:ea typeface="+mn-lt"/>
                <a:cs typeface="+mn-lt"/>
              </a:rPr>
              <a:t>class</a:t>
            </a:r>
            <a:r>
              <a:rPr lang="es-ES" b="1" dirty="0">
                <a:latin typeface="Courier New"/>
                <a:ea typeface="+mn-lt"/>
                <a:cs typeface="+mn-lt"/>
              </a:rPr>
              <a:t>="</a:t>
            </a:r>
            <a:r>
              <a:rPr lang="es-ES" b="1" dirty="0" err="1">
                <a:latin typeface="Courier New"/>
                <a:ea typeface="+mn-lt"/>
                <a:cs typeface="+mn-lt"/>
              </a:rPr>
              <a:t>header</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div</a:t>
            </a:r>
            <a:r>
              <a:rPr lang="es-ES" b="1" dirty="0">
                <a:latin typeface="Courier New"/>
                <a:ea typeface="+mn-lt"/>
                <a:cs typeface="+mn-lt"/>
              </a:rPr>
              <a:t> </a:t>
            </a:r>
            <a:r>
              <a:rPr lang="es-ES" b="1" dirty="0" err="1">
                <a:latin typeface="Courier New"/>
                <a:ea typeface="+mn-lt"/>
                <a:cs typeface="+mn-lt"/>
              </a:rPr>
              <a:t>class</a:t>
            </a:r>
            <a:r>
              <a:rPr lang="es-ES" b="1" dirty="0">
                <a:latin typeface="Courier New"/>
                <a:ea typeface="+mn-lt"/>
                <a:cs typeface="+mn-lt"/>
              </a:rPr>
              <a:t>="</a:t>
            </a:r>
            <a:r>
              <a:rPr lang="es-ES" b="1" dirty="0" err="1">
                <a:latin typeface="Courier New"/>
                <a:ea typeface="+mn-lt"/>
                <a:cs typeface="+mn-lt"/>
              </a:rPr>
              <a:t>header</a:t>
            </a:r>
            <a:r>
              <a:rPr lang="es-ES" b="1" dirty="0">
                <a:latin typeface="Courier New"/>
                <a:ea typeface="+mn-lt"/>
                <a:cs typeface="+mn-lt"/>
              </a:rPr>
              <a:t>__</a:t>
            </a:r>
            <a:r>
              <a:rPr lang="es-ES" b="1" dirty="0" err="1">
                <a:latin typeface="Courier New"/>
                <a:ea typeface="+mn-lt"/>
                <a:cs typeface="+mn-lt"/>
              </a:rPr>
              <a:t>title</a:t>
            </a:r>
            <a:r>
              <a:rPr lang="es-ES" b="1" dirty="0">
                <a:latin typeface="Courier New"/>
                <a:ea typeface="+mn-lt"/>
                <a:cs typeface="+mn-lt"/>
              </a:rPr>
              <a:t>"&gt;...&lt;/</a:t>
            </a:r>
            <a:r>
              <a:rPr lang="es-ES" b="1" dirty="0" err="1">
                <a:latin typeface="Courier New"/>
                <a:ea typeface="+mn-lt"/>
                <a:cs typeface="+mn-lt"/>
              </a:rPr>
              <a:t>div</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&lt;/</a:t>
            </a:r>
            <a:r>
              <a:rPr lang="es-ES" b="1" dirty="0" err="1">
                <a:latin typeface="Courier New"/>
                <a:ea typeface="+mn-lt"/>
                <a:cs typeface="+mn-lt"/>
              </a:rPr>
              <a:t>div</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&lt;</a:t>
            </a:r>
            <a:r>
              <a:rPr lang="es-ES" b="1" dirty="0" err="1">
                <a:latin typeface="Courier New"/>
                <a:ea typeface="+mn-lt"/>
                <a:cs typeface="+mn-lt"/>
              </a:rPr>
              <a:t>div</a:t>
            </a:r>
            <a:r>
              <a:rPr lang="es-ES" b="1" dirty="0">
                <a:latin typeface="Courier New"/>
                <a:ea typeface="+mn-lt"/>
                <a:cs typeface="+mn-lt"/>
              </a:rPr>
              <a:t> </a:t>
            </a:r>
            <a:r>
              <a:rPr lang="es-ES" b="1" dirty="0" err="1">
                <a:latin typeface="Courier New"/>
                <a:ea typeface="+mn-lt"/>
                <a:cs typeface="+mn-lt"/>
              </a:rPr>
              <a:t>class</a:t>
            </a:r>
            <a:r>
              <a:rPr lang="es-ES" b="1" dirty="0">
                <a:latin typeface="Courier New"/>
                <a:ea typeface="+mn-lt"/>
                <a:cs typeface="+mn-lt"/>
              </a:rPr>
              <a:t>="</a:t>
            </a:r>
            <a:r>
              <a:rPr lang="es-ES" b="1" dirty="0" err="1">
                <a:latin typeface="Courier New"/>
                <a:ea typeface="+mn-lt"/>
                <a:cs typeface="+mn-lt"/>
              </a:rPr>
              <a:t>footer</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  &lt;</a:t>
            </a:r>
            <a:r>
              <a:rPr lang="es-ES" b="1" dirty="0" err="1">
                <a:latin typeface="Courier New"/>
                <a:ea typeface="+mn-lt"/>
                <a:cs typeface="+mn-lt"/>
              </a:rPr>
              <a:t>div</a:t>
            </a:r>
            <a:r>
              <a:rPr lang="es-ES" b="1" dirty="0">
                <a:latin typeface="Courier New"/>
                <a:ea typeface="+mn-lt"/>
                <a:cs typeface="+mn-lt"/>
              </a:rPr>
              <a:t> </a:t>
            </a:r>
            <a:r>
              <a:rPr lang="es-ES" b="1" dirty="0" err="1">
                <a:latin typeface="Courier New"/>
                <a:ea typeface="+mn-lt"/>
                <a:cs typeface="+mn-lt"/>
              </a:rPr>
              <a:t>class</a:t>
            </a:r>
            <a:r>
              <a:rPr lang="es-ES" b="1" dirty="0">
                <a:latin typeface="Courier New"/>
                <a:ea typeface="+mn-lt"/>
                <a:cs typeface="+mn-lt"/>
              </a:rPr>
              <a:t>="</a:t>
            </a:r>
            <a:r>
              <a:rPr lang="es-ES" b="1" dirty="0" err="1">
                <a:latin typeface="Courier New"/>
                <a:ea typeface="+mn-lt"/>
                <a:cs typeface="+mn-lt"/>
              </a:rPr>
              <a:t>footer</a:t>
            </a:r>
            <a:r>
              <a:rPr lang="es-ES" b="1" dirty="0">
                <a:latin typeface="Courier New"/>
                <a:ea typeface="+mn-lt"/>
                <a:cs typeface="+mn-lt"/>
              </a:rPr>
              <a:t>__</a:t>
            </a:r>
            <a:r>
              <a:rPr lang="es-ES" b="1" dirty="0" err="1">
                <a:latin typeface="Courier New"/>
                <a:ea typeface="+mn-lt"/>
                <a:cs typeface="+mn-lt"/>
              </a:rPr>
              <a:t>title</a:t>
            </a:r>
            <a:r>
              <a:rPr lang="es-ES" b="1" dirty="0">
                <a:latin typeface="Courier New"/>
                <a:ea typeface="+mn-lt"/>
                <a:cs typeface="+mn-lt"/>
              </a:rPr>
              <a:t>"&gt;...&lt;/</a:t>
            </a:r>
            <a:r>
              <a:rPr lang="es-ES" b="1" dirty="0" err="1">
                <a:latin typeface="Courier New"/>
                <a:ea typeface="+mn-lt"/>
                <a:cs typeface="+mn-lt"/>
              </a:rPr>
              <a:t>div</a:t>
            </a:r>
            <a:r>
              <a:rPr lang="es-ES" b="1" dirty="0">
                <a:latin typeface="Courier New"/>
                <a:ea typeface="+mn-lt"/>
                <a:cs typeface="+mn-lt"/>
              </a:rPr>
              <a:t>&gt;</a:t>
            </a:r>
            <a:br>
              <a:rPr lang="es-ES" b="1" dirty="0">
                <a:latin typeface="Courier New"/>
                <a:ea typeface="+mn-lt"/>
                <a:cs typeface="+mn-lt"/>
              </a:rPr>
            </a:br>
            <a:r>
              <a:rPr lang="es-ES" b="1" dirty="0">
                <a:latin typeface="Courier New"/>
                <a:ea typeface="+mn-lt"/>
                <a:cs typeface="+mn-lt"/>
              </a:rPr>
              <a:t>&lt;/</a:t>
            </a:r>
            <a:r>
              <a:rPr lang="es-ES" b="1" dirty="0" err="1">
                <a:latin typeface="Courier New"/>
                <a:ea typeface="+mn-lt"/>
                <a:cs typeface="+mn-lt"/>
              </a:rPr>
              <a:t>div</a:t>
            </a:r>
            <a:r>
              <a:rPr lang="es-ES" b="1" dirty="0">
                <a:latin typeface="Courier New"/>
                <a:ea typeface="+mn-lt"/>
                <a:cs typeface="+mn-lt"/>
              </a:rPr>
              <a:t>&gt;</a:t>
            </a:r>
          </a:p>
        </p:txBody>
      </p:sp>
    </p:spTree>
    <p:extLst>
      <p:ext uri="{BB962C8B-B14F-4D97-AF65-F5344CB8AC3E}">
        <p14:creationId xmlns:p14="http://schemas.microsoft.com/office/powerpoint/2010/main" val="194237746"/>
      </p:ext>
    </p:extLst>
  </p:cSld>
  <p:clrMapOvr>
    <a:masterClrMapping/>
  </p:clrMapOvr>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C09DCD-5606-5DF4-AF1B-E178A6F6364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91C541A-1E46-DEBF-2688-66347E29C985}"/>
              </a:ext>
            </a:extLst>
          </p:cNvPr>
          <p:cNvSpPr>
            <a:spLocks noGrp="1"/>
          </p:cNvSpPr>
          <p:nvPr>
            <p:ph type="title"/>
          </p:nvPr>
        </p:nvSpPr>
        <p:spPr/>
        <p:txBody>
          <a:bodyPr/>
          <a:lstStyle/>
          <a:p>
            <a:r>
              <a:rPr lang="es-ES" b="0" dirty="0">
                <a:ea typeface="+mj-lt"/>
                <a:cs typeface="+mj-lt"/>
              </a:rPr>
              <a:t>2.6.3. Buenas prácticas para evitar errores comunes.</a:t>
            </a:r>
            <a:endParaRPr lang="es-ES" dirty="0"/>
          </a:p>
        </p:txBody>
      </p:sp>
      <p:sp>
        <p:nvSpPr>
          <p:cNvPr id="3" name="Marcador de contenido 2">
            <a:extLst>
              <a:ext uri="{FF2B5EF4-FFF2-40B4-BE49-F238E27FC236}">
                <a16:creationId xmlns:a16="http://schemas.microsoft.com/office/drawing/2014/main" id="{AF6D1D55-AF8A-1851-D4FE-31D8CA08009F}"/>
              </a:ext>
            </a:extLst>
          </p:cNvPr>
          <p:cNvSpPr>
            <a:spLocks noGrp="1"/>
          </p:cNvSpPr>
          <p:nvPr>
            <p:ph idx="1"/>
          </p:nvPr>
        </p:nvSpPr>
        <p:spPr/>
        <p:txBody>
          <a:bodyPr vert="horz" lIns="91440" tIns="45720" rIns="91440" bIns="45720" rtlCol="0" anchor="t">
            <a:normAutofit fontScale="70000" lnSpcReduction="20000"/>
          </a:bodyPr>
          <a:lstStyle/>
          <a:p>
            <a:r>
              <a:rPr lang="es-ES">
                <a:ea typeface="+mn-lt"/>
                <a:cs typeface="+mn-lt"/>
              </a:rPr>
              <a:t>Modularizar el código: Organizar tu CSS en múltiples archivos pequeños, cada uno dedicado a un propósito específico (por ejemplo, variables.css, botones.css, tarjetas.css), hace que el código sea más fácil de gestionar. Esto evita tener un archivo styles.css monolítico y difícil de navegar.</a:t>
            </a:r>
            <a:endParaRPr lang="es-ES" dirty="0">
              <a:ea typeface="+mn-lt"/>
              <a:cs typeface="+mn-lt"/>
            </a:endParaRPr>
          </a:p>
          <a:p>
            <a:r>
              <a:rPr lang="es-ES" dirty="0">
                <a:ea typeface="+mn-lt"/>
                <a:cs typeface="+mn-lt"/>
              </a:rPr>
              <a:t>Aprovechar las herramientas de </a:t>
            </a:r>
            <a:r>
              <a:rPr lang="es-ES">
                <a:ea typeface="+mn-lt"/>
                <a:cs typeface="+mn-lt"/>
              </a:rPr>
              <a:t>automatización: Integrar herramientas de validación y </a:t>
            </a:r>
            <a:r>
              <a:rPr lang="es-ES" err="1">
                <a:ea typeface="+mn-lt"/>
                <a:cs typeface="+mn-lt"/>
              </a:rPr>
              <a:t>linting</a:t>
            </a:r>
            <a:r>
              <a:rPr lang="es-ES" dirty="0">
                <a:ea typeface="+mn-lt"/>
                <a:cs typeface="+mn-lt"/>
              </a:rPr>
              <a:t> en tu flujo de trabajo es una forma de automatizar la detección de errores.</a:t>
            </a:r>
          </a:p>
          <a:p>
            <a:pPr lvl="1">
              <a:buFont typeface="Courier New" panose="020B0604020202020204" pitchFamily="34" charset="0"/>
              <a:buChar char="o"/>
            </a:pPr>
            <a:r>
              <a:rPr lang="es-ES" dirty="0" err="1">
                <a:ea typeface="+mn-lt"/>
                <a:cs typeface="+mn-lt"/>
              </a:rPr>
              <a:t>Linters</a:t>
            </a:r>
            <a:r>
              <a:rPr lang="es-ES" dirty="0">
                <a:ea typeface="+mn-lt"/>
                <a:cs typeface="+mn-lt"/>
              </a:rPr>
              <a:t> (como </a:t>
            </a:r>
            <a:r>
              <a:rPr lang="es-ES" dirty="0" err="1">
                <a:ea typeface="+mn-lt"/>
                <a:cs typeface="+mn-lt"/>
              </a:rPr>
              <a:t>Stylelint</a:t>
            </a:r>
            <a:r>
              <a:rPr lang="es-ES" dirty="0">
                <a:ea typeface="+mn-lt"/>
                <a:cs typeface="+mn-lt"/>
              </a:rPr>
              <a:t>) te advierten sobre inconsistencias de estilo y posibles errores de lógica.</a:t>
            </a:r>
            <a:endParaRPr lang="es-ES"/>
          </a:p>
          <a:p>
            <a:pPr lvl="1">
              <a:buFont typeface="Courier New" panose="020B0604020202020204" pitchFamily="34" charset="0"/>
              <a:buChar char="o"/>
            </a:pPr>
            <a:r>
              <a:rPr lang="es-ES" dirty="0">
                <a:ea typeface="+mn-lt"/>
                <a:cs typeface="+mn-lt"/>
              </a:rPr>
              <a:t>Validadores (como el del W3C) aseguran que tu sintaxis sea correcta.</a:t>
            </a:r>
          </a:p>
          <a:p>
            <a:r>
              <a:rPr lang="es-ES">
                <a:ea typeface="+mn-lt"/>
                <a:cs typeface="+mn-lt"/>
              </a:rPr>
              <a:t>Documentar tu código: Aunque BEM ya es descriptivo por sí mismo, añadir comentarios en tu código CSS puede ser muy útil, especialmente en secciones complejas o cuando se usan trucos de maquetación.</a:t>
            </a:r>
            <a:endParaRPr lang="es-ES" dirty="0"/>
          </a:p>
          <a:p>
            <a:r>
              <a:rPr lang="es-ES" dirty="0">
                <a:ea typeface="+mn-lt"/>
                <a:cs typeface="+mn-lt"/>
              </a:rPr>
              <a:t>/*</a:t>
            </a:r>
            <a:br>
              <a:rPr lang="es-ES" dirty="0">
                <a:ea typeface="+mn-lt"/>
                <a:cs typeface="+mn-lt"/>
              </a:rPr>
            </a:br>
            <a:r>
              <a:rPr lang="es-ES" dirty="0">
                <a:ea typeface="+mn-lt"/>
                <a:cs typeface="+mn-lt"/>
              </a:rPr>
              <a:t>* Sección de ejemplos de buenas prácticas</a:t>
            </a:r>
            <a:br>
              <a:rPr lang="es-ES" dirty="0">
                <a:ea typeface="+mn-lt"/>
                <a:cs typeface="+mn-lt"/>
              </a:rPr>
            </a:br>
            <a:r>
              <a:rPr lang="es-ES" dirty="0">
                <a:ea typeface="+mn-lt"/>
                <a:cs typeface="+mn-lt"/>
              </a:rPr>
              <a:t>* Fecha: 10/Oct/2025</a:t>
            </a:r>
            <a:br>
              <a:rPr lang="es-ES" dirty="0">
                <a:ea typeface="+mn-lt"/>
                <a:cs typeface="+mn-lt"/>
              </a:rPr>
            </a:br>
            <a:r>
              <a:rPr lang="es-ES" dirty="0">
                <a:ea typeface="+mn-lt"/>
                <a:cs typeface="+mn-lt"/>
              </a:rPr>
              <a:t>* --------------------------------</a:t>
            </a:r>
            <a:br>
              <a:rPr lang="es-ES" dirty="0">
                <a:ea typeface="+mn-lt"/>
                <a:cs typeface="+mn-lt"/>
              </a:rPr>
            </a:br>
            <a:r>
              <a:rPr lang="es-ES" dirty="0">
                <a:ea typeface="+mn-lt"/>
                <a:cs typeface="+mn-lt"/>
              </a:rPr>
              <a:t>*/</a:t>
            </a:r>
            <a:br>
              <a:rPr lang="es-ES" dirty="0">
                <a:ea typeface="+mn-lt"/>
                <a:cs typeface="+mn-lt"/>
              </a:rPr>
            </a:br>
            <a:r>
              <a:rPr lang="es-ES" dirty="0">
                <a:ea typeface="+mn-lt"/>
                <a:cs typeface="+mn-lt"/>
              </a:rPr>
              <a:t>.</a:t>
            </a:r>
            <a:r>
              <a:rPr lang="es-ES" dirty="0" err="1">
                <a:ea typeface="+mn-lt"/>
                <a:cs typeface="+mn-lt"/>
              </a:rPr>
              <a:t>card</a:t>
            </a:r>
            <a:r>
              <a:rPr lang="es-ES" dirty="0">
                <a:ea typeface="+mn-lt"/>
                <a:cs typeface="+mn-lt"/>
              </a:rPr>
              <a:t> {</a:t>
            </a:r>
            <a:br>
              <a:rPr lang="es-ES" dirty="0">
                <a:ea typeface="+mn-lt"/>
                <a:cs typeface="+mn-lt"/>
              </a:rPr>
            </a:br>
            <a:r>
              <a:rPr lang="es-ES" dirty="0">
                <a:ea typeface="+mn-lt"/>
                <a:cs typeface="+mn-lt"/>
              </a:rPr>
              <a:t>  …</a:t>
            </a:r>
            <a:br>
              <a:rPr lang="es-ES" dirty="0">
                <a:ea typeface="+mn-lt"/>
                <a:cs typeface="+mn-lt"/>
              </a:rPr>
            </a:br>
            <a:r>
              <a:rPr lang="es-ES" dirty="0">
                <a:ea typeface="+mn-lt"/>
                <a:cs typeface="+mn-lt"/>
              </a:rPr>
              <a:t>}</a:t>
            </a:r>
            <a:endParaRPr lang="es-ES" dirty="0"/>
          </a:p>
        </p:txBody>
      </p:sp>
    </p:spTree>
    <p:extLst>
      <p:ext uri="{BB962C8B-B14F-4D97-AF65-F5344CB8AC3E}">
        <p14:creationId xmlns:p14="http://schemas.microsoft.com/office/powerpoint/2010/main" val="3230740107"/>
      </p:ext>
    </p:extLst>
  </p:cSld>
  <p:clrMapOvr>
    <a:masterClrMapping/>
  </p:clrMapOvr>
</p:sld>
</file>

<file path=ppt/theme/theme1.xml><?xml version="1.0" encoding="utf-8"?>
<a:theme xmlns:a="http://schemas.openxmlformats.org/drawingml/2006/main" name="GestaltVTI">
  <a:themeElements>
    <a:clrScheme name="Gestalt">
      <a:dk1>
        <a:srgbClr val="000000"/>
      </a:dk1>
      <a:lt1>
        <a:sysClr val="window" lastClr="FFFFFF"/>
      </a:lt1>
      <a:dk2>
        <a:srgbClr val="262626"/>
      </a:dk2>
      <a:lt2>
        <a:srgbClr val="F7F7F7"/>
      </a:lt2>
      <a:accent1>
        <a:srgbClr val="EBA000"/>
      </a:accent1>
      <a:accent2>
        <a:srgbClr val="00BAC8"/>
      </a:accent2>
      <a:accent3>
        <a:srgbClr val="E64823"/>
      </a:accent3>
      <a:accent4>
        <a:srgbClr val="4D5AFF"/>
      </a:accent4>
      <a:accent5>
        <a:srgbClr val="FE5D21"/>
      </a:accent5>
      <a:accent6>
        <a:srgbClr val="00C777"/>
      </a:accent6>
      <a:hlink>
        <a:srgbClr val="2998E3"/>
      </a:hlink>
      <a:folHlink>
        <a:srgbClr val="939393"/>
      </a:folHlink>
    </a:clrScheme>
    <a:fontScheme name="Gestal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estaltVTI" id="{4F87C71D-53D1-4B71-BF97-FD0EA4B25665}" vid="{A110AFC4-8D8A-4C02-8885-7BA370B379B5}"/>
    </a:ext>
  </a:extLst>
</a:theme>
</file>

<file path=docProps/app.xml><?xml version="1.0" encoding="utf-8"?>
<Properties xmlns="http://schemas.openxmlformats.org/officeDocument/2006/extended-properties" xmlns:vt="http://schemas.openxmlformats.org/officeDocument/2006/docPropsVTypes">
  <TotalTime>64</TotalTime>
  <Words>46108</Words>
  <Application>Microsoft Office PowerPoint</Application>
  <PresentationFormat>Panorámica</PresentationFormat>
  <Paragraphs>1578</Paragraphs>
  <Slides>270</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270</vt:i4>
      </vt:variant>
    </vt:vector>
  </HeadingPairs>
  <TitlesOfParts>
    <vt:vector size="276" baseType="lpstr">
      <vt:lpstr>Arial</vt:lpstr>
      <vt:lpstr>Bierstadt</vt:lpstr>
      <vt:lpstr>Courier New</vt:lpstr>
      <vt:lpstr>Neue Haas Grotesk Text Pro</vt:lpstr>
      <vt:lpstr>Wingdings</vt:lpstr>
      <vt:lpstr>GestaltVTI</vt:lpstr>
      <vt:lpstr>UT 02 Uso de estilos</vt:lpstr>
      <vt:lpstr>Índice</vt:lpstr>
      <vt:lpstr>2.1. Introducción a CSS y su estructura</vt:lpstr>
      <vt:lpstr>2.1. Introducción a CSS y su estructura</vt:lpstr>
      <vt:lpstr>2.1.1. ¿Qué es CSS? Origen y evolución.</vt:lpstr>
      <vt:lpstr>2.1.1. ¿Qué es CSS? Origen y evolución.</vt:lpstr>
      <vt:lpstr>2.1.1. ¿Qué es CSS? Origen y evolución.</vt:lpstr>
      <vt:lpstr>2.1.2. Sintaxis básica de una regla CSS.</vt:lpstr>
      <vt:lpstr>2.1.2. Sintaxis básica de una regla CSS.</vt:lpstr>
      <vt:lpstr>2.1.2. Sintaxis básica de una regla CSS.</vt:lpstr>
      <vt:lpstr>2.1.3.1. Métodos para incluir CSS en HTML. Estilos en línea (inline).</vt:lpstr>
      <vt:lpstr>2.1.3.2. Métodos para incluir CSS en HTML. Hojas de estilo internas.</vt:lpstr>
      <vt:lpstr>2.1.3.2. Métodos para incluir CSS en HTML. Hojas de estilo internas.</vt:lpstr>
      <vt:lpstr>2.1.3.3. Métodos para incluir CSS en HTML. Hojas de estilo externas.</vt:lpstr>
      <vt:lpstr>2.1.3.3. Métodos para incluir CSS en HTML. Hojas de estilo externas.</vt:lpstr>
      <vt:lpstr>2.1.3.4. @import (ventajas y desventajas).</vt:lpstr>
      <vt:lpstr>2.1.3.4. @import (ventajas y desventajas).</vt:lpstr>
      <vt:lpstr>2.1.3.5 Términos usados para describir las partes de un estilo CSS</vt:lpstr>
      <vt:lpstr>2.1.3.5 Términos usados para describir las partes de un estilo CSS</vt:lpstr>
      <vt:lpstr>2.1.4. La cascada, la especificidad y la herencia de estilos.</vt:lpstr>
      <vt:lpstr>2.1.4. La cascada, la especificidad y la herencia de estilos.</vt:lpstr>
      <vt:lpstr>2.1.4. La cascada, la especificidad y la herencia de estilos.</vt:lpstr>
      <vt:lpstr>2.1.5. El modelo de cajas (Box Model).</vt:lpstr>
      <vt:lpstr>2.1.5.1. Contenido, padding, border y margin.</vt:lpstr>
      <vt:lpstr>2.1.5.1. Contenido, padding, border y margin.</vt:lpstr>
      <vt:lpstr>2.1.5.1. Contenido, padding, border y margin.</vt:lpstr>
      <vt:lpstr>2.1.5.1. Contenido, padding, border y margin.</vt:lpstr>
      <vt:lpstr>2.1.5.1. Contenido, padding, border y margin.</vt:lpstr>
      <vt:lpstr>2.1.5.2. Propiedades relacionadas: box-sizing, overflow, visibility.</vt:lpstr>
      <vt:lpstr>2.1.5.2. Propiedades relacionadas: box-sizing, overflow, visibility.</vt:lpstr>
      <vt:lpstr>2.1.5.2. Propiedades relacionadas: box-sizing, overflow, visibility.</vt:lpstr>
      <vt:lpstr>2.1.5.2. Propiedades relacionadas: box-sizing, overflow, visibility.</vt:lpstr>
      <vt:lpstr>2.1.5.2. Propiedades relacionadas: box-sizing, overflow, visibility.</vt:lpstr>
      <vt:lpstr>2.1.5.2. Propiedades relacionadas: box-sizing, overflow, visibility.</vt:lpstr>
      <vt:lpstr>2.2. Selectores y propiedades CSS fundamentales</vt:lpstr>
      <vt:lpstr>2.2. Selectores y propiedades CSS fundamentales</vt:lpstr>
      <vt:lpstr>2.2. Selectores y propiedades CSS fundamentales</vt:lpstr>
      <vt:lpstr>2.2.1. Selectores básicos. 2.2.1.1. Selectores de tipo o etiqueta.</vt:lpstr>
      <vt:lpstr>2.2.1.1. Selectores de tipo o etiqueta.</vt:lpstr>
      <vt:lpstr>2.2.1.2. Selectores de clase (.): creación y uso.</vt:lpstr>
      <vt:lpstr>2.2.1.2. Selectores de clase (.): creación y uso.</vt:lpstr>
      <vt:lpstr>2.2.1.3. Selectores de ID (#): reglas y diferencias con las clases.</vt:lpstr>
      <vt:lpstr>2.2.1.3. Selectores de ID (#): reglas y diferencias con las clases.</vt:lpstr>
      <vt:lpstr>2.2.1.4. Selector universal (*).</vt:lpstr>
      <vt:lpstr>2.2.1.4. Selector universal (*).</vt:lpstr>
      <vt:lpstr>2.2.2. Selectores combinadores 2.2.2.1. Selector descendiente</vt:lpstr>
      <vt:lpstr>2.2.2.1. Selector descendiente</vt:lpstr>
      <vt:lpstr>2.2.2.2. Hijos directos.</vt:lpstr>
      <vt:lpstr>2.2.2.2. Hijos directos.</vt:lpstr>
      <vt:lpstr>2.2.2.2. Hijos directos.</vt:lpstr>
      <vt:lpstr>2.2.2.3. Hermanos adyacentes y generales.</vt:lpstr>
      <vt:lpstr>2.2.2.3. Hermanos adyacentes y generales.</vt:lpstr>
      <vt:lpstr>2.2.3. Selectores avanzados 2.2.3.1. Selectores de atributo.</vt:lpstr>
      <vt:lpstr>2.2.3. Selectores avanzados 2.2.3.1. Selectores de atributo.</vt:lpstr>
      <vt:lpstr>2.2.3. Selectores avanzados 2.2.3.1. Selectores de atributo.</vt:lpstr>
      <vt:lpstr>2.2.3. Selectores avanzados 2.2.3.1. Selectores de atributo.</vt:lpstr>
      <vt:lpstr>2.2.3. Selectores avanzados 2.2.3.1. Selectores de atributo.</vt:lpstr>
      <vt:lpstr>2.2.3.2. Selectores de pseudo-clase (ej. :hover, :focus, :nth-child).</vt:lpstr>
      <vt:lpstr>2.2.3.2. Selectores de pseudo-clase (ej. :hover, :focus, :nth-child).</vt:lpstr>
      <vt:lpstr>2.2.3.2. Selectores de pseudo-clase (ej. :hover, :focus, :nth-child).</vt:lpstr>
      <vt:lpstr>2.2.3.3. Selectores de pseudo-elemento (ej. ::before, ::after).</vt:lpstr>
      <vt:lpstr>2.2.3.3. Selectores de pseudo-elemento (ej. ::before, ::after).</vt:lpstr>
      <vt:lpstr>2.2.3.3. Selectores de pseudo-elemento (ej. ::before, ::after).</vt:lpstr>
      <vt:lpstr>2.2.3.3. Selectores de pseudo-elemento (ej. ::before, ::after).</vt:lpstr>
      <vt:lpstr>2.2.3.3. Selectores de pseudo-elemento (ej. ::before, ::after).</vt:lpstr>
      <vt:lpstr>2.2.4. Unidades de medida</vt:lpstr>
      <vt:lpstr>2.2.4.1. Unidades absolutas (px, cm, in).</vt:lpstr>
      <vt:lpstr>2.2.4.1. Unidades absolutas (px, cm, in).</vt:lpstr>
      <vt:lpstr>2.2.4.1. Unidades absolutas (px, cm, in).</vt:lpstr>
      <vt:lpstr>2.2.4.2. Unidades relativas (em, rem, vw, vh, %).</vt:lpstr>
      <vt:lpstr>2.2.4.2. Unidades relativas (em, rem, vw, vh, %).</vt:lpstr>
      <vt:lpstr>2.2.4.2. Unidades relativas (em, rem, vw, vh, %).</vt:lpstr>
      <vt:lpstr>2.2.4.2. Unidades relativas (em, rem, vw, vh, %).</vt:lpstr>
      <vt:lpstr>2.3. Maquetación y diseño</vt:lpstr>
      <vt:lpstr>2.3. Maquetación y diseño.</vt:lpstr>
      <vt:lpstr>2.3. Maquetación y diseño.</vt:lpstr>
      <vt:lpstr>2.3.1. Introducción al diseño responsive</vt:lpstr>
      <vt:lpstr>2.3.1. Introducción al diseño responsive</vt:lpstr>
      <vt:lpstr>2.3.1.1. viewport y su configuración.</vt:lpstr>
      <vt:lpstr>2.3.1.1. viewport y su configuración.</vt:lpstr>
      <vt:lpstr>2.3.1.1. viewport y su configuración.</vt:lpstr>
      <vt:lpstr>2.3.1.2. Media Queries: sintaxis y aplicación.</vt:lpstr>
      <vt:lpstr>2.3.1.2. Media Queries: sintaxis y aplicación.</vt:lpstr>
      <vt:lpstr>2.3.1.2. Media Queries: sintaxis y aplicación.</vt:lpstr>
      <vt:lpstr>2.3.1.2. Media Queries: sintaxis y aplicación.</vt:lpstr>
      <vt:lpstr>2.3.2. Maquetación con Flexbox (Flexible Box Layout)</vt:lpstr>
      <vt:lpstr>2.3.2. Maquetación con Flexbox (Flexible Box Layout)</vt:lpstr>
      <vt:lpstr>2.3.2.1. Conceptos de contenedor y elementos flexibles.</vt:lpstr>
      <vt:lpstr>2.3.2.1. Conceptos de contenedor y elementos flexibles.</vt:lpstr>
      <vt:lpstr>2.3.2.2. Propiedades del contenedor (flex-direction, justify-content, align-items).</vt:lpstr>
      <vt:lpstr>2.3.2.2. Propiedades del contenedor (flex-direction, justify-content, align-items).</vt:lpstr>
      <vt:lpstr>2.3.2.2. Propiedades del contenedor (flex-direction, justify-content, align-items).</vt:lpstr>
      <vt:lpstr>2.3.2.2. Propiedades del contenedor (flex-direction, justify-content, align-items).</vt:lpstr>
      <vt:lpstr>2.3.2.2. Propiedades del contenedor (flex-direction, justify-content, align-items).</vt:lpstr>
      <vt:lpstr>2.3.2.3. Propiedades de los elementos (flex-grow, flex-shrink, flex-basis).</vt:lpstr>
      <vt:lpstr>2.3.2.3. Propiedades de los elementos (flex-grow, flex-shrink, flex-basis).</vt:lpstr>
      <vt:lpstr>2.3.2.3. Propiedades de los elementos (flex-grow, flex-shrink, flex-basis).</vt:lpstr>
      <vt:lpstr>2.3.2.3. Propiedades de los elementos (flex-grow, flex-shrink, flex-basis).</vt:lpstr>
      <vt:lpstr>2.3.2.4. Creación de menús y layouts complejos con Flexbox.</vt:lpstr>
      <vt:lpstr>2.3.2.4. Creación de menús y layouts complejos con Flexbox.</vt:lpstr>
      <vt:lpstr>2.3.2.4. Creación de menús y layouts complejos con Flexbox.</vt:lpstr>
      <vt:lpstr>2.3.2.4. Creación de menús y layouts complejos con Flexbox.</vt:lpstr>
      <vt:lpstr>2.3.2.4. Creación de menús y layouts complejos con Flexbox.</vt:lpstr>
      <vt:lpstr>2.3.2.4. Creación de menús y layouts complejos con Flexbox.</vt:lpstr>
      <vt:lpstr>2.3.2.4. Creación de menús y layouts complejos con Flexbox.</vt:lpstr>
      <vt:lpstr>2.3.2.4. Creación de menús y layouts complejos con Flexbox.</vt:lpstr>
      <vt:lpstr>2.3.2.4. Creación de menús y layouts complejos con Flexbox.</vt:lpstr>
      <vt:lpstr>2.3.2.4. Creación de menús y layouts complejos con Flexbox.</vt:lpstr>
      <vt:lpstr>2.3.3. Maquetación con CSS Grid (Grid Layout)</vt:lpstr>
      <vt:lpstr>2.3.3. Maquetación con CSS Grid (Grid Layout)</vt:lpstr>
      <vt:lpstr>2.3.3. Maquetación con CSS Grid (Grid Layout)</vt:lpstr>
      <vt:lpstr>2.3.3.1. Conceptos de contenedor y elementos de rejilla.</vt:lpstr>
      <vt:lpstr>2.3.3.1. Conceptos de contenedor y elementos de rejilla.</vt:lpstr>
      <vt:lpstr>2.3.3.1. Conceptos de contenedor y elementos de rejilla.</vt:lpstr>
      <vt:lpstr>2.3.3.2. Propiedades del contenedor (grid-template-columns, grid-template-rows, gap).</vt:lpstr>
      <vt:lpstr>2.3.3.2. Propiedades del contenedor (grid-template-columns, grid-template-rows, gap).</vt:lpstr>
      <vt:lpstr>2.3.3.2. Propiedades del contenedor (grid-template-columns, grid-template-rows, gap).</vt:lpstr>
      <vt:lpstr>2.3.3.2. Propiedades del contenedor (grid-template-columns, grid-template-rows, gap).</vt:lpstr>
      <vt:lpstr>2.3.3.2. Propiedades del contenedor (grid-template-columns, grid-template-rows, gap).</vt:lpstr>
      <vt:lpstr>2.3.3.3. Posicionamiento de elementos (grid-column, grid-row).</vt:lpstr>
      <vt:lpstr>2.3.3.3. Posicionamiento de elementos (grid-column, grid-row).</vt:lpstr>
      <vt:lpstr>2.3.3.3. Posicionamiento de elementos (grid-column, grid-row).</vt:lpstr>
      <vt:lpstr>2.3.3.3. Posicionamiento de elementos (grid-column, grid-row).</vt:lpstr>
      <vt:lpstr>2.3.3.4. Maquetación de diseños de dos dimensiones.</vt:lpstr>
      <vt:lpstr>2.3.3.4. Maquetación de diseños de dos dimensiones.</vt:lpstr>
      <vt:lpstr>2.3.3.4. Maquetación de diseños de dos dimensiones.</vt:lpstr>
      <vt:lpstr>2.3.3.4. Maquetación de diseños de dos dimensiones.</vt:lpstr>
      <vt:lpstr>2.3.3.4. Maquetación de diseños de dos dimensiones.</vt:lpstr>
      <vt:lpstr>2.3.3.4. Maquetación de diseños de dos dimensiones.</vt:lpstr>
      <vt:lpstr>2.3.3.4. Maquetación de diseños de dos dimensiones.</vt:lpstr>
      <vt:lpstr>2.3.3.4. Maquetación de diseños de dos dimensiones.</vt:lpstr>
      <vt:lpstr>2.3.3.4. Maquetación de diseños de dos dimensiones.</vt:lpstr>
      <vt:lpstr>2.3.3.4. Maquetación de diseños de dos dimensiones.</vt:lpstr>
      <vt:lpstr>2.3.4. Frameworks CSS para diseño responsive</vt:lpstr>
      <vt:lpstr>2.3.4. Frameworks CSS para diseño responsive</vt:lpstr>
      <vt:lpstr>2.3.4.1. Introducción a Bootstrap.</vt:lpstr>
      <vt:lpstr>2.3.4.1. Introducción a Bootstrap.</vt:lpstr>
      <vt:lpstr>2.3.4.1. Introducción a Bootstrap.</vt:lpstr>
      <vt:lpstr>2.3.4.1. Introducción a Bootstrap.</vt:lpstr>
      <vt:lpstr>2.3.4.1. Introducción a Bootstrap.</vt:lpstr>
      <vt:lpstr>2.3.4.2. Introducción a Tailwind CSS.</vt:lpstr>
      <vt:lpstr>2.3.4.2. Introducción a Tailwind CSS.</vt:lpstr>
      <vt:lpstr>2.3.4.2. Introducción a Tailwind CSS.</vt:lpstr>
      <vt:lpstr>2.3.4.2. Introducción a Tailwind CSS.</vt:lpstr>
      <vt:lpstr>2.3.4.2. Introducción a Tailwind CSS.</vt:lpstr>
      <vt:lpstr>2.3.4.2. Introducción a Tailwind CSS.</vt:lpstr>
      <vt:lpstr>2.3.4.2. Introducción a Tailwind CSS.</vt:lpstr>
      <vt:lpstr>2.3.4.3. Introducción a Bulma.</vt:lpstr>
      <vt:lpstr>2.3.4.3. Introducción a Bulma.</vt:lpstr>
      <vt:lpstr>2.3.4.3. Introducción a Bulma.</vt:lpstr>
      <vt:lpstr>2.3.4.4. Introducción a Foundation.</vt:lpstr>
      <vt:lpstr>2.3.4.4. Introducción a Foundation.</vt:lpstr>
      <vt:lpstr>2.3.4.4. Introducción a Foundation.</vt:lpstr>
      <vt:lpstr>2.3.4.3. Comparativa y casos de uso.</vt:lpstr>
      <vt:lpstr>2.3.4.3. Comparativa y casos de uso.</vt:lpstr>
      <vt:lpstr>2.3.4.3. Comparativa y casos de uso.</vt:lpstr>
      <vt:lpstr>2.4. Propiedades de estilos y buenas prácticas</vt:lpstr>
      <vt:lpstr>2.4. Propiedades de estilos y buenas prácticas</vt:lpstr>
      <vt:lpstr>2.4. Propiedades de estilos y buenas prácticas</vt:lpstr>
      <vt:lpstr>2.4.1. Propiedades de tipografía (font-family, font-size, line-height).</vt:lpstr>
      <vt:lpstr>2.4.1. Propiedades de tipografía (font-family, font-size, line-height).</vt:lpstr>
      <vt:lpstr>2.4.1. Propiedades de tipografía (font-family, font-size, line-height).</vt:lpstr>
      <vt:lpstr>2.4.2. Propiedades de color y fondos (color, background, background-image).</vt:lpstr>
      <vt:lpstr>2.4.2. Propiedades de color y fondos (color, background, background-image).</vt:lpstr>
      <vt:lpstr>2.4.2. Propiedades de color y fondos (color, background, background-image).</vt:lpstr>
      <vt:lpstr>2.4.2. Propiedades de color y fondos (color, background, background-image).</vt:lpstr>
      <vt:lpstr>2.4.2.1 Bordes y sombras.</vt:lpstr>
      <vt:lpstr>2.4.2.1 Bordes y sombras.</vt:lpstr>
      <vt:lpstr>2.4.2.1 Bordes y sombras.</vt:lpstr>
      <vt:lpstr>2.4.2.1 Bordes y sombras.</vt:lpstr>
      <vt:lpstr>2.4.2.1 Bordes y sombras.</vt:lpstr>
      <vt:lpstr>2.4.2.1 Bordes y sombras.</vt:lpstr>
      <vt:lpstr>2.4.3. Propiedades de posicionamiento (static, relative, absolute, fixed, sticky).</vt:lpstr>
      <vt:lpstr>2.4.3. Propiedades de posicionamiento (static, relative, absolute, fixed, sticky).</vt:lpstr>
      <vt:lpstr>2.4.3. Propiedades de posicionamiento (static, relative, absolute, fixed, sticky).</vt:lpstr>
      <vt:lpstr>2.4.3. Propiedades de posicionamiento (static, relative, absolute, fixed, sticky).</vt:lpstr>
      <vt:lpstr>2.4.4. Pseudo-clases y pseudo-elementos para efectos de estilo.</vt:lpstr>
      <vt:lpstr>2.4.4. Pseudo-clases y pseudo-elementos para efectos de estilo.</vt:lpstr>
      <vt:lpstr>2.4.4. Pseudo-clases y pseudo-elementos para efectos de estilo.</vt:lpstr>
      <vt:lpstr>2.4.4. Pseudo-clases y pseudo-elementos para efectos de estilo.</vt:lpstr>
      <vt:lpstr>2.4.4. Pseudo-clases y pseudo-elementos para efectos de estilo.</vt:lpstr>
      <vt:lpstr>2.4.5. Preprocesadores de estilos</vt:lpstr>
      <vt:lpstr>2.4.5. Preprocesadores de estilos</vt:lpstr>
      <vt:lpstr>2.4.5. Preprocesadores de estilos</vt:lpstr>
      <vt:lpstr>2.4.5. Preprocesadores de estilos</vt:lpstr>
      <vt:lpstr>2.4.5. Preprocesadores de estilos</vt:lpstr>
      <vt:lpstr>2.4.5. Preprocesadores de estilos</vt:lpstr>
      <vt:lpstr>2.4.5.1. ¿Qué son los preprocesadores de CSS y por qué usarlos?</vt:lpstr>
      <vt:lpstr>2.4.5.1. ¿Qué son los preprocesadores de CSS y por qué usarlos?</vt:lpstr>
      <vt:lpstr>2.4.5.1. ¿Qué son los preprocesadores de CSS y por qué usarlos?</vt:lpstr>
      <vt:lpstr>2.4.5.2. Variables, mixins y funciones.</vt:lpstr>
      <vt:lpstr>2.4.5.2. Variables, mixins y funciones.</vt:lpstr>
      <vt:lpstr>2.4.5.2. Variables, mixins y funciones.</vt:lpstr>
      <vt:lpstr>2.4.5.2. Variables, mixins y funciones.</vt:lpstr>
      <vt:lpstr>2.4.5.2. Variables, mixins y funciones.</vt:lpstr>
      <vt:lpstr>2.4.5.2. Variables, mixins y funciones.</vt:lpstr>
      <vt:lpstr>2.4.5.2. Variables, mixins y funciones.</vt:lpstr>
      <vt:lpstr>2.4.5.2. Variables, mixins y funciones.</vt:lpstr>
      <vt:lpstr>2.4.5.2. Variables, mixins y funciones.</vt:lpstr>
      <vt:lpstr>2.4.5.3. Anidamiento y modularización del código.</vt:lpstr>
      <vt:lpstr>2.4.5.3. Anidamiento y modularización del código.</vt:lpstr>
      <vt:lpstr>2.4.5.3. Anidamiento y modularización del código.</vt:lpstr>
      <vt:lpstr>2.4.5.3. Anidamiento y modularización del código.</vt:lpstr>
      <vt:lpstr>2.4.5.3. Anidamiento y modularización del código.</vt:lpstr>
      <vt:lpstr>2.4.5.3. Anidamiento y modularización del código.</vt:lpstr>
      <vt:lpstr>2.4.5.3. Anidamiento y modularización del código.</vt:lpstr>
      <vt:lpstr>2.4.6. Reutilización y organización de estilos</vt:lpstr>
      <vt:lpstr>2.4.6. Reutilización y organización de estilos</vt:lpstr>
      <vt:lpstr>2.4.6. Reutilización y organización de estilos</vt:lpstr>
      <vt:lpstr>2.4.6. Reutilización y organización de estilos</vt:lpstr>
      <vt:lpstr>2.4.6. Reutilización y organización de estilos</vt:lpstr>
      <vt:lpstr>2.4.6.1. Hojas de estilo alternativas y temas.</vt:lpstr>
      <vt:lpstr>2.4.6.1. Hojas de estilo alternativas y temas.</vt:lpstr>
      <vt:lpstr>2.4.6.1. Hojas de estilo alternativas y temas.</vt:lpstr>
      <vt:lpstr>2.4.6.1. Hojas de estilo alternativas y temas.</vt:lpstr>
      <vt:lpstr>2.4.6.2. Metodologías CSS (BEM, SMACSS).</vt:lpstr>
      <vt:lpstr>2.4.6.2. Metodologías CSS (BEM, SMACSS).</vt:lpstr>
      <vt:lpstr>2.4.6.2. Metodologías CSS (BEM, SMACSS).</vt:lpstr>
      <vt:lpstr>2.4.6.2. Metodologías CSS (BEM, SMACSS).</vt:lpstr>
      <vt:lpstr>2.4.6.2. Metodologías CSS (BEM, SMACSS).</vt:lpstr>
      <vt:lpstr>2.4.6.2. Metodologías CSS (BEM, SMACSS).</vt:lpstr>
      <vt:lpstr>2.4.6.2. Metodologías CSS (BEM, SMACSS).</vt:lpstr>
      <vt:lpstr>2.4.6.2. Metodologías CSS (BEM, SMACSS).</vt:lpstr>
      <vt:lpstr>2.4.6.2. Metodologías CSS (BEM, SMACSS).</vt:lpstr>
      <vt:lpstr>2.4.6.2. Metodologías CSS (BEM, SMACSS).</vt:lpstr>
      <vt:lpstr>2.4.6.2. Metodologías CSS (BEM, SMACSS).</vt:lpstr>
      <vt:lpstr>2.4.6.2. Metodologías CSS (BEM, SMACSS).</vt:lpstr>
      <vt:lpstr>2.4.6.2. Metodologías CSS (BEM, SMACSS).</vt:lpstr>
      <vt:lpstr>2.4.7. Herramientas de validación de hojas de estilo</vt:lpstr>
      <vt:lpstr>2.4.7. Herramientas de validación de hojas de estilo</vt:lpstr>
      <vt:lpstr>2.4.7. Herramientas de validación de hojas de estilo</vt:lpstr>
      <vt:lpstr>2.4.7. Herramientas de validación de hojas de estilo</vt:lpstr>
      <vt:lpstr>2.4.7.1. Validadores del W3C.</vt:lpstr>
      <vt:lpstr>2.4.7.1. Validadores del W3C.</vt:lpstr>
      <vt:lpstr>2.4.7.2. Linting de CSS.</vt:lpstr>
      <vt:lpstr>2.4.7.2. Linting de CSS.</vt:lpstr>
      <vt:lpstr>2.5. Efectos y animaciones con CSS3</vt:lpstr>
      <vt:lpstr>2.5. Efectos y animaciones con CSS3</vt:lpstr>
      <vt:lpstr>2.5.1. Transiciones.</vt:lpstr>
      <vt:lpstr>2.5.1. Transiciones.</vt:lpstr>
      <vt:lpstr>2.5.1. Transiciones.</vt:lpstr>
      <vt:lpstr>2.5.2. Transformaciones.</vt:lpstr>
      <vt:lpstr>2.5.2.1. Transformaciones 2D.</vt:lpstr>
      <vt:lpstr>2.5.2.1. Transformaciones 2D.</vt:lpstr>
      <vt:lpstr>2.5.2.1. Transformaciones 2D.</vt:lpstr>
      <vt:lpstr>2.5.2.1. Transformaciones 2D.</vt:lpstr>
      <vt:lpstr>2.5.2.2. Transformaciones 3D.</vt:lpstr>
      <vt:lpstr>2.5.2.2. Transformaciones 3D.</vt:lpstr>
      <vt:lpstr>2.5.2.2. Transformaciones 3D.</vt:lpstr>
      <vt:lpstr>2.5.2.2. Transformaciones 3D.</vt:lpstr>
      <vt:lpstr>2.5.2.2. Transformaciones 3D.</vt:lpstr>
      <vt:lpstr>2.5.3. Animaciones (@keyframes y animation).</vt:lpstr>
      <vt:lpstr>2.5.3. Animaciones (@keyframes y animation).</vt:lpstr>
      <vt:lpstr>2.5.3. Animaciones (@keyframes y animation).</vt:lpstr>
      <vt:lpstr>2.5.3. Animaciones (@keyframes y animation).</vt:lpstr>
      <vt:lpstr>2.5.4. Ejemplos prácticos: botones animados, loaders, efectos hover.</vt:lpstr>
      <vt:lpstr>2.5.4. Ejemplos prácticos: botones animados, loaders, efectos hover.</vt:lpstr>
      <vt:lpstr>2.5.4. Ejemplos prácticos: botones animados, loaders, efectos hover.</vt:lpstr>
      <vt:lpstr>2.6. Verificación y compatibilidad</vt:lpstr>
      <vt:lpstr>2.6. Verificación y compatibilidad</vt:lpstr>
      <vt:lpstr>2.6.1. Herramientas de testeo de estilos.</vt:lpstr>
      <vt:lpstr>2.6.1. Herramientas de testeo de estilos.</vt:lpstr>
      <vt:lpstr>2.6.2. Compatibilidad entre navegadores.</vt:lpstr>
      <vt:lpstr>2.6.2. Compatibilidad entre navegadores.</vt:lpstr>
      <vt:lpstr>2.6.2. Compatibilidad entre navegadores.</vt:lpstr>
      <vt:lpstr>2.6.2. Compatibilidad entre navegadores.</vt:lpstr>
      <vt:lpstr>2.6.2. Compatibilidad entre navegadores.</vt:lpstr>
      <vt:lpstr>2.6.3. Buenas prácticas para evitar errores comunes.</vt:lpstr>
      <vt:lpstr>2.6.3. Buenas prácticas para evitar errores comunes.</vt:lpstr>
      <vt:lpstr>2.6.3. Buenas prácticas para evitar errores comunes.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ARLINZON ROSARIO ROJAS</cp:lastModifiedBy>
  <cp:revision>2983</cp:revision>
  <dcterms:created xsi:type="dcterms:W3CDTF">2025-08-12T16:26:48Z</dcterms:created>
  <dcterms:modified xsi:type="dcterms:W3CDTF">2026-01-17T12:34:12Z</dcterms:modified>
</cp:coreProperties>
</file>